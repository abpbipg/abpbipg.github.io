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72" r:id="rId4"/>
    <p:sldMasterId id="2147483874" r:id="rId5"/>
    <p:sldMasterId id="2147483885" r:id="rId6"/>
    <p:sldMasterId id="2147483891" r:id="rId7"/>
  </p:sldMasterIdLst>
  <p:notesMasterIdLst>
    <p:notesMasterId r:id="rId56"/>
  </p:notesMasterIdLst>
  <p:handoutMasterIdLst>
    <p:handoutMasterId r:id="rId57"/>
  </p:handout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/>
  <p:notesSz cx="7010400" cy="92964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 userDrawn="1">
          <p15:clr>
            <a:srgbClr val="A4A3A4"/>
          </p15:clr>
        </p15:guide>
        <p15:guide id="4" orient="horz" pos="23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yueyuezjhw" initials="l" lastIdx="19" clrIdx="0">
    <p:extLst>
      <p:ext uri="{19B8F6BF-5375-455C-9EA6-DF929625EA0E}">
        <p15:presenceInfo xmlns:p15="http://schemas.microsoft.com/office/powerpoint/2012/main" userId="S-1-5-21-147214757-305610072-1517763936-47361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B230"/>
    <a:srgbClr val="94DAE2"/>
    <a:srgbClr val="BEE9EE"/>
    <a:srgbClr val="FDE397"/>
    <a:srgbClr val="FEEEC1"/>
    <a:srgbClr val="30B5C5"/>
    <a:srgbClr val="D0E8C4"/>
    <a:srgbClr val="F28944"/>
    <a:srgbClr val="F6B78C"/>
    <a:srgbClr val="AFD8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180" autoAdjust="0"/>
  </p:normalViewPr>
  <p:slideViewPr>
    <p:cSldViewPr snapToGrid="0" snapToObjects="1">
      <p:cViewPr varScale="1">
        <p:scale>
          <a:sx n="93" d="100"/>
          <a:sy n="93" d="100"/>
        </p:scale>
        <p:origin x="2904" y="84"/>
      </p:cViewPr>
      <p:guideLst>
        <p:guide pos="3840"/>
        <p:guide orient="horz" pos="23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792" y="102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61" Type="http://schemas.openxmlformats.org/officeDocument/2006/relationships/theme" Target="theme/theme1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10/21/2021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5034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785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本课程的标签分发协议特指由</a:t>
            </a:r>
            <a:r>
              <a:rPr lang="en-US" altLang="zh-CN" dirty="0" smtClean="0"/>
              <a:t>RFC3036</a:t>
            </a:r>
            <a:r>
              <a:rPr lang="zh-CN" altLang="en-US" dirty="0" smtClean="0"/>
              <a:t>首次定义的标签分发协议，当前该标准已被</a:t>
            </a:r>
            <a:r>
              <a:rPr lang="en-US" altLang="zh-CN" dirty="0" smtClean="0"/>
              <a:t>RFC5036</a:t>
            </a:r>
            <a:r>
              <a:rPr lang="zh-CN" altLang="en-US" dirty="0" smtClean="0"/>
              <a:t>废弃。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除了</a:t>
            </a:r>
            <a:r>
              <a:rPr lang="en-US" altLang="zh-CN" dirty="0" smtClean="0"/>
              <a:t>LDP</a:t>
            </a:r>
            <a:r>
              <a:rPr lang="zh-CN" altLang="en-US" dirty="0" smtClean="0"/>
              <a:t>外，标签分发协议也可以指</a:t>
            </a:r>
            <a:r>
              <a:rPr lang="en-US" altLang="zh-CN" dirty="0" smtClean="0"/>
              <a:t>MP-BGP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RSVP</a:t>
            </a:r>
            <a:r>
              <a:rPr lang="zh-CN" altLang="en-US" dirty="0" smtClean="0"/>
              <a:t>等可执行标签分发的一类协议。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701137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6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487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14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851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>
                <a:sym typeface="Huawei Sans" panose="020C0503030203020204" pitchFamily="34" charset="0"/>
              </a:rPr>
              <a:t>在本课程中，均使用基于设备（或基于平台）的标签空间。</a:t>
            </a:r>
            <a:endParaRPr lang="en-US" altLang="zh-CN" smtClean="0">
              <a:sym typeface="Huawei Sans" panose="020C0503030203020204" pitchFamily="34" charset="0"/>
            </a:endParaRP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701030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按照消息的功能，</a:t>
            </a:r>
            <a:r>
              <a:rPr lang="en-US" altLang="zh-CN" dirty="0" smtClean="0"/>
              <a:t>LDP</a:t>
            </a:r>
            <a:r>
              <a:rPr lang="zh-CN" altLang="en-US" dirty="0" smtClean="0"/>
              <a:t>消息一共可以分为四大类型：发现消息（</a:t>
            </a:r>
            <a:r>
              <a:rPr lang="en-US" altLang="zh-CN" dirty="0" smtClean="0"/>
              <a:t>Discovery Message</a:t>
            </a:r>
            <a:r>
              <a:rPr lang="zh-CN" altLang="en-US" dirty="0" smtClean="0"/>
              <a:t>），会话消息（</a:t>
            </a:r>
            <a:r>
              <a:rPr lang="en-US" altLang="zh-CN" dirty="0" smtClean="0"/>
              <a:t>Session Message</a:t>
            </a:r>
            <a:r>
              <a:rPr lang="zh-CN" altLang="en-US" dirty="0" smtClean="0"/>
              <a:t>），通告消息（</a:t>
            </a:r>
            <a:r>
              <a:rPr lang="en-US" altLang="zh-CN" dirty="0" smtClean="0"/>
              <a:t>Advertisement Message</a:t>
            </a:r>
            <a:r>
              <a:rPr lang="zh-CN" altLang="en-US" dirty="0" smtClean="0"/>
              <a:t>）和通知消息（</a:t>
            </a:r>
            <a:r>
              <a:rPr lang="en-US" altLang="zh-CN" dirty="0" smtClean="0"/>
              <a:t>Notification Message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发现消息：用来宣告和维护网络中一个</a:t>
            </a:r>
            <a:r>
              <a:rPr lang="en-US" altLang="zh-CN" dirty="0" smtClean="0"/>
              <a:t>LSR</a:t>
            </a:r>
            <a:r>
              <a:rPr lang="zh-CN" altLang="en-US" dirty="0" smtClean="0"/>
              <a:t>的存在；用于通告和维护网络中</a:t>
            </a:r>
            <a:r>
              <a:rPr lang="en-US" altLang="zh-CN" dirty="0" smtClean="0"/>
              <a:t>LSR</a:t>
            </a:r>
            <a:r>
              <a:rPr lang="zh-CN" altLang="en-US" dirty="0" smtClean="0"/>
              <a:t>的存在，如</a:t>
            </a:r>
            <a:r>
              <a:rPr lang="en-US" altLang="zh-CN" dirty="0" smtClean="0"/>
              <a:t>Hello</a:t>
            </a:r>
            <a:r>
              <a:rPr lang="zh-CN" altLang="en-US" dirty="0" smtClean="0"/>
              <a:t>报文。</a:t>
            </a:r>
          </a:p>
          <a:p>
            <a:pPr lvl="1"/>
            <a:r>
              <a:rPr lang="zh-CN" altLang="en-US" dirty="0" smtClean="0"/>
              <a:t>会话消息：用于建立、维护和终止</a:t>
            </a:r>
            <a:r>
              <a:rPr lang="en-US" altLang="zh-CN" dirty="0" smtClean="0"/>
              <a:t>LDP</a:t>
            </a:r>
            <a:r>
              <a:rPr lang="zh-CN" altLang="en-US" dirty="0" smtClean="0"/>
              <a:t>对等体之间的会话，如</a:t>
            </a:r>
            <a:r>
              <a:rPr lang="en-US" altLang="zh-CN" dirty="0" smtClean="0"/>
              <a:t>Initialization</a:t>
            </a:r>
            <a:r>
              <a:rPr lang="zh-CN" altLang="en-US" dirty="0" smtClean="0"/>
              <a:t>报文、</a:t>
            </a:r>
            <a:r>
              <a:rPr lang="en-US" altLang="zh-CN" dirty="0" err="1" smtClean="0"/>
              <a:t>Keepalive</a:t>
            </a:r>
            <a:r>
              <a:rPr lang="zh-CN" altLang="en-US" dirty="0" smtClean="0"/>
              <a:t>报文。</a:t>
            </a:r>
          </a:p>
          <a:p>
            <a:pPr lvl="1"/>
            <a:r>
              <a:rPr lang="zh-CN" altLang="en-US" dirty="0" smtClean="0"/>
              <a:t>通告消息：用来生成、改变和删除</a:t>
            </a:r>
            <a:r>
              <a:rPr lang="en-US" altLang="zh-CN" dirty="0" smtClean="0"/>
              <a:t>FEC</a:t>
            </a:r>
            <a:r>
              <a:rPr lang="zh-CN" altLang="en-US" dirty="0" smtClean="0"/>
              <a:t>的</a:t>
            </a:r>
            <a:r>
              <a:rPr lang="zh-CN" altLang="en-US" smtClean="0"/>
              <a:t>标签映射。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通知消息：用来宣告告警和错误信息。</a:t>
            </a:r>
          </a:p>
          <a:p>
            <a:pPr lvl="0"/>
            <a:r>
              <a:rPr lang="en-US" altLang="zh-CN" dirty="0" smtClean="0"/>
              <a:t>LDP</a:t>
            </a:r>
            <a:r>
              <a:rPr lang="zh-CN" altLang="en-US" dirty="0" smtClean="0"/>
              <a:t>消息承载在</a:t>
            </a:r>
            <a:r>
              <a:rPr lang="en-US" altLang="zh-CN" dirty="0" smtClean="0"/>
              <a:t>UDP</a:t>
            </a:r>
            <a:r>
              <a:rPr lang="zh-CN" altLang="en-US" dirty="0" smtClean="0"/>
              <a:t>或</a:t>
            </a:r>
            <a:r>
              <a:rPr lang="en-US" altLang="zh-CN" dirty="0" smtClean="0"/>
              <a:t>TCP</a:t>
            </a:r>
            <a:r>
              <a:rPr lang="zh-CN" altLang="en-US" dirty="0" smtClean="0"/>
              <a:t>之上，端口号均为</a:t>
            </a:r>
            <a:r>
              <a:rPr lang="en-US" altLang="zh-CN" dirty="0" smtClean="0"/>
              <a:t>646 </a:t>
            </a:r>
            <a:r>
              <a:rPr lang="zh-CN" altLang="en-US" dirty="0" smtClean="0"/>
              <a:t>。其中发现消息基于</a:t>
            </a:r>
            <a:r>
              <a:rPr lang="en-US" altLang="zh-CN" dirty="0" smtClean="0"/>
              <a:t>UDP</a:t>
            </a:r>
            <a:r>
              <a:rPr lang="zh-CN" altLang="en-US" dirty="0" smtClean="0"/>
              <a:t>传递；会话消息、通告消息、通知消息都基于</a:t>
            </a:r>
            <a:r>
              <a:rPr lang="en-US" altLang="zh-CN" dirty="0" smtClean="0"/>
              <a:t>TCP</a:t>
            </a:r>
            <a:r>
              <a:rPr lang="zh-CN" altLang="en-US" dirty="0" smtClean="0"/>
              <a:t>传递。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678327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 smtClean="0"/>
              <a:t>LDP</a:t>
            </a:r>
            <a:r>
              <a:rPr lang="zh-CN" altLang="en-US" dirty="0" smtClean="0"/>
              <a:t>头部长度为</a:t>
            </a:r>
            <a:r>
              <a:rPr lang="en-US" altLang="zh-CN" dirty="0" smtClean="0"/>
              <a:t>10 Byte</a:t>
            </a:r>
            <a:r>
              <a:rPr lang="zh-CN" altLang="en-US" dirty="0" smtClean="0"/>
              <a:t>，包括</a:t>
            </a:r>
            <a:r>
              <a:rPr lang="en-US" altLang="zh-CN" dirty="0" smtClean="0"/>
              <a:t>Version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PDU Length</a:t>
            </a:r>
            <a:r>
              <a:rPr lang="zh-CN" altLang="en-US" dirty="0" smtClean="0"/>
              <a:t>和</a:t>
            </a:r>
            <a:r>
              <a:rPr lang="en-US" altLang="zh-CN" dirty="0" smtClean="0"/>
              <a:t>LDP Identifier</a:t>
            </a:r>
            <a:r>
              <a:rPr lang="zh-CN" altLang="en-US" dirty="0" smtClean="0"/>
              <a:t>三部分。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en-US" altLang="zh-CN" dirty="0" smtClean="0"/>
              <a:t>Version</a:t>
            </a:r>
            <a:r>
              <a:rPr lang="zh-CN" altLang="en-US" dirty="0" smtClean="0"/>
              <a:t>占用</a:t>
            </a:r>
            <a:r>
              <a:rPr lang="en-US" altLang="zh-CN" dirty="0" smtClean="0"/>
              <a:t>2 Byte</a:t>
            </a:r>
            <a:r>
              <a:rPr lang="zh-CN" altLang="en-US" dirty="0" smtClean="0"/>
              <a:t>，表示</a:t>
            </a:r>
            <a:r>
              <a:rPr lang="en-US" altLang="zh-CN" dirty="0" smtClean="0"/>
              <a:t>LDP</a:t>
            </a:r>
            <a:r>
              <a:rPr lang="zh-CN" altLang="en-US" dirty="0" smtClean="0"/>
              <a:t>版本号，当前版本号为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en-US" altLang="zh-CN" dirty="0" smtClean="0"/>
              <a:t>PDU Length</a:t>
            </a:r>
            <a:r>
              <a:rPr lang="zh-CN" altLang="en-US" dirty="0" smtClean="0"/>
              <a:t>占用</a:t>
            </a:r>
            <a:r>
              <a:rPr lang="en-US" altLang="zh-CN" dirty="0" smtClean="0"/>
              <a:t>2 Byte</a:t>
            </a:r>
            <a:r>
              <a:rPr lang="zh-CN" altLang="en-US" dirty="0" smtClean="0"/>
              <a:t>，以字节为单位表示除了</a:t>
            </a:r>
            <a:r>
              <a:rPr lang="en-US" altLang="zh-CN" dirty="0" smtClean="0"/>
              <a:t>Version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PDU Length</a:t>
            </a:r>
            <a:r>
              <a:rPr lang="zh-CN" altLang="en-US" dirty="0" smtClean="0"/>
              <a:t>以外的其他部分的总长度。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en-US" altLang="zh-CN" dirty="0" smtClean="0"/>
              <a:t>LDP Identifier</a:t>
            </a:r>
            <a:r>
              <a:rPr lang="zh-CN" altLang="en-US" dirty="0" smtClean="0"/>
              <a:t>，即</a:t>
            </a:r>
            <a:r>
              <a:rPr lang="en-US" altLang="zh-CN" dirty="0" smtClean="0"/>
              <a:t>LDP ID</a:t>
            </a:r>
            <a:r>
              <a:rPr lang="zh-CN" altLang="en-US" dirty="0" smtClean="0"/>
              <a:t>，长度</a:t>
            </a:r>
            <a:r>
              <a:rPr lang="en-US" altLang="zh-CN" dirty="0" smtClean="0"/>
              <a:t>6 Byte</a:t>
            </a:r>
            <a:r>
              <a:rPr lang="zh-CN" altLang="en-US" dirty="0" smtClean="0"/>
              <a:t>，其中前</a:t>
            </a:r>
            <a:r>
              <a:rPr lang="en-US" altLang="zh-CN" dirty="0" smtClean="0"/>
              <a:t>4 Byte</a:t>
            </a:r>
            <a:r>
              <a:rPr lang="zh-CN" altLang="en-US" dirty="0" smtClean="0"/>
              <a:t>用来唯一标识一个</a:t>
            </a:r>
            <a:r>
              <a:rPr lang="en-US" altLang="zh-CN" dirty="0" smtClean="0"/>
              <a:t>LSR</a:t>
            </a:r>
            <a:r>
              <a:rPr lang="zh-CN" altLang="en-US" dirty="0" smtClean="0"/>
              <a:t>，后</a:t>
            </a:r>
            <a:r>
              <a:rPr lang="en-US" altLang="zh-CN" dirty="0" smtClean="0"/>
              <a:t>2 Byte</a:t>
            </a:r>
            <a:r>
              <a:rPr lang="zh-CN" altLang="en-US" dirty="0" smtClean="0"/>
              <a:t>用来表示</a:t>
            </a:r>
            <a:r>
              <a:rPr lang="en-US" altLang="zh-CN" dirty="0" smtClean="0"/>
              <a:t>LSR</a:t>
            </a:r>
            <a:r>
              <a:rPr lang="zh-CN" altLang="en-US" dirty="0" smtClean="0"/>
              <a:t>的标签空间。</a:t>
            </a:r>
          </a:p>
          <a:p>
            <a:pPr>
              <a:lnSpc>
                <a:spcPct val="110000"/>
              </a:lnSpc>
            </a:pPr>
            <a:r>
              <a:rPr lang="en-US" altLang="zh-CN" dirty="0" smtClean="0"/>
              <a:t>LDP</a:t>
            </a:r>
            <a:r>
              <a:rPr lang="zh-CN" altLang="en-US" dirty="0" smtClean="0"/>
              <a:t>消息包含五个部分。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en-US" altLang="zh-CN" dirty="0" smtClean="0"/>
              <a:t>U</a:t>
            </a:r>
            <a:r>
              <a:rPr lang="zh-CN" altLang="en-US" dirty="0" smtClean="0"/>
              <a:t>占用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 </a:t>
            </a:r>
            <a:r>
              <a:rPr lang="en-US" altLang="zh-CN" dirty="0" smtClean="0"/>
              <a:t>bit</a:t>
            </a:r>
            <a:r>
              <a:rPr lang="zh-CN" altLang="en-US" dirty="0" smtClean="0"/>
              <a:t>，为</a:t>
            </a:r>
            <a:r>
              <a:rPr lang="en-US" altLang="zh-CN" dirty="0" smtClean="0"/>
              <a:t>Unknown Message bit</a:t>
            </a:r>
            <a:r>
              <a:rPr lang="zh-CN" altLang="en-US" dirty="0" smtClean="0"/>
              <a:t>。如果对端收到的</a:t>
            </a:r>
            <a:r>
              <a:rPr lang="en-US" altLang="zh-CN" dirty="0" smtClean="0"/>
              <a:t>LDP</a:t>
            </a:r>
            <a:r>
              <a:rPr lang="zh-CN" altLang="en-US" dirty="0" smtClean="0"/>
              <a:t>消息中“</a:t>
            </a:r>
            <a:r>
              <a:rPr lang="en-US" altLang="zh-CN" dirty="0" smtClean="0"/>
              <a:t>Message type</a:t>
            </a:r>
            <a:r>
              <a:rPr lang="zh-CN" altLang="en-US" dirty="0" smtClean="0"/>
              <a:t>”字段为未知的</a:t>
            </a:r>
            <a:r>
              <a:rPr lang="en-US" altLang="zh-CN" dirty="0" smtClean="0"/>
              <a:t>LDP</a:t>
            </a:r>
            <a:r>
              <a:rPr lang="zh-CN" altLang="en-US" dirty="0" smtClean="0"/>
              <a:t>消息类型，且“</a:t>
            </a:r>
            <a:r>
              <a:rPr lang="en-US" altLang="zh-CN" dirty="0" smtClean="0"/>
              <a:t>U</a:t>
            </a:r>
            <a:r>
              <a:rPr lang="zh-CN" altLang="en-US" dirty="0" smtClean="0"/>
              <a:t>”</a:t>
            </a:r>
            <a:r>
              <a:rPr lang="zh-CN" altLang="en-US" dirty="0"/>
              <a:t>字段</a:t>
            </a:r>
            <a:r>
              <a:rPr lang="zh-CN" altLang="en-US" dirty="0" smtClean="0"/>
              <a:t>的值为“</a:t>
            </a:r>
            <a:r>
              <a:rPr lang="en-US" altLang="zh-CN" dirty="0" smtClean="0"/>
              <a:t>0</a:t>
            </a:r>
            <a:r>
              <a:rPr lang="zh-CN" altLang="en-US" dirty="0" smtClean="0"/>
              <a:t>”，则向源端发送通知消息；如果对端收到的</a:t>
            </a:r>
            <a:r>
              <a:rPr lang="en-US" altLang="zh-CN" dirty="0" smtClean="0"/>
              <a:t>LDP</a:t>
            </a:r>
            <a:r>
              <a:rPr lang="zh-CN" altLang="en-US" dirty="0" smtClean="0"/>
              <a:t>消息中“</a:t>
            </a:r>
            <a:r>
              <a:rPr lang="en-US" altLang="zh-CN" dirty="0" smtClean="0"/>
              <a:t>Message type</a:t>
            </a:r>
            <a:r>
              <a:rPr lang="zh-CN" altLang="en-US" dirty="0" smtClean="0"/>
              <a:t>”字段为未知的</a:t>
            </a:r>
            <a:r>
              <a:rPr lang="en-US" altLang="zh-CN" dirty="0" smtClean="0"/>
              <a:t>LDP</a:t>
            </a:r>
            <a:r>
              <a:rPr lang="zh-CN" altLang="en-US" dirty="0" smtClean="0"/>
              <a:t>消息类型，且“</a:t>
            </a:r>
            <a:r>
              <a:rPr lang="en-US" altLang="zh-CN" dirty="0" smtClean="0"/>
              <a:t>U</a:t>
            </a:r>
            <a:r>
              <a:rPr lang="zh-CN" altLang="en-US" dirty="0" smtClean="0"/>
              <a:t>”字段的值为“</a:t>
            </a:r>
            <a:r>
              <a:rPr lang="en-US" altLang="zh-CN" dirty="0" smtClean="0"/>
              <a:t>1</a:t>
            </a:r>
            <a:r>
              <a:rPr lang="zh-CN" altLang="en-US" dirty="0" smtClean="0"/>
              <a:t>”，则忽略该未知消息。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en-US" altLang="zh-CN" dirty="0" smtClean="0"/>
              <a:t>Message Length</a:t>
            </a:r>
            <a:r>
              <a:rPr lang="zh-CN" altLang="en-US" dirty="0" smtClean="0"/>
              <a:t>占用</a:t>
            </a:r>
            <a:r>
              <a:rPr lang="en-US" altLang="zh-CN" dirty="0" smtClean="0"/>
              <a:t>2</a:t>
            </a:r>
            <a:r>
              <a:rPr lang="zh-CN" altLang="en-US" dirty="0" smtClean="0"/>
              <a:t> </a:t>
            </a:r>
            <a:r>
              <a:rPr lang="en-US" altLang="zh-CN" dirty="0" smtClean="0"/>
              <a:t>Bytes</a:t>
            </a:r>
            <a:r>
              <a:rPr lang="zh-CN" altLang="en-US" dirty="0" smtClean="0"/>
              <a:t>，以字节为单位表示</a:t>
            </a:r>
            <a:r>
              <a:rPr lang="en-US" altLang="zh-CN" dirty="0" smtClean="0"/>
              <a:t>Message ID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Mandatory Parameters</a:t>
            </a:r>
            <a:r>
              <a:rPr lang="zh-CN" altLang="en-US" dirty="0" smtClean="0"/>
              <a:t>和</a:t>
            </a:r>
            <a:r>
              <a:rPr lang="en-US" altLang="zh-CN" dirty="0" smtClean="0"/>
              <a:t>Optional Parameters</a:t>
            </a:r>
            <a:r>
              <a:rPr lang="zh-CN" altLang="en-US" dirty="0" smtClean="0"/>
              <a:t>的总长度。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en-US" altLang="zh-CN" dirty="0" smtClean="0"/>
              <a:t>Message ID</a:t>
            </a:r>
            <a:r>
              <a:rPr lang="zh-CN" altLang="en-US" dirty="0" smtClean="0"/>
              <a:t>占用</a:t>
            </a:r>
            <a:r>
              <a:rPr lang="en-US" altLang="zh-CN" dirty="0" smtClean="0"/>
              <a:t>32</a:t>
            </a:r>
            <a:r>
              <a:rPr lang="zh-CN" altLang="en-US" dirty="0" smtClean="0"/>
              <a:t> </a:t>
            </a:r>
            <a:r>
              <a:rPr lang="en-US" altLang="zh-CN" dirty="0" smtClean="0"/>
              <a:t>bit</a:t>
            </a:r>
            <a:r>
              <a:rPr lang="zh-CN" altLang="en-US" dirty="0" smtClean="0"/>
              <a:t>，用来标识一个消息。 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en-US" altLang="zh-CN" dirty="0" smtClean="0"/>
              <a:t>Mandatory Parameters</a:t>
            </a:r>
            <a:r>
              <a:rPr lang="zh-CN" altLang="en-US" dirty="0" smtClean="0"/>
              <a:t>和</a:t>
            </a:r>
            <a:r>
              <a:rPr lang="en-US" altLang="zh-CN" dirty="0" smtClean="0"/>
              <a:t>Optional Parameters</a:t>
            </a:r>
            <a:r>
              <a:rPr lang="zh-CN" altLang="en-US" dirty="0" smtClean="0"/>
              <a:t>分别为可变长的该消息的必须的参数和可选的参数。 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en-US" altLang="zh-CN" dirty="0" smtClean="0"/>
              <a:t>Message Type</a:t>
            </a:r>
            <a:r>
              <a:rPr lang="zh-CN" altLang="en-US" dirty="0" smtClean="0"/>
              <a:t>表示具体的消息类型，目前</a:t>
            </a:r>
            <a:r>
              <a:rPr lang="en-US" altLang="zh-CN" dirty="0" smtClean="0"/>
              <a:t>LDP</a:t>
            </a:r>
            <a:r>
              <a:rPr lang="zh-CN" altLang="en-US" dirty="0" smtClean="0"/>
              <a:t>定义的常用的消息有</a:t>
            </a:r>
            <a:r>
              <a:rPr lang="en-US" altLang="zh-CN" dirty="0" smtClean="0"/>
              <a:t>Notification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Hello</a:t>
            </a:r>
            <a:r>
              <a:rPr lang="zh-CN" altLang="en-US" dirty="0" smtClean="0"/>
              <a:t>，</a:t>
            </a:r>
            <a:r>
              <a:rPr lang="en-US" altLang="zh-CN" dirty="0" smtClean="0"/>
              <a:t>Initialization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Keepalive</a:t>
            </a:r>
            <a:r>
              <a:rPr lang="zh-CN" altLang="en-US" dirty="0" smtClean="0"/>
              <a:t>，</a:t>
            </a:r>
            <a:r>
              <a:rPr lang="en-US" altLang="zh-CN" dirty="0" smtClean="0"/>
              <a:t>Address</a:t>
            </a:r>
            <a:r>
              <a:rPr lang="zh-CN" altLang="en-US" dirty="0" smtClean="0"/>
              <a:t>，</a:t>
            </a:r>
            <a:r>
              <a:rPr lang="en-US" altLang="zh-CN" dirty="0" smtClean="0"/>
              <a:t>Address Withdraw</a:t>
            </a:r>
            <a:r>
              <a:rPr lang="zh-CN" altLang="en-US" dirty="0" smtClean="0"/>
              <a:t>，</a:t>
            </a:r>
            <a:r>
              <a:rPr lang="en-US" altLang="zh-CN" dirty="0" smtClean="0"/>
              <a:t>Label Mapping</a:t>
            </a:r>
            <a:r>
              <a:rPr lang="zh-CN" altLang="en-US" dirty="0" smtClean="0"/>
              <a:t>，</a:t>
            </a:r>
            <a:r>
              <a:rPr lang="en-US" altLang="zh-CN" dirty="0" smtClean="0"/>
              <a:t>Label Request</a:t>
            </a:r>
            <a:r>
              <a:rPr lang="zh-CN" altLang="en-US" dirty="0" smtClean="0"/>
              <a:t>，</a:t>
            </a:r>
            <a:r>
              <a:rPr lang="en-US" altLang="zh-CN" dirty="0" smtClean="0"/>
              <a:t>Label Abort Request</a:t>
            </a:r>
            <a:r>
              <a:rPr lang="zh-CN" altLang="en-US" dirty="0" smtClean="0"/>
              <a:t>，</a:t>
            </a:r>
            <a:r>
              <a:rPr lang="en-US" altLang="zh-CN" dirty="0" smtClean="0"/>
              <a:t>Label Withdraw</a:t>
            </a:r>
            <a:r>
              <a:rPr lang="zh-CN" altLang="en-US" dirty="0" smtClean="0"/>
              <a:t>，</a:t>
            </a:r>
            <a:r>
              <a:rPr lang="en-US" altLang="zh-CN" dirty="0" smtClean="0"/>
              <a:t>Label Release</a:t>
            </a:r>
            <a:r>
              <a:rPr lang="zh-CN" altLang="en-US" dirty="0" smtClean="0"/>
              <a:t>。</a:t>
            </a:r>
          </a:p>
          <a:p>
            <a:pPr>
              <a:lnSpc>
                <a:spcPct val="110000"/>
              </a:lnSpc>
            </a:pPr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552912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807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 smtClean="0"/>
              <a:t>LDP Session</a:t>
            </a:r>
            <a:r>
              <a:rPr lang="zh-CN" altLang="en-US" dirty="0" smtClean="0"/>
              <a:t>协商过程可以通过状态机来描述。如图所示，有</a:t>
            </a:r>
            <a:r>
              <a:rPr lang="en-US" altLang="zh-CN" dirty="0" smtClean="0"/>
              <a:t>5</a:t>
            </a:r>
            <a:r>
              <a:rPr lang="zh-CN" altLang="en-US" dirty="0" smtClean="0"/>
              <a:t>种状态。分别是</a:t>
            </a:r>
            <a:r>
              <a:rPr lang="en-US" altLang="zh-CN" dirty="0" smtClean="0"/>
              <a:t>Non-Existent</a:t>
            </a:r>
            <a:r>
              <a:rPr lang="zh-CN" altLang="en-US" dirty="0" smtClean="0"/>
              <a:t>，</a:t>
            </a:r>
            <a:r>
              <a:rPr lang="en-US" altLang="zh-CN" dirty="0" smtClean="0"/>
              <a:t>Initialized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OpenRec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OpenSent</a:t>
            </a:r>
            <a:r>
              <a:rPr lang="zh-CN" altLang="en-US" dirty="0" smtClean="0"/>
              <a:t>，</a:t>
            </a:r>
            <a:r>
              <a:rPr lang="en-US" altLang="zh-CN" dirty="0" smtClean="0"/>
              <a:t>Operational</a:t>
            </a:r>
            <a:r>
              <a:rPr lang="zh-CN" altLang="en-US" dirty="0" smtClean="0"/>
              <a:t>。</a:t>
            </a:r>
          </a:p>
          <a:p>
            <a:pPr lvl="1">
              <a:lnSpc>
                <a:spcPct val="100000"/>
              </a:lnSpc>
            </a:pPr>
            <a:r>
              <a:rPr lang="en-US" altLang="zh-CN" dirty="0" smtClean="0"/>
              <a:t>Non-Existent</a:t>
            </a:r>
            <a:r>
              <a:rPr lang="zh-CN" altLang="en-US" dirty="0" smtClean="0"/>
              <a:t>状态：该状态为</a:t>
            </a:r>
            <a:r>
              <a:rPr lang="en-US" altLang="zh-CN" dirty="0" smtClean="0"/>
              <a:t>LDP Session</a:t>
            </a:r>
            <a:r>
              <a:rPr lang="zh-CN" altLang="en-US" dirty="0" smtClean="0"/>
              <a:t>最初的状态，在此状态双方发送</a:t>
            </a:r>
            <a:r>
              <a:rPr lang="en-US" altLang="zh-CN" dirty="0" smtClean="0"/>
              <a:t>HELLO</a:t>
            </a:r>
            <a:r>
              <a:rPr lang="zh-CN" altLang="en-US" dirty="0" smtClean="0"/>
              <a:t>消息，选举主动方，在收到</a:t>
            </a:r>
            <a:r>
              <a:rPr lang="en-US" altLang="zh-CN" dirty="0" smtClean="0"/>
              <a:t>TCP</a:t>
            </a:r>
            <a:r>
              <a:rPr lang="zh-CN" altLang="en-US" dirty="0" smtClean="0"/>
              <a:t>连接建立成功事件的触发后变为</a:t>
            </a:r>
            <a:r>
              <a:rPr lang="en-US" altLang="zh-CN" dirty="0" smtClean="0"/>
              <a:t>Initialized</a:t>
            </a:r>
            <a:r>
              <a:rPr lang="zh-CN" altLang="en-US" dirty="0" smtClean="0"/>
              <a:t>状态。</a:t>
            </a:r>
          </a:p>
          <a:p>
            <a:pPr lvl="1">
              <a:lnSpc>
                <a:spcPct val="100000"/>
              </a:lnSpc>
            </a:pPr>
            <a:r>
              <a:rPr lang="en-US" altLang="zh-CN" dirty="0" smtClean="0"/>
              <a:t>Initialized</a:t>
            </a:r>
            <a:r>
              <a:rPr lang="zh-CN" altLang="en-US" dirty="0" smtClean="0"/>
              <a:t>状态：该状态下分为主动方和被动方两种情况，主动方将主动发送</a:t>
            </a:r>
            <a:r>
              <a:rPr lang="en-US" altLang="zh-CN" dirty="0" smtClean="0"/>
              <a:t>Initialization</a:t>
            </a:r>
            <a:r>
              <a:rPr lang="zh-CN" altLang="en-US" dirty="0" smtClean="0"/>
              <a:t>消息，转向</a:t>
            </a:r>
            <a:r>
              <a:rPr lang="en-US" altLang="zh-CN" dirty="0" err="1" smtClean="0"/>
              <a:t>OpenSent</a:t>
            </a:r>
            <a:r>
              <a:rPr lang="en-US" altLang="zh-CN" dirty="0" smtClean="0"/>
              <a:t> </a:t>
            </a:r>
            <a:r>
              <a:rPr lang="zh-CN" altLang="en-US" dirty="0" smtClean="0"/>
              <a:t>状态，等待回应的</a:t>
            </a:r>
            <a:r>
              <a:rPr lang="en-US" altLang="zh-CN" dirty="0" smtClean="0"/>
              <a:t>Initialization</a:t>
            </a:r>
            <a:r>
              <a:rPr lang="zh-CN" altLang="en-US" dirty="0" smtClean="0"/>
              <a:t>消息；被动方在此状态等待主动方发给自己的</a:t>
            </a:r>
            <a:r>
              <a:rPr lang="en-US" altLang="zh-CN" dirty="0" smtClean="0"/>
              <a:t>Initialization</a:t>
            </a:r>
            <a:r>
              <a:rPr lang="zh-CN" altLang="en-US" dirty="0" smtClean="0"/>
              <a:t>消息，如果收到的</a:t>
            </a:r>
            <a:r>
              <a:rPr lang="en-US" altLang="zh-CN" dirty="0" smtClean="0"/>
              <a:t>Initialization</a:t>
            </a:r>
            <a:r>
              <a:rPr lang="zh-CN" altLang="en-US" dirty="0" smtClean="0"/>
              <a:t>消息的参数可以接受，则发送</a:t>
            </a:r>
            <a:r>
              <a:rPr lang="en-US" altLang="zh-CN" dirty="0" smtClean="0"/>
              <a:t>Initialization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Keepalive</a:t>
            </a:r>
            <a:r>
              <a:rPr lang="zh-CN" altLang="en-US" dirty="0" smtClean="0"/>
              <a:t>转向</a:t>
            </a:r>
            <a:r>
              <a:rPr lang="en-US" altLang="zh-CN" dirty="0" err="1" smtClean="0"/>
              <a:t>OpenRec</a:t>
            </a:r>
            <a:r>
              <a:rPr lang="zh-CN" altLang="en-US" dirty="0" smtClean="0"/>
              <a:t>状态。主动方和被动方在此状态下收到任何非</a:t>
            </a:r>
            <a:r>
              <a:rPr lang="en-US" altLang="zh-CN" dirty="0" smtClean="0"/>
              <a:t>Initialization</a:t>
            </a:r>
            <a:r>
              <a:rPr lang="zh-CN" altLang="en-US" dirty="0" smtClean="0"/>
              <a:t>消息或等待超时时，都会转向</a:t>
            </a:r>
            <a:r>
              <a:rPr lang="en-US" altLang="zh-CN" dirty="0" smtClean="0"/>
              <a:t>Non-Existent</a:t>
            </a:r>
            <a:r>
              <a:rPr lang="zh-CN" altLang="en-US" dirty="0" smtClean="0"/>
              <a:t>状态。</a:t>
            </a:r>
          </a:p>
          <a:p>
            <a:pPr lvl="1">
              <a:lnSpc>
                <a:spcPct val="100000"/>
              </a:lnSpc>
            </a:pPr>
            <a:r>
              <a:rPr lang="en-US" altLang="zh-CN" dirty="0" err="1" smtClean="0"/>
              <a:t>OpenSent</a:t>
            </a:r>
            <a:r>
              <a:rPr lang="en-US" altLang="zh-CN" dirty="0" smtClean="0"/>
              <a:t> </a:t>
            </a:r>
            <a:r>
              <a:rPr lang="zh-CN" altLang="en-US" dirty="0" smtClean="0"/>
              <a:t>状态：此状态为主动方发送</a:t>
            </a:r>
            <a:r>
              <a:rPr lang="en-US" altLang="zh-CN" dirty="0" smtClean="0"/>
              <a:t>Initialization</a:t>
            </a:r>
            <a:r>
              <a:rPr lang="zh-CN" altLang="en-US" dirty="0" smtClean="0"/>
              <a:t>消息后的状态，在此状态等待被动方回答</a:t>
            </a:r>
            <a:r>
              <a:rPr lang="en-US" altLang="zh-CN" dirty="0" smtClean="0"/>
              <a:t>Initialization</a:t>
            </a:r>
            <a:r>
              <a:rPr lang="zh-CN" altLang="en-US" dirty="0" smtClean="0"/>
              <a:t>消息和</a:t>
            </a:r>
            <a:r>
              <a:rPr lang="en-US" altLang="zh-CN" dirty="0" err="1" smtClean="0"/>
              <a:t>Keepalive</a:t>
            </a:r>
            <a:r>
              <a:rPr lang="zh-CN" altLang="en-US" dirty="0" smtClean="0"/>
              <a:t>消息，如果收到的</a:t>
            </a:r>
            <a:r>
              <a:rPr lang="en-US" altLang="zh-CN" dirty="0" smtClean="0"/>
              <a:t>Initialization</a:t>
            </a:r>
            <a:r>
              <a:rPr lang="zh-CN" altLang="en-US" dirty="0" smtClean="0"/>
              <a:t>消息中的参数可以接受则转向</a:t>
            </a:r>
            <a:r>
              <a:rPr lang="en-US" altLang="zh-CN" dirty="0" err="1" smtClean="0"/>
              <a:t>OpenRec</a:t>
            </a:r>
            <a:r>
              <a:rPr lang="zh-CN" altLang="en-US" dirty="0" smtClean="0"/>
              <a:t>状态，如果参数不能接受或</a:t>
            </a:r>
            <a:r>
              <a:rPr lang="en-US" altLang="zh-CN" dirty="0" smtClean="0"/>
              <a:t>Initialization</a:t>
            </a:r>
            <a:r>
              <a:rPr lang="zh-CN" altLang="en-US" dirty="0" smtClean="0"/>
              <a:t>消息超时则断开</a:t>
            </a:r>
            <a:r>
              <a:rPr lang="en-US" altLang="zh-CN" dirty="0" smtClean="0"/>
              <a:t>TCP</a:t>
            </a:r>
            <a:r>
              <a:rPr lang="zh-CN" altLang="en-US" dirty="0" smtClean="0"/>
              <a:t>连接转向</a:t>
            </a:r>
            <a:r>
              <a:rPr lang="en-US" altLang="zh-CN" dirty="0" smtClean="0"/>
              <a:t>Non-Existent</a:t>
            </a:r>
            <a:r>
              <a:rPr lang="zh-CN" altLang="en-US" dirty="0" smtClean="0"/>
              <a:t>状态。</a:t>
            </a:r>
          </a:p>
          <a:p>
            <a:pPr lvl="1">
              <a:lnSpc>
                <a:spcPct val="100000"/>
              </a:lnSpc>
            </a:pPr>
            <a:r>
              <a:rPr lang="en-US" altLang="zh-CN" dirty="0" err="1" smtClean="0"/>
              <a:t>OpenRec</a:t>
            </a:r>
            <a:r>
              <a:rPr lang="zh-CN" altLang="en-US" dirty="0" smtClean="0"/>
              <a:t>状态：在此状态不管主动方还是被动方都是发出</a:t>
            </a:r>
            <a:r>
              <a:rPr lang="en-US" altLang="zh-CN" dirty="0" err="1" smtClean="0"/>
              <a:t>Keepalive</a:t>
            </a:r>
            <a:r>
              <a:rPr lang="zh-CN" altLang="en-US" dirty="0" smtClean="0"/>
              <a:t>后的状态，在等待对方回应</a:t>
            </a:r>
            <a:r>
              <a:rPr lang="en-US" altLang="zh-CN" dirty="0" err="1" smtClean="0"/>
              <a:t>Keepalive</a:t>
            </a:r>
            <a:r>
              <a:rPr lang="zh-CN" altLang="en-US" dirty="0" smtClean="0"/>
              <a:t>，只要收到</a:t>
            </a:r>
            <a:r>
              <a:rPr lang="en-US" altLang="zh-CN" dirty="0" err="1" smtClean="0"/>
              <a:t>Keepalive</a:t>
            </a:r>
            <a:r>
              <a:rPr lang="zh-CN" altLang="en-US" dirty="0" smtClean="0"/>
              <a:t>消息就转向</a:t>
            </a:r>
            <a:r>
              <a:rPr lang="en-US" altLang="zh-CN" dirty="0" smtClean="0"/>
              <a:t>Operational</a:t>
            </a:r>
            <a:r>
              <a:rPr lang="zh-CN" altLang="en-US" dirty="0" smtClean="0"/>
              <a:t>状态；如果收到其它消息或</a:t>
            </a:r>
            <a:r>
              <a:rPr lang="en-US" altLang="zh-CN" dirty="0" err="1" smtClean="0"/>
              <a:t>Keepalive</a:t>
            </a:r>
            <a:r>
              <a:rPr lang="zh-CN" altLang="en-US" dirty="0" smtClean="0"/>
              <a:t>超时则转向</a:t>
            </a:r>
            <a:r>
              <a:rPr lang="en-US" altLang="zh-CN" dirty="0" smtClean="0"/>
              <a:t>Non-Existent</a:t>
            </a:r>
            <a:r>
              <a:rPr lang="zh-CN" altLang="en-US" dirty="0" smtClean="0"/>
              <a:t>状态。</a:t>
            </a:r>
          </a:p>
          <a:p>
            <a:pPr lvl="1">
              <a:lnSpc>
                <a:spcPct val="100000"/>
              </a:lnSpc>
            </a:pPr>
            <a:r>
              <a:rPr lang="en-US" altLang="zh-CN" dirty="0" smtClean="0"/>
              <a:t>Operational</a:t>
            </a:r>
            <a:r>
              <a:rPr lang="zh-CN" altLang="en-US" dirty="0" smtClean="0"/>
              <a:t>状态：该状态是</a:t>
            </a:r>
            <a:r>
              <a:rPr lang="en-US" altLang="zh-CN" dirty="0" smtClean="0"/>
              <a:t>LDP Session</a:t>
            </a:r>
            <a:r>
              <a:rPr lang="zh-CN" altLang="en-US" dirty="0" smtClean="0"/>
              <a:t>成功建立的标志。在此状态下可以发送和接收所有其它的</a:t>
            </a:r>
            <a:r>
              <a:rPr lang="en-US" altLang="zh-CN" dirty="0" smtClean="0"/>
              <a:t>LDP</a:t>
            </a:r>
            <a:r>
              <a:rPr lang="zh-CN" altLang="en-US" dirty="0" smtClean="0"/>
              <a:t>消息。在此状态如果</a:t>
            </a:r>
            <a:r>
              <a:rPr lang="en-US" altLang="zh-CN" dirty="0" err="1" smtClean="0"/>
              <a:t>Keepalive</a:t>
            </a:r>
            <a:r>
              <a:rPr lang="zh-CN" altLang="en-US" dirty="0" smtClean="0"/>
              <a:t>超时或收到致命错误的</a:t>
            </a:r>
            <a:r>
              <a:rPr lang="en-US" altLang="zh-CN" dirty="0" smtClean="0"/>
              <a:t>Notification</a:t>
            </a:r>
            <a:r>
              <a:rPr lang="zh-CN" altLang="en-US" dirty="0" smtClean="0"/>
              <a:t>消息（</a:t>
            </a:r>
            <a:r>
              <a:rPr lang="en-US" altLang="zh-CN" dirty="0" smtClean="0"/>
              <a:t>Shutdown</a:t>
            </a:r>
            <a:r>
              <a:rPr lang="zh-CN" altLang="en-US" dirty="0" smtClean="0"/>
              <a:t>消息）或者自己主动发送</a:t>
            </a:r>
            <a:r>
              <a:rPr lang="en-US" altLang="zh-CN" dirty="0" smtClean="0"/>
              <a:t>Shutdown</a:t>
            </a:r>
            <a:r>
              <a:rPr lang="zh-CN" altLang="en-US" dirty="0" smtClean="0"/>
              <a:t>消息主动结束会话，都会转向</a:t>
            </a:r>
            <a:r>
              <a:rPr lang="en-US" altLang="zh-CN" dirty="0" smtClean="0"/>
              <a:t>Non-Existent</a:t>
            </a:r>
            <a:r>
              <a:rPr lang="zh-CN" altLang="en-US" dirty="0" smtClean="0"/>
              <a:t>状态。</a:t>
            </a:r>
          </a:p>
          <a:p>
            <a:pPr lvl="0">
              <a:lnSpc>
                <a:spcPct val="100000"/>
              </a:lnSpc>
            </a:pPr>
            <a:r>
              <a:rPr lang="en-US" altLang="zh-CN" dirty="0" smtClean="0"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ym typeface="Huawei Sans" panose="020C0503030203020204" pitchFamily="34" charset="0"/>
              </a:rPr>
              <a:t>状态切换信息可以通过指令</a:t>
            </a:r>
            <a:r>
              <a:rPr lang="en-US" altLang="zh-CN" b="1" dirty="0" smtClean="0">
                <a:sym typeface="Huawei Sans" panose="020C0503030203020204" pitchFamily="34" charset="0"/>
              </a:rPr>
              <a:t>debug </a:t>
            </a:r>
            <a:r>
              <a:rPr lang="en-US" altLang="zh-CN" b="1" dirty="0" err="1" smtClean="0">
                <a:sym typeface="Huawei Sans" panose="020C0503030203020204" pitchFamily="34" charset="0"/>
              </a:rPr>
              <a:t>mpls</a:t>
            </a:r>
            <a:r>
              <a:rPr lang="en-US" altLang="zh-CN" b="1" dirty="0" smtClean="0">
                <a:sym typeface="Huawei Sans" panose="020C0503030203020204" pitchFamily="34" charset="0"/>
              </a:rPr>
              <a:t> </a:t>
            </a:r>
            <a:r>
              <a:rPr lang="en-US" altLang="zh-CN" b="1" dirty="0" err="1" smtClean="0">
                <a:sym typeface="Huawei Sans" panose="020C0503030203020204" pitchFamily="34" charset="0"/>
              </a:rPr>
              <a:t>ldp</a:t>
            </a:r>
            <a:r>
              <a:rPr lang="en-US" altLang="zh-CN" b="1" dirty="0" smtClean="0">
                <a:sym typeface="Huawei Sans" panose="020C0503030203020204" pitchFamily="34" charset="0"/>
              </a:rPr>
              <a:t> session</a:t>
            </a:r>
            <a:r>
              <a:rPr lang="zh-CN" altLang="en-US" dirty="0" smtClean="0">
                <a:sym typeface="Huawei Sans" panose="020C0503030203020204" pitchFamily="34" charset="0"/>
              </a:rPr>
              <a:t>看到。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14100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除了基本发现机制外，可以通过拓展发现机制发现非直连的远端邻接体，该内容不属于课程的重点，详细内容可以查阅</a:t>
            </a:r>
            <a:r>
              <a:rPr lang="en-US" altLang="zh-CN" smtClean="0"/>
              <a:t>RFC5036</a:t>
            </a:r>
            <a:r>
              <a:rPr lang="zh-CN" altLang="en-US" smtClean="0"/>
              <a:t>相关内容。</a:t>
            </a:r>
            <a:endParaRPr lang="en-US" altLang="zh-CN" smtClean="0"/>
          </a:p>
          <a:p>
            <a:pPr lvl="0"/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的传输地址用于与邻居建立</a:t>
            </a:r>
            <a:r>
              <a:rPr lang="en-US" altLang="zh-CN" smtClean="0">
                <a:sym typeface="Huawei Sans" panose="020C0503030203020204" pitchFamily="34" charset="0"/>
              </a:rPr>
              <a:t>TCP</a:t>
            </a:r>
            <a:r>
              <a:rPr lang="zh-CN" altLang="en-US" smtClean="0">
                <a:sym typeface="Huawei Sans" panose="020C0503030203020204" pitchFamily="34" charset="0"/>
              </a:rPr>
              <a:t>连接。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两台</a:t>
            </a:r>
            <a:r>
              <a:rPr lang="en-US" altLang="zh-CN" smtClean="0">
                <a:sym typeface="Huawei Sans" panose="020C0503030203020204" pitchFamily="34" charset="0"/>
              </a:rPr>
              <a:t>LSR</a:t>
            </a:r>
            <a:r>
              <a:rPr lang="zh-CN" altLang="en-US" smtClean="0">
                <a:sym typeface="Huawei Sans" panose="020C0503030203020204" pitchFamily="34" charset="0"/>
              </a:rPr>
              <a:t>之间在建立</a:t>
            </a:r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会话之前，需要先建立</a:t>
            </a:r>
            <a:r>
              <a:rPr lang="en-US" altLang="zh-CN" smtClean="0">
                <a:sym typeface="Huawei Sans" panose="020C0503030203020204" pitchFamily="34" charset="0"/>
              </a:rPr>
              <a:t>TCP</a:t>
            </a:r>
            <a:r>
              <a:rPr lang="zh-CN" altLang="en-US" smtClean="0">
                <a:sym typeface="Huawei Sans" panose="020C0503030203020204" pitchFamily="34" charset="0"/>
              </a:rPr>
              <a:t>连接，以便进行</a:t>
            </a:r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协议报文的交换。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设备的传输地址被包含在</a:t>
            </a:r>
            <a:r>
              <a:rPr lang="en-US" altLang="zh-CN" smtClean="0">
                <a:sym typeface="Huawei Sans" panose="020C0503030203020204" pitchFamily="34" charset="0"/>
              </a:rPr>
              <a:t>LDP Hello</a:t>
            </a:r>
            <a:r>
              <a:rPr lang="zh-CN" altLang="en-US" smtClean="0">
                <a:sym typeface="Huawei Sans" panose="020C0503030203020204" pitchFamily="34" charset="0"/>
              </a:rPr>
              <a:t>报文中，</a:t>
            </a:r>
            <a:r>
              <a:rPr lang="en-US" altLang="zh-CN" smtClean="0">
                <a:sym typeface="Huawei Sans" panose="020C0503030203020204" pitchFamily="34" charset="0"/>
              </a:rPr>
              <a:t>LSR</a:t>
            </a:r>
            <a:r>
              <a:rPr lang="zh-CN" altLang="en-US" smtClean="0">
                <a:sym typeface="Huawei Sans" panose="020C0503030203020204" pitchFamily="34" charset="0"/>
              </a:rPr>
              <a:t>通过</a:t>
            </a:r>
            <a:r>
              <a:rPr lang="en-US" altLang="zh-CN" smtClean="0">
                <a:sym typeface="Huawei Sans" panose="020C0503030203020204" pitchFamily="34" charset="0"/>
              </a:rPr>
              <a:t>Hello</a:t>
            </a:r>
            <a:r>
              <a:rPr lang="zh-CN" altLang="en-US" smtClean="0">
                <a:sym typeface="Huawei Sans" panose="020C0503030203020204" pitchFamily="34" charset="0"/>
              </a:rPr>
              <a:t>报文知晓邻居的传输地址。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zh-CN" altLang="zh-CN" smtClean="0">
                <a:sym typeface="Huawei Sans" panose="020C0503030203020204" pitchFamily="34" charset="0"/>
              </a:rPr>
              <a:t>在使用</a:t>
            </a:r>
            <a:r>
              <a:rPr lang="en-US" altLang="zh-CN" smtClean="0">
                <a:sym typeface="Huawei Sans" panose="020C0503030203020204" pitchFamily="34" charset="0"/>
              </a:rPr>
              <a:t>Hello</a:t>
            </a:r>
            <a:r>
              <a:rPr lang="zh-CN" altLang="en-US" smtClean="0">
                <a:sym typeface="Huawei Sans" panose="020C0503030203020204" pitchFamily="34" charset="0"/>
              </a:rPr>
              <a:t>报文</a:t>
            </a:r>
            <a:r>
              <a:rPr lang="zh-CN" altLang="zh-CN" smtClean="0">
                <a:sym typeface="Huawei Sans" panose="020C0503030203020204" pitchFamily="34" charset="0"/>
              </a:rPr>
              <a:t>发现邻居并且知道了对方的传输地址后，</a:t>
            </a:r>
            <a:r>
              <a:rPr lang="zh-CN" altLang="en-US" smtClean="0">
                <a:sym typeface="Huawei Sans" panose="020C0503030203020204" pitchFamily="34" charset="0"/>
              </a:rPr>
              <a:t>邻居之间</a:t>
            </a:r>
            <a:r>
              <a:rPr lang="zh-CN" altLang="zh-CN" smtClean="0">
                <a:sym typeface="Huawei Sans" panose="020C0503030203020204" pitchFamily="34" charset="0"/>
              </a:rPr>
              <a:t>就会开始尝试</a:t>
            </a:r>
            <a:r>
              <a:rPr lang="en-US" altLang="zh-CN" smtClean="0">
                <a:sym typeface="Huawei Sans" panose="020C0503030203020204" pitchFamily="34" charset="0"/>
              </a:rPr>
              <a:t>TCP</a:t>
            </a:r>
            <a:r>
              <a:rPr lang="zh-CN" altLang="zh-CN" smtClean="0">
                <a:sym typeface="Huawei Sans" panose="020C0503030203020204" pitchFamily="34" charset="0"/>
              </a:rPr>
              <a:t>三次握手</a:t>
            </a:r>
            <a:r>
              <a:rPr lang="zh-CN" altLang="en-US" smtClean="0">
                <a:sym typeface="Huawei Sans" panose="020C0503030203020204" pitchFamily="34" charset="0"/>
              </a:rPr>
              <a:t>（基于传输地址）</a:t>
            </a:r>
            <a:r>
              <a:rPr lang="zh-CN" altLang="zh-CN" smtClean="0">
                <a:sym typeface="Huawei Sans" panose="020C0503030203020204" pitchFamily="34" charset="0"/>
              </a:rPr>
              <a:t>，并且交互</a:t>
            </a:r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zh-CN" smtClean="0">
                <a:sym typeface="Huawei Sans" panose="020C0503030203020204" pitchFamily="34" charset="0"/>
              </a:rPr>
              <a:t>的初始化</a:t>
            </a:r>
            <a:r>
              <a:rPr lang="zh-CN" altLang="en-US" smtClean="0">
                <a:sym typeface="Huawei Sans" panose="020C0503030203020204" pitchFamily="34" charset="0"/>
              </a:rPr>
              <a:t>报文</a:t>
            </a:r>
            <a:r>
              <a:rPr lang="zh-CN" altLang="zh-CN" smtClean="0">
                <a:sym typeface="Huawei Sans" panose="020C0503030203020204" pitchFamily="34" charset="0"/>
              </a:rPr>
              <a:t>、标签映射</a:t>
            </a:r>
            <a:r>
              <a:rPr lang="zh-CN" altLang="en-US" smtClean="0">
                <a:sym typeface="Huawei Sans" panose="020C0503030203020204" pitchFamily="34" charset="0"/>
              </a:rPr>
              <a:t>报文</a:t>
            </a:r>
            <a:r>
              <a:rPr lang="zh-CN" altLang="zh-CN" smtClean="0">
                <a:sym typeface="Huawei Sans" panose="020C0503030203020204" pitchFamily="34" charset="0"/>
              </a:rPr>
              <a:t>等，这些报文都使用双方的传输地址作为源、目的</a:t>
            </a:r>
            <a:r>
              <a:rPr lang="en-US" altLang="zh-CN" smtClean="0">
                <a:sym typeface="Huawei Sans" panose="020C0503030203020204" pitchFamily="34" charset="0"/>
              </a:rPr>
              <a:t>IP</a:t>
            </a:r>
            <a:r>
              <a:rPr lang="zh-CN" altLang="zh-CN" smtClean="0">
                <a:sym typeface="Huawei Sans" panose="020C0503030203020204" pitchFamily="34" charset="0"/>
              </a:rPr>
              <a:t>地址</a:t>
            </a:r>
            <a:r>
              <a:rPr lang="zh-CN" altLang="en-US" smtClean="0">
                <a:sym typeface="Huawei Sans" panose="020C0503030203020204" pitchFamily="34" charset="0"/>
              </a:rPr>
              <a:t>。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mtClean="0">
                <a:sym typeface="Huawei Sans" panose="020C0503030203020204" pitchFamily="34" charset="0"/>
              </a:rPr>
              <a:t>LSR</a:t>
            </a:r>
            <a:r>
              <a:rPr lang="zh-CN" altLang="en-US" smtClean="0">
                <a:sym typeface="Huawei Sans" panose="020C0503030203020204" pitchFamily="34" charset="0"/>
              </a:rPr>
              <a:t>必须拥有到达邻居的传输地址的路由。</a:t>
            </a:r>
            <a:endParaRPr lang="en-US" altLang="zh-CN" smtClean="0">
              <a:sym typeface="Huawei Sans" panose="020C0503030203020204" pitchFamily="34" charset="0"/>
            </a:endParaRP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71185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347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009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LDP</a:t>
            </a:r>
            <a:r>
              <a:rPr lang="zh-CN" altLang="en-US" dirty="0" smtClean="0"/>
              <a:t>会话的状态： 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NonExistent</a:t>
            </a:r>
            <a:r>
              <a:rPr lang="zh-CN" altLang="en-US" dirty="0" smtClean="0"/>
              <a:t>：表示</a:t>
            </a:r>
            <a:r>
              <a:rPr lang="en-US" altLang="zh-CN" dirty="0" smtClean="0"/>
              <a:t>LDP</a:t>
            </a:r>
            <a:r>
              <a:rPr lang="zh-CN" altLang="en-US" dirty="0" smtClean="0"/>
              <a:t>会话的最初状态。在此状态双方互相发送</a:t>
            </a:r>
            <a:r>
              <a:rPr lang="en-US" altLang="zh-CN" dirty="0" smtClean="0"/>
              <a:t>Hello</a:t>
            </a:r>
            <a:r>
              <a:rPr lang="zh-CN" altLang="en-US" dirty="0" smtClean="0"/>
              <a:t>消息，在收到</a:t>
            </a:r>
            <a:r>
              <a:rPr lang="en-US" altLang="zh-CN" dirty="0" smtClean="0"/>
              <a:t>TCP</a:t>
            </a:r>
            <a:r>
              <a:rPr lang="zh-CN" altLang="en-US" dirty="0" smtClean="0"/>
              <a:t>连接建立成功事件的触发后变为</a:t>
            </a:r>
            <a:r>
              <a:rPr lang="en-US" altLang="zh-CN" dirty="0" smtClean="0"/>
              <a:t>Initialized</a:t>
            </a:r>
            <a:r>
              <a:rPr lang="zh-CN" altLang="en-US" dirty="0" smtClean="0"/>
              <a:t>状态。 </a:t>
            </a:r>
          </a:p>
          <a:p>
            <a:pPr lvl="1"/>
            <a:r>
              <a:rPr lang="en-US" altLang="zh-CN" dirty="0" smtClean="0"/>
              <a:t>Initialized</a:t>
            </a:r>
            <a:r>
              <a:rPr lang="zh-CN" altLang="en-US" dirty="0" smtClean="0"/>
              <a:t>：表示</a:t>
            </a:r>
            <a:r>
              <a:rPr lang="en-US" altLang="zh-CN" dirty="0" smtClean="0"/>
              <a:t>LDP</a:t>
            </a:r>
            <a:r>
              <a:rPr lang="zh-CN" altLang="en-US" dirty="0" smtClean="0"/>
              <a:t>会话处于初始化状态。 </a:t>
            </a:r>
          </a:p>
          <a:p>
            <a:pPr lvl="1"/>
            <a:r>
              <a:rPr lang="en-US" altLang="zh-CN" dirty="0" smtClean="0"/>
              <a:t>Open Sent</a:t>
            </a:r>
            <a:r>
              <a:rPr lang="zh-CN" altLang="en-US" dirty="0" smtClean="0"/>
              <a:t>：表示</a:t>
            </a:r>
            <a:r>
              <a:rPr lang="en-US" altLang="zh-CN" dirty="0" smtClean="0"/>
              <a:t>LDP</a:t>
            </a:r>
            <a:r>
              <a:rPr lang="zh-CN" altLang="en-US" dirty="0" smtClean="0"/>
              <a:t>会话进入初始化状态后，主动方给被动方发送了</a:t>
            </a:r>
            <a:r>
              <a:rPr lang="en-US" altLang="zh-CN" dirty="0" smtClean="0"/>
              <a:t>Initialized</a:t>
            </a:r>
            <a:r>
              <a:rPr lang="zh-CN" altLang="en-US" dirty="0" smtClean="0"/>
              <a:t>消息，并等待对方的回应。 </a:t>
            </a:r>
          </a:p>
          <a:p>
            <a:pPr lvl="1"/>
            <a:r>
              <a:rPr lang="en-US" altLang="zh-CN" dirty="0" smtClean="0"/>
              <a:t>Open </a:t>
            </a:r>
            <a:r>
              <a:rPr lang="en-US" altLang="zh-CN" dirty="0" err="1" smtClean="0"/>
              <a:t>Recv</a:t>
            </a:r>
            <a:r>
              <a:rPr lang="zh-CN" altLang="en-US" dirty="0" smtClean="0"/>
              <a:t>：表示</a:t>
            </a:r>
            <a:r>
              <a:rPr lang="en-US" altLang="zh-CN" dirty="0" smtClean="0"/>
              <a:t>LDP</a:t>
            </a:r>
            <a:r>
              <a:rPr lang="zh-CN" altLang="en-US" dirty="0" smtClean="0"/>
              <a:t>会话进入初始化状态后，当双方都收到了对方发送的</a:t>
            </a:r>
            <a:r>
              <a:rPr lang="en-US" altLang="zh-CN" dirty="0" err="1" smtClean="0"/>
              <a:t>Keepalive</a:t>
            </a:r>
            <a:r>
              <a:rPr lang="zh-CN" altLang="en-US" dirty="0" smtClean="0"/>
              <a:t>消息后，</a:t>
            </a:r>
            <a:r>
              <a:rPr lang="en-US" altLang="zh-CN" dirty="0" smtClean="0"/>
              <a:t>LDP</a:t>
            </a:r>
            <a:r>
              <a:rPr lang="zh-CN" altLang="en-US" dirty="0" smtClean="0"/>
              <a:t>会话进入</a:t>
            </a:r>
            <a:r>
              <a:rPr lang="en-US" altLang="zh-CN" dirty="0" smtClean="0"/>
              <a:t>Operational</a:t>
            </a:r>
            <a:r>
              <a:rPr lang="zh-CN" altLang="en-US" dirty="0" smtClean="0"/>
              <a:t>状态。 </a:t>
            </a:r>
          </a:p>
          <a:p>
            <a:pPr lvl="1"/>
            <a:r>
              <a:rPr lang="en-US" altLang="zh-CN" dirty="0" smtClean="0"/>
              <a:t>Operational</a:t>
            </a:r>
            <a:r>
              <a:rPr lang="zh-CN" altLang="en-US" dirty="0" smtClean="0"/>
              <a:t>：表示</a:t>
            </a:r>
            <a:r>
              <a:rPr lang="en-US" altLang="zh-CN" dirty="0" smtClean="0"/>
              <a:t>LDP</a:t>
            </a:r>
            <a:r>
              <a:rPr lang="zh-CN" altLang="en-US" dirty="0" smtClean="0"/>
              <a:t>会话建立成功。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522591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626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806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0659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标签分配：</a:t>
            </a:r>
            <a:r>
              <a:rPr lang="en-US" altLang="zh-CN" smtClean="0"/>
              <a:t>LSR</a:t>
            </a:r>
            <a:r>
              <a:rPr lang="zh-CN" altLang="en-US" smtClean="0"/>
              <a:t>从本地标签空间中取出一个标签与</a:t>
            </a:r>
            <a:r>
              <a:rPr lang="en-US" altLang="zh-CN" smtClean="0"/>
              <a:t>FEC</a:t>
            </a:r>
            <a:r>
              <a:rPr lang="zh-CN" altLang="en-US" smtClean="0"/>
              <a:t>绑定。</a:t>
            </a:r>
            <a:endParaRPr lang="en-US" altLang="zh-CN" smtClean="0"/>
          </a:p>
          <a:p>
            <a:r>
              <a:rPr lang="zh-CN" altLang="en-US" smtClean="0"/>
              <a:t>标签分发：</a:t>
            </a:r>
            <a:r>
              <a:rPr lang="en-US" altLang="zh-CN" smtClean="0"/>
              <a:t>LSR</a:t>
            </a:r>
            <a:r>
              <a:rPr lang="zh-CN" altLang="en-US" smtClean="0"/>
              <a:t>将标签与</a:t>
            </a:r>
            <a:r>
              <a:rPr lang="en-US" altLang="zh-CN" smtClean="0"/>
              <a:t>FEC</a:t>
            </a:r>
            <a:r>
              <a:rPr lang="zh-CN" altLang="en-US" smtClean="0"/>
              <a:t>的绑定关系通知给上游</a:t>
            </a:r>
            <a:r>
              <a:rPr lang="en-US" altLang="zh-CN" smtClean="0"/>
              <a:t>LSR</a:t>
            </a:r>
            <a:r>
              <a:rPr lang="zh-CN" altLang="en-US" smtClean="0"/>
              <a:t>。</a:t>
            </a:r>
            <a:endParaRPr lang="en-US" altLang="zh-CN" smtClean="0"/>
          </a:p>
          <a:p>
            <a:r>
              <a:rPr lang="zh-CN" altLang="en-US" smtClean="0"/>
              <a:t>标签发布方式为</a:t>
            </a:r>
            <a:r>
              <a:rPr lang="en-US" altLang="zh-CN" smtClean="0"/>
              <a:t>DU</a:t>
            </a:r>
            <a:r>
              <a:rPr lang="zh-CN" altLang="en-US" smtClean="0"/>
              <a:t>时，系统默认支持</a:t>
            </a:r>
            <a:r>
              <a:rPr lang="en-US" altLang="zh-CN" smtClean="0"/>
              <a:t>LDP</a:t>
            </a:r>
            <a:r>
              <a:rPr lang="zh-CN" altLang="en-US" smtClean="0"/>
              <a:t>为所有对等体分标签，即每个节点都可以向所有的对等体发布标签映射关系，不再区分上下游关系。因为在只给上游对等体分标签情况下，发送标签映射消息的时候，要根据路由信息对会话的上下游关系进行确认。</a:t>
            </a:r>
            <a:endParaRPr lang="zh-CN" altLang="zh-CN" smtClean="0"/>
          </a:p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5572140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只有上游邻居向自己请求标签映射时，</a:t>
            </a:r>
            <a:r>
              <a:rPr lang="en-US" altLang="zh-CN" smtClean="0"/>
              <a:t>LSR</a:t>
            </a:r>
            <a:r>
              <a:rPr lang="zh-CN" altLang="en-US" smtClean="0"/>
              <a:t>才会通告标签映射给该邻居。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8261001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标签分配控制方式需要与标签发布方式结合使用：</a:t>
            </a:r>
            <a:endParaRPr lang="en-US" altLang="zh-CN" smtClean="0"/>
          </a:p>
          <a:p>
            <a:pPr lvl="1"/>
            <a:r>
              <a:rPr lang="zh-CN" altLang="en-US" smtClean="0"/>
              <a:t>在使用</a:t>
            </a:r>
            <a:r>
              <a:rPr lang="en-US" altLang="zh-CN" smtClean="0"/>
              <a:t>DU</a:t>
            </a:r>
            <a:r>
              <a:rPr lang="zh-CN" altLang="en-US" smtClean="0"/>
              <a:t>作为标签分发方式的情况下，如图所示，</a:t>
            </a:r>
            <a:r>
              <a:rPr lang="en-US" altLang="zh-CN" smtClean="0"/>
              <a:t>R2</a:t>
            </a:r>
            <a:r>
              <a:rPr lang="zh-CN" altLang="en-US" smtClean="0"/>
              <a:t>和</a:t>
            </a:r>
            <a:r>
              <a:rPr lang="en-US" altLang="zh-CN" smtClean="0"/>
              <a:t>R3</a:t>
            </a:r>
            <a:r>
              <a:rPr lang="zh-CN" altLang="en-US" smtClean="0"/>
              <a:t>对</a:t>
            </a:r>
            <a:r>
              <a:rPr lang="en-US" altLang="zh-CN" smtClean="0">
                <a:sym typeface="Huawei Sans" panose="020C0503030203020204" pitchFamily="34" charset="0"/>
              </a:rPr>
              <a:t>192.168.4.0/24</a:t>
            </a:r>
            <a:r>
              <a:rPr lang="zh-CN" altLang="en-US" smtClean="0"/>
              <a:t>这条</a:t>
            </a:r>
            <a:r>
              <a:rPr lang="en-US" altLang="zh-CN" smtClean="0"/>
              <a:t>FEC</a:t>
            </a:r>
            <a:r>
              <a:rPr lang="zh-CN" altLang="en-US" smtClean="0"/>
              <a:t>，可以在上游</a:t>
            </a:r>
            <a:r>
              <a:rPr lang="en-US" altLang="zh-CN" smtClean="0"/>
              <a:t>LSR</a:t>
            </a:r>
            <a:r>
              <a:rPr lang="zh-CN" altLang="en-US" smtClean="0"/>
              <a:t>无请求，且自身没有收到下游</a:t>
            </a:r>
            <a:r>
              <a:rPr lang="en-US" altLang="zh-CN" smtClean="0"/>
              <a:t>LSR</a:t>
            </a:r>
            <a:r>
              <a:rPr lang="zh-CN" altLang="en-US" smtClean="0"/>
              <a:t>的标签绑定信息的情况下，主动向上游</a:t>
            </a:r>
            <a:r>
              <a:rPr lang="en-US" altLang="zh-CN" smtClean="0"/>
              <a:t>LSR</a:t>
            </a:r>
            <a:r>
              <a:rPr lang="zh-CN" altLang="en-US" smtClean="0"/>
              <a:t>通告标签绑定信息。</a:t>
            </a:r>
          </a:p>
          <a:p>
            <a:pPr lvl="1"/>
            <a:r>
              <a:rPr lang="zh-CN" altLang="en-US" smtClean="0"/>
              <a:t>采用</a:t>
            </a:r>
            <a:r>
              <a:rPr lang="en-US" altLang="zh-CN" smtClean="0"/>
              <a:t>DoD</a:t>
            </a:r>
            <a:r>
              <a:rPr lang="zh-CN" altLang="en-US" smtClean="0"/>
              <a:t>作为标签发布方式时，如图所示，</a:t>
            </a:r>
            <a:r>
              <a:rPr lang="en-US" altLang="zh-CN" smtClean="0"/>
              <a:t>R2</a:t>
            </a:r>
            <a:r>
              <a:rPr lang="zh-CN" altLang="en-US" smtClean="0"/>
              <a:t>和</a:t>
            </a:r>
            <a:r>
              <a:rPr lang="en-US" altLang="zh-CN" smtClean="0"/>
              <a:t>R3</a:t>
            </a:r>
            <a:r>
              <a:rPr lang="zh-CN" altLang="en-US" smtClean="0"/>
              <a:t>对</a:t>
            </a:r>
            <a:r>
              <a:rPr lang="en-US" altLang="zh-CN" smtClean="0">
                <a:sym typeface="Huawei Sans" panose="020C0503030203020204" pitchFamily="34" charset="0"/>
              </a:rPr>
              <a:t>192.168.4.0/24</a:t>
            </a:r>
            <a:r>
              <a:rPr lang="zh-CN" altLang="en-US" smtClean="0"/>
              <a:t>这条</a:t>
            </a:r>
            <a:r>
              <a:rPr lang="en-US" altLang="zh-CN" smtClean="0"/>
              <a:t>FEC</a:t>
            </a:r>
            <a:r>
              <a:rPr lang="zh-CN" altLang="en-US" smtClean="0"/>
              <a:t>，只要收到上游</a:t>
            </a:r>
            <a:r>
              <a:rPr lang="en-US" altLang="zh-CN" smtClean="0"/>
              <a:t>LSR</a:t>
            </a:r>
            <a:r>
              <a:rPr lang="zh-CN" altLang="en-US" smtClean="0"/>
              <a:t>的标签请求消息，可以在自身没有收到下游</a:t>
            </a:r>
            <a:r>
              <a:rPr lang="en-US" altLang="zh-CN" smtClean="0"/>
              <a:t>LSR</a:t>
            </a:r>
            <a:r>
              <a:rPr lang="zh-CN" altLang="en-US" smtClean="0"/>
              <a:t>的标签绑定信息的情况下，向上游</a:t>
            </a:r>
            <a:r>
              <a:rPr lang="en-US" altLang="zh-CN" smtClean="0"/>
              <a:t>LSR</a:t>
            </a:r>
            <a:r>
              <a:rPr lang="zh-CN" altLang="en-US" smtClean="0"/>
              <a:t>通告标签绑定信息。</a:t>
            </a:r>
          </a:p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0510215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当标签控制方式为</a:t>
            </a:r>
            <a:r>
              <a:rPr lang="en-US" altLang="zh-CN" smtClean="0"/>
              <a:t>Ordered</a:t>
            </a:r>
            <a:r>
              <a:rPr lang="zh-CN" altLang="en-US" smtClean="0"/>
              <a:t>，只有当</a:t>
            </a:r>
            <a:r>
              <a:rPr lang="en-US" altLang="zh-CN" smtClean="0"/>
              <a:t>LSR</a:t>
            </a:r>
            <a:r>
              <a:rPr lang="zh-CN" altLang="en-US" smtClean="0"/>
              <a:t>收到特定</a:t>
            </a:r>
            <a:r>
              <a:rPr lang="en-US" altLang="zh-CN" smtClean="0"/>
              <a:t>FEC</a:t>
            </a:r>
            <a:r>
              <a:rPr lang="zh-CN" altLang="en-US" smtClean="0"/>
              <a:t>下一跳发送的特定</a:t>
            </a:r>
            <a:r>
              <a:rPr lang="en-US" altLang="zh-CN" smtClean="0"/>
              <a:t>FEC</a:t>
            </a:r>
            <a:r>
              <a:rPr lang="zh-CN" altLang="en-US" smtClean="0"/>
              <a:t>标签映射消息或者</a:t>
            </a:r>
            <a:r>
              <a:rPr lang="en-US" altLang="zh-CN" smtClean="0"/>
              <a:t>LSR</a:t>
            </a:r>
            <a:r>
              <a:rPr lang="zh-CN" altLang="en-US" smtClean="0"/>
              <a:t>是</a:t>
            </a:r>
            <a:r>
              <a:rPr lang="en-US" altLang="zh-CN" smtClean="0"/>
              <a:t>LSP</a:t>
            </a:r>
            <a:r>
              <a:rPr lang="zh-CN" altLang="en-US" smtClean="0"/>
              <a:t>的出口节点时，</a:t>
            </a:r>
            <a:r>
              <a:rPr lang="en-US" altLang="zh-CN" smtClean="0"/>
              <a:t>LSR</a:t>
            </a:r>
            <a:r>
              <a:rPr lang="zh-CN" altLang="en-US" smtClean="0"/>
              <a:t>才可以向上游发送标签映射消息。</a:t>
            </a:r>
          </a:p>
          <a:p>
            <a:pPr lvl="1"/>
            <a:r>
              <a:rPr lang="zh-CN" altLang="en-US" smtClean="0"/>
              <a:t>当标签分发方式为</a:t>
            </a:r>
            <a:r>
              <a:rPr lang="en-US" altLang="zh-CN" smtClean="0"/>
              <a:t>DU</a:t>
            </a:r>
            <a:r>
              <a:rPr lang="zh-CN" altLang="en-US" smtClean="0"/>
              <a:t>时，如图所示，对于</a:t>
            </a:r>
            <a:r>
              <a:rPr lang="en-US" altLang="zh-CN" smtClean="0">
                <a:sym typeface="Huawei Sans" panose="020C0503030203020204" pitchFamily="34" charset="0"/>
              </a:rPr>
              <a:t>192.168.4.0/24</a:t>
            </a:r>
            <a:r>
              <a:rPr lang="zh-CN" altLang="en-US" smtClean="0"/>
              <a:t>这条</a:t>
            </a:r>
            <a:r>
              <a:rPr lang="en-US" altLang="zh-CN" smtClean="0"/>
              <a:t>FEC</a:t>
            </a:r>
            <a:r>
              <a:rPr lang="zh-CN" altLang="en-US" smtClean="0"/>
              <a:t>，不论上游</a:t>
            </a:r>
            <a:r>
              <a:rPr lang="en-US" altLang="zh-CN" smtClean="0"/>
              <a:t>LSR</a:t>
            </a:r>
            <a:r>
              <a:rPr lang="zh-CN" altLang="en-US" smtClean="0"/>
              <a:t>是否有请求，必须收到下游</a:t>
            </a:r>
            <a:r>
              <a:rPr lang="en-US" altLang="zh-CN" smtClean="0"/>
              <a:t>LSR</a:t>
            </a:r>
            <a:r>
              <a:rPr lang="zh-CN" altLang="en-US" smtClean="0"/>
              <a:t>对此</a:t>
            </a:r>
            <a:r>
              <a:rPr lang="en-US" altLang="zh-CN" smtClean="0"/>
              <a:t>FEC</a:t>
            </a:r>
            <a:r>
              <a:rPr lang="zh-CN" altLang="en-US" smtClean="0"/>
              <a:t>的标签绑定信息才向上游</a:t>
            </a:r>
            <a:r>
              <a:rPr lang="en-US" altLang="zh-CN" smtClean="0"/>
              <a:t>LSR</a:t>
            </a:r>
            <a:r>
              <a:rPr lang="zh-CN" altLang="en-US" smtClean="0"/>
              <a:t>发布标签绑定信息，所以必须由</a:t>
            </a:r>
            <a:r>
              <a:rPr lang="en-US" altLang="zh-CN" smtClean="0"/>
              <a:t>Egress LSR</a:t>
            </a:r>
            <a:r>
              <a:rPr lang="zh-CN" altLang="en-US" smtClean="0"/>
              <a:t>，也就是</a:t>
            </a:r>
            <a:r>
              <a:rPr lang="en-US" altLang="zh-CN" smtClean="0"/>
              <a:t>R4</a:t>
            </a:r>
            <a:r>
              <a:rPr lang="zh-CN" altLang="en-US" smtClean="0"/>
              <a:t>作为</a:t>
            </a:r>
            <a:r>
              <a:rPr lang="en-US" altLang="zh-CN" smtClean="0"/>
              <a:t>LSP</a:t>
            </a:r>
            <a:r>
              <a:rPr lang="zh-CN" altLang="en-US" smtClean="0"/>
              <a:t>建立的“起点”。</a:t>
            </a: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当标签发布方式</a:t>
            </a:r>
            <a:r>
              <a:rPr lang="zh-CN" altLang="en-US" smtClean="0"/>
              <a:t>采用</a:t>
            </a:r>
            <a:r>
              <a:rPr lang="en-US" altLang="zh-CN" smtClean="0"/>
              <a:t>DoD</a:t>
            </a:r>
            <a:r>
              <a:rPr lang="zh-CN" altLang="en-US" smtClean="0"/>
              <a:t>时，如图所示，对于</a:t>
            </a:r>
            <a:r>
              <a:rPr lang="en-US" altLang="zh-CN" smtClean="0">
                <a:sym typeface="Huawei Sans" panose="020C0503030203020204" pitchFamily="34" charset="0"/>
              </a:rPr>
              <a:t>192.168.4.0/24</a:t>
            </a:r>
            <a:r>
              <a:rPr lang="zh-CN" altLang="en-US" smtClean="0"/>
              <a:t>这条</a:t>
            </a:r>
            <a:r>
              <a:rPr lang="en-US" altLang="zh-CN" smtClean="0"/>
              <a:t>FEC</a:t>
            </a:r>
            <a:r>
              <a:rPr lang="zh-CN" altLang="en-US" smtClean="0"/>
              <a:t>，只有收到上游</a:t>
            </a:r>
            <a:r>
              <a:rPr lang="en-US" altLang="zh-CN" smtClean="0"/>
              <a:t>LSR</a:t>
            </a:r>
            <a:r>
              <a:rPr lang="zh-CN" altLang="en-US" smtClean="0"/>
              <a:t>请求的请求，且自身已经收到下游</a:t>
            </a:r>
            <a:r>
              <a:rPr lang="en-US" altLang="zh-CN" smtClean="0"/>
              <a:t>LSR</a:t>
            </a:r>
            <a:r>
              <a:rPr lang="zh-CN" altLang="en-US" smtClean="0"/>
              <a:t>的标签绑定信息的情况下，才向上游</a:t>
            </a:r>
            <a:r>
              <a:rPr lang="en-US" altLang="zh-CN" smtClean="0"/>
              <a:t>LSR</a:t>
            </a:r>
            <a:r>
              <a:rPr lang="zh-CN" altLang="en-US" smtClean="0"/>
              <a:t>通告标签绑定信息。因此，必须由</a:t>
            </a:r>
            <a:r>
              <a:rPr lang="en-US" altLang="zh-CN" smtClean="0"/>
              <a:t>Ingress LSR</a:t>
            </a:r>
            <a:r>
              <a:rPr lang="zh-CN" altLang="en-US" smtClean="0"/>
              <a:t>（</a:t>
            </a:r>
            <a:r>
              <a:rPr lang="en-US" altLang="zh-CN" smtClean="0"/>
              <a:t>R1</a:t>
            </a:r>
            <a:r>
              <a:rPr lang="zh-CN" altLang="en-US" smtClean="0"/>
              <a:t>）发起请求，逐跳请求到</a:t>
            </a:r>
            <a:r>
              <a:rPr lang="en-US" altLang="zh-CN" smtClean="0"/>
              <a:t>Egress LSR</a:t>
            </a:r>
            <a:r>
              <a:rPr lang="zh-CN" altLang="en-US" smtClean="0"/>
              <a:t>（</a:t>
            </a:r>
            <a:r>
              <a:rPr lang="en-US" altLang="zh-CN" smtClean="0"/>
              <a:t>R4</a:t>
            </a:r>
            <a:r>
              <a:rPr lang="zh-CN" altLang="en-US" smtClean="0"/>
              <a:t>），最终由</a:t>
            </a:r>
            <a:r>
              <a:rPr lang="en-US" altLang="zh-CN" smtClean="0"/>
              <a:t>R4</a:t>
            </a:r>
            <a:r>
              <a:rPr lang="zh-CN" altLang="en-US" smtClean="0"/>
              <a:t>开始，向上游建立</a:t>
            </a:r>
            <a:r>
              <a:rPr lang="en-US" altLang="zh-CN" smtClean="0"/>
              <a:t>LSP</a:t>
            </a:r>
            <a:r>
              <a:rPr lang="zh-CN" altLang="en-US" smtClean="0"/>
              <a:t>。</a:t>
            </a:r>
          </a:p>
          <a:p>
            <a:pPr lvl="1"/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5427700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当基于</a:t>
            </a:r>
            <a:r>
              <a:rPr lang="en-US" altLang="zh-CN" smtClean="0"/>
              <a:t>IP</a:t>
            </a:r>
            <a:r>
              <a:rPr lang="zh-CN" altLang="en-US" smtClean="0"/>
              <a:t>网络部署</a:t>
            </a:r>
            <a:r>
              <a:rPr lang="en-US" altLang="zh-CN" smtClean="0"/>
              <a:t>MPLS</a:t>
            </a:r>
            <a:r>
              <a:rPr lang="zh-CN" altLang="en-US" smtClean="0"/>
              <a:t>时，</a:t>
            </a:r>
            <a:r>
              <a:rPr lang="en-US" altLang="zh-CN" smtClean="0"/>
              <a:t>LSR</a:t>
            </a:r>
            <a:r>
              <a:rPr lang="zh-CN" altLang="en-US" smtClean="0"/>
              <a:t>根据</a:t>
            </a:r>
            <a:r>
              <a:rPr lang="en-US" altLang="zh-CN" smtClean="0"/>
              <a:t>IP</a:t>
            </a:r>
            <a:r>
              <a:rPr lang="zh-CN" altLang="en-US" smtClean="0"/>
              <a:t>路由表判断接收到的标签映射是否来自下一跳。</a:t>
            </a:r>
            <a:endParaRPr lang="en-US" altLang="zh-CN" smtClean="0"/>
          </a:p>
          <a:p>
            <a:pPr lvl="0"/>
            <a:r>
              <a:rPr lang="en-US" altLang="zh-CN" smtClean="0"/>
              <a:t>Liberal</a:t>
            </a:r>
            <a:r>
              <a:rPr lang="zh-CN" altLang="en-US" smtClean="0"/>
              <a:t>方式的最大优点在于路由发生变化时能够快速建立新的</a:t>
            </a:r>
            <a:r>
              <a:rPr lang="en-US" altLang="zh-CN" smtClean="0"/>
              <a:t>LSP</a:t>
            </a:r>
            <a:r>
              <a:rPr lang="zh-CN" altLang="en-US" smtClean="0"/>
              <a:t>进行数据转发，因为</a:t>
            </a:r>
            <a:r>
              <a:rPr lang="en-US" altLang="zh-CN" smtClean="0"/>
              <a:t>Liberal</a:t>
            </a:r>
            <a:r>
              <a:rPr lang="zh-CN" altLang="en-US" smtClean="0"/>
              <a:t>方式保留了所有的标签。缺点是需要分发和维护不必要的标签映射。</a:t>
            </a:r>
          </a:p>
          <a:p>
            <a:pPr lvl="1"/>
            <a:r>
              <a:rPr lang="en-US" altLang="zh-CN" smtClean="0"/>
              <a:t>DU</a:t>
            </a:r>
            <a:r>
              <a:rPr lang="zh-CN" altLang="en-US" smtClean="0"/>
              <a:t>标签分发方式下，如果采用</a:t>
            </a:r>
            <a:r>
              <a:rPr lang="en-US" altLang="zh-CN" smtClean="0"/>
              <a:t>Liberal</a:t>
            </a:r>
            <a:r>
              <a:rPr lang="zh-CN" altLang="en-US" smtClean="0"/>
              <a:t>保持方式，则</a:t>
            </a:r>
            <a:r>
              <a:rPr lang="en-US" altLang="zh-CN" smtClean="0"/>
              <a:t>R3</a:t>
            </a:r>
            <a:r>
              <a:rPr lang="zh-CN" altLang="en-US" smtClean="0"/>
              <a:t>保留所有</a:t>
            </a:r>
            <a:r>
              <a:rPr lang="en-US" altLang="zh-CN" smtClean="0"/>
              <a:t>LDP</a:t>
            </a:r>
            <a:r>
              <a:rPr lang="zh-CN" altLang="en-US" smtClean="0"/>
              <a:t>邻居</a:t>
            </a:r>
            <a:r>
              <a:rPr lang="en-US" altLang="zh-CN" smtClean="0"/>
              <a:t> R2</a:t>
            </a:r>
            <a:r>
              <a:rPr lang="zh-CN" altLang="en-US" smtClean="0"/>
              <a:t>和</a:t>
            </a:r>
            <a:r>
              <a:rPr lang="en-US" altLang="zh-CN" smtClean="0"/>
              <a:t>R5</a:t>
            </a:r>
            <a:r>
              <a:rPr lang="zh-CN" altLang="en-US" smtClean="0"/>
              <a:t>发来的关于</a:t>
            </a:r>
            <a:r>
              <a:rPr lang="en-US" altLang="zh-CN" smtClean="0">
                <a:sym typeface="Huawei Sans" panose="020C0503030203020204" pitchFamily="34" charset="0"/>
              </a:rPr>
              <a:t>192.168.1.0/24</a:t>
            </a:r>
            <a:r>
              <a:rPr lang="zh-CN" altLang="en-US" smtClean="0"/>
              <a:t>这个</a:t>
            </a:r>
            <a:r>
              <a:rPr lang="en-US" altLang="zh-CN" smtClean="0"/>
              <a:t>FEC</a:t>
            </a:r>
            <a:r>
              <a:rPr lang="zh-CN" altLang="en-US" smtClean="0"/>
              <a:t>的标签，无论该</a:t>
            </a:r>
            <a:r>
              <a:rPr lang="en-US" altLang="zh-CN" smtClean="0"/>
              <a:t>R2</a:t>
            </a:r>
            <a:r>
              <a:rPr lang="zh-CN" altLang="en-US" smtClean="0"/>
              <a:t>和</a:t>
            </a:r>
            <a:r>
              <a:rPr lang="en-US" altLang="zh-CN" smtClean="0"/>
              <a:t>R5</a:t>
            </a:r>
            <a:r>
              <a:rPr lang="zh-CN" altLang="en-US" smtClean="0"/>
              <a:t>是否是</a:t>
            </a:r>
            <a:r>
              <a:rPr lang="en-US" altLang="zh-CN" smtClean="0"/>
              <a:t>IP</a:t>
            </a:r>
            <a:r>
              <a:rPr lang="zh-CN" altLang="en-US" smtClean="0"/>
              <a:t>路由表中到达</a:t>
            </a:r>
            <a:r>
              <a:rPr lang="en-US" altLang="zh-CN" smtClean="0">
                <a:sym typeface="Huawei Sans" panose="020C0503030203020204" pitchFamily="34" charset="0"/>
              </a:rPr>
              <a:t>192.168.1.0/24</a:t>
            </a:r>
            <a:r>
              <a:rPr lang="zh-CN" altLang="en-US" smtClean="0"/>
              <a:t>的下一跳。</a:t>
            </a:r>
          </a:p>
          <a:p>
            <a:pPr lvl="1"/>
            <a:r>
              <a:rPr lang="en-US" altLang="zh-CN" smtClean="0"/>
              <a:t>DoD</a:t>
            </a:r>
            <a:r>
              <a:rPr lang="zh-CN" altLang="en-US" smtClean="0"/>
              <a:t>标签分发方式下，如果采用</a:t>
            </a:r>
            <a:r>
              <a:rPr lang="en-US" altLang="zh-CN" smtClean="0"/>
              <a:t>Liberal</a:t>
            </a:r>
            <a:r>
              <a:rPr lang="zh-CN" altLang="en-US" smtClean="0"/>
              <a:t>保持方式， </a:t>
            </a:r>
            <a:r>
              <a:rPr lang="en-US" altLang="zh-CN" smtClean="0"/>
              <a:t>LSR</a:t>
            </a:r>
            <a:r>
              <a:rPr lang="zh-CN" altLang="en-US" smtClean="0"/>
              <a:t>会向所有</a:t>
            </a:r>
            <a:r>
              <a:rPr lang="en-US" altLang="zh-CN" smtClean="0"/>
              <a:t>LDP</a:t>
            </a:r>
            <a:r>
              <a:rPr lang="zh-CN" altLang="en-US" smtClean="0"/>
              <a:t>邻居请求标签。但通常来说，</a:t>
            </a:r>
            <a:r>
              <a:rPr lang="en-US" altLang="zh-CN" smtClean="0"/>
              <a:t>DoD</a:t>
            </a:r>
            <a:r>
              <a:rPr lang="zh-CN" altLang="en-US" smtClean="0"/>
              <a:t>分发方式都会和</a:t>
            </a:r>
            <a:r>
              <a:rPr lang="en-US" altLang="zh-CN" smtClean="0"/>
              <a:t>Conservative</a:t>
            </a:r>
            <a:r>
              <a:rPr lang="zh-CN" altLang="en-US" smtClean="0"/>
              <a:t>保持方式搭配使用。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072917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Conservative</a:t>
            </a:r>
            <a:r>
              <a:rPr lang="zh-CN" altLang="en-US" smtClean="0"/>
              <a:t>方式的优点在于只需保留和维护用于转发数据的标签，以达到节约标签的目的。</a:t>
            </a:r>
            <a:endParaRPr lang="en-US" altLang="zh-CN" smtClean="0"/>
          </a:p>
          <a:p>
            <a:pPr lvl="1"/>
            <a:r>
              <a:rPr lang="zh-CN" altLang="en-US" smtClean="0"/>
              <a:t>当使用</a:t>
            </a:r>
            <a:r>
              <a:rPr lang="en-US" altLang="zh-CN" smtClean="0"/>
              <a:t>DU</a:t>
            </a:r>
            <a:r>
              <a:rPr lang="zh-CN" altLang="en-US" smtClean="0"/>
              <a:t>标签分发方式时，</a:t>
            </a:r>
            <a:r>
              <a:rPr lang="en-US" altLang="zh-CN" smtClean="0"/>
              <a:t>LSR</a:t>
            </a:r>
            <a:r>
              <a:rPr lang="zh-CN" altLang="en-US" smtClean="0"/>
              <a:t>可能从多个</a:t>
            </a:r>
            <a:r>
              <a:rPr lang="en-US" altLang="zh-CN" smtClean="0"/>
              <a:t>LDP</a:t>
            </a:r>
            <a:r>
              <a:rPr lang="zh-CN" altLang="en-US" smtClean="0"/>
              <a:t>邻居收到到同一网段的标签映射消息，如图中</a:t>
            </a:r>
            <a:r>
              <a:rPr lang="en-US" altLang="zh-CN" smtClean="0"/>
              <a:t>R3</a:t>
            </a:r>
            <a:r>
              <a:rPr lang="zh-CN" altLang="en-US" smtClean="0"/>
              <a:t>会分别从</a:t>
            </a:r>
            <a:r>
              <a:rPr lang="en-US" altLang="zh-CN" smtClean="0"/>
              <a:t>R2</a:t>
            </a:r>
            <a:r>
              <a:rPr lang="zh-CN" altLang="en-US" smtClean="0"/>
              <a:t>和</a:t>
            </a:r>
            <a:r>
              <a:rPr lang="en-US" altLang="zh-CN" smtClean="0"/>
              <a:t>R5</a:t>
            </a:r>
            <a:r>
              <a:rPr lang="zh-CN" altLang="en-US" smtClean="0"/>
              <a:t>收到网段</a:t>
            </a:r>
            <a:r>
              <a:rPr lang="en-US" altLang="zh-CN" smtClean="0">
                <a:sym typeface="Huawei Sans" panose="020C0503030203020204" pitchFamily="34" charset="0"/>
              </a:rPr>
              <a:t>192.168.1.0/24</a:t>
            </a:r>
            <a:r>
              <a:rPr lang="zh-CN" altLang="en-US" smtClean="0"/>
              <a:t>的标签映射消息。如果采用</a:t>
            </a:r>
            <a:r>
              <a:rPr lang="en-US" altLang="zh-CN" smtClean="0"/>
              <a:t>Conservative</a:t>
            </a:r>
            <a:r>
              <a:rPr lang="zh-CN" altLang="en-US" smtClean="0"/>
              <a:t>保持方式，则</a:t>
            </a:r>
            <a:r>
              <a:rPr lang="en-US" altLang="zh-CN" smtClean="0"/>
              <a:t>R3</a:t>
            </a:r>
            <a:r>
              <a:rPr lang="zh-CN" altLang="en-US" smtClean="0"/>
              <a:t>只保留下一跳</a:t>
            </a:r>
            <a:r>
              <a:rPr lang="en-US" altLang="zh-CN" smtClean="0"/>
              <a:t>R2</a:t>
            </a:r>
            <a:r>
              <a:rPr lang="zh-CN" altLang="en-US" smtClean="0"/>
              <a:t>发来的标签，丢弃非下一跳</a:t>
            </a:r>
            <a:r>
              <a:rPr lang="en-US" altLang="zh-CN" smtClean="0"/>
              <a:t>R5</a:t>
            </a:r>
            <a:r>
              <a:rPr lang="zh-CN" altLang="en-US" smtClean="0"/>
              <a:t>发来的标签。</a:t>
            </a:r>
          </a:p>
          <a:p>
            <a:pPr lvl="1"/>
            <a:r>
              <a:rPr lang="zh-CN" altLang="en-US" smtClean="0"/>
              <a:t>当使用</a:t>
            </a:r>
            <a:r>
              <a:rPr lang="en-US" altLang="zh-CN" smtClean="0"/>
              <a:t>DoD</a:t>
            </a:r>
            <a:r>
              <a:rPr lang="zh-CN" altLang="en-US" smtClean="0"/>
              <a:t>标签分发方式时， </a:t>
            </a:r>
            <a:r>
              <a:rPr lang="en-US" altLang="zh-CN" smtClean="0"/>
              <a:t>LSR</a:t>
            </a:r>
            <a:r>
              <a:rPr lang="zh-CN" altLang="en-US" smtClean="0"/>
              <a:t>根据路由信息只向它的下一跳请求标签。</a:t>
            </a:r>
          </a:p>
          <a:p>
            <a:r>
              <a:rPr lang="zh-CN" altLang="en-US" smtClean="0"/>
              <a:t>当网络拓扑变化引起下一跳邻居改变时：</a:t>
            </a:r>
          </a:p>
          <a:p>
            <a:pPr lvl="1"/>
            <a:r>
              <a:rPr lang="zh-CN" altLang="en-US" smtClean="0"/>
              <a:t>使用自由标签保持方式，</a:t>
            </a:r>
            <a:r>
              <a:rPr lang="en-US" altLang="zh-CN" smtClean="0"/>
              <a:t>LSR</a:t>
            </a:r>
            <a:r>
              <a:rPr lang="zh-CN" altLang="en-US" smtClean="0"/>
              <a:t>可以直接利用原来非下一跳邻居发来的标签，迅速重建</a:t>
            </a:r>
            <a:r>
              <a:rPr lang="en-US" altLang="zh-CN" smtClean="0"/>
              <a:t>LSP</a:t>
            </a:r>
            <a:r>
              <a:rPr lang="zh-CN" altLang="en-US" smtClean="0"/>
              <a:t>，但需要更多的内存和标签空间。</a:t>
            </a:r>
          </a:p>
          <a:p>
            <a:pPr lvl="1"/>
            <a:r>
              <a:rPr lang="zh-CN" altLang="en-US" smtClean="0"/>
              <a:t>使用保守标签保持方式，</a:t>
            </a:r>
            <a:r>
              <a:rPr lang="en-US" altLang="zh-CN" smtClean="0"/>
              <a:t>LSR</a:t>
            </a:r>
            <a:r>
              <a:rPr lang="zh-CN" altLang="en-US" smtClean="0"/>
              <a:t>只保留来自下一跳邻居的标签，节省了内存和标签空间，但</a:t>
            </a:r>
            <a:r>
              <a:rPr lang="en-US" altLang="zh-CN" smtClean="0"/>
              <a:t>LSP</a:t>
            </a:r>
            <a:r>
              <a:rPr lang="zh-CN" altLang="en-US" smtClean="0"/>
              <a:t>的重建会比较慢。</a:t>
            </a:r>
          </a:p>
          <a:p>
            <a:pPr lvl="1"/>
            <a:r>
              <a:rPr lang="zh-CN" altLang="en-US" smtClean="0"/>
              <a:t>保守标签保持方式通常与</a:t>
            </a:r>
            <a:r>
              <a:rPr lang="en-US" altLang="zh-CN" smtClean="0"/>
              <a:t>DoD</a:t>
            </a:r>
            <a:r>
              <a:rPr lang="zh-CN" altLang="en-US" smtClean="0"/>
              <a:t>方式一起，用于标签空间有限的</a:t>
            </a:r>
            <a:r>
              <a:rPr lang="en-US" altLang="zh-CN" smtClean="0"/>
              <a:t>LSR</a:t>
            </a:r>
            <a:r>
              <a:rPr lang="zh-CN" altLang="en-US" smtClean="0"/>
              <a:t>。</a:t>
            </a:r>
            <a:endParaRPr lang="en-US" altLang="zh-CN" dirty="0" smtClean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6098064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>
                <a:sym typeface="Huawei Sans" panose="020C0503030203020204" pitchFamily="34" charset="0"/>
              </a:rPr>
              <a:t>在标签发布时，</a:t>
            </a:r>
            <a:r>
              <a:rPr lang="en-US" altLang="zh-CN" smtClean="0">
                <a:sym typeface="Huawei Sans" panose="020C0503030203020204" pitchFamily="34" charset="0"/>
              </a:rPr>
              <a:t>R3</a:t>
            </a:r>
            <a:r>
              <a:rPr lang="zh-CN" altLang="en-US" smtClean="0">
                <a:sym typeface="Huawei Sans" panose="020C0503030203020204" pitchFamily="34" charset="0"/>
              </a:rPr>
              <a:t>为作为</a:t>
            </a:r>
            <a:r>
              <a:rPr lang="en-US" altLang="zh-CN" smtClean="0">
                <a:sym typeface="Huawei Sans" panose="020C0503030203020204" pitchFamily="34" charset="0"/>
              </a:rPr>
              <a:t>192.168.3.0/24</a:t>
            </a:r>
            <a:r>
              <a:rPr lang="zh-CN" altLang="en-US" smtClean="0">
                <a:sym typeface="Huawei Sans" panose="020C0503030203020204" pitchFamily="34" charset="0"/>
              </a:rPr>
              <a:t>这条</a:t>
            </a:r>
            <a:r>
              <a:rPr lang="en-US" altLang="zh-CN" smtClean="0">
                <a:sym typeface="Huawei Sans" panose="020C0503030203020204" pitchFamily="34" charset="0"/>
              </a:rPr>
              <a:t>FEC</a:t>
            </a:r>
            <a:r>
              <a:rPr lang="zh-CN" altLang="en-US" smtClean="0">
                <a:sym typeface="Huawei Sans" panose="020C0503030203020204" pitchFamily="34" charset="0"/>
              </a:rPr>
              <a:t>的</a:t>
            </a:r>
            <a:r>
              <a:rPr lang="en-US" altLang="zh-CN" smtClean="0">
                <a:sym typeface="Huawei Sans" panose="020C0503030203020204" pitchFamily="34" charset="0"/>
              </a:rPr>
              <a:t>Egress LSR</a:t>
            </a:r>
            <a:r>
              <a:rPr lang="zh-CN" altLang="en-US" smtClean="0">
                <a:sym typeface="Huawei Sans" panose="020C0503030203020204" pitchFamily="34" charset="0"/>
              </a:rPr>
              <a:t>。分配标签时，</a:t>
            </a:r>
            <a:r>
              <a:rPr lang="en-US" altLang="zh-CN" smtClean="0">
                <a:sym typeface="Huawei Sans" panose="020C0503030203020204" pitchFamily="34" charset="0"/>
              </a:rPr>
              <a:t>R3</a:t>
            </a:r>
            <a:r>
              <a:rPr lang="zh-CN" altLang="en-US" smtClean="0">
                <a:sym typeface="Huawei Sans" panose="020C0503030203020204" pitchFamily="34" charset="0"/>
              </a:rPr>
              <a:t>为该</a:t>
            </a:r>
            <a:r>
              <a:rPr lang="en-US" altLang="zh-CN" smtClean="0">
                <a:sym typeface="Huawei Sans" panose="020C0503030203020204" pitchFamily="34" charset="0"/>
              </a:rPr>
              <a:t>FEC</a:t>
            </a:r>
            <a:r>
              <a:rPr lang="zh-CN" altLang="en-US" smtClean="0">
                <a:sym typeface="Huawei Sans" panose="020C0503030203020204" pitchFamily="34" charset="0"/>
              </a:rPr>
              <a:t>分配了标签</a:t>
            </a:r>
            <a:r>
              <a:rPr lang="en-US" altLang="zh-CN" smtClean="0">
                <a:sym typeface="Huawei Sans" panose="020C0503030203020204" pitchFamily="34" charset="0"/>
              </a:rPr>
              <a:t>3</a:t>
            </a:r>
            <a:r>
              <a:rPr lang="zh-CN" altLang="en-US" smtClean="0">
                <a:sym typeface="Huawei Sans" panose="020C0503030203020204" pitchFamily="34" charset="0"/>
              </a:rPr>
              <a:t>，并将该标签绑定信息通告给</a:t>
            </a:r>
            <a:r>
              <a:rPr lang="en-US" altLang="zh-CN" smtClean="0">
                <a:sym typeface="Huawei Sans" panose="020C0503030203020204" pitchFamily="34" charset="0"/>
              </a:rPr>
              <a:t>R2</a:t>
            </a:r>
            <a:r>
              <a:rPr lang="zh-CN" altLang="en-US" smtClean="0">
                <a:sym typeface="Huawei Sans" panose="020C0503030203020204" pitchFamily="34" charset="0"/>
              </a:rPr>
              <a:t>。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0"/>
            <a:r>
              <a:rPr lang="zh-CN" altLang="en-US" smtClean="0">
                <a:sym typeface="Huawei Sans" panose="020C0503030203020204" pitchFamily="34" charset="0"/>
              </a:rPr>
              <a:t>在数据转发时，</a:t>
            </a:r>
            <a:r>
              <a:rPr lang="en-US" altLang="zh-CN" smtClean="0">
                <a:sym typeface="Huawei Sans" panose="020C0503030203020204" pitchFamily="34" charset="0"/>
              </a:rPr>
              <a:t>R2</a:t>
            </a:r>
            <a:r>
              <a:rPr lang="zh-CN" altLang="en-US" smtClean="0">
                <a:sym typeface="Huawei Sans" panose="020C0503030203020204" pitchFamily="34" charset="0"/>
              </a:rPr>
              <a:t>作为到达</a:t>
            </a:r>
            <a:r>
              <a:rPr lang="en-US" altLang="zh-CN" smtClean="0">
                <a:sym typeface="Huawei Sans" panose="020C0503030203020204" pitchFamily="34" charset="0"/>
              </a:rPr>
              <a:t>192.168.3.0</a:t>
            </a:r>
            <a:r>
              <a:rPr lang="zh-CN" altLang="en-US" smtClean="0">
                <a:sym typeface="Huawei Sans" panose="020C0503030203020204" pitchFamily="34" charset="0"/>
              </a:rPr>
              <a:t>的次末跳（倒数第二跳），发现出标签值为</a:t>
            </a:r>
            <a:r>
              <a:rPr lang="en-US" altLang="zh-CN" smtClean="0">
                <a:sym typeface="Huawei Sans" panose="020C0503030203020204" pitchFamily="34" charset="0"/>
              </a:rPr>
              <a:t>3</a:t>
            </a:r>
            <a:r>
              <a:rPr lang="zh-CN" altLang="en-US" smtClean="0">
                <a:sym typeface="Huawei Sans" panose="020C0503030203020204" pitchFamily="34" charset="0"/>
              </a:rPr>
              <a:t>，于是将标签头部弹出，将</a:t>
            </a:r>
            <a:r>
              <a:rPr lang="en-US" altLang="zh-CN" smtClean="0">
                <a:sym typeface="Huawei Sans" panose="020C0503030203020204" pitchFamily="34" charset="0"/>
              </a:rPr>
              <a:t>IP</a:t>
            </a:r>
            <a:r>
              <a:rPr lang="zh-CN" altLang="en-US" smtClean="0">
                <a:sym typeface="Huawei Sans" panose="020C0503030203020204" pitchFamily="34" charset="0"/>
              </a:rPr>
              <a:t>报文转发给</a:t>
            </a:r>
            <a:r>
              <a:rPr lang="en-US" altLang="zh-CN" smtClean="0">
                <a:sym typeface="Huawei Sans" panose="020C0503030203020204" pitchFamily="34" charset="0"/>
              </a:rPr>
              <a:t>R3</a:t>
            </a:r>
            <a:r>
              <a:rPr lang="zh-CN" altLang="en-US" smtClean="0">
                <a:sym typeface="Huawei Sans" panose="020C0503030203020204" pitchFamily="34" charset="0"/>
              </a:rPr>
              <a:t>，而</a:t>
            </a:r>
            <a:r>
              <a:rPr lang="en-US" altLang="zh-CN" smtClean="0">
                <a:sym typeface="Huawei Sans" panose="020C0503030203020204" pitchFamily="34" charset="0"/>
              </a:rPr>
              <a:t>R3</a:t>
            </a:r>
            <a:r>
              <a:rPr lang="zh-CN" altLang="en-US" smtClean="0">
                <a:sym typeface="Huawei Sans" panose="020C0503030203020204" pitchFamily="34" charset="0"/>
              </a:rPr>
              <a:t>则仅需执行一次查询操作（查询</a:t>
            </a:r>
            <a:r>
              <a:rPr lang="en-US" altLang="zh-CN" smtClean="0">
                <a:sym typeface="Huawei Sans" panose="020C0503030203020204" pitchFamily="34" charset="0"/>
              </a:rPr>
              <a:t>FIB</a:t>
            </a:r>
            <a:r>
              <a:rPr lang="zh-CN" altLang="en-US" smtClean="0">
                <a:sym typeface="Huawei Sans" panose="020C0503030203020204" pitchFamily="34" charset="0"/>
              </a:rPr>
              <a:t>表）即可获得相应的转发信息，转发效率得到了提升。</a:t>
            </a:r>
          </a:p>
          <a:p>
            <a:pPr lvl="0"/>
            <a:endParaRPr lang="en-US" altLang="zh-CN" smtClean="0">
              <a:sym typeface="Huawei Sans" panose="020C0503030203020204" pitchFamily="34" charset="0"/>
            </a:endParaRPr>
          </a:p>
          <a:p>
            <a:pPr lvl="0"/>
            <a:endParaRPr lang="zh-CN" altLang="en-US" smtClean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390180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8603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smtClean="0"/>
              <a:t>MPLS</a:t>
            </a:r>
            <a:r>
              <a:rPr lang="zh-CN" altLang="en-US" dirty="0" smtClean="0"/>
              <a:t>视图下，执行命令</a:t>
            </a:r>
            <a:r>
              <a:rPr lang="en-US" altLang="zh-CN" b="1" dirty="0" smtClean="0"/>
              <a:t>label advertise </a:t>
            </a:r>
            <a:r>
              <a:rPr lang="en-US" altLang="zh-CN" dirty="0" smtClean="0"/>
              <a:t>{ </a:t>
            </a:r>
            <a:r>
              <a:rPr lang="en-US" altLang="zh-CN" i="1" dirty="0" smtClean="0"/>
              <a:t>explicit-null | implicit-null | non-null </a:t>
            </a:r>
            <a:r>
              <a:rPr lang="en-US" altLang="zh-CN" dirty="0" smtClean="0"/>
              <a:t>}</a:t>
            </a:r>
            <a:r>
              <a:rPr lang="zh-CN" altLang="en-US" dirty="0" smtClean="0"/>
              <a:t>，配置向倒数第二跳分配的标签。</a:t>
            </a:r>
            <a:endParaRPr lang="en-US" altLang="zh-CN" dirty="0" smtClean="0"/>
          </a:p>
          <a:p>
            <a:r>
              <a:rPr lang="zh-CN" altLang="en-US" dirty="0" smtClean="0"/>
              <a:t>根据参数的不同，可以配置</a:t>
            </a:r>
            <a:r>
              <a:rPr lang="en-US" altLang="zh-CN" dirty="0" smtClean="0"/>
              <a:t>Egress</a:t>
            </a:r>
            <a:r>
              <a:rPr lang="zh-CN" altLang="en-US" dirty="0" smtClean="0"/>
              <a:t>向倒数第二跳分配不同的标签。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缺省情况下，使用的是</a:t>
            </a:r>
            <a:r>
              <a:rPr lang="en-US" altLang="zh-CN" i="1" dirty="0" smtClean="0"/>
              <a:t>implicit-null</a:t>
            </a:r>
            <a:r>
              <a:rPr lang="zh-CN" altLang="en-US" dirty="0" smtClean="0"/>
              <a:t>，</a:t>
            </a:r>
            <a:r>
              <a:rPr lang="en-US" altLang="zh-CN" dirty="0" smtClean="0"/>
              <a:t>Egress</a:t>
            </a:r>
            <a:r>
              <a:rPr lang="zh-CN" altLang="en-US" dirty="0" smtClean="0"/>
              <a:t>向倒数第二跳节点分配隐式空标签，值为</a:t>
            </a:r>
            <a:r>
              <a:rPr lang="en-US" altLang="zh-CN" dirty="0" smtClean="0"/>
              <a:t>3</a:t>
            </a:r>
            <a:r>
              <a:rPr lang="zh-CN" altLang="en-US" dirty="0" smtClean="0"/>
              <a:t>。</a:t>
            </a:r>
          </a:p>
          <a:p>
            <a:pPr lvl="1"/>
            <a:r>
              <a:rPr lang="zh-CN" altLang="en-US" dirty="0" smtClean="0"/>
              <a:t>如果配置的是</a:t>
            </a:r>
            <a:r>
              <a:rPr lang="en-US" altLang="zh-CN" i="1" dirty="0" smtClean="0"/>
              <a:t>explicit-null</a:t>
            </a:r>
            <a:r>
              <a:rPr lang="zh-CN" altLang="en-US" dirty="0" smtClean="0"/>
              <a:t>，</a:t>
            </a:r>
            <a:r>
              <a:rPr lang="en-US" altLang="zh-CN" dirty="0" smtClean="0"/>
              <a:t>Egress</a:t>
            </a:r>
            <a:r>
              <a:rPr lang="zh-CN" altLang="en-US" dirty="0" smtClean="0"/>
              <a:t>节点向倒数第二跳分配显式空标签，值为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。当需要支持</a:t>
            </a:r>
            <a:r>
              <a:rPr lang="en-US" altLang="zh-CN" dirty="0" smtClean="0"/>
              <a:t>MPLS </a:t>
            </a:r>
            <a:r>
              <a:rPr lang="en-US" altLang="zh-CN" dirty="0" err="1" smtClean="0"/>
              <a:t>QoS</a:t>
            </a:r>
            <a:r>
              <a:rPr lang="zh-CN" altLang="en-US" dirty="0" smtClean="0"/>
              <a:t>属性时，可以选用</a:t>
            </a:r>
            <a:r>
              <a:rPr lang="en-US" altLang="zh-CN" i="1" dirty="0" smtClean="0"/>
              <a:t>explicit-null</a:t>
            </a:r>
            <a:r>
              <a:rPr lang="zh-CN" altLang="en-US" dirty="0" smtClean="0"/>
              <a:t>。</a:t>
            </a:r>
          </a:p>
          <a:p>
            <a:pPr lvl="1"/>
            <a:r>
              <a:rPr lang="zh-CN" altLang="en-US" dirty="0" smtClean="0"/>
              <a:t>如果配置的是</a:t>
            </a:r>
            <a:r>
              <a:rPr lang="en-US" altLang="zh-CN" i="1" dirty="0" smtClean="0"/>
              <a:t>non-null</a:t>
            </a:r>
            <a:r>
              <a:rPr lang="zh-CN" altLang="en-US" dirty="0" smtClean="0"/>
              <a:t>，</a:t>
            </a:r>
            <a:r>
              <a:rPr lang="en-US" altLang="zh-CN" dirty="0" smtClean="0"/>
              <a:t>Egress</a:t>
            </a:r>
            <a:r>
              <a:rPr lang="zh-CN" altLang="en-US" dirty="0" smtClean="0"/>
              <a:t>向倒数第二跳正常分配标签，即分配的标签值不小于</a:t>
            </a:r>
            <a:r>
              <a:rPr lang="en-US" altLang="zh-CN" dirty="0" smtClean="0"/>
              <a:t>16</a:t>
            </a:r>
            <a:r>
              <a:rPr lang="zh-CN" altLang="en-US" dirty="0" smtClean="0"/>
              <a:t>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4746374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6197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华为设备目前缺省模式为下游自主方式（</a:t>
            </a:r>
            <a:r>
              <a:rPr lang="en-US" altLang="zh-CN" smtClean="0"/>
              <a:t>DU</a:t>
            </a:r>
            <a:r>
              <a:rPr lang="zh-CN" altLang="en-US" smtClean="0"/>
              <a:t>）＋ 有序标签分配控制方式（</a:t>
            </a:r>
            <a:r>
              <a:rPr lang="en-US" altLang="zh-CN" smtClean="0"/>
              <a:t>Ordered</a:t>
            </a:r>
            <a:r>
              <a:rPr lang="zh-CN" altLang="en-US" smtClean="0"/>
              <a:t>）＋ 自由标签保持方式（</a:t>
            </a:r>
            <a:r>
              <a:rPr lang="en-US" altLang="zh-CN" smtClean="0"/>
              <a:t>Liberal</a:t>
            </a:r>
            <a:r>
              <a:rPr lang="zh-CN" altLang="en-US" smtClean="0"/>
              <a:t>）。</a:t>
            </a:r>
          </a:p>
          <a:p>
            <a:pPr lvl="0"/>
            <a:r>
              <a:rPr lang="zh-CN" altLang="en-US" smtClean="0"/>
              <a:t>对于从</a:t>
            </a:r>
            <a:r>
              <a:rPr lang="en-US" altLang="zh-CN" smtClean="0"/>
              <a:t>R1</a:t>
            </a:r>
            <a:r>
              <a:rPr lang="zh-CN" altLang="en-US" smtClean="0"/>
              <a:t>进入，到达</a:t>
            </a:r>
            <a:r>
              <a:rPr lang="en-US" altLang="zh-CN" smtClean="0">
                <a:sym typeface="Huawei Sans" panose="020C0503030203020204" pitchFamily="34" charset="0"/>
              </a:rPr>
              <a:t>192.168.4.0/24</a:t>
            </a:r>
            <a:r>
              <a:rPr lang="zh-CN" altLang="en-US" smtClean="0"/>
              <a:t>的数据，</a:t>
            </a:r>
            <a:r>
              <a:rPr lang="en-US" altLang="zh-CN" smtClean="0"/>
              <a:t>R1</a:t>
            </a:r>
            <a:r>
              <a:rPr lang="zh-CN" altLang="en-US" smtClean="0"/>
              <a:t>为</a:t>
            </a:r>
            <a:r>
              <a:rPr lang="en-US" altLang="zh-CN" smtClean="0"/>
              <a:t>Ingress LSR</a:t>
            </a:r>
            <a:r>
              <a:rPr lang="zh-CN" altLang="en-US" smtClean="0"/>
              <a:t>，</a:t>
            </a:r>
            <a:r>
              <a:rPr lang="en-US" altLang="zh-CN" smtClean="0"/>
              <a:t>R4</a:t>
            </a:r>
            <a:r>
              <a:rPr lang="zh-CN" altLang="en-US" smtClean="0"/>
              <a:t>为</a:t>
            </a:r>
            <a:r>
              <a:rPr lang="en-US" altLang="zh-CN" smtClean="0"/>
              <a:t>Egress LSR</a:t>
            </a:r>
            <a:r>
              <a:rPr lang="zh-CN" altLang="en-US" smtClean="0"/>
              <a:t>。</a:t>
            </a:r>
            <a:endParaRPr lang="en-US" altLang="zh-CN" smtClean="0"/>
          </a:p>
          <a:p>
            <a:pPr lvl="0"/>
            <a:endParaRPr lang="zh-CN" altLang="en-US" smtClean="0"/>
          </a:p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8465267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注：缺省情况下，根据</a:t>
            </a:r>
            <a:r>
              <a:rPr lang="en-US" altLang="zh-CN" smtClean="0"/>
              <a:t>32</a:t>
            </a:r>
            <a:r>
              <a:rPr lang="zh-CN" altLang="en-US" smtClean="0"/>
              <a:t>位的主机</a:t>
            </a:r>
            <a:r>
              <a:rPr lang="en-US" altLang="zh-CN" smtClean="0"/>
              <a:t>IP</a:t>
            </a:r>
            <a:r>
              <a:rPr lang="zh-CN" altLang="en-US" smtClean="0"/>
              <a:t>路由触发</a:t>
            </a:r>
            <a:r>
              <a:rPr lang="en-US" altLang="zh-CN" smtClean="0"/>
              <a:t>LDP</a:t>
            </a:r>
            <a:r>
              <a:rPr lang="zh-CN" altLang="en-US" smtClean="0"/>
              <a:t>建立</a:t>
            </a:r>
            <a:r>
              <a:rPr lang="en-US" altLang="zh-CN" smtClean="0"/>
              <a:t>LSP</a:t>
            </a:r>
            <a:r>
              <a:rPr lang="zh-CN" altLang="en-US" smtClean="0"/>
              <a:t>。可以通过手工配置触发非</a:t>
            </a:r>
            <a:r>
              <a:rPr lang="en-US" altLang="zh-CN" smtClean="0"/>
              <a:t>32</a:t>
            </a:r>
            <a:r>
              <a:rPr lang="zh-CN" altLang="en-US" smtClean="0"/>
              <a:t>位路由的</a:t>
            </a:r>
            <a:r>
              <a:rPr lang="en-US" altLang="zh-CN" smtClean="0"/>
              <a:t>LSP</a:t>
            </a:r>
            <a:r>
              <a:rPr lang="zh-CN" altLang="en-US" smtClean="0"/>
              <a:t>建立。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1637250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5774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注：当</a:t>
            </a:r>
            <a:r>
              <a:rPr lang="en-US" altLang="zh-CN" smtClean="0"/>
              <a:t>R2</a:t>
            </a:r>
            <a:r>
              <a:rPr lang="zh-CN" altLang="en-US" smtClean="0"/>
              <a:t>发生故障时，</a:t>
            </a:r>
            <a:r>
              <a:rPr lang="en-US" altLang="zh-CN" smtClean="0"/>
              <a:t>OSPF</a:t>
            </a:r>
            <a:r>
              <a:rPr lang="zh-CN" altLang="en-US" smtClean="0"/>
              <a:t>路由将会重新收敛，此时</a:t>
            </a:r>
            <a:r>
              <a:rPr lang="en-US" altLang="zh-CN" smtClean="0"/>
              <a:t>R1</a:t>
            </a:r>
            <a:r>
              <a:rPr lang="zh-CN" altLang="en-US" smtClean="0"/>
              <a:t>的路由表中</a:t>
            </a:r>
            <a:r>
              <a:rPr lang="en-US" altLang="zh-CN" smtClean="0"/>
              <a:t>192.168.4.0/24</a:t>
            </a:r>
            <a:r>
              <a:rPr lang="zh-CN" altLang="en-US" smtClean="0"/>
              <a:t>路由的下一跳将会切换至</a:t>
            </a:r>
            <a:r>
              <a:rPr lang="en-US" altLang="zh-CN" smtClean="0"/>
              <a:t>R3</a:t>
            </a:r>
            <a:r>
              <a:rPr lang="zh-CN" altLang="en-US" smtClean="0"/>
              <a:t>，此时</a:t>
            </a:r>
            <a:r>
              <a:rPr lang="en-US" altLang="zh-CN" smtClean="0"/>
              <a:t>R1</a:t>
            </a:r>
            <a:r>
              <a:rPr lang="zh-CN" altLang="en-US" smtClean="0"/>
              <a:t>将启用</a:t>
            </a:r>
            <a:r>
              <a:rPr lang="en-US" altLang="zh-CN" smtClean="0"/>
              <a:t>R3</a:t>
            </a:r>
            <a:r>
              <a:rPr lang="zh-CN" altLang="en-US" smtClean="0"/>
              <a:t>所通告的、关于</a:t>
            </a:r>
            <a:r>
              <a:rPr lang="en-US" altLang="zh-CN" smtClean="0"/>
              <a:t>192.168.4.0/24</a:t>
            </a:r>
            <a:r>
              <a:rPr lang="zh-CN" altLang="en-US" smtClean="0"/>
              <a:t>的标签。</a:t>
            </a:r>
            <a:endParaRPr lang="en-US" altLang="zh-CN" smtClean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40812289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当</a:t>
            </a:r>
            <a:r>
              <a:rPr lang="en-US" altLang="zh-CN" smtClean="0"/>
              <a:t>R1</a:t>
            </a:r>
            <a:r>
              <a:rPr lang="zh-CN" altLang="en-US" smtClean="0"/>
              <a:t>收到发往</a:t>
            </a:r>
            <a:r>
              <a:rPr lang="en-US" altLang="zh-CN" smtClean="0"/>
              <a:t>192.168.4.1</a:t>
            </a:r>
            <a:r>
              <a:rPr lang="zh-CN" altLang="en-US" smtClean="0"/>
              <a:t>的</a:t>
            </a:r>
            <a:r>
              <a:rPr lang="en-US" altLang="zh-CN" smtClean="0"/>
              <a:t>IP</a:t>
            </a:r>
            <a:r>
              <a:rPr lang="zh-CN" altLang="en-US" smtClean="0"/>
              <a:t>报文时，首先在其</a:t>
            </a:r>
            <a:r>
              <a:rPr lang="en-US" altLang="zh-CN" smtClean="0"/>
              <a:t>FIB</a:t>
            </a:r>
            <a:r>
              <a:rPr lang="zh-CN" altLang="en-US" smtClean="0"/>
              <a:t>表中查询该目的</a:t>
            </a:r>
            <a:r>
              <a:rPr lang="en-US" altLang="zh-CN" smtClean="0"/>
              <a:t>IP</a:t>
            </a:r>
            <a:r>
              <a:rPr lang="zh-CN" altLang="en-US" smtClean="0"/>
              <a:t>地址，它发现所匹配的表项的</a:t>
            </a:r>
            <a:r>
              <a:rPr lang="en-US" altLang="zh-CN" smtClean="0"/>
              <a:t>Tunnel ID</a:t>
            </a:r>
            <a:r>
              <a:rPr lang="zh-CN" altLang="en-US" smtClean="0"/>
              <a:t>为非</a:t>
            </a:r>
            <a:r>
              <a:rPr lang="en-US" altLang="zh-CN" smtClean="0"/>
              <a:t>0</a:t>
            </a:r>
            <a:r>
              <a:rPr lang="zh-CN" altLang="en-US" smtClean="0"/>
              <a:t>，因此继续在</a:t>
            </a:r>
            <a:r>
              <a:rPr lang="en-US" altLang="zh-CN" smtClean="0"/>
              <a:t>NHLFE</a:t>
            </a:r>
            <a:r>
              <a:rPr lang="zh-CN" altLang="en-US" smtClean="0"/>
              <a:t>中查询该</a:t>
            </a:r>
            <a:r>
              <a:rPr lang="en-US" altLang="zh-CN" smtClean="0"/>
              <a:t>Tunnel ID</a:t>
            </a:r>
            <a:r>
              <a:rPr lang="zh-CN" altLang="en-US" smtClean="0"/>
              <a:t>，然后意识到需要将对该</a:t>
            </a:r>
            <a:r>
              <a:rPr lang="en-US" altLang="zh-CN" smtClean="0"/>
              <a:t>IP</a:t>
            </a:r>
            <a:r>
              <a:rPr lang="zh-CN" altLang="en-US" smtClean="0"/>
              <a:t>报文压入标签并进行标签转发，出接口为</a:t>
            </a:r>
            <a:r>
              <a:rPr lang="en-US" altLang="zh-CN" smtClean="0"/>
              <a:t>GE0/0/0</a:t>
            </a:r>
            <a:r>
              <a:rPr lang="zh-CN" altLang="en-US" smtClean="0"/>
              <a:t>、下一跳为</a:t>
            </a:r>
            <a:r>
              <a:rPr lang="en-US" altLang="zh-CN" smtClean="0"/>
              <a:t>R2</a:t>
            </a:r>
            <a:r>
              <a:rPr lang="zh-CN" altLang="en-US" smtClean="0"/>
              <a:t>、出站标签为</a:t>
            </a:r>
            <a:r>
              <a:rPr lang="en-US" altLang="zh-CN" smtClean="0"/>
              <a:t>1021</a:t>
            </a:r>
            <a:r>
              <a:rPr lang="zh-CN" altLang="en-US" smtClean="0"/>
              <a:t>，于是为报文插入标签头部并转发出去。</a:t>
            </a:r>
            <a:endParaRPr lang="en-US" altLang="zh-CN" smtClean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2553465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当</a:t>
            </a:r>
            <a:r>
              <a:rPr lang="en-US" altLang="zh-CN" smtClean="0"/>
              <a:t>R2</a:t>
            </a:r>
            <a:r>
              <a:rPr lang="zh-CN" altLang="en-US" smtClean="0"/>
              <a:t>收到携带</a:t>
            </a:r>
            <a:r>
              <a:rPr lang="en-US" altLang="zh-CN" smtClean="0"/>
              <a:t>1021</a:t>
            </a:r>
            <a:r>
              <a:rPr lang="zh-CN" altLang="en-US" smtClean="0"/>
              <a:t>标签的标签报文时，查询</a:t>
            </a:r>
            <a:r>
              <a:rPr lang="en-US" altLang="zh-CN" smtClean="0"/>
              <a:t>ILM</a:t>
            </a:r>
            <a:r>
              <a:rPr lang="zh-CN" altLang="en-US" smtClean="0"/>
              <a:t>，根据</a:t>
            </a:r>
            <a:r>
              <a:rPr lang="en-US" altLang="zh-CN" smtClean="0"/>
              <a:t>ILM</a:t>
            </a:r>
            <a:r>
              <a:rPr lang="zh-CN" altLang="en-US" smtClean="0"/>
              <a:t>对应到</a:t>
            </a:r>
            <a:r>
              <a:rPr lang="en-US" altLang="zh-CN" smtClean="0"/>
              <a:t>NHLFE</a:t>
            </a:r>
            <a:r>
              <a:rPr lang="zh-CN" altLang="en-US" smtClean="0"/>
              <a:t>中的表项。于是，</a:t>
            </a:r>
            <a:r>
              <a:rPr lang="en-US" altLang="zh-CN" smtClean="0"/>
              <a:t>R2</a:t>
            </a:r>
            <a:r>
              <a:rPr lang="zh-CN" altLang="en-US" smtClean="0"/>
              <a:t>对该标签报文通过</a:t>
            </a:r>
            <a:r>
              <a:rPr lang="en-US" altLang="zh-CN" smtClean="0"/>
              <a:t>swap</a:t>
            </a:r>
            <a:r>
              <a:rPr lang="zh-CN" altLang="en-US" smtClean="0"/>
              <a:t>操作将标签更换为</a:t>
            </a:r>
            <a:r>
              <a:rPr lang="en-US" altLang="zh-CN" smtClean="0"/>
              <a:t>1041</a:t>
            </a:r>
            <a:r>
              <a:rPr lang="zh-CN" altLang="en-US" smtClean="0"/>
              <a:t>，并从相应的接口转发出去。</a:t>
            </a:r>
            <a:endParaRPr lang="en-US" altLang="zh-CN" smtClean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6408222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当</a:t>
            </a:r>
            <a:r>
              <a:rPr lang="en-US" altLang="zh-CN" smtClean="0"/>
              <a:t>R4</a:t>
            </a:r>
            <a:r>
              <a:rPr lang="zh-CN" altLang="en-US" smtClean="0"/>
              <a:t>收到携带</a:t>
            </a:r>
            <a:r>
              <a:rPr lang="en-US" altLang="zh-CN" smtClean="0"/>
              <a:t>1041</a:t>
            </a:r>
            <a:r>
              <a:rPr lang="zh-CN" altLang="en-US" smtClean="0"/>
              <a:t>标签的标签报文时，查询</a:t>
            </a:r>
            <a:r>
              <a:rPr lang="en-US" altLang="zh-CN" smtClean="0"/>
              <a:t>ILM</a:t>
            </a:r>
            <a:r>
              <a:rPr lang="zh-CN" altLang="en-US" smtClean="0"/>
              <a:t>，根据</a:t>
            </a:r>
            <a:r>
              <a:rPr lang="en-US" altLang="zh-CN" smtClean="0"/>
              <a:t>ILM</a:t>
            </a:r>
            <a:r>
              <a:rPr lang="zh-CN" altLang="en-US" smtClean="0"/>
              <a:t>查询到操作为</a:t>
            </a:r>
            <a:r>
              <a:rPr lang="en-US" altLang="zh-CN" smtClean="0"/>
              <a:t>Pop</a:t>
            </a:r>
            <a:r>
              <a:rPr lang="zh-CN" altLang="en-US" smtClean="0"/>
              <a:t>。于是，</a:t>
            </a:r>
            <a:r>
              <a:rPr lang="en-US" altLang="zh-CN" smtClean="0"/>
              <a:t>R4</a:t>
            </a:r>
            <a:r>
              <a:rPr lang="zh-CN" altLang="en-US" smtClean="0"/>
              <a:t>对该标签报文通过</a:t>
            </a:r>
            <a:r>
              <a:rPr lang="en-US" altLang="zh-CN" smtClean="0"/>
              <a:t>Pop</a:t>
            </a:r>
            <a:r>
              <a:rPr lang="zh-CN" altLang="en-US" smtClean="0"/>
              <a:t>操作将最外层标签剥离，此时该报文已经变成了标准</a:t>
            </a:r>
            <a:r>
              <a:rPr lang="en-US" altLang="zh-CN" smtClean="0"/>
              <a:t>IP</a:t>
            </a:r>
            <a:r>
              <a:rPr lang="zh-CN" altLang="en-US" smtClean="0"/>
              <a:t>报文，</a:t>
            </a:r>
            <a:r>
              <a:rPr lang="en-US" altLang="zh-CN" smtClean="0"/>
              <a:t>R4</a:t>
            </a:r>
            <a:r>
              <a:rPr lang="zh-CN" altLang="en-US" smtClean="0"/>
              <a:t>将对该</a:t>
            </a:r>
            <a:r>
              <a:rPr lang="en-US" altLang="zh-CN" smtClean="0"/>
              <a:t>IP</a:t>
            </a:r>
            <a:r>
              <a:rPr lang="zh-CN" altLang="en-US" smtClean="0"/>
              <a:t>报文执行标准的</a:t>
            </a:r>
            <a:r>
              <a:rPr lang="en-US" altLang="zh-CN" smtClean="0"/>
              <a:t>IP</a:t>
            </a:r>
            <a:r>
              <a:rPr lang="zh-CN" altLang="en-US" smtClean="0"/>
              <a:t>转发流程。</a:t>
            </a:r>
            <a:endParaRPr lang="en-US" altLang="zh-CN" smtClean="0"/>
          </a:p>
          <a:p>
            <a:pPr lvl="0"/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9782374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4840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5359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3974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BGP</a:t>
            </a:r>
            <a:r>
              <a:rPr lang="zh-CN" altLang="en-US" smtClean="0"/>
              <a:t>路由也可以触发</a:t>
            </a:r>
            <a:r>
              <a:rPr lang="en-US" altLang="zh-CN" smtClean="0"/>
              <a:t>LDP LSP</a:t>
            </a:r>
            <a:r>
              <a:rPr lang="zh-CN" altLang="en-US" smtClean="0"/>
              <a:t>的建立，但此部分内容不在本课程的讨论范围内。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2740974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3664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2395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0926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4700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6430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+mj-lt"/>
              <a:buAutoNum type="arabicPeriod"/>
            </a:pPr>
            <a:r>
              <a:rPr lang="en-US" altLang="zh-CN" dirty="0" smtClean="0"/>
              <a:t>C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altLang="zh-CN" dirty="0" smtClean="0"/>
              <a:t>B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5111141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47806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669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fontAlgn="base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 smtClean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13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>
            <p:extLst/>
          </p:nvPr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>
            <p:extLst/>
          </p:nvPr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V1.0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800252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base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</a:t>
            </a:r>
            <a:r>
              <a:rPr lang="zh-CN" altLang="en-US" dirty="0" smtClean="0"/>
              <a:t>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70045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base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 smtClean="0"/>
              <a:t>学完本课程后，您将能够：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8543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52523946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base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  <a:endParaRPr lang="zh-CN" altLang="en-US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78705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 smtClean="0"/>
              <a:t>此</a:t>
            </a:r>
            <a:r>
              <a:rPr lang="zh-CN" altLang="en-US" dirty="0"/>
              <a:t>版式用于</a:t>
            </a:r>
            <a:r>
              <a:rPr lang="zh-CN" altLang="en-US" dirty="0" smtClean="0"/>
              <a:t>思考题具体格式</a:t>
            </a:r>
            <a:endParaRPr lang="en-US" altLang="zh-CN" dirty="0" smtClean="0"/>
          </a:p>
        </p:txBody>
      </p:sp>
      <p:cxnSp>
        <p:nvCxnSpPr>
          <p:cNvPr id="2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71046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 smtClean="0"/>
              <a:t>此版式用于每一节的小结</a:t>
            </a:r>
          </a:p>
          <a:p>
            <a:pPr lvl="1"/>
            <a:r>
              <a:rPr lang="zh-CN" altLang="en-US" dirty="0" smtClean="0"/>
              <a:t>第二</a:t>
            </a:r>
            <a:r>
              <a:rPr lang="zh-CN" altLang="en-US" dirty="0"/>
              <a:t>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52931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37867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16683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97678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649862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2888041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519249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999816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697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 smtClean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299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07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06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096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pos="7038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62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731">
          <p15:clr>
            <a:srgbClr val="F26B43"/>
          </p15:clr>
        </p15:guide>
        <p15:guide id="8" orient="horz" pos="867">
          <p15:clr>
            <a:srgbClr val="F26B43"/>
          </p15:clr>
        </p15:guide>
        <p15:guide id="9" orient="horz" pos="234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576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base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base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base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base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base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401">
          <p15:clr>
            <a:srgbClr val="F26B43"/>
          </p15:clr>
        </p15:guide>
        <p15:guide id="3" orient="horz" pos="234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278">
          <p15:clr>
            <a:srgbClr val="F26B43"/>
          </p15:clr>
        </p15:guide>
        <p15:guide id="8" orient="horz" pos="91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xmlns="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xmlns="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xmlns="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xmlns="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本占位符 49"/>
          <p:cNvSpPr>
            <a:spLocks noGrp="1"/>
          </p:cNvSpPr>
          <p:nvPr>
            <p:ph type="body" sz="quarter" idx="17"/>
          </p:nvPr>
        </p:nvSpPr>
        <p:spPr bwMode="gray"/>
        <p:txBody>
          <a:bodyPr/>
          <a:lstStyle/>
          <a:p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Datacom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1" name="文本占位符 50"/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r>
              <a:rPr lang="zh-CN" altLang="en-US" dirty="0" smtClean="0"/>
              <a:t>通用</a:t>
            </a:r>
            <a:endParaRPr lang="zh-CN" altLang="en-US" dirty="0"/>
          </a:p>
        </p:txBody>
      </p:sp>
      <p:sp>
        <p:nvSpPr>
          <p:cNvPr id="52" name="文本占位符 51"/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en-US" altLang="zh-CN" dirty="0" smtClean="0"/>
              <a:t>V1.0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张凛睿</a:t>
            </a:r>
            <a:r>
              <a:rPr lang="en-US" altLang="zh-CN" dirty="0" smtClean="0">
                <a:sym typeface="Huawei Sans" panose="020C0503030203020204" pitchFamily="34" charset="0"/>
              </a:rPr>
              <a:t>/</a:t>
            </a:r>
            <a:r>
              <a:rPr lang="en-US" altLang="zh-CN" dirty="0" smtClean="0">
                <a:sym typeface="Huawei Sans" panose="020C0503030203020204" pitchFamily="34" charset="0"/>
              </a:rPr>
              <a:t>WX</a:t>
            </a:r>
            <a:r>
              <a:rPr lang="en-US" altLang="zh-CN" dirty="0" smtClean="0">
                <a:sym typeface="Huawei Sans" panose="020C0503030203020204" pitchFamily="34" charset="0"/>
              </a:rPr>
              <a:t>570554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2020.03.31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朱仕耿</a:t>
            </a:r>
            <a:r>
              <a:rPr lang="en-US" altLang="zh-CN" dirty="0" smtClean="0">
                <a:sym typeface="Huawei Sans" panose="020C0503030203020204" pitchFamily="34" charset="0"/>
              </a:rPr>
              <a:t>/00261992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6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新开发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zh-CN" altLang="en-US" dirty="0" smtClean="0"/>
              <a:t>何军建</a:t>
            </a:r>
            <a:r>
              <a:rPr lang="en-US" altLang="zh-CN" dirty="0" smtClean="0"/>
              <a:t>/</a:t>
            </a:r>
            <a:r>
              <a:rPr lang="en-US" altLang="zh-CN" dirty="0" smtClean="0"/>
              <a:t>WX</a:t>
            </a:r>
            <a:r>
              <a:rPr lang="en-US" altLang="zh-CN" dirty="0" smtClean="0"/>
              <a:t>580230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 bwMode="gray"/>
        <p:txBody>
          <a:bodyPr/>
          <a:lstStyle/>
          <a:p>
            <a:r>
              <a:rPr lang="en-US" altLang="zh-CN" dirty="0" smtClean="0"/>
              <a:t>2021.07.31</a:t>
            </a:r>
            <a:endParaRPr lang="zh-CN" altLang="en-US" dirty="0"/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23"/>
          </p:nvPr>
        </p:nvSpPr>
        <p:spPr bwMode="gray"/>
        <p:txBody>
          <a:bodyPr/>
          <a:lstStyle/>
          <a:p>
            <a:r>
              <a:rPr lang="zh-CN" altLang="en-US" dirty="0" smtClean="0"/>
              <a:t>卢玥玥</a:t>
            </a:r>
            <a:r>
              <a:rPr lang="en-US" altLang="zh-CN" dirty="0" smtClean="0"/>
              <a:t>/</a:t>
            </a:r>
            <a:r>
              <a:rPr lang="en-US" altLang="zh-CN" dirty="0" smtClean="0"/>
              <a:t>WX</a:t>
            </a:r>
            <a:r>
              <a:rPr lang="en-US" altLang="zh-CN" dirty="0" smtClean="0"/>
              <a:t>445705</a:t>
            </a:r>
            <a:endParaRPr lang="zh-CN" altLang="en-US" dirty="0"/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24"/>
          </p:nvPr>
        </p:nvSpPr>
        <p:spPr bwMode="gray"/>
        <p:txBody>
          <a:bodyPr/>
          <a:lstStyle/>
          <a:p>
            <a:r>
              <a:rPr lang="zh-CN" altLang="en-US" dirty="0" smtClean="0"/>
              <a:t>优化</a:t>
            </a:r>
            <a:endParaRPr lang="zh-CN" altLang="en-US" dirty="0"/>
          </a:p>
        </p:txBody>
      </p:sp>
      <p:sp>
        <p:nvSpPr>
          <p:cNvPr id="54" name="文本占位符 53"/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55" name="文本占位符 54"/>
          <p:cNvSpPr>
            <a:spLocks noGrp="1"/>
          </p:cNvSpPr>
          <p:nvPr>
            <p:ph type="body" sz="quarter" idx="26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56" name="文本占位符 55"/>
          <p:cNvSpPr>
            <a:spLocks noGrp="1"/>
          </p:cNvSpPr>
          <p:nvPr>
            <p:ph type="body" sz="quarter" idx="27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57" name="文本占位符 56"/>
          <p:cNvSpPr>
            <a:spLocks noGrp="1"/>
          </p:cNvSpPr>
          <p:nvPr>
            <p:ph type="body" sz="quarter" idx="28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29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59" name="文本占位符 58"/>
          <p:cNvSpPr>
            <a:spLocks noGrp="1"/>
          </p:cNvSpPr>
          <p:nvPr>
            <p:ph type="body" sz="quarter" idx="30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60" name="文本占位符 59"/>
          <p:cNvSpPr>
            <a:spLocks noGrp="1"/>
          </p:cNvSpPr>
          <p:nvPr>
            <p:ph type="body" sz="quarter" idx="31"/>
          </p:nvPr>
        </p:nvSpPr>
        <p:spPr bwMode="gray"/>
        <p:txBody>
          <a:bodyPr/>
          <a:lstStyle/>
          <a:p>
            <a:endParaRPr lang="zh-CN" altLang="en-US"/>
          </a:p>
        </p:txBody>
      </p:sp>
      <p:sp>
        <p:nvSpPr>
          <p:cNvPr id="61" name="文本占位符 60"/>
          <p:cNvSpPr>
            <a:spLocks noGrp="1"/>
          </p:cNvSpPr>
          <p:nvPr>
            <p:ph type="body" sz="quarter" idx="32"/>
          </p:nvPr>
        </p:nvSpPr>
        <p:spPr bwMode="gray"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8381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LDP</a:t>
            </a:r>
            <a:r>
              <a:rPr lang="zh-CN" altLang="en-US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原理与配置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53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fontAlgn="base"/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是一种根据报文中携带的标签来转发数据的技术。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fontAlgn="base"/>
            <a:r>
              <a:rPr lang="en-US" altLang="zh-CN" dirty="0" smtClean="0">
                <a:sym typeface="Huawei Sans" panose="020C0503030203020204" pitchFamily="34" charset="0"/>
              </a:rPr>
              <a:t>MPLS</a:t>
            </a:r>
            <a:r>
              <a:rPr lang="zh-CN" altLang="en-US" dirty="0" smtClean="0">
                <a:sym typeface="Huawei Sans" panose="020C0503030203020204" pitchFamily="34" charset="0"/>
              </a:rPr>
              <a:t>的一个基本概念就是两台</a:t>
            </a:r>
            <a:r>
              <a:rPr lang="en-US" altLang="zh-CN" dirty="0" smtClean="0">
                <a:sym typeface="Huawei Sans" panose="020C0503030203020204" pitchFamily="34" charset="0"/>
              </a:rPr>
              <a:t>LSR</a:t>
            </a:r>
            <a:r>
              <a:rPr lang="zh-CN" altLang="en-US" dirty="0" smtClean="0">
                <a:sym typeface="Huawei Sans" panose="020C0503030203020204" pitchFamily="34" charset="0"/>
              </a:rPr>
              <a:t>必须对在它们之间转发的数据的标签使用上“达成共识”。</a:t>
            </a:r>
            <a:r>
              <a:rPr lang="en-US" altLang="zh-CN" dirty="0" smtClean="0">
                <a:sym typeface="Huawei Sans" panose="020C0503030203020204" pitchFamily="34" charset="0"/>
              </a:rPr>
              <a:t>LSR</a:t>
            </a:r>
            <a:r>
              <a:rPr lang="zh-CN" altLang="en-US" dirty="0" smtClean="0">
                <a:sym typeface="Huawei Sans" panose="020C0503030203020204" pitchFamily="34" charset="0"/>
              </a:rPr>
              <a:t>之间可以运行</a:t>
            </a:r>
            <a:r>
              <a:rPr lang="en-US" altLang="zh-CN" dirty="0" smtClean="0"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ym typeface="Huawei Sans" panose="020C0503030203020204" pitchFamily="34" charset="0"/>
              </a:rPr>
              <a:t>（</a:t>
            </a:r>
            <a:r>
              <a:rPr lang="en-US" altLang="zh-CN" dirty="0" smtClean="0">
                <a:sym typeface="Huawei Sans" panose="020C0503030203020204" pitchFamily="34" charset="0"/>
              </a:rPr>
              <a:t>Label Distribution Protocol</a:t>
            </a:r>
            <a:r>
              <a:rPr lang="zh-CN" altLang="en-US" dirty="0">
                <a:sym typeface="Huawei Sans" panose="020C0503030203020204" pitchFamily="34" charset="0"/>
              </a:rPr>
              <a:t>，标签分发协议）</a:t>
            </a:r>
            <a:r>
              <a:rPr lang="zh-CN" altLang="en-US" dirty="0" smtClean="0">
                <a:sym typeface="Huawei Sans" panose="020C0503030203020204" pitchFamily="34" charset="0"/>
              </a:rPr>
              <a:t>来告知其他</a:t>
            </a:r>
            <a:r>
              <a:rPr lang="en-US" altLang="zh-CN" dirty="0" smtClean="0">
                <a:sym typeface="Huawei Sans" panose="020C0503030203020204" pitchFamily="34" charset="0"/>
              </a:rPr>
              <a:t>LSR</a:t>
            </a:r>
            <a:r>
              <a:rPr lang="zh-CN" altLang="en-US" dirty="0" smtClean="0">
                <a:sym typeface="Huawei Sans" panose="020C0503030203020204" pitchFamily="34" charset="0"/>
              </a:rPr>
              <a:t>本设备上的标签绑定信息，从而实现标签报文的正确转发。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fontAlgn="base"/>
            <a:r>
              <a:rPr lang="zh-CN" altLang="en-US" dirty="0" smtClean="0">
                <a:sym typeface="Huawei Sans" panose="020C0503030203020204" pitchFamily="34" charset="0"/>
              </a:rPr>
              <a:t>本课程将介绍</a:t>
            </a:r>
            <a:r>
              <a:rPr lang="en-US" altLang="zh-CN" dirty="0" smtClean="0"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ym typeface="Huawei Sans" panose="020C0503030203020204" pitchFamily="34" charset="0"/>
              </a:rPr>
              <a:t>基本工作原理与特性，以及</a:t>
            </a:r>
            <a:r>
              <a:rPr lang="en-US" altLang="zh-CN" dirty="0" smtClean="0"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ym typeface="Huawei Sans" panose="020C0503030203020204" pitchFamily="34" charset="0"/>
              </a:rPr>
              <a:t>的基本配置。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58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学习完本课程后，您将能够：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描述</a:t>
            </a:r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的基本概念及工作机制</a:t>
            </a: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描述</a:t>
            </a:r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标签分发控制模式、通告模式及保留模式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mtClean="0">
                <a:sym typeface="Huawei Sans" panose="020C0503030203020204" pitchFamily="34" charset="0"/>
              </a:rPr>
              <a:t>实现</a:t>
            </a:r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的基础配置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endParaRPr lang="en-US" altLang="zh-CN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70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b="1" dirty="0" smtClean="0">
                <a:sym typeface="Huawei Sans" panose="020C0503030203020204" pitchFamily="34" charset="0"/>
              </a:rPr>
              <a:t>LDP</a:t>
            </a:r>
            <a:r>
              <a:rPr lang="zh-CN" altLang="en-US" b="1" dirty="0" smtClean="0">
                <a:sym typeface="Huawei Sans" panose="020C0503030203020204" pitchFamily="34" charset="0"/>
              </a:rPr>
              <a:t>基本概念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工作原理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基本配置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6865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标题 86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ym typeface="Huawei Sans" panose="020C0503030203020204" pitchFamily="34" charset="0"/>
              </a:rPr>
              <a:t>协议概述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8" name="文本占位符 87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是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的一种控制协议，相当于传统网络中的信令协议，负责</a:t>
            </a:r>
            <a:r>
              <a:rPr lang="en-US" altLang="zh-CN" sz="1800" dirty="0" smtClean="0">
                <a:sym typeface="Huawei Sans" panose="020C0503030203020204" pitchFamily="34" charset="0"/>
              </a:rPr>
              <a:t>FEC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的分类、标签的分配以及</a:t>
            </a:r>
            <a:r>
              <a:rPr lang="en-US" altLang="zh-CN" sz="1800" dirty="0" smtClean="0">
                <a:sym typeface="Huawei Sans" panose="020C0503030203020204" pitchFamily="34" charset="0"/>
              </a:rPr>
              <a:t>LSP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的建立和维护等操作。</a:t>
            </a:r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规定了标签分发过程中的各种消息以及相关处理过程。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的工作过程主要分为两部分：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之间建立</a:t>
            </a:r>
            <a:r>
              <a:rPr lang="en-US" altLang="zh-CN" sz="1600" dirty="0" smtClean="0">
                <a:sym typeface="Huawei Sans" panose="020C0503030203020204" pitchFamily="34" charset="0"/>
              </a:rPr>
              <a:t>LDP</a:t>
            </a:r>
            <a:r>
              <a:rPr lang="zh-CN" altLang="en-US" sz="1600" dirty="0" smtClean="0">
                <a:sym typeface="Huawei Sans" panose="020C0503030203020204" pitchFamily="34" charset="0"/>
              </a:rPr>
              <a:t>会话。</a:t>
            </a:r>
          </a:p>
          <a:p>
            <a:pPr lvl="1"/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之间基于</a:t>
            </a:r>
            <a:r>
              <a:rPr lang="en-US" altLang="zh-CN" sz="1600" dirty="0" smtClean="0">
                <a:sym typeface="Huawei Sans" panose="020C0503030203020204" pitchFamily="34" charset="0"/>
              </a:rPr>
              <a:t>LDP</a:t>
            </a:r>
            <a:r>
              <a:rPr lang="zh-CN" altLang="en-US" sz="1600" dirty="0" smtClean="0">
                <a:sym typeface="Huawei Sans" panose="020C0503030203020204" pitchFamily="34" charset="0"/>
              </a:rPr>
              <a:t>会话动态交换标签与</a:t>
            </a:r>
            <a:r>
              <a:rPr lang="en-US" altLang="zh-CN" sz="1600" dirty="0" smtClean="0">
                <a:sym typeface="Huawei Sans" panose="020C0503030203020204" pitchFamily="34" charset="0"/>
              </a:rPr>
              <a:t>FEC</a:t>
            </a:r>
            <a:r>
              <a:rPr lang="zh-CN" altLang="en-US" sz="1600" dirty="0" smtClean="0">
                <a:sym typeface="Huawei Sans" panose="020C0503030203020204" pitchFamily="34" charset="0"/>
              </a:rPr>
              <a:t>的映射信息，并根据标签信息建立</a:t>
            </a:r>
            <a:r>
              <a:rPr lang="en-US" altLang="zh-CN" sz="1600" dirty="0" smtClean="0">
                <a:sym typeface="Huawei Sans" panose="020C0503030203020204" pitchFamily="34" charset="0"/>
              </a:rPr>
              <a:t>LSP</a:t>
            </a:r>
            <a:r>
              <a:rPr lang="zh-CN" altLang="en-US" sz="1600" dirty="0" smtClean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60" name="直接连接符 59"/>
          <p:cNvCxnSpPr>
            <a:stCxn id="63" idx="3"/>
            <a:endCxn id="62" idx="1"/>
          </p:cNvCxnSpPr>
          <p:nvPr/>
        </p:nvCxnSpPr>
        <p:spPr bwMode="gray">
          <a:xfrm>
            <a:off x="2191487" y="4914738"/>
            <a:ext cx="7818437" cy="510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8" name="组合 17"/>
          <p:cNvGrpSpPr/>
          <p:nvPr/>
        </p:nvGrpSpPr>
        <p:grpSpPr bwMode="gray">
          <a:xfrm>
            <a:off x="3313025" y="3872476"/>
            <a:ext cx="1805779" cy="846386"/>
            <a:chOff x="3236826" y="3471288"/>
            <a:chExt cx="1805779" cy="846386"/>
          </a:xfrm>
        </p:grpSpPr>
        <p:sp>
          <p:nvSpPr>
            <p:cNvPr id="28" name="Text Box 27"/>
            <p:cNvSpPr txBox="1">
              <a:spLocks noChangeArrowheads="1"/>
            </p:cNvSpPr>
            <p:nvPr/>
          </p:nvSpPr>
          <p:spPr bwMode="gray">
            <a:xfrm>
              <a:off x="3760702" y="3471288"/>
              <a:ext cx="1281903" cy="846386"/>
            </a:xfrm>
            <a:prstGeom prst="rect">
              <a:avLst/>
            </a:prstGeom>
            <a:solidFill>
              <a:srgbClr val="D9D9D9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 algn="ctr" defTabSz="784225" eaLnBrk="0" fontAlgn="base" hangingPunct="0">
                <a:spcBef>
                  <a:spcPct val="50000"/>
                </a:spcBef>
                <a:defRPr sz="1200">
                  <a:latin typeface="Huawei Sans" panose="020C0503030203020204" pitchFamily="34" charset="0"/>
                  <a:ea typeface="方正兰亭黑简体" panose="02000000000000000000" pitchFamily="2" charset="-122"/>
                </a:defRPr>
              </a:lvl1pPr>
              <a:lvl2pPr marL="742950" indent="-285750" defTabSz="784225" eaLnBrk="0" hangingPunct="0"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 defTabSz="784225" eaLnBrk="0" hangingPunct="0"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 defTabSz="784225" eaLnBrk="0" hangingPunct="0"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 defTabSz="784225" eaLnBrk="0" hangingPunct="0"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400" dirty="0">
                  <a:sym typeface="Huawei Sans" panose="020C0503030203020204" pitchFamily="34" charset="0"/>
                </a:rPr>
                <a:t>FEC</a:t>
              </a:r>
              <a:r>
                <a:rPr lang="zh-CN" altLang="en-US" sz="1400" dirty="0" smtClean="0">
                  <a:sym typeface="Huawei Sans" panose="020C0503030203020204" pitchFamily="34" charset="0"/>
                </a:rPr>
                <a:t>：</a:t>
              </a:r>
              <a:r>
                <a:rPr lang="en-US" altLang="zh-CN" sz="1400" dirty="0" smtClean="0">
                  <a:sym typeface="Huawei Sans" panose="020C0503030203020204" pitchFamily="34" charset="0"/>
                </a:rPr>
                <a:t>192.168.3.0/24</a:t>
              </a:r>
              <a:endParaRPr lang="en-US" altLang="zh-CN" sz="1400" dirty="0">
                <a:sym typeface="Huawei Sans" panose="020C0503030203020204" pitchFamily="34" charset="0"/>
              </a:endParaRPr>
            </a:p>
            <a:p>
              <a:r>
                <a:rPr lang="zh-CN" altLang="en-US" sz="1400" dirty="0">
                  <a:sym typeface="Huawei Sans" panose="020C0503030203020204" pitchFamily="34" charset="0"/>
                </a:rPr>
                <a:t>入标签：</a:t>
              </a:r>
              <a:r>
                <a:rPr lang="en-US" altLang="zh-CN" sz="1400" dirty="0">
                  <a:sym typeface="Huawei Sans" panose="020C0503030203020204" pitchFamily="34" charset="0"/>
                </a:rPr>
                <a:t>1024</a:t>
              </a:r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gray">
            <a:xfrm rot="10800000">
              <a:off x="3236826" y="3786759"/>
              <a:ext cx="523876" cy="0"/>
            </a:xfrm>
            <a:prstGeom prst="line">
              <a:avLst/>
            </a:prstGeom>
            <a:noFill/>
            <a:ln w="38100">
              <a:solidFill>
                <a:srgbClr val="62B23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3025" tIns="36512" rIns="73025" bIns="36512" anchor="ctr"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58" name="直接连接符 57"/>
          <p:cNvCxnSpPr/>
          <p:nvPr/>
        </p:nvCxnSpPr>
        <p:spPr bwMode="gray">
          <a:xfrm rot="10800000">
            <a:off x="10009924" y="4743807"/>
            <a:ext cx="0" cy="31635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直接连接符 60"/>
          <p:cNvCxnSpPr/>
          <p:nvPr/>
        </p:nvCxnSpPr>
        <p:spPr bwMode="gray">
          <a:xfrm>
            <a:off x="2191487" y="4743807"/>
            <a:ext cx="0" cy="31635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Text Box 18"/>
          <p:cNvSpPr txBox="1">
            <a:spLocks noChangeArrowheads="1"/>
          </p:cNvSpPr>
          <p:nvPr/>
        </p:nvSpPr>
        <p:spPr bwMode="gray">
          <a:xfrm>
            <a:off x="10009924" y="4781343"/>
            <a:ext cx="1250663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2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192.168.3.0/24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Text Box 18"/>
          <p:cNvSpPr txBox="1">
            <a:spLocks noChangeArrowheads="1"/>
          </p:cNvSpPr>
          <p:nvPr/>
        </p:nvSpPr>
        <p:spPr bwMode="gray">
          <a:xfrm>
            <a:off x="940824" y="4776238"/>
            <a:ext cx="1250663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2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 bwMode="gray">
          <a:xfrm>
            <a:off x="2527326" y="4636135"/>
            <a:ext cx="628652" cy="853596"/>
            <a:chOff x="2513268" y="4813560"/>
            <a:chExt cx="628652" cy="853596"/>
          </a:xfrm>
        </p:grpSpPr>
        <p:pic>
          <p:nvPicPr>
            <p:cNvPr id="54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2513268" y="4813560"/>
              <a:ext cx="628652" cy="531703"/>
            </a:xfrm>
            <a:prstGeom prst="rect">
              <a:avLst/>
            </a:prstGeom>
            <a:noFill/>
          </p:spPr>
        </p:pic>
        <p:sp>
          <p:nvSpPr>
            <p:cNvPr id="65" name="Text Box 18"/>
            <p:cNvSpPr txBox="1">
              <a:spLocks noChangeArrowheads="1"/>
            </p:cNvSpPr>
            <p:nvPr/>
          </p:nvSpPr>
          <p:spPr bwMode="gray">
            <a:xfrm>
              <a:off x="2625192" y="5359379"/>
              <a:ext cx="39466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784225" eaLnBrk="0" fontAlgn="base" hangingPunct="0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 bwMode="gray">
          <a:xfrm>
            <a:off x="5787861" y="4636135"/>
            <a:ext cx="628652" cy="853596"/>
            <a:chOff x="4711008" y="4813560"/>
            <a:chExt cx="628652" cy="853596"/>
          </a:xfrm>
        </p:grpSpPr>
        <p:pic>
          <p:nvPicPr>
            <p:cNvPr id="51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4711008" y="4813560"/>
              <a:ext cx="628652" cy="531703"/>
            </a:xfrm>
            <a:prstGeom prst="rect">
              <a:avLst/>
            </a:prstGeom>
            <a:noFill/>
          </p:spPr>
        </p:pic>
        <p:sp>
          <p:nvSpPr>
            <p:cNvPr id="66" name="Text Box 18"/>
            <p:cNvSpPr txBox="1">
              <a:spLocks noChangeArrowheads="1"/>
            </p:cNvSpPr>
            <p:nvPr/>
          </p:nvSpPr>
          <p:spPr bwMode="gray">
            <a:xfrm>
              <a:off x="4836459" y="5359379"/>
              <a:ext cx="39466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784225" eaLnBrk="0" fontAlgn="base" hangingPunct="0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R2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 bwMode="gray">
          <a:xfrm>
            <a:off x="9048397" y="4631544"/>
            <a:ext cx="628652" cy="853596"/>
            <a:chOff x="6926525" y="4813560"/>
            <a:chExt cx="628652" cy="853596"/>
          </a:xfrm>
        </p:grpSpPr>
        <p:pic>
          <p:nvPicPr>
            <p:cNvPr id="52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6926525" y="4813560"/>
              <a:ext cx="628652" cy="531703"/>
            </a:xfrm>
            <a:prstGeom prst="rect">
              <a:avLst/>
            </a:prstGeom>
            <a:noFill/>
          </p:spPr>
        </p:pic>
        <p:sp>
          <p:nvSpPr>
            <p:cNvPr id="67" name="Text Box 18"/>
            <p:cNvSpPr txBox="1">
              <a:spLocks noChangeArrowheads="1"/>
            </p:cNvSpPr>
            <p:nvPr/>
          </p:nvSpPr>
          <p:spPr bwMode="gray">
            <a:xfrm>
              <a:off x="7044513" y="5359379"/>
              <a:ext cx="39466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784225" eaLnBrk="0" fontAlgn="base" hangingPunct="0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R3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gray">
          <a:xfrm>
            <a:off x="3824201" y="5098374"/>
            <a:ext cx="1805780" cy="846386"/>
            <a:chOff x="3760701" y="4946656"/>
            <a:chExt cx="1805780" cy="846386"/>
          </a:xfrm>
        </p:grpSpPr>
        <p:sp>
          <p:nvSpPr>
            <p:cNvPr id="29" name="Text Box 28"/>
            <p:cNvSpPr txBox="1">
              <a:spLocks noChangeArrowheads="1"/>
            </p:cNvSpPr>
            <p:nvPr/>
          </p:nvSpPr>
          <p:spPr bwMode="gray">
            <a:xfrm>
              <a:off x="3760701" y="4946656"/>
              <a:ext cx="1281904" cy="846386"/>
            </a:xfrm>
            <a:prstGeom prst="rect">
              <a:avLst/>
            </a:prstGeom>
            <a:solidFill>
              <a:srgbClr val="D9D9D9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square" lIns="0" rIns="0">
              <a:spAutoFit/>
            </a:bodyPr>
            <a:lstStyle>
              <a:lvl1pPr defTabSz="78422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 defTabSz="78422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 defTabSz="78422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 defTabSz="78422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 defTabSz="78422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fontAlgn="base">
                <a:spcBef>
                  <a:spcPct val="50000"/>
                </a:spcBef>
              </a:pP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：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192.168.1.0/24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 fontAlgn="base">
                <a:spcBef>
                  <a:spcPct val="50000"/>
                </a:spcBef>
              </a:pP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入标签：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1024</a:t>
              </a:r>
            </a:p>
          </p:txBody>
        </p:sp>
        <p:sp>
          <p:nvSpPr>
            <p:cNvPr id="86" name="Line 36"/>
            <p:cNvSpPr>
              <a:spLocks noChangeShapeType="1"/>
            </p:cNvSpPr>
            <p:nvPr/>
          </p:nvSpPr>
          <p:spPr bwMode="gray">
            <a:xfrm>
              <a:off x="5042605" y="5262127"/>
              <a:ext cx="523876" cy="0"/>
            </a:xfrm>
            <a:prstGeom prst="line">
              <a:avLst/>
            </a:prstGeom>
            <a:noFill/>
            <a:ln w="38100">
              <a:solidFill>
                <a:srgbClr val="62B23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3025" tIns="36512" rIns="73025" bIns="36512" anchor="ctr"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64" name="左右箭头 48"/>
          <p:cNvSpPr/>
          <p:nvPr/>
        </p:nvSpPr>
        <p:spPr bwMode="gray">
          <a:xfrm>
            <a:off x="3598025" y="4718862"/>
            <a:ext cx="1747789" cy="357065"/>
          </a:xfrm>
          <a:prstGeom prst="leftRightArrow">
            <a:avLst>
              <a:gd name="adj1" fmla="val 73516"/>
              <a:gd name="adj2" fmla="val 50000"/>
            </a:avLst>
          </a:prstGeom>
          <a:solidFill>
            <a:srgbClr val="FFF2CC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LDP</a:t>
            </a:r>
            <a:r>
              <a:rPr lang="zh-CN" altLang="en-US" sz="1400" dirty="0" smtClean="0"/>
              <a:t>会话</a:t>
            </a:r>
            <a:endParaRPr lang="zh-CN" altLang="en-US" sz="1400" dirty="0"/>
          </a:p>
        </p:txBody>
      </p:sp>
      <p:sp>
        <p:nvSpPr>
          <p:cNvPr id="70" name="左右箭头 48"/>
          <p:cNvSpPr/>
          <p:nvPr/>
        </p:nvSpPr>
        <p:spPr bwMode="gray">
          <a:xfrm>
            <a:off x="6858560" y="4741309"/>
            <a:ext cx="1747789" cy="357065"/>
          </a:xfrm>
          <a:prstGeom prst="leftRightArrow">
            <a:avLst>
              <a:gd name="adj1" fmla="val 73516"/>
              <a:gd name="adj2" fmla="val 50000"/>
            </a:avLst>
          </a:prstGeom>
          <a:solidFill>
            <a:srgbClr val="FFF2CC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LDP</a:t>
            </a:r>
            <a:r>
              <a:rPr lang="zh-CN" altLang="en-US" sz="1400" dirty="0"/>
              <a:t>会话</a:t>
            </a:r>
          </a:p>
        </p:txBody>
      </p:sp>
      <p:grpSp>
        <p:nvGrpSpPr>
          <p:cNvPr id="17" name="组合 16"/>
          <p:cNvGrpSpPr/>
          <p:nvPr/>
        </p:nvGrpSpPr>
        <p:grpSpPr bwMode="gray">
          <a:xfrm>
            <a:off x="6571970" y="3872476"/>
            <a:ext cx="1805779" cy="846386"/>
            <a:chOff x="6800570" y="3471288"/>
            <a:chExt cx="1805779" cy="846386"/>
          </a:xfrm>
        </p:grpSpPr>
        <p:sp>
          <p:nvSpPr>
            <p:cNvPr id="74" name="Text Box 27"/>
            <p:cNvSpPr txBox="1">
              <a:spLocks noChangeArrowheads="1"/>
            </p:cNvSpPr>
            <p:nvPr/>
          </p:nvSpPr>
          <p:spPr bwMode="gray">
            <a:xfrm>
              <a:off x="7324446" y="3471288"/>
              <a:ext cx="1281903" cy="846386"/>
            </a:xfrm>
            <a:prstGeom prst="rect">
              <a:avLst/>
            </a:prstGeom>
            <a:solidFill>
              <a:srgbClr val="D9D9D9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square" lIns="0" rIns="0">
              <a:spAutoFit/>
            </a:bodyPr>
            <a:lstStyle>
              <a:defPPr>
                <a:defRPr lang="en-US"/>
              </a:defPPr>
              <a:lvl1pPr algn="ctr" defTabSz="784225" eaLnBrk="0" fontAlgn="base" hangingPunct="0">
                <a:spcBef>
                  <a:spcPct val="50000"/>
                </a:spcBef>
                <a:defRPr sz="1200">
                  <a:latin typeface="Huawei Sans" panose="020C0503030203020204" pitchFamily="34" charset="0"/>
                  <a:ea typeface="方正兰亭黑简体" panose="02000000000000000000" pitchFamily="2" charset="-122"/>
                </a:defRPr>
              </a:lvl1pPr>
              <a:lvl2pPr marL="742950" indent="-285750" defTabSz="784225" eaLnBrk="0" hangingPunct="0"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 defTabSz="784225" eaLnBrk="0" hangingPunct="0"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 defTabSz="784225" eaLnBrk="0" hangingPunct="0"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 defTabSz="784225" eaLnBrk="0" hangingPunct="0"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400" dirty="0">
                  <a:sym typeface="Huawei Sans" panose="020C0503030203020204" pitchFamily="34" charset="0"/>
                </a:rPr>
                <a:t>FEC</a:t>
              </a:r>
              <a:r>
                <a:rPr lang="zh-CN" altLang="en-US" sz="1400" dirty="0" smtClean="0">
                  <a:sym typeface="Huawei Sans" panose="020C0503030203020204" pitchFamily="34" charset="0"/>
                </a:rPr>
                <a:t>：</a:t>
              </a:r>
              <a:r>
                <a:rPr lang="en-US" altLang="zh-CN" sz="1400" dirty="0" smtClean="0">
                  <a:sym typeface="Huawei Sans" panose="020C0503030203020204" pitchFamily="34" charset="0"/>
                </a:rPr>
                <a:t>192.168.3.0/24</a:t>
              </a:r>
              <a:endParaRPr lang="en-US" altLang="zh-CN" sz="1400" dirty="0">
                <a:sym typeface="Huawei Sans" panose="020C0503030203020204" pitchFamily="34" charset="0"/>
              </a:endParaRPr>
            </a:p>
            <a:p>
              <a:r>
                <a:rPr lang="zh-CN" altLang="en-US" sz="1400" dirty="0">
                  <a:sym typeface="Huawei Sans" panose="020C0503030203020204" pitchFamily="34" charset="0"/>
                </a:rPr>
                <a:t>入标签：</a:t>
              </a:r>
              <a:r>
                <a:rPr lang="en-US" altLang="zh-CN" sz="1400" dirty="0" smtClean="0">
                  <a:sym typeface="Huawei Sans" panose="020C0503030203020204" pitchFamily="34" charset="0"/>
                </a:rPr>
                <a:t>1025</a:t>
              </a:r>
              <a:endParaRPr lang="en-US" altLang="zh-CN" sz="1400" dirty="0">
                <a:sym typeface="Huawei Sans" panose="020C0503030203020204" pitchFamily="34" charset="0"/>
              </a:endParaRPr>
            </a:p>
          </p:txBody>
        </p:sp>
        <p:sp>
          <p:nvSpPr>
            <p:cNvPr id="75" name="Line 36"/>
            <p:cNvSpPr>
              <a:spLocks noChangeShapeType="1"/>
            </p:cNvSpPr>
            <p:nvPr/>
          </p:nvSpPr>
          <p:spPr bwMode="gray">
            <a:xfrm rot="10800000">
              <a:off x="6800570" y="3786759"/>
              <a:ext cx="523876" cy="0"/>
            </a:xfrm>
            <a:prstGeom prst="line">
              <a:avLst/>
            </a:prstGeom>
            <a:noFill/>
            <a:ln w="38100">
              <a:solidFill>
                <a:srgbClr val="62B23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3025" tIns="36512" rIns="73025" bIns="36512" anchor="ctr"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 bwMode="gray">
          <a:xfrm>
            <a:off x="7095846" y="5098374"/>
            <a:ext cx="1805780" cy="846386"/>
            <a:chOff x="7324446" y="5055263"/>
            <a:chExt cx="1805780" cy="846386"/>
          </a:xfrm>
        </p:grpSpPr>
        <p:sp>
          <p:nvSpPr>
            <p:cNvPr id="76" name="Text Box 28"/>
            <p:cNvSpPr txBox="1">
              <a:spLocks noChangeArrowheads="1"/>
            </p:cNvSpPr>
            <p:nvPr/>
          </p:nvSpPr>
          <p:spPr bwMode="gray">
            <a:xfrm>
              <a:off x="7324446" y="5055263"/>
              <a:ext cx="1281904" cy="846386"/>
            </a:xfrm>
            <a:prstGeom prst="rect">
              <a:avLst/>
            </a:prstGeom>
            <a:solidFill>
              <a:srgbClr val="D9D9D9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square" lIns="0" rIns="0">
              <a:spAutoFit/>
            </a:bodyPr>
            <a:lstStyle>
              <a:lvl1pPr defTabSz="78422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 defTabSz="78422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 defTabSz="78422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 defTabSz="78422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 defTabSz="78422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defTabSz="784225" eaLnBrk="0" fontAlgn="t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fontAlgn="base">
                <a:spcBef>
                  <a:spcPct val="50000"/>
                </a:spcBef>
              </a:pP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：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192.168.1.0/24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 fontAlgn="base">
                <a:spcBef>
                  <a:spcPct val="50000"/>
                </a:spcBef>
              </a:pP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入标签：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1026</a:t>
              </a:r>
            </a:p>
          </p:txBody>
        </p:sp>
        <p:sp>
          <p:nvSpPr>
            <p:cNvPr id="80" name="Line 36"/>
            <p:cNvSpPr>
              <a:spLocks noChangeShapeType="1"/>
            </p:cNvSpPr>
            <p:nvPr/>
          </p:nvSpPr>
          <p:spPr bwMode="gray">
            <a:xfrm>
              <a:off x="8606350" y="5370734"/>
              <a:ext cx="523876" cy="0"/>
            </a:xfrm>
            <a:prstGeom prst="line">
              <a:avLst/>
            </a:prstGeom>
            <a:noFill/>
            <a:ln w="38100">
              <a:solidFill>
                <a:srgbClr val="62B23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3025" tIns="36512" rIns="73025" bIns="36512" anchor="ctr"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5420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会话、</a:t>
            </a:r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邻接体、</a:t>
            </a:r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对等体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之间交互标签绑定消息之前必须建立</a:t>
            </a:r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会话。</a:t>
            </a:r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会话可以分为：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本地</a:t>
            </a:r>
            <a:r>
              <a:rPr lang="en-US" altLang="zh-CN" sz="1600" dirty="0" smtClean="0">
                <a:sym typeface="Huawei Sans" panose="020C0503030203020204" pitchFamily="34" charset="0"/>
              </a:rPr>
              <a:t>LDP</a:t>
            </a:r>
            <a:r>
              <a:rPr lang="zh-CN" altLang="en-US" sz="1600" dirty="0" smtClean="0">
                <a:sym typeface="Huawei Sans" panose="020C0503030203020204" pitchFamily="34" charset="0"/>
              </a:rPr>
              <a:t>会话（</a:t>
            </a:r>
            <a:r>
              <a:rPr lang="en-US" altLang="zh-CN" sz="1600" dirty="0" smtClean="0">
                <a:sym typeface="Huawei Sans" panose="020C0503030203020204" pitchFamily="34" charset="0"/>
              </a:rPr>
              <a:t>Local LDP Session</a:t>
            </a:r>
            <a:r>
              <a:rPr lang="zh-CN" altLang="en-US" sz="1600" dirty="0" smtClean="0">
                <a:sym typeface="Huawei Sans" panose="020C0503030203020204" pitchFamily="34" charset="0"/>
              </a:rPr>
              <a:t>）：建立会话的两个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之间是直连的；</a:t>
            </a: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远程</a:t>
            </a:r>
            <a:r>
              <a:rPr lang="en-US" altLang="zh-CN" sz="1600" dirty="0" smtClean="0">
                <a:sym typeface="Huawei Sans" panose="020C0503030203020204" pitchFamily="34" charset="0"/>
              </a:rPr>
              <a:t>LDP</a:t>
            </a:r>
            <a:r>
              <a:rPr lang="zh-CN" altLang="en-US" sz="1600" dirty="0" smtClean="0">
                <a:sym typeface="Huawei Sans" panose="020C0503030203020204" pitchFamily="34" charset="0"/>
              </a:rPr>
              <a:t>会话（</a:t>
            </a:r>
            <a:r>
              <a:rPr lang="en-US" altLang="zh-CN" sz="1600" dirty="0" smtClean="0">
                <a:sym typeface="Huawei Sans" panose="020C0503030203020204" pitchFamily="34" charset="0"/>
              </a:rPr>
              <a:t>Remote LDP Session</a:t>
            </a:r>
            <a:r>
              <a:rPr lang="zh-CN" altLang="en-US" sz="1600" dirty="0" smtClean="0">
                <a:sym typeface="Huawei Sans" panose="020C0503030203020204" pitchFamily="34" charset="0"/>
              </a:rPr>
              <a:t>）：建立会话的两个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之间可以是直连的，也可以是非直连的。</a:t>
            </a:r>
          </a:p>
          <a:p>
            <a:r>
              <a:rPr lang="zh-CN" altLang="en-US" sz="1800" dirty="0" smtClean="0">
                <a:sym typeface="Huawei Sans" panose="020C0503030203020204" pitchFamily="34" charset="0"/>
              </a:rPr>
              <a:t>两台</a:t>
            </a:r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之间交互</a:t>
            </a:r>
            <a:r>
              <a:rPr lang="en-US" altLang="zh-CN" sz="1800" dirty="0" smtClean="0">
                <a:sym typeface="Huawei Sans" panose="020C0503030203020204" pitchFamily="34" charset="0"/>
              </a:rPr>
              <a:t>Hello</a:t>
            </a:r>
            <a:r>
              <a:rPr lang="zh-CN" altLang="en-US" sz="1800" dirty="0" smtClean="0">
                <a:sym typeface="Huawei Sans" panose="020C0503030203020204" pitchFamily="34" charset="0"/>
              </a:rPr>
              <a:t>消息之后，即建立起邻接体（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Adjacency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）关系；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zh-CN" altLang="en-US" sz="1800" dirty="0" smtClean="0">
                <a:sym typeface="Huawei Sans" panose="020C0503030203020204" pitchFamily="34" charset="0"/>
              </a:rPr>
              <a:t>在建立邻接体关系的基础上，两台</a:t>
            </a:r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之间交互</a:t>
            </a:r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会话消息，建立起</a:t>
            </a:r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会话，两台设备之间形成</a:t>
            </a:r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对等体关系。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cxnSp>
        <p:nvCxnSpPr>
          <p:cNvPr id="21" name="直接连接符 55"/>
          <p:cNvCxnSpPr/>
          <p:nvPr/>
        </p:nvCxnSpPr>
        <p:spPr bwMode="gray">
          <a:xfrm flipH="1">
            <a:off x="9394654" y="5842290"/>
            <a:ext cx="904032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 bwMode="gray">
          <a:xfrm>
            <a:off x="9307099" y="5942430"/>
            <a:ext cx="10791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本地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会话</a:t>
            </a:r>
          </a:p>
        </p:txBody>
      </p:sp>
      <p:grpSp>
        <p:nvGrpSpPr>
          <p:cNvPr id="4" name="组合 3"/>
          <p:cNvGrpSpPr/>
          <p:nvPr/>
        </p:nvGrpSpPr>
        <p:grpSpPr bwMode="gray">
          <a:xfrm>
            <a:off x="10342796" y="5842290"/>
            <a:ext cx="1079142" cy="377139"/>
            <a:chOff x="9524565" y="6161337"/>
            <a:chExt cx="1079142" cy="377139"/>
          </a:xfrm>
        </p:grpSpPr>
        <p:cxnSp>
          <p:nvCxnSpPr>
            <p:cNvPr id="25" name="直接连接符 55"/>
            <p:cNvCxnSpPr/>
            <p:nvPr/>
          </p:nvCxnSpPr>
          <p:spPr bwMode="gray">
            <a:xfrm flipH="1">
              <a:off x="9612120" y="6161337"/>
              <a:ext cx="904032" cy="0"/>
            </a:xfrm>
            <a:prstGeom prst="line">
              <a:avLst/>
            </a:prstGeom>
            <a:noFill/>
            <a:ln w="25400" cap="flat" cmpd="sng" algn="ctr">
              <a:solidFill>
                <a:srgbClr val="56C4D2"/>
              </a:solidFill>
              <a:prstDash val="dash"/>
              <a:miter lim="800000"/>
              <a:headEnd type="triangle"/>
              <a:tailEnd type="triangle"/>
            </a:ln>
            <a:effectLst/>
          </p:spPr>
        </p:cxnSp>
        <p:sp>
          <p:nvSpPr>
            <p:cNvPr id="26" name="Rectangle 25"/>
            <p:cNvSpPr/>
            <p:nvPr/>
          </p:nvSpPr>
          <p:spPr bwMode="gray">
            <a:xfrm>
              <a:off x="9524565" y="6261477"/>
              <a:ext cx="107914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远程</a:t>
              </a:r>
              <a:r>
                <a:rPr lang="en-US" altLang="zh-CN" sz="12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LDP</a:t>
              </a:r>
              <a:r>
                <a:rPr lang="zh-CN" altLang="en-US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会话</a:t>
              </a:r>
            </a:p>
          </p:txBody>
        </p:sp>
      </p:grpSp>
      <p:sp>
        <p:nvSpPr>
          <p:cNvPr id="68" name="Freeform 19"/>
          <p:cNvSpPr/>
          <p:nvPr/>
        </p:nvSpPr>
        <p:spPr bwMode="gray">
          <a:xfrm>
            <a:off x="2826944" y="4310677"/>
            <a:ext cx="6386329" cy="438538"/>
          </a:xfrm>
          <a:custGeom>
            <a:avLst/>
            <a:gdLst>
              <a:gd name="connsiteX0" fmla="*/ 0 w 3825551"/>
              <a:gd name="connsiteY0" fmla="*/ 588042 h 644025"/>
              <a:gd name="connsiteX1" fmla="*/ 1950097 w 3825551"/>
              <a:gd name="connsiteY1" fmla="*/ 213 h 644025"/>
              <a:gd name="connsiteX2" fmla="*/ 3825551 w 3825551"/>
              <a:gd name="connsiteY2" fmla="*/ 644025 h 644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25551" h="644025">
                <a:moveTo>
                  <a:pt x="0" y="588042"/>
                </a:moveTo>
                <a:cubicBezTo>
                  <a:pt x="656252" y="289462"/>
                  <a:pt x="1312505" y="-9117"/>
                  <a:pt x="1950097" y="213"/>
                </a:cubicBezTo>
                <a:cubicBezTo>
                  <a:pt x="2587689" y="9543"/>
                  <a:pt x="3206620" y="326784"/>
                  <a:pt x="3825551" y="644025"/>
                </a:cubicBezTo>
              </a:path>
            </a:pathLst>
          </a:custGeom>
          <a:noFill/>
          <a:ln w="25400" cap="flat" cmpd="sng" algn="ctr">
            <a:solidFill>
              <a:srgbClr val="56C4D2"/>
            </a:solidFill>
            <a:prstDash val="dash"/>
            <a:miter lim="800000"/>
            <a:headEnd type="triangle"/>
            <a:tailEnd type="triangle"/>
          </a:ln>
          <a:effectLst/>
        </p:spPr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6" name="直接连接符 45"/>
          <p:cNvCxnSpPr>
            <a:stCxn id="50" idx="3"/>
            <a:endCxn id="49" idx="1"/>
          </p:cNvCxnSpPr>
          <p:nvPr/>
        </p:nvCxnSpPr>
        <p:spPr bwMode="gray">
          <a:xfrm>
            <a:off x="2191487" y="5175395"/>
            <a:ext cx="7818437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直接连接符 46"/>
          <p:cNvCxnSpPr/>
          <p:nvPr/>
        </p:nvCxnSpPr>
        <p:spPr bwMode="gray">
          <a:xfrm rot="10800000">
            <a:off x="10009924" y="4999359"/>
            <a:ext cx="0" cy="31635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直接连接符 47"/>
          <p:cNvCxnSpPr/>
          <p:nvPr/>
        </p:nvCxnSpPr>
        <p:spPr bwMode="gray">
          <a:xfrm>
            <a:off x="2191487" y="4999359"/>
            <a:ext cx="0" cy="31635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9" name="Text Box 18"/>
          <p:cNvSpPr txBox="1">
            <a:spLocks noChangeArrowheads="1"/>
          </p:cNvSpPr>
          <p:nvPr/>
        </p:nvSpPr>
        <p:spPr bwMode="gray">
          <a:xfrm>
            <a:off x="10009924" y="5036895"/>
            <a:ext cx="1250663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2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192.168.3.0/24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Text Box 18"/>
          <p:cNvSpPr txBox="1">
            <a:spLocks noChangeArrowheads="1"/>
          </p:cNvSpPr>
          <p:nvPr/>
        </p:nvSpPr>
        <p:spPr bwMode="gray">
          <a:xfrm>
            <a:off x="900748" y="5036895"/>
            <a:ext cx="1290739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2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1" name="组合 50"/>
          <p:cNvGrpSpPr/>
          <p:nvPr/>
        </p:nvGrpSpPr>
        <p:grpSpPr bwMode="gray">
          <a:xfrm>
            <a:off x="2527326" y="4891687"/>
            <a:ext cx="628652" cy="853596"/>
            <a:chOff x="2513268" y="4813560"/>
            <a:chExt cx="628652" cy="853596"/>
          </a:xfrm>
        </p:grpSpPr>
        <p:pic>
          <p:nvPicPr>
            <p:cNvPr id="52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2513268" y="4813560"/>
              <a:ext cx="628652" cy="531703"/>
            </a:xfrm>
            <a:prstGeom prst="rect">
              <a:avLst/>
            </a:prstGeom>
            <a:noFill/>
          </p:spPr>
        </p:pic>
        <p:sp>
          <p:nvSpPr>
            <p:cNvPr id="53" name="Text Box 18"/>
            <p:cNvSpPr txBox="1">
              <a:spLocks noChangeArrowheads="1"/>
            </p:cNvSpPr>
            <p:nvPr/>
          </p:nvSpPr>
          <p:spPr bwMode="gray">
            <a:xfrm>
              <a:off x="2625192" y="5359379"/>
              <a:ext cx="39466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784225" eaLnBrk="0" fontAlgn="base" hangingPunct="0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 bwMode="gray">
          <a:xfrm>
            <a:off x="5787861" y="4891687"/>
            <a:ext cx="628652" cy="853596"/>
            <a:chOff x="4711008" y="4813560"/>
            <a:chExt cx="628652" cy="853596"/>
          </a:xfrm>
        </p:grpSpPr>
        <p:pic>
          <p:nvPicPr>
            <p:cNvPr id="55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4711008" y="4813560"/>
              <a:ext cx="628652" cy="531703"/>
            </a:xfrm>
            <a:prstGeom prst="rect">
              <a:avLst/>
            </a:prstGeom>
            <a:noFill/>
          </p:spPr>
        </p:pic>
        <p:sp>
          <p:nvSpPr>
            <p:cNvPr id="56" name="Text Box 18"/>
            <p:cNvSpPr txBox="1">
              <a:spLocks noChangeArrowheads="1"/>
            </p:cNvSpPr>
            <p:nvPr/>
          </p:nvSpPr>
          <p:spPr bwMode="gray">
            <a:xfrm>
              <a:off x="4836459" y="5359379"/>
              <a:ext cx="39466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784225" eaLnBrk="0" fontAlgn="base" hangingPunct="0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R2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57" name="组合 56"/>
          <p:cNvGrpSpPr/>
          <p:nvPr/>
        </p:nvGrpSpPr>
        <p:grpSpPr bwMode="gray">
          <a:xfrm>
            <a:off x="9048397" y="4887096"/>
            <a:ext cx="628652" cy="853596"/>
            <a:chOff x="6926525" y="4813560"/>
            <a:chExt cx="628652" cy="853596"/>
          </a:xfrm>
        </p:grpSpPr>
        <p:pic>
          <p:nvPicPr>
            <p:cNvPr id="58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6926525" y="4813560"/>
              <a:ext cx="628652" cy="531703"/>
            </a:xfrm>
            <a:prstGeom prst="rect">
              <a:avLst/>
            </a:prstGeom>
            <a:noFill/>
          </p:spPr>
        </p:pic>
        <p:sp>
          <p:nvSpPr>
            <p:cNvPr id="59" name="Text Box 18"/>
            <p:cNvSpPr txBox="1">
              <a:spLocks noChangeArrowheads="1"/>
            </p:cNvSpPr>
            <p:nvPr/>
          </p:nvSpPr>
          <p:spPr bwMode="gray">
            <a:xfrm>
              <a:off x="7044513" y="5359379"/>
              <a:ext cx="394660" cy="30777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784225" eaLnBrk="0" fontAlgn="base" hangingPunct="0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R3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27" name="直接连接符 55"/>
          <p:cNvCxnSpPr/>
          <p:nvPr/>
        </p:nvCxnSpPr>
        <p:spPr bwMode="gray">
          <a:xfrm flipH="1">
            <a:off x="3199520" y="5051698"/>
            <a:ext cx="2504593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55"/>
          <p:cNvCxnSpPr/>
          <p:nvPr/>
        </p:nvCxnSpPr>
        <p:spPr bwMode="gray">
          <a:xfrm flipH="1">
            <a:off x="6474569" y="5051698"/>
            <a:ext cx="2504593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 bwMode="gray">
          <a:xfrm>
            <a:off x="3969218" y="473118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标签分发</a:t>
            </a:r>
            <a:endParaRPr lang="zh-CN" altLang="en-US" sz="1600" dirty="0"/>
          </a:p>
        </p:txBody>
      </p:sp>
      <p:sp>
        <p:nvSpPr>
          <p:cNvPr id="31" name="文本框 30"/>
          <p:cNvSpPr txBox="1"/>
          <p:nvPr/>
        </p:nvSpPr>
        <p:spPr bwMode="gray">
          <a:xfrm>
            <a:off x="7224163" y="466669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标签分发</a:t>
            </a:r>
            <a:endParaRPr lang="zh-CN" altLang="en-US" sz="1600" dirty="0"/>
          </a:p>
        </p:txBody>
      </p:sp>
      <p:sp>
        <p:nvSpPr>
          <p:cNvPr id="32" name="文本框 31"/>
          <p:cNvSpPr txBox="1"/>
          <p:nvPr/>
        </p:nvSpPr>
        <p:spPr bwMode="gray">
          <a:xfrm>
            <a:off x="5593298" y="394889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标签分发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8056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LSR ID</a:t>
            </a:r>
            <a:r>
              <a:rPr lang="zh-CN" altLang="en-US" smtClean="0">
                <a:sym typeface="Huawei Sans" panose="020C0503030203020204" pitchFamily="34" charset="0"/>
              </a:rPr>
              <a:t>与</a:t>
            </a:r>
            <a:r>
              <a:rPr lang="en-US" altLang="zh-CN" smtClean="0">
                <a:sym typeface="Huawei Sans" panose="020C0503030203020204" pitchFamily="34" charset="0"/>
              </a:rPr>
              <a:t>LDP ID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 smtClean="0">
                <a:sym typeface="Huawei Sans" panose="020C0503030203020204" pitchFamily="34" charset="0"/>
              </a:rPr>
              <a:t>每一台运行了</a:t>
            </a:r>
            <a:r>
              <a:rPr lang="en-US" altLang="zh-CN" sz="1600" dirty="0" smtClean="0">
                <a:sym typeface="Huawei Sans" panose="020C0503030203020204" pitchFamily="34" charset="0"/>
              </a:rPr>
              <a:t>LDP</a:t>
            </a:r>
            <a:r>
              <a:rPr lang="zh-CN" altLang="en-US" sz="1600" dirty="0" smtClean="0">
                <a:sym typeface="Huawei Sans" panose="020C0503030203020204" pitchFamily="34" charset="0"/>
              </a:rPr>
              <a:t>的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除了必须配置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 ID</a:t>
            </a:r>
            <a:r>
              <a:rPr lang="zh-CN" altLang="en-US" sz="1600" dirty="0" smtClean="0">
                <a:sym typeface="Huawei Sans" panose="020C0503030203020204" pitchFamily="34" charset="0"/>
              </a:rPr>
              <a:t>，还必须拥有</a:t>
            </a:r>
            <a:r>
              <a:rPr lang="en-US" altLang="zh-CN" sz="1600" dirty="0" smtClean="0">
                <a:sym typeface="Huawei Sans" panose="020C0503030203020204" pitchFamily="34" charset="0"/>
              </a:rPr>
              <a:t>LDP ID</a:t>
            </a:r>
            <a:r>
              <a:rPr lang="zh-CN" altLang="en-US" sz="1600" dirty="0" smtClean="0">
                <a:sym typeface="Huawei Sans" panose="020C0503030203020204" pitchFamily="34" charset="0"/>
              </a:rPr>
              <a:t>。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 smtClean="0">
                <a:sym typeface="Huawei Sans" panose="020C0503030203020204" pitchFamily="34" charset="0"/>
              </a:rPr>
              <a:t>LDP ID</a:t>
            </a:r>
            <a:r>
              <a:rPr lang="zh-CN" altLang="en-US" sz="1400" dirty="0" smtClean="0">
                <a:sym typeface="Huawei Sans" panose="020C0503030203020204" pitchFamily="34" charset="0"/>
              </a:rPr>
              <a:t>的长度为</a:t>
            </a:r>
            <a:r>
              <a:rPr lang="en-US" altLang="zh-CN" sz="1400" dirty="0" smtClean="0">
                <a:sym typeface="Huawei Sans" panose="020C0503030203020204" pitchFamily="34" charset="0"/>
              </a:rPr>
              <a:t>48 bit</a:t>
            </a:r>
            <a:r>
              <a:rPr lang="zh-CN" altLang="en-US" sz="1400" dirty="0" smtClean="0">
                <a:sym typeface="Huawei Sans" panose="020C0503030203020204" pitchFamily="34" charset="0"/>
              </a:rPr>
              <a:t>，由</a:t>
            </a:r>
            <a:r>
              <a:rPr lang="en-US" altLang="zh-CN" sz="1400" dirty="0" smtClean="0">
                <a:sym typeface="Huawei Sans" panose="020C0503030203020204" pitchFamily="34" charset="0"/>
              </a:rPr>
              <a:t>32 bit</a:t>
            </a:r>
            <a:r>
              <a:rPr lang="zh-CN" altLang="en-US" sz="1400" dirty="0" smtClean="0"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sym typeface="Huawei Sans" panose="020C0503030203020204" pitchFamily="34" charset="0"/>
              </a:rPr>
              <a:t>LSR ID</a:t>
            </a:r>
            <a:r>
              <a:rPr lang="zh-CN" altLang="en-US" sz="1400" dirty="0" smtClean="0">
                <a:sym typeface="Huawei Sans" panose="020C0503030203020204" pitchFamily="34" charset="0"/>
              </a:rPr>
              <a:t>与</a:t>
            </a:r>
            <a:r>
              <a:rPr lang="en-US" altLang="zh-CN" sz="1400" dirty="0" smtClean="0">
                <a:sym typeface="Huawei Sans" panose="020C0503030203020204" pitchFamily="34" charset="0"/>
              </a:rPr>
              <a:t>16 bit</a:t>
            </a:r>
            <a:r>
              <a:rPr lang="zh-CN" altLang="en-US" sz="1400" dirty="0" smtClean="0">
                <a:sym typeface="Huawei Sans" panose="020C0503030203020204" pitchFamily="34" charset="0"/>
              </a:rPr>
              <a:t>的标签空间标识符（</a:t>
            </a:r>
            <a:r>
              <a:rPr lang="en-US" altLang="zh-CN" sz="1400" dirty="0" smtClean="0">
                <a:sym typeface="Huawei Sans" panose="020C0503030203020204" pitchFamily="34" charset="0"/>
              </a:rPr>
              <a:t>Label Space ID</a:t>
            </a:r>
            <a:r>
              <a:rPr lang="zh-CN" altLang="en-US" sz="1400" dirty="0" smtClean="0">
                <a:sym typeface="Huawei Sans" panose="020C0503030203020204" pitchFamily="34" charset="0"/>
              </a:rPr>
              <a:t>）构成。</a:t>
            </a:r>
            <a:endParaRPr lang="en-US" altLang="zh-CN" sz="14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 smtClean="0">
                <a:sym typeface="Huawei Sans" panose="020C0503030203020204" pitchFamily="34" charset="0"/>
              </a:rPr>
              <a:t>LDP ID</a:t>
            </a:r>
            <a:r>
              <a:rPr lang="zh-CN" altLang="en-US" sz="1400" dirty="0" smtClean="0">
                <a:sym typeface="Huawei Sans" panose="020C0503030203020204" pitchFamily="34" charset="0"/>
              </a:rPr>
              <a:t>以“</a:t>
            </a:r>
            <a:r>
              <a:rPr lang="en-US" altLang="zh-CN" sz="1400" dirty="0" smtClean="0">
                <a:sym typeface="Huawei Sans" panose="020C0503030203020204" pitchFamily="34" charset="0"/>
              </a:rPr>
              <a:t>LSR ID : </a:t>
            </a:r>
            <a:r>
              <a:rPr lang="zh-CN" altLang="en-US" sz="1400" dirty="0" smtClean="0">
                <a:sym typeface="Huawei Sans" panose="020C0503030203020204" pitchFamily="34" charset="0"/>
              </a:rPr>
              <a:t>标签空间标识”的形式呈现。例如</a:t>
            </a:r>
            <a:r>
              <a:rPr lang="en-US" altLang="zh-CN" sz="1400" dirty="0" smtClean="0">
                <a:sym typeface="Huawei Sans" panose="020C0503030203020204" pitchFamily="34" charset="0"/>
              </a:rPr>
              <a:t>2.2.2.2:0</a:t>
            </a:r>
            <a:r>
              <a:rPr lang="zh-CN" altLang="en-US" sz="1400" dirty="0" smtClean="0"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sym typeface="Huawei Sans" panose="020C0503030203020204" pitchFamily="34" charset="0"/>
            </a:endParaRPr>
          </a:p>
          <a:p>
            <a:r>
              <a:rPr lang="zh-CN" altLang="en-US" sz="1600" dirty="0" smtClean="0">
                <a:sym typeface="Huawei Sans" panose="020C0503030203020204" pitchFamily="34" charset="0"/>
              </a:rPr>
              <a:t>标签空间标识一般存在两种形态：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 smtClean="0">
                <a:sym typeface="Huawei Sans" panose="020C0503030203020204" pitchFamily="34" charset="0"/>
              </a:rPr>
              <a:t>值为</a:t>
            </a:r>
            <a:r>
              <a:rPr lang="en-US" altLang="zh-CN" sz="1400" dirty="0" smtClean="0">
                <a:sym typeface="Huawei Sans" panose="020C0503030203020204" pitchFamily="34" charset="0"/>
              </a:rPr>
              <a:t>0</a:t>
            </a:r>
            <a:r>
              <a:rPr lang="zh-CN" altLang="en-US" sz="1400" dirty="0" smtClean="0">
                <a:sym typeface="Huawei Sans" panose="020C0503030203020204" pitchFamily="34" charset="0"/>
              </a:rPr>
              <a:t>：表示基于设备（或基于平台）的标签空间；</a:t>
            </a:r>
            <a:endParaRPr lang="en-US" altLang="zh-CN" sz="14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 smtClean="0">
                <a:sym typeface="Huawei Sans" panose="020C0503030203020204" pitchFamily="34" charset="0"/>
              </a:rPr>
              <a:t>值非</a:t>
            </a:r>
            <a:r>
              <a:rPr lang="en-US" altLang="zh-CN" sz="1400" dirty="0" smtClean="0">
                <a:sym typeface="Huawei Sans" panose="020C0503030203020204" pitchFamily="34" charset="0"/>
              </a:rPr>
              <a:t>0</a:t>
            </a:r>
            <a:r>
              <a:rPr lang="zh-CN" altLang="en-US" sz="1400" dirty="0" smtClean="0">
                <a:sym typeface="Huawei Sans" panose="020C0503030203020204" pitchFamily="34" charset="0"/>
              </a:rPr>
              <a:t>：表示基于接口的标签空间。</a:t>
            </a:r>
            <a:endParaRPr lang="zh-CN" altLang="en-US" sz="1400" dirty="0">
              <a:sym typeface="Huawei Sans" panose="020C0503030203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 bwMode="gray">
          <a:xfrm>
            <a:off x="3153260" y="5316969"/>
            <a:ext cx="5987532" cy="570439"/>
            <a:chOff x="2406374" y="2644324"/>
            <a:chExt cx="5987532" cy="570439"/>
          </a:xfrm>
        </p:grpSpPr>
        <p:cxnSp>
          <p:nvCxnSpPr>
            <p:cNvPr id="6" name="直接连接符 5"/>
            <p:cNvCxnSpPr/>
            <p:nvPr/>
          </p:nvCxnSpPr>
          <p:spPr bwMode="gray">
            <a:xfrm>
              <a:off x="2927648" y="2644324"/>
              <a:ext cx="489654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 bwMode="gray">
            <a:xfrm>
              <a:off x="2406374" y="2906986"/>
              <a:ext cx="41389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" name="矩形 9"/>
            <p:cNvSpPr/>
            <p:nvPr/>
          </p:nvSpPr>
          <p:spPr bwMode="gray">
            <a:xfrm>
              <a:off x="7980010" y="2906465"/>
              <a:ext cx="41389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3" name="矩形 12"/>
          <p:cNvSpPr/>
          <p:nvPr/>
        </p:nvSpPr>
        <p:spPr bwMode="gray">
          <a:xfrm>
            <a:off x="3622546" y="5333791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10.0.12.1/24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7470049" y="5346560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10.0.12.2/24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矩形 14"/>
          <p:cNvSpPr/>
          <p:nvPr/>
        </p:nvSpPr>
        <p:spPr bwMode="gray">
          <a:xfrm>
            <a:off x="2579014" y="4531609"/>
            <a:ext cx="15054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 ID 1.1.1.1</a:t>
            </a:r>
          </a:p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ID 1.1.1.1:0</a:t>
            </a:r>
          </a:p>
        </p:txBody>
      </p:sp>
      <p:sp>
        <p:nvSpPr>
          <p:cNvPr id="16" name="矩形 15"/>
          <p:cNvSpPr/>
          <p:nvPr/>
        </p:nvSpPr>
        <p:spPr bwMode="gray">
          <a:xfrm>
            <a:off x="8181105" y="4503079"/>
            <a:ext cx="15054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 ID 2.2.2.2</a:t>
            </a: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ID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2.2.2.0:0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任意多边形 2"/>
          <p:cNvSpPr>
            <a:spLocks/>
          </p:cNvSpPr>
          <p:nvPr/>
        </p:nvSpPr>
        <p:spPr bwMode="gray">
          <a:xfrm>
            <a:off x="4084491" y="4096909"/>
            <a:ext cx="967587" cy="750771"/>
          </a:xfrm>
          <a:custGeom>
            <a:avLst/>
            <a:gdLst>
              <a:gd name="connsiteX0" fmla="*/ 0 w 317633"/>
              <a:gd name="connsiteY0" fmla="*/ 750771 h 750771"/>
              <a:gd name="connsiteX1" fmla="*/ 317633 w 317633"/>
              <a:gd name="connsiteY1" fmla="*/ 750771 h 750771"/>
              <a:gd name="connsiteX2" fmla="*/ 317633 w 317633"/>
              <a:gd name="connsiteY2" fmla="*/ 0 h 750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7633" h="750771">
                <a:moveTo>
                  <a:pt x="0" y="750771"/>
                </a:moveTo>
                <a:lnTo>
                  <a:pt x="317633" y="750771"/>
                </a:lnTo>
                <a:lnTo>
                  <a:pt x="317633" y="0"/>
                </a:lnTo>
              </a:path>
            </a:pathLst>
          </a:custGeom>
          <a:noFill/>
          <a:ln>
            <a:solidFill>
              <a:srgbClr val="62B23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045882" y="5047407"/>
            <a:ext cx="628652" cy="531703"/>
          </a:xfrm>
          <a:prstGeom prst="rect">
            <a:avLst/>
          </a:prstGeom>
          <a:noFill/>
        </p:spPr>
      </p:pic>
      <p:pic>
        <p:nvPicPr>
          <p:cNvPr id="2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8590459" y="5047407"/>
            <a:ext cx="628652" cy="531703"/>
          </a:xfrm>
          <a:prstGeom prst="rect">
            <a:avLst/>
          </a:prstGeom>
          <a:noFill/>
        </p:spPr>
      </p:pic>
      <p:sp>
        <p:nvSpPr>
          <p:cNvPr id="23" name="圆角矩形 22"/>
          <p:cNvSpPr/>
          <p:nvPr/>
        </p:nvSpPr>
        <p:spPr bwMode="gray">
          <a:xfrm>
            <a:off x="3945551" y="3672788"/>
            <a:ext cx="4781345" cy="415710"/>
          </a:xfrm>
          <a:prstGeom prst="roundRect">
            <a:avLst>
              <a:gd name="adj" fmla="val 15000"/>
            </a:avLst>
          </a:prstGeom>
          <a:solidFill>
            <a:srgbClr val="BEE9EE"/>
          </a:solidFill>
          <a:ln w="9525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 ID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32 bit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）：标签空间标识符（</a:t>
            </a: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16 bit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任意多边形 23"/>
          <p:cNvSpPr>
            <a:spLocks/>
          </p:cNvSpPr>
          <p:nvPr/>
        </p:nvSpPr>
        <p:spPr bwMode="gray">
          <a:xfrm flipH="1">
            <a:off x="7276423" y="4119493"/>
            <a:ext cx="967587" cy="750771"/>
          </a:xfrm>
          <a:custGeom>
            <a:avLst/>
            <a:gdLst>
              <a:gd name="connsiteX0" fmla="*/ 0 w 317633"/>
              <a:gd name="connsiteY0" fmla="*/ 750771 h 750771"/>
              <a:gd name="connsiteX1" fmla="*/ 317633 w 317633"/>
              <a:gd name="connsiteY1" fmla="*/ 750771 h 750771"/>
              <a:gd name="connsiteX2" fmla="*/ 317633 w 317633"/>
              <a:gd name="connsiteY2" fmla="*/ 0 h 750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7633" h="750771">
                <a:moveTo>
                  <a:pt x="0" y="750771"/>
                </a:moveTo>
                <a:lnTo>
                  <a:pt x="317633" y="750771"/>
                </a:lnTo>
                <a:lnTo>
                  <a:pt x="317633" y="0"/>
                </a:lnTo>
              </a:path>
            </a:pathLst>
          </a:custGeom>
          <a:noFill/>
          <a:ln>
            <a:solidFill>
              <a:srgbClr val="62B23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49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消息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485880"/>
          </a:xfrm>
        </p:spPr>
        <p:txBody>
          <a:bodyPr/>
          <a:lstStyle/>
          <a:p>
            <a:r>
              <a:rPr lang="zh-CN" altLang="en-US" sz="1800" dirty="0" smtClean="0"/>
              <a:t>运行</a:t>
            </a:r>
            <a:r>
              <a:rPr lang="en-US" altLang="zh-CN" sz="1800" dirty="0" smtClean="0"/>
              <a:t>LDP</a:t>
            </a:r>
            <a:r>
              <a:rPr lang="zh-CN" altLang="en-US" sz="1800" dirty="0" smtClean="0"/>
              <a:t>协议的</a:t>
            </a:r>
            <a:r>
              <a:rPr lang="en-US" altLang="zh-CN" sz="1800" dirty="0" smtClean="0"/>
              <a:t>LSR</a:t>
            </a:r>
            <a:r>
              <a:rPr lang="zh-CN" altLang="en-US" sz="1800" dirty="0" smtClean="0"/>
              <a:t>之间通过交换</a:t>
            </a:r>
            <a:r>
              <a:rPr lang="en-US" altLang="zh-CN" sz="1800" dirty="0" smtClean="0"/>
              <a:t>LDP</a:t>
            </a:r>
            <a:r>
              <a:rPr lang="zh-CN" altLang="en-US" sz="1800" dirty="0" smtClean="0"/>
              <a:t>消息来实现邻居发现、会话建立与维护以及标签管理等功能。</a:t>
            </a:r>
            <a:endParaRPr lang="zh-CN" altLang="en-US" sz="1800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83221"/>
              </p:ext>
            </p:extLst>
          </p:nvPr>
        </p:nvGraphicFramePr>
        <p:xfrm>
          <a:off x="817084" y="1526013"/>
          <a:ext cx="10561310" cy="4404519"/>
        </p:xfrm>
        <a:graphic>
          <a:graphicData uri="http://schemas.openxmlformats.org/drawingml/2006/table">
            <a:tbl>
              <a:tblPr/>
              <a:tblGrid>
                <a:gridCol w="1915156"/>
                <a:gridCol w="2260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47900"/>
                <a:gridCol w="4137654"/>
              </a:tblGrid>
              <a:tr h="403511"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消息类型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消息名称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传输层协议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作用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3728">
                <a:tc>
                  <a:txBody>
                    <a:bodyPr/>
                    <a:lstStyle/>
                    <a:p>
                      <a:pPr algn="ctr" fontAlgn="auto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990000"/>
                        </a:buClr>
                        <a:buSzPct val="85000"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Discovery Message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Hello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UDP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LDP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发现机制中宣告本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LSR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并发现邻居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3728">
                <a:tc rowSpan="2">
                  <a:txBody>
                    <a:bodyPr/>
                    <a:lstStyle/>
                    <a:p>
                      <a:pPr algn="ctr" fontAlgn="auto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990000"/>
                        </a:buClr>
                        <a:buSzPct val="85000"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Session Message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Initialization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TCP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在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LDP Session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建立过程中协商参数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63728"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7121" marR="77121" marT="40103" marB="40103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Keepalive</a:t>
                      </a:r>
                      <a:endParaRPr kumimoji="0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监控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LDP Session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TCP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连接的完整性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63728">
                <a:tc rowSpan="7">
                  <a:txBody>
                    <a:bodyPr/>
                    <a:lstStyle/>
                    <a:p>
                      <a:pPr algn="ctr" fontAlgn="auto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990000"/>
                        </a:buClr>
                        <a:buSzPct val="85000"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Advertisement</a:t>
                      </a:r>
                    </a:p>
                    <a:p>
                      <a:pPr algn="ctr" fontAlgn="auto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990000"/>
                        </a:buClr>
                        <a:buSzPct val="85000"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Message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Address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宣告接口地址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63728"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7121" marR="77121" marT="40103" marB="40103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Address Withdraw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撤消接口地址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63728"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7121" marR="77121" marT="40103" marB="40103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Label Mapping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宣告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FEC/Label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映射信息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63728"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7121" marR="77121" marT="40103" marB="40103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Label Request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请求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的标签映射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28"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7121" marR="77121" marT="40103" marB="40103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Label Abort Request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终止未完成的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Label Request Message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28"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7121" marR="77121" marT="40103" marB="40103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Label Withdraw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撤消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FEC/Label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映射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28"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7121" marR="77121" marT="40103" marB="40103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Label Release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释放标签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28">
                <a:tc>
                  <a:txBody>
                    <a:bodyPr/>
                    <a:lstStyle/>
                    <a:p>
                      <a:pPr algn="ctr" fontAlgn="auto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990000"/>
                        </a:buClr>
                        <a:buSzPct val="85000"/>
                      </a:pP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Notification Message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Notification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84225" rtl="0" eaLnBrk="1" fontAlgn="auto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通知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LDP Peer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错误信息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523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报文封装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协议报文包括了</a:t>
            </a:r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头部和</a:t>
            </a:r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消息两部分。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smtClean="0">
                <a:sym typeface="Huawei Sans" panose="020C0503030203020204" pitchFamily="34" charset="0"/>
              </a:rPr>
              <a:t>LDP</a:t>
            </a:r>
            <a:r>
              <a:rPr lang="zh-CN" altLang="en-US" sz="1600" dirty="0" smtClean="0">
                <a:sym typeface="Huawei Sans" panose="020C0503030203020204" pitchFamily="34" charset="0"/>
              </a:rPr>
              <a:t>头部中携带了</a:t>
            </a:r>
            <a:r>
              <a:rPr lang="en-US" altLang="zh-CN" sz="1600" dirty="0" smtClean="0">
                <a:sym typeface="Huawei Sans" panose="020C0503030203020204" pitchFamily="34" charset="0"/>
              </a:rPr>
              <a:t>LDP</a:t>
            </a:r>
            <a:r>
              <a:rPr lang="zh-CN" altLang="en-US" sz="1600" dirty="0" smtClean="0">
                <a:sym typeface="Huawei Sans" panose="020C0503030203020204" pitchFamily="34" charset="0"/>
              </a:rPr>
              <a:t>版本、报文长度等信息；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smtClean="0">
                <a:sym typeface="Huawei Sans" panose="020C0503030203020204" pitchFamily="34" charset="0"/>
              </a:rPr>
              <a:t>LDP</a:t>
            </a:r>
            <a:r>
              <a:rPr lang="zh-CN" altLang="en-US" sz="1600" dirty="0" smtClean="0">
                <a:sym typeface="Huawei Sans" panose="020C0503030203020204" pitchFamily="34" charset="0"/>
              </a:rPr>
              <a:t>消息中携带了消息类型、消息长度等信息。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12" name="Text Box 156"/>
          <p:cNvSpPr txBox="1">
            <a:spLocks noChangeArrowheads="1"/>
          </p:cNvSpPr>
          <p:nvPr/>
        </p:nvSpPr>
        <p:spPr bwMode="gray">
          <a:xfrm>
            <a:off x="4242588" y="3656406"/>
            <a:ext cx="673983" cy="2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14" tIns="41056" rIns="82114" bIns="41056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lnSpc>
                <a:spcPct val="90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 Byte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Text Box 157"/>
          <p:cNvSpPr txBox="1">
            <a:spLocks noChangeArrowheads="1"/>
          </p:cNvSpPr>
          <p:nvPr/>
        </p:nvSpPr>
        <p:spPr bwMode="gray">
          <a:xfrm>
            <a:off x="5321151" y="3656406"/>
            <a:ext cx="673983" cy="2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14" tIns="41056" rIns="82114" bIns="41056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lnSpc>
                <a:spcPct val="90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 Byte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Text Box 158"/>
          <p:cNvSpPr txBox="1">
            <a:spLocks noChangeArrowheads="1"/>
          </p:cNvSpPr>
          <p:nvPr/>
        </p:nvSpPr>
        <p:spPr bwMode="gray">
          <a:xfrm>
            <a:off x="6856263" y="3661168"/>
            <a:ext cx="673983" cy="2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14" tIns="41056" rIns="82114" bIns="41056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lnSpc>
                <a:spcPct val="90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 Byte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Text Box 159"/>
          <p:cNvSpPr txBox="1">
            <a:spLocks noChangeArrowheads="1"/>
          </p:cNvSpPr>
          <p:nvPr/>
        </p:nvSpPr>
        <p:spPr bwMode="gray">
          <a:xfrm>
            <a:off x="3210968" y="4612511"/>
            <a:ext cx="702838" cy="2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14" tIns="41056" rIns="82114" bIns="41056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lnSpc>
                <a:spcPct val="90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 Byte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Text Box 160"/>
          <p:cNvSpPr txBox="1">
            <a:spLocks noChangeArrowheads="1"/>
          </p:cNvSpPr>
          <p:nvPr/>
        </p:nvSpPr>
        <p:spPr bwMode="gray">
          <a:xfrm>
            <a:off x="4347618" y="4612511"/>
            <a:ext cx="702838" cy="2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14" tIns="41056" rIns="82114" bIns="41056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lnSpc>
                <a:spcPct val="90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 Byte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Text Box 161"/>
          <p:cNvSpPr txBox="1">
            <a:spLocks noChangeArrowheads="1"/>
          </p:cNvSpPr>
          <p:nvPr/>
        </p:nvSpPr>
        <p:spPr bwMode="gray">
          <a:xfrm>
            <a:off x="5517606" y="4612511"/>
            <a:ext cx="702838" cy="2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14" tIns="41056" rIns="82114" bIns="41056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lnSpc>
                <a:spcPct val="90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 Byte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Text Box 162"/>
          <p:cNvSpPr txBox="1">
            <a:spLocks noChangeArrowheads="1"/>
          </p:cNvSpPr>
          <p:nvPr/>
        </p:nvSpPr>
        <p:spPr bwMode="gray">
          <a:xfrm>
            <a:off x="7640159" y="4612511"/>
            <a:ext cx="524904" cy="2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14" tIns="41056" rIns="82114" bIns="41056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lnSpc>
                <a:spcPct val="90000"/>
              </a:lnSpc>
            </a:pPr>
            <a:r>
              <a:rPr lang="zh-CN" altLang="en-US" sz="1400" dirty="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变长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Text Box 163"/>
          <p:cNvSpPr txBox="1">
            <a:spLocks noChangeArrowheads="1"/>
          </p:cNvSpPr>
          <p:nvPr/>
        </p:nvSpPr>
        <p:spPr bwMode="gray">
          <a:xfrm>
            <a:off x="9561034" y="4617273"/>
            <a:ext cx="524904" cy="2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14" tIns="41056" rIns="82114" bIns="41056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lnSpc>
                <a:spcPct val="90000"/>
              </a:lnSpc>
            </a:pPr>
            <a:r>
              <a:rPr lang="zh-CN" altLang="en-US" sz="1400" dirty="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变长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AutoShape 164"/>
          <p:cNvSpPr>
            <a:spLocks noChangeArrowheads="1"/>
          </p:cNvSpPr>
          <p:nvPr/>
        </p:nvSpPr>
        <p:spPr bwMode="gray">
          <a:xfrm>
            <a:off x="8981388" y="3213370"/>
            <a:ext cx="224825" cy="1490073"/>
          </a:xfrm>
          <a:prstGeom prst="downArrow">
            <a:avLst>
              <a:gd name="adj1" fmla="val 50000"/>
              <a:gd name="adj2" fmla="val 128788"/>
            </a:avLst>
          </a:prstGeom>
          <a:solidFill>
            <a:srgbClr val="BEE9E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rgbClr val="336699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AutoShape 165"/>
          <p:cNvSpPr>
            <a:spLocks noChangeArrowheads="1"/>
          </p:cNvSpPr>
          <p:nvPr/>
        </p:nvSpPr>
        <p:spPr bwMode="gray">
          <a:xfrm>
            <a:off x="7102901" y="3232301"/>
            <a:ext cx="189816" cy="406673"/>
          </a:xfrm>
          <a:prstGeom prst="downArrow">
            <a:avLst>
              <a:gd name="adj1" fmla="val 50000"/>
              <a:gd name="adj2" fmla="val 42929"/>
            </a:avLst>
          </a:prstGeom>
          <a:solidFill>
            <a:srgbClr val="94DAE2"/>
          </a:solidFill>
          <a:ln w="9525" algn="ctr">
            <a:noFill/>
            <a:miter lim="800000"/>
            <a:headEnd/>
            <a:tailEnd/>
          </a:ln>
        </p:spPr>
        <p:txBody>
          <a:bodyPr wrap="square" lIns="78355" tIns="39177" rIns="78355" bIns="39177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gray">
          <a:xfrm>
            <a:off x="8843742" y="2384100"/>
            <a:ext cx="524904" cy="2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14" tIns="41056" rIns="82114" bIns="41056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lnSpc>
                <a:spcPct val="90000"/>
              </a:lnSpc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变长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5"/>
          <p:cNvSpPr/>
          <p:nvPr/>
        </p:nvSpPr>
        <p:spPr bwMode="gray">
          <a:xfrm>
            <a:off x="2491171" y="2664073"/>
            <a:ext cx="2017512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 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6"/>
          <p:cNvSpPr/>
          <p:nvPr/>
        </p:nvSpPr>
        <p:spPr bwMode="gray">
          <a:xfrm>
            <a:off x="4508682" y="2664073"/>
            <a:ext cx="1900971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TCP/UDP 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7"/>
          <p:cNvSpPr/>
          <p:nvPr/>
        </p:nvSpPr>
        <p:spPr bwMode="gray">
          <a:xfrm>
            <a:off x="6409653" y="2664073"/>
            <a:ext cx="1820795" cy="504056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Header</a:t>
            </a:r>
          </a:p>
        </p:txBody>
      </p:sp>
      <p:sp>
        <p:nvSpPr>
          <p:cNvPr id="32" name="矩形 7"/>
          <p:cNvSpPr/>
          <p:nvPr/>
        </p:nvSpPr>
        <p:spPr bwMode="gray">
          <a:xfrm>
            <a:off x="8228158" y="2664073"/>
            <a:ext cx="1820795" cy="504056"/>
          </a:xfrm>
          <a:prstGeom prst="rect">
            <a:avLst/>
          </a:prstGeom>
          <a:solidFill>
            <a:srgbClr val="BEE9E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Message</a:t>
            </a:r>
          </a:p>
        </p:txBody>
      </p:sp>
      <p:sp>
        <p:nvSpPr>
          <p:cNvPr id="33" name="Text Box 15"/>
          <p:cNvSpPr txBox="1">
            <a:spLocks noChangeArrowheads="1"/>
          </p:cNvSpPr>
          <p:nvPr/>
        </p:nvSpPr>
        <p:spPr bwMode="gray">
          <a:xfrm>
            <a:off x="6845040" y="2388348"/>
            <a:ext cx="802224" cy="2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14" tIns="41056" rIns="82114" bIns="41056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lnSpc>
                <a:spcPct val="900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 Byte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5"/>
          <p:cNvSpPr/>
          <p:nvPr/>
        </p:nvSpPr>
        <p:spPr bwMode="gray">
          <a:xfrm>
            <a:off x="3843995" y="3928677"/>
            <a:ext cx="1328305" cy="504056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8422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</a:pPr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Version</a:t>
            </a:r>
          </a:p>
        </p:txBody>
      </p:sp>
      <p:sp>
        <p:nvSpPr>
          <p:cNvPr id="35" name="矩形 6"/>
          <p:cNvSpPr/>
          <p:nvPr/>
        </p:nvSpPr>
        <p:spPr bwMode="gray">
          <a:xfrm>
            <a:off x="5162262" y="3928677"/>
            <a:ext cx="1251576" cy="504056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8422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</a:pPr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PDU Length</a:t>
            </a:r>
          </a:p>
        </p:txBody>
      </p:sp>
      <p:sp>
        <p:nvSpPr>
          <p:cNvPr id="36" name="矩形 7"/>
          <p:cNvSpPr/>
          <p:nvPr/>
        </p:nvSpPr>
        <p:spPr bwMode="gray">
          <a:xfrm>
            <a:off x="6409653" y="3928677"/>
            <a:ext cx="1375861" cy="504056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78422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</a:pPr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Identifier</a:t>
            </a:r>
          </a:p>
        </p:txBody>
      </p:sp>
      <p:sp>
        <p:nvSpPr>
          <p:cNvPr id="37" name="矩形 5"/>
          <p:cNvSpPr/>
          <p:nvPr/>
        </p:nvSpPr>
        <p:spPr bwMode="gray">
          <a:xfrm>
            <a:off x="3148721" y="4970951"/>
            <a:ext cx="849634" cy="577101"/>
          </a:xfrm>
          <a:prstGeom prst="rect">
            <a:avLst/>
          </a:prstGeom>
          <a:solidFill>
            <a:srgbClr val="BEE9E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8422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</a:pPr>
            <a:r>
              <a:rPr lang="en-US" altLang="zh-CN" sz="1400" b="1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矩形 6"/>
          <p:cNvSpPr/>
          <p:nvPr/>
        </p:nvSpPr>
        <p:spPr bwMode="gray">
          <a:xfrm>
            <a:off x="3983191" y="4970952"/>
            <a:ext cx="1251576" cy="577101"/>
          </a:xfrm>
          <a:prstGeom prst="rect">
            <a:avLst/>
          </a:prstGeom>
          <a:solidFill>
            <a:srgbClr val="BEE9E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78422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</a:pPr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Message Length</a:t>
            </a:r>
          </a:p>
        </p:txBody>
      </p:sp>
      <p:sp>
        <p:nvSpPr>
          <p:cNvPr id="39" name="矩形 7"/>
          <p:cNvSpPr/>
          <p:nvPr/>
        </p:nvSpPr>
        <p:spPr bwMode="gray">
          <a:xfrm>
            <a:off x="5227554" y="4970952"/>
            <a:ext cx="1375861" cy="577101"/>
          </a:xfrm>
          <a:prstGeom prst="rect">
            <a:avLst/>
          </a:prstGeom>
          <a:solidFill>
            <a:srgbClr val="BEE9E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78422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</a:pPr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Message ID</a:t>
            </a:r>
          </a:p>
        </p:txBody>
      </p:sp>
      <p:sp>
        <p:nvSpPr>
          <p:cNvPr id="40" name="矩形 5"/>
          <p:cNvSpPr/>
          <p:nvPr/>
        </p:nvSpPr>
        <p:spPr bwMode="gray">
          <a:xfrm>
            <a:off x="2900213" y="4970952"/>
            <a:ext cx="262962" cy="577101"/>
          </a:xfrm>
          <a:prstGeom prst="rect">
            <a:avLst/>
          </a:prstGeom>
          <a:solidFill>
            <a:srgbClr val="BEE9E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8422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</a:pPr>
            <a:r>
              <a:rPr lang="en-US" altLang="zh-CN" sz="1400" b="1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</a:t>
            </a:r>
            <a:endParaRPr lang="en-US" altLang="zh-CN" sz="14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Text Box 159"/>
          <p:cNvSpPr txBox="1">
            <a:spLocks noChangeArrowheads="1"/>
          </p:cNvSpPr>
          <p:nvPr/>
        </p:nvSpPr>
        <p:spPr bwMode="gray">
          <a:xfrm>
            <a:off x="2714296" y="4612511"/>
            <a:ext cx="537728" cy="27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14" tIns="41056" rIns="82114" bIns="41056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lnSpc>
                <a:spcPct val="9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en-US" altLang="zh-CN" sz="1400" dirty="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bit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矩形 7"/>
          <p:cNvSpPr/>
          <p:nvPr/>
        </p:nvSpPr>
        <p:spPr bwMode="gray">
          <a:xfrm>
            <a:off x="6599210" y="4970952"/>
            <a:ext cx="2244532" cy="577101"/>
          </a:xfrm>
          <a:prstGeom prst="rect">
            <a:avLst/>
          </a:prstGeom>
          <a:solidFill>
            <a:srgbClr val="BEE9E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78422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</a:pPr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Mandatory Parameters</a:t>
            </a:r>
          </a:p>
        </p:txBody>
      </p:sp>
      <p:sp>
        <p:nvSpPr>
          <p:cNvPr id="43" name="矩形 7"/>
          <p:cNvSpPr/>
          <p:nvPr/>
        </p:nvSpPr>
        <p:spPr bwMode="gray">
          <a:xfrm>
            <a:off x="8833326" y="4970952"/>
            <a:ext cx="2077419" cy="577101"/>
          </a:xfrm>
          <a:prstGeom prst="rect">
            <a:avLst/>
          </a:prstGeom>
          <a:solidFill>
            <a:srgbClr val="BEE9E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78422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rgbClr val="808080"/>
              </a:buClr>
              <a:buSzPct val="60000"/>
            </a:pPr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Optional Parameters</a:t>
            </a:r>
          </a:p>
        </p:txBody>
      </p:sp>
    </p:spTree>
    <p:extLst>
      <p:ext uri="{BB962C8B-B14F-4D97-AF65-F5344CB8AC3E}">
        <p14:creationId xmlns:p14="http://schemas.microsoft.com/office/powerpoint/2010/main" val="378956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基本概念</a:t>
            </a:r>
            <a:endParaRPr lang="en-US" altLang="zh-CN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smtClean="0">
                <a:sym typeface="Huawei Sans" panose="020C0503030203020204" pitchFamily="34" charset="0"/>
              </a:rPr>
              <a:t>LDP</a:t>
            </a:r>
            <a:r>
              <a:rPr lang="zh-CN" altLang="en-US" b="1" smtClean="0">
                <a:sym typeface="Huawei Sans" panose="020C0503030203020204" pitchFamily="34" charset="0"/>
              </a:rPr>
              <a:t>工作原理</a:t>
            </a:r>
            <a:endParaRPr lang="en-US" altLang="zh-CN" b="1" smtClean="0"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会话建立</a:t>
            </a:r>
            <a:endParaRPr lang="en-US" altLang="zh-CN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标签分发</a:t>
            </a:r>
            <a:endParaRPr lang="en-US" altLang="zh-CN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工作过程详解</a:t>
            </a:r>
            <a:endParaRPr lang="en-US" altLang="zh-CN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基本配置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1280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会话状态机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使用</a:t>
            </a:r>
            <a:r>
              <a:rPr lang="en-US" altLang="zh-CN" sz="1800" dirty="0" smtClean="0">
                <a:sym typeface="Huawei Sans" panose="020C0503030203020204" pitchFamily="34" charset="0"/>
              </a:rPr>
              <a:t>5</a:t>
            </a:r>
            <a:r>
              <a:rPr lang="zh-CN" altLang="en-US" sz="1800" dirty="0" smtClean="0">
                <a:sym typeface="Huawei Sans" panose="020C0503030203020204" pitchFamily="34" charset="0"/>
              </a:rPr>
              <a:t>种状态描述</a:t>
            </a:r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会话状态机。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4581058" y="5881602"/>
            <a:ext cx="1484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所有其他</a:t>
            </a:r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任意多边形 42"/>
          <p:cNvSpPr/>
          <p:nvPr/>
        </p:nvSpPr>
        <p:spPr bwMode="gray">
          <a:xfrm>
            <a:off x="6114250" y="2015926"/>
            <a:ext cx="4423399" cy="2059793"/>
          </a:xfrm>
          <a:custGeom>
            <a:avLst/>
            <a:gdLst>
              <a:gd name="connsiteX0" fmla="*/ 2263806 w 3133817"/>
              <a:gd name="connsiteY0" fmla="*/ 2556768 h 2556768"/>
              <a:gd name="connsiteX1" fmla="*/ 3133817 w 3133817"/>
              <a:gd name="connsiteY1" fmla="*/ 2556768 h 2556768"/>
              <a:gd name="connsiteX2" fmla="*/ 3133817 w 3133817"/>
              <a:gd name="connsiteY2" fmla="*/ 0 h 2556768"/>
              <a:gd name="connsiteX3" fmla="*/ 0 w 3133817"/>
              <a:gd name="connsiteY3" fmla="*/ 0 h 2556768"/>
              <a:gd name="connsiteX0" fmla="*/ 1920906 w 3133817"/>
              <a:gd name="connsiteY0" fmla="*/ 2570217 h 2570217"/>
              <a:gd name="connsiteX1" fmla="*/ 3133817 w 3133817"/>
              <a:gd name="connsiteY1" fmla="*/ 2556768 h 2570217"/>
              <a:gd name="connsiteX2" fmla="*/ 3133817 w 3133817"/>
              <a:gd name="connsiteY2" fmla="*/ 0 h 2570217"/>
              <a:gd name="connsiteX3" fmla="*/ 0 w 3133817"/>
              <a:gd name="connsiteY3" fmla="*/ 0 h 2570217"/>
              <a:gd name="connsiteX0" fmla="*/ 1685956 w 2898867"/>
              <a:gd name="connsiteY0" fmla="*/ 2570217 h 2570217"/>
              <a:gd name="connsiteX1" fmla="*/ 2898867 w 2898867"/>
              <a:gd name="connsiteY1" fmla="*/ 2556768 h 2570217"/>
              <a:gd name="connsiteX2" fmla="*/ 2898867 w 2898867"/>
              <a:gd name="connsiteY2" fmla="*/ 0 h 2570217"/>
              <a:gd name="connsiteX3" fmla="*/ 0 w 2898867"/>
              <a:gd name="connsiteY3" fmla="*/ 0 h 2570217"/>
              <a:gd name="connsiteX0" fmla="*/ 1477419 w 2898867"/>
              <a:gd name="connsiteY0" fmla="*/ 2570217 h 2570217"/>
              <a:gd name="connsiteX1" fmla="*/ 2898867 w 2898867"/>
              <a:gd name="connsiteY1" fmla="*/ 2556768 h 2570217"/>
              <a:gd name="connsiteX2" fmla="*/ 2898867 w 2898867"/>
              <a:gd name="connsiteY2" fmla="*/ 0 h 2570217"/>
              <a:gd name="connsiteX3" fmla="*/ 0 w 2898867"/>
              <a:gd name="connsiteY3" fmla="*/ 0 h 2570217"/>
              <a:gd name="connsiteX0" fmla="*/ 1020847 w 2898867"/>
              <a:gd name="connsiteY0" fmla="*/ 2570217 h 2570217"/>
              <a:gd name="connsiteX1" fmla="*/ 2898867 w 2898867"/>
              <a:gd name="connsiteY1" fmla="*/ 2556768 h 2570217"/>
              <a:gd name="connsiteX2" fmla="*/ 2898867 w 2898867"/>
              <a:gd name="connsiteY2" fmla="*/ 0 h 2570217"/>
              <a:gd name="connsiteX3" fmla="*/ 0 w 2898867"/>
              <a:gd name="connsiteY3" fmla="*/ 0 h 2570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8867" h="2570217">
                <a:moveTo>
                  <a:pt x="1020847" y="2570217"/>
                </a:moveTo>
                <a:lnTo>
                  <a:pt x="2898867" y="2556768"/>
                </a:lnTo>
                <a:lnTo>
                  <a:pt x="2898867" y="0"/>
                </a:lnTo>
                <a:lnTo>
                  <a:pt x="0" y="0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圆角矩形 2"/>
          <p:cNvSpPr/>
          <p:nvPr/>
        </p:nvSpPr>
        <p:spPr bwMode="gray">
          <a:xfrm>
            <a:off x="4545460" y="1702073"/>
            <a:ext cx="1555962" cy="457741"/>
          </a:xfrm>
          <a:prstGeom prst="roundRect">
            <a:avLst>
              <a:gd name="adj" fmla="val 7486"/>
            </a:avLst>
          </a:prstGeom>
          <a:solidFill>
            <a:srgbClr val="BEE9EE"/>
          </a:solidFill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Non-Existent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" name="直接箭头连接符 9"/>
          <p:cNvCxnSpPr/>
          <p:nvPr/>
        </p:nvCxnSpPr>
        <p:spPr bwMode="gray">
          <a:xfrm>
            <a:off x="5015694" y="2159814"/>
            <a:ext cx="0" cy="7428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 bwMode="gray">
          <a:xfrm>
            <a:off x="5366855" y="2159814"/>
            <a:ext cx="0" cy="74281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任意多边形 12"/>
          <p:cNvSpPr/>
          <p:nvPr/>
        </p:nvSpPr>
        <p:spPr bwMode="gray">
          <a:xfrm>
            <a:off x="2140748" y="3151401"/>
            <a:ext cx="2874946" cy="747197"/>
          </a:xfrm>
          <a:custGeom>
            <a:avLst/>
            <a:gdLst>
              <a:gd name="connsiteX0" fmla="*/ 1260629 w 1260629"/>
              <a:gd name="connsiteY0" fmla="*/ 0 h 914400"/>
              <a:gd name="connsiteX1" fmla="*/ 1260629 w 1260629"/>
              <a:gd name="connsiteY1" fmla="*/ 479394 h 914400"/>
              <a:gd name="connsiteX2" fmla="*/ 0 w 1260629"/>
              <a:gd name="connsiteY2" fmla="*/ 479394 h 914400"/>
              <a:gd name="connsiteX3" fmla="*/ 0 w 1260629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0629" h="914400">
                <a:moveTo>
                  <a:pt x="1260629" y="0"/>
                </a:moveTo>
                <a:lnTo>
                  <a:pt x="1260629" y="479394"/>
                </a:lnTo>
                <a:lnTo>
                  <a:pt x="0" y="479394"/>
                </a:lnTo>
                <a:lnTo>
                  <a:pt x="0" y="914400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任意多边形 13"/>
          <p:cNvSpPr/>
          <p:nvPr/>
        </p:nvSpPr>
        <p:spPr bwMode="gray">
          <a:xfrm flipH="1">
            <a:off x="5357967" y="3151401"/>
            <a:ext cx="2538081" cy="757381"/>
          </a:xfrm>
          <a:custGeom>
            <a:avLst/>
            <a:gdLst>
              <a:gd name="connsiteX0" fmla="*/ 1260629 w 1260629"/>
              <a:gd name="connsiteY0" fmla="*/ 0 h 914400"/>
              <a:gd name="connsiteX1" fmla="*/ 1260629 w 1260629"/>
              <a:gd name="connsiteY1" fmla="*/ 479394 h 914400"/>
              <a:gd name="connsiteX2" fmla="*/ 0 w 1260629"/>
              <a:gd name="connsiteY2" fmla="*/ 479394 h 914400"/>
              <a:gd name="connsiteX3" fmla="*/ 0 w 1260629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0629" h="914400">
                <a:moveTo>
                  <a:pt x="1260629" y="0"/>
                </a:moveTo>
                <a:lnTo>
                  <a:pt x="1260629" y="479394"/>
                </a:lnTo>
                <a:lnTo>
                  <a:pt x="0" y="479394"/>
                </a:lnTo>
                <a:lnTo>
                  <a:pt x="0" y="914400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任意多边形 14"/>
          <p:cNvSpPr/>
          <p:nvPr/>
        </p:nvSpPr>
        <p:spPr bwMode="gray">
          <a:xfrm>
            <a:off x="2140748" y="4313019"/>
            <a:ext cx="5755301" cy="608102"/>
          </a:xfrm>
          <a:custGeom>
            <a:avLst/>
            <a:gdLst>
              <a:gd name="connsiteX0" fmla="*/ 2991774 w 2991774"/>
              <a:gd name="connsiteY0" fmla="*/ 17755 h 435006"/>
              <a:gd name="connsiteX1" fmla="*/ 2991774 w 2991774"/>
              <a:gd name="connsiteY1" fmla="*/ 435006 h 435006"/>
              <a:gd name="connsiteX2" fmla="*/ 0 w 2991774"/>
              <a:gd name="connsiteY2" fmla="*/ 435006 h 435006"/>
              <a:gd name="connsiteX3" fmla="*/ 0 w 2991774"/>
              <a:gd name="connsiteY3" fmla="*/ 337351 h 435006"/>
              <a:gd name="connsiteX4" fmla="*/ 0 w 2991774"/>
              <a:gd name="connsiteY4" fmla="*/ 0 h 43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91774" h="435006">
                <a:moveTo>
                  <a:pt x="2991774" y="17755"/>
                </a:moveTo>
                <a:lnTo>
                  <a:pt x="2991774" y="435006"/>
                </a:lnTo>
                <a:lnTo>
                  <a:pt x="0" y="435006"/>
                </a:lnTo>
                <a:lnTo>
                  <a:pt x="0" y="337351"/>
                </a:lnTo>
                <a:lnTo>
                  <a:pt x="0" y="0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任意多边形 15"/>
          <p:cNvSpPr/>
          <p:nvPr/>
        </p:nvSpPr>
        <p:spPr bwMode="gray">
          <a:xfrm>
            <a:off x="1611365" y="4032434"/>
            <a:ext cx="2934096" cy="1414635"/>
          </a:xfrm>
          <a:custGeom>
            <a:avLst/>
            <a:gdLst>
              <a:gd name="connsiteX0" fmla="*/ 0 w 1411550"/>
              <a:gd name="connsiteY0" fmla="*/ 0 h 1074198"/>
              <a:gd name="connsiteX1" fmla="*/ 0 w 1411550"/>
              <a:gd name="connsiteY1" fmla="*/ 1074198 h 1074198"/>
              <a:gd name="connsiteX2" fmla="*/ 1411550 w 1411550"/>
              <a:gd name="connsiteY2" fmla="*/ 1074198 h 1074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1550" h="1074198">
                <a:moveTo>
                  <a:pt x="0" y="0"/>
                </a:moveTo>
                <a:lnTo>
                  <a:pt x="0" y="1074198"/>
                </a:lnTo>
                <a:lnTo>
                  <a:pt x="1411550" y="1074198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任意多边形 16"/>
          <p:cNvSpPr/>
          <p:nvPr/>
        </p:nvSpPr>
        <p:spPr bwMode="gray">
          <a:xfrm flipV="1">
            <a:off x="1611365" y="1824466"/>
            <a:ext cx="2934095" cy="2118527"/>
          </a:xfrm>
          <a:custGeom>
            <a:avLst/>
            <a:gdLst>
              <a:gd name="connsiteX0" fmla="*/ 0 w 1411550"/>
              <a:gd name="connsiteY0" fmla="*/ 0 h 1074198"/>
              <a:gd name="connsiteX1" fmla="*/ 0 w 1411550"/>
              <a:gd name="connsiteY1" fmla="*/ 1074198 h 1074198"/>
              <a:gd name="connsiteX2" fmla="*/ 1411550 w 1411550"/>
              <a:gd name="connsiteY2" fmla="*/ 1074198 h 1074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1550" h="1074198">
                <a:moveTo>
                  <a:pt x="0" y="0"/>
                </a:moveTo>
                <a:lnTo>
                  <a:pt x="0" y="1074198"/>
                </a:lnTo>
                <a:lnTo>
                  <a:pt x="1411550" y="1074198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任意多边形 18"/>
          <p:cNvSpPr/>
          <p:nvPr/>
        </p:nvSpPr>
        <p:spPr bwMode="gray">
          <a:xfrm>
            <a:off x="5654501" y="1824471"/>
            <a:ext cx="5216978" cy="3622598"/>
          </a:xfrm>
          <a:custGeom>
            <a:avLst/>
            <a:gdLst>
              <a:gd name="connsiteX0" fmla="*/ 0 w 1953088"/>
              <a:gd name="connsiteY0" fmla="*/ 3630967 h 3630967"/>
              <a:gd name="connsiteX1" fmla="*/ 1953088 w 1953088"/>
              <a:gd name="connsiteY1" fmla="*/ 3630967 h 3630967"/>
              <a:gd name="connsiteX2" fmla="*/ 1953088 w 1953088"/>
              <a:gd name="connsiteY2" fmla="*/ 3515557 h 3630967"/>
              <a:gd name="connsiteX3" fmla="*/ 1953088 w 1953088"/>
              <a:gd name="connsiteY3" fmla="*/ 0 h 3630967"/>
              <a:gd name="connsiteX4" fmla="*/ 8878 w 1953088"/>
              <a:gd name="connsiteY4" fmla="*/ 0 h 3630967"/>
              <a:gd name="connsiteX0" fmla="*/ 0 w 1953088"/>
              <a:gd name="connsiteY0" fmla="*/ 3630967 h 3630967"/>
              <a:gd name="connsiteX1" fmla="*/ 1953088 w 1953088"/>
              <a:gd name="connsiteY1" fmla="*/ 3630967 h 3630967"/>
              <a:gd name="connsiteX2" fmla="*/ 1953088 w 1953088"/>
              <a:gd name="connsiteY2" fmla="*/ 3515557 h 3630967"/>
              <a:gd name="connsiteX3" fmla="*/ 1953088 w 1953088"/>
              <a:gd name="connsiteY3" fmla="*/ 0 h 3630967"/>
              <a:gd name="connsiteX4" fmla="*/ 132740 w 1953088"/>
              <a:gd name="connsiteY4" fmla="*/ 6365 h 3630967"/>
              <a:gd name="connsiteX0" fmla="*/ 0 w 1953088"/>
              <a:gd name="connsiteY0" fmla="*/ 3630967 h 3630967"/>
              <a:gd name="connsiteX1" fmla="*/ 1953088 w 1953088"/>
              <a:gd name="connsiteY1" fmla="*/ 3630967 h 3630967"/>
              <a:gd name="connsiteX2" fmla="*/ 1953088 w 1953088"/>
              <a:gd name="connsiteY2" fmla="*/ 3515557 h 3630967"/>
              <a:gd name="connsiteX3" fmla="*/ 1953088 w 1953088"/>
              <a:gd name="connsiteY3" fmla="*/ 0 h 3630967"/>
              <a:gd name="connsiteX4" fmla="*/ 165527 w 1953088"/>
              <a:gd name="connsiteY4" fmla="*/ 6365 h 3630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3088" h="3630967">
                <a:moveTo>
                  <a:pt x="0" y="3630967"/>
                </a:moveTo>
                <a:lnTo>
                  <a:pt x="1953088" y="3630967"/>
                </a:lnTo>
                <a:lnTo>
                  <a:pt x="1953088" y="3515557"/>
                </a:lnTo>
                <a:lnTo>
                  <a:pt x="1953088" y="0"/>
                </a:lnTo>
                <a:lnTo>
                  <a:pt x="165527" y="6365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圆角矩形 22"/>
          <p:cNvSpPr/>
          <p:nvPr/>
        </p:nvSpPr>
        <p:spPr bwMode="gray">
          <a:xfrm>
            <a:off x="7243002" y="3856698"/>
            <a:ext cx="1306945" cy="410476"/>
          </a:xfrm>
          <a:prstGeom prst="roundRect">
            <a:avLst>
              <a:gd name="adj" fmla="val 7486"/>
            </a:avLst>
          </a:prstGeom>
          <a:solidFill>
            <a:srgbClr val="BEE9EE"/>
          </a:solidFill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OpenSent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圆角矩形 23"/>
          <p:cNvSpPr/>
          <p:nvPr/>
        </p:nvSpPr>
        <p:spPr bwMode="gray">
          <a:xfrm>
            <a:off x="1291493" y="3898598"/>
            <a:ext cx="1306945" cy="410476"/>
          </a:xfrm>
          <a:prstGeom prst="roundRect">
            <a:avLst>
              <a:gd name="adj" fmla="val 7486"/>
            </a:avLst>
          </a:prstGeom>
          <a:solidFill>
            <a:srgbClr val="BEE9EE"/>
          </a:solidFill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OpenRec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3834785" y="2366736"/>
            <a:ext cx="1215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连接建立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5379685" y="2209963"/>
            <a:ext cx="1793406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30000"/>
              </a:lnSpc>
              <a:defRPr sz="140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algn="l"/>
            <a:r>
              <a:rPr lang="zh-CN" altLang="en-US" dirty="0">
                <a:sym typeface="Huawei Sans" panose="020C0503030203020204" pitchFamily="34" charset="0"/>
              </a:rPr>
              <a:t>收到</a:t>
            </a:r>
            <a:r>
              <a:rPr lang="en-US" altLang="zh-CN" dirty="0" err="1">
                <a:sym typeface="Huawei Sans" panose="020C0503030203020204" pitchFamily="34" charset="0"/>
              </a:rPr>
              <a:t>Init</a:t>
            </a:r>
            <a:r>
              <a:rPr lang="zh-CN" altLang="en-US" dirty="0">
                <a:sym typeface="Huawei Sans" panose="020C0503030203020204" pitchFamily="34" charset="0"/>
              </a:rPr>
              <a:t>报文之外的其他</a:t>
            </a:r>
            <a:r>
              <a:rPr lang="en-US" altLang="zh-CN" dirty="0">
                <a:sym typeface="Huawei Sans" panose="020C0503030203020204" pitchFamily="34" charset="0"/>
              </a:rPr>
              <a:t>LDP</a:t>
            </a:r>
            <a:r>
              <a:rPr lang="zh-CN" altLang="en-US" dirty="0">
                <a:sym typeface="Huawei Sans" panose="020C0503030203020204" pitchFamily="34" charset="0"/>
              </a:rPr>
              <a:t>报文或超时</a:t>
            </a:r>
          </a:p>
        </p:txBody>
      </p:sp>
      <p:sp>
        <p:nvSpPr>
          <p:cNvPr id="30" name="文本框 29"/>
          <p:cNvSpPr txBox="1"/>
          <p:nvPr/>
        </p:nvSpPr>
        <p:spPr bwMode="gray">
          <a:xfrm>
            <a:off x="2063325" y="2902624"/>
            <a:ext cx="2517733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30000"/>
              </a:lnSpc>
              <a:defRPr sz="140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>
                <a:sym typeface="Huawei Sans" panose="020C0503030203020204" pitchFamily="34" charset="0"/>
              </a:rPr>
              <a:t>被动方收到可接受的</a:t>
            </a:r>
            <a:r>
              <a:rPr lang="en-US" altLang="zh-CN" dirty="0" err="1">
                <a:sym typeface="Huawei Sans" panose="020C0503030203020204" pitchFamily="34" charset="0"/>
              </a:rPr>
              <a:t>Init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动作：发送</a:t>
            </a:r>
            <a:r>
              <a:rPr lang="en-US" altLang="zh-CN" dirty="0" err="1">
                <a:sym typeface="Huawei Sans" panose="020C0503030203020204" pitchFamily="34" charset="0"/>
              </a:rPr>
              <a:t>Init</a:t>
            </a:r>
            <a:r>
              <a:rPr lang="zh-CN" altLang="en-US" dirty="0" smtClean="0">
                <a:sym typeface="Huawei Sans" panose="020C0503030203020204" pitchFamily="34" charset="0"/>
              </a:rPr>
              <a:t>和</a:t>
            </a:r>
            <a:r>
              <a:rPr lang="en-US" altLang="zh-CN" dirty="0" err="1" smtClean="0">
                <a:sym typeface="Huawei Sans" panose="020C0503030203020204" pitchFamily="34" charset="0"/>
              </a:rPr>
              <a:t>Keepalive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 bwMode="gray">
          <a:xfrm>
            <a:off x="5823988" y="2980058"/>
            <a:ext cx="1539646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30000"/>
              </a:lnSpc>
              <a:defRPr sz="140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algn="l"/>
            <a:r>
              <a:rPr lang="zh-CN" altLang="en-US" dirty="0">
                <a:sym typeface="Huawei Sans" panose="020C0503030203020204" pitchFamily="34" charset="0"/>
              </a:rPr>
              <a:t>主动方</a:t>
            </a:r>
            <a:endParaRPr lang="en-US" altLang="zh-CN" dirty="0">
              <a:sym typeface="Huawei Sans" panose="020C0503030203020204" pitchFamily="34" charset="0"/>
            </a:endParaRPr>
          </a:p>
          <a:p>
            <a:pPr algn="l"/>
            <a:r>
              <a:rPr lang="zh-CN" altLang="en-US" dirty="0">
                <a:sym typeface="Huawei Sans" panose="020C0503030203020204" pitchFamily="34" charset="0"/>
              </a:rPr>
              <a:t>动作：发送</a:t>
            </a:r>
            <a:r>
              <a:rPr lang="en-US" altLang="zh-CN" dirty="0" err="1">
                <a:sym typeface="Huawei Sans" panose="020C0503030203020204" pitchFamily="34" charset="0"/>
              </a:rPr>
              <a:t>Init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8550739" y="3151400"/>
            <a:ext cx="1834161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收到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Init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报文之外的其他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文或超时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r">
              <a:lnSpc>
                <a:spcPct val="130000"/>
              </a:lnSpc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动作：发送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NAK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3803254" y="4333983"/>
            <a:ext cx="2124157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30000"/>
              </a:lnSpc>
              <a:defRPr sz="140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algn="ctr"/>
            <a:r>
              <a:rPr lang="zh-CN" altLang="en-US" dirty="0">
                <a:sym typeface="Huawei Sans" panose="020C0503030203020204" pitchFamily="34" charset="0"/>
              </a:rPr>
              <a:t>收到可接受的</a:t>
            </a:r>
            <a:r>
              <a:rPr lang="en-US" altLang="zh-CN" dirty="0" err="1">
                <a:sym typeface="Huawei Sans" panose="020C0503030203020204" pitchFamily="34" charset="0"/>
              </a:rPr>
              <a:t>Init</a:t>
            </a:r>
            <a:endParaRPr lang="en-US" altLang="zh-CN" dirty="0">
              <a:sym typeface="Huawei Sans" panose="020C0503030203020204" pitchFamily="34" charset="0"/>
            </a:endParaRPr>
          </a:p>
          <a:p>
            <a:pPr algn="ctr"/>
            <a:r>
              <a:rPr lang="zh-CN" altLang="en-US" dirty="0">
                <a:sym typeface="Huawei Sans" panose="020C0503030203020204" pitchFamily="34" charset="0"/>
              </a:rPr>
              <a:t>动作：</a:t>
            </a:r>
            <a:r>
              <a:rPr lang="zh-CN" altLang="en-US" dirty="0" smtClean="0">
                <a:sym typeface="Huawei Sans" panose="020C0503030203020204" pitchFamily="34" charset="0"/>
              </a:rPr>
              <a:t>发送</a:t>
            </a:r>
            <a:r>
              <a:rPr lang="en-US" altLang="zh-CN" dirty="0" err="1" smtClean="0">
                <a:sym typeface="Huawei Sans" panose="020C0503030203020204" pitchFamily="34" charset="0"/>
              </a:rPr>
              <a:t>Keepalive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2087886" y="4875463"/>
            <a:ext cx="1673605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30000"/>
              </a:lnSpc>
              <a:defRPr sz="140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 smtClean="0">
                <a:sym typeface="Huawei Sans" panose="020C0503030203020204" pitchFamily="34" charset="0"/>
              </a:rPr>
              <a:t>收到</a:t>
            </a:r>
            <a:r>
              <a:rPr lang="en-US" altLang="zh-CN" dirty="0" err="1" smtClean="0">
                <a:sym typeface="Huawei Sans" panose="020C0503030203020204" pitchFamily="34" charset="0"/>
              </a:rPr>
              <a:t>Keepalive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动作：无</a:t>
            </a:r>
          </a:p>
        </p:txBody>
      </p:sp>
      <p:sp>
        <p:nvSpPr>
          <p:cNvPr id="38" name="任意多边形 37"/>
          <p:cNvSpPr/>
          <p:nvPr/>
        </p:nvSpPr>
        <p:spPr bwMode="gray">
          <a:xfrm>
            <a:off x="4689693" y="5657401"/>
            <a:ext cx="1083076" cy="229076"/>
          </a:xfrm>
          <a:custGeom>
            <a:avLst/>
            <a:gdLst>
              <a:gd name="connsiteX0" fmla="*/ 0 w 1083076"/>
              <a:gd name="connsiteY0" fmla="*/ 0 h 497149"/>
              <a:gd name="connsiteX1" fmla="*/ 0 w 1083076"/>
              <a:gd name="connsiteY1" fmla="*/ 497149 h 497149"/>
              <a:gd name="connsiteX2" fmla="*/ 1083076 w 1083076"/>
              <a:gd name="connsiteY2" fmla="*/ 497149 h 497149"/>
              <a:gd name="connsiteX3" fmla="*/ 1083076 w 1083076"/>
              <a:gd name="connsiteY3" fmla="*/ 0 h 497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076" h="497149">
                <a:moveTo>
                  <a:pt x="0" y="0"/>
                </a:moveTo>
                <a:lnTo>
                  <a:pt x="0" y="497149"/>
                </a:lnTo>
                <a:lnTo>
                  <a:pt x="1083076" y="497149"/>
                </a:lnTo>
                <a:lnTo>
                  <a:pt x="1083076" y="0"/>
                </a:lnTo>
              </a:path>
            </a:pathLst>
          </a:cu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圆角矩形 38"/>
          <p:cNvSpPr/>
          <p:nvPr/>
        </p:nvSpPr>
        <p:spPr bwMode="gray">
          <a:xfrm>
            <a:off x="4545460" y="5163192"/>
            <a:ext cx="1479542" cy="460600"/>
          </a:xfrm>
          <a:prstGeom prst="roundRect">
            <a:avLst>
              <a:gd name="adj" fmla="val 7486"/>
            </a:avLst>
          </a:prstGeom>
          <a:solidFill>
            <a:srgbClr val="BEE9EE"/>
          </a:solidFill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Operational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7004894" y="5423629"/>
            <a:ext cx="230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收到</a:t>
            </a:r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shutdown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报文或超时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动作：发送</a:t>
            </a:r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shutdown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1571405" y="1810512"/>
            <a:ext cx="1793146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lnSpc>
                <a:spcPct val="130000"/>
              </a:lnSpc>
              <a:defRPr sz="140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algn="l"/>
            <a:r>
              <a:rPr lang="zh-CN" altLang="en-US" dirty="0">
                <a:sym typeface="Huawei Sans" panose="020C0503030203020204" pitchFamily="34" charset="0"/>
              </a:rPr>
              <a:t>收到的报文</a:t>
            </a:r>
            <a:r>
              <a:rPr lang="zh-CN" altLang="en-US" dirty="0" smtClean="0">
                <a:sym typeface="Huawei Sans" panose="020C0503030203020204" pitchFamily="34" charset="0"/>
              </a:rPr>
              <a:t>不是</a:t>
            </a:r>
            <a:r>
              <a:rPr lang="en-US" altLang="zh-CN" dirty="0" err="1" smtClean="0">
                <a:sym typeface="Huawei Sans" panose="020C0503030203020204" pitchFamily="34" charset="0"/>
              </a:rPr>
              <a:t>Keepalive</a:t>
            </a:r>
            <a:r>
              <a:rPr lang="zh-CN" altLang="en-US" dirty="0" smtClean="0">
                <a:sym typeface="Huawei Sans" panose="020C0503030203020204" pitchFamily="34" charset="0"/>
              </a:rPr>
              <a:t>或</a:t>
            </a:r>
            <a:r>
              <a:rPr lang="zh-CN" altLang="en-US" dirty="0">
                <a:sym typeface="Huawei Sans" panose="020C0503030203020204" pitchFamily="34" charset="0"/>
              </a:rPr>
              <a:t>超时 </a:t>
            </a:r>
            <a:r>
              <a:rPr lang="en-US" altLang="zh-CN" dirty="0">
                <a:sym typeface="Huawei Sans" panose="020C0503030203020204" pitchFamily="34" charset="0"/>
              </a:rPr>
              <a:t> </a:t>
            </a:r>
          </a:p>
          <a:p>
            <a:pPr algn="l"/>
            <a:r>
              <a:rPr lang="zh-CN" altLang="en-US" dirty="0">
                <a:sym typeface="Huawei Sans" panose="020C0503030203020204" pitchFamily="34" charset="0"/>
              </a:rPr>
              <a:t>动作：发送</a:t>
            </a:r>
            <a:r>
              <a:rPr lang="en-US" altLang="zh-CN" dirty="0">
                <a:sym typeface="Huawei Sans" panose="020C0503030203020204" pitchFamily="34" charset="0"/>
              </a:rPr>
              <a:t>NAK</a:t>
            </a:r>
            <a:r>
              <a:rPr lang="zh-CN" altLang="en-US" dirty="0">
                <a:sym typeface="Huawei Sans" panose="020C0503030203020204" pitchFamily="34" charset="0"/>
              </a:rPr>
              <a:t>报文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  <p:sp>
        <p:nvSpPr>
          <p:cNvPr id="4" name="圆角矩形 3"/>
          <p:cNvSpPr/>
          <p:nvPr/>
        </p:nvSpPr>
        <p:spPr bwMode="gray">
          <a:xfrm>
            <a:off x="4545460" y="2902624"/>
            <a:ext cx="1306945" cy="442708"/>
          </a:xfrm>
          <a:prstGeom prst="roundRect">
            <a:avLst>
              <a:gd name="adj" fmla="val 7486"/>
            </a:avLst>
          </a:prstGeom>
          <a:solidFill>
            <a:srgbClr val="BEE9EE"/>
          </a:solidFill>
          <a:ln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Initialized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Oval 4"/>
          <p:cNvSpPr>
            <a:spLocks noChangeAspect="1"/>
          </p:cNvSpPr>
          <p:nvPr/>
        </p:nvSpPr>
        <p:spPr bwMode="gray">
          <a:xfrm>
            <a:off x="5911222" y="1590915"/>
            <a:ext cx="252000" cy="252000"/>
          </a:xfrm>
          <a:prstGeom prst="ellipse">
            <a:avLst/>
          </a:prstGeom>
          <a:solidFill>
            <a:srgbClr val="56C4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Oval 4"/>
          <p:cNvSpPr>
            <a:spLocks noChangeAspect="1"/>
          </p:cNvSpPr>
          <p:nvPr/>
        </p:nvSpPr>
        <p:spPr bwMode="gray">
          <a:xfrm>
            <a:off x="5656078" y="2811040"/>
            <a:ext cx="252000" cy="252000"/>
          </a:xfrm>
          <a:prstGeom prst="ellipse">
            <a:avLst/>
          </a:prstGeom>
          <a:solidFill>
            <a:srgbClr val="56C4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Oval 4"/>
          <p:cNvSpPr>
            <a:spLocks noChangeAspect="1"/>
          </p:cNvSpPr>
          <p:nvPr/>
        </p:nvSpPr>
        <p:spPr bwMode="gray">
          <a:xfrm>
            <a:off x="2422813" y="3815218"/>
            <a:ext cx="252000" cy="252000"/>
          </a:xfrm>
          <a:prstGeom prst="ellipse">
            <a:avLst/>
          </a:prstGeom>
          <a:solidFill>
            <a:srgbClr val="56C4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Oval 4"/>
          <p:cNvSpPr>
            <a:spLocks noChangeAspect="1"/>
          </p:cNvSpPr>
          <p:nvPr/>
        </p:nvSpPr>
        <p:spPr bwMode="gray">
          <a:xfrm>
            <a:off x="8375064" y="3730698"/>
            <a:ext cx="252000" cy="252000"/>
          </a:xfrm>
          <a:prstGeom prst="ellipse">
            <a:avLst/>
          </a:prstGeom>
          <a:solidFill>
            <a:srgbClr val="56C4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Oval 4"/>
          <p:cNvSpPr>
            <a:spLocks noChangeAspect="1"/>
          </p:cNvSpPr>
          <p:nvPr/>
        </p:nvSpPr>
        <p:spPr bwMode="gray">
          <a:xfrm>
            <a:off x="5823988" y="5059661"/>
            <a:ext cx="252000" cy="252000"/>
          </a:xfrm>
          <a:prstGeom prst="ellipse">
            <a:avLst/>
          </a:prstGeom>
          <a:solidFill>
            <a:srgbClr val="56C4D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64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ym typeface="Huawei Sans" panose="020C0503030203020204" pitchFamily="34" charset="0"/>
              </a:rPr>
              <a:t>会话建立：发现阶段与</a:t>
            </a:r>
            <a:r>
              <a:rPr lang="en-US" altLang="zh-CN" dirty="0" smtClean="0">
                <a:sym typeface="Huawei Sans" panose="020C0503030203020204" pitchFamily="34" charset="0"/>
              </a:rPr>
              <a:t>TCP</a:t>
            </a:r>
            <a:r>
              <a:rPr lang="zh-CN" altLang="en-US" dirty="0" smtClean="0">
                <a:sym typeface="Huawei Sans" panose="020C0503030203020204" pitchFamily="34" charset="0"/>
              </a:rPr>
              <a:t>连接建立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1" name="矩形 40"/>
          <p:cNvSpPr/>
          <p:nvPr/>
        </p:nvSpPr>
        <p:spPr bwMode="gray">
          <a:xfrm>
            <a:off x="7258535" y="1157833"/>
            <a:ext cx="4473523" cy="367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srgbClr val="333333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2" name="直接连接符 31"/>
          <p:cNvCxnSpPr/>
          <p:nvPr/>
        </p:nvCxnSpPr>
        <p:spPr bwMode="gray">
          <a:xfrm>
            <a:off x="1595849" y="3097143"/>
            <a:ext cx="2677822" cy="0"/>
          </a:xfrm>
          <a:prstGeom prst="line">
            <a:avLst/>
          </a:prstGeom>
          <a:ln w="25400">
            <a:solidFill>
              <a:srgbClr val="62B23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32"/>
          <p:cNvSpPr/>
          <p:nvPr/>
        </p:nvSpPr>
        <p:spPr bwMode="gray">
          <a:xfrm>
            <a:off x="1620381" y="2567593"/>
            <a:ext cx="26228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Hello</a:t>
            </a:r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10.0.12.1:646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-&gt;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224.0.0.2:646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4" name="直接连接符 2"/>
          <p:cNvCxnSpPr/>
          <p:nvPr/>
        </p:nvCxnSpPr>
        <p:spPr bwMode="gray">
          <a:xfrm>
            <a:off x="1595849" y="2501647"/>
            <a:ext cx="0" cy="353769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"/>
          <p:cNvCxnSpPr/>
          <p:nvPr/>
        </p:nvCxnSpPr>
        <p:spPr bwMode="gray">
          <a:xfrm>
            <a:off x="6301978" y="2501647"/>
            <a:ext cx="0" cy="353769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1"/>
          <p:cNvCxnSpPr/>
          <p:nvPr/>
        </p:nvCxnSpPr>
        <p:spPr bwMode="gray">
          <a:xfrm>
            <a:off x="3628486" y="3656191"/>
            <a:ext cx="2677822" cy="0"/>
          </a:xfrm>
          <a:prstGeom prst="line">
            <a:avLst/>
          </a:prstGeom>
          <a:ln w="25400">
            <a:solidFill>
              <a:srgbClr val="62B23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4"/>
          <p:cNvSpPr/>
          <p:nvPr/>
        </p:nvSpPr>
        <p:spPr bwMode="gray">
          <a:xfrm>
            <a:off x="3683474" y="3132971"/>
            <a:ext cx="26228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Hello</a:t>
            </a:r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224.0.0.2:646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&lt;-10.0.12.2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646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矩形 18"/>
          <p:cNvSpPr/>
          <p:nvPr/>
        </p:nvSpPr>
        <p:spPr bwMode="gray">
          <a:xfrm>
            <a:off x="3717813" y="3736707"/>
            <a:ext cx="25995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 SYN</a:t>
            </a:r>
          </a:p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1.1.1.1:646 &lt;- 2.2.2.2:22139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直接连接符 31"/>
          <p:cNvCxnSpPr/>
          <p:nvPr/>
        </p:nvCxnSpPr>
        <p:spPr bwMode="gray">
          <a:xfrm>
            <a:off x="1595849" y="5040243"/>
            <a:ext cx="2677822" cy="0"/>
          </a:xfrm>
          <a:prstGeom prst="line">
            <a:avLst/>
          </a:prstGeom>
          <a:ln w="25400">
            <a:solidFill>
              <a:srgbClr val="62B23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20"/>
          <p:cNvSpPr/>
          <p:nvPr/>
        </p:nvSpPr>
        <p:spPr bwMode="gray">
          <a:xfrm>
            <a:off x="1595849" y="4528795"/>
            <a:ext cx="24208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 SYN ACK</a:t>
            </a:r>
          </a:p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1.1.1.1:646 -&gt; 2.2.2.2:22139</a:t>
            </a:r>
          </a:p>
        </p:txBody>
      </p:sp>
      <p:cxnSp>
        <p:nvCxnSpPr>
          <p:cNvPr id="45" name="直接连接符 31"/>
          <p:cNvCxnSpPr/>
          <p:nvPr/>
        </p:nvCxnSpPr>
        <p:spPr bwMode="gray">
          <a:xfrm>
            <a:off x="3628486" y="5764143"/>
            <a:ext cx="2677822" cy="0"/>
          </a:xfrm>
          <a:prstGeom prst="line">
            <a:avLst/>
          </a:prstGeom>
          <a:ln w="25400">
            <a:solidFill>
              <a:srgbClr val="62B23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28"/>
          <p:cNvSpPr/>
          <p:nvPr/>
        </p:nvSpPr>
        <p:spPr bwMode="gray">
          <a:xfrm>
            <a:off x="3881122" y="5236175"/>
            <a:ext cx="24208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 ACK</a:t>
            </a:r>
          </a:p>
          <a:p>
            <a:pPr algn="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2.2.2.2:22139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-&gt; 1.1.1.1:646</a:t>
            </a:r>
          </a:p>
        </p:txBody>
      </p:sp>
      <p:sp>
        <p:nvSpPr>
          <p:cNvPr id="25" name="矩形 35"/>
          <p:cNvSpPr/>
          <p:nvPr/>
        </p:nvSpPr>
        <p:spPr bwMode="gray">
          <a:xfrm>
            <a:off x="4557588" y="4562233"/>
            <a:ext cx="1513128" cy="535531"/>
          </a:xfrm>
          <a:prstGeom prst="rect">
            <a:avLst/>
          </a:prstGeom>
          <a:solidFill>
            <a:srgbClr val="BEE9EE"/>
          </a:solidFill>
          <a:ln w="19050">
            <a:solidFill>
              <a:srgbClr val="F4FBFE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由传输地址大的一方发起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连接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7" name="直接连接符 2"/>
          <p:cNvCxnSpPr>
            <a:stCxn id="25" idx="0"/>
          </p:cNvCxnSpPr>
          <p:nvPr/>
        </p:nvCxnSpPr>
        <p:spPr bwMode="gray">
          <a:xfrm flipV="1">
            <a:off x="5314152" y="4287516"/>
            <a:ext cx="183939" cy="274717"/>
          </a:xfrm>
          <a:prstGeom prst="line">
            <a:avLst/>
          </a:prstGeom>
          <a:ln w="25400">
            <a:solidFill>
              <a:srgbClr val="62B23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31"/>
          <p:cNvCxnSpPr/>
          <p:nvPr/>
        </p:nvCxnSpPr>
        <p:spPr bwMode="gray">
          <a:xfrm>
            <a:off x="3628486" y="4265543"/>
            <a:ext cx="2677822" cy="0"/>
          </a:xfrm>
          <a:prstGeom prst="line">
            <a:avLst/>
          </a:prstGeom>
          <a:ln w="25400">
            <a:solidFill>
              <a:srgbClr val="62B23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utoShape 29"/>
          <p:cNvSpPr>
            <a:spLocks noChangeArrowheads="1"/>
          </p:cNvSpPr>
          <p:nvPr/>
        </p:nvSpPr>
        <p:spPr bwMode="gray">
          <a:xfrm>
            <a:off x="506324" y="2873941"/>
            <a:ext cx="799729" cy="662414"/>
          </a:xfrm>
          <a:prstGeom prst="flowChartAlternateProcess">
            <a:avLst/>
          </a:prstGeom>
          <a:solidFill>
            <a:srgbClr val="BEE9EE"/>
          </a:solidFill>
          <a:ln w="1905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ts val="2200"/>
              </a:lnSpc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发现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ts val="2200"/>
              </a:lnSpc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阶段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AutoShape 29"/>
          <p:cNvSpPr>
            <a:spLocks noChangeArrowheads="1"/>
          </p:cNvSpPr>
          <p:nvPr/>
        </p:nvSpPr>
        <p:spPr bwMode="gray">
          <a:xfrm>
            <a:off x="506324" y="4106324"/>
            <a:ext cx="799729" cy="1326018"/>
          </a:xfrm>
          <a:prstGeom prst="flowChartAlternateProcess">
            <a:avLst/>
          </a:prstGeom>
          <a:solidFill>
            <a:srgbClr val="BEE9EE"/>
          </a:solidFill>
          <a:ln w="1905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ts val="22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连接建立阶段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Left Brace 1"/>
          <p:cNvSpPr/>
          <p:nvPr/>
        </p:nvSpPr>
        <p:spPr bwMode="gray">
          <a:xfrm>
            <a:off x="1412007" y="2645057"/>
            <a:ext cx="118582" cy="1011133"/>
          </a:xfrm>
          <a:prstGeom prst="leftBrac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Left Brace 1"/>
          <p:cNvSpPr/>
          <p:nvPr/>
        </p:nvSpPr>
        <p:spPr bwMode="gray">
          <a:xfrm>
            <a:off x="1412007" y="3779272"/>
            <a:ext cx="118582" cy="1980123"/>
          </a:xfrm>
          <a:prstGeom prst="leftBrac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/>
          <p:cNvCxnSpPr/>
          <p:nvPr/>
        </p:nvCxnSpPr>
        <p:spPr bwMode="gray">
          <a:xfrm>
            <a:off x="1809771" y="1808250"/>
            <a:ext cx="439200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 bwMode="gray">
          <a:xfrm>
            <a:off x="1196849" y="2020696"/>
            <a:ext cx="12401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传输地址：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矩形 48"/>
          <p:cNvSpPr/>
          <p:nvPr/>
        </p:nvSpPr>
        <p:spPr bwMode="gray">
          <a:xfrm>
            <a:off x="5687661" y="1998849"/>
            <a:ext cx="9351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传输地址：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矩形 15"/>
          <p:cNvSpPr/>
          <p:nvPr/>
        </p:nvSpPr>
        <p:spPr bwMode="gray">
          <a:xfrm>
            <a:off x="1340837" y="1284064"/>
            <a:ext cx="4203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</a:p>
        </p:txBody>
      </p:sp>
      <p:sp>
        <p:nvSpPr>
          <p:cNvPr id="51" name="矩形 15"/>
          <p:cNvSpPr/>
          <p:nvPr/>
        </p:nvSpPr>
        <p:spPr bwMode="gray">
          <a:xfrm>
            <a:off x="6111964" y="1306327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</a:p>
        </p:txBody>
      </p:sp>
      <p:sp>
        <p:nvSpPr>
          <p:cNvPr id="52" name="矩形 15"/>
          <p:cNvSpPr/>
          <p:nvPr/>
        </p:nvSpPr>
        <p:spPr bwMode="gray">
          <a:xfrm>
            <a:off x="1806144" y="1324204"/>
            <a:ext cx="9156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矩形 16"/>
          <p:cNvSpPr/>
          <p:nvPr/>
        </p:nvSpPr>
        <p:spPr bwMode="gray">
          <a:xfrm>
            <a:off x="5186045" y="1305354"/>
            <a:ext cx="9156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9" name="图片 58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298884" y="1568268"/>
            <a:ext cx="540000" cy="442800"/>
          </a:xfrm>
          <a:prstGeom prst="rect">
            <a:avLst/>
          </a:prstGeom>
        </p:spPr>
      </p:pic>
      <p:pic>
        <p:nvPicPr>
          <p:cNvPr id="60" name="图片 5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58412" y="1578329"/>
            <a:ext cx="540000" cy="4428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 bwMode="gray">
          <a:xfrm>
            <a:off x="6298591" y="3462847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Non-Existent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矩形 4"/>
          <p:cNvSpPr/>
          <p:nvPr/>
        </p:nvSpPr>
        <p:spPr bwMode="gray">
          <a:xfrm>
            <a:off x="6313038" y="5605506"/>
            <a:ext cx="1045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Initialized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圆角矩形 75"/>
          <p:cNvSpPr/>
          <p:nvPr/>
        </p:nvSpPr>
        <p:spPr bwMode="gray">
          <a:xfrm>
            <a:off x="7456854" y="3749407"/>
            <a:ext cx="4228271" cy="39402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</a:t>
            </a:r>
            <a:r>
              <a: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连接建立阶段</a:t>
            </a:r>
          </a:p>
        </p:txBody>
      </p:sp>
      <p:sp>
        <p:nvSpPr>
          <p:cNvPr id="37" name="圆角矩形 75"/>
          <p:cNvSpPr/>
          <p:nvPr/>
        </p:nvSpPr>
        <p:spPr bwMode="gray">
          <a:xfrm>
            <a:off x="7456854" y="4180912"/>
            <a:ext cx="4228271" cy="1955493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Hello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报文中携带传输地址，双方后续将使用传输地址建立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会话。</a:t>
            </a: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传输地址较大的一方作为主动方，主动发起建立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连接。</a:t>
            </a: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经过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三次握手之后，两者建立起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连接。</a:t>
            </a:r>
          </a:p>
        </p:txBody>
      </p:sp>
      <p:sp>
        <p:nvSpPr>
          <p:cNvPr id="38" name="圆角矩形 75"/>
          <p:cNvSpPr/>
          <p:nvPr/>
        </p:nvSpPr>
        <p:spPr bwMode="gray">
          <a:xfrm>
            <a:off x="7456854" y="1109317"/>
            <a:ext cx="4228271" cy="39402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发现阶段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圆角矩形 75"/>
          <p:cNvSpPr/>
          <p:nvPr/>
        </p:nvSpPr>
        <p:spPr bwMode="gray">
          <a:xfrm>
            <a:off x="7456854" y="1540822"/>
            <a:ext cx="4228271" cy="1922025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设备通过周期性地发送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Hello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报文（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Link Hello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），实现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基本发现机制。 </a:t>
            </a: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Hello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报文使用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报文，目的地址是组播地址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224.0.0.2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。如果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在特定接口接收到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Hello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报文，表明该接口存在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邻接体。</a:t>
            </a:r>
          </a:p>
        </p:txBody>
      </p:sp>
    </p:spTree>
    <p:extLst>
      <p:ext uri="{BB962C8B-B14F-4D97-AF65-F5344CB8AC3E}">
        <p14:creationId xmlns:p14="http://schemas.microsoft.com/office/powerpoint/2010/main" val="345418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ym typeface="Huawei Sans" panose="020C0503030203020204" pitchFamily="34" charset="0"/>
              </a:rPr>
              <a:t>会话建立：会话建立与保持</a:t>
            </a:r>
            <a:endParaRPr lang="zh-CN" altLang="en-US" dirty="0"/>
          </a:p>
        </p:txBody>
      </p:sp>
      <p:cxnSp>
        <p:nvCxnSpPr>
          <p:cNvPr id="4" name="直接连接符 2"/>
          <p:cNvCxnSpPr/>
          <p:nvPr/>
        </p:nvCxnSpPr>
        <p:spPr bwMode="gray">
          <a:xfrm>
            <a:off x="1624214" y="2448918"/>
            <a:ext cx="0" cy="353769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2"/>
          <p:cNvCxnSpPr/>
          <p:nvPr/>
        </p:nvCxnSpPr>
        <p:spPr bwMode="gray">
          <a:xfrm>
            <a:off x="6330343" y="2448918"/>
            <a:ext cx="0" cy="353769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 bwMode="gray">
          <a:xfrm>
            <a:off x="1838136" y="1755521"/>
            <a:ext cx="4392000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 bwMode="gray">
          <a:xfrm>
            <a:off x="1225214" y="1967967"/>
            <a:ext cx="12401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传输地址：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1.1.1.1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 bwMode="gray">
          <a:xfrm>
            <a:off x="5716026" y="1946120"/>
            <a:ext cx="9351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传输地址：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矩形 15"/>
          <p:cNvSpPr/>
          <p:nvPr/>
        </p:nvSpPr>
        <p:spPr bwMode="gray">
          <a:xfrm>
            <a:off x="1834509" y="1271475"/>
            <a:ext cx="9156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矩形 16"/>
          <p:cNvSpPr/>
          <p:nvPr/>
        </p:nvSpPr>
        <p:spPr bwMode="gray">
          <a:xfrm>
            <a:off x="5214410" y="1252625"/>
            <a:ext cx="9156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2" name="图片 1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27249" y="1515539"/>
            <a:ext cx="540000" cy="442800"/>
          </a:xfrm>
          <a:prstGeom prst="rect">
            <a:avLst/>
          </a:prstGeom>
        </p:spPr>
      </p:pic>
      <p:pic>
        <p:nvPicPr>
          <p:cNvPr id="13" name="图片 1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086777" y="1525600"/>
            <a:ext cx="540000" cy="442800"/>
          </a:xfrm>
          <a:prstGeom prst="rect">
            <a:avLst/>
          </a:prstGeom>
        </p:spPr>
      </p:pic>
      <p:cxnSp>
        <p:nvCxnSpPr>
          <p:cNvPr id="14" name="直接连接符 31"/>
          <p:cNvCxnSpPr/>
          <p:nvPr/>
        </p:nvCxnSpPr>
        <p:spPr bwMode="gray">
          <a:xfrm>
            <a:off x="1624214" y="2819528"/>
            <a:ext cx="4706129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32"/>
          <p:cNvSpPr/>
          <p:nvPr/>
        </p:nvSpPr>
        <p:spPr bwMode="gray">
          <a:xfrm>
            <a:off x="2518091" y="2486114"/>
            <a:ext cx="29241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完成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发现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过程及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三次握手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6" name="直接连接符 31"/>
          <p:cNvCxnSpPr/>
          <p:nvPr/>
        </p:nvCxnSpPr>
        <p:spPr bwMode="gray">
          <a:xfrm>
            <a:off x="3184091" y="3587704"/>
            <a:ext cx="3146252" cy="0"/>
          </a:xfrm>
          <a:prstGeom prst="line">
            <a:avLst/>
          </a:prstGeom>
          <a:ln w="25400">
            <a:solidFill>
              <a:srgbClr val="62B23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34"/>
          <p:cNvSpPr/>
          <p:nvPr/>
        </p:nvSpPr>
        <p:spPr bwMode="gray">
          <a:xfrm>
            <a:off x="4034136" y="3094360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Initialization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r"/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初始化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协商相关参数</a:t>
            </a:r>
          </a:p>
        </p:txBody>
      </p:sp>
      <p:cxnSp>
        <p:nvCxnSpPr>
          <p:cNvPr id="18" name="直接连接符 31"/>
          <p:cNvCxnSpPr/>
          <p:nvPr/>
        </p:nvCxnSpPr>
        <p:spPr bwMode="gray">
          <a:xfrm>
            <a:off x="1624214" y="4646998"/>
            <a:ext cx="2559249" cy="0"/>
          </a:xfrm>
          <a:prstGeom prst="line">
            <a:avLst/>
          </a:prstGeom>
          <a:ln w="25400">
            <a:solidFill>
              <a:srgbClr val="62B23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20"/>
          <p:cNvSpPr/>
          <p:nvPr/>
        </p:nvSpPr>
        <p:spPr bwMode="gray">
          <a:xfrm>
            <a:off x="1597249" y="3931507"/>
            <a:ext cx="394851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Initialization + </a:t>
            </a:r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Keepalive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如果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接受对方的参数，则回应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Keepalive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并发送自己的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Initialization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0" name="直接连接符 31"/>
          <p:cNvCxnSpPr/>
          <p:nvPr/>
        </p:nvCxnSpPr>
        <p:spPr bwMode="gray">
          <a:xfrm>
            <a:off x="3184091" y="5339808"/>
            <a:ext cx="3146252" cy="0"/>
          </a:xfrm>
          <a:prstGeom prst="line">
            <a:avLst/>
          </a:prstGeom>
          <a:ln w="25400">
            <a:solidFill>
              <a:srgbClr val="62B23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8"/>
          <p:cNvSpPr/>
          <p:nvPr/>
        </p:nvSpPr>
        <p:spPr bwMode="gray">
          <a:xfrm>
            <a:off x="2750144" y="4811840"/>
            <a:ext cx="36086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b="1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Keepalive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如果接受这些参数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，则发送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Keepalive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AutoShape 29"/>
          <p:cNvSpPr>
            <a:spLocks noChangeArrowheads="1"/>
          </p:cNvSpPr>
          <p:nvPr/>
        </p:nvSpPr>
        <p:spPr bwMode="gray">
          <a:xfrm>
            <a:off x="483726" y="3656136"/>
            <a:ext cx="799729" cy="1157092"/>
          </a:xfrm>
          <a:prstGeom prst="flowChartAlternateProcess">
            <a:avLst/>
          </a:prstGeom>
          <a:solidFill>
            <a:srgbClr val="BEE9EE"/>
          </a:solidFill>
          <a:ln w="1905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ts val="22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会话建立阶段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Left Brace 1"/>
          <p:cNvSpPr/>
          <p:nvPr/>
        </p:nvSpPr>
        <p:spPr bwMode="gray">
          <a:xfrm>
            <a:off x="1405894" y="3206632"/>
            <a:ext cx="118582" cy="2128428"/>
          </a:xfrm>
          <a:prstGeom prst="leftBrac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15"/>
          <p:cNvSpPr/>
          <p:nvPr/>
        </p:nvSpPr>
        <p:spPr bwMode="gray">
          <a:xfrm>
            <a:off x="1340178" y="1231335"/>
            <a:ext cx="4203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</a:p>
        </p:txBody>
      </p:sp>
      <p:sp>
        <p:nvSpPr>
          <p:cNvPr id="33" name="矩形 15"/>
          <p:cNvSpPr/>
          <p:nvPr/>
        </p:nvSpPr>
        <p:spPr bwMode="gray">
          <a:xfrm>
            <a:off x="6111305" y="1253598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6285672" y="3403038"/>
            <a:ext cx="1037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OpenSent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6286434" y="5143449"/>
            <a:ext cx="955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OpenRec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cxnSp>
        <p:nvCxnSpPr>
          <p:cNvPr id="34" name="直接连接符 31"/>
          <p:cNvCxnSpPr/>
          <p:nvPr/>
        </p:nvCxnSpPr>
        <p:spPr bwMode="gray">
          <a:xfrm>
            <a:off x="1623205" y="5895888"/>
            <a:ext cx="4706129" cy="0"/>
          </a:xfrm>
          <a:prstGeom prst="line">
            <a:avLst/>
          </a:prstGeom>
          <a:ln w="19050">
            <a:solidFill>
              <a:srgbClr val="62B230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2"/>
          <p:cNvSpPr/>
          <p:nvPr/>
        </p:nvSpPr>
        <p:spPr bwMode="gray">
          <a:xfrm>
            <a:off x="2637135" y="5592438"/>
            <a:ext cx="26260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会话进入</a:t>
            </a:r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Operational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状态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圆角矩形 75"/>
          <p:cNvSpPr/>
          <p:nvPr/>
        </p:nvSpPr>
        <p:spPr bwMode="gray">
          <a:xfrm>
            <a:off x="7343263" y="1285468"/>
            <a:ext cx="4351308" cy="4836308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连接建立成功后，主动方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（传输地址大的一方）发送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初始化报文，协商建立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会话的相关参数。</a:t>
            </a: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会话的相关参数包括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协议版本、标签分发方式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400" dirty="0" err="1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Keepalive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保持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定时器的值、最大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PDU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长度和标签空间等。</a:t>
            </a: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被动方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收到初始化报文后，若接受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的相关参数，则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回应</a:t>
            </a:r>
            <a:r>
              <a:rPr lang="en-US" altLang="zh-CN" sz="1400" dirty="0" err="1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Keepalive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作为确认，为了提高发送效率同时发送自己的初始化报文。</a:t>
            </a: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收到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的初始化报文后，若接受相关参数，则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回复</a:t>
            </a:r>
            <a:r>
              <a:rPr lang="en-US" altLang="zh-CN" sz="1400" dirty="0" err="1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Keepalive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给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双方都收到对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端的</a:t>
            </a:r>
            <a:r>
              <a:rPr lang="en-US" altLang="zh-CN" sz="1400" dirty="0" err="1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Keepalive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后，会话建立成功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。后续通过周期性发送的</a:t>
            </a:r>
            <a:r>
              <a:rPr lang="en-US" altLang="zh-CN" sz="1400" dirty="0" err="1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Keepalive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报文保持会话。</a:t>
            </a:r>
            <a:endParaRPr lang="zh-CN" alt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65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邻居状态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4294967295"/>
          </p:nvPr>
        </p:nvSpPr>
        <p:spPr bwMode="gray">
          <a:xfrm>
            <a:off x="6545262" y="3080246"/>
            <a:ext cx="5203825" cy="3120530"/>
          </a:xfrm>
        </p:spPr>
        <p:txBody>
          <a:bodyPr/>
          <a:lstStyle/>
          <a:p>
            <a:r>
              <a:rPr lang="en-US" altLang="zh-CN" sz="1600" dirty="0" err="1" smtClean="0">
                <a:sym typeface="Huawei Sans" panose="020C0503030203020204" pitchFamily="34" charset="0"/>
              </a:rPr>
              <a:t>PeerID</a:t>
            </a:r>
            <a:r>
              <a:rPr lang="zh-CN" altLang="en-US" sz="1600" dirty="0" smtClean="0">
                <a:sym typeface="Huawei Sans" panose="020C0503030203020204" pitchFamily="34" charset="0"/>
              </a:rPr>
              <a:t>：</a:t>
            </a:r>
            <a:r>
              <a:rPr lang="en-US" altLang="zh-CN" sz="1600" dirty="0" smtClean="0">
                <a:sym typeface="Huawei Sans" panose="020C0503030203020204" pitchFamily="34" charset="0"/>
              </a:rPr>
              <a:t>LDP</a:t>
            </a:r>
            <a:r>
              <a:rPr lang="zh-CN" altLang="en-US" sz="1600" dirty="0" smtClean="0">
                <a:sym typeface="Huawei Sans" panose="020C0503030203020204" pitchFamily="34" charset="0"/>
              </a:rPr>
              <a:t>邻居的</a:t>
            </a:r>
            <a:r>
              <a:rPr lang="en-US" altLang="zh-CN" sz="1600" dirty="0" smtClean="0">
                <a:sym typeface="Huawei Sans" panose="020C0503030203020204" pitchFamily="34" charset="0"/>
              </a:rPr>
              <a:t>LDP ID</a:t>
            </a:r>
            <a:r>
              <a:rPr lang="zh-CN" altLang="en-US" sz="1600" dirty="0" smtClean="0">
                <a:sym typeface="Huawei Sans" panose="020C0503030203020204" pitchFamily="34" charset="0"/>
              </a:rPr>
              <a:t>；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 smtClean="0">
                <a:sym typeface="Huawei Sans" panose="020C0503030203020204" pitchFamily="34" charset="0"/>
              </a:rPr>
              <a:t>2.2.2.2</a:t>
            </a:r>
            <a:r>
              <a:rPr lang="zh-CN" altLang="en-US" sz="1400" dirty="0" smtClean="0">
                <a:sym typeface="Huawei Sans" panose="020C0503030203020204" pitchFamily="34" charset="0"/>
              </a:rPr>
              <a:t>代表的是邻居节点的</a:t>
            </a:r>
            <a:r>
              <a:rPr lang="en-US" altLang="zh-CN" sz="1400" dirty="0" smtClean="0">
                <a:sym typeface="Huawei Sans" panose="020C0503030203020204" pitchFamily="34" charset="0"/>
              </a:rPr>
              <a:t>LSR ID</a:t>
            </a:r>
            <a:r>
              <a:rPr lang="zh-CN" altLang="en-US" sz="1400" dirty="0" smtClean="0">
                <a:sym typeface="Huawei Sans" panose="020C0503030203020204" pitchFamily="34" charset="0"/>
              </a:rPr>
              <a:t>；</a:t>
            </a:r>
            <a:endParaRPr lang="en-US" altLang="zh-CN" sz="14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 smtClean="0">
                <a:sym typeface="Huawei Sans" panose="020C0503030203020204" pitchFamily="34" charset="0"/>
              </a:rPr>
              <a:t>0</a:t>
            </a:r>
            <a:r>
              <a:rPr lang="zh-CN" altLang="en-US" sz="1400" dirty="0" smtClean="0">
                <a:sym typeface="Huawei Sans" panose="020C0503030203020204" pitchFamily="34" charset="0"/>
              </a:rPr>
              <a:t>代表的是标签空间是基于平台的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sym typeface="Huawei Sans" panose="020C0503030203020204" pitchFamily="34" charset="0"/>
            </a:endParaRPr>
          </a:p>
          <a:p>
            <a:r>
              <a:rPr lang="en-US" altLang="zh-CN" sz="1600" dirty="0" err="1" smtClean="0">
                <a:sym typeface="Huawei Sans" panose="020C0503030203020204" pitchFamily="34" charset="0"/>
              </a:rPr>
              <a:t>TransportAddress</a:t>
            </a:r>
            <a:r>
              <a:rPr lang="zh-CN" altLang="en-US" sz="1600" dirty="0" smtClean="0">
                <a:sym typeface="Huawei Sans" panose="020C0503030203020204" pitchFamily="34" charset="0"/>
              </a:rPr>
              <a:t>：</a:t>
            </a:r>
            <a:r>
              <a:rPr lang="en-US" altLang="zh-CN" sz="1600" dirty="0" smtClean="0">
                <a:sym typeface="Huawei Sans" panose="020C0503030203020204" pitchFamily="34" charset="0"/>
              </a:rPr>
              <a:t>LDP</a:t>
            </a:r>
            <a:r>
              <a:rPr lang="zh-CN" altLang="en-US" sz="1600" dirty="0" smtClean="0">
                <a:sym typeface="Huawei Sans" panose="020C0503030203020204" pitchFamily="34" charset="0"/>
              </a:rPr>
              <a:t>邻居的传输地址；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 smtClean="0">
                <a:sym typeface="Huawei Sans" panose="020C0503030203020204" pitchFamily="34" charset="0"/>
              </a:rPr>
              <a:t>2.2.2.2</a:t>
            </a:r>
            <a:r>
              <a:rPr lang="zh-CN" altLang="en-US" sz="1400" dirty="0" smtClean="0">
                <a:sym typeface="Huawei Sans" panose="020C0503030203020204" pitchFamily="34" charset="0"/>
              </a:rPr>
              <a:t>代表邻居用来建立</a:t>
            </a:r>
            <a:r>
              <a:rPr lang="en-US" altLang="zh-CN" sz="1400" dirty="0" smtClean="0">
                <a:sym typeface="Huawei Sans" panose="020C0503030203020204" pitchFamily="34" charset="0"/>
              </a:rPr>
              <a:t>TCP</a:t>
            </a:r>
            <a:r>
              <a:rPr lang="zh-CN" altLang="en-US" sz="1400" dirty="0" smtClean="0">
                <a:sym typeface="Huawei Sans" panose="020C0503030203020204" pitchFamily="34" charset="0"/>
              </a:rPr>
              <a:t>连接的</a:t>
            </a:r>
            <a:r>
              <a:rPr lang="en-US" altLang="zh-CN" sz="1400" dirty="0" smtClean="0">
                <a:sym typeface="Huawei Sans" panose="020C0503030203020204" pitchFamily="34" charset="0"/>
              </a:rPr>
              <a:t>IP</a:t>
            </a:r>
            <a:r>
              <a:rPr lang="zh-CN" altLang="en-US" sz="1400" dirty="0" smtClean="0">
                <a:sym typeface="Huawei Sans" panose="020C0503030203020204" pitchFamily="34" charset="0"/>
              </a:rPr>
              <a:t>地址。</a:t>
            </a:r>
            <a:endParaRPr lang="zh-CN" altLang="en-US" sz="1400" dirty="0">
              <a:sym typeface="Huawei Sans" panose="020C0503030203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 bwMode="gray">
          <a:xfrm>
            <a:off x="2607199" y="1384561"/>
            <a:ext cx="7083623" cy="1371631"/>
            <a:chOff x="2565116" y="4907664"/>
            <a:chExt cx="7083623" cy="1371631"/>
          </a:xfrm>
        </p:grpSpPr>
        <p:grpSp>
          <p:nvGrpSpPr>
            <p:cNvPr id="4" name="组合 3"/>
            <p:cNvGrpSpPr/>
            <p:nvPr/>
          </p:nvGrpSpPr>
          <p:grpSpPr bwMode="gray">
            <a:xfrm>
              <a:off x="3153260" y="5708856"/>
              <a:ext cx="5987532" cy="570439"/>
              <a:chOff x="2406374" y="2644324"/>
              <a:chExt cx="5987532" cy="570439"/>
            </a:xfrm>
          </p:grpSpPr>
          <p:cxnSp>
            <p:nvCxnSpPr>
              <p:cNvPr id="5" name="直接连接符 4"/>
              <p:cNvCxnSpPr/>
              <p:nvPr/>
            </p:nvCxnSpPr>
            <p:spPr bwMode="gray">
              <a:xfrm>
                <a:off x="2927648" y="2644324"/>
                <a:ext cx="489654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矩形 5"/>
              <p:cNvSpPr/>
              <p:nvPr/>
            </p:nvSpPr>
            <p:spPr bwMode="gray">
              <a:xfrm>
                <a:off x="2406374" y="2906986"/>
                <a:ext cx="41389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400" b="1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 bwMode="gray">
              <a:xfrm>
                <a:off x="7980010" y="2906465"/>
                <a:ext cx="41389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400" b="1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8" name="矩形 7"/>
            <p:cNvSpPr/>
            <p:nvPr/>
          </p:nvSpPr>
          <p:spPr bwMode="gray">
            <a:xfrm>
              <a:off x="3823911" y="5725678"/>
              <a:ext cx="118654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GE0/0/0</a:t>
              </a:r>
            </a:p>
            <a:p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10.0.12.1/24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" name="矩形 8"/>
            <p:cNvSpPr/>
            <p:nvPr/>
          </p:nvSpPr>
          <p:spPr bwMode="gray">
            <a:xfrm>
              <a:off x="7193418" y="5725678"/>
              <a:ext cx="118654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GE0/0/0</a:t>
              </a:r>
            </a:p>
            <a:p>
              <a:pPr algn="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10.0.12.2/24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" name="矩形 9"/>
            <p:cNvSpPr/>
            <p:nvPr/>
          </p:nvSpPr>
          <p:spPr bwMode="gray">
            <a:xfrm>
              <a:off x="2565116" y="4923496"/>
              <a:ext cx="148790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LSR ID 1.1.1.1</a:t>
              </a:r>
            </a:p>
            <a:p>
              <a:pPr algn="ctr"/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传输地址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1.1.1.1</a:t>
              </a:r>
            </a:p>
          </p:txBody>
        </p:sp>
        <p:sp>
          <p:nvSpPr>
            <p:cNvPr id="11" name="矩形 10"/>
            <p:cNvSpPr/>
            <p:nvPr/>
          </p:nvSpPr>
          <p:spPr bwMode="gray">
            <a:xfrm>
              <a:off x="8160831" y="4907664"/>
              <a:ext cx="148790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LSR ID 2.2.2.2</a:t>
              </a:r>
            </a:p>
            <a:p>
              <a:pPr algn="ctr"/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传输地址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2.2.2.2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12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3045882" y="5439294"/>
              <a:ext cx="628652" cy="531703"/>
            </a:xfrm>
            <a:prstGeom prst="rect">
              <a:avLst/>
            </a:prstGeom>
            <a:noFill/>
          </p:spPr>
        </p:pic>
        <p:pic>
          <p:nvPicPr>
            <p:cNvPr id="13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8590459" y="5439294"/>
              <a:ext cx="628652" cy="531703"/>
            </a:xfrm>
            <a:prstGeom prst="rect">
              <a:avLst/>
            </a:prstGeom>
            <a:noFill/>
          </p:spPr>
        </p:pic>
      </p:grpSp>
      <p:sp>
        <p:nvSpPr>
          <p:cNvPr id="15" name="矩形 14"/>
          <p:cNvSpPr/>
          <p:nvPr/>
        </p:nvSpPr>
        <p:spPr bwMode="gray">
          <a:xfrm>
            <a:off x="634785" y="3110668"/>
            <a:ext cx="5779977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&lt;R1&gt;display </a:t>
            </a:r>
            <a:r>
              <a:rPr lang="en-US" altLang="zh-CN" sz="1400" dirty="0" err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peer </a:t>
            </a:r>
            <a:endParaRPr lang="zh-CN" altLang="en-US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Peer Information in Public network</a:t>
            </a:r>
            <a:endParaRPr lang="zh-CN" altLang="en-US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 '*' before a peer means the peer is being deleted.</a:t>
            </a:r>
            <a:endParaRPr lang="zh-CN" altLang="en-US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</a:t>
            </a:r>
            <a:endParaRPr lang="zh-CN" altLang="en-US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PeerID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 </a:t>
            </a:r>
            <a:r>
              <a:rPr lang="en-US" altLang="zh-CN" sz="1400" dirty="0" err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TransportAddress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</a:t>
            </a:r>
            <a:r>
              <a:rPr lang="en-US" altLang="zh-CN" sz="1400" dirty="0" err="1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DiscoverySource</a:t>
            </a:r>
            <a:endParaRPr lang="zh-CN" altLang="en-US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</a:t>
            </a:r>
            <a:endParaRPr lang="zh-CN" altLang="en-US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b="1" dirty="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2.2.2.2:0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GigabitEthernet0/0/0</a:t>
            </a:r>
            <a:endParaRPr lang="zh-CN" altLang="en-US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</a:t>
            </a:r>
            <a:endParaRPr lang="zh-CN" altLang="en-US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TOTAL: 1 Peer(s) Found.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19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会话状态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0" name="文本占位符 13"/>
          <p:cNvSpPr>
            <a:spLocks noGrp="1"/>
          </p:cNvSpPr>
          <p:nvPr>
            <p:ph type="body" sz="quarter" idx="4294967295"/>
          </p:nvPr>
        </p:nvSpPr>
        <p:spPr bwMode="gray">
          <a:xfrm>
            <a:off x="6439770" y="2992739"/>
            <a:ext cx="5242454" cy="2791452"/>
          </a:xfrm>
        </p:spPr>
        <p:txBody>
          <a:bodyPr/>
          <a:lstStyle/>
          <a:p>
            <a:pPr fontAlgn="base"/>
            <a:r>
              <a:rPr lang="en-US" altLang="zh-CN" sz="1600" dirty="0" smtClean="0">
                <a:sym typeface="Huawei Sans" panose="020C0503030203020204" pitchFamily="34" charset="0"/>
              </a:rPr>
              <a:t>Status</a:t>
            </a:r>
            <a:r>
              <a:rPr lang="zh-CN" altLang="en-US" sz="1600" dirty="0" smtClean="0">
                <a:sym typeface="Huawei Sans" panose="020C0503030203020204" pitchFamily="34" charset="0"/>
              </a:rPr>
              <a:t>：</a:t>
            </a:r>
            <a:r>
              <a:rPr lang="en-US" altLang="zh-CN" sz="1600" dirty="0" smtClean="0">
                <a:sym typeface="Huawei Sans" panose="020C0503030203020204" pitchFamily="34" charset="0"/>
              </a:rPr>
              <a:t>LDP</a:t>
            </a:r>
            <a:r>
              <a:rPr lang="zh-CN" altLang="en-US" sz="1600" dirty="0" smtClean="0">
                <a:sym typeface="Huawei Sans" panose="020C0503030203020204" pitchFamily="34" charset="0"/>
              </a:rPr>
              <a:t>会话的状态；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 fontAlgn="base"/>
            <a:r>
              <a:rPr lang="en-US" altLang="zh-CN" sz="1400" dirty="0" smtClean="0">
                <a:sym typeface="Huawei Sans" panose="020C0503030203020204" pitchFamily="34" charset="0"/>
              </a:rPr>
              <a:t>Operational</a:t>
            </a:r>
            <a:r>
              <a:rPr lang="zh-CN" altLang="en-US" sz="1400" dirty="0" smtClean="0">
                <a:sym typeface="Huawei Sans" panose="020C0503030203020204" pitchFamily="34" charset="0"/>
              </a:rPr>
              <a:t>表示</a:t>
            </a:r>
            <a:r>
              <a:rPr lang="en-US" altLang="zh-CN" sz="1400" dirty="0" smtClean="0">
                <a:sym typeface="Huawei Sans" panose="020C0503030203020204" pitchFamily="34" charset="0"/>
              </a:rPr>
              <a:t>LDP</a:t>
            </a:r>
            <a:r>
              <a:rPr lang="zh-CN" altLang="en-US" sz="1400" dirty="0" smtClean="0">
                <a:sym typeface="Huawei Sans" panose="020C0503030203020204" pitchFamily="34" charset="0"/>
              </a:rPr>
              <a:t>会话建立成功；</a:t>
            </a:r>
            <a:endParaRPr lang="en-US" altLang="zh-CN" sz="1400" dirty="0" smtClean="0">
              <a:sym typeface="Huawei Sans" panose="020C0503030203020204" pitchFamily="34" charset="0"/>
            </a:endParaRPr>
          </a:p>
          <a:p>
            <a:pPr fontAlgn="base"/>
            <a:r>
              <a:rPr lang="en-US" altLang="zh-CN" sz="1600" dirty="0" smtClean="0">
                <a:sym typeface="Huawei Sans" panose="020C0503030203020204" pitchFamily="34" charset="0"/>
              </a:rPr>
              <a:t>LAM</a:t>
            </a:r>
            <a:r>
              <a:rPr lang="zh-CN" altLang="en-US" sz="1600" dirty="0" smtClean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Label Advertisement </a:t>
            </a:r>
            <a:r>
              <a:rPr lang="en-US" altLang="zh-CN" sz="1600" dirty="0" smtClean="0">
                <a:sym typeface="Huawei Sans" panose="020C0503030203020204" pitchFamily="34" charset="0"/>
              </a:rPr>
              <a:t>Mode</a:t>
            </a:r>
            <a:r>
              <a:rPr lang="zh-CN" altLang="en-US" sz="1600" dirty="0" smtClean="0">
                <a:sym typeface="Huawei Sans" panose="020C0503030203020204" pitchFamily="34" charset="0"/>
              </a:rPr>
              <a:t>，</a:t>
            </a:r>
            <a:r>
              <a:rPr lang="zh-CN" altLang="en-US" sz="1600" dirty="0">
                <a:sym typeface="Huawei Sans" panose="020C0503030203020204" pitchFamily="34" charset="0"/>
              </a:rPr>
              <a:t>标签发布模式）</a:t>
            </a:r>
            <a:r>
              <a:rPr lang="zh-CN" altLang="en-US" sz="1600" dirty="0" smtClean="0">
                <a:sym typeface="Huawei Sans" panose="020C0503030203020204" pitchFamily="34" charset="0"/>
              </a:rPr>
              <a:t>：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 fontAlgn="base"/>
            <a:r>
              <a:rPr lang="zh-CN" altLang="en-US" sz="1400" dirty="0" smtClean="0">
                <a:sym typeface="Huawei Sans" panose="020C0503030203020204" pitchFamily="34" charset="0"/>
              </a:rPr>
              <a:t>标签发布模式有</a:t>
            </a:r>
            <a:r>
              <a:rPr lang="en-US" altLang="zh-CN" sz="1400" dirty="0" smtClean="0">
                <a:sym typeface="Huawei Sans" panose="020C0503030203020204" pitchFamily="34" charset="0"/>
              </a:rPr>
              <a:t>DU</a:t>
            </a:r>
            <a:r>
              <a:rPr lang="zh-CN" altLang="en-US" sz="1400" dirty="0" smtClean="0">
                <a:sym typeface="Huawei Sans" panose="020C0503030203020204" pitchFamily="34" charset="0"/>
              </a:rPr>
              <a:t>和</a:t>
            </a:r>
            <a:r>
              <a:rPr lang="en-US" altLang="zh-CN" sz="1400" dirty="0" smtClean="0">
                <a:sym typeface="Huawei Sans" panose="020C0503030203020204" pitchFamily="34" charset="0"/>
              </a:rPr>
              <a:t>DoD</a:t>
            </a:r>
            <a:r>
              <a:rPr lang="zh-CN" altLang="en-US" sz="1400" dirty="0" smtClean="0">
                <a:sym typeface="Huawei Sans" panose="020C0503030203020204" pitchFamily="34" charset="0"/>
              </a:rPr>
              <a:t>两种模式（后文介绍）；</a:t>
            </a:r>
            <a:endParaRPr lang="en-US" altLang="zh-CN" sz="1400" dirty="0" smtClean="0">
              <a:sym typeface="Huawei Sans" panose="020C0503030203020204" pitchFamily="34" charset="0"/>
            </a:endParaRPr>
          </a:p>
          <a:p>
            <a:pPr lvl="2" fontAlgn="base"/>
            <a:r>
              <a:rPr lang="zh-CN" altLang="en-US" sz="1200" dirty="0" smtClean="0">
                <a:sym typeface="Huawei Sans" panose="020C0503030203020204" pitchFamily="34" charset="0"/>
              </a:rPr>
              <a:t>此例中采用的是</a:t>
            </a:r>
            <a:r>
              <a:rPr lang="en-US" altLang="zh-CN" sz="1200" dirty="0" smtClean="0">
                <a:sym typeface="Huawei Sans" panose="020C0503030203020204" pitchFamily="34" charset="0"/>
              </a:rPr>
              <a:t>DU</a:t>
            </a:r>
            <a:r>
              <a:rPr lang="zh-CN" altLang="en-US" sz="1200" dirty="0" smtClean="0">
                <a:sym typeface="Huawei Sans" panose="020C0503030203020204" pitchFamily="34" charset="0"/>
              </a:rPr>
              <a:t>（下游自主）模式。</a:t>
            </a:r>
            <a:endParaRPr lang="en-US" altLang="zh-CN" sz="1200" dirty="0" smtClean="0">
              <a:sym typeface="Huawei Sans" panose="020C0503030203020204" pitchFamily="34" charset="0"/>
            </a:endParaRPr>
          </a:p>
          <a:p>
            <a:pPr lvl="1" fontAlgn="base"/>
            <a:r>
              <a:rPr lang="en-US" altLang="zh-CN" sz="1400" dirty="0" err="1" smtClean="0">
                <a:sym typeface="Huawei Sans" panose="020C0503030203020204" pitchFamily="34" charset="0"/>
              </a:rPr>
              <a:t>SsnRole</a:t>
            </a:r>
            <a:r>
              <a:rPr lang="zh-CN" altLang="en-US" sz="1400" dirty="0" smtClean="0"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sym typeface="Huawei Sans" panose="020C0503030203020204" pitchFamily="34" charset="0"/>
              </a:rPr>
              <a:t>LSR</a:t>
            </a:r>
            <a:r>
              <a:rPr lang="zh-CN" altLang="en-US" sz="1400" dirty="0" smtClean="0">
                <a:sym typeface="Huawei Sans" panose="020C0503030203020204" pitchFamily="34" charset="0"/>
              </a:rPr>
              <a:t>在</a:t>
            </a:r>
            <a:r>
              <a:rPr lang="en-US" altLang="zh-CN" sz="1400" dirty="0" smtClean="0">
                <a:sym typeface="Huawei Sans" panose="020C0503030203020204" pitchFamily="34" charset="0"/>
              </a:rPr>
              <a:t>LDP</a:t>
            </a:r>
            <a:r>
              <a:rPr lang="zh-CN" altLang="en-US" sz="1400" dirty="0" smtClean="0">
                <a:sym typeface="Huawei Sans" panose="020C0503030203020204" pitchFamily="34" charset="0"/>
              </a:rPr>
              <a:t>会话中的角色；</a:t>
            </a:r>
            <a:endParaRPr lang="en-US" altLang="zh-CN" sz="1400" dirty="0" smtClean="0">
              <a:sym typeface="Huawei Sans" panose="020C0503030203020204" pitchFamily="34" charset="0"/>
            </a:endParaRPr>
          </a:p>
          <a:p>
            <a:pPr lvl="2" fontAlgn="base"/>
            <a:r>
              <a:rPr lang="en-US" altLang="zh-CN" sz="1200" dirty="0" smtClean="0">
                <a:sym typeface="Huawei Sans" panose="020C0503030203020204" pitchFamily="34" charset="0"/>
              </a:rPr>
              <a:t>Active</a:t>
            </a:r>
            <a:r>
              <a:rPr lang="zh-CN" altLang="en-US" sz="1200" dirty="0" smtClean="0">
                <a:sym typeface="Huawei Sans" panose="020C0503030203020204" pitchFamily="34" charset="0"/>
              </a:rPr>
              <a:t>表示建立</a:t>
            </a:r>
            <a:r>
              <a:rPr lang="en-US" altLang="zh-CN" sz="1200" dirty="0" smtClean="0">
                <a:sym typeface="Huawei Sans" panose="020C0503030203020204" pitchFamily="34" charset="0"/>
              </a:rPr>
              <a:t>LDP</a:t>
            </a:r>
            <a:r>
              <a:rPr lang="zh-CN" altLang="en-US" sz="1200" dirty="0" smtClean="0">
                <a:sym typeface="Huawei Sans" panose="020C0503030203020204" pitchFamily="34" charset="0"/>
              </a:rPr>
              <a:t>会话的主动方；</a:t>
            </a:r>
            <a:endParaRPr lang="en-US" altLang="zh-CN" sz="1200" dirty="0" smtClean="0">
              <a:sym typeface="Huawei Sans" panose="020C0503030203020204" pitchFamily="34" charset="0"/>
            </a:endParaRPr>
          </a:p>
          <a:p>
            <a:pPr lvl="2" fontAlgn="base"/>
            <a:r>
              <a:rPr lang="en-US" altLang="zh-CN" sz="1200" dirty="0" smtClean="0">
                <a:sym typeface="Huawei Sans" panose="020C0503030203020204" pitchFamily="34" charset="0"/>
              </a:rPr>
              <a:t>Passive</a:t>
            </a:r>
            <a:r>
              <a:rPr lang="zh-CN" altLang="en-US" sz="1200" dirty="0" smtClean="0">
                <a:sym typeface="Huawei Sans" panose="020C0503030203020204" pitchFamily="34" charset="0"/>
              </a:rPr>
              <a:t>表示建立</a:t>
            </a:r>
            <a:r>
              <a:rPr lang="en-US" altLang="zh-CN" sz="1200" dirty="0" smtClean="0">
                <a:sym typeface="Huawei Sans" panose="020C0503030203020204" pitchFamily="34" charset="0"/>
              </a:rPr>
              <a:t>LDP</a:t>
            </a:r>
            <a:r>
              <a:rPr lang="zh-CN" altLang="en-US" sz="1200" dirty="0" smtClean="0">
                <a:sym typeface="Huawei Sans" panose="020C0503030203020204" pitchFamily="34" charset="0"/>
              </a:rPr>
              <a:t>会话的被动方。</a:t>
            </a:r>
            <a:endParaRPr lang="en-US" altLang="zh-CN" sz="1200" dirty="0">
              <a:sym typeface="Huawei Sans" panose="020C0503030203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 bwMode="gray">
          <a:xfrm>
            <a:off x="2920149" y="1371863"/>
            <a:ext cx="6341045" cy="1384329"/>
            <a:chOff x="2878066" y="4894966"/>
            <a:chExt cx="6341045" cy="1384329"/>
          </a:xfrm>
        </p:grpSpPr>
        <p:grpSp>
          <p:nvGrpSpPr>
            <p:cNvPr id="4" name="组合 3"/>
            <p:cNvGrpSpPr/>
            <p:nvPr/>
          </p:nvGrpSpPr>
          <p:grpSpPr bwMode="gray">
            <a:xfrm>
              <a:off x="3153260" y="5708856"/>
              <a:ext cx="5987532" cy="570439"/>
              <a:chOff x="2406374" y="2644324"/>
              <a:chExt cx="5987532" cy="570439"/>
            </a:xfrm>
          </p:grpSpPr>
          <p:cxnSp>
            <p:nvCxnSpPr>
              <p:cNvPr id="5" name="直接连接符 4"/>
              <p:cNvCxnSpPr/>
              <p:nvPr/>
            </p:nvCxnSpPr>
            <p:spPr bwMode="gray">
              <a:xfrm>
                <a:off x="2927648" y="2644324"/>
                <a:ext cx="489654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矩形 5"/>
              <p:cNvSpPr/>
              <p:nvPr/>
            </p:nvSpPr>
            <p:spPr bwMode="gray">
              <a:xfrm>
                <a:off x="2406374" y="2906986"/>
                <a:ext cx="41389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400" b="1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 bwMode="gray">
              <a:xfrm>
                <a:off x="7980010" y="2906465"/>
                <a:ext cx="41389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400" b="1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8" name="矩形 7"/>
            <p:cNvSpPr/>
            <p:nvPr/>
          </p:nvSpPr>
          <p:spPr bwMode="gray">
            <a:xfrm>
              <a:off x="3823911" y="5725678"/>
              <a:ext cx="11785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GE0/0/0</a:t>
              </a:r>
            </a:p>
            <a:p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10.1.12.1/24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" name="矩形 8"/>
            <p:cNvSpPr/>
            <p:nvPr/>
          </p:nvSpPr>
          <p:spPr bwMode="gray">
            <a:xfrm>
              <a:off x="7201433" y="5725678"/>
              <a:ext cx="11785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GE0/0/0</a:t>
              </a:r>
            </a:p>
            <a:p>
              <a:pPr algn="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10.1.12.2/24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" name="矩形 9"/>
            <p:cNvSpPr/>
            <p:nvPr/>
          </p:nvSpPr>
          <p:spPr bwMode="gray">
            <a:xfrm>
              <a:off x="2878066" y="4894966"/>
              <a:ext cx="148790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LSR ID 1.1.1.1</a:t>
              </a:r>
            </a:p>
            <a:p>
              <a:pPr algn="ctr"/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传输地址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1.1.1.1</a:t>
              </a:r>
            </a:p>
          </p:txBody>
        </p:sp>
        <p:sp>
          <p:nvSpPr>
            <p:cNvPr id="11" name="矩形 10"/>
            <p:cNvSpPr/>
            <p:nvPr/>
          </p:nvSpPr>
          <p:spPr bwMode="gray">
            <a:xfrm>
              <a:off x="7672849" y="4894966"/>
              <a:ext cx="148790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LSR ID 2.2.2.2</a:t>
              </a:r>
            </a:p>
            <a:p>
              <a:pPr algn="ctr"/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传输地址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2.2.2.2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12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3045882" y="5439294"/>
              <a:ext cx="628652" cy="531703"/>
            </a:xfrm>
            <a:prstGeom prst="rect">
              <a:avLst/>
            </a:prstGeom>
            <a:noFill/>
          </p:spPr>
        </p:pic>
        <p:pic>
          <p:nvPicPr>
            <p:cNvPr id="13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8590459" y="5439294"/>
              <a:ext cx="628652" cy="531703"/>
            </a:xfrm>
            <a:prstGeom prst="rect">
              <a:avLst/>
            </a:prstGeom>
            <a:noFill/>
          </p:spPr>
        </p:pic>
      </p:grpSp>
      <p:sp>
        <p:nvSpPr>
          <p:cNvPr id="15" name="矩形 14"/>
          <p:cNvSpPr/>
          <p:nvPr/>
        </p:nvSpPr>
        <p:spPr bwMode="gray">
          <a:xfrm>
            <a:off x="455344" y="3111184"/>
            <a:ext cx="5901913" cy="24622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&lt;R1&gt;display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session 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Session(s) in Public Network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fr-FR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Codes: LAM(Label Advertisement Mode), SsnAge Unit(DDDD:HH:MM)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 '*' before a session means the session is being deleted.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PeerID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	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Status	   LAM  	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SsnRole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	</a:t>
            </a:r>
            <a:r>
              <a:rPr lang="en-US" altLang="zh-CN" sz="14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SsnAge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KASent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Rcv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fr-FR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2.2.2.2:0	</a:t>
            </a:r>
            <a:r>
              <a:rPr lang="fr-FR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Operational</a:t>
            </a:r>
            <a:r>
              <a:rPr lang="fr-FR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fr-FR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DU</a:t>
            </a:r>
            <a:r>
              <a:rPr lang="fr-FR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	</a:t>
            </a:r>
            <a:r>
              <a:rPr lang="fr-FR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Passive</a:t>
            </a:r>
            <a:r>
              <a:rPr lang="fr-FR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fr-FR" altLang="zh-CN" sz="1400" dirty="0" smtClean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	</a:t>
            </a:r>
            <a:r>
              <a:rPr lang="fr-FR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0000:00:33  </a:t>
            </a:r>
            <a:r>
              <a:rPr lang="fr-FR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133/133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TOTAL: 1 session(s) Found.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13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基本概念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smtClean="0">
                <a:sym typeface="Huawei Sans" panose="020C0503030203020204" pitchFamily="34" charset="0"/>
              </a:rPr>
              <a:t>LDP</a:t>
            </a:r>
            <a:r>
              <a:rPr lang="zh-CN" altLang="en-US" b="1" dirty="0" smtClean="0">
                <a:sym typeface="Huawei Sans" panose="020C0503030203020204" pitchFamily="34" charset="0"/>
              </a:rPr>
              <a:t>工作原理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会话建立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 smtClean="0"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ym typeface="Huawei Sans" panose="020C0503030203020204" pitchFamily="34" charset="0"/>
              </a:rPr>
              <a:t>标签分发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工作过程详解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基本配置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2940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标签的发布和管理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在</a:t>
            </a:r>
            <a:r>
              <a:rPr lang="en-US" altLang="zh-CN" sz="1800" dirty="0" smtClean="0">
                <a:sym typeface="Huawei Sans" panose="020C0503030203020204" pitchFamily="34" charset="0"/>
              </a:rPr>
              <a:t>MPLS</a:t>
            </a:r>
            <a:r>
              <a:rPr lang="zh-CN" altLang="en-US" sz="1800" dirty="0" smtClean="0">
                <a:sym typeface="Huawei Sans" panose="020C0503030203020204" pitchFamily="34" charset="0"/>
              </a:rPr>
              <a:t>网络中，下游</a:t>
            </a:r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决定标签和</a:t>
            </a:r>
            <a:r>
              <a:rPr lang="en-US" altLang="zh-CN" sz="1800" dirty="0" smtClean="0">
                <a:sym typeface="Huawei Sans" panose="020C0503030203020204" pitchFamily="34" charset="0"/>
              </a:rPr>
              <a:t>FEC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的绑定关系，并将这种绑定关系发布给上游</a:t>
            </a:r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通过发送标签请求和标签映射消息，在</a:t>
            </a:r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对等体之间通告</a:t>
            </a:r>
            <a:r>
              <a:rPr lang="en-US" altLang="zh-CN" sz="1800" dirty="0" smtClean="0">
                <a:sym typeface="Huawei Sans" panose="020C0503030203020204" pitchFamily="34" charset="0"/>
              </a:rPr>
              <a:t>FEC</a:t>
            </a:r>
            <a:r>
              <a:rPr lang="zh-CN" altLang="en-US" sz="1800" dirty="0" smtClean="0">
                <a:sym typeface="Huawei Sans" panose="020C0503030203020204" pitchFamily="34" charset="0"/>
              </a:rPr>
              <a:t>和标签的绑定关系来建立</a:t>
            </a:r>
            <a:r>
              <a:rPr lang="en-US" altLang="zh-CN" sz="1800" dirty="0" smtClean="0">
                <a:sym typeface="Huawei Sans" panose="020C0503030203020204" pitchFamily="34" charset="0"/>
              </a:rPr>
              <a:t>LSP</a:t>
            </a:r>
          </a:p>
          <a:p>
            <a:r>
              <a:rPr lang="zh-CN" altLang="en-US" sz="1800" dirty="0" smtClean="0">
                <a:sym typeface="Huawei Sans" panose="020C0503030203020204" pitchFamily="34" charset="0"/>
              </a:rPr>
              <a:t>标签的发布和管理由标签发布方式、标签分配控制方式和标签保持方式来决定。</a:t>
            </a:r>
            <a:endParaRPr lang="en-US" altLang="zh-CN" sz="1800" dirty="0" smtClean="0">
              <a:sym typeface="Huawei Sans" panose="020C0503030203020204" pitchFamily="34" charset="0"/>
            </a:endParaRPr>
          </a:p>
        </p:txBody>
      </p:sp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373249"/>
              </p:ext>
            </p:extLst>
          </p:nvPr>
        </p:nvGraphicFramePr>
        <p:xfrm>
          <a:off x="675125" y="2638833"/>
          <a:ext cx="10841750" cy="3422462"/>
        </p:xfrm>
        <a:graphic>
          <a:graphicData uri="http://schemas.openxmlformats.org/drawingml/2006/table">
            <a:tbl>
              <a:tblPr/>
              <a:tblGrid>
                <a:gridCol w="16668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117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17630"/>
                <a:gridCol w="5945584"/>
              </a:tblGrid>
              <a:tr h="3068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内容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名称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默认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含义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0591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标签发布方式</a:t>
                      </a:r>
                      <a:endParaRPr lang="en-US" altLang="zh-CN" sz="1400" dirty="0" smtClean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（Label Advertisement Mode）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err="1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下游自主方式（Downstream</a:t>
                      </a:r>
                      <a:r>
                        <a:rPr 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Unsolicited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DU</a:t>
                      </a:r>
                      <a:r>
                        <a:rPr 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是</a:t>
                      </a:r>
                      <a:endParaRPr lang="zh-CN" alt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对于一个特定的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LSR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无需从上游获得标签请求消息即进行标签分配与分发。</a:t>
                      </a:r>
                      <a:endParaRPr lang="zh-CN" alt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0591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下游按需方式（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Downstream on Demand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</a:t>
                      </a:r>
                      <a:r>
                        <a:rPr lang="en-US" altLang="zh-CN" sz="1400" dirty="0" err="1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DoD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否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对于一个特定的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LSR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获得标签请求消息之后才进行标签分配与分发。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0591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标签分配控制方式</a:t>
                      </a:r>
                      <a:endParaRPr lang="en-US" altLang="zh-CN" sz="1400" dirty="0" smtClean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（Label Distribution Control Mode）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独立方式（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Independent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否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本地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LSR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可以自主地分配一个标签绑定到某个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，并通告给上游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LSR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，而无需等待下游的标签。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71970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有序方式（</a:t>
                      </a:r>
                      <a:r>
                        <a:rPr 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Ordered）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是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对于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LSR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上某个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的标签映射，只有当该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LSR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已经具有此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下一跳的标签映射消息、或者该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LSR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就是此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的出节点时，该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LSR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才可以向上游发送此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的标签映射。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91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标签保持方式</a:t>
                      </a:r>
                      <a:endParaRPr lang="en-US" altLang="zh-CN" sz="1400" dirty="0" smtClean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（Label Retention Mode）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自由方式（</a:t>
                      </a:r>
                      <a:r>
                        <a:rPr 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Liberal）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是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对于从邻居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LSR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收到的标签映射，无论邻居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LSR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是不是自己的下一跳都保留。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591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保守方式（</a:t>
                      </a:r>
                      <a:r>
                        <a:rPr 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Conservative）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否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对于从邻居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LSR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收到的标签映射，只有当邻居</a:t>
                      </a:r>
                      <a:r>
                        <a:rPr lang="en-US" altLang="zh-CN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LSR</a:t>
                      </a:r>
                      <a:r>
                        <a:rPr lang="zh-CN" altLang="en-US" sz="1400" dirty="0" smtClean="0"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是自己的下一跳时才保留。</a:t>
                      </a:r>
                      <a:endParaRPr lang="en-US" sz="1400" dirty="0"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44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6"/>
          <p:cNvSpPr/>
          <p:nvPr/>
        </p:nvSpPr>
        <p:spPr bwMode="gray">
          <a:xfrm>
            <a:off x="1594177" y="3614187"/>
            <a:ext cx="7658026" cy="1354926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sz="2000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Rectangle 67"/>
          <p:cNvSpPr/>
          <p:nvPr/>
        </p:nvSpPr>
        <p:spPr bwMode="gray">
          <a:xfrm>
            <a:off x="4483084" y="3614187"/>
            <a:ext cx="18802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/>
              <a:t>上游与下游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smtClean="0"/>
              <a:t>MPLS</a:t>
            </a:r>
            <a:r>
              <a:rPr lang="zh-CN" altLang="en-US" sz="1800" smtClean="0"/>
              <a:t>根据数据的转发方向确定上、下游关系。标签报文从上游</a:t>
            </a:r>
            <a:r>
              <a:rPr lang="en-US" altLang="zh-CN" sz="1800" smtClean="0"/>
              <a:t>LSR</a:t>
            </a:r>
            <a:r>
              <a:rPr lang="zh-CN" altLang="en-US" sz="1800" smtClean="0"/>
              <a:t>发出，被下游</a:t>
            </a:r>
            <a:r>
              <a:rPr lang="en-US" altLang="zh-CN" sz="1800" smtClean="0"/>
              <a:t>LSR</a:t>
            </a:r>
            <a:r>
              <a:rPr lang="zh-CN" altLang="en-US" sz="1800" smtClean="0"/>
              <a:t>接收并处理。</a:t>
            </a:r>
            <a:endParaRPr lang="en-US" altLang="zh-CN" sz="1800" smtClean="0"/>
          </a:p>
          <a:p>
            <a:r>
              <a:rPr lang="zh-CN" altLang="en-US" sz="1800" smtClean="0"/>
              <a:t>如图所示，对于到达</a:t>
            </a:r>
            <a:r>
              <a:rPr lang="en-US" altLang="zh-CN" sz="1800" smtClean="0"/>
              <a:t>192.168.3.0/24</a:t>
            </a:r>
            <a:r>
              <a:rPr lang="zh-CN" altLang="en-US" sz="1800" smtClean="0"/>
              <a:t>的</a:t>
            </a:r>
            <a:r>
              <a:rPr lang="en-US" altLang="zh-CN" sz="1800" smtClean="0"/>
              <a:t>LSP</a:t>
            </a:r>
            <a:r>
              <a:rPr lang="zh-CN" altLang="en-US" sz="1800" smtClean="0"/>
              <a:t>而言，</a:t>
            </a:r>
            <a:r>
              <a:rPr lang="en-US" altLang="zh-CN" sz="1800" smtClean="0"/>
              <a:t>R3</a:t>
            </a:r>
            <a:r>
              <a:rPr lang="zh-CN" altLang="en-US" sz="1800" smtClean="0"/>
              <a:t>是</a:t>
            </a:r>
            <a:r>
              <a:rPr lang="en-US" altLang="zh-CN" sz="1800" smtClean="0"/>
              <a:t>R2</a:t>
            </a:r>
            <a:r>
              <a:rPr lang="zh-CN" altLang="en-US" sz="1800" smtClean="0"/>
              <a:t>的下游</a:t>
            </a:r>
            <a:r>
              <a:rPr lang="en-US" altLang="zh-CN" sz="1800" smtClean="0"/>
              <a:t>LSR</a:t>
            </a:r>
            <a:r>
              <a:rPr lang="zh-CN" altLang="en-US" sz="1800" smtClean="0"/>
              <a:t>，</a:t>
            </a:r>
            <a:r>
              <a:rPr lang="en-US" altLang="zh-CN" sz="1800" smtClean="0"/>
              <a:t>R1</a:t>
            </a:r>
            <a:r>
              <a:rPr lang="zh-CN" altLang="en-US" sz="1800" smtClean="0"/>
              <a:t>是</a:t>
            </a:r>
            <a:r>
              <a:rPr lang="en-US" altLang="zh-CN" sz="1800" smtClean="0"/>
              <a:t>R2</a:t>
            </a:r>
            <a:r>
              <a:rPr lang="zh-CN" altLang="en-US" sz="1800" smtClean="0"/>
              <a:t>的上游</a:t>
            </a:r>
            <a:r>
              <a:rPr lang="en-US" altLang="zh-CN" sz="1800" smtClean="0"/>
              <a:t>LSR</a:t>
            </a:r>
            <a:r>
              <a:rPr lang="zh-CN" altLang="en-US" sz="1800" smtClean="0"/>
              <a:t>。</a:t>
            </a:r>
            <a:endParaRPr lang="en-US" altLang="zh-CN" sz="1800" smtClean="0"/>
          </a:p>
          <a:p>
            <a:endParaRPr lang="zh-CN" altLang="en-US" sz="1800" dirty="0"/>
          </a:p>
        </p:txBody>
      </p:sp>
      <p:grpSp>
        <p:nvGrpSpPr>
          <p:cNvPr id="21" name="组合 20"/>
          <p:cNvGrpSpPr/>
          <p:nvPr/>
        </p:nvGrpSpPr>
        <p:grpSpPr bwMode="gray">
          <a:xfrm>
            <a:off x="1864248" y="4011073"/>
            <a:ext cx="7166509" cy="531702"/>
            <a:chOff x="2592010" y="3864767"/>
            <a:chExt cx="7166509" cy="514351"/>
          </a:xfrm>
        </p:grpSpPr>
        <p:cxnSp>
          <p:nvCxnSpPr>
            <p:cNvPr id="22" name="直接连接符 21"/>
            <p:cNvCxnSpPr>
              <a:stCxn id="24" idx="3"/>
            </p:cNvCxnSpPr>
            <p:nvPr/>
          </p:nvCxnSpPr>
          <p:spPr bwMode="gray">
            <a:xfrm>
              <a:off x="3220661" y="4121943"/>
              <a:ext cx="2664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/>
            <p:cNvCxnSpPr>
              <a:stCxn id="25" idx="3"/>
              <a:endCxn id="26" idx="1"/>
            </p:cNvCxnSpPr>
            <p:nvPr/>
          </p:nvCxnSpPr>
          <p:spPr bwMode="gray">
            <a:xfrm>
              <a:off x="6492467" y="4121943"/>
              <a:ext cx="26374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24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2592010" y="3864767"/>
              <a:ext cx="628652" cy="514351"/>
            </a:xfrm>
            <a:prstGeom prst="rect">
              <a:avLst/>
            </a:prstGeom>
            <a:noFill/>
          </p:spPr>
        </p:pic>
        <p:pic>
          <p:nvPicPr>
            <p:cNvPr id="25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5863815" y="3864767"/>
              <a:ext cx="628652" cy="514351"/>
            </a:xfrm>
            <a:prstGeom prst="rect">
              <a:avLst/>
            </a:prstGeom>
            <a:noFill/>
          </p:spPr>
        </p:pic>
        <p:pic>
          <p:nvPicPr>
            <p:cNvPr id="26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9129867" y="3864767"/>
              <a:ext cx="628652" cy="514351"/>
            </a:xfrm>
            <a:prstGeom prst="rect">
              <a:avLst/>
            </a:prstGeom>
            <a:noFill/>
          </p:spPr>
        </p:pic>
      </p:grpSp>
      <p:grpSp>
        <p:nvGrpSpPr>
          <p:cNvPr id="27" name="组合 26"/>
          <p:cNvGrpSpPr/>
          <p:nvPr/>
        </p:nvGrpSpPr>
        <p:grpSpPr bwMode="gray">
          <a:xfrm rot="10800000">
            <a:off x="9012154" y="4118745"/>
            <a:ext cx="359894" cy="316358"/>
            <a:chOff x="-375074" y="2600908"/>
            <a:chExt cx="359894" cy="306034"/>
          </a:xfrm>
        </p:grpSpPr>
        <p:cxnSp>
          <p:nvCxnSpPr>
            <p:cNvPr id="28" name="直接连接符 27"/>
            <p:cNvCxnSpPr/>
            <p:nvPr/>
          </p:nvCxnSpPr>
          <p:spPr bwMode="gray">
            <a:xfrm>
              <a:off x="-375074" y="2739680"/>
              <a:ext cx="359894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/>
          </p:nvCxnSpPr>
          <p:spPr bwMode="gray">
            <a:xfrm>
              <a:off x="-375074" y="2600908"/>
              <a:ext cx="0" cy="30603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Text Box 18"/>
          <p:cNvSpPr txBox="1">
            <a:spLocks noChangeArrowheads="1"/>
          </p:cNvSpPr>
          <p:nvPr/>
        </p:nvSpPr>
        <p:spPr bwMode="gray">
          <a:xfrm>
            <a:off x="1968315" y="4556892"/>
            <a:ext cx="40588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gray">
          <a:xfrm>
            <a:off x="5248432" y="4556892"/>
            <a:ext cx="40588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Text Box 18"/>
          <p:cNvSpPr txBox="1">
            <a:spLocks noChangeArrowheads="1"/>
          </p:cNvSpPr>
          <p:nvPr/>
        </p:nvSpPr>
        <p:spPr bwMode="gray">
          <a:xfrm>
            <a:off x="8509451" y="4556892"/>
            <a:ext cx="40588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TextBox 12"/>
          <p:cNvSpPr txBox="1"/>
          <p:nvPr/>
        </p:nvSpPr>
        <p:spPr bwMode="gray">
          <a:xfrm>
            <a:off x="9372048" y="4132560"/>
            <a:ext cx="1614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192.168.3.0/24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" name="直接箭头连接符 4"/>
          <p:cNvCxnSpPr/>
          <p:nvPr/>
        </p:nvCxnSpPr>
        <p:spPr bwMode="gray">
          <a:xfrm>
            <a:off x="2488636" y="3472405"/>
            <a:ext cx="6331352" cy="0"/>
          </a:xfrm>
          <a:prstGeom prst="straightConnector1">
            <a:avLst/>
          </a:prstGeom>
          <a:ln w="19050">
            <a:solidFill>
              <a:srgbClr val="62B2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 bwMode="gray">
          <a:xfrm>
            <a:off x="4774139" y="310307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数据传输方向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716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标签发布方式</a:t>
            </a:r>
            <a:r>
              <a:rPr lang="zh-CN" altLang="en-US" dirty="0">
                <a:sym typeface="Huawei Sans" panose="020C0503030203020204" pitchFamily="34" charset="0"/>
              </a:rPr>
              <a:t>：</a:t>
            </a:r>
            <a:r>
              <a:rPr lang="en-US" altLang="zh-CN" dirty="0" smtClean="0">
                <a:sym typeface="Huawei Sans" panose="020C0503030203020204" pitchFamily="34" charset="0"/>
              </a:rPr>
              <a:t>DU</a:t>
            </a:r>
            <a:r>
              <a:rPr lang="zh-CN" altLang="en-US" dirty="0" smtClean="0">
                <a:sym typeface="Huawei Sans" panose="020C0503030203020204" pitchFamily="34" charset="0"/>
              </a:rPr>
              <a:t>模式 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DU</a:t>
            </a:r>
            <a:r>
              <a:rPr lang="zh-CN" altLang="en-US" sz="1800" dirty="0" smtClean="0">
                <a:sym typeface="Huawei Sans" panose="020C0503030203020204" pitchFamily="34" charset="0"/>
              </a:rPr>
              <a:t>模式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对于一个特定的</a:t>
            </a:r>
            <a:r>
              <a:rPr lang="en-US" altLang="zh-CN" sz="1600" dirty="0" smtClean="0">
                <a:sym typeface="Huawei Sans" panose="020C0503030203020204" pitchFamily="34" charset="0"/>
              </a:rPr>
              <a:t>FEC</a:t>
            </a:r>
            <a:r>
              <a:rPr lang="zh-CN" altLang="en-US" sz="1600" dirty="0" smtClean="0">
                <a:sym typeface="Huawei Sans" panose="020C0503030203020204" pitchFamily="34" charset="0"/>
              </a:rPr>
              <a:t>，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无需从上游获得标签请求消息即进行标签分配与分发。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会主动将自己为</a:t>
            </a:r>
            <a:r>
              <a:rPr lang="en-US" altLang="zh-CN" sz="1600" dirty="0" smtClean="0">
                <a:sym typeface="Huawei Sans" panose="020C0503030203020204" pitchFamily="34" charset="0"/>
              </a:rPr>
              <a:t>FEC</a:t>
            </a:r>
            <a:r>
              <a:rPr lang="zh-CN" altLang="en-US" sz="1600" dirty="0" smtClean="0">
                <a:sym typeface="Huawei Sans" panose="020C0503030203020204" pitchFamily="34" charset="0"/>
              </a:rPr>
              <a:t>捆绑的标签通告给上游邻居，无需邻居先发起请求再通告。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grpSp>
        <p:nvGrpSpPr>
          <p:cNvPr id="80" name="组合 79"/>
          <p:cNvGrpSpPr/>
          <p:nvPr/>
        </p:nvGrpSpPr>
        <p:grpSpPr bwMode="gray">
          <a:xfrm>
            <a:off x="1732950" y="3867620"/>
            <a:ext cx="7166509" cy="531702"/>
            <a:chOff x="2592010" y="3864767"/>
            <a:chExt cx="7166509" cy="514351"/>
          </a:xfrm>
        </p:grpSpPr>
        <p:cxnSp>
          <p:nvCxnSpPr>
            <p:cNvPr id="87" name="直接连接符 86"/>
            <p:cNvCxnSpPr>
              <a:stCxn id="89" idx="3"/>
            </p:cNvCxnSpPr>
            <p:nvPr/>
          </p:nvCxnSpPr>
          <p:spPr bwMode="gray">
            <a:xfrm>
              <a:off x="3220661" y="4121943"/>
              <a:ext cx="26640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/>
            <p:cNvCxnSpPr>
              <a:stCxn id="90" idx="3"/>
              <a:endCxn id="91" idx="1"/>
            </p:cNvCxnSpPr>
            <p:nvPr/>
          </p:nvCxnSpPr>
          <p:spPr bwMode="gray">
            <a:xfrm>
              <a:off x="6492467" y="4121943"/>
              <a:ext cx="263740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89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2592010" y="3864767"/>
              <a:ext cx="628652" cy="514351"/>
            </a:xfrm>
            <a:prstGeom prst="rect">
              <a:avLst/>
            </a:prstGeom>
            <a:noFill/>
          </p:spPr>
        </p:pic>
        <p:pic>
          <p:nvPicPr>
            <p:cNvPr id="90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5863815" y="3864767"/>
              <a:ext cx="628652" cy="514351"/>
            </a:xfrm>
            <a:prstGeom prst="rect">
              <a:avLst/>
            </a:prstGeom>
            <a:noFill/>
          </p:spPr>
        </p:pic>
        <p:pic>
          <p:nvPicPr>
            <p:cNvPr id="91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9129867" y="3864767"/>
              <a:ext cx="628652" cy="514351"/>
            </a:xfrm>
            <a:prstGeom prst="rect">
              <a:avLst/>
            </a:prstGeom>
            <a:noFill/>
          </p:spPr>
        </p:pic>
      </p:grpSp>
      <p:grpSp>
        <p:nvGrpSpPr>
          <p:cNvPr id="81" name="组合 80"/>
          <p:cNvGrpSpPr/>
          <p:nvPr/>
        </p:nvGrpSpPr>
        <p:grpSpPr bwMode="gray">
          <a:xfrm rot="10800000">
            <a:off x="8880856" y="3975292"/>
            <a:ext cx="359894" cy="316358"/>
            <a:chOff x="-375074" y="2600908"/>
            <a:chExt cx="359894" cy="306034"/>
          </a:xfrm>
        </p:grpSpPr>
        <p:cxnSp>
          <p:nvCxnSpPr>
            <p:cNvPr id="85" name="直接连接符 84"/>
            <p:cNvCxnSpPr/>
            <p:nvPr/>
          </p:nvCxnSpPr>
          <p:spPr bwMode="gray">
            <a:xfrm>
              <a:off x="-375074" y="2739680"/>
              <a:ext cx="359894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/>
            <p:nvPr/>
          </p:nvCxnSpPr>
          <p:spPr bwMode="gray">
            <a:xfrm>
              <a:off x="-375074" y="2600908"/>
              <a:ext cx="0" cy="30603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2" name="Text Box 18"/>
          <p:cNvSpPr txBox="1">
            <a:spLocks noChangeArrowheads="1"/>
          </p:cNvSpPr>
          <p:nvPr/>
        </p:nvSpPr>
        <p:spPr bwMode="gray">
          <a:xfrm>
            <a:off x="1837017" y="4413439"/>
            <a:ext cx="40588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Text Box 18"/>
          <p:cNvSpPr txBox="1">
            <a:spLocks noChangeArrowheads="1"/>
          </p:cNvSpPr>
          <p:nvPr/>
        </p:nvSpPr>
        <p:spPr bwMode="gray">
          <a:xfrm>
            <a:off x="5117134" y="4413439"/>
            <a:ext cx="40588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Text Box 18"/>
          <p:cNvSpPr txBox="1">
            <a:spLocks noChangeArrowheads="1"/>
          </p:cNvSpPr>
          <p:nvPr/>
        </p:nvSpPr>
        <p:spPr bwMode="gray">
          <a:xfrm>
            <a:off x="8378153" y="4413439"/>
            <a:ext cx="405880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784225" eaLnBrk="0" fontAlgn="base" hangingPunct="0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五边形 31"/>
          <p:cNvSpPr/>
          <p:nvPr/>
        </p:nvSpPr>
        <p:spPr bwMode="gray">
          <a:xfrm flipH="1">
            <a:off x="2777354" y="3718603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TextBox 12"/>
          <p:cNvSpPr txBox="1"/>
          <p:nvPr/>
        </p:nvSpPr>
        <p:spPr bwMode="gray">
          <a:xfrm>
            <a:off x="9240750" y="3989107"/>
            <a:ext cx="1614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192.168.3.0/24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五边形 31"/>
          <p:cNvSpPr/>
          <p:nvPr/>
        </p:nvSpPr>
        <p:spPr bwMode="gray">
          <a:xfrm flipH="1">
            <a:off x="6097984" y="3715302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</p:spTree>
    <p:extLst>
      <p:ext uri="{BB962C8B-B14F-4D97-AF65-F5344CB8AC3E}">
        <p14:creationId xmlns:p14="http://schemas.microsoft.com/office/powerpoint/2010/main" val="399363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标签发布方式：</a:t>
            </a:r>
            <a:r>
              <a:rPr lang="en-US" altLang="zh-CN" dirty="0" smtClean="0">
                <a:sym typeface="Huawei Sans" panose="020C0503030203020204" pitchFamily="34" charset="0"/>
              </a:rPr>
              <a:t>DoD</a:t>
            </a:r>
            <a:r>
              <a:rPr lang="zh-CN" altLang="en-US" dirty="0" smtClean="0">
                <a:sym typeface="Huawei Sans" panose="020C0503030203020204" pitchFamily="34" charset="0"/>
              </a:rPr>
              <a:t>模式 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err="1" smtClean="0">
                <a:sym typeface="Huawei Sans" panose="020C0503030203020204" pitchFamily="34" charset="0"/>
              </a:rPr>
              <a:t>DoD</a:t>
            </a:r>
            <a:r>
              <a:rPr lang="zh-CN" altLang="en-US" sz="1800" dirty="0" smtClean="0">
                <a:sym typeface="Huawei Sans" panose="020C0503030203020204" pitchFamily="34" charset="0"/>
              </a:rPr>
              <a:t>模式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对于一个特定的</a:t>
            </a:r>
            <a:r>
              <a:rPr lang="en-US" altLang="zh-CN" sz="1600" dirty="0" smtClean="0">
                <a:sym typeface="Huawei Sans" panose="020C0503030203020204" pitchFamily="34" charset="0"/>
              </a:rPr>
              <a:t>FEC</a:t>
            </a:r>
            <a:r>
              <a:rPr lang="zh-CN" altLang="en-US" sz="1600" dirty="0" smtClean="0">
                <a:sym typeface="Huawei Sans" panose="020C0503030203020204" pitchFamily="34" charset="0"/>
              </a:rPr>
              <a:t>，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获得标签请求消息之后才进行标签分配与分发。</a:t>
            </a:r>
            <a:endParaRPr lang="en-US" altLang="zh-CN" sz="16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一般情况下，对特定</a:t>
            </a:r>
            <a:r>
              <a:rPr lang="en-US" altLang="zh-CN" sz="1600" dirty="0" smtClean="0">
                <a:sym typeface="Huawei Sans" panose="020C0503030203020204" pitchFamily="34" charset="0"/>
              </a:rPr>
              <a:t>FEC</a:t>
            </a:r>
            <a:r>
              <a:rPr lang="zh-CN" altLang="en-US" sz="1600" dirty="0" smtClean="0">
                <a:sym typeface="Huawei Sans" panose="020C0503030203020204" pitchFamily="34" charset="0"/>
              </a:rPr>
              <a:t>的访问需求会触发标签请求消息。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 bwMode="gray">
          <a:xfrm>
            <a:off x="1732950" y="3867620"/>
            <a:ext cx="7507800" cy="853596"/>
            <a:chOff x="3377625" y="3864767"/>
            <a:chExt cx="7507800" cy="825740"/>
          </a:xfrm>
        </p:grpSpPr>
        <p:grpSp>
          <p:nvGrpSpPr>
            <p:cNvPr id="11" name="组合 10"/>
            <p:cNvGrpSpPr/>
            <p:nvPr/>
          </p:nvGrpSpPr>
          <p:grpSpPr bwMode="gray">
            <a:xfrm>
              <a:off x="3377625" y="3864767"/>
              <a:ext cx="7166509" cy="514351"/>
              <a:chOff x="2592010" y="3864767"/>
              <a:chExt cx="7166509" cy="514351"/>
            </a:xfrm>
          </p:grpSpPr>
          <p:cxnSp>
            <p:nvCxnSpPr>
              <p:cNvPr id="18" name="直接连接符 17"/>
              <p:cNvCxnSpPr>
                <a:stCxn id="20" idx="3"/>
              </p:cNvCxnSpPr>
              <p:nvPr/>
            </p:nvCxnSpPr>
            <p:spPr bwMode="gray">
              <a:xfrm>
                <a:off x="3220661" y="4121943"/>
                <a:ext cx="266400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接连接符 18"/>
              <p:cNvCxnSpPr>
                <a:stCxn id="21" idx="3"/>
                <a:endCxn id="22" idx="1"/>
              </p:cNvCxnSpPr>
              <p:nvPr/>
            </p:nvCxnSpPr>
            <p:spPr bwMode="gray">
              <a:xfrm>
                <a:off x="6492467" y="4121943"/>
                <a:ext cx="263740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pic>
            <p:nvPicPr>
              <p:cNvPr id="20" name="Picture 2" descr="G:\做的项目\公共\扁平图标切换\更新2015_01_21\oss扁平图标库2015_01_21更新-04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 bwMode="gray">
              <a:xfrm>
                <a:off x="2592010" y="3864767"/>
                <a:ext cx="628652" cy="514351"/>
              </a:xfrm>
              <a:prstGeom prst="rect">
                <a:avLst/>
              </a:prstGeom>
              <a:noFill/>
            </p:spPr>
          </p:pic>
          <p:pic>
            <p:nvPicPr>
              <p:cNvPr id="21" name="Picture 2" descr="G:\做的项目\公共\扁平图标切换\更新2015_01_21\oss扁平图标库2015_01_21更新-04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 bwMode="gray">
              <a:xfrm>
                <a:off x="5863815" y="3864767"/>
                <a:ext cx="628652" cy="514351"/>
              </a:xfrm>
              <a:prstGeom prst="rect">
                <a:avLst/>
              </a:prstGeom>
              <a:noFill/>
            </p:spPr>
          </p:pic>
          <p:pic>
            <p:nvPicPr>
              <p:cNvPr id="22" name="Picture 2" descr="G:\做的项目\公共\扁平图标切换\更新2015_01_21\oss扁平图标库2015_01_21更新-04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 bwMode="gray">
              <a:xfrm>
                <a:off x="9129867" y="3864767"/>
                <a:ext cx="628652" cy="514351"/>
              </a:xfrm>
              <a:prstGeom prst="rect">
                <a:avLst/>
              </a:prstGeom>
              <a:noFill/>
            </p:spPr>
          </p:pic>
        </p:grpSp>
        <p:grpSp>
          <p:nvGrpSpPr>
            <p:cNvPr id="12" name="组合 11"/>
            <p:cNvGrpSpPr/>
            <p:nvPr/>
          </p:nvGrpSpPr>
          <p:grpSpPr bwMode="gray">
            <a:xfrm rot="10800000">
              <a:off x="10525531" y="3968925"/>
              <a:ext cx="359894" cy="306034"/>
              <a:chOff x="-375074" y="2600908"/>
              <a:chExt cx="359894" cy="306034"/>
            </a:xfrm>
          </p:grpSpPr>
          <p:cxnSp>
            <p:nvCxnSpPr>
              <p:cNvPr id="16" name="直接连接符 15"/>
              <p:cNvCxnSpPr/>
              <p:nvPr/>
            </p:nvCxnSpPr>
            <p:spPr bwMode="gray">
              <a:xfrm>
                <a:off x="-375074" y="2739680"/>
                <a:ext cx="35989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" name="直接连接符 16"/>
              <p:cNvCxnSpPr/>
              <p:nvPr/>
            </p:nvCxnSpPr>
            <p:spPr bwMode="gray">
              <a:xfrm>
                <a:off x="-375074" y="2600908"/>
                <a:ext cx="0" cy="306034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" name="Text Box 18"/>
            <p:cNvSpPr txBox="1">
              <a:spLocks noChangeArrowheads="1"/>
            </p:cNvSpPr>
            <p:nvPr/>
          </p:nvSpPr>
          <p:spPr bwMode="gray">
            <a:xfrm>
              <a:off x="3481693" y="4392774"/>
              <a:ext cx="405880" cy="2977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784225" eaLnBrk="0" fontAlgn="base" hangingPunct="0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gray">
            <a:xfrm>
              <a:off x="6761809" y="4392774"/>
              <a:ext cx="405880" cy="2977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784225" eaLnBrk="0" fontAlgn="base" hangingPunct="0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R2</a:t>
              </a:r>
              <a:endPara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" name="Text Box 18"/>
            <p:cNvSpPr txBox="1">
              <a:spLocks noChangeArrowheads="1"/>
            </p:cNvSpPr>
            <p:nvPr/>
          </p:nvSpPr>
          <p:spPr bwMode="gray">
            <a:xfrm>
              <a:off x="10022828" y="4392774"/>
              <a:ext cx="405880" cy="2977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defTabSz="784225" eaLnBrk="0" fontAlgn="base" hangingPunct="0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R3</a:t>
              </a:r>
              <a:endPara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3" name="五边形 31"/>
          <p:cNvSpPr/>
          <p:nvPr/>
        </p:nvSpPr>
        <p:spPr bwMode="gray">
          <a:xfrm flipH="1">
            <a:off x="2777354" y="3718603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sp>
        <p:nvSpPr>
          <p:cNvPr id="25" name="五边形 31"/>
          <p:cNvSpPr/>
          <p:nvPr/>
        </p:nvSpPr>
        <p:spPr bwMode="gray">
          <a:xfrm flipH="1">
            <a:off x="6097984" y="3715302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cxnSp>
        <p:nvCxnSpPr>
          <p:cNvPr id="27" name="直接连接符 37"/>
          <p:cNvCxnSpPr/>
          <p:nvPr/>
        </p:nvCxnSpPr>
        <p:spPr bwMode="gray">
          <a:xfrm>
            <a:off x="3114509" y="4326204"/>
            <a:ext cx="1165147" cy="0"/>
          </a:xfrm>
          <a:prstGeom prst="line">
            <a:avLst/>
          </a:prstGeom>
          <a:ln w="28575">
            <a:solidFill>
              <a:srgbClr val="62B23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4"/>
          <p:cNvSpPr/>
          <p:nvPr/>
        </p:nvSpPr>
        <p:spPr bwMode="gray">
          <a:xfrm>
            <a:off x="3202170" y="4357736"/>
            <a:ext cx="10924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请求标签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9" name="直接连接符 37"/>
          <p:cNvCxnSpPr/>
          <p:nvPr/>
        </p:nvCxnSpPr>
        <p:spPr bwMode="gray">
          <a:xfrm>
            <a:off x="6439731" y="4326204"/>
            <a:ext cx="1165147" cy="0"/>
          </a:xfrm>
          <a:prstGeom prst="line">
            <a:avLst/>
          </a:prstGeom>
          <a:ln w="28575">
            <a:solidFill>
              <a:srgbClr val="62B23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6"/>
          <p:cNvSpPr/>
          <p:nvPr/>
        </p:nvSpPr>
        <p:spPr bwMode="gray">
          <a:xfrm>
            <a:off x="6511626" y="4357736"/>
            <a:ext cx="10924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请求标签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 bwMode="gray">
          <a:xfrm>
            <a:off x="928264" y="4721216"/>
            <a:ext cx="2520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R1</a:t>
            </a:r>
            <a:r>
              <a:rPr lang="zh-CN" altLang="en-US" sz="1600" dirty="0" smtClean="0"/>
              <a:t>有访问</a:t>
            </a:r>
            <a:r>
              <a:rPr lang="en-US" altLang="zh-CN" sz="1600" dirty="0" smtClean="0"/>
              <a:t>192.168.3.0/24</a:t>
            </a:r>
            <a:r>
              <a:rPr lang="zh-CN" altLang="en-US" sz="1600" dirty="0" smtClean="0"/>
              <a:t>网段的需求</a:t>
            </a:r>
            <a:endParaRPr lang="zh-CN" altLang="en-US" sz="1600" dirty="0"/>
          </a:p>
        </p:txBody>
      </p:sp>
      <p:sp>
        <p:nvSpPr>
          <p:cNvPr id="26" name="TextBox 12"/>
          <p:cNvSpPr txBox="1"/>
          <p:nvPr/>
        </p:nvSpPr>
        <p:spPr bwMode="gray">
          <a:xfrm>
            <a:off x="9240750" y="3989107"/>
            <a:ext cx="1614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192.168.3.0/24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2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28" grpId="0"/>
      <p:bldP spid="30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标签分配控制方式：独立模式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独立（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Independent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）模式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本地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可以自主地分配一个标签绑定到某个</a:t>
            </a:r>
            <a:r>
              <a:rPr lang="en-US" altLang="zh-CN" sz="1600" dirty="0" smtClean="0">
                <a:sym typeface="Huawei Sans" panose="020C0503030203020204" pitchFamily="34" charset="0"/>
              </a:rPr>
              <a:t>FEC</a:t>
            </a:r>
            <a:r>
              <a:rPr lang="zh-CN" altLang="en-US" sz="1600" dirty="0" smtClean="0">
                <a:sym typeface="Huawei Sans" panose="020C0503030203020204" pitchFamily="34" charset="0"/>
              </a:rPr>
              <a:t>，并通告给上游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，而无需等待下游的标签。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25" name="五边形 31"/>
          <p:cNvSpPr/>
          <p:nvPr/>
        </p:nvSpPr>
        <p:spPr bwMode="gray">
          <a:xfrm flipH="1">
            <a:off x="3634746" y="3060835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sp>
        <p:nvSpPr>
          <p:cNvPr id="26" name="五边形 31"/>
          <p:cNvSpPr/>
          <p:nvPr/>
        </p:nvSpPr>
        <p:spPr bwMode="gray">
          <a:xfrm flipH="1">
            <a:off x="5626519" y="3060835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grpSp>
        <p:nvGrpSpPr>
          <p:cNvPr id="29" name="组合 28"/>
          <p:cNvGrpSpPr/>
          <p:nvPr/>
        </p:nvGrpSpPr>
        <p:grpSpPr bwMode="gray">
          <a:xfrm>
            <a:off x="3282730" y="3510726"/>
            <a:ext cx="6573859" cy="748744"/>
            <a:chOff x="1896669" y="4596630"/>
            <a:chExt cx="6573859" cy="748744"/>
          </a:xfrm>
        </p:grpSpPr>
        <p:sp>
          <p:nvSpPr>
            <p:cNvPr id="39" name="TextBox 43"/>
            <p:cNvSpPr txBox="1"/>
            <p:nvPr/>
          </p:nvSpPr>
          <p:spPr bwMode="gray">
            <a:xfrm>
              <a:off x="1945798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TextBox 44"/>
            <p:cNvSpPr txBox="1"/>
            <p:nvPr/>
          </p:nvSpPr>
          <p:spPr bwMode="gray">
            <a:xfrm>
              <a:off x="3987752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1" name="TextBox 48"/>
            <p:cNvSpPr txBox="1"/>
            <p:nvPr/>
          </p:nvSpPr>
          <p:spPr bwMode="gray">
            <a:xfrm>
              <a:off x="5946859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R3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42" name="图片 41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896669" y="4596630"/>
              <a:ext cx="540000" cy="442800"/>
            </a:xfrm>
            <a:prstGeom prst="rect">
              <a:avLst/>
            </a:prstGeom>
          </p:spPr>
        </p:pic>
        <p:pic>
          <p:nvPicPr>
            <p:cNvPr id="43" name="图片 42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927043" y="4596630"/>
              <a:ext cx="540000" cy="442800"/>
            </a:xfrm>
            <a:prstGeom prst="rect">
              <a:avLst/>
            </a:prstGeom>
          </p:spPr>
        </p:pic>
        <p:pic>
          <p:nvPicPr>
            <p:cNvPr id="44" name="图片 43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927925" y="4596630"/>
              <a:ext cx="540000" cy="4428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930528" y="4596630"/>
              <a:ext cx="540000" cy="442800"/>
            </a:xfrm>
            <a:prstGeom prst="rect">
              <a:avLst/>
            </a:prstGeom>
          </p:spPr>
        </p:pic>
        <p:sp>
          <p:nvSpPr>
            <p:cNvPr id="46" name="TextBox 43"/>
            <p:cNvSpPr txBox="1"/>
            <p:nvPr/>
          </p:nvSpPr>
          <p:spPr bwMode="gray">
            <a:xfrm>
              <a:off x="7984085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R4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47" name="直接连接符 46"/>
            <p:cNvCxnSpPr>
              <a:stCxn id="42" idx="3"/>
              <a:endCxn id="43" idx="1"/>
            </p:cNvCxnSpPr>
            <p:nvPr/>
          </p:nvCxnSpPr>
          <p:spPr bwMode="gray">
            <a:xfrm>
              <a:off x="2436669" y="4818030"/>
              <a:ext cx="1490374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>
              <a:stCxn id="44" idx="1"/>
              <a:endCxn id="43" idx="3"/>
            </p:cNvCxnSpPr>
            <p:nvPr/>
          </p:nvCxnSpPr>
          <p:spPr bwMode="gray">
            <a:xfrm flipH="1">
              <a:off x="4467043" y="4818030"/>
              <a:ext cx="1460882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44" idx="3"/>
              <a:endCxn id="45" idx="1"/>
            </p:cNvCxnSpPr>
            <p:nvPr/>
          </p:nvCxnSpPr>
          <p:spPr bwMode="gray">
            <a:xfrm>
              <a:off x="6467925" y="4818030"/>
              <a:ext cx="1462603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接连接符 4"/>
          <p:cNvCxnSpPr/>
          <p:nvPr/>
        </p:nvCxnSpPr>
        <p:spPr bwMode="gray">
          <a:xfrm flipV="1">
            <a:off x="10607490" y="3394403"/>
            <a:ext cx="0" cy="71845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1"/>
          <p:cNvSpPr txBox="1"/>
          <p:nvPr/>
        </p:nvSpPr>
        <p:spPr bwMode="gray">
          <a:xfrm>
            <a:off x="10530516" y="3567539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4" name="直接连接符 33"/>
          <p:cNvCxnSpPr/>
          <p:nvPr/>
        </p:nvCxnSpPr>
        <p:spPr bwMode="gray">
          <a:xfrm>
            <a:off x="9856589" y="3728251"/>
            <a:ext cx="750901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Box 43"/>
          <p:cNvSpPr txBox="1">
            <a:spLocks noChangeArrowheads="1"/>
          </p:cNvSpPr>
          <p:nvPr/>
        </p:nvSpPr>
        <p:spPr bwMode="gray">
          <a:xfrm>
            <a:off x="902864" y="2979562"/>
            <a:ext cx="2300619" cy="110799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>
            <a:lvl1pPr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</a:pPr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DU</a:t>
            </a:r>
          </a:p>
          <a:p>
            <a:pPr algn="ctr" fontAlgn="base">
              <a:spcBef>
                <a:spcPct val="50000"/>
              </a:spcBef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+</a:t>
            </a:r>
          </a:p>
          <a:p>
            <a:pPr algn="ctr" fontAlgn="base">
              <a:spcBef>
                <a:spcPct val="50000"/>
              </a:spcBef>
            </a:pPr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Independent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五边形 31"/>
          <p:cNvSpPr/>
          <p:nvPr/>
        </p:nvSpPr>
        <p:spPr bwMode="gray">
          <a:xfrm flipH="1">
            <a:off x="3634746" y="4724310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sp>
        <p:nvSpPr>
          <p:cNvPr id="24" name="五边形 31"/>
          <p:cNvSpPr/>
          <p:nvPr/>
        </p:nvSpPr>
        <p:spPr bwMode="gray">
          <a:xfrm flipH="1">
            <a:off x="5626519" y="4724310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grpSp>
        <p:nvGrpSpPr>
          <p:cNvPr id="32" name="组合 31"/>
          <p:cNvGrpSpPr/>
          <p:nvPr/>
        </p:nvGrpSpPr>
        <p:grpSpPr bwMode="gray">
          <a:xfrm>
            <a:off x="3282730" y="5174201"/>
            <a:ext cx="6573859" cy="748744"/>
            <a:chOff x="1896669" y="4596630"/>
            <a:chExt cx="6573859" cy="748744"/>
          </a:xfrm>
        </p:grpSpPr>
        <p:sp>
          <p:nvSpPr>
            <p:cNvPr id="37" name="TextBox 43"/>
            <p:cNvSpPr txBox="1"/>
            <p:nvPr/>
          </p:nvSpPr>
          <p:spPr bwMode="gray">
            <a:xfrm>
              <a:off x="1945798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" name="TextBox 44"/>
            <p:cNvSpPr txBox="1"/>
            <p:nvPr/>
          </p:nvSpPr>
          <p:spPr bwMode="gray">
            <a:xfrm>
              <a:off x="3987752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" name="TextBox 48"/>
            <p:cNvSpPr txBox="1"/>
            <p:nvPr/>
          </p:nvSpPr>
          <p:spPr bwMode="gray">
            <a:xfrm>
              <a:off x="5946859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R3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52" name="图片 51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896669" y="4596630"/>
              <a:ext cx="540000" cy="442800"/>
            </a:xfrm>
            <a:prstGeom prst="rect">
              <a:avLst/>
            </a:prstGeom>
          </p:spPr>
        </p:pic>
        <p:pic>
          <p:nvPicPr>
            <p:cNvPr id="53" name="图片 52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927043" y="4596630"/>
              <a:ext cx="540000" cy="442800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927925" y="4596630"/>
              <a:ext cx="540000" cy="442800"/>
            </a:xfrm>
            <a:prstGeom prst="rect">
              <a:avLst/>
            </a:prstGeom>
          </p:spPr>
        </p:pic>
        <p:pic>
          <p:nvPicPr>
            <p:cNvPr id="55" name="图片 54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930528" y="4596630"/>
              <a:ext cx="540000" cy="442800"/>
            </a:xfrm>
            <a:prstGeom prst="rect">
              <a:avLst/>
            </a:prstGeom>
          </p:spPr>
        </p:pic>
        <p:sp>
          <p:nvSpPr>
            <p:cNvPr id="56" name="TextBox 43"/>
            <p:cNvSpPr txBox="1"/>
            <p:nvPr/>
          </p:nvSpPr>
          <p:spPr bwMode="gray">
            <a:xfrm>
              <a:off x="7984085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R4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57" name="直接连接符 56"/>
            <p:cNvCxnSpPr>
              <a:stCxn id="52" idx="3"/>
              <a:endCxn id="53" idx="1"/>
            </p:cNvCxnSpPr>
            <p:nvPr/>
          </p:nvCxnSpPr>
          <p:spPr bwMode="gray">
            <a:xfrm>
              <a:off x="2436669" y="4818030"/>
              <a:ext cx="1490374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54" idx="1"/>
              <a:endCxn id="53" idx="3"/>
            </p:cNvCxnSpPr>
            <p:nvPr/>
          </p:nvCxnSpPr>
          <p:spPr bwMode="gray">
            <a:xfrm flipH="1">
              <a:off x="4467043" y="4818030"/>
              <a:ext cx="1460882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>
              <a:stCxn id="54" idx="3"/>
              <a:endCxn id="55" idx="1"/>
            </p:cNvCxnSpPr>
            <p:nvPr/>
          </p:nvCxnSpPr>
          <p:spPr bwMode="gray">
            <a:xfrm>
              <a:off x="6467925" y="4818030"/>
              <a:ext cx="1462603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直接连接符 4"/>
          <p:cNvCxnSpPr/>
          <p:nvPr/>
        </p:nvCxnSpPr>
        <p:spPr bwMode="gray">
          <a:xfrm flipV="1">
            <a:off x="10607490" y="5057878"/>
            <a:ext cx="0" cy="71845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Box 43"/>
          <p:cNvSpPr txBox="1">
            <a:spLocks noChangeArrowheads="1"/>
          </p:cNvSpPr>
          <p:nvPr/>
        </p:nvSpPr>
        <p:spPr bwMode="gray">
          <a:xfrm>
            <a:off x="901306" y="4687464"/>
            <a:ext cx="2300619" cy="110799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>
            <a:lvl1pPr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</a:pPr>
            <a:r>
              <a:rPr lang="en-US" altLang="zh-CN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DoD</a:t>
            </a:r>
            <a:endParaRPr lang="en-US" altLang="zh-CN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fontAlgn="base">
              <a:spcBef>
                <a:spcPct val="50000"/>
              </a:spcBef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+</a:t>
            </a:r>
          </a:p>
          <a:p>
            <a:pPr algn="ctr" fontAlgn="base">
              <a:spcBef>
                <a:spcPct val="50000"/>
              </a:spcBef>
            </a:pPr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Independent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1" name="直接连接符 37"/>
          <p:cNvCxnSpPr/>
          <p:nvPr/>
        </p:nvCxnSpPr>
        <p:spPr bwMode="gray">
          <a:xfrm>
            <a:off x="3934009" y="5583636"/>
            <a:ext cx="1165147" cy="0"/>
          </a:xfrm>
          <a:prstGeom prst="line">
            <a:avLst/>
          </a:prstGeom>
          <a:ln w="28575">
            <a:solidFill>
              <a:srgbClr val="62B23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24"/>
          <p:cNvSpPr/>
          <p:nvPr/>
        </p:nvSpPr>
        <p:spPr bwMode="gray">
          <a:xfrm>
            <a:off x="4021670" y="5615168"/>
            <a:ext cx="10924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请求标签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3" name="直接连接符 37"/>
          <p:cNvCxnSpPr/>
          <p:nvPr/>
        </p:nvCxnSpPr>
        <p:spPr bwMode="gray">
          <a:xfrm>
            <a:off x="6012436" y="5590912"/>
            <a:ext cx="1165147" cy="0"/>
          </a:xfrm>
          <a:prstGeom prst="line">
            <a:avLst/>
          </a:prstGeom>
          <a:ln w="28575">
            <a:solidFill>
              <a:srgbClr val="62B23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24"/>
          <p:cNvSpPr/>
          <p:nvPr/>
        </p:nvSpPr>
        <p:spPr bwMode="gray">
          <a:xfrm>
            <a:off x="6100097" y="5622444"/>
            <a:ext cx="10924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请求标签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 bwMode="gray">
          <a:xfrm>
            <a:off x="4553130" y="2759296"/>
            <a:ext cx="1890713" cy="285753"/>
          </a:xfrm>
          <a:custGeom>
            <a:avLst/>
            <a:gdLst>
              <a:gd name="connsiteX0" fmla="*/ 0 w 1890713"/>
              <a:gd name="connsiteY0" fmla="*/ 280991 h 285753"/>
              <a:gd name="connsiteX1" fmla="*/ 952500 w 1890713"/>
              <a:gd name="connsiteY1" fmla="*/ 3 h 285753"/>
              <a:gd name="connsiteX2" fmla="*/ 1890713 w 1890713"/>
              <a:gd name="connsiteY2" fmla="*/ 285753 h 28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90713" h="285753">
                <a:moveTo>
                  <a:pt x="0" y="280991"/>
                </a:moveTo>
                <a:cubicBezTo>
                  <a:pt x="318690" y="140100"/>
                  <a:pt x="637381" y="-791"/>
                  <a:pt x="952500" y="3"/>
                </a:cubicBezTo>
                <a:cubicBezTo>
                  <a:pt x="1267619" y="797"/>
                  <a:pt x="1579166" y="143275"/>
                  <a:pt x="1890713" y="285753"/>
                </a:cubicBezTo>
              </a:path>
            </a:pathLst>
          </a:custGeom>
          <a:noFill/>
          <a:ln>
            <a:solidFill>
              <a:srgbClr val="56C4D2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 bwMode="gray">
          <a:xfrm>
            <a:off x="5242723" y="275324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无序</a:t>
            </a:r>
            <a:endParaRPr lang="zh-CN" altLang="en-US" sz="1400" dirty="0"/>
          </a:p>
        </p:txBody>
      </p:sp>
      <p:sp>
        <p:nvSpPr>
          <p:cNvPr id="74" name="任意多边形 73"/>
          <p:cNvSpPr/>
          <p:nvPr/>
        </p:nvSpPr>
        <p:spPr bwMode="gray">
          <a:xfrm>
            <a:off x="4626534" y="4396714"/>
            <a:ext cx="1890713" cy="285753"/>
          </a:xfrm>
          <a:custGeom>
            <a:avLst/>
            <a:gdLst>
              <a:gd name="connsiteX0" fmla="*/ 0 w 1890713"/>
              <a:gd name="connsiteY0" fmla="*/ 280991 h 285753"/>
              <a:gd name="connsiteX1" fmla="*/ 952500 w 1890713"/>
              <a:gd name="connsiteY1" fmla="*/ 3 h 285753"/>
              <a:gd name="connsiteX2" fmla="*/ 1890713 w 1890713"/>
              <a:gd name="connsiteY2" fmla="*/ 285753 h 28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90713" h="285753">
                <a:moveTo>
                  <a:pt x="0" y="280991"/>
                </a:moveTo>
                <a:cubicBezTo>
                  <a:pt x="318690" y="140100"/>
                  <a:pt x="637381" y="-791"/>
                  <a:pt x="952500" y="3"/>
                </a:cubicBezTo>
                <a:cubicBezTo>
                  <a:pt x="1267619" y="797"/>
                  <a:pt x="1579166" y="143275"/>
                  <a:pt x="1890713" y="285753"/>
                </a:cubicBezTo>
              </a:path>
            </a:pathLst>
          </a:custGeom>
          <a:noFill/>
          <a:ln>
            <a:solidFill>
              <a:srgbClr val="56C4D2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 bwMode="gray">
          <a:xfrm>
            <a:off x="5328101" y="439671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无序</a:t>
            </a:r>
            <a:endParaRPr lang="zh-CN" altLang="en-US" sz="1400" dirty="0"/>
          </a:p>
        </p:txBody>
      </p:sp>
      <p:sp>
        <p:nvSpPr>
          <p:cNvPr id="65" name="TextBox 31"/>
          <p:cNvSpPr txBox="1"/>
          <p:nvPr/>
        </p:nvSpPr>
        <p:spPr bwMode="gray">
          <a:xfrm>
            <a:off x="10530516" y="5264796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6" name="直接连接符 65"/>
          <p:cNvCxnSpPr/>
          <p:nvPr/>
        </p:nvCxnSpPr>
        <p:spPr bwMode="gray">
          <a:xfrm>
            <a:off x="9856589" y="5395601"/>
            <a:ext cx="750901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03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62" grpId="0"/>
      <p:bldP spid="64" grpId="0"/>
      <p:bldP spid="74" grpId="0" animBg="1"/>
      <p:bldP spid="7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标签分配控制方式：有序模式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有序（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Ordered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）模式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对于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上某个</a:t>
            </a:r>
            <a:r>
              <a:rPr lang="en-US" altLang="zh-CN" sz="1600" dirty="0" smtClean="0">
                <a:sym typeface="Huawei Sans" panose="020C0503030203020204" pitchFamily="34" charset="0"/>
              </a:rPr>
              <a:t>FEC</a:t>
            </a:r>
            <a:r>
              <a:rPr lang="zh-CN" altLang="en-US" sz="1600" dirty="0" smtClean="0">
                <a:sym typeface="Huawei Sans" panose="020C0503030203020204" pitchFamily="34" charset="0"/>
              </a:rPr>
              <a:t>的标签映射，只有当该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已经具有此</a:t>
            </a:r>
            <a:r>
              <a:rPr lang="en-US" altLang="zh-CN" sz="1600" dirty="0" smtClean="0">
                <a:sym typeface="Huawei Sans" panose="020C0503030203020204" pitchFamily="34" charset="0"/>
              </a:rPr>
              <a:t>FEC</a:t>
            </a:r>
            <a:r>
              <a:rPr lang="zh-CN" altLang="en-US" sz="1600" dirty="0" smtClean="0">
                <a:sym typeface="Huawei Sans" panose="020C0503030203020204" pitchFamily="34" charset="0"/>
              </a:rPr>
              <a:t>下一跳的标签映射消息、或者该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就是此</a:t>
            </a:r>
            <a:r>
              <a:rPr lang="en-US" altLang="zh-CN" sz="1600" dirty="0" smtClean="0">
                <a:sym typeface="Huawei Sans" panose="020C0503030203020204" pitchFamily="34" charset="0"/>
              </a:rPr>
              <a:t>FEC</a:t>
            </a:r>
            <a:r>
              <a:rPr lang="zh-CN" altLang="en-US" sz="1600" dirty="0" smtClean="0">
                <a:sym typeface="Huawei Sans" panose="020C0503030203020204" pitchFamily="34" charset="0"/>
              </a:rPr>
              <a:t>的出节点时，该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才可以向上游发送此</a:t>
            </a:r>
            <a:r>
              <a:rPr lang="en-US" altLang="zh-CN" sz="1600" dirty="0" smtClean="0">
                <a:sym typeface="Huawei Sans" panose="020C0503030203020204" pitchFamily="34" charset="0"/>
              </a:rPr>
              <a:t>FEC</a:t>
            </a:r>
            <a:r>
              <a:rPr lang="zh-CN" altLang="en-US" sz="1600" dirty="0" smtClean="0">
                <a:sym typeface="Huawei Sans" panose="020C0503030203020204" pitchFamily="34" charset="0"/>
              </a:rPr>
              <a:t>的标签映射。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7" name="五边形 31"/>
          <p:cNvSpPr/>
          <p:nvPr/>
        </p:nvSpPr>
        <p:spPr bwMode="gray">
          <a:xfrm flipH="1">
            <a:off x="3628839" y="3063951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sp>
        <p:nvSpPr>
          <p:cNvPr id="8" name="五边形 31"/>
          <p:cNvSpPr/>
          <p:nvPr/>
        </p:nvSpPr>
        <p:spPr bwMode="gray">
          <a:xfrm flipH="1">
            <a:off x="5620612" y="3063951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grpSp>
        <p:nvGrpSpPr>
          <p:cNvPr id="10" name="组合 9"/>
          <p:cNvGrpSpPr/>
          <p:nvPr/>
        </p:nvGrpSpPr>
        <p:grpSpPr bwMode="gray">
          <a:xfrm>
            <a:off x="3276823" y="3513842"/>
            <a:ext cx="6573859" cy="748744"/>
            <a:chOff x="1896669" y="4596630"/>
            <a:chExt cx="6573859" cy="748744"/>
          </a:xfrm>
        </p:grpSpPr>
        <p:sp>
          <p:nvSpPr>
            <p:cNvPr id="17" name="TextBox 43"/>
            <p:cNvSpPr txBox="1"/>
            <p:nvPr/>
          </p:nvSpPr>
          <p:spPr bwMode="gray">
            <a:xfrm>
              <a:off x="1945798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" name="TextBox 44"/>
            <p:cNvSpPr txBox="1"/>
            <p:nvPr/>
          </p:nvSpPr>
          <p:spPr bwMode="gray">
            <a:xfrm>
              <a:off x="3987752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" name="TextBox 48"/>
            <p:cNvSpPr txBox="1"/>
            <p:nvPr/>
          </p:nvSpPr>
          <p:spPr bwMode="gray">
            <a:xfrm>
              <a:off x="5946859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R3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20" name="图片 19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896669" y="4596630"/>
              <a:ext cx="540000" cy="442800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927043" y="4596630"/>
              <a:ext cx="540000" cy="442800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927925" y="4596630"/>
              <a:ext cx="540000" cy="442800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930528" y="4596630"/>
              <a:ext cx="540000" cy="442800"/>
            </a:xfrm>
            <a:prstGeom prst="rect">
              <a:avLst/>
            </a:prstGeom>
          </p:spPr>
        </p:pic>
        <p:sp>
          <p:nvSpPr>
            <p:cNvPr id="24" name="TextBox 43"/>
            <p:cNvSpPr txBox="1"/>
            <p:nvPr/>
          </p:nvSpPr>
          <p:spPr bwMode="gray">
            <a:xfrm>
              <a:off x="7984085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R4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25" name="直接连接符 24"/>
            <p:cNvCxnSpPr>
              <a:stCxn id="20" idx="3"/>
              <a:endCxn id="21" idx="1"/>
            </p:cNvCxnSpPr>
            <p:nvPr/>
          </p:nvCxnSpPr>
          <p:spPr bwMode="gray">
            <a:xfrm>
              <a:off x="2436669" y="4818030"/>
              <a:ext cx="1490374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>
              <a:stCxn id="22" idx="1"/>
              <a:endCxn id="21" idx="3"/>
            </p:cNvCxnSpPr>
            <p:nvPr/>
          </p:nvCxnSpPr>
          <p:spPr bwMode="gray">
            <a:xfrm flipH="1">
              <a:off x="4467043" y="4818030"/>
              <a:ext cx="1460882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>
              <a:stCxn id="22" idx="3"/>
              <a:endCxn id="23" idx="1"/>
            </p:cNvCxnSpPr>
            <p:nvPr/>
          </p:nvCxnSpPr>
          <p:spPr bwMode="gray">
            <a:xfrm>
              <a:off x="6467925" y="4818030"/>
              <a:ext cx="1462603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 Box 43"/>
          <p:cNvSpPr txBox="1">
            <a:spLocks noChangeArrowheads="1"/>
          </p:cNvSpPr>
          <p:nvPr/>
        </p:nvSpPr>
        <p:spPr bwMode="gray">
          <a:xfrm>
            <a:off x="888176" y="2979562"/>
            <a:ext cx="2300619" cy="110799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>
            <a:spAutoFit/>
          </a:bodyPr>
          <a:lstStyle>
            <a:lvl1pPr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</a:pPr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DU</a:t>
            </a:r>
          </a:p>
          <a:p>
            <a:pPr algn="ctr" fontAlgn="base">
              <a:spcBef>
                <a:spcPct val="50000"/>
              </a:spcBef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+</a:t>
            </a:r>
          </a:p>
          <a:p>
            <a:pPr algn="ctr" fontAlgn="base">
              <a:spcBef>
                <a:spcPct val="50000"/>
              </a:spcBef>
            </a:pPr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Ordered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五边形 31"/>
          <p:cNvSpPr/>
          <p:nvPr/>
        </p:nvSpPr>
        <p:spPr bwMode="gray">
          <a:xfrm flipH="1">
            <a:off x="7732893" y="3063951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sp>
        <p:nvSpPr>
          <p:cNvPr id="63" name="五边形 31"/>
          <p:cNvSpPr/>
          <p:nvPr/>
        </p:nvSpPr>
        <p:spPr bwMode="gray">
          <a:xfrm flipH="1">
            <a:off x="3618438" y="4725636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sp>
        <p:nvSpPr>
          <p:cNvPr id="64" name="五边形 31"/>
          <p:cNvSpPr/>
          <p:nvPr/>
        </p:nvSpPr>
        <p:spPr bwMode="gray">
          <a:xfrm flipH="1">
            <a:off x="5610211" y="4725636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grpSp>
        <p:nvGrpSpPr>
          <p:cNvPr id="65" name="组合 64"/>
          <p:cNvGrpSpPr/>
          <p:nvPr/>
        </p:nvGrpSpPr>
        <p:grpSpPr bwMode="gray">
          <a:xfrm>
            <a:off x="3266422" y="5175527"/>
            <a:ext cx="6573859" cy="748744"/>
            <a:chOff x="1896669" y="4596630"/>
            <a:chExt cx="6573859" cy="748744"/>
          </a:xfrm>
        </p:grpSpPr>
        <p:sp>
          <p:nvSpPr>
            <p:cNvPr id="66" name="TextBox 43"/>
            <p:cNvSpPr txBox="1"/>
            <p:nvPr/>
          </p:nvSpPr>
          <p:spPr bwMode="gray">
            <a:xfrm>
              <a:off x="1945798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" name="TextBox 44"/>
            <p:cNvSpPr txBox="1"/>
            <p:nvPr/>
          </p:nvSpPr>
          <p:spPr bwMode="gray">
            <a:xfrm>
              <a:off x="3987752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" name="TextBox 48"/>
            <p:cNvSpPr txBox="1"/>
            <p:nvPr/>
          </p:nvSpPr>
          <p:spPr bwMode="gray">
            <a:xfrm>
              <a:off x="5946859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R3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69" name="图片 68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896669" y="4596630"/>
              <a:ext cx="540000" cy="442800"/>
            </a:xfrm>
            <a:prstGeom prst="rect">
              <a:avLst/>
            </a:prstGeom>
          </p:spPr>
        </p:pic>
        <p:pic>
          <p:nvPicPr>
            <p:cNvPr id="70" name="图片 69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927043" y="4596630"/>
              <a:ext cx="540000" cy="442800"/>
            </a:xfrm>
            <a:prstGeom prst="rect">
              <a:avLst/>
            </a:prstGeom>
          </p:spPr>
        </p:pic>
        <p:pic>
          <p:nvPicPr>
            <p:cNvPr id="71" name="图片 70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927925" y="4596630"/>
              <a:ext cx="540000" cy="442800"/>
            </a:xfrm>
            <a:prstGeom prst="rect">
              <a:avLst/>
            </a:prstGeom>
          </p:spPr>
        </p:pic>
        <p:sp>
          <p:nvSpPr>
            <p:cNvPr id="72" name="TextBox 43"/>
            <p:cNvSpPr txBox="1"/>
            <p:nvPr/>
          </p:nvSpPr>
          <p:spPr bwMode="gray">
            <a:xfrm>
              <a:off x="7984086" y="503759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R4</a:t>
              </a:r>
            </a:p>
          </p:txBody>
        </p:sp>
        <p:cxnSp>
          <p:nvCxnSpPr>
            <p:cNvPr id="73" name="直接连接符 72"/>
            <p:cNvCxnSpPr>
              <a:stCxn id="69" idx="3"/>
              <a:endCxn id="70" idx="1"/>
            </p:cNvCxnSpPr>
            <p:nvPr/>
          </p:nvCxnSpPr>
          <p:spPr bwMode="gray">
            <a:xfrm>
              <a:off x="2436669" y="4818030"/>
              <a:ext cx="1490374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>
              <a:stCxn id="71" idx="1"/>
              <a:endCxn id="70" idx="3"/>
            </p:cNvCxnSpPr>
            <p:nvPr/>
          </p:nvCxnSpPr>
          <p:spPr bwMode="gray">
            <a:xfrm flipH="1">
              <a:off x="4467043" y="4818030"/>
              <a:ext cx="1460882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>
              <a:stCxn id="71" idx="3"/>
              <a:endCxn id="76" idx="1"/>
            </p:cNvCxnSpPr>
            <p:nvPr/>
          </p:nvCxnSpPr>
          <p:spPr bwMode="gray">
            <a:xfrm>
              <a:off x="6467925" y="4818030"/>
              <a:ext cx="1462603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6" name="图片 75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930528" y="4596630"/>
              <a:ext cx="540000" cy="442800"/>
            </a:xfrm>
            <a:prstGeom prst="rect">
              <a:avLst/>
            </a:prstGeom>
          </p:spPr>
        </p:pic>
      </p:grpSp>
      <p:sp>
        <p:nvSpPr>
          <p:cNvPr id="77" name="Text Box 43"/>
          <p:cNvSpPr txBox="1">
            <a:spLocks noChangeArrowheads="1"/>
          </p:cNvSpPr>
          <p:nvPr/>
        </p:nvSpPr>
        <p:spPr bwMode="gray">
          <a:xfrm>
            <a:off x="919028" y="4687464"/>
            <a:ext cx="2300619" cy="110799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>
            <a:spAutoFit/>
          </a:bodyPr>
          <a:lstStyle>
            <a:lvl1pPr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 defTabSz="784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defTabSz="784225" eaLnBrk="0" fontAlgn="t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</a:pPr>
            <a:r>
              <a:rPr lang="en-US" altLang="zh-CN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DoD</a:t>
            </a:r>
            <a:endParaRPr lang="en-US" altLang="zh-CN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fontAlgn="base">
              <a:spcBef>
                <a:spcPct val="50000"/>
              </a:spcBef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+</a:t>
            </a:r>
          </a:p>
          <a:p>
            <a:pPr algn="ctr" fontAlgn="base">
              <a:spcBef>
                <a:spcPct val="50000"/>
              </a:spcBef>
            </a:pPr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Ordered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五边形 31"/>
          <p:cNvSpPr/>
          <p:nvPr/>
        </p:nvSpPr>
        <p:spPr bwMode="gray">
          <a:xfrm flipH="1">
            <a:off x="7722492" y="4725636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cxnSp>
        <p:nvCxnSpPr>
          <p:cNvPr id="79" name="直接连接符 37"/>
          <p:cNvCxnSpPr/>
          <p:nvPr/>
        </p:nvCxnSpPr>
        <p:spPr bwMode="gray">
          <a:xfrm>
            <a:off x="3917701" y="5584962"/>
            <a:ext cx="1165147" cy="0"/>
          </a:xfrm>
          <a:prstGeom prst="line">
            <a:avLst/>
          </a:prstGeom>
          <a:ln w="28575">
            <a:solidFill>
              <a:srgbClr val="62B23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24"/>
          <p:cNvSpPr/>
          <p:nvPr/>
        </p:nvSpPr>
        <p:spPr bwMode="gray">
          <a:xfrm>
            <a:off x="4005362" y="5616494"/>
            <a:ext cx="10924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请求标签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1" name="直接连接符 37"/>
          <p:cNvCxnSpPr/>
          <p:nvPr/>
        </p:nvCxnSpPr>
        <p:spPr bwMode="gray">
          <a:xfrm>
            <a:off x="5996128" y="5592238"/>
            <a:ext cx="1165147" cy="0"/>
          </a:xfrm>
          <a:prstGeom prst="line">
            <a:avLst/>
          </a:prstGeom>
          <a:ln w="28575">
            <a:solidFill>
              <a:srgbClr val="62B23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24"/>
          <p:cNvSpPr/>
          <p:nvPr/>
        </p:nvSpPr>
        <p:spPr bwMode="gray">
          <a:xfrm>
            <a:off x="6083789" y="5623770"/>
            <a:ext cx="10924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请求标签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3" name="直接连接符 37"/>
          <p:cNvCxnSpPr/>
          <p:nvPr/>
        </p:nvCxnSpPr>
        <p:spPr bwMode="gray">
          <a:xfrm>
            <a:off x="8070421" y="5560706"/>
            <a:ext cx="1165147" cy="0"/>
          </a:xfrm>
          <a:prstGeom prst="line">
            <a:avLst/>
          </a:prstGeom>
          <a:ln w="28575">
            <a:solidFill>
              <a:srgbClr val="62B23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24"/>
          <p:cNvSpPr/>
          <p:nvPr/>
        </p:nvSpPr>
        <p:spPr bwMode="gray">
          <a:xfrm>
            <a:off x="8158082" y="5592238"/>
            <a:ext cx="10924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请求标签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Oval 29"/>
          <p:cNvSpPr/>
          <p:nvPr/>
        </p:nvSpPr>
        <p:spPr bwMode="gray">
          <a:xfrm>
            <a:off x="4249827" y="5898962"/>
            <a:ext cx="223557" cy="223557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Oval 29"/>
          <p:cNvSpPr/>
          <p:nvPr/>
        </p:nvSpPr>
        <p:spPr bwMode="gray">
          <a:xfrm>
            <a:off x="6388024" y="5898962"/>
            <a:ext cx="223557" cy="223557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Oval 29"/>
          <p:cNvSpPr/>
          <p:nvPr/>
        </p:nvSpPr>
        <p:spPr bwMode="gray">
          <a:xfrm>
            <a:off x="8538152" y="5898962"/>
            <a:ext cx="223557" cy="223557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Oval 29"/>
          <p:cNvSpPr/>
          <p:nvPr/>
        </p:nvSpPr>
        <p:spPr bwMode="gray">
          <a:xfrm>
            <a:off x="4249827" y="4413464"/>
            <a:ext cx="223557" cy="223557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Oval 29"/>
          <p:cNvSpPr/>
          <p:nvPr/>
        </p:nvSpPr>
        <p:spPr bwMode="gray">
          <a:xfrm>
            <a:off x="6388024" y="4413464"/>
            <a:ext cx="223557" cy="223557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Oval 29"/>
          <p:cNvSpPr/>
          <p:nvPr/>
        </p:nvSpPr>
        <p:spPr bwMode="gray">
          <a:xfrm>
            <a:off x="8538152" y="4413464"/>
            <a:ext cx="223557" cy="223557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Oval 29"/>
          <p:cNvSpPr/>
          <p:nvPr/>
        </p:nvSpPr>
        <p:spPr bwMode="gray">
          <a:xfrm>
            <a:off x="8467601" y="2769884"/>
            <a:ext cx="223557" cy="223557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Oval 29"/>
          <p:cNvSpPr/>
          <p:nvPr/>
        </p:nvSpPr>
        <p:spPr bwMode="gray">
          <a:xfrm>
            <a:off x="6388023" y="2756005"/>
            <a:ext cx="223557" cy="223557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Oval 29"/>
          <p:cNvSpPr/>
          <p:nvPr/>
        </p:nvSpPr>
        <p:spPr bwMode="gray">
          <a:xfrm>
            <a:off x="4249827" y="2753924"/>
            <a:ext cx="223557" cy="223557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 bwMode="gray">
          <a:xfrm>
            <a:off x="8941867" y="5804016"/>
            <a:ext cx="1229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/>
              <a:t>Egress LSR</a:t>
            </a:r>
            <a:endParaRPr lang="zh-CN" altLang="en-US" sz="1600" b="1" dirty="0"/>
          </a:p>
        </p:txBody>
      </p:sp>
      <p:sp>
        <p:nvSpPr>
          <p:cNvPr id="100" name="文本框 99"/>
          <p:cNvSpPr txBox="1"/>
          <p:nvPr/>
        </p:nvSpPr>
        <p:spPr bwMode="gray">
          <a:xfrm>
            <a:off x="8952267" y="4155557"/>
            <a:ext cx="1229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/>
              <a:t>Egress LSR</a:t>
            </a:r>
            <a:endParaRPr lang="zh-CN" altLang="en-US" sz="1600" b="1" dirty="0"/>
          </a:p>
        </p:txBody>
      </p:sp>
      <p:cxnSp>
        <p:nvCxnSpPr>
          <p:cNvPr id="59" name="直接连接符 4"/>
          <p:cNvCxnSpPr/>
          <p:nvPr/>
        </p:nvCxnSpPr>
        <p:spPr bwMode="gray">
          <a:xfrm flipV="1">
            <a:off x="10572765" y="3394403"/>
            <a:ext cx="0" cy="71845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31"/>
          <p:cNvSpPr txBox="1"/>
          <p:nvPr/>
        </p:nvSpPr>
        <p:spPr bwMode="gray">
          <a:xfrm>
            <a:off x="10495791" y="3567539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3" name="直接连接符 92"/>
          <p:cNvCxnSpPr/>
          <p:nvPr/>
        </p:nvCxnSpPr>
        <p:spPr bwMode="gray">
          <a:xfrm>
            <a:off x="9821864" y="3728251"/>
            <a:ext cx="750901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4"/>
          <p:cNvCxnSpPr/>
          <p:nvPr/>
        </p:nvCxnSpPr>
        <p:spPr bwMode="gray">
          <a:xfrm flipV="1">
            <a:off x="10572765" y="5057878"/>
            <a:ext cx="0" cy="71845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31"/>
          <p:cNvSpPr txBox="1"/>
          <p:nvPr/>
        </p:nvSpPr>
        <p:spPr bwMode="gray">
          <a:xfrm>
            <a:off x="10495791" y="5264796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gray">
          <a:xfrm>
            <a:off x="9821864" y="5395601"/>
            <a:ext cx="750901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28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标签保留：自由模式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自由（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Liberal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）模式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收到的标签映射可能来自下一跳，也可能来自非下一跳。</a:t>
            </a:r>
          </a:p>
          <a:p>
            <a:pPr lvl="1"/>
            <a:r>
              <a:rPr lang="zh-CN" altLang="en-US" sz="1600" dirty="0" smtClean="0">
                <a:sym typeface="Huawei Sans" panose="020C0503030203020204" pitchFamily="34" charset="0"/>
              </a:rPr>
              <a:t>对于从邻居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收到的标签映射，无论邻居</a:t>
            </a:r>
            <a:r>
              <a:rPr lang="en-US" altLang="zh-CN" sz="1600" dirty="0" smtClean="0">
                <a:sym typeface="Huawei Sans" panose="020C0503030203020204" pitchFamily="34" charset="0"/>
              </a:rPr>
              <a:t>LSR</a:t>
            </a:r>
            <a:r>
              <a:rPr lang="zh-CN" altLang="en-US" sz="1600" dirty="0" smtClean="0">
                <a:sym typeface="Huawei Sans" panose="020C0503030203020204" pitchFamily="34" charset="0"/>
              </a:rPr>
              <a:t>是不是自己的下一跳都保留。</a:t>
            </a:r>
          </a:p>
          <a:p>
            <a:pPr lvl="1"/>
            <a:endParaRPr lang="zh-CN" altLang="en-US" sz="1600" dirty="0">
              <a:sym typeface="Huawei Sans" panose="020C0503030203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 bwMode="gray">
          <a:xfrm>
            <a:off x="601770" y="3289498"/>
            <a:ext cx="8769395" cy="885065"/>
            <a:chOff x="615528" y="4859128"/>
            <a:chExt cx="8769395" cy="885065"/>
          </a:xfrm>
        </p:grpSpPr>
        <p:grpSp>
          <p:nvGrpSpPr>
            <p:cNvPr id="7" name="组合 6"/>
            <p:cNvGrpSpPr/>
            <p:nvPr/>
          </p:nvGrpSpPr>
          <p:grpSpPr bwMode="gray">
            <a:xfrm>
              <a:off x="2811064" y="4859128"/>
              <a:ext cx="6573859" cy="725733"/>
              <a:chOff x="1896669" y="4313697"/>
              <a:chExt cx="6573859" cy="725733"/>
            </a:xfrm>
          </p:grpSpPr>
          <p:sp>
            <p:nvSpPr>
              <p:cNvPr id="14" name="TextBox 43"/>
              <p:cNvSpPr txBox="1"/>
              <p:nvPr/>
            </p:nvSpPr>
            <p:spPr bwMode="gray">
              <a:xfrm>
                <a:off x="1945798" y="4313697"/>
                <a:ext cx="4058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5" name="TextBox 44"/>
              <p:cNvSpPr txBox="1"/>
              <p:nvPr/>
            </p:nvSpPr>
            <p:spPr bwMode="gray">
              <a:xfrm>
                <a:off x="3797252" y="4313697"/>
                <a:ext cx="4058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6" name="TextBox 48"/>
              <p:cNvSpPr txBox="1"/>
              <p:nvPr/>
            </p:nvSpPr>
            <p:spPr bwMode="gray">
              <a:xfrm>
                <a:off x="6194509" y="4313697"/>
                <a:ext cx="4058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R3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pic>
            <p:nvPicPr>
              <p:cNvPr id="17" name="图片 16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1896669" y="4596630"/>
                <a:ext cx="540000" cy="442800"/>
              </a:xfrm>
              <a:prstGeom prst="rect">
                <a:avLst/>
              </a:prstGeom>
            </p:spPr>
          </p:pic>
          <p:pic>
            <p:nvPicPr>
              <p:cNvPr id="18" name="图片 17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3736543" y="4596630"/>
                <a:ext cx="540000" cy="442800"/>
              </a:xfrm>
              <a:prstGeom prst="rect">
                <a:avLst/>
              </a:prstGeom>
            </p:spPr>
          </p:pic>
          <p:pic>
            <p:nvPicPr>
              <p:cNvPr id="19" name="图片 18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6137475" y="4596630"/>
                <a:ext cx="540000" cy="442800"/>
              </a:xfrm>
              <a:prstGeom prst="rect">
                <a:avLst/>
              </a:prstGeom>
            </p:spPr>
          </p:pic>
          <p:pic>
            <p:nvPicPr>
              <p:cNvPr id="20" name="图片 19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7930528" y="4596630"/>
                <a:ext cx="540000" cy="442800"/>
              </a:xfrm>
              <a:prstGeom prst="rect">
                <a:avLst/>
              </a:prstGeom>
            </p:spPr>
          </p:pic>
          <p:sp>
            <p:nvSpPr>
              <p:cNvPr id="21" name="TextBox 43"/>
              <p:cNvSpPr txBox="1"/>
              <p:nvPr/>
            </p:nvSpPr>
            <p:spPr bwMode="gray">
              <a:xfrm>
                <a:off x="7984085" y="4313697"/>
                <a:ext cx="4058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R4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cxnSp>
            <p:nvCxnSpPr>
              <p:cNvPr id="22" name="直接连接符 21"/>
              <p:cNvCxnSpPr>
                <a:stCxn id="17" idx="3"/>
                <a:endCxn id="18" idx="1"/>
              </p:cNvCxnSpPr>
              <p:nvPr/>
            </p:nvCxnSpPr>
            <p:spPr bwMode="gray">
              <a:xfrm>
                <a:off x="2436669" y="4818030"/>
                <a:ext cx="1299874" cy="0"/>
              </a:xfrm>
              <a:prstGeom prst="line">
                <a:avLst/>
              </a:prstGeom>
              <a:ln w="222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>
                <a:stCxn id="19" idx="1"/>
                <a:endCxn id="18" idx="3"/>
              </p:cNvCxnSpPr>
              <p:nvPr/>
            </p:nvCxnSpPr>
            <p:spPr bwMode="gray">
              <a:xfrm flipH="1">
                <a:off x="4276543" y="4818030"/>
                <a:ext cx="1860932" cy="0"/>
              </a:xfrm>
              <a:prstGeom prst="line">
                <a:avLst/>
              </a:prstGeom>
              <a:ln w="222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>
                <a:stCxn id="19" idx="3"/>
                <a:endCxn id="20" idx="1"/>
              </p:cNvCxnSpPr>
              <p:nvPr/>
            </p:nvCxnSpPr>
            <p:spPr bwMode="gray">
              <a:xfrm>
                <a:off x="6677475" y="4818030"/>
                <a:ext cx="12530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直接连接符 4"/>
            <p:cNvCxnSpPr/>
            <p:nvPr/>
          </p:nvCxnSpPr>
          <p:spPr bwMode="gray">
            <a:xfrm flipV="1">
              <a:off x="2021973" y="5025738"/>
              <a:ext cx="0" cy="71845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36"/>
            <p:cNvSpPr txBox="1"/>
            <p:nvPr/>
          </p:nvSpPr>
          <p:spPr bwMode="gray">
            <a:xfrm>
              <a:off x="615528" y="5205697"/>
              <a:ext cx="13885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192.168.1.0/24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 bwMode="gray">
            <a:xfrm flipH="1" flipV="1">
              <a:off x="2020092" y="5359586"/>
              <a:ext cx="807014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43"/>
          <p:cNvSpPr txBox="1"/>
          <p:nvPr/>
        </p:nvSpPr>
        <p:spPr bwMode="gray">
          <a:xfrm>
            <a:off x="5903468" y="5548580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7" name="直接连接符 26"/>
          <p:cNvCxnSpPr>
            <a:endCxn id="18" idx="2"/>
          </p:cNvCxnSpPr>
          <p:nvPr/>
        </p:nvCxnSpPr>
        <p:spPr bwMode="gray">
          <a:xfrm flipH="1" flipV="1">
            <a:off x="4907180" y="4015231"/>
            <a:ext cx="1042946" cy="11455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endCxn id="19" idx="2"/>
          </p:cNvCxnSpPr>
          <p:nvPr/>
        </p:nvCxnSpPr>
        <p:spPr bwMode="gray">
          <a:xfrm flipV="1">
            <a:off x="6309348" y="4015231"/>
            <a:ext cx="998764" cy="11455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36408" y="5077381"/>
            <a:ext cx="540000" cy="442800"/>
          </a:xfrm>
          <a:prstGeom prst="rect">
            <a:avLst/>
          </a:prstGeom>
        </p:spPr>
      </p:pic>
      <p:sp>
        <p:nvSpPr>
          <p:cNvPr id="33" name="五边形 31"/>
          <p:cNvSpPr/>
          <p:nvPr/>
        </p:nvSpPr>
        <p:spPr bwMode="gray">
          <a:xfrm>
            <a:off x="5205568" y="3273528"/>
            <a:ext cx="1800000" cy="270000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sp>
        <p:nvSpPr>
          <p:cNvPr id="34" name="五边形 31"/>
          <p:cNvSpPr/>
          <p:nvPr/>
        </p:nvSpPr>
        <p:spPr bwMode="gray">
          <a:xfrm rot="18642259">
            <a:off x="6196385" y="4650197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sp>
        <p:nvSpPr>
          <p:cNvPr id="28" name="TextBox 44"/>
          <p:cNvSpPr txBox="1"/>
          <p:nvPr/>
        </p:nvSpPr>
        <p:spPr bwMode="gray">
          <a:xfrm>
            <a:off x="4020975" y="399038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下一跳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TextBox 44"/>
          <p:cNvSpPr txBox="1"/>
          <p:nvPr/>
        </p:nvSpPr>
        <p:spPr bwMode="gray">
          <a:xfrm>
            <a:off x="5000657" y="542485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非下一跳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68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标签保留：保守模式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保守（</a:t>
            </a:r>
            <a:r>
              <a:rPr lang="en-US" altLang="zh-CN" sz="1800" smtClean="0">
                <a:sym typeface="Huawei Sans" panose="020C0503030203020204" pitchFamily="34" charset="0"/>
              </a:rPr>
              <a:t>Conservative</a:t>
            </a:r>
            <a:r>
              <a:rPr lang="zh-CN" altLang="en-US" sz="1800" smtClean="0">
                <a:sym typeface="Huawei Sans" panose="020C0503030203020204" pitchFamily="34" charset="0"/>
              </a:rPr>
              <a:t>）模式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sz="1600" smtClean="0">
                <a:sym typeface="Huawei Sans" panose="020C0503030203020204" pitchFamily="34" charset="0"/>
              </a:rPr>
              <a:t>对于从邻居</a:t>
            </a:r>
            <a:r>
              <a:rPr lang="en-US" altLang="zh-CN" sz="1600" smtClean="0">
                <a:sym typeface="Huawei Sans" panose="020C0503030203020204" pitchFamily="34" charset="0"/>
              </a:rPr>
              <a:t>LSR</a:t>
            </a:r>
            <a:r>
              <a:rPr lang="zh-CN" altLang="en-US" sz="1600" smtClean="0">
                <a:sym typeface="Huawei Sans" panose="020C0503030203020204" pitchFamily="34" charset="0"/>
              </a:rPr>
              <a:t>收到的标签映射，只有当邻居</a:t>
            </a:r>
            <a:r>
              <a:rPr lang="en-US" altLang="zh-CN" sz="1600" smtClean="0">
                <a:sym typeface="Huawei Sans" panose="020C0503030203020204" pitchFamily="34" charset="0"/>
              </a:rPr>
              <a:t>LSR</a:t>
            </a:r>
            <a:r>
              <a:rPr lang="zh-CN" altLang="en-US" sz="1600" smtClean="0">
                <a:sym typeface="Huawei Sans" panose="020C0503030203020204" pitchFamily="34" charset="0"/>
              </a:rPr>
              <a:t>是自己的下一跳时才保留。</a:t>
            </a:r>
          </a:p>
          <a:p>
            <a:pPr lvl="1"/>
            <a:endParaRPr lang="zh-CN" altLang="en-US" sz="1600" dirty="0">
              <a:sym typeface="Huawei Sans" panose="020C0503030203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 bwMode="gray">
          <a:xfrm>
            <a:off x="2006334" y="3289498"/>
            <a:ext cx="7364831" cy="885065"/>
            <a:chOff x="2020092" y="4859128"/>
            <a:chExt cx="7364831" cy="885065"/>
          </a:xfrm>
        </p:grpSpPr>
        <p:grpSp>
          <p:nvGrpSpPr>
            <p:cNvPr id="7" name="组合 6"/>
            <p:cNvGrpSpPr/>
            <p:nvPr/>
          </p:nvGrpSpPr>
          <p:grpSpPr bwMode="gray">
            <a:xfrm>
              <a:off x="2811064" y="4859128"/>
              <a:ext cx="6573859" cy="725733"/>
              <a:chOff x="1896669" y="4313697"/>
              <a:chExt cx="6573859" cy="725733"/>
            </a:xfrm>
          </p:grpSpPr>
          <p:sp>
            <p:nvSpPr>
              <p:cNvPr id="14" name="TextBox 43"/>
              <p:cNvSpPr txBox="1"/>
              <p:nvPr/>
            </p:nvSpPr>
            <p:spPr bwMode="gray">
              <a:xfrm>
                <a:off x="1945798" y="4313697"/>
                <a:ext cx="4058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5" name="TextBox 44"/>
              <p:cNvSpPr txBox="1"/>
              <p:nvPr/>
            </p:nvSpPr>
            <p:spPr bwMode="gray">
              <a:xfrm>
                <a:off x="3797252" y="4313697"/>
                <a:ext cx="4058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6" name="TextBox 48"/>
              <p:cNvSpPr txBox="1"/>
              <p:nvPr/>
            </p:nvSpPr>
            <p:spPr bwMode="gray">
              <a:xfrm>
                <a:off x="6194509" y="4313697"/>
                <a:ext cx="4058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R3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pic>
            <p:nvPicPr>
              <p:cNvPr id="17" name="图片 16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1896669" y="4596630"/>
                <a:ext cx="540000" cy="442800"/>
              </a:xfrm>
              <a:prstGeom prst="rect">
                <a:avLst/>
              </a:prstGeom>
            </p:spPr>
          </p:pic>
          <p:pic>
            <p:nvPicPr>
              <p:cNvPr id="18" name="图片 17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3736543" y="4596630"/>
                <a:ext cx="540000" cy="442800"/>
              </a:xfrm>
              <a:prstGeom prst="rect">
                <a:avLst/>
              </a:prstGeom>
            </p:spPr>
          </p:pic>
          <p:pic>
            <p:nvPicPr>
              <p:cNvPr id="19" name="图片 18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6137475" y="4596630"/>
                <a:ext cx="540000" cy="442800"/>
              </a:xfrm>
              <a:prstGeom prst="rect">
                <a:avLst/>
              </a:prstGeom>
            </p:spPr>
          </p:pic>
          <p:pic>
            <p:nvPicPr>
              <p:cNvPr id="20" name="图片 19"/>
              <p:cNvPicPr>
                <a:picLocks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7930528" y="4596630"/>
                <a:ext cx="540000" cy="442800"/>
              </a:xfrm>
              <a:prstGeom prst="rect">
                <a:avLst/>
              </a:prstGeom>
            </p:spPr>
          </p:pic>
          <p:sp>
            <p:nvSpPr>
              <p:cNvPr id="21" name="TextBox 43"/>
              <p:cNvSpPr txBox="1"/>
              <p:nvPr/>
            </p:nvSpPr>
            <p:spPr bwMode="gray">
              <a:xfrm>
                <a:off x="7984085" y="4313697"/>
                <a:ext cx="4058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R4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cxnSp>
            <p:nvCxnSpPr>
              <p:cNvPr id="22" name="直接连接符 21"/>
              <p:cNvCxnSpPr>
                <a:stCxn id="17" idx="3"/>
                <a:endCxn id="18" idx="1"/>
              </p:cNvCxnSpPr>
              <p:nvPr/>
            </p:nvCxnSpPr>
            <p:spPr bwMode="gray">
              <a:xfrm>
                <a:off x="2436669" y="4818030"/>
                <a:ext cx="1299874" cy="0"/>
              </a:xfrm>
              <a:prstGeom prst="line">
                <a:avLst/>
              </a:prstGeom>
              <a:ln w="222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>
                <a:stCxn id="19" idx="1"/>
                <a:endCxn id="18" idx="3"/>
              </p:cNvCxnSpPr>
              <p:nvPr/>
            </p:nvCxnSpPr>
            <p:spPr bwMode="gray">
              <a:xfrm flipH="1">
                <a:off x="4276543" y="4818030"/>
                <a:ext cx="1860932" cy="0"/>
              </a:xfrm>
              <a:prstGeom prst="line">
                <a:avLst/>
              </a:prstGeom>
              <a:ln w="222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>
                <a:stCxn id="19" idx="3"/>
                <a:endCxn id="20" idx="1"/>
              </p:cNvCxnSpPr>
              <p:nvPr/>
            </p:nvCxnSpPr>
            <p:spPr bwMode="gray">
              <a:xfrm>
                <a:off x="6677475" y="4818030"/>
                <a:ext cx="1253053" cy="0"/>
              </a:xfrm>
              <a:prstGeom prst="line">
                <a:avLst/>
              </a:prstGeom>
              <a:ln w="222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直接连接符 4"/>
            <p:cNvCxnSpPr/>
            <p:nvPr/>
          </p:nvCxnSpPr>
          <p:spPr bwMode="gray">
            <a:xfrm flipV="1">
              <a:off x="2021973" y="5025738"/>
              <a:ext cx="0" cy="71845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 bwMode="gray">
            <a:xfrm flipH="1" flipV="1">
              <a:off x="2020092" y="5359586"/>
              <a:ext cx="807014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43"/>
          <p:cNvSpPr txBox="1"/>
          <p:nvPr/>
        </p:nvSpPr>
        <p:spPr bwMode="gray">
          <a:xfrm>
            <a:off x="5903468" y="5548580"/>
            <a:ext cx="405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R5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6" name="直接连接符 25"/>
          <p:cNvCxnSpPr>
            <a:endCxn id="18" idx="2"/>
          </p:cNvCxnSpPr>
          <p:nvPr/>
        </p:nvCxnSpPr>
        <p:spPr bwMode="gray">
          <a:xfrm flipH="1" flipV="1">
            <a:off x="4907180" y="4015231"/>
            <a:ext cx="1042946" cy="11455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endCxn id="19" idx="2"/>
          </p:cNvCxnSpPr>
          <p:nvPr/>
        </p:nvCxnSpPr>
        <p:spPr bwMode="gray">
          <a:xfrm flipV="1">
            <a:off x="6309348" y="4015231"/>
            <a:ext cx="998764" cy="11455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36408" y="5077381"/>
            <a:ext cx="540000" cy="442800"/>
          </a:xfrm>
          <a:prstGeom prst="rect">
            <a:avLst/>
          </a:prstGeom>
        </p:spPr>
      </p:pic>
      <p:sp>
        <p:nvSpPr>
          <p:cNvPr id="29" name="五边形 31"/>
          <p:cNvSpPr/>
          <p:nvPr/>
        </p:nvSpPr>
        <p:spPr bwMode="gray">
          <a:xfrm>
            <a:off x="5205568" y="3273528"/>
            <a:ext cx="1800000" cy="270000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sp>
        <p:nvSpPr>
          <p:cNvPr id="30" name="五边形 31"/>
          <p:cNvSpPr/>
          <p:nvPr/>
        </p:nvSpPr>
        <p:spPr bwMode="gray">
          <a:xfrm rot="18642259">
            <a:off x="6196385" y="4650197"/>
            <a:ext cx="1800000" cy="270504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向上游通告标签映射</a:t>
            </a:r>
          </a:p>
        </p:txBody>
      </p:sp>
      <p:sp>
        <p:nvSpPr>
          <p:cNvPr id="31" name="十字形 30"/>
          <p:cNvSpPr/>
          <p:nvPr/>
        </p:nvSpPr>
        <p:spPr bwMode="gray">
          <a:xfrm rot="2785165">
            <a:off x="7707273" y="4208847"/>
            <a:ext cx="314163" cy="314163"/>
          </a:xfrm>
          <a:prstGeom prst="plus">
            <a:avLst>
              <a:gd name="adj" fmla="val 39697"/>
            </a:avLst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9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 bwMode="gray">
          <a:xfrm>
            <a:off x="7985346" y="419175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不保存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圆角矩形标注 31"/>
          <p:cNvSpPr/>
          <p:nvPr/>
        </p:nvSpPr>
        <p:spPr bwMode="gray">
          <a:xfrm>
            <a:off x="7501026" y="2426877"/>
            <a:ext cx="3101384" cy="747631"/>
          </a:xfrm>
          <a:prstGeom prst="wedgeRoundRectCallout">
            <a:avLst>
              <a:gd name="adj1" fmla="val -46138"/>
              <a:gd name="adj2" fmla="val 102178"/>
              <a:gd name="adj3" fmla="val 16667"/>
            </a:avLst>
          </a:prstGeom>
          <a:noFill/>
          <a:ln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假设</a:t>
            </a:r>
            <a:r>
              <a:rPr lang="en-US" altLang="zh-CN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上去往</a:t>
            </a:r>
            <a:r>
              <a:rPr lang="en-US" altLang="zh-CN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路由下一跳为</a:t>
            </a:r>
            <a:r>
              <a:rPr lang="en-US" altLang="zh-CN" sz="16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TextBox 36"/>
          <p:cNvSpPr txBox="1"/>
          <p:nvPr/>
        </p:nvSpPr>
        <p:spPr bwMode="gray">
          <a:xfrm>
            <a:off x="601770" y="3636067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31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PHP</a:t>
            </a:r>
            <a:r>
              <a:rPr lang="zh-CN" altLang="en-US" smtClean="0">
                <a:sym typeface="Huawei Sans" panose="020C0503030203020204" pitchFamily="34" charset="0"/>
              </a:rPr>
              <a:t>特性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 bwMode="gray">
          <a:xfrm>
            <a:off x="441968" y="4091590"/>
            <a:ext cx="11293475" cy="1766737"/>
          </a:xfrm>
        </p:spPr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PHP</a:t>
            </a:r>
            <a:r>
              <a:rPr lang="zh-CN" altLang="en-US" sz="1800" dirty="0" smtClean="0">
                <a:sym typeface="Huawei Sans" panose="020C0503030203020204" pitchFamily="34" charset="0"/>
              </a:rPr>
              <a:t>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Penultimate Hop Popping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，次末跳弹出），如果激活了</a:t>
            </a:r>
            <a:r>
              <a:rPr lang="en-US" altLang="zh-CN" sz="1800" dirty="0" smtClean="0">
                <a:sym typeface="Huawei Sans" panose="020C0503030203020204" pitchFamily="34" charset="0"/>
              </a:rPr>
              <a:t>PHP</a:t>
            </a:r>
            <a:r>
              <a:rPr lang="zh-CN" altLang="en-US" sz="1800" dirty="0" smtClean="0">
                <a:sym typeface="Huawei Sans" panose="020C0503030203020204" pitchFamily="34" charset="0"/>
              </a:rPr>
              <a:t>特性，那么</a:t>
            </a:r>
            <a:r>
              <a:rPr lang="en-US" altLang="zh-CN" sz="1800" dirty="0" smtClean="0">
                <a:sym typeface="Huawei Sans" panose="020C0503030203020204" pitchFamily="34" charset="0"/>
              </a:rPr>
              <a:t>egress</a:t>
            </a:r>
            <a:r>
              <a:rPr lang="zh-CN" altLang="en-US" sz="1800" dirty="0" smtClean="0">
                <a:sym typeface="Huawei Sans" panose="020C0503030203020204" pitchFamily="34" charset="0"/>
              </a:rPr>
              <a:t>节点在为本地路由分配标签的时候，会分配一个特殊标签（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3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），该标签被称为隐式空标签（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Implicit NULL Label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）。当</a:t>
            </a:r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转发一个标签报文时，如果发现对应的出标签值为</a:t>
            </a:r>
            <a:r>
              <a:rPr lang="en-US" altLang="zh-CN" sz="1800" dirty="0" smtClean="0">
                <a:sym typeface="Huawei Sans" panose="020C0503030203020204" pitchFamily="34" charset="0"/>
              </a:rPr>
              <a:t>3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，则</a:t>
            </a:r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会将栈顶标签弹出，并将里面所封装的数据转发给下游</a:t>
            </a:r>
            <a:r>
              <a:rPr lang="en-US" altLang="zh-CN" sz="1800" dirty="0" smtClean="0">
                <a:sym typeface="Huawei Sans" panose="020C0503030203020204" pitchFamily="34" charset="0"/>
              </a:rPr>
              <a:t>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。</a:t>
            </a:r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5" name="Rounded Rectangle 36"/>
          <p:cNvSpPr/>
          <p:nvPr/>
        </p:nvSpPr>
        <p:spPr bwMode="gray">
          <a:xfrm>
            <a:off x="3334322" y="1912159"/>
            <a:ext cx="5057297" cy="1954400"/>
          </a:xfrm>
          <a:prstGeom prst="roundRect">
            <a:avLst>
              <a:gd name="adj" fmla="val 5020"/>
            </a:avLst>
          </a:prstGeom>
          <a:solidFill>
            <a:srgbClr val="BEE9EE"/>
          </a:solidFill>
          <a:ln w="1905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zh-CN" altLang="en-US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" name="直接连接符 4"/>
          <p:cNvCxnSpPr/>
          <p:nvPr/>
        </p:nvCxnSpPr>
        <p:spPr bwMode="gray">
          <a:xfrm>
            <a:off x="2221673" y="2944977"/>
            <a:ext cx="6792599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24"/>
          <p:cNvCxnSpPr/>
          <p:nvPr/>
        </p:nvCxnSpPr>
        <p:spPr bwMode="gray">
          <a:xfrm flipV="1">
            <a:off x="9019960" y="2735551"/>
            <a:ext cx="0" cy="418852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25"/>
          <p:cNvSpPr/>
          <p:nvPr/>
        </p:nvSpPr>
        <p:spPr bwMode="gray">
          <a:xfrm>
            <a:off x="9017221" y="2791089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TextBox 43"/>
          <p:cNvSpPr txBox="1"/>
          <p:nvPr/>
        </p:nvSpPr>
        <p:spPr bwMode="gray">
          <a:xfrm>
            <a:off x="3275163" y="3185466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TextBox 44"/>
          <p:cNvSpPr txBox="1"/>
          <p:nvPr/>
        </p:nvSpPr>
        <p:spPr bwMode="gray">
          <a:xfrm>
            <a:off x="5674810" y="3185466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TextBox 48"/>
          <p:cNvSpPr txBox="1"/>
          <p:nvPr/>
        </p:nvSpPr>
        <p:spPr bwMode="gray">
          <a:xfrm>
            <a:off x="8051694" y="3185466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400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矩形 33"/>
          <p:cNvSpPr/>
          <p:nvPr/>
        </p:nvSpPr>
        <p:spPr bwMode="gray">
          <a:xfrm>
            <a:off x="3472718" y="2100758"/>
            <a:ext cx="593152" cy="390095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1033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3" name="直接连接符 12"/>
          <p:cNvCxnSpPr/>
          <p:nvPr/>
        </p:nvCxnSpPr>
        <p:spPr bwMode="gray">
          <a:xfrm rot="10800000" flipH="1">
            <a:off x="3461280" y="2594129"/>
            <a:ext cx="2050788" cy="0"/>
          </a:xfrm>
          <a:prstGeom prst="line">
            <a:avLst/>
          </a:prstGeom>
          <a:ln w="38100">
            <a:solidFill>
              <a:srgbClr val="62B2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32"/>
          <p:cNvSpPr/>
          <p:nvPr/>
        </p:nvSpPr>
        <p:spPr bwMode="gray">
          <a:xfrm>
            <a:off x="2221673" y="2100758"/>
            <a:ext cx="988699" cy="390095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</a:t>
            </a:r>
            <a:r>
              <a:rPr lang="en-US" altLang="zh-CN" sz="12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192.168.3.3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5" name="直接连接符 55"/>
          <p:cNvCxnSpPr/>
          <p:nvPr/>
        </p:nvCxnSpPr>
        <p:spPr bwMode="gray">
          <a:xfrm rot="10800000" flipH="1">
            <a:off x="2221673" y="2594129"/>
            <a:ext cx="1039936" cy="0"/>
          </a:xfrm>
          <a:prstGeom prst="line">
            <a:avLst/>
          </a:prstGeom>
          <a:ln w="38100">
            <a:solidFill>
              <a:srgbClr val="62B2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55"/>
          <p:cNvCxnSpPr/>
          <p:nvPr/>
        </p:nvCxnSpPr>
        <p:spPr bwMode="gray">
          <a:xfrm rot="10800000" flipH="1">
            <a:off x="5974753" y="2594129"/>
            <a:ext cx="2064464" cy="0"/>
          </a:xfrm>
          <a:prstGeom prst="line">
            <a:avLst/>
          </a:prstGeom>
          <a:ln w="38100">
            <a:solidFill>
              <a:srgbClr val="62B2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55"/>
          <p:cNvCxnSpPr/>
          <p:nvPr/>
        </p:nvCxnSpPr>
        <p:spPr bwMode="gray">
          <a:xfrm rot="10800000" flipH="1">
            <a:off x="8479669" y="2594129"/>
            <a:ext cx="1039936" cy="0"/>
          </a:xfrm>
          <a:prstGeom prst="line">
            <a:avLst/>
          </a:prstGeom>
          <a:ln w="38100">
            <a:solidFill>
              <a:srgbClr val="62B2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7"/>
          <p:cNvSpPr/>
          <p:nvPr/>
        </p:nvSpPr>
        <p:spPr bwMode="gray">
          <a:xfrm>
            <a:off x="5198290" y="3470703"/>
            <a:ext cx="13404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Domain</a:t>
            </a:r>
          </a:p>
        </p:txBody>
      </p:sp>
      <p:sp>
        <p:nvSpPr>
          <p:cNvPr id="20" name="矩形 32"/>
          <p:cNvSpPr/>
          <p:nvPr/>
        </p:nvSpPr>
        <p:spPr bwMode="gray">
          <a:xfrm>
            <a:off x="4065870" y="2100758"/>
            <a:ext cx="988699" cy="390095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</a:t>
            </a:r>
            <a:r>
              <a:rPr lang="en-US" altLang="zh-CN" sz="1200" kern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192.168.3.3</a:t>
            </a:r>
            <a:endParaRPr lang="zh-CN" altLang="en-US" sz="1200" kern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32"/>
          <p:cNvSpPr/>
          <p:nvPr/>
        </p:nvSpPr>
        <p:spPr bwMode="gray">
          <a:xfrm>
            <a:off x="6572292" y="2100758"/>
            <a:ext cx="988699" cy="390095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</a:t>
            </a:r>
            <a:r>
              <a:rPr lang="en-US" altLang="zh-CN" sz="12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192.168.3.</a:t>
            </a:r>
            <a:r>
              <a:rPr lang="en-US" altLang="zh-CN" sz="1200" kern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kern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32"/>
          <p:cNvSpPr/>
          <p:nvPr/>
        </p:nvSpPr>
        <p:spPr bwMode="gray">
          <a:xfrm>
            <a:off x="8488461" y="2100758"/>
            <a:ext cx="988699" cy="390095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</a:t>
            </a:r>
            <a:r>
              <a:rPr lang="en-US" altLang="zh-CN" sz="12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</a:t>
            </a:r>
            <a:r>
              <a:rPr lang="en-US" altLang="zh-CN" sz="1200" kern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.3</a:t>
            </a:r>
            <a:endParaRPr lang="zh-CN" altLang="en-US" sz="1200" kern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32"/>
          <p:cNvSpPr/>
          <p:nvPr/>
        </p:nvSpPr>
        <p:spPr bwMode="gray">
          <a:xfrm>
            <a:off x="7916892" y="1392288"/>
            <a:ext cx="898817" cy="217246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 Packet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矩形 33"/>
          <p:cNvSpPr/>
          <p:nvPr/>
        </p:nvSpPr>
        <p:spPr bwMode="gray">
          <a:xfrm>
            <a:off x="7023615" y="1392288"/>
            <a:ext cx="593152" cy="217246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66211" y="2719946"/>
            <a:ext cx="540000" cy="442800"/>
          </a:xfrm>
          <a:prstGeom prst="rect">
            <a:avLst/>
          </a:prstGeom>
        </p:spPr>
      </p:pic>
      <p:pic>
        <p:nvPicPr>
          <p:cNvPr id="26" name="图片 2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93887" y="2730071"/>
            <a:ext cx="540000" cy="442800"/>
          </a:xfrm>
          <a:prstGeom prst="rect">
            <a:avLst/>
          </a:prstGeom>
        </p:spPr>
      </p:pic>
      <p:pic>
        <p:nvPicPr>
          <p:cNvPr id="27" name="图片 2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156242" y="2716162"/>
            <a:ext cx="540000" cy="442800"/>
          </a:xfrm>
          <a:prstGeom prst="rect">
            <a:avLst/>
          </a:prstGeom>
        </p:spPr>
      </p:pic>
      <p:sp>
        <p:nvSpPr>
          <p:cNvPr id="30" name="五边形 29"/>
          <p:cNvSpPr/>
          <p:nvPr/>
        </p:nvSpPr>
        <p:spPr bwMode="gray">
          <a:xfrm flipH="1">
            <a:off x="6248942" y="3098866"/>
            <a:ext cx="1800000" cy="384710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192.168.3.0/24 Label=3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五边形 31"/>
          <p:cNvSpPr/>
          <p:nvPr/>
        </p:nvSpPr>
        <p:spPr bwMode="gray">
          <a:xfrm flipH="1">
            <a:off x="3703098" y="3098865"/>
            <a:ext cx="1800000" cy="384711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192.168.3.0/24 Label=1033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84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圆角矩形标注 75"/>
          <p:cNvSpPr/>
          <p:nvPr/>
        </p:nvSpPr>
        <p:spPr bwMode="gray">
          <a:xfrm>
            <a:off x="7358911" y="2125803"/>
            <a:ext cx="1727031" cy="566479"/>
          </a:xfrm>
          <a:prstGeom prst="wedgeRoundRectCallout">
            <a:avLst>
              <a:gd name="adj1" fmla="val -51475"/>
              <a:gd name="adj2" fmla="val 134453"/>
              <a:gd name="adj3" fmla="val 16667"/>
            </a:avLst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次末跳弹出，</a:t>
            </a:r>
            <a:endParaRPr lang="en-US" altLang="zh-CN" sz="1400" dirty="0" smtClean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但丢失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了</a:t>
            </a:r>
            <a:r>
              <a:rPr lang="en-US" altLang="zh-CN" sz="1400" dirty="0" err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r>
              <a:rPr lang="zh-CN" altLang="en-US" sz="14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信息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隐式空标签与显式空标签 </a:t>
            </a:r>
            <a:r>
              <a:rPr lang="en-US" altLang="zh-CN" smtClean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缺省情况下，</a:t>
            </a:r>
            <a:r>
              <a:rPr lang="en-US" altLang="zh-CN" sz="1800" dirty="0" smtClean="0">
                <a:sym typeface="Huawei Sans" panose="020C0503030203020204" pitchFamily="34" charset="0"/>
              </a:rPr>
              <a:t>Egress</a:t>
            </a:r>
            <a:r>
              <a:rPr lang="zh-CN" altLang="en-US" sz="1800" dirty="0" smtClean="0">
                <a:sym typeface="Huawei Sans" panose="020C0503030203020204" pitchFamily="34" charset="0"/>
              </a:rPr>
              <a:t>节点向倒数第二跳分配隐式空标签（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implicit-null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），即特殊标签</a:t>
            </a:r>
            <a:r>
              <a:rPr lang="en-US" altLang="zh-CN" sz="1800" dirty="0" smtClean="0">
                <a:sym typeface="Huawei Sans" panose="020C0503030203020204" pitchFamily="34" charset="0"/>
              </a:rPr>
              <a:t>3</a:t>
            </a:r>
            <a:r>
              <a:rPr lang="zh-CN" altLang="en-US" sz="1800" dirty="0" smtClean="0">
                <a:sym typeface="Huawei Sans" panose="020C0503030203020204" pitchFamily="34" charset="0"/>
              </a:rPr>
              <a:t>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zh-CN" altLang="en-US" sz="1800" dirty="0" smtClean="0">
                <a:sym typeface="Huawei Sans" panose="020C0503030203020204" pitchFamily="34" charset="0"/>
              </a:rPr>
              <a:t>但在部署</a:t>
            </a:r>
            <a:r>
              <a:rPr lang="en-US" altLang="zh-CN" sz="1800" dirty="0" err="1" smtClean="0">
                <a:sym typeface="Huawei Sans" panose="020C0503030203020204" pitchFamily="34" charset="0"/>
              </a:rPr>
              <a:t>QoS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的场景下，标签被弹出后，其中的优先级也会一并丢失。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endParaRPr lang="en-US" altLang="zh-CN" sz="1800" dirty="0" smtClean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 bwMode="gray">
          <a:xfrm>
            <a:off x="2811064" y="2678766"/>
            <a:ext cx="6573859" cy="758583"/>
            <a:chOff x="1896669" y="4280847"/>
            <a:chExt cx="6573859" cy="758583"/>
          </a:xfrm>
        </p:grpSpPr>
        <p:sp>
          <p:nvSpPr>
            <p:cNvPr id="24" name="TextBox 43"/>
            <p:cNvSpPr txBox="1"/>
            <p:nvPr/>
          </p:nvSpPr>
          <p:spPr bwMode="gray">
            <a:xfrm>
              <a:off x="1945798" y="428084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TextBox 44"/>
            <p:cNvSpPr txBox="1"/>
            <p:nvPr/>
          </p:nvSpPr>
          <p:spPr bwMode="gray">
            <a:xfrm>
              <a:off x="3987752" y="428084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" name="TextBox 48"/>
            <p:cNvSpPr txBox="1"/>
            <p:nvPr/>
          </p:nvSpPr>
          <p:spPr bwMode="gray">
            <a:xfrm>
              <a:off x="5946859" y="428084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R3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27" name="图片 26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896669" y="4596630"/>
              <a:ext cx="540000" cy="442800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927043" y="4596630"/>
              <a:ext cx="540000" cy="442800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930528" y="4596630"/>
              <a:ext cx="540000" cy="442800"/>
            </a:xfrm>
            <a:prstGeom prst="rect">
              <a:avLst/>
            </a:prstGeom>
          </p:spPr>
        </p:pic>
        <p:sp>
          <p:nvSpPr>
            <p:cNvPr id="31" name="TextBox 43"/>
            <p:cNvSpPr txBox="1"/>
            <p:nvPr/>
          </p:nvSpPr>
          <p:spPr bwMode="gray">
            <a:xfrm>
              <a:off x="7984085" y="428084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R4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32" name="直接连接符 31"/>
            <p:cNvCxnSpPr>
              <a:stCxn id="27" idx="3"/>
              <a:endCxn id="28" idx="1"/>
            </p:cNvCxnSpPr>
            <p:nvPr/>
          </p:nvCxnSpPr>
          <p:spPr bwMode="gray">
            <a:xfrm>
              <a:off x="2436669" y="4818030"/>
              <a:ext cx="1490374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>
              <a:stCxn id="29" idx="1"/>
              <a:endCxn id="28" idx="3"/>
            </p:cNvCxnSpPr>
            <p:nvPr/>
          </p:nvCxnSpPr>
          <p:spPr bwMode="gray">
            <a:xfrm flipH="1">
              <a:off x="4467043" y="4818030"/>
              <a:ext cx="1460882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29" idx="3"/>
              <a:endCxn id="30" idx="1"/>
            </p:cNvCxnSpPr>
            <p:nvPr/>
          </p:nvCxnSpPr>
          <p:spPr bwMode="gray">
            <a:xfrm>
              <a:off x="6467925" y="4818030"/>
              <a:ext cx="1462603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图片 28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927925" y="4596630"/>
              <a:ext cx="540000" cy="442800"/>
            </a:xfrm>
            <a:prstGeom prst="rect">
              <a:avLst/>
            </a:prstGeom>
          </p:spPr>
        </p:pic>
      </p:grpSp>
      <p:cxnSp>
        <p:nvCxnSpPr>
          <p:cNvPr id="6" name="直接箭头连接符 5"/>
          <p:cNvCxnSpPr/>
          <p:nvPr/>
        </p:nvCxnSpPr>
        <p:spPr bwMode="gray">
          <a:xfrm>
            <a:off x="3590986" y="2950934"/>
            <a:ext cx="10800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62B23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7" name="直接箭头连接符 6"/>
          <p:cNvCxnSpPr/>
          <p:nvPr/>
        </p:nvCxnSpPr>
        <p:spPr bwMode="gray">
          <a:xfrm>
            <a:off x="5591402" y="2950934"/>
            <a:ext cx="10800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62B23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8" name="直接箭头连接符 7"/>
          <p:cNvCxnSpPr/>
          <p:nvPr/>
        </p:nvCxnSpPr>
        <p:spPr bwMode="gray">
          <a:xfrm>
            <a:off x="7539095" y="2950934"/>
            <a:ext cx="10800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62B23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9" name="直接连接符 4"/>
          <p:cNvCxnSpPr/>
          <p:nvPr/>
        </p:nvCxnSpPr>
        <p:spPr bwMode="gray">
          <a:xfrm flipV="1">
            <a:off x="10251574" y="2878226"/>
            <a:ext cx="0" cy="71845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31"/>
          <p:cNvSpPr txBox="1"/>
          <p:nvPr/>
        </p:nvSpPr>
        <p:spPr bwMode="gray">
          <a:xfrm>
            <a:off x="10248923" y="3058185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" name="直接连接符 4"/>
          <p:cNvCxnSpPr/>
          <p:nvPr/>
        </p:nvCxnSpPr>
        <p:spPr bwMode="gray">
          <a:xfrm flipV="1">
            <a:off x="2021973" y="2878226"/>
            <a:ext cx="0" cy="71845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36"/>
          <p:cNvSpPr txBox="1"/>
          <p:nvPr/>
        </p:nvSpPr>
        <p:spPr bwMode="gray">
          <a:xfrm>
            <a:off x="573850" y="3058185"/>
            <a:ext cx="1430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3" name="直接连接符 12"/>
          <p:cNvCxnSpPr/>
          <p:nvPr/>
        </p:nvCxnSpPr>
        <p:spPr bwMode="gray">
          <a:xfrm flipV="1">
            <a:off x="9384923" y="3212074"/>
            <a:ext cx="864000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gray">
          <a:xfrm flipH="1" flipV="1">
            <a:off x="2020092" y="3212074"/>
            <a:ext cx="807014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 bwMode="gray">
          <a:xfrm>
            <a:off x="3266073" y="3215949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10.0.12.1/24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33"/>
          <p:cNvSpPr/>
          <p:nvPr/>
        </p:nvSpPr>
        <p:spPr bwMode="gray">
          <a:xfrm>
            <a:off x="3331661" y="3526981"/>
            <a:ext cx="772315" cy="432000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 32"/>
          <p:cNvSpPr/>
          <p:nvPr/>
        </p:nvSpPr>
        <p:spPr bwMode="gray">
          <a:xfrm>
            <a:off x="4103975" y="3526981"/>
            <a:ext cx="1080000" cy="432000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192.168.4.4 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矩形 33"/>
          <p:cNvSpPr/>
          <p:nvPr/>
        </p:nvSpPr>
        <p:spPr bwMode="gray">
          <a:xfrm>
            <a:off x="5371467" y="3526981"/>
            <a:ext cx="772315" cy="432000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 bwMode="gray">
          <a:xfrm>
            <a:off x="3859874" y="2971333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10.0.12.2/24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 bwMode="gray">
          <a:xfrm>
            <a:off x="5308027" y="3195079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10.0.23.2/24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5901828" y="2950463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10.0.23.3/24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7301166" y="3206699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10.0.34.3/24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7894967" y="2962083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10.0.34.4/24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矩形 32"/>
          <p:cNvSpPr/>
          <p:nvPr/>
        </p:nvSpPr>
        <p:spPr bwMode="gray">
          <a:xfrm>
            <a:off x="6143781" y="3526981"/>
            <a:ext cx="1080000" cy="432000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192.168.4.4 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矩形 32"/>
          <p:cNvSpPr/>
          <p:nvPr/>
        </p:nvSpPr>
        <p:spPr bwMode="gray">
          <a:xfrm>
            <a:off x="7588055" y="3526981"/>
            <a:ext cx="1080000" cy="432000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192.168.4.4 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7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隐式空标签与显式空标签 </a:t>
            </a:r>
            <a:r>
              <a:rPr lang="en-US" altLang="zh-CN" smtClean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显式空标签机制，</a:t>
            </a:r>
            <a:r>
              <a:rPr lang="en-US" altLang="zh-CN" sz="1800" dirty="0" smtClean="0">
                <a:sym typeface="Huawei Sans" panose="020C0503030203020204" pitchFamily="34" charset="0"/>
              </a:rPr>
              <a:t>Egress</a:t>
            </a:r>
            <a:r>
              <a:rPr lang="zh-CN" altLang="en-US" sz="1800" dirty="0" smtClean="0">
                <a:sym typeface="Huawei Sans" panose="020C0503030203020204" pitchFamily="34" charset="0"/>
              </a:rPr>
              <a:t>节点向倒数第二跳分配特殊标签</a:t>
            </a:r>
            <a:r>
              <a:rPr lang="en-US" altLang="zh-CN" sz="1800" dirty="0" smtClean="0">
                <a:sym typeface="Huawei Sans" panose="020C0503030203020204" pitchFamily="34" charset="0"/>
              </a:rPr>
              <a:t>0</a:t>
            </a:r>
            <a:r>
              <a:rPr lang="zh-CN" altLang="en-US" sz="1800" dirty="0" smtClean="0">
                <a:sym typeface="Huawei Sans" panose="020C0503030203020204" pitchFamily="34" charset="0"/>
              </a:rPr>
              <a:t>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en-US" altLang="zh-CN" sz="1800" dirty="0" smtClean="0">
                <a:sym typeface="Huawei Sans" panose="020C0503030203020204" pitchFamily="34" charset="0"/>
              </a:rPr>
              <a:t>R3</a:t>
            </a:r>
            <a:r>
              <a:rPr lang="zh-CN" altLang="en-US" sz="1800" dirty="0" smtClean="0">
                <a:sym typeface="Huawei Sans" panose="020C0503030203020204" pitchFamily="34" charset="0"/>
              </a:rPr>
              <a:t>在转发标签报文时，若出标签封装为</a:t>
            </a:r>
            <a:r>
              <a:rPr lang="en-US" altLang="zh-CN" sz="1800" dirty="0" smtClean="0">
                <a:sym typeface="Huawei Sans" panose="020C0503030203020204" pitchFamily="34" charset="0"/>
              </a:rPr>
              <a:t>0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，则不会将标签头部弹出，标签头部中的</a:t>
            </a:r>
            <a:r>
              <a:rPr lang="en-US" altLang="zh-CN" sz="1800" dirty="0" err="1" smtClean="0">
                <a:sym typeface="Huawei Sans" panose="020C0503030203020204" pitchFamily="34" charset="0"/>
              </a:rPr>
              <a:t>QoS</a:t>
            </a:r>
            <a:r>
              <a:rPr lang="zh-CN" altLang="en-US" sz="1800" dirty="0" smtClean="0">
                <a:sym typeface="Huawei Sans" panose="020C0503030203020204" pitchFamily="34" charset="0"/>
              </a:rPr>
              <a:t>信息得以保存。</a:t>
            </a:r>
            <a:r>
              <a:rPr lang="en-US" altLang="zh-CN" sz="1800" dirty="0" smtClean="0">
                <a:sym typeface="Huawei Sans" panose="020C0503030203020204" pitchFamily="34" charset="0"/>
              </a:rPr>
              <a:t>R4</a:t>
            </a:r>
            <a:r>
              <a:rPr lang="zh-CN" altLang="en-US" sz="1800" dirty="0" smtClean="0">
                <a:sym typeface="Huawei Sans" panose="020C0503030203020204" pitchFamily="34" charset="0"/>
              </a:rPr>
              <a:t>在收到带</a:t>
            </a:r>
            <a:r>
              <a:rPr lang="en-US" altLang="zh-CN" sz="1800" dirty="0" smtClean="0">
                <a:sym typeface="Huawei Sans" panose="020C0503030203020204" pitchFamily="34" charset="0"/>
              </a:rPr>
              <a:t>0</a:t>
            </a:r>
            <a:r>
              <a:rPr lang="zh-CN" altLang="en-US" sz="1800" dirty="0" smtClean="0">
                <a:sym typeface="Huawei Sans" panose="020C0503030203020204" pitchFamily="34" charset="0"/>
              </a:rPr>
              <a:t>标签的报文时，直接弹出标签，不用去查找</a:t>
            </a:r>
            <a:r>
              <a:rPr lang="en-US" altLang="zh-CN" sz="1800" dirty="0" smtClean="0">
                <a:sym typeface="Huawei Sans" panose="020C0503030203020204" pitchFamily="34" charset="0"/>
              </a:rPr>
              <a:t>ILM</a:t>
            </a:r>
            <a:r>
              <a:rPr lang="zh-CN" altLang="en-US" sz="1800" dirty="0" smtClean="0">
                <a:sym typeface="Huawei Sans" panose="020C0503030203020204" pitchFamily="34" charset="0"/>
              </a:rPr>
              <a:t>表项。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r>
              <a:rPr lang="zh-CN" altLang="en-US" sz="1800" dirty="0" smtClean="0">
                <a:sym typeface="Huawei Sans" panose="020C0503030203020204" pitchFamily="34" charset="0"/>
              </a:rPr>
              <a:t>缺省情况下，</a:t>
            </a:r>
            <a:r>
              <a:rPr lang="en-US" altLang="zh-CN" sz="1800" dirty="0" smtClean="0">
                <a:sym typeface="Huawei Sans" panose="020C0503030203020204" pitchFamily="34" charset="0"/>
              </a:rPr>
              <a:t>Egress</a:t>
            </a:r>
            <a:r>
              <a:rPr lang="zh-CN" altLang="en-US" sz="1800" dirty="0" smtClean="0">
                <a:sym typeface="Huawei Sans" panose="020C0503030203020204" pitchFamily="34" charset="0"/>
              </a:rPr>
              <a:t>分配的是隐式空标签。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endParaRPr lang="en-US" altLang="zh-CN" sz="1800" dirty="0" smtClean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6" name="圆角矩形标注 35"/>
          <p:cNvSpPr/>
          <p:nvPr/>
        </p:nvSpPr>
        <p:spPr bwMode="gray">
          <a:xfrm>
            <a:off x="7358911" y="2865540"/>
            <a:ext cx="1727031" cy="566479"/>
          </a:xfrm>
          <a:prstGeom prst="wedgeRoundRectCallout">
            <a:avLst>
              <a:gd name="adj1" fmla="val -51475"/>
              <a:gd name="adj2" fmla="val 134453"/>
              <a:gd name="adj3" fmla="val 16667"/>
            </a:avLst>
          </a:prstGeom>
          <a:solidFill>
            <a:srgbClr val="BE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信息保留</a:t>
            </a:r>
          </a:p>
        </p:txBody>
      </p:sp>
      <p:grpSp>
        <p:nvGrpSpPr>
          <p:cNvPr id="37" name="组合 36"/>
          <p:cNvGrpSpPr/>
          <p:nvPr/>
        </p:nvGrpSpPr>
        <p:grpSpPr bwMode="gray">
          <a:xfrm>
            <a:off x="2811064" y="3418503"/>
            <a:ext cx="6573859" cy="758583"/>
            <a:chOff x="1896669" y="4280847"/>
            <a:chExt cx="6573859" cy="758583"/>
          </a:xfrm>
        </p:grpSpPr>
        <p:sp>
          <p:nvSpPr>
            <p:cNvPr id="38" name="TextBox 43"/>
            <p:cNvSpPr txBox="1"/>
            <p:nvPr/>
          </p:nvSpPr>
          <p:spPr bwMode="gray">
            <a:xfrm>
              <a:off x="1945798" y="428084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" name="TextBox 44"/>
            <p:cNvSpPr txBox="1"/>
            <p:nvPr/>
          </p:nvSpPr>
          <p:spPr bwMode="gray">
            <a:xfrm>
              <a:off x="3987752" y="428084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TextBox 48"/>
            <p:cNvSpPr txBox="1"/>
            <p:nvPr/>
          </p:nvSpPr>
          <p:spPr bwMode="gray">
            <a:xfrm>
              <a:off x="5946859" y="428084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R3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41" name="图片 40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896669" y="4596630"/>
              <a:ext cx="540000" cy="442800"/>
            </a:xfrm>
            <a:prstGeom prst="rect">
              <a:avLst/>
            </a:prstGeom>
          </p:spPr>
        </p:pic>
        <p:pic>
          <p:nvPicPr>
            <p:cNvPr id="42" name="图片 41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927043" y="4596630"/>
              <a:ext cx="540000" cy="442800"/>
            </a:xfrm>
            <a:prstGeom prst="rect">
              <a:avLst/>
            </a:prstGeom>
          </p:spPr>
        </p:pic>
        <p:pic>
          <p:nvPicPr>
            <p:cNvPr id="43" name="图片 42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927925" y="4596630"/>
              <a:ext cx="540000" cy="442800"/>
            </a:xfrm>
            <a:prstGeom prst="rect">
              <a:avLst/>
            </a:prstGeom>
          </p:spPr>
        </p:pic>
        <p:pic>
          <p:nvPicPr>
            <p:cNvPr id="44" name="图片 43"/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930528" y="4596630"/>
              <a:ext cx="540000" cy="442800"/>
            </a:xfrm>
            <a:prstGeom prst="rect">
              <a:avLst/>
            </a:prstGeom>
          </p:spPr>
        </p:pic>
        <p:sp>
          <p:nvSpPr>
            <p:cNvPr id="45" name="TextBox 43"/>
            <p:cNvSpPr txBox="1"/>
            <p:nvPr/>
          </p:nvSpPr>
          <p:spPr bwMode="gray">
            <a:xfrm>
              <a:off x="7984085" y="428084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R4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46" name="直接连接符 45"/>
            <p:cNvCxnSpPr>
              <a:stCxn id="41" idx="3"/>
              <a:endCxn id="42" idx="1"/>
            </p:cNvCxnSpPr>
            <p:nvPr/>
          </p:nvCxnSpPr>
          <p:spPr bwMode="gray">
            <a:xfrm>
              <a:off x="2436669" y="4818030"/>
              <a:ext cx="1490374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>
              <a:stCxn id="43" idx="1"/>
              <a:endCxn id="42" idx="3"/>
            </p:cNvCxnSpPr>
            <p:nvPr/>
          </p:nvCxnSpPr>
          <p:spPr bwMode="gray">
            <a:xfrm flipH="1">
              <a:off x="4467043" y="4818030"/>
              <a:ext cx="1460882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>
              <a:stCxn id="43" idx="3"/>
              <a:endCxn id="44" idx="1"/>
            </p:cNvCxnSpPr>
            <p:nvPr/>
          </p:nvCxnSpPr>
          <p:spPr bwMode="gray">
            <a:xfrm>
              <a:off x="6467925" y="4818030"/>
              <a:ext cx="1462603" cy="0"/>
            </a:xfrm>
            <a:prstGeom prst="line">
              <a:avLst/>
            </a:prstGeom>
            <a:ln w="222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直接箭头连接符 48"/>
          <p:cNvCxnSpPr/>
          <p:nvPr/>
        </p:nvCxnSpPr>
        <p:spPr bwMode="gray">
          <a:xfrm>
            <a:off x="3590986" y="3690671"/>
            <a:ext cx="10800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62B23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50" name="直接箭头连接符 49"/>
          <p:cNvCxnSpPr/>
          <p:nvPr/>
        </p:nvCxnSpPr>
        <p:spPr bwMode="gray">
          <a:xfrm>
            <a:off x="5591402" y="3690671"/>
            <a:ext cx="10800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62B23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51" name="直接箭头连接符 50"/>
          <p:cNvCxnSpPr/>
          <p:nvPr/>
        </p:nvCxnSpPr>
        <p:spPr bwMode="gray">
          <a:xfrm>
            <a:off x="7539095" y="3690671"/>
            <a:ext cx="10800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62B23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52" name="直接连接符 4"/>
          <p:cNvCxnSpPr/>
          <p:nvPr/>
        </p:nvCxnSpPr>
        <p:spPr bwMode="gray">
          <a:xfrm flipV="1">
            <a:off x="10251574" y="3617963"/>
            <a:ext cx="0" cy="71845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31"/>
          <p:cNvSpPr txBox="1"/>
          <p:nvPr/>
        </p:nvSpPr>
        <p:spPr bwMode="gray">
          <a:xfrm>
            <a:off x="10248923" y="3797922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4" name="直接连接符 4"/>
          <p:cNvCxnSpPr/>
          <p:nvPr/>
        </p:nvCxnSpPr>
        <p:spPr bwMode="gray">
          <a:xfrm flipV="1">
            <a:off x="2021973" y="3617963"/>
            <a:ext cx="0" cy="71845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36"/>
          <p:cNvSpPr txBox="1"/>
          <p:nvPr/>
        </p:nvSpPr>
        <p:spPr bwMode="gray">
          <a:xfrm>
            <a:off x="573850" y="3797922"/>
            <a:ext cx="1430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192.168.1.0/24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6" name="直接连接符 55"/>
          <p:cNvCxnSpPr/>
          <p:nvPr/>
        </p:nvCxnSpPr>
        <p:spPr bwMode="gray">
          <a:xfrm flipV="1">
            <a:off x="9384923" y="3951811"/>
            <a:ext cx="864000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 bwMode="gray">
          <a:xfrm flipH="1" flipV="1">
            <a:off x="2020092" y="3951811"/>
            <a:ext cx="807014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 bwMode="gray">
          <a:xfrm>
            <a:off x="3266073" y="3955686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10.0.12.1/24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矩形 33"/>
          <p:cNvSpPr/>
          <p:nvPr/>
        </p:nvSpPr>
        <p:spPr bwMode="gray">
          <a:xfrm>
            <a:off x="3331661" y="4266718"/>
            <a:ext cx="772315" cy="432000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矩形 32"/>
          <p:cNvSpPr/>
          <p:nvPr/>
        </p:nvSpPr>
        <p:spPr bwMode="gray">
          <a:xfrm>
            <a:off x="4103975" y="4266718"/>
            <a:ext cx="1080000" cy="432000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192.168.4.4 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33"/>
          <p:cNvSpPr/>
          <p:nvPr/>
        </p:nvSpPr>
        <p:spPr bwMode="gray">
          <a:xfrm>
            <a:off x="5371467" y="4266718"/>
            <a:ext cx="772315" cy="432000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300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 bwMode="gray">
          <a:xfrm>
            <a:off x="3859874" y="3711070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10.0.12.2/24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 bwMode="gray">
          <a:xfrm>
            <a:off x="5308027" y="3934816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10.0.23.2/24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 bwMode="gray">
          <a:xfrm>
            <a:off x="5901828" y="3690200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10.0.23.3/24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7301166" y="3946436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10.0.34.3/24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7894967" y="3701820"/>
            <a:ext cx="104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10.0.34.4/24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32"/>
          <p:cNvSpPr/>
          <p:nvPr/>
        </p:nvSpPr>
        <p:spPr bwMode="gray">
          <a:xfrm>
            <a:off x="6143781" y="4266718"/>
            <a:ext cx="1080000" cy="432000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192.168.4.4 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33"/>
          <p:cNvSpPr/>
          <p:nvPr/>
        </p:nvSpPr>
        <p:spPr bwMode="gray">
          <a:xfrm>
            <a:off x="7397257" y="4266718"/>
            <a:ext cx="772315" cy="432000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endParaRPr lang="en-US" altLang="zh-CN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EXP</a:t>
            </a:r>
            <a:endParaRPr lang="zh-CN" altLang="en-US" sz="12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32"/>
          <p:cNvSpPr/>
          <p:nvPr/>
        </p:nvSpPr>
        <p:spPr bwMode="gray">
          <a:xfrm>
            <a:off x="8169571" y="4266718"/>
            <a:ext cx="1080000" cy="432000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192.168.4.4 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33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基本概念</a:t>
            </a:r>
            <a:endParaRPr lang="en-US" altLang="zh-CN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smtClean="0">
                <a:sym typeface="Huawei Sans" panose="020C0503030203020204" pitchFamily="34" charset="0"/>
              </a:rPr>
              <a:t>LDP</a:t>
            </a:r>
            <a:r>
              <a:rPr lang="zh-CN" altLang="en-US" b="1" smtClean="0">
                <a:sym typeface="Huawei Sans" panose="020C0503030203020204" pitchFamily="34" charset="0"/>
              </a:rPr>
              <a:t>工作原理</a:t>
            </a:r>
            <a:endParaRPr lang="en-US" altLang="zh-CN" b="1" smtClean="0">
              <a:sym typeface="Huawei Sans" panose="020C0503030203020204" pitchFamily="34" charset="0"/>
            </a:endParaRPr>
          </a:p>
          <a:p>
            <a:pPr lvl="1"/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会话建立</a:t>
            </a:r>
            <a:endParaRPr lang="en-US" altLang="zh-CN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标签分发</a:t>
            </a:r>
            <a:endParaRPr lang="en-US" altLang="zh-CN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smtClean="0"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ym typeface="Huawei Sans" panose="020C0503030203020204" pitchFamily="34" charset="0"/>
              </a:rPr>
              <a:t>工作过程详解</a:t>
            </a:r>
            <a:endParaRPr lang="en-US" altLang="zh-CN" smtClean="0">
              <a:sym typeface="Huawei Sans" panose="020C0503030203020204" pitchFamily="34" charset="0"/>
            </a:endParaRPr>
          </a:p>
          <a:p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基本配置</a:t>
            </a:r>
            <a:endParaRPr lang="zh-CN" altLang="en-US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211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组网介绍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6" name="文本占位符 6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smtClean="0">
                <a:sym typeface="Huawei Sans" panose="020C0503030203020204" pitchFamily="34" charset="0"/>
              </a:rPr>
              <a:t>网络中已经部署</a:t>
            </a:r>
            <a:r>
              <a:rPr lang="en-US" altLang="zh-CN" sz="1600" smtClean="0">
                <a:sym typeface="Huawei Sans" panose="020C0503030203020204" pitchFamily="34" charset="0"/>
              </a:rPr>
              <a:t>OSPF</a:t>
            </a:r>
            <a:r>
              <a:rPr lang="zh-CN" altLang="en-US" sz="1600" smtClean="0">
                <a:sym typeface="Huawei Sans" panose="020C0503030203020204" pitchFamily="34" charset="0"/>
              </a:rPr>
              <a:t>路由协议且各设备之间能够正常学习到对方的路由信息。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r>
              <a:rPr lang="zh-CN" altLang="en-US" sz="1600" smtClean="0">
                <a:sym typeface="Huawei Sans" panose="020C0503030203020204" pitchFamily="34" charset="0"/>
              </a:rPr>
              <a:t>已在各设备及相应接口上激活</a:t>
            </a:r>
            <a:r>
              <a:rPr lang="en-US" altLang="zh-CN" sz="1600" smtClean="0">
                <a:sym typeface="Huawei Sans" panose="020C0503030203020204" pitchFamily="34" charset="0"/>
              </a:rPr>
              <a:t>MPLS</a:t>
            </a:r>
            <a:r>
              <a:rPr lang="zh-CN" altLang="en-US" sz="1600" smtClean="0">
                <a:sym typeface="Huawei Sans" panose="020C0503030203020204" pitchFamily="34" charset="0"/>
              </a:rPr>
              <a:t>及</a:t>
            </a:r>
            <a:r>
              <a:rPr lang="en-US" altLang="zh-CN" sz="1600" smtClean="0">
                <a:sym typeface="Huawei Sans" panose="020C0503030203020204" pitchFamily="34" charset="0"/>
              </a:rPr>
              <a:t>LDP</a:t>
            </a:r>
            <a:r>
              <a:rPr lang="zh-CN" altLang="en-US" sz="1600" smtClean="0">
                <a:sym typeface="Huawei Sans" panose="020C0503030203020204" pitchFamily="34" charset="0"/>
              </a:rPr>
              <a:t>，且在相邻的设备之间已正常建立本地</a:t>
            </a:r>
            <a:r>
              <a:rPr lang="en-US" altLang="zh-CN" sz="1600" smtClean="0">
                <a:sym typeface="Huawei Sans" panose="020C0503030203020204" pitchFamily="34" charset="0"/>
              </a:rPr>
              <a:t>LDP</a:t>
            </a:r>
            <a:r>
              <a:rPr lang="zh-CN" altLang="en-US" sz="1600" smtClean="0">
                <a:sym typeface="Huawei Sans" panose="020C0503030203020204" pitchFamily="34" charset="0"/>
              </a:rPr>
              <a:t>会话。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r>
              <a:rPr lang="zh-CN" altLang="en-US" sz="1600" smtClean="0">
                <a:sym typeface="Huawei Sans" panose="020C0503030203020204" pitchFamily="34" charset="0"/>
              </a:rPr>
              <a:t>所有</a:t>
            </a:r>
            <a:r>
              <a:rPr lang="en-US" altLang="zh-CN" sz="1600" smtClean="0">
                <a:sym typeface="Huawei Sans" panose="020C0503030203020204" pitchFamily="34" charset="0"/>
              </a:rPr>
              <a:t>LSR</a:t>
            </a:r>
            <a:r>
              <a:rPr lang="zh-CN" altLang="en-US" sz="1600" smtClean="0">
                <a:sym typeface="Huawei Sans" panose="020C0503030203020204" pitchFamily="34" charset="0"/>
              </a:rPr>
              <a:t>均采用</a:t>
            </a:r>
            <a:r>
              <a:rPr lang="en-US" altLang="zh-CN" sz="1600" smtClean="0">
                <a:sym typeface="Huawei Sans" panose="020C0503030203020204" pitchFamily="34" charset="0"/>
              </a:rPr>
              <a:t>DU + Independent +Liberal</a:t>
            </a:r>
            <a:r>
              <a:rPr lang="zh-CN" altLang="en-US" sz="1600" smtClean="0">
                <a:sym typeface="Huawei Sans" panose="020C0503030203020204" pitchFamily="34" charset="0"/>
              </a:rPr>
              <a:t>方式。</a:t>
            </a:r>
            <a:endParaRPr lang="en-US" altLang="zh-CN" sz="1600" smtClean="0">
              <a:sym typeface="Huawei Sans" panose="020C0503030203020204" pitchFamily="34" charset="0"/>
            </a:endParaRPr>
          </a:p>
          <a:p>
            <a:endParaRPr lang="en-US" altLang="zh-CN" sz="1600" smtClean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cxnSp>
        <p:nvCxnSpPr>
          <p:cNvPr id="12" name="直接连接符 4"/>
          <p:cNvCxnSpPr>
            <a:stCxn id="51" idx="2"/>
            <a:endCxn id="53" idx="1"/>
          </p:cNvCxnSpPr>
          <p:nvPr/>
        </p:nvCxnSpPr>
        <p:spPr bwMode="gray">
          <a:xfrm>
            <a:off x="3983029" y="4496654"/>
            <a:ext cx="1809015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22"/>
          <p:cNvCxnSpPr>
            <a:stCxn id="51" idx="0"/>
            <a:endCxn id="52" idx="1"/>
          </p:cNvCxnSpPr>
          <p:nvPr/>
        </p:nvCxnSpPr>
        <p:spPr bwMode="gray">
          <a:xfrm flipV="1">
            <a:off x="3983029" y="3254680"/>
            <a:ext cx="1809015" cy="71027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4"/>
          <p:cNvCxnSpPr>
            <a:stCxn id="54" idx="0"/>
            <a:endCxn id="52" idx="3"/>
          </p:cNvCxnSpPr>
          <p:nvPr/>
        </p:nvCxnSpPr>
        <p:spPr bwMode="gray">
          <a:xfrm flipH="1" flipV="1">
            <a:off x="6420696" y="3254680"/>
            <a:ext cx="1859326" cy="71027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22"/>
          <p:cNvCxnSpPr>
            <a:stCxn id="54" idx="2"/>
            <a:endCxn id="53" idx="3"/>
          </p:cNvCxnSpPr>
          <p:nvPr/>
        </p:nvCxnSpPr>
        <p:spPr bwMode="gray">
          <a:xfrm flipH="1">
            <a:off x="6420696" y="4496654"/>
            <a:ext cx="1859326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35"/>
          <p:cNvCxnSpPr/>
          <p:nvPr/>
        </p:nvCxnSpPr>
        <p:spPr bwMode="gray">
          <a:xfrm flipH="1">
            <a:off x="8211146" y="4254867"/>
            <a:ext cx="766405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35"/>
          <p:cNvCxnSpPr/>
          <p:nvPr/>
        </p:nvCxnSpPr>
        <p:spPr bwMode="gray">
          <a:xfrm flipV="1">
            <a:off x="8977550" y="3943339"/>
            <a:ext cx="1" cy="66923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56"/>
          <p:cNvSpPr/>
          <p:nvPr/>
        </p:nvSpPr>
        <p:spPr bwMode="gray">
          <a:xfrm>
            <a:off x="3704238" y="3643770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56"/>
          <p:cNvSpPr/>
          <p:nvPr/>
        </p:nvSpPr>
        <p:spPr bwMode="gray">
          <a:xfrm>
            <a:off x="5890139" y="2682560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56"/>
          <p:cNvSpPr/>
          <p:nvPr/>
        </p:nvSpPr>
        <p:spPr bwMode="gray">
          <a:xfrm>
            <a:off x="8134023" y="3666419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56"/>
          <p:cNvSpPr/>
          <p:nvPr/>
        </p:nvSpPr>
        <p:spPr bwMode="gray">
          <a:xfrm>
            <a:off x="8977550" y="4092211"/>
            <a:ext cx="13885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56"/>
          <p:cNvSpPr/>
          <p:nvPr/>
        </p:nvSpPr>
        <p:spPr bwMode="gray">
          <a:xfrm>
            <a:off x="5756831" y="3954444"/>
            <a:ext cx="633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</a:p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直接连接符 22"/>
          <p:cNvCxnSpPr/>
          <p:nvPr/>
        </p:nvCxnSpPr>
        <p:spPr bwMode="gray">
          <a:xfrm rot="5520000" flipH="1" flipV="1">
            <a:off x="4758775" y="3046532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"/>
          <p:cNvCxnSpPr/>
          <p:nvPr/>
        </p:nvCxnSpPr>
        <p:spPr bwMode="gray">
          <a:xfrm rot="16020000" flipV="1">
            <a:off x="6868390" y="3041047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"/>
          <p:cNvCxnSpPr/>
          <p:nvPr/>
        </p:nvCxnSpPr>
        <p:spPr bwMode="gray">
          <a:xfrm rot="5400000" flipV="1">
            <a:off x="4735147" y="4138433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22"/>
          <p:cNvCxnSpPr/>
          <p:nvPr/>
        </p:nvCxnSpPr>
        <p:spPr bwMode="gray">
          <a:xfrm rot="16260000" flipH="1" flipV="1">
            <a:off x="6873693" y="4168681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668703" y="3964951"/>
            <a:ext cx="628652" cy="531703"/>
          </a:xfrm>
          <a:prstGeom prst="rect">
            <a:avLst/>
          </a:prstGeom>
          <a:noFill/>
        </p:spPr>
      </p:pic>
      <p:pic>
        <p:nvPicPr>
          <p:cNvPr id="5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792044" y="2988828"/>
            <a:ext cx="628652" cy="531703"/>
          </a:xfrm>
          <a:prstGeom prst="rect">
            <a:avLst/>
          </a:prstGeom>
          <a:noFill/>
        </p:spPr>
      </p:pic>
      <p:pic>
        <p:nvPicPr>
          <p:cNvPr id="5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792044" y="5014945"/>
            <a:ext cx="628652" cy="531703"/>
          </a:xfrm>
          <a:prstGeom prst="rect">
            <a:avLst/>
          </a:prstGeom>
          <a:noFill/>
        </p:spPr>
      </p:pic>
      <p:pic>
        <p:nvPicPr>
          <p:cNvPr id="5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965696" y="3964951"/>
            <a:ext cx="628652" cy="531703"/>
          </a:xfrm>
          <a:prstGeom prst="rect">
            <a:avLst/>
          </a:prstGeom>
          <a:noFill/>
        </p:spPr>
      </p:pic>
      <p:sp>
        <p:nvSpPr>
          <p:cNvPr id="57" name="矩形 56"/>
          <p:cNvSpPr/>
          <p:nvPr/>
        </p:nvSpPr>
        <p:spPr bwMode="gray">
          <a:xfrm>
            <a:off x="5894147" y="5562140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矩形 56"/>
          <p:cNvSpPr/>
          <p:nvPr/>
        </p:nvSpPr>
        <p:spPr bwMode="gray">
          <a:xfrm rot="20220000">
            <a:off x="4661905" y="3674118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56"/>
          <p:cNvSpPr/>
          <p:nvPr/>
        </p:nvSpPr>
        <p:spPr bwMode="gray">
          <a:xfrm rot="1468652">
            <a:off x="4589193" y="4530505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56"/>
          <p:cNvSpPr/>
          <p:nvPr/>
        </p:nvSpPr>
        <p:spPr bwMode="gray">
          <a:xfrm rot="1260000">
            <a:off x="6554080" y="3677619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56"/>
          <p:cNvSpPr/>
          <p:nvPr/>
        </p:nvSpPr>
        <p:spPr bwMode="gray">
          <a:xfrm rot="20160000">
            <a:off x="6516003" y="4593570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41644"/>
              </p:ext>
            </p:extLst>
          </p:nvPr>
        </p:nvGraphicFramePr>
        <p:xfrm>
          <a:off x="535359" y="2919146"/>
          <a:ext cx="3787592" cy="704845"/>
        </p:xfrm>
        <a:graphic>
          <a:graphicData uri="http://schemas.openxmlformats.org/drawingml/2006/table">
            <a:tbl>
              <a:tblPr/>
              <a:tblGrid>
                <a:gridCol w="15096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4743"/>
                <a:gridCol w="682171"/>
                <a:gridCol w="841025"/>
              </a:tblGrid>
              <a:tr h="430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Destination/Mask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Proto 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Cost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52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192.168.4.0/24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710315"/>
              </p:ext>
            </p:extLst>
          </p:nvPr>
        </p:nvGraphicFramePr>
        <p:xfrm>
          <a:off x="1558542" y="5097942"/>
          <a:ext cx="3787592" cy="704845"/>
        </p:xfrm>
        <a:graphic>
          <a:graphicData uri="http://schemas.openxmlformats.org/drawingml/2006/table">
            <a:tbl>
              <a:tblPr/>
              <a:tblGrid>
                <a:gridCol w="15096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4743"/>
                <a:gridCol w="682171"/>
                <a:gridCol w="841025"/>
              </a:tblGrid>
              <a:tr h="430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Destination/Mask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Proto 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Cost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52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192.168.4.0/24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749249"/>
              </p:ext>
            </p:extLst>
          </p:nvPr>
        </p:nvGraphicFramePr>
        <p:xfrm>
          <a:off x="7669689" y="4808182"/>
          <a:ext cx="3787592" cy="704845"/>
        </p:xfrm>
        <a:graphic>
          <a:graphicData uri="http://schemas.openxmlformats.org/drawingml/2006/table">
            <a:tbl>
              <a:tblPr/>
              <a:tblGrid>
                <a:gridCol w="15096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4743"/>
                <a:gridCol w="682171"/>
                <a:gridCol w="841025"/>
              </a:tblGrid>
              <a:tr h="430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Destination/Mask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Proto 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Cost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52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192.168.4.0/24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Direct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-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219349"/>
              </p:ext>
            </p:extLst>
          </p:nvPr>
        </p:nvGraphicFramePr>
        <p:xfrm>
          <a:off x="6654123" y="2532809"/>
          <a:ext cx="3787592" cy="704845"/>
        </p:xfrm>
        <a:graphic>
          <a:graphicData uri="http://schemas.openxmlformats.org/drawingml/2006/table">
            <a:tbl>
              <a:tblPr/>
              <a:tblGrid>
                <a:gridCol w="15096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4743"/>
                <a:gridCol w="682171"/>
                <a:gridCol w="841025"/>
              </a:tblGrid>
              <a:tr h="430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Destination/Mask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Proto 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Cost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52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192.168.4.0/24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94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标签分发：</a:t>
            </a:r>
            <a:r>
              <a:rPr lang="en-US" altLang="zh-CN" dirty="0" smtClean="0">
                <a:sym typeface="Huawei Sans" panose="020C0503030203020204" pitchFamily="34" charset="0"/>
              </a:rPr>
              <a:t>Egress LSR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6" name="文本占位符 6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smtClean="0">
                <a:sym typeface="Huawei Sans" panose="020C0503030203020204" pitchFamily="34" charset="0"/>
              </a:rPr>
              <a:t>R4</a:t>
            </a:r>
            <a:r>
              <a:rPr lang="zh-CN" altLang="en-US" sz="1800" smtClean="0">
                <a:sym typeface="Huawei Sans" panose="020C0503030203020204" pitchFamily="34" charset="0"/>
              </a:rPr>
              <a:t>直连网段</a:t>
            </a:r>
            <a:r>
              <a:rPr lang="en-US" altLang="zh-CN" sz="1800" smtClean="0">
                <a:sym typeface="Huawei Sans" panose="020C0503030203020204" pitchFamily="34" charset="0"/>
              </a:rPr>
              <a:t>192.168.4.0/24</a:t>
            </a:r>
            <a:r>
              <a:rPr lang="zh-CN" altLang="en-US" sz="1800" smtClean="0">
                <a:sym typeface="Huawei Sans" panose="020C0503030203020204" pitchFamily="34" charset="0"/>
              </a:rPr>
              <a:t>，</a:t>
            </a:r>
            <a:r>
              <a:rPr lang="en-US" altLang="zh-CN" sz="1800" smtClean="0">
                <a:sym typeface="Huawei Sans" panose="020C0503030203020204" pitchFamily="34" charset="0"/>
              </a:rPr>
              <a:t>R4</a:t>
            </a:r>
            <a:r>
              <a:rPr lang="zh-CN" altLang="en-US" sz="1800" smtClean="0">
                <a:sym typeface="Huawei Sans" panose="020C0503030203020204" pitchFamily="34" charset="0"/>
              </a:rPr>
              <a:t>将主动为到达该网段的路由分配标签，如</a:t>
            </a:r>
            <a:r>
              <a:rPr lang="en-US" altLang="zh-CN" sz="1800" smtClean="0">
                <a:sym typeface="Huawei Sans" panose="020C0503030203020204" pitchFamily="34" charset="0"/>
              </a:rPr>
              <a:t>1041</a:t>
            </a:r>
            <a:r>
              <a:rPr lang="zh-CN" altLang="en-US" sz="1800" smtClean="0">
                <a:sym typeface="Huawei Sans" panose="020C0503030203020204" pitchFamily="34" charset="0"/>
              </a:rPr>
              <a:t>，并主动通过</a:t>
            </a:r>
            <a:r>
              <a:rPr lang="en-US" altLang="zh-CN" sz="1800" smtClean="0">
                <a:sym typeface="Huawei Sans" panose="020C0503030203020204" pitchFamily="34" charset="0"/>
              </a:rPr>
              <a:t>LDP</a:t>
            </a:r>
            <a:r>
              <a:rPr lang="zh-CN" altLang="en-US" sz="1800" smtClean="0">
                <a:sym typeface="Huawei Sans" panose="020C0503030203020204" pitchFamily="34" charset="0"/>
              </a:rPr>
              <a:t>协议报文将标签映射通告给</a:t>
            </a:r>
            <a:r>
              <a:rPr lang="en-US" altLang="zh-CN" sz="1800" smtClean="0">
                <a:sym typeface="Huawei Sans" panose="020C0503030203020204" pitchFamily="34" charset="0"/>
              </a:rPr>
              <a:t>LDP</a:t>
            </a:r>
            <a:r>
              <a:rPr lang="zh-CN" altLang="en-US" sz="1800" smtClean="0">
                <a:sym typeface="Huawei Sans" panose="020C0503030203020204" pitchFamily="34" charset="0"/>
              </a:rPr>
              <a:t>对等体</a:t>
            </a:r>
            <a:r>
              <a:rPr lang="en-US" altLang="zh-CN" sz="1800" smtClean="0">
                <a:sym typeface="Huawei Sans" panose="020C0503030203020204" pitchFamily="34" charset="0"/>
              </a:rPr>
              <a:t>R2</a:t>
            </a:r>
            <a:r>
              <a:rPr lang="zh-CN" altLang="en-US" sz="1800" smtClean="0">
                <a:sym typeface="Huawei Sans" panose="020C0503030203020204" pitchFamily="34" charset="0"/>
              </a:rPr>
              <a:t>和</a:t>
            </a:r>
            <a:r>
              <a:rPr lang="en-US" altLang="zh-CN" sz="1800" smtClean="0">
                <a:sym typeface="Huawei Sans" panose="020C0503030203020204" pitchFamily="34" charset="0"/>
              </a:rPr>
              <a:t>R3</a:t>
            </a:r>
            <a:r>
              <a:rPr lang="zh-CN" altLang="en-US" sz="1800" smtClean="0">
                <a:sym typeface="Huawei Sans" panose="020C0503030203020204" pitchFamily="34" charset="0"/>
              </a:rPr>
              <a:t>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endParaRPr lang="en-US" altLang="zh-CN" sz="1800" smtClean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cxnSp>
        <p:nvCxnSpPr>
          <p:cNvPr id="12" name="直接连接符 4"/>
          <p:cNvCxnSpPr>
            <a:stCxn id="51" idx="2"/>
            <a:endCxn id="53" idx="1"/>
          </p:cNvCxnSpPr>
          <p:nvPr/>
        </p:nvCxnSpPr>
        <p:spPr bwMode="gray">
          <a:xfrm>
            <a:off x="3983029" y="4591250"/>
            <a:ext cx="1809015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22"/>
          <p:cNvCxnSpPr>
            <a:stCxn id="51" idx="0"/>
            <a:endCxn id="52" idx="1"/>
          </p:cNvCxnSpPr>
          <p:nvPr/>
        </p:nvCxnSpPr>
        <p:spPr bwMode="gray">
          <a:xfrm flipV="1">
            <a:off x="3983029" y="3349276"/>
            <a:ext cx="1809015" cy="71027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4"/>
          <p:cNvCxnSpPr>
            <a:stCxn id="54" idx="0"/>
            <a:endCxn id="52" idx="3"/>
          </p:cNvCxnSpPr>
          <p:nvPr/>
        </p:nvCxnSpPr>
        <p:spPr bwMode="gray">
          <a:xfrm flipH="1" flipV="1">
            <a:off x="6420696" y="3349276"/>
            <a:ext cx="1859326" cy="71027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22"/>
          <p:cNvCxnSpPr>
            <a:stCxn id="54" idx="2"/>
            <a:endCxn id="53" idx="3"/>
          </p:cNvCxnSpPr>
          <p:nvPr/>
        </p:nvCxnSpPr>
        <p:spPr bwMode="gray">
          <a:xfrm flipH="1">
            <a:off x="6420696" y="4591250"/>
            <a:ext cx="1859326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35"/>
          <p:cNvCxnSpPr/>
          <p:nvPr/>
        </p:nvCxnSpPr>
        <p:spPr bwMode="gray">
          <a:xfrm flipH="1">
            <a:off x="8211146" y="4349463"/>
            <a:ext cx="766405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35"/>
          <p:cNvCxnSpPr/>
          <p:nvPr/>
        </p:nvCxnSpPr>
        <p:spPr bwMode="gray">
          <a:xfrm flipV="1">
            <a:off x="8977550" y="4037935"/>
            <a:ext cx="1" cy="66923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56"/>
          <p:cNvSpPr/>
          <p:nvPr/>
        </p:nvSpPr>
        <p:spPr bwMode="gray">
          <a:xfrm>
            <a:off x="3704238" y="3738366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56"/>
          <p:cNvSpPr/>
          <p:nvPr/>
        </p:nvSpPr>
        <p:spPr bwMode="gray">
          <a:xfrm>
            <a:off x="5890139" y="2777156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56"/>
          <p:cNvSpPr/>
          <p:nvPr/>
        </p:nvSpPr>
        <p:spPr bwMode="gray">
          <a:xfrm>
            <a:off x="8134023" y="3761015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56"/>
          <p:cNvSpPr/>
          <p:nvPr/>
        </p:nvSpPr>
        <p:spPr bwMode="gray">
          <a:xfrm>
            <a:off x="8643635" y="4186807"/>
            <a:ext cx="22686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192.168.4.0/24/24</a:t>
            </a:r>
          </a:p>
        </p:txBody>
      </p:sp>
      <p:sp>
        <p:nvSpPr>
          <p:cNvPr id="36" name="矩形 56"/>
          <p:cNvSpPr/>
          <p:nvPr/>
        </p:nvSpPr>
        <p:spPr bwMode="gray">
          <a:xfrm>
            <a:off x="5756831" y="4049040"/>
            <a:ext cx="633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</a:p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直接连接符 22"/>
          <p:cNvCxnSpPr/>
          <p:nvPr/>
        </p:nvCxnSpPr>
        <p:spPr bwMode="gray">
          <a:xfrm rot="5520000" flipH="1" flipV="1">
            <a:off x="4758775" y="3141128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"/>
          <p:cNvCxnSpPr/>
          <p:nvPr/>
        </p:nvCxnSpPr>
        <p:spPr bwMode="gray">
          <a:xfrm rot="16020000" flipV="1">
            <a:off x="6868390" y="3135643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"/>
          <p:cNvCxnSpPr/>
          <p:nvPr/>
        </p:nvCxnSpPr>
        <p:spPr bwMode="gray">
          <a:xfrm rot="5400000" flipV="1">
            <a:off x="4735147" y="4233029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22"/>
          <p:cNvCxnSpPr/>
          <p:nvPr/>
        </p:nvCxnSpPr>
        <p:spPr bwMode="gray">
          <a:xfrm rot="16260000" flipH="1" flipV="1">
            <a:off x="6873693" y="4263277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668703" y="4059547"/>
            <a:ext cx="628652" cy="531703"/>
          </a:xfrm>
          <a:prstGeom prst="rect">
            <a:avLst/>
          </a:prstGeom>
          <a:noFill/>
        </p:spPr>
      </p:pic>
      <p:pic>
        <p:nvPicPr>
          <p:cNvPr id="5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792044" y="3083424"/>
            <a:ext cx="628652" cy="531703"/>
          </a:xfrm>
          <a:prstGeom prst="rect">
            <a:avLst/>
          </a:prstGeom>
          <a:noFill/>
        </p:spPr>
      </p:pic>
      <p:pic>
        <p:nvPicPr>
          <p:cNvPr id="5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792044" y="5109541"/>
            <a:ext cx="628652" cy="531703"/>
          </a:xfrm>
          <a:prstGeom prst="rect">
            <a:avLst/>
          </a:prstGeom>
          <a:noFill/>
        </p:spPr>
      </p:pic>
      <p:pic>
        <p:nvPicPr>
          <p:cNvPr id="5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965696" y="4059547"/>
            <a:ext cx="628652" cy="531703"/>
          </a:xfrm>
          <a:prstGeom prst="rect">
            <a:avLst/>
          </a:prstGeom>
          <a:noFill/>
        </p:spPr>
      </p:pic>
      <p:sp>
        <p:nvSpPr>
          <p:cNvPr id="57" name="矩形 56"/>
          <p:cNvSpPr/>
          <p:nvPr/>
        </p:nvSpPr>
        <p:spPr bwMode="gray">
          <a:xfrm>
            <a:off x="5894147" y="5656736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矩形 56"/>
          <p:cNvSpPr/>
          <p:nvPr/>
        </p:nvSpPr>
        <p:spPr bwMode="gray">
          <a:xfrm rot="20220000">
            <a:off x="4661905" y="3768714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56"/>
          <p:cNvSpPr/>
          <p:nvPr/>
        </p:nvSpPr>
        <p:spPr bwMode="gray">
          <a:xfrm rot="1468652">
            <a:off x="4589193" y="4625101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56"/>
          <p:cNvSpPr/>
          <p:nvPr/>
        </p:nvSpPr>
        <p:spPr bwMode="gray">
          <a:xfrm rot="1260000">
            <a:off x="6554080" y="3772215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56"/>
          <p:cNvSpPr/>
          <p:nvPr/>
        </p:nvSpPr>
        <p:spPr bwMode="gray">
          <a:xfrm rot="20160000">
            <a:off x="6516003" y="4688166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五边形 36"/>
          <p:cNvSpPr/>
          <p:nvPr/>
        </p:nvSpPr>
        <p:spPr bwMode="gray">
          <a:xfrm rot="1320000" flipH="1">
            <a:off x="6863824" y="3295359"/>
            <a:ext cx="1440000" cy="357987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Label=1041</a:t>
            </a:r>
            <a:endParaRPr lang="zh-CN" altLang="en-US" sz="12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五边形 38"/>
          <p:cNvSpPr/>
          <p:nvPr/>
        </p:nvSpPr>
        <p:spPr bwMode="gray">
          <a:xfrm rot="20220000" flipH="1">
            <a:off x="6862780" y="5014941"/>
            <a:ext cx="1440000" cy="357987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Label=1041</a:t>
            </a:r>
            <a:endParaRPr lang="zh-CN" altLang="en-US" sz="12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五边形 36"/>
          <p:cNvSpPr/>
          <p:nvPr/>
        </p:nvSpPr>
        <p:spPr bwMode="gray">
          <a:xfrm flipH="1">
            <a:off x="9050629" y="5459091"/>
            <a:ext cx="1861656" cy="309832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标签映射通告</a:t>
            </a:r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515987"/>
              </p:ext>
            </p:extLst>
          </p:nvPr>
        </p:nvGraphicFramePr>
        <p:xfrm>
          <a:off x="6503893" y="2367353"/>
          <a:ext cx="3787592" cy="704845"/>
        </p:xfrm>
        <a:graphic>
          <a:graphicData uri="http://schemas.openxmlformats.org/drawingml/2006/table">
            <a:tbl>
              <a:tblPr/>
              <a:tblGrid>
                <a:gridCol w="15096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4743"/>
                <a:gridCol w="682171"/>
                <a:gridCol w="841025"/>
              </a:tblGrid>
              <a:tr h="430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Destination/Mask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Proto 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Cost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52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192.168.4.0/24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360146"/>
              </p:ext>
            </p:extLst>
          </p:nvPr>
        </p:nvGraphicFramePr>
        <p:xfrm>
          <a:off x="1636879" y="5252437"/>
          <a:ext cx="3787592" cy="704845"/>
        </p:xfrm>
        <a:graphic>
          <a:graphicData uri="http://schemas.openxmlformats.org/drawingml/2006/table">
            <a:tbl>
              <a:tblPr/>
              <a:tblGrid>
                <a:gridCol w="15096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4743"/>
                <a:gridCol w="682171"/>
                <a:gridCol w="841025"/>
              </a:tblGrid>
              <a:tr h="430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Destination/Mask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Proto 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Cost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52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192.168.4.0/24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03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标签分发：</a:t>
            </a:r>
            <a:r>
              <a:rPr lang="en-US" altLang="zh-CN" dirty="0" smtClean="0">
                <a:sym typeface="Huawei Sans" panose="020C0503030203020204" pitchFamily="34" charset="0"/>
              </a:rPr>
              <a:t>Transit LSR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6" name="文本占位符 6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 smtClean="0">
                <a:sym typeface="Huawei Sans" panose="020C0503030203020204" pitchFamily="34" charset="0"/>
              </a:rPr>
              <a:t>以</a:t>
            </a:r>
            <a:r>
              <a:rPr lang="en-US" altLang="zh-CN" sz="1800" dirty="0" smtClean="0">
                <a:sym typeface="Huawei Sans" panose="020C0503030203020204" pitchFamily="34" charset="0"/>
              </a:rPr>
              <a:t>R2</a:t>
            </a:r>
            <a:r>
              <a:rPr lang="zh-CN" altLang="en-US" sz="1800" dirty="0" smtClean="0">
                <a:sym typeface="Huawei Sans" panose="020C0503030203020204" pitchFamily="34" charset="0"/>
              </a:rPr>
              <a:t>为例，在其路由表中，</a:t>
            </a:r>
            <a:r>
              <a:rPr lang="en-US" altLang="zh-CN" sz="1800" dirty="0" smtClean="0">
                <a:sym typeface="Huawei Sans" panose="020C0503030203020204" pitchFamily="34" charset="0"/>
              </a:rPr>
              <a:t>192.168.4.0/24</a:t>
            </a:r>
            <a:r>
              <a:rPr lang="zh-CN" altLang="en-US" sz="1800" dirty="0" smtClean="0">
                <a:sym typeface="Huawei Sans" panose="020C0503030203020204" pitchFamily="34" charset="0"/>
              </a:rPr>
              <a:t>路由的下一跳为</a:t>
            </a:r>
            <a:r>
              <a:rPr lang="en-US" altLang="zh-CN" sz="1800" dirty="0" smtClean="0">
                <a:sym typeface="Huawei Sans" panose="020C0503030203020204" pitchFamily="34" charset="0"/>
              </a:rPr>
              <a:t>R4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，当它从</a:t>
            </a:r>
            <a:r>
              <a:rPr lang="en-US" altLang="zh-CN" sz="1800" dirty="0" smtClean="0">
                <a:sym typeface="Huawei Sans" panose="020C0503030203020204" pitchFamily="34" charset="0"/>
              </a:rPr>
              <a:t>R4</a:t>
            </a:r>
            <a:r>
              <a:rPr lang="zh-CN" altLang="en-US" sz="1800" dirty="0" smtClean="0">
                <a:sym typeface="Huawei Sans" panose="020C0503030203020204" pitchFamily="34" charset="0"/>
              </a:rPr>
              <a:t>收到关于</a:t>
            </a:r>
            <a:r>
              <a:rPr lang="en-US" altLang="zh-CN" sz="1800" dirty="0" smtClean="0">
                <a:sym typeface="Huawei Sans" panose="020C0503030203020204" pitchFamily="34" charset="0"/>
              </a:rPr>
              <a:t>192.168.4.0/24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的标签映射通告时，由于该通告来自下游</a:t>
            </a:r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邻居，因此这将触发它自己为该路由分配标签</a:t>
            </a:r>
            <a:r>
              <a:rPr lang="en-US" altLang="zh-CN" sz="1800" dirty="0" smtClean="0">
                <a:sym typeface="Huawei Sans" panose="020C0503030203020204" pitchFamily="34" charset="0"/>
              </a:rPr>
              <a:t>1021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，并将标签映射通告给</a:t>
            </a:r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邻居（如</a:t>
            </a:r>
            <a:r>
              <a:rPr lang="en-US" altLang="zh-CN" sz="1800" dirty="0" smtClean="0">
                <a:sym typeface="Huawei Sans" panose="020C0503030203020204" pitchFamily="34" charset="0"/>
              </a:rPr>
              <a:t>R1</a:t>
            </a:r>
            <a:r>
              <a:rPr lang="zh-CN" altLang="en-US" sz="1800" dirty="0" smtClean="0">
                <a:sym typeface="Huawei Sans" panose="020C0503030203020204" pitchFamily="34" charset="0"/>
              </a:rPr>
              <a:t>）。</a:t>
            </a:r>
            <a:r>
              <a:rPr lang="en-US" altLang="zh-CN" sz="1800" dirty="0" smtClean="0">
                <a:sym typeface="Huawei Sans" panose="020C0503030203020204" pitchFamily="34" charset="0"/>
              </a:rPr>
              <a:t>R3</a:t>
            </a:r>
            <a:r>
              <a:rPr lang="zh-CN" altLang="en-US" sz="1800" dirty="0" smtClean="0">
                <a:sym typeface="Huawei Sans" panose="020C0503030203020204" pitchFamily="34" charset="0"/>
              </a:rPr>
              <a:t>同理。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endParaRPr lang="en-US" altLang="zh-CN" sz="1800" dirty="0" smtClean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cxnSp>
        <p:nvCxnSpPr>
          <p:cNvPr id="12" name="直接连接符 4"/>
          <p:cNvCxnSpPr>
            <a:stCxn id="51" idx="2"/>
            <a:endCxn id="53" idx="1"/>
          </p:cNvCxnSpPr>
          <p:nvPr/>
        </p:nvCxnSpPr>
        <p:spPr bwMode="gray">
          <a:xfrm>
            <a:off x="3983029" y="4591249"/>
            <a:ext cx="1809015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22"/>
          <p:cNvCxnSpPr>
            <a:stCxn id="51" idx="0"/>
            <a:endCxn id="52" idx="1"/>
          </p:cNvCxnSpPr>
          <p:nvPr/>
        </p:nvCxnSpPr>
        <p:spPr bwMode="gray">
          <a:xfrm flipV="1">
            <a:off x="3983029" y="3349275"/>
            <a:ext cx="1809015" cy="71027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4"/>
          <p:cNvCxnSpPr>
            <a:stCxn id="54" idx="0"/>
            <a:endCxn id="52" idx="3"/>
          </p:cNvCxnSpPr>
          <p:nvPr/>
        </p:nvCxnSpPr>
        <p:spPr bwMode="gray">
          <a:xfrm flipH="1" flipV="1">
            <a:off x="6420696" y="3349275"/>
            <a:ext cx="1859326" cy="71027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22"/>
          <p:cNvCxnSpPr>
            <a:stCxn id="54" idx="2"/>
            <a:endCxn id="53" idx="3"/>
          </p:cNvCxnSpPr>
          <p:nvPr/>
        </p:nvCxnSpPr>
        <p:spPr bwMode="gray">
          <a:xfrm flipH="1">
            <a:off x="6420696" y="4591249"/>
            <a:ext cx="1859326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35"/>
          <p:cNvCxnSpPr/>
          <p:nvPr/>
        </p:nvCxnSpPr>
        <p:spPr bwMode="gray">
          <a:xfrm flipH="1">
            <a:off x="8211146" y="4349462"/>
            <a:ext cx="766405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35"/>
          <p:cNvCxnSpPr/>
          <p:nvPr/>
        </p:nvCxnSpPr>
        <p:spPr bwMode="gray">
          <a:xfrm flipV="1">
            <a:off x="8977550" y="4037934"/>
            <a:ext cx="1" cy="66923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56"/>
          <p:cNvSpPr/>
          <p:nvPr/>
        </p:nvSpPr>
        <p:spPr bwMode="gray">
          <a:xfrm>
            <a:off x="3704238" y="3738365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56"/>
          <p:cNvSpPr/>
          <p:nvPr/>
        </p:nvSpPr>
        <p:spPr bwMode="gray">
          <a:xfrm>
            <a:off x="5890139" y="2777155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56"/>
          <p:cNvSpPr/>
          <p:nvPr/>
        </p:nvSpPr>
        <p:spPr bwMode="gray">
          <a:xfrm>
            <a:off x="8134023" y="3761014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56"/>
          <p:cNvSpPr/>
          <p:nvPr/>
        </p:nvSpPr>
        <p:spPr bwMode="gray">
          <a:xfrm>
            <a:off x="8977550" y="4195573"/>
            <a:ext cx="14414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</p:txBody>
      </p:sp>
      <p:sp>
        <p:nvSpPr>
          <p:cNvPr id="36" name="矩形 56"/>
          <p:cNvSpPr/>
          <p:nvPr/>
        </p:nvSpPr>
        <p:spPr bwMode="gray">
          <a:xfrm>
            <a:off x="5756831" y="4049039"/>
            <a:ext cx="633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</a:p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直接连接符 22"/>
          <p:cNvCxnSpPr/>
          <p:nvPr/>
        </p:nvCxnSpPr>
        <p:spPr bwMode="gray">
          <a:xfrm rot="5520000" flipH="1" flipV="1">
            <a:off x="4758775" y="3141127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"/>
          <p:cNvCxnSpPr/>
          <p:nvPr/>
        </p:nvCxnSpPr>
        <p:spPr bwMode="gray">
          <a:xfrm rot="16020000" flipV="1">
            <a:off x="6868390" y="3135642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"/>
          <p:cNvCxnSpPr/>
          <p:nvPr/>
        </p:nvCxnSpPr>
        <p:spPr bwMode="gray">
          <a:xfrm rot="5400000" flipV="1">
            <a:off x="4735147" y="4233028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22"/>
          <p:cNvCxnSpPr/>
          <p:nvPr/>
        </p:nvCxnSpPr>
        <p:spPr bwMode="gray">
          <a:xfrm rot="16260000" flipH="1" flipV="1">
            <a:off x="6873693" y="4263276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668703" y="4059546"/>
            <a:ext cx="628652" cy="531703"/>
          </a:xfrm>
          <a:prstGeom prst="rect">
            <a:avLst/>
          </a:prstGeom>
          <a:noFill/>
        </p:spPr>
      </p:pic>
      <p:pic>
        <p:nvPicPr>
          <p:cNvPr id="5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792044" y="3083423"/>
            <a:ext cx="628652" cy="531703"/>
          </a:xfrm>
          <a:prstGeom prst="rect">
            <a:avLst/>
          </a:prstGeom>
          <a:noFill/>
        </p:spPr>
      </p:pic>
      <p:pic>
        <p:nvPicPr>
          <p:cNvPr id="5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792044" y="5109540"/>
            <a:ext cx="628652" cy="531703"/>
          </a:xfrm>
          <a:prstGeom prst="rect">
            <a:avLst/>
          </a:prstGeom>
          <a:noFill/>
        </p:spPr>
      </p:pic>
      <p:pic>
        <p:nvPicPr>
          <p:cNvPr id="5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965696" y="4059546"/>
            <a:ext cx="628652" cy="531703"/>
          </a:xfrm>
          <a:prstGeom prst="rect">
            <a:avLst/>
          </a:prstGeom>
          <a:noFill/>
        </p:spPr>
      </p:pic>
      <p:sp>
        <p:nvSpPr>
          <p:cNvPr id="57" name="矩形 56"/>
          <p:cNvSpPr/>
          <p:nvPr/>
        </p:nvSpPr>
        <p:spPr bwMode="gray">
          <a:xfrm>
            <a:off x="5894147" y="5656735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矩形 56"/>
          <p:cNvSpPr/>
          <p:nvPr/>
        </p:nvSpPr>
        <p:spPr bwMode="gray">
          <a:xfrm rot="20220000">
            <a:off x="4661905" y="3768713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56"/>
          <p:cNvSpPr/>
          <p:nvPr/>
        </p:nvSpPr>
        <p:spPr bwMode="gray">
          <a:xfrm rot="1468652">
            <a:off x="4589193" y="4625100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56"/>
          <p:cNvSpPr/>
          <p:nvPr/>
        </p:nvSpPr>
        <p:spPr bwMode="gray">
          <a:xfrm rot="1260000">
            <a:off x="6554080" y="3772214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56"/>
          <p:cNvSpPr/>
          <p:nvPr/>
        </p:nvSpPr>
        <p:spPr bwMode="gray">
          <a:xfrm rot="20160000">
            <a:off x="6516003" y="4688165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五边形 36"/>
          <p:cNvSpPr/>
          <p:nvPr/>
        </p:nvSpPr>
        <p:spPr bwMode="gray">
          <a:xfrm rot="1320000" flipH="1">
            <a:off x="6863824" y="3295358"/>
            <a:ext cx="1440000" cy="357987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Label=1041</a:t>
            </a:r>
            <a:endParaRPr lang="zh-CN" altLang="en-US" sz="12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五边形 38"/>
          <p:cNvSpPr/>
          <p:nvPr/>
        </p:nvSpPr>
        <p:spPr bwMode="gray">
          <a:xfrm rot="20220000" flipH="1">
            <a:off x="6862780" y="5014940"/>
            <a:ext cx="1440000" cy="357987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Label=1041</a:t>
            </a:r>
            <a:endParaRPr lang="zh-CN" altLang="en-US" sz="12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五边形 36"/>
          <p:cNvSpPr/>
          <p:nvPr/>
        </p:nvSpPr>
        <p:spPr bwMode="gray">
          <a:xfrm rot="-1260000" flipH="1">
            <a:off x="4114864" y="3242043"/>
            <a:ext cx="1440000" cy="357987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Label=1021</a:t>
            </a:r>
            <a:endParaRPr lang="zh-CN" altLang="en-US" sz="12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五边形 40"/>
          <p:cNvSpPr/>
          <p:nvPr/>
        </p:nvSpPr>
        <p:spPr bwMode="gray">
          <a:xfrm rot="22980000" flipH="1">
            <a:off x="4208048" y="5111832"/>
            <a:ext cx="1440000" cy="357987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Label=1031</a:t>
            </a:r>
            <a:endParaRPr lang="zh-CN" altLang="en-US" sz="12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五边形 36"/>
          <p:cNvSpPr/>
          <p:nvPr/>
        </p:nvSpPr>
        <p:spPr bwMode="gray">
          <a:xfrm flipH="1">
            <a:off x="9050629" y="5459091"/>
            <a:ext cx="1861656" cy="309832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标签映射通告</a:t>
            </a: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006842"/>
              </p:ext>
            </p:extLst>
          </p:nvPr>
        </p:nvGraphicFramePr>
        <p:xfrm>
          <a:off x="6503893" y="2367353"/>
          <a:ext cx="3787592" cy="704845"/>
        </p:xfrm>
        <a:graphic>
          <a:graphicData uri="http://schemas.openxmlformats.org/drawingml/2006/table">
            <a:tbl>
              <a:tblPr/>
              <a:tblGrid>
                <a:gridCol w="15096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4743"/>
                <a:gridCol w="682171"/>
                <a:gridCol w="841025"/>
              </a:tblGrid>
              <a:tr h="430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Destination/Mask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Proto 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Cost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52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192.168.4.0/24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458643"/>
              </p:ext>
            </p:extLst>
          </p:nvPr>
        </p:nvGraphicFramePr>
        <p:xfrm>
          <a:off x="1002695" y="5462434"/>
          <a:ext cx="3787592" cy="704845"/>
        </p:xfrm>
        <a:graphic>
          <a:graphicData uri="http://schemas.openxmlformats.org/drawingml/2006/table">
            <a:tbl>
              <a:tblPr/>
              <a:tblGrid>
                <a:gridCol w="15096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4743"/>
                <a:gridCol w="682171"/>
                <a:gridCol w="841025"/>
              </a:tblGrid>
              <a:tr h="430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Destination/Mask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Proto 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Cost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52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192.168.4.0/24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68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标签分发：</a:t>
            </a:r>
            <a:r>
              <a:rPr lang="en-US" altLang="zh-CN" dirty="0" smtClean="0">
                <a:sym typeface="Huawei Sans" panose="020C0503030203020204" pitchFamily="34" charset="0"/>
              </a:rPr>
              <a:t>Ingress LSR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6" name="文本占位符 6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R1</a:t>
            </a:r>
            <a:r>
              <a:rPr lang="zh-CN" altLang="en-US" sz="1800" dirty="0" smtClean="0">
                <a:sym typeface="Huawei Sans" panose="020C0503030203020204" pitchFamily="34" charset="0"/>
              </a:rPr>
              <a:t>收到</a:t>
            </a:r>
            <a:r>
              <a:rPr lang="en-US" altLang="zh-CN" sz="1800" dirty="0" smtClean="0">
                <a:sym typeface="Huawei Sans" panose="020C0503030203020204" pitchFamily="34" charset="0"/>
              </a:rPr>
              <a:t>LDP</a:t>
            </a:r>
            <a:r>
              <a:rPr lang="zh-CN" altLang="en-US" sz="1800" dirty="0" smtClean="0">
                <a:sym typeface="Huawei Sans" panose="020C0503030203020204" pitchFamily="34" charset="0"/>
              </a:rPr>
              <a:t>邻居</a:t>
            </a:r>
            <a:r>
              <a:rPr lang="en-US" altLang="zh-CN" sz="1800" dirty="0" smtClean="0">
                <a:sym typeface="Huawei Sans" panose="020C0503030203020204" pitchFamily="34" charset="0"/>
              </a:rPr>
              <a:t>R2</a:t>
            </a:r>
            <a:r>
              <a:rPr lang="zh-CN" altLang="en-US" sz="1800" dirty="0" smtClean="0">
                <a:sym typeface="Huawei Sans" panose="020C0503030203020204" pitchFamily="34" charset="0"/>
              </a:rPr>
              <a:t>及</a:t>
            </a:r>
            <a:r>
              <a:rPr lang="en-US" altLang="zh-CN" sz="1800" dirty="0" smtClean="0">
                <a:sym typeface="Huawei Sans" panose="020C0503030203020204" pitchFamily="34" charset="0"/>
              </a:rPr>
              <a:t>R3</a:t>
            </a:r>
            <a:r>
              <a:rPr lang="zh-CN" altLang="en-US" sz="1800" dirty="0" smtClean="0">
                <a:sym typeface="Huawei Sans" panose="020C0503030203020204" pitchFamily="34" charset="0"/>
              </a:rPr>
              <a:t>通告过来的关于</a:t>
            </a:r>
            <a:r>
              <a:rPr lang="en-US" altLang="zh-CN" sz="1800" dirty="0" smtClean="0">
                <a:sym typeface="Huawei Sans" panose="020C0503030203020204" pitchFamily="34" charset="0"/>
              </a:rPr>
              <a:t>192.168.4.0/24</a:t>
            </a:r>
            <a:r>
              <a:rPr lang="zh-CN" altLang="en-US" sz="1800" dirty="0" smtClean="0">
                <a:sym typeface="Huawei Sans" panose="020C0503030203020204" pitchFamily="34" charset="0"/>
              </a:rPr>
              <a:t>路由的标签映射后，将这两个标签都存储起来，但是由于在自己的路由表中，到达</a:t>
            </a:r>
            <a:r>
              <a:rPr lang="en-US" altLang="zh-CN" sz="1800" dirty="0" smtClean="0">
                <a:sym typeface="Huawei Sans" panose="020C0503030203020204" pitchFamily="34" charset="0"/>
              </a:rPr>
              <a:t>192.168.4.0/24</a:t>
            </a:r>
            <a:r>
              <a:rPr lang="zh-CN" altLang="en-US" sz="1800" dirty="0" smtClean="0">
                <a:sym typeface="Huawei Sans" panose="020C0503030203020204" pitchFamily="34" charset="0"/>
              </a:rPr>
              <a:t>的下一跳是</a:t>
            </a:r>
            <a:r>
              <a:rPr lang="en-US" altLang="zh-CN" sz="1800" dirty="0" smtClean="0">
                <a:sym typeface="Huawei Sans" panose="020C0503030203020204" pitchFamily="34" charset="0"/>
              </a:rPr>
              <a:t>R2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，因此当前它只会使用</a:t>
            </a:r>
            <a:r>
              <a:rPr lang="en-US" altLang="zh-CN" sz="1800" dirty="0" smtClean="0">
                <a:sym typeface="Huawei Sans" panose="020C0503030203020204" pitchFamily="34" charset="0"/>
              </a:rPr>
              <a:t>R2</a:t>
            </a:r>
            <a:r>
              <a:rPr lang="zh-CN" altLang="en-US" sz="1800" dirty="0" smtClean="0">
                <a:sym typeface="Huawei Sans" panose="020C0503030203020204" pitchFamily="34" charset="0"/>
              </a:rPr>
              <a:t>所通告的标签</a:t>
            </a:r>
            <a:r>
              <a:rPr lang="en-US" altLang="zh-CN" sz="1800" dirty="0" smtClean="0">
                <a:sym typeface="Huawei Sans" panose="020C0503030203020204" pitchFamily="34" charset="0"/>
              </a:rPr>
              <a:t>1021</a:t>
            </a:r>
            <a:r>
              <a:rPr lang="zh-CN" altLang="en-US" sz="1800" dirty="0" smtClean="0">
                <a:sym typeface="Huawei Sans" panose="020C0503030203020204" pitchFamily="34" charset="0"/>
              </a:rPr>
              <a:t>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endParaRPr lang="en-US" altLang="zh-CN" sz="1800" dirty="0" smtClean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cxnSp>
        <p:nvCxnSpPr>
          <p:cNvPr id="12" name="直接连接符 4"/>
          <p:cNvCxnSpPr>
            <a:stCxn id="51" idx="2"/>
            <a:endCxn id="53" idx="1"/>
          </p:cNvCxnSpPr>
          <p:nvPr/>
        </p:nvCxnSpPr>
        <p:spPr bwMode="gray">
          <a:xfrm>
            <a:off x="4282583" y="4465130"/>
            <a:ext cx="1809015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22"/>
          <p:cNvCxnSpPr>
            <a:stCxn id="51" idx="0"/>
            <a:endCxn id="52" idx="1"/>
          </p:cNvCxnSpPr>
          <p:nvPr/>
        </p:nvCxnSpPr>
        <p:spPr bwMode="gray">
          <a:xfrm flipV="1">
            <a:off x="4282583" y="3223156"/>
            <a:ext cx="1809015" cy="71027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4"/>
          <p:cNvCxnSpPr>
            <a:stCxn id="54" idx="0"/>
            <a:endCxn id="52" idx="3"/>
          </p:cNvCxnSpPr>
          <p:nvPr/>
        </p:nvCxnSpPr>
        <p:spPr bwMode="gray">
          <a:xfrm flipH="1" flipV="1">
            <a:off x="6720250" y="3223156"/>
            <a:ext cx="1859326" cy="71027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22"/>
          <p:cNvCxnSpPr>
            <a:stCxn id="54" idx="2"/>
            <a:endCxn id="53" idx="3"/>
          </p:cNvCxnSpPr>
          <p:nvPr/>
        </p:nvCxnSpPr>
        <p:spPr bwMode="gray">
          <a:xfrm flipH="1">
            <a:off x="6720250" y="4465130"/>
            <a:ext cx="1859326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35"/>
          <p:cNvCxnSpPr/>
          <p:nvPr/>
        </p:nvCxnSpPr>
        <p:spPr bwMode="gray">
          <a:xfrm flipH="1">
            <a:off x="8510700" y="4223343"/>
            <a:ext cx="766405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35"/>
          <p:cNvCxnSpPr/>
          <p:nvPr/>
        </p:nvCxnSpPr>
        <p:spPr bwMode="gray">
          <a:xfrm flipV="1">
            <a:off x="9277104" y="3911815"/>
            <a:ext cx="1" cy="66923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56"/>
          <p:cNvSpPr/>
          <p:nvPr/>
        </p:nvSpPr>
        <p:spPr bwMode="gray">
          <a:xfrm>
            <a:off x="4003792" y="3612246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56"/>
          <p:cNvSpPr/>
          <p:nvPr/>
        </p:nvSpPr>
        <p:spPr bwMode="gray">
          <a:xfrm>
            <a:off x="6189688" y="2682565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56"/>
          <p:cNvSpPr/>
          <p:nvPr/>
        </p:nvSpPr>
        <p:spPr bwMode="gray">
          <a:xfrm>
            <a:off x="8433577" y="3634895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56"/>
          <p:cNvSpPr/>
          <p:nvPr/>
        </p:nvSpPr>
        <p:spPr bwMode="gray">
          <a:xfrm>
            <a:off x="9277105" y="4060687"/>
            <a:ext cx="14414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</p:txBody>
      </p:sp>
      <p:sp>
        <p:nvSpPr>
          <p:cNvPr id="36" name="矩形 56"/>
          <p:cNvSpPr/>
          <p:nvPr/>
        </p:nvSpPr>
        <p:spPr bwMode="gray">
          <a:xfrm>
            <a:off x="6056385" y="3922920"/>
            <a:ext cx="633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</a:p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直接连接符 22"/>
          <p:cNvCxnSpPr/>
          <p:nvPr/>
        </p:nvCxnSpPr>
        <p:spPr bwMode="gray">
          <a:xfrm rot="5520000" flipH="1" flipV="1">
            <a:off x="5058329" y="3015008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"/>
          <p:cNvCxnSpPr/>
          <p:nvPr/>
        </p:nvCxnSpPr>
        <p:spPr bwMode="gray">
          <a:xfrm rot="16020000" flipV="1">
            <a:off x="7167944" y="3009523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"/>
          <p:cNvCxnSpPr/>
          <p:nvPr/>
        </p:nvCxnSpPr>
        <p:spPr bwMode="gray">
          <a:xfrm rot="5400000" flipV="1">
            <a:off x="5034701" y="4106909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22"/>
          <p:cNvCxnSpPr/>
          <p:nvPr/>
        </p:nvCxnSpPr>
        <p:spPr bwMode="gray">
          <a:xfrm rot="16260000" flipH="1" flipV="1">
            <a:off x="7173247" y="4137157"/>
            <a:ext cx="603603" cy="1306899"/>
          </a:xfrm>
          <a:prstGeom prst="line">
            <a:avLst/>
          </a:prstGeom>
          <a:ln w="19050">
            <a:solidFill>
              <a:srgbClr val="62B230"/>
            </a:solidFill>
            <a:prstDash val="sys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68257" y="3933427"/>
            <a:ext cx="628652" cy="531703"/>
          </a:xfrm>
          <a:prstGeom prst="rect">
            <a:avLst/>
          </a:prstGeom>
          <a:noFill/>
        </p:spPr>
      </p:pic>
      <p:pic>
        <p:nvPicPr>
          <p:cNvPr id="5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091598" y="2957304"/>
            <a:ext cx="628652" cy="531703"/>
          </a:xfrm>
          <a:prstGeom prst="rect">
            <a:avLst/>
          </a:prstGeom>
          <a:noFill/>
        </p:spPr>
      </p:pic>
      <p:pic>
        <p:nvPicPr>
          <p:cNvPr id="5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091598" y="4983421"/>
            <a:ext cx="628652" cy="531703"/>
          </a:xfrm>
          <a:prstGeom prst="rect">
            <a:avLst/>
          </a:prstGeom>
          <a:noFill/>
        </p:spPr>
      </p:pic>
      <p:pic>
        <p:nvPicPr>
          <p:cNvPr id="5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8265250" y="3933427"/>
            <a:ext cx="628652" cy="531703"/>
          </a:xfrm>
          <a:prstGeom prst="rect">
            <a:avLst/>
          </a:prstGeom>
          <a:noFill/>
        </p:spPr>
      </p:pic>
      <p:sp>
        <p:nvSpPr>
          <p:cNvPr id="57" name="矩形 56"/>
          <p:cNvSpPr/>
          <p:nvPr/>
        </p:nvSpPr>
        <p:spPr bwMode="gray">
          <a:xfrm>
            <a:off x="6193701" y="5530616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矩形 56"/>
          <p:cNvSpPr/>
          <p:nvPr/>
        </p:nvSpPr>
        <p:spPr bwMode="gray">
          <a:xfrm rot="20220000">
            <a:off x="4961459" y="3642594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矩形 56"/>
          <p:cNvSpPr/>
          <p:nvPr/>
        </p:nvSpPr>
        <p:spPr bwMode="gray">
          <a:xfrm rot="1468652">
            <a:off x="4888747" y="4498981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矩形 56"/>
          <p:cNvSpPr/>
          <p:nvPr/>
        </p:nvSpPr>
        <p:spPr bwMode="gray">
          <a:xfrm rot="1260000">
            <a:off x="6853634" y="3646095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矩形 56"/>
          <p:cNvSpPr/>
          <p:nvPr/>
        </p:nvSpPr>
        <p:spPr bwMode="gray">
          <a:xfrm rot="20160000">
            <a:off x="6815557" y="4562046"/>
            <a:ext cx="1023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Session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五边形 36"/>
          <p:cNvSpPr/>
          <p:nvPr/>
        </p:nvSpPr>
        <p:spPr bwMode="gray">
          <a:xfrm rot="1320000" flipH="1">
            <a:off x="7163378" y="3169239"/>
            <a:ext cx="1440000" cy="357987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Label=1041</a:t>
            </a:r>
            <a:endParaRPr lang="zh-CN" altLang="en-US" sz="12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五边形 38"/>
          <p:cNvSpPr/>
          <p:nvPr/>
        </p:nvSpPr>
        <p:spPr bwMode="gray">
          <a:xfrm rot="20220000" flipH="1">
            <a:off x="7162334" y="4888821"/>
            <a:ext cx="1440000" cy="357987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Label=1041</a:t>
            </a:r>
            <a:endParaRPr lang="zh-CN" altLang="en-US" sz="12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五边形 36"/>
          <p:cNvSpPr/>
          <p:nvPr/>
        </p:nvSpPr>
        <p:spPr bwMode="gray">
          <a:xfrm rot="-1260000" flipH="1">
            <a:off x="4414418" y="3115924"/>
            <a:ext cx="1440000" cy="357987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Label=1021</a:t>
            </a:r>
            <a:endParaRPr lang="zh-CN" altLang="en-US" sz="12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五边形 40"/>
          <p:cNvSpPr/>
          <p:nvPr/>
        </p:nvSpPr>
        <p:spPr bwMode="gray">
          <a:xfrm rot="22980000" flipH="1">
            <a:off x="4507602" y="4985713"/>
            <a:ext cx="1440000" cy="357987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Label=1031</a:t>
            </a:r>
            <a:endParaRPr lang="zh-CN" altLang="en-US" sz="1200" b="1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五边形 36"/>
          <p:cNvSpPr/>
          <p:nvPr/>
        </p:nvSpPr>
        <p:spPr bwMode="gray">
          <a:xfrm flipH="1">
            <a:off x="9050629" y="5459091"/>
            <a:ext cx="1861656" cy="309832"/>
          </a:xfrm>
          <a:prstGeom prst="homePlate">
            <a:avLst>
              <a:gd name="adj" fmla="val 53527"/>
            </a:avLst>
          </a:prstGeom>
          <a:solidFill>
            <a:srgbClr val="94DAE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标签映射通告</a:t>
            </a: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205603"/>
              </p:ext>
            </p:extLst>
          </p:nvPr>
        </p:nvGraphicFramePr>
        <p:xfrm>
          <a:off x="480451" y="2870733"/>
          <a:ext cx="3787592" cy="704845"/>
        </p:xfrm>
        <a:graphic>
          <a:graphicData uri="http://schemas.openxmlformats.org/drawingml/2006/table">
            <a:tbl>
              <a:tblPr/>
              <a:tblGrid>
                <a:gridCol w="15096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4743"/>
                <a:gridCol w="682171"/>
                <a:gridCol w="841025"/>
              </a:tblGrid>
              <a:tr h="430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Destination/Mask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Proto 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Cost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52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192.168.4.0/24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78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标签转发：</a:t>
            </a:r>
            <a:r>
              <a:rPr lang="en-US" altLang="zh-CN" dirty="0" smtClean="0">
                <a:sym typeface="Huawei Sans" panose="020C0503030203020204" pitchFamily="34" charset="0"/>
              </a:rPr>
              <a:t>Ingress LSR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6" name="文本占位符 6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R1</a:t>
            </a:r>
            <a:r>
              <a:rPr lang="zh-CN" altLang="en-US" sz="1800" dirty="0" smtClean="0">
                <a:sym typeface="Huawei Sans" panose="020C0503030203020204" pitchFamily="34" charset="0"/>
              </a:rPr>
              <a:t>作为</a:t>
            </a:r>
            <a:r>
              <a:rPr lang="en-US" altLang="zh-CN" sz="1800" dirty="0" smtClean="0">
                <a:sym typeface="Huawei Sans" panose="020C0503030203020204" pitchFamily="34" charset="0"/>
              </a:rPr>
              <a:t>Ingress 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，需要对接收的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IP</a:t>
            </a:r>
            <a:r>
              <a:rPr lang="zh-CN" altLang="en-US" sz="1800" dirty="0" smtClean="0">
                <a:sym typeface="Huawei Sans" panose="020C0503030203020204" pitchFamily="34" charset="0"/>
              </a:rPr>
              <a:t>报文执行</a:t>
            </a:r>
            <a:r>
              <a:rPr lang="en-US" altLang="zh-CN" sz="1800" dirty="0" smtClean="0">
                <a:sym typeface="Huawei Sans" panose="020C0503030203020204" pitchFamily="34" charset="0"/>
              </a:rPr>
              <a:t>Push</a:t>
            </a:r>
            <a:r>
              <a:rPr lang="zh-CN" altLang="en-US" sz="1800" dirty="0" smtClean="0">
                <a:sym typeface="Huawei Sans" panose="020C0503030203020204" pitchFamily="34" charset="0"/>
              </a:rPr>
              <a:t>操作压入标签，并进行标签转发。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cxnSp>
        <p:nvCxnSpPr>
          <p:cNvPr id="12" name="直接连接符 4"/>
          <p:cNvCxnSpPr>
            <a:stCxn id="51" idx="2"/>
            <a:endCxn id="53" idx="1"/>
          </p:cNvCxnSpPr>
          <p:nvPr/>
        </p:nvCxnSpPr>
        <p:spPr bwMode="gray">
          <a:xfrm>
            <a:off x="5638432" y="4465130"/>
            <a:ext cx="1809015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22"/>
          <p:cNvCxnSpPr>
            <a:stCxn id="51" idx="0"/>
            <a:endCxn id="52" idx="1"/>
          </p:cNvCxnSpPr>
          <p:nvPr/>
        </p:nvCxnSpPr>
        <p:spPr bwMode="gray">
          <a:xfrm flipV="1">
            <a:off x="5638432" y="3223156"/>
            <a:ext cx="1809015" cy="710271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4"/>
          <p:cNvCxnSpPr>
            <a:stCxn id="54" idx="0"/>
            <a:endCxn id="52" idx="3"/>
          </p:cNvCxnSpPr>
          <p:nvPr/>
        </p:nvCxnSpPr>
        <p:spPr bwMode="gray">
          <a:xfrm flipH="1" flipV="1">
            <a:off x="8076099" y="3223156"/>
            <a:ext cx="1859326" cy="710271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22"/>
          <p:cNvCxnSpPr>
            <a:stCxn id="54" idx="2"/>
            <a:endCxn id="53" idx="3"/>
          </p:cNvCxnSpPr>
          <p:nvPr/>
        </p:nvCxnSpPr>
        <p:spPr bwMode="gray">
          <a:xfrm flipH="1">
            <a:off x="8076099" y="4465130"/>
            <a:ext cx="1859326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35"/>
          <p:cNvCxnSpPr/>
          <p:nvPr/>
        </p:nvCxnSpPr>
        <p:spPr bwMode="gray">
          <a:xfrm flipH="1">
            <a:off x="9866549" y="4223343"/>
            <a:ext cx="766405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35"/>
          <p:cNvCxnSpPr/>
          <p:nvPr/>
        </p:nvCxnSpPr>
        <p:spPr bwMode="gray">
          <a:xfrm flipV="1">
            <a:off x="10632953" y="3911815"/>
            <a:ext cx="1" cy="66923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56"/>
          <p:cNvSpPr/>
          <p:nvPr/>
        </p:nvSpPr>
        <p:spPr bwMode="gray">
          <a:xfrm>
            <a:off x="5359641" y="3612246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56"/>
          <p:cNvSpPr/>
          <p:nvPr/>
        </p:nvSpPr>
        <p:spPr bwMode="gray">
          <a:xfrm>
            <a:off x="7545537" y="2682565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56"/>
          <p:cNvSpPr/>
          <p:nvPr/>
        </p:nvSpPr>
        <p:spPr bwMode="gray">
          <a:xfrm>
            <a:off x="9789426" y="3634895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56"/>
          <p:cNvSpPr/>
          <p:nvPr/>
        </p:nvSpPr>
        <p:spPr bwMode="gray">
          <a:xfrm>
            <a:off x="10594158" y="4060687"/>
            <a:ext cx="12506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</p:txBody>
      </p:sp>
      <p:sp>
        <p:nvSpPr>
          <p:cNvPr id="36" name="矩形 56"/>
          <p:cNvSpPr/>
          <p:nvPr/>
        </p:nvSpPr>
        <p:spPr bwMode="gray">
          <a:xfrm>
            <a:off x="7412234" y="3922920"/>
            <a:ext cx="633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</a:p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324106" y="3933427"/>
            <a:ext cx="628652" cy="531703"/>
          </a:xfrm>
          <a:prstGeom prst="rect">
            <a:avLst/>
          </a:prstGeom>
          <a:noFill/>
        </p:spPr>
      </p:pic>
      <p:pic>
        <p:nvPicPr>
          <p:cNvPr id="5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447447" y="4983421"/>
            <a:ext cx="628652" cy="531703"/>
          </a:xfrm>
          <a:prstGeom prst="rect">
            <a:avLst/>
          </a:prstGeom>
          <a:noFill/>
        </p:spPr>
      </p:pic>
      <p:pic>
        <p:nvPicPr>
          <p:cNvPr id="5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621099" y="3933427"/>
            <a:ext cx="628652" cy="531703"/>
          </a:xfrm>
          <a:prstGeom prst="rect">
            <a:avLst/>
          </a:prstGeom>
          <a:noFill/>
        </p:spPr>
      </p:pic>
      <p:sp>
        <p:nvSpPr>
          <p:cNvPr id="57" name="矩形 56"/>
          <p:cNvSpPr/>
          <p:nvPr/>
        </p:nvSpPr>
        <p:spPr bwMode="gray">
          <a:xfrm>
            <a:off x="7549550" y="5530616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798559"/>
              </p:ext>
            </p:extLst>
          </p:nvPr>
        </p:nvGraphicFramePr>
        <p:xfrm>
          <a:off x="548347" y="5128336"/>
          <a:ext cx="4563735" cy="820990"/>
        </p:xfrm>
        <a:graphic>
          <a:graphicData uri="http://schemas.openxmlformats.org/drawingml/2006/table">
            <a:tbl>
              <a:tblPr/>
              <a:tblGrid>
                <a:gridCol w="10631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12163"/>
                <a:gridCol w="774479"/>
                <a:gridCol w="901243"/>
                <a:gridCol w="912747"/>
              </a:tblGrid>
              <a:tr h="546670">
                <a:tc>
                  <a:txBody>
                    <a:bodyPr/>
                    <a:lstStyle>
                      <a:lvl1pPr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1pPr>
                      <a:lvl2pPr marL="39211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Clr>
                          <a:srgbClr val="080808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2pPr>
                      <a:lvl3pPr marL="784225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3pPr>
                      <a:lvl4pPr marL="1174750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4pPr>
                      <a:lvl5pPr marL="15668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5pPr>
                      <a:lvl6pPr marL="20240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6pPr>
                      <a:lvl7pPr marL="24812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7pPr>
                      <a:lvl8pPr marL="29384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8pPr>
                      <a:lvl9pPr marL="33956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Tunnel</a:t>
                      </a:r>
                      <a:r>
                        <a:rPr lang="en-US" altLang="zh-CN" sz="1200" b="1" kern="1200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 ID</a:t>
                      </a:r>
                      <a:endParaRPr lang="en-US" altLang="zh-CN" sz="1200" b="1" kern="1200" dirty="0" smtClean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75600" marR="75600" marT="39600" marB="396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1pPr>
                      <a:lvl2pPr marL="39211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Clr>
                          <a:srgbClr val="080808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2pPr>
                      <a:lvl3pPr marL="784225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3pPr>
                      <a:lvl4pPr marL="1174750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4pPr>
                      <a:lvl5pPr marL="15668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5pPr>
                      <a:lvl6pPr marL="20240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6pPr>
                      <a:lvl7pPr marL="24812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7pPr>
                      <a:lvl8pPr marL="29384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8pPr>
                      <a:lvl9pPr marL="33956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Out</a:t>
                      </a:r>
                      <a:r>
                        <a:rPr lang="en-US" altLang="zh-CN" sz="1200" b="1" kern="1200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 </a:t>
                      </a:r>
                      <a:r>
                        <a:rPr lang="en-US" altLang="zh-CN" sz="1200" b="1" kern="1200" baseline="0" dirty="0" err="1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intf</a:t>
                      </a:r>
                      <a:endParaRPr lang="en-US" altLang="zh-CN" sz="1200" b="1" kern="1200" dirty="0" smtClean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75600" marR="75600" marT="39600" marB="396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OPER</a:t>
                      </a:r>
                    </a:p>
                  </a:txBody>
                  <a:tcPr marL="75600" marR="75600" marT="39600" marB="396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NH</a:t>
                      </a:r>
                    </a:p>
                  </a:txBody>
                  <a:tcPr marL="75600" marR="75600" marT="39600" marB="396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Out Label</a:t>
                      </a:r>
                    </a:p>
                  </a:txBody>
                  <a:tcPr marL="75600" marR="75600" marT="39600" marB="396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552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0x12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GE0/0/0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push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819563"/>
              </p:ext>
            </p:extLst>
          </p:nvPr>
        </p:nvGraphicFramePr>
        <p:xfrm>
          <a:off x="548347" y="2468498"/>
          <a:ext cx="4044872" cy="724212"/>
        </p:xfrm>
        <a:graphic>
          <a:graphicData uri="http://schemas.openxmlformats.org/drawingml/2006/table">
            <a:tbl>
              <a:tblPr/>
              <a:tblGrid>
                <a:gridCol w="151687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14661"/>
                <a:gridCol w="802122"/>
                <a:gridCol w="1011218"/>
              </a:tblGrid>
              <a:tr h="449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Destination/Mask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Proto 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Cost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NH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993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192.168.4.0/24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5" name="直接连接符 22"/>
          <p:cNvCxnSpPr/>
          <p:nvPr/>
        </p:nvCxnSpPr>
        <p:spPr bwMode="gray">
          <a:xfrm flipV="1">
            <a:off x="5622666" y="3101986"/>
            <a:ext cx="2114053" cy="815675"/>
          </a:xfrm>
          <a:prstGeom prst="line">
            <a:avLst/>
          </a:prstGeom>
          <a:ln w="76200">
            <a:solidFill>
              <a:srgbClr val="94DAE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4"/>
          <p:cNvCxnSpPr/>
          <p:nvPr/>
        </p:nvCxnSpPr>
        <p:spPr bwMode="gray">
          <a:xfrm flipH="1" flipV="1">
            <a:off x="7730241" y="3090695"/>
            <a:ext cx="2389372" cy="900838"/>
          </a:xfrm>
          <a:prstGeom prst="line">
            <a:avLst/>
          </a:prstGeom>
          <a:ln w="76200">
            <a:solidFill>
              <a:srgbClr val="94DAE2"/>
            </a:solidFill>
            <a:headEnd type="triangle" w="med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56"/>
          <p:cNvSpPr/>
          <p:nvPr/>
        </p:nvSpPr>
        <p:spPr bwMode="gray">
          <a:xfrm>
            <a:off x="760369" y="2040809"/>
            <a:ext cx="11320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的路由表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56"/>
          <p:cNvSpPr/>
          <p:nvPr/>
        </p:nvSpPr>
        <p:spPr bwMode="gray">
          <a:xfrm>
            <a:off x="760369" y="3365437"/>
            <a:ext cx="10070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FIB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表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56"/>
          <p:cNvSpPr/>
          <p:nvPr/>
        </p:nvSpPr>
        <p:spPr bwMode="gray">
          <a:xfrm>
            <a:off x="760369" y="4686323"/>
            <a:ext cx="11320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NHLFE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69" name="表格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037536"/>
              </p:ext>
            </p:extLst>
          </p:nvPr>
        </p:nvGraphicFramePr>
        <p:xfrm>
          <a:off x="548347" y="3804366"/>
          <a:ext cx="4405746" cy="705716"/>
        </p:xfrm>
        <a:graphic>
          <a:graphicData uri="http://schemas.openxmlformats.org/drawingml/2006/table">
            <a:tbl>
              <a:tblPr/>
              <a:tblGrid>
                <a:gridCol w="154665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4378"/>
                <a:gridCol w="548139"/>
                <a:gridCol w="511146"/>
                <a:gridCol w="985428"/>
              </a:tblGrid>
              <a:tr h="431396">
                <a:tc>
                  <a:txBody>
                    <a:bodyPr/>
                    <a:lstStyle/>
                    <a:p>
                      <a:pPr marL="0" algn="ctr" defTabSz="914034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Destination/Mask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034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Proto 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034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Cost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034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NH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034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Tunnel ID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8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192.168.4.0/24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OSPF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0x12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0" name="矩形 69"/>
          <p:cNvSpPr/>
          <p:nvPr/>
        </p:nvSpPr>
        <p:spPr bwMode="gray">
          <a:xfrm rot="20331208">
            <a:off x="5608596" y="3417798"/>
            <a:ext cx="8515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</p:txBody>
      </p:sp>
      <p:sp>
        <p:nvSpPr>
          <p:cNvPr id="19" name="圆角矩形标注 18"/>
          <p:cNvSpPr/>
          <p:nvPr/>
        </p:nvSpPr>
        <p:spPr bwMode="gray">
          <a:xfrm>
            <a:off x="8261781" y="3788783"/>
            <a:ext cx="785038" cy="270965"/>
          </a:xfrm>
          <a:prstGeom prst="wedgeRoundRectCallout">
            <a:avLst>
              <a:gd name="adj1" fmla="val -44971"/>
              <a:gd name="adj2" fmla="val -217318"/>
              <a:gd name="adj3" fmla="val 16667"/>
            </a:avLst>
          </a:prstGeom>
          <a:solidFill>
            <a:srgbClr val="94D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endParaRPr lang="zh-CN" altLang="en-US" sz="14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1" name="直接连接符 22"/>
          <p:cNvCxnSpPr/>
          <p:nvPr/>
        </p:nvCxnSpPr>
        <p:spPr bwMode="gray">
          <a:xfrm flipV="1">
            <a:off x="9848290" y="5820208"/>
            <a:ext cx="558513" cy="1"/>
          </a:xfrm>
          <a:prstGeom prst="line">
            <a:avLst/>
          </a:prstGeom>
          <a:ln w="76200">
            <a:solidFill>
              <a:srgbClr val="94DAE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56"/>
          <p:cNvSpPr/>
          <p:nvPr/>
        </p:nvSpPr>
        <p:spPr bwMode="gray">
          <a:xfrm>
            <a:off x="10513799" y="5697039"/>
            <a:ext cx="4876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3" name="直接连接符 4"/>
          <p:cNvCxnSpPr/>
          <p:nvPr/>
        </p:nvCxnSpPr>
        <p:spPr bwMode="gray">
          <a:xfrm>
            <a:off x="5655157" y="4552581"/>
            <a:ext cx="0" cy="481265"/>
          </a:xfrm>
          <a:prstGeom prst="line">
            <a:avLst/>
          </a:prstGeom>
          <a:ln w="38100">
            <a:solidFill>
              <a:srgbClr val="62B230"/>
            </a:solidFill>
            <a:headEnd type="triangle" w="med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56"/>
          <p:cNvSpPr/>
          <p:nvPr/>
        </p:nvSpPr>
        <p:spPr bwMode="gray">
          <a:xfrm>
            <a:off x="5133570" y="5065894"/>
            <a:ext cx="1440000" cy="307777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</a:t>
            </a:r>
            <a:r>
              <a:rPr lang="en-US" altLang="zh-CN" sz="12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192.168.4.1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5" name="直接连接符 4"/>
          <p:cNvCxnSpPr/>
          <p:nvPr/>
        </p:nvCxnSpPr>
        <p:spPr bwMode="gray">
          <a:xfrm flipH="1">
            <a:off x="6901229" y="2669817"/>
            <a:ext cx="401074" cy="188974"/>
          </a:xfrm>
          <a:prstGeom prst="line">
            <a:avLst/>
          </a:prstGeom>
          <a:ln w="38100">
            <a:solidFill>
              <a:srgbClr val="EC7061"/>
            </a:solidFill>
            <a:headEnd type="triangle" w="med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56"/>
          <p:cNvSpPr/>
          <p:nvPr/>
        </p:nvSpPr>
        <p:spPr bwMode="gray">
          <a:xfrm rot="20201015">
            <a:off x="5929007" y="2808260"/>
            <a:ext cx="1440000" cy="307777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</a:t>
            </a:r>
            <a:r>
              <a:rPr lang="en-US" altLang="zh-CN" sz="12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192.168.4.1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矩形 56"/>
          <p:cNvSpPr/>
          <p:nvPr/>
        </p:nvSpPr>
        <p:spPr bwMode="gray">
          <a:xfrm rot="20201015">
            <a:off x="5562644" y="3160117"/>
            <a:ext cx="540000" cy="307777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1021</a:t>
            </a:r>
          </a:p>
        </p:txBody>
      </p:sp>
      <p:sp>
        <p:nvSpPr>
          <p:cNvPr id="85" name="Oval 4"/>
          <p:cNvSpPr>
            <a:spLocks noChangeAspect="1"/>
          </p:cNvSpPr>
          <p:nvPr/>
        </p:nvSpPr>
        <p:spPr bwMode="gray">
          <a:xfrm>
            <a:off x="5395546" y="4693397"/>
            <a:ext cx="211977" cy="211977"/>
          </a:xfrm>
          <a:prstGeom prst="ellipse">
            <a:avLst/>
          </a:prstGeom>
          <a:solidFill>
            <a:srgbClr val="30B5C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Oval 4"/>
          <p:cNvSpPr>
            <a:spLocks noChangeAspect="1"/>
          </p:cNvSpPr>
          <p:nvPr/>
        </p:nvSpPr>
        <p:spPr bwMode="gray">
          <a:xfrm>
            <a:off x="1753482" y="3420401"/>
            <a:ext cx="211977" cy="211977"/>
          </a:xfrm>
          <a:prstGeom prst="ellipse">
            <a:avLst/>
          </a:prstGeom>
          <a:solidFill>
            <a:srgbClr val="30B5C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椭圆 86"/>
          <p:cNvSpPr>
            <a:spLocks noChangeAspect="1"/>
          </p:cNvSpPr>
          <p:nvPr/>
        </p:nvSpPr>
        <p:spPr bwMode="gray">
          <a:xfrm>
            <a:off x="1864193" y="4734538"/>
            <a:ext cx="211345" cy="211345"/>
          </a:xfrm>
          <a:prstGeom prst="ellipse">
            <a:avLst/>
          </a:prstGeom>
          <a:solidFill>
            <a:srgbClr val="30B5C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椭圆 87"/>
          <p:cNvSpPr>
            <a:spLocks noChangeAspect="1"/>
          </p:cNvSpPr>
          <p:nvPr/>
        </p:nvSpPr>
        <p:spPr bwMode="gray">
          <a:xfrm>
            <a:off x="5177613" y="3181095"/>
            <a:ext cx="211345" cy="211345"/>
          </a:xfrm>
          <a:prstGeom prst="ellipse">
            <a:avLst/>
          </a:prstGeom>
          <a:solidFill>
            <a:srgbClr val="30B5C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447447" y="2957304"/>
            <a:ext cx="628652" cy="531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5896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标签转发：</a:t>
            </a:r>
            <a:r>
              <a:rPr lang="en-US" altLang="zh-CN" dirty="0" smtClean="0">
                <a:sym typeface="Huawei Sans" panose="020C0503030203020204" pitchFamily="34" charset="0"/>
              </a:rPr>
              <a:t>Transit LSR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6" name="文本占位符 6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R2</a:t>
            </a:r>
            <a:r>
              <a:rPr lang="zh-CN" altLang="en-US" sz="1800" dirty="0" smtClean="0">
                <a:sym typeface="Huawei Sans" panose="020C0503030203020204" pitchFamily="34" charset="0"/>
              </a:rPr>
              <a:t>作为</a:t>
            </a:r>
            <a:r>
              <a:rPr lang="en-US" altLang="zh-CN" sz="1800" dirty="0" smtClean="0">
                <a:sym typeface="Huawei Sans" panose="020C0503030203020204" pitchFamily="34" charset="0"/>
              </a:rPr>
              <a:t>Transit 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，需要对接收的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IP</a:t>
            </a:r>
            <a:r>
              <a:rPr lang="zh-CN" altLang="en-US" sz="1800" dirty="0" smtClean="0">
                <a:sym typeface="Huawei Sans" panose="020C0503030203020204" pitchFamily="34" charset="0"/>
              </a:rPr>
              <a:t>报文执行</a:t>
            </a:r>
            <a:r>
              <a:rPr lang="en-US" altLang="zh-CN" sz="1800" dirty="0" smtClean="0">
                <a:sym typeface="Huawei Sans" panose="020C0503030203020204" pitchFamily="34" charset="0"/>
              </a:rPr>
              <a:t>Swap</a:t>
            </a:r>
            <a:r>
              <a:rPr lang="zh-CN" altLang="en-US" sz="1800" dirty="0" smtClean="0">
                <a:sym typeface="Huawei Sans" panose="020C0503030203020204" pitchFamily="34" charset="0"/>
              </a:rPr>
              <a:t>操作交换标签，并进行标签转发。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cxnSp>
        <p:nvCxnSpPr>
          <p:cNvPr id="12" name="直接连接符 4"/>
          <p:cNvCxnSpPr>
            <a:stCxn id="51" idx="2"/>
            <a:endCxn id="53" idx="1"/>
          </p:cNvCxnSpPr>
          <p:nvPr/>
        </p:nvCxnSpPr>
        <p:spPr bwMode="gray">
          <a:xfrm>
            <a:off x="5638432" y="4465130"/>
            <a:ext cx="1809015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22"/>
          <p:cNvCxnSpPr>
            <a:stCxn id="51" idx="0"/>
            <a:endCxn id="52" idx="1"/>
          </p:cNvCxnSpPr>
          <p:nvPr/>
        </p:nvCxnSpPr>
        <p:spPr bwMode="gray">
          <a:xfrm flipV="1">
            <a:off x="5638432" y="3223156"/>
            <a:ext cx="1809015" cy="710271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4"/>
          <p:cNvCxnSpPr>
            <a:stCxn id="54" idx="0"/>
            <a:endCxn id="52" idx="3"/>
          </p:cNvCxnSpPr>
          <p:nvPr/>
        </p:nvCxnSpPr>
        <p:spPr bwMode="gray">
          <a:xfrm flipH="1" flipV="1">
            <a:off x="8076099" y="3223156"/>
            <a:ext cx="1859326" cy="710271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22"/>
          <p:cNvCxnSpPr>
            <a:stCxn id="54" idx="2"/>
            <a:endCxn id="53" idx="3"/>
          </p:cNvCxnSpPr>
          <p:nvPr/>
        </p:nvCxnSpPr>
        <p:spPr bwMode="gray">
          <a:xfrm flipH="1">
            <a:off x="8076099" y="4465130"/>
            <a:ext cx="1859326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35"/>
          <p:cNvCxnSpPr/>
          <p:nvPr/>
        </p:nvCxnSpPr>
        <p:spPr bwMode="gray">
          <a:xfrm flipH="1">
            <a:off x="9866549" y="4223343"/>
            <a:ext cx="766405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35"/>
          <p:cNvCxnSpPr/>
          <p:nvPr/>
        </p:nvCxnSpPr>
        <p:spPr bwMode="gray">
          <a:xfrm flipV="1">
            <a:off x="10632953" y="3911815"/>
            <a:ext cx="1" cy="66923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56"/>
          <p:cNvSpPr/>
          <p:nvPr/>
        </p:nvSpPr>
        <p:spPr bwMode="gray">
          <a:xfrm>
            <a:off x="5359641" y="3612246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56"/>
          <p:cNvSpPr/>
          <p:nvPr/>
        </p:nvSpPr>
        <p:spPr bwMode="gray">
          <a:xfrm>
            <a:off x="7545537" y="2682565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56"/>
          <p:cNvSpPr/>
          <p:nvPr/>
        </p:nvSpPr>
        <p:spPr bwMode="gray">
          <a:xfrm>
            <a:off x="9789426" y="3634895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56"/>
          <p:cNvSpPr/>
          <p:nvPr/>
        </p:nvSpPr>
        <p:spPr bwMode="gray">
          <a:xfrm>
            <a:off x="7412234" y="3922920"/>
            <a:ext cx="633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</a:p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324106" y="3933427"/>
            <a:ext cx="628652" cy="531703"/>
          </a:xfrm>
          <a:prstGeom prst="rect">
            <a:avLst/>
          </a:prstGeom>
          <a:noFill/>
        </p:spPr>
      </p:pic>
      <p:pic>
        <p:nvPicPr>
          <p:cNvPr id="5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447447" y="4983421"/>
            <a:ext cx="628652" cy="531703"/>
          </a:xfrm>
          <a:prstGeom prst="rect">
            <a:avLst/>
          </a:prstGeom>
          <a:noFill/>
        </p:spPr>
      </p:pic>
      <p:pic>
        <p:nvPicPr>
          <p:cNvPr id="5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621099" y="3933427"/>
            <a:ext cx="628652" cy="531703"/>
          </a:xfrm>
          <a:prstGeom prst="rect">
            <a:avLst/>
          </a:prstGeom>
          <a:noFill/>
        </p:spPr>
      </p:pic>
      <p:sp>
        <p:nvSpPr>
          <p:cNvPr id="57" name="矩形 56"/>
          <p:cNvSpPr/>
          <p:nvPr/>
        </p:nvSpPr>
        <p:spPr bwMode="gray">
          <a:xfrm>
            <a:off x="7549550" y="5530616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624688"/>
              </p:ext>
            </p:extLst>
          </p:nvPr>
        </p:nvGraphicFramePr>
        <p:xfrm>
          <a:off x="760369" y="4339026"/>
          <a:ext cx="4494861" cy="609552"/>
        </p:xfrm>
        <a:graphic>
          <a:graphicData uri="http://schemas.openxmlformats.org/drawingml/2006/table">
            <a:tbl>
              <a:tblPr/>
              <a:tblGrid>
                <a:gridCol w="104705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98397"/>
                <a:gridCol w="762791"/>
                <a:gridCol w="887642"/>
                <a:gridCol w="898972"/>
              </a:tblGrid>
              <a:tr h="316101">
                <a:tc>
                  <a:txBody>
                    <a:bodyPr/>
                    <a:lstStyle>
                      <a:lvl1pPr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1pPr>
                      <a:lvl2pPr marL="39211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Clr>
                          <a:srgbClr val="080808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2pPr>
                      <a:lvl3pPr marL="784225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3pPr>
                      <a:lvl4pPr marL="1174750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4pPr>
                      <a:lvl5pPr marL="15668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5pPr>
                      <a:lvl6pPr marL="20240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6pPr>
                      <a:lvl7pPr marL="24812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7pPr>
                      <a:lvl8pPr marL="29384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8pPr>
                      <a:lvl9pPr marL="33956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Tunnel</a:t>
                      </a:r>
                      <a:r>
                        <a:rPr lang="en-US" altLang="zh-CN" sz="1200" b="1" kern="1200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 ID</a:t>
                      </a:r>
                      <a:endParaRPr lang="en-US" altLang="zh-CN" sz="1200" b="1" kern="1200" dirty="0" smtClean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75600" marR="75600" marT="39600" marB="396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1pPr>
                      <a:lvl2pPr marL="39211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Clr>
                          <a:srgbClr val="080808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2pPr>
                      <a:lvl3pPr marL="784225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3pPr>
                      <a:lvl4pPr marL="1174750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4pPr>
                      <a:lvl5pPr marL="15668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5pPr>
                      <a:lvl6pPr marL="20240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6pPr>
                      <a:lvl7pPr marL="24812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7pPr>
                      <a:lvl8pPr marL="29384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8pPr>
                      <a:lvl9pPr marL="33956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Out</a:t>
                      </a:r>
                      <a:r>
                        <a:rPr lang="en-US" altLang="zh-CN" sz="1200" b="1" kern="1200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 </a:t>
                      </a:r>
                      <a:r>
                        <a:rPr lang="en-US" altLang="zh-CN" sz="1200" b="1" kern="1200" baseline="0" dirty="0" err="1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intf</a:t>
                      </a:r>
                      <a:endParaRPr lang="en-US" altLang="zh-CN" sz="1200" b="1" kern="1200" dirty="0" smtClean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75600" marR="75600" marT="39600" marB="396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OPER</a:t>
                      </a:r>
                    </a:p>
                  </a:txBody>
                  <a:tcPr marL="75600" marR="75600" marT="39600" marB="396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NH</a:t>
                      </a:r>
                    </a:p>
                  </a:txBody>
                  <a:tcPr marL="75600" marR="75600" marT="39600" marB="396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Out Label</a:t>
                      </a:r>
                    </a:p>
                  </a:txBody>
                  <a:tcPr marL="75600" marR="75600" marT="39600" marB="396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52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0x12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GE0/0/1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Swap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5" name="直接连接符 22"/>
          <p:cNvCxnSpPr/>
          <p:nvPr/>
        </p:nvCxnSpPr>
        <p:spPr bwMode="gray">
          <a:xfrm flipV="1">
            <a:off x="5622666" y="3101986"/>
            <a:ext cx="2114053" cy="815675"/>
          </a:xfrm>
          <a:prstGeom prst="line">
            <a:avLst/>
          </a:prstGeom>
          <a:ln w="76200">
            <a:solidFill>
              <a:srgbClr val="94DAE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4"/>
          <p:cNvCxnSpPr/>
          <p:nvPr/>
        </p:nvCxnSpPr>
        <p:spPr bwMode="gray">
          <a:xfrm flipH="1" flipV="1">
            <a:off x="7730241" y="3090695"/>
            <a:ext cx="2389372" cy="900838"/>
          </a:xfrm>
          <a:prstGeom prst="line">
            <a:avLst/>
          </a:prstGeom>
          <a:ln w="76200">
            <a:solidFill>
              <a:srgbClr val="94DAE2"/>
            </a:solidFill>
            <a:headEnd type="triangle" w="med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56"/>
          <p:cNvSpPr/>
          <p:nvPr/>
        </p:nvSpPr>
        <p:spPr bwMode="gray">
          <a:xfrm>
            <a:off x="760369" y="2589100"/>
            <a:ext cx="10631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ILM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表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56"/>
          <p:cNvSpPr/>
          <p:nvPr/>
        </p:nvSpPr>
        <p:spPr bwMode="gray">
          <a:xfrm>
            <a:off x="760369" y="3909986"/>
            <a:ext cx="11320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NHLFE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69" name="表格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301304"/>
              </p:ext>
            </p:extLst>
          </p:nvPr>
        </p:nvGraphicFramePr>
        <p:xfrm>
          <a:off x="787289" y="3028029"/>
          <a:ext cx="2002075" cy="608327"/>
        </p:xfrm>
        <a:graphic>
          <a:graphicData uri="http://schemas.openxmlformats.org/drawingml/2006/table">
            <a:tbl>
              <a:tblPr/>
              <a:tblGrid>
                <a:gridCol w="10888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13267"/>
              </a:tblGrid>
              <a:tr h="334007">
                <a:tc>
                  <a:txBody>
                    <a:bodyPr/>
                    <a:lstStyle/>
                    <a:p>
                      <a:pPr marL="0" algn="ctr" defTabSz="914034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In Label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034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Tunnel ID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52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1021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0x12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0" name="矩形 69"/>
          <p:cNvSpPr/>
          <p:nvPr/>
        </p:nvSpPr>
        <p:spPr bwMode="gray">
          <a:xfrm rot="20331208">
            <a:off x="6669053" y="3040109"/>
            <a:ext cx="8515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</p:txBody>
      </p:sp>
      <p:cxnSp>
        <p:nvCxnSpPr>
          <p:cNvPr id="71" name="直接连接符 22"/>
          <p:cNvCxnSpPr/>
          <p:nvPr/>
        </p:nvCxnSpPr>
        <p:spPr bwMode="gray">
          <a:xfrm flipV="1">
            <a:off x="9848290" y="5820208"/>
            <a:ext cx="558513" cy="1"/>
          </a:xfrm>
          <a:prstGeom prst="line">
            <a:avLst/>
          </a:prstGeom>
          <a:ln w="76200">
            <a:solidFill>
              <a:srgbClr val="94DAE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56"/>
          <p:cNvSpPr/>
          <p:nvPr/>
        </p:nvSpPr>
        <p:spPr bwMode="gray">
          <a:xfrm>
            <a:off x="10513799" y="5697039"/>
            <a:ext cx="4876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5" name="直接连接符 4"/>
          <p:cNvCxnSpPr/>
          <p:nvPr/>
        </p:nvCxnSpPr>
        <p:spPr bwMode="gray">
          <a:xfrm flipH="1">
            <a:off x="6901229" y="2669817"/>
            <a:ext cx="401074" cy="188974"/>
          </a:xfrm>
          <a:prstGeom prst="line">
            <a:avLst/>
          </a:prstGeom>
          <a:ln w="38100">
            <a:solidFill>
              <a:srgbClr val="EC7061"/>
            </a:solidFill>
            <a:headEnd type="triangle" w="med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56"/>
          <p:cNvSpPr/>
          <p:nvPr/>
        </p:nvSpPr>
        <p:spPr bwMode="gray">
          <a:xfrm rot="20201015">
            <a:off x="5956327" y="2796485"/>
            <a:ext cx="1440000" cy="307777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192.168.4.1</a:t>
            </a:r>
          </a:p>
        </p:txBody>
      </p:sp>
      <p:sp>
        <p:nvSpPr>
          <p:cNvPr id="78" name="矩形 56"/>
          <p:cNvSpPr/>
          <p:nvPr/>
        </p:nvSpPr>
        <p:spPr bwMode="gray">
          <a:xfrm rot="20201015">
            <a:off x="5562645" y="3160118"/>
            <a:ext cx="540000" cy="307777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1021</a:t>
            </a:r>
          </a:p>
        </p:txBody>
      </p:sp>
      <p:cxnSp>
        <p:nvCxnSpPr>
          <p:cNvPr id="79" name="直接连接符 4"/>
          <p:cNvCxnSpPr/>
          <p:nvPr/>
        </p:nvCxnSpPr>
        <p:spPr bwMode="gray">
          <a:xfrm rot="2927212" flipH="1">
            <a:off x="9588443" y="3258842"/>
            <a:ext cx="401074" cy="188974"/>
          </a:xfrm>
          <a:prstGeom prst="line">
            <a:avLst/>
          </a:prstGeom>
          <a:ln w="38100">
            <a:solidFill>
              <a:srgbClr val="EC7061"/>
            </a:solidFill>
            <a:headEnd type="triangle" w="med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56"/>
          <p:cNvSpPr/>
          <p:nvPr/>
        </p:nvSpPr>
        <p:spPr bwMode="gray">
          <a:xfrm rot="1528227">
            <a:off x="8648699" y="3001991"/>
            <a:ext cx="1440000" cy="307777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192.168.4.1</a:t>
            </a:r>
          </a:p>
        </p:txBody>
      </p:sp>
      <p:sp>
        <p:nvSpPr>
          <p:cNvPr id="82" name="矩形 56"/>
          <p:cNvSpPr/>
          <p:nvPr/>
        </p:nvSpPr>
        <p:spPr bwMode="gray">
          <a:xfrm rot="1528227">
            <a:off x="8269283" y="2606905"/>
            <a:ext cx="540000" cy="307777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1041</a:t>
            </a:r>
          </a:p>
        </p:txBody>
      </p:sp>
      <p:sp>
        <p:nvSpPr>
          <p:cNvPr id="85" name="Oval 4"/>
          <p:cNvSpPr>
            <a:spLocks noChangeAspect="1"/>
          </p:cNvSpPr>
          <p:nvPr/>
        </p:nvSpPr>
        <p:spPr bwMode="gray">
          <a:xfrm>
            <a:off x="6924100" y="2355372"/>
            <a:ext cx="211977" cy="211977"/>
          </a:xfrm>
          <a:prstGeom prst="ellipse">
            <a:avLst/>
          </a:prstGeom>
          <a:solidFill>
            <a:srgbClr val="30B5C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Oval 4"/>
          <p:cNvSpPr>
            <a:spLocks noChangeAspect="1"/>
          </p:cNvSpPr>
          <p:nvPr/>
        </p:nvSpPr>
        <p:spPr bwMode="gray">
          <a:xfrm>
            <a:off x="1753482" y="2644064"/>
            <a:ext cx="211977" cy="211977"/>
          </a:xfrm>
          <a:prstGeom prst="ellipse">
            <a:avLst/>
          </a:prstGeom>
          <a:solidFill>
            <a:srgbClr val="30B5C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椭圆 86"/>
          <p:cNvSpPr>
            <a:spLocks noChangeAspect="1"/>
          </p:cNvSpPr>
          <p:nvPr/>
        </p:nvSpPr>
        <p:spPr bwMode="gray">
          <a:xfrm>
            <a:off x="1864193" y="3958201"/>
            <a:ext cx="211345" cy="211345"/>
          </a:xfrm>
          <a:prstGeom prst="ellipse">
            <a:avLst/>
          </a:prstGeom>
          <a:solidFill>
            <a:srgbClr val="30B5C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Oval 4"/>
          <p:cNvSpPr>
            <a:spLocks noChangeAspect="1"/>
          </p:cNvSpPr>
          <p:nvPr/>
        </p:nvSpPr>
        <p:spPr bwMode="gray">
          <a:xfrm>
            <a:off x="8045742" y="2355372"/>
            <a:ext cx="211977" cy="211977"/>
          </a:xfrm>
          <a:prstGeom prst="ellipse">
            <a:avLst/>
          </a:prstGeom>
          <a:solidFill>
            <a:srgbClr val="30B5C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矩形 49"/>
          <p:cNvSpPr/>
          <p:nvPr/>
        </p:nvSpPr>
        <p:spPr bwMode="gray">
          <a:xfrm rot="1321206">
            <a:off x="8026384" y="3032857"/>
            <a:ext cx="8515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</p:txBody>
      </p:sp>
      <p:sp>
        <p:nvSpPr>
          <p:cNvPr id="42" name="矩形 56"/>
          <p:cNvSpPr/>
          <p:nvPr/>
        </p:nvSpPr>
        <p:spPr bwMode="gray">
          <a:xfrm>
            <a:off x="10594158" y="4060687"/>
            <a:ext cx="12506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</p:txBody>
      </p:sp>
      <p:pic>
        <p:nvPicPr>
          <p:cNvPr id="5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447447" y="2957304"/>
            <a:ext cx="628652" cy="531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570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标签转发：</a:t>
            </a:r>
            <a:r>
              <a:rPr lang="en-US" altLang="zh-CN" dirty="0" smtClean="0">
                <a:sym typeface="Huawei Sans" panose="020C0503030203020204" pitchFamily="34" charset="0"/>
              </a:rPr>
              <a:t>Egress LSR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6" name="文本占位符 6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smtClean="0">
                <a:sym typeface="Huawei Sans" panose="020C0503030203020204" pitchFamily="34" charset="0"/>
              </a:rPr>
              <a:t>R4</a:t>
            </a:r>
            <a:r>
              <a:rPr lang="zh-CN" altLang="en-US" sz="1800" dirty="0" smtClean="0">
                <a:sym typeface="Huawei Sans" panose="020C0503030203020204" pitchFamily="34" charset="0"/>
              </a:rPr>
              <a:t>作为</a:t>
            </a:r>
            <a:r>
              <a:rPr lang="en-US" altLang="zh-CN" sz="1800" dirty="0" smtClean="0">
                <a:sym typeface="Huawei Sans" panose="020C0503030203020204" pitchFamily="34" charset="0"/>
              </a:rPr>
              <a:t>Egress LSR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，需要对接收的</a:t>
            </a:r>
            <a:r>
              <a:rPr lang="en-US" altLang="zh-CN" sz="1800" dirty="0" smtClean="0">
                <a:sym typeface="Huawei Sans" panose="020C0503030203020204" pitchFamily="34" charset="0"/>
              </a:rPr>
              <a:t>IP</a:t>
            </a:r>
            <a:r>
              <a:rPr lang="zh-CN" altLang="en-US" sz="1800" dirty="0" smtClean="0">
                <a:sym typeface="Huawei Sans" panose="020C0503030203020204" pitchFamily="34" charset="0"/>
              </a:rPr>
              <a:t>报文执行</a:t>
            </a:r>
            <a:r>
              <a:rPr lang="en-US" altLang="zh-CN" sz="1800" dirty="0" smtClean="0">
                <a:sym typeface="Huawei Sans" panose="020C0503030203020204" pitchFamily="34" charset="0"/>
              </a:rPr>
              <a:t>Pop</a:t>
            </a:r>
            <a:r>
              <a:rPr lang="zh-CN" altLang="en-US" sz="1800" dirty="0" smtClean="0">
                <a:sym typeface="Huawei Sans" panose="020C0503030203020204" pitchFamily="34" charset="0"/>
              </a:rPr>
              <a:t>操作交换标签，并进行</a:t>
            </a:r>
            <a:r>
              <a:rPr lang="en-US" altLang="zh-CN" sz="1800" dirty="0" smtClean="0">
                <a:sym typeface="Huawei Sans" panose="020C0503030203020204" pitchFamily="34" charset="0"/>
              </a:rPr>
              <a:t>IP</a:t>
            </a:r>
            <a:r>
              <a:rPr lang="zh-CN" altLang="en-US" sz="1800" dirty="0" smtClean="0">
                <a:sym typeface="Huawei Sans" panose="020C0503030203020204" pitchFamily="34" charset="0"/>
              </a:rPr>
              <a:t>转发。</a:t>
            </a:r>
            <a:endParaRPr lang="en-US" altLang="zh-CN" sz="1800" dirty="0" smtClean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cxnSp>
        <p:nvCxnSpPr>
          <p:cNvPr id="12" name="直接连接符 4"/>
          <p:cNvCxnSpPr>
            <a:stCxn id="51" idx="2"/>
            <a:endCxn id="53" idx="1"/>
          </p:cNvCxnSpPr>
          <p:nvPr/>
        </p:nvCxnSpPr>
        <p:spPr bwMode="gray">
          <a:xfrm>
            <a:off x="5638432" y="4465130"/>
            <a:ext cx="1809015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22"/>
          <p:cNvCxnSpPr>
            <a:stCxn id="51" idx="0"/>
            <a:endCxn id="52" idx="1"/>
          </p:cNvCxnSpPr>
          <p:nvPr/>
        </p:nvCxnSpPr>
        <p:spPr bwMode="gray">
          <a:xfrm flipV="1">
            <a:off x="5638432" y="3223156"/>
            <a:ext cx="1809015" cy="710271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4"/>
          <p:cNvCxnSpPr>
            <a:stCxn id="54" idx="0"/>
            <a:endCxn id="52" idx="3"/>
          </p:cNvCxnSpPr>
          <p:nvPr/>
        </p:nvCxnSpPr>
        <p:spPr bwMode="gray">
          <a:xfrm flipH="1" flipV="1">
            <a:off x="8076099" y="3223156"/>
            <a:ext cx="1859326" cy="710271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22"/>
          <p:cNvCxnSpPr>
            <a:stCxn id="54" idx="2"/>
            <a:endCxn id="53" idx="3"/>
          </p:cNvCxnSpPr>
          <p:nvPr/>
        </p:nvCxnSpPr>
        <p:spPr bwMode="gray">
          <a:xfrm flipH="1">
            <a:off x="8076099" y="4465130"/>
            <a:ext cx="1859326" cy="78414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35"/>
          <p:cNvCxnSpPr/>
          <p:nvPr/>
        </p:nvCxnSpPr>
        <p:spPr bwMode="gray">
          <a:xfrm flipH="1">
            <a:off x="9866549" y="4223343"/>
            <a:ext cx="766405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35"/>
          <p:cNvCxnSpPr/>
          <p:nvPr/>
        </p:nvCxnSpPr>
        <p:spPr bwMode="gray">
          <a:xfrm flipV="1">
            <a:off x="10632953" y="3911815"/>
            <a:ext cx="1" cy="669239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56"/>
          <p:cNvSpPr/>
          <p:nvPr/>
        </p:nvSpPr>
        <p:spPr bwMode="gray">
          <a:xfrm>
            <a:off x="5359641" y="3612246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56"/>
          <p:cNvSpPr/>
          <p:nvPr/>
        </p:nvSpPr>
        <p:spPr bwMode="gray">
          <a:xfrm>
            <a:off x="7545537" y="2682565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56"/>
          <p:cNvSpPr/>
          <p:nvPr/>
        </p:nvSpPr>
        <p:spPr bwMode="gray">
          <a:xfrm>
            <a:off x="9789426" y="3634895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矩形 56"/>
          <p:cNvSpPr/>
          <p:nvPr/>
        </p:nvSpPr>
        <p:spPr bwMode="gray">
          <a:xfrm>
            <a:off x="7412234" y="3922920"/>
            <a:ext cx="633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</a:p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5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324106" y="3933427"/>
            <a:ext cx="628652" cy="531703"/>
          </a:xfrm>
          <a:prstGeom prst="rect">
            <a:avLst/>
          </a:prstGeom>
          <a:noFill/>
        </p:spPr>
      </p:pic>
      <p:pic>
        <p:nvPicPr>
          <p:cNvPr id="5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447447" y="4983421"/>
            <a:ext cx="628652" cy="531703"/>
          </a:xfrm>
          <a:prstGeom prst="rect">
            <a:avLst/>
          </a:prstGeom>
          <a:noFill/>
        </p:spPr>
      </p:pic>
      <p:pic>
        <p:nvPicPr>
          <p:cNvPr id="5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621099" y="3933427"/>
            <a:ext cx="628652" cy="531703"/>
          </a:xfrm>
          <a:prstGeom prst="rect">
            <a:avLst/>
          </a:prstGeom>
          <a:noFill/>
        </p:spPr>
      </p:pic>
      <p:sp>
        <p:nvSpPr>
          <p:cNvPr id="57" name="矩形 56"/>
          <p:cNvSpPr/>
          <p:nvPr/>
        </p:nvSpPr>
        <p:spPr bwMode="gray">
          <a:xfrm>
            <a:off x="7549550" y="5530616"/>
            <a:ext cx="4058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747385"/>
              </p:ext>
            </p:extLst>
          </p:nvPr>
        </p:nvGraphicFramePr>
        <p:xfrm>
          <a:off x="526738" y="2596583"/>
          <a:ext cx="5783119" cy="673799"/>
        </p:xfrm>
        <a:graphic>
          <a:graphicData uri="http://schemas.openxmlformats.org/drawingml/2006/table">
            <a:tbl>
              <a:tblPr/>
              <a:tblGrid>
                <a:gridCol w="1092630"/>
                <a:gridCol w="10926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37498"/>
                <a:gridCol w="795989"/>
                <a:gridCol w="926274"/>
                <a:gridCol w="938098"/>
              </a:tblGrid>
              <a:tr h="399479">
                <a:tc>
                  <a:txBody>
                    <a:bodyPr/>
                    <a:lstStyle/>
                    <a:p>
                      <a:pPr marL="0" algn="ctr" defTabSz="914034" rtl="0" eaLnBrk="1" latinLnBrk="0" hangingPunct="1"/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In Label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1pPr>
                      <a:lvl2pPr marL="39211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Clr>
                          <a:srgbClr val="080808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2pPr>
                      <a:lvl3pPr marL="784225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3pPr>
                      <a:lvl4pPr marL="1174750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4pPr>
                      <a:lvl5pPr marL="15668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5pPr>
                      <a:lvl6pPr marL="20240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6pPr>
                      <a:lvl7pPr marL="24812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7pPr>
                      <a:lvl8pPr marL="29384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8pPr>
                      <a:lvl9pPr marL="33956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Tunnel</a:t>
                      </a:r>
                      <a:r>
                        <a:rPr lang="en-US" altLang="zh-CN" sz="1200" b="1" kern="1200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 ID</a:t>
                      </a:r>
                      <a:endParaRPr lang="en-US" altLang="zh-CN" sz="1200" b="1" kern="1200" dirty="0" smtClean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75600" marR="75600" marT="39600" marB="396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1pPr>
                      <a:lvl2pPr marL="39211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Clr>
                          <a:srgbClr val="080808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2pPr>
                      <a:lvl3pPr marL="784225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SzPct val="5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FrutigerNext LT Regular" pitchFamily="34" charset="0"/>
                          <a:ea typeface="华文细黑" panose="02010600040101010101" pitchFamily="2" charset="-122"/>
                        </a:defRPr>
                      </a:lvl3pPr>
                      <a:lvl4pPr marL="1174750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4pPr>
                      <a:lvl5pPr marL="15668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5pPr>
                      <a:lvl6pPr marL="20240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6pPr>
                      <a:lvl7pPr marL="24812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7pPr>
                      <a:lvl8pPr marL="29384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8pPr>
                      <a:lvl9pPr marL="3395663" defTabSz="784225" fontAlgn="base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Font typeface="FrutigerNext LT Medium" pitchFamily="34" charset="0"/>
                        <a:defRPr sz="1400">
                          <a:solidFill>
                            <a:schemeClr val="tx1"/>
                          </a:solidFill>
                          <a:latin typeface="FrutigerNext LT Medium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Out</a:t>
                      </a:r>
                      <a:r>
                        <a:rPr lang="en-US" altLang="zh-CN" sz="1200" b="1" kern="1200" baseline="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 </a:t>
                      </a:r>
                      <a:r>
                        <a:rPr lang="en-US" altLang="zh-CN" sz="1200" b="1" kern="1200" baseline="0" dirty="0" err="1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intf</a:t>
                      </a:r>
                      <a:endParaRPr lang="en-US" altLang="zh-CN" sz="1200" b="1" kern="1200" dirty="0" smtClean="0"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marL="75600" marR="75600" marT="39600" marB="396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OPER</a:t>
                      </a:r>
                    </a:p>
                  </a:txBody>
                  <a:tcPr marL="75600" marR="75600" marT="39600" marB="396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NH</a:t>
                      </a:r>
                    </a:p>
                  </a:txBody>
                  <a:tcPr marL="75600" marR="75600" marT="39600" marB="396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34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US" alt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Out Label</a:t>
                      </a:r>
                    </a:p>
                  </a:txBody>
                  <a:tcPr marL="75600" marR="75600" marT="39600" marB="396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70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1041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0x12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GE0/0/0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Pop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-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 smtClean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Null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5" name="直接连接符 22"/>
          <p:cNvCxnSpPr/>
          <p:nvPr/>
        </p:nvCxnSpPr>
        <p:spPr bwMode="gray">
          <a:xfrm flipV="1">
            <a:off x="5622666" y="3101986"/>
            <a:ext cx="2114053" cy="815675"/>
          </a:xfrm>
          <a:prstGeom prst="line">
            <a:avLst/>
          </a:prstGeom>
          <a:ln w="76200">
            <a:solidFill>
              <a:srgbClr val="94DAE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4"/>
          <p:cNvCxnSpPr/>
          <p:nvPr/>
        </p:nvCxnSpPr>
        <p:spPr bwMode="gray">
          <a:xfrm flipH="1" flipV="1">
            <a:off x="7730241" y="3090695"/>
            <a:ext cx="2389372" cy="900838"/>
          </a:xfrm>
          <a:prstGeom prst="line">
            <a:avLst/>
          </a:prstGeom>
          <a:ln w="76200">
            <a:solidFill>
              <a:srgbClr val="94DAE2"/>
            </a:solidFill>
            <a:headEnd type="triangle" w="med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56"/>
          <p:cNvSpPr/>
          <p:nvPr/>
        </p:nvSpPr>
        <p:spPr bwMode="gray">
          <a:xfrm>
            <a:off x="832630" y="2232792"/>
            <a:ext cx="883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ILM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矩形 69"/>
          <p:cNvSpPr/>
          <p:nvPr/>
        </p:nvSpPr>
        <p:spPr bwMode="gray">
          <a:xfrm>
            <a:off x="9819544" y="4432135"/>
            <a:ext cx="8515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</a:p>
        </p:txBody>
      </p:sp>
      <p:cxnSp>
        <p:nvCxnSpPr>
          <p:cNvPr id="71" name="直接连接符 22"/>
          <p:cNvCxnSpPr/>
          <p:nvPr/>
        </p:nvCxnSpPr>
        <p:spPr bwMode="gray">
          <a:xfrm flipV="1">
            <a:off x="9848290" y="5820208"/>
            <a:ext cx="558513" cy="1"/>
          </a:xfrm>
          <a:prstGeom prst="line">
            <a:avLst/>
          </a:prstGeom>
          <a:ln w="76200">
            <a:solidFill>
              <a:srgbClr val="94DAE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56"/>
          <p:cNvSpPr/>
          <p:nvPr/>
        </p:nvSpPr>
        <p:spPr bwMode="gray">
          <a:xfrm>
            <a:off x="10513799" y="5697039"/>
            <a:ext cx="4876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9" name="直接连接符 4"/>
          <p:cNvCxnSpPr/>
          <p:nvPr/>
        </p:nvCxnSpPr>
        <p:spPr bwMode="gray">
          <a:xfrm rot="2927212" flipH="1">
            <a:off x="9588443" y="3258842"/>
            <a:ext cx="401074" cy="188974"/>
          </a:xfrm>
          <a:prstGeom prst="line">
            <a:avLst/>
          </a:prstGeom>
          <a:ln w="38100">
            <a:solidFill>
              <a:srgbClr val="EC7061"/>
            </a:solidFill>
            <a:headEnd type="triangle" w="med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56"/>
          <p:cNvSpPr/>
          <p:nvPr/>
        </p:nvSpPr>
        <p:spPr bwMode="gray">
          <a:xfrm rot="1528227">
            <a:off x="8648699" y="3001991"/>
            <a:ext cx="1440000" cy="307777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 192.168.4.1</a:t>
            </a:r>
          </a:p>
        </p:txBody>
      </p:sp>
      <p:sp>
        <p:nvSpPr>
          <p:cNvPr id="82" name="矩形 56"/>
          <p:cNvSpPr/>
          <p:nvPr/>
        </p:nvSpPr>
        <p:spPr bwMode="gray">
          <a:xfrm rot="1528227">
            <a:off x="8269282" y="2606904"/>
            <a:ext cx="540000" cy="307777"/>
          </a:xfrm>
          <a:prstGeom prst="rect">
            <a:avLst/>
          </a:prstGeom>
          <a:solidFill>
            <a:srgbClr val="94DAE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1041</a:t>
            </a:r>
          </a:p>
        </p:txBody>
      </p:sp>
      <p:sp>
        <p:nvSpPr>
          <p:cNvPr id="86" name="Oval 4"/>
          <p:cNvSpPr>
            <a:spLocks noChangeAspect="1"/>
          </p:cNvSpPr>
          <p:nvPr/>
        </p:nvSpPr>
        <p:spPr bwMode="gray">
          <a:xfrm>
            <a:off x="1666438" y="2239923"/>
            <a:ext cx="211977" cy="211977"/>
          </a:xfrm>
          <a:prstGeom prst="ellipse">
            <a:avLst/>
          </a:prstGeom>
          <a:solidFill>
            <a:srgbClr val="30B5C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椭圆 86"/>
          <p:cNvSpPr>
            <a:spLocks noChangeAspect="1"/>
          </p:cNvSpPr>
          <p:nvPr/>
        </p:nvSpPr>
        <p:spPr bwMode="gray">
          <a:xfrm>
            <a:off x="10001995" y="4909426"/>
            <a:ext cx="211345" cy="211345"/>
          </a:xfrm>
          <a:prstGeom prst="ellipse">
            <a:avLst/>
          </a:prstGeom>
          <a:solidFill>
            <a:srgbClr val="30B5C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Oval 4"/>
          <p:cNvSpPr>
            <a:spLocks noChangeAspect="1"/>
          </p:cNvSpPr>
          <p:nvPr/>
        </p:nvSpPr>
        <p:spPr bwMode="gray">
          <a:xfrm>
            <a:off x="8045742" y="2355372"/>
            <a:ext cx="211977" cy="211977"/>
          </a:xfrm>
          <a:prstGeom prst="ellipse">
            <a:avLst/>
          </a:prstGeom>
          <a:solidFill>
            <a:srgbClr val="30B5C5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矩形 49"/>
          <p:cNvSpPr/>
          <p:nvPr/>
        </p:nvSpPr>
        <p:spPr bwMode="gray">
          <a:xfrm rot="1321206">
            <a:off x="9086161" y="3468995"/>
            <a:ext cx="8515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</a:p>
        </p:txBody>
      </p:sp>
      <p:cxnSp>
        <p:nvCxnSpPr>
          <p:cNvPr id="43" name="直接连接符 4"/>
          <p:cNvCxnSpPr/>
          <p:nvPr/>
        </p:nvCxnSpPr>
        <p:spPr bwMode="gray">
          <a:xfrm flipH="1">
            <a:off x="11006930" y="4997381"/>
            <a:ext cx="770539" cy="0"/>
          </a:xfrm>
          <a:prstGeom prst="line">
            <a:avLst/>
          </a:prstGeom>
          <a:ln w="38100">
            <a:solidFill>
              <a:srgbClr val="EC7061"/>
            </a:solidFill>
            <a:headEnd type="triangle" w="med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56"/>
          <p:cNvSpPr/>
          <p:nvPr/>
        </p:nvSpPr>
        <p:spPr bwMode="gray">
          <a:xfrm>
            <a:off x="10308161" y="4848509"/>
            <a:ext cx="1440000" cy="307777"/>
          </a:xfrm>
          <a:prstGeom prst="rect">
            <a:avLst/>
          </a:prstGeom>
          <a:solidFill>
            <a:srgbClr val="D0E8C4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To 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192.168.4.1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40" name="矩形 56"/>
          <p:cNvSpPr/>
          <p:nvPr/>
        </p:nvSpPr>
        <p:spPr bwMode="gray">
          <a:xfrm>
            <a:off x="10594158" y="4060687"/>
            <a:ext cx="12506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192.168.4.0/24</a:t>
            </a:r>
          </a:p>
        </p:txBody>
      </p:sp>
      <p:pic>
        <p:nvPicPr>
          <p:cNvPr id="5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447447" y="2957304"/>
            <a:ext cx="628652" cy="5317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132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/>
              <a:t>在</a:t>
            </a:r>
            <a:r>
              <a:rPr lang="en-US" altLang="zh-CN" smtClean="0"/>
              <a:t>MPLS</a:t>
            </a:r>
            <a:r>
              <a:rPr lang="zh-CN" altLang="en-US" smtClean="0"/>
              <a:t>中，运行</a:t>
            </a:r>
            <a:r>
              <a:rPr lang="en-US" altLang="zh-CN" smtClean="0"/>
              <a:t>LDP</a:t>
            </a:r>
            <a:r>
              <a:rPr lang="zh-CN" altLang="en-US" smtClean="0"/>
              <a:t>协议的</a:t>
            </a:r>
            <a:r>
              <a:rPr lang="en-US" altLang="zh-CN" smtClean="0"/>
              <a:t>LSR</a:t>
            </a:r>
            <a:r>
              <a:rPr lang="zh-CN" altLang="en-US" smtClean="0"/>
              <a:t>的操作小结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smtClean="0"/>
              <a:t>LSR</a:t>
            </a:r>
            <a:r>
              <a:rPr lang="zh-CN" altLang="en-US" sz="1800" smtClean="0"/>
              <a:t>首先通过运行</a:t>
            </a:r>
            <a:r>
              <a:rPr lang="en-US" altLang="zh-CN" sz="1800" smtClean="0"/>
              <a:t>IGP</a:t>
            </a:r>
            <a:r>
              <a:rPr lang="zh-CN" altLang="en-US" sz="1800" smtClean="0"/>
              <a:t>协议（例如</a:t>
            </a:r>
            <a:r>
              <a:rPr lang="en-US" altLang="zh-CN" sz="1800" smtClean="0"/>
              <a:t>OSPF</a:t>
            </a:r>
            <a:r>
              <a:rPr lang="zh-CN" altLang="en-US" sz="1800" smtClean="0"/>
              <a:t>、</a:t>
            </a:r>
            <a:r>
              <a:rPr lang="en-US" altLang="zh-CN" sz="1800" smtClean="0"/>
              <a:t>IS-IS</a:t>
            </a:r>
            <a:r>
              <a:rPr lang="zh-CN" altLang="en-US" sz="1800" smtClean="0"/>
              <a:t>等）来构建路由表、</a:t>
            </a:r>
            <a:r>
              <a:rPr lang="en-US" altLang="zh-CN" sz="1800" smtClean="0"/>
              <a:t>FIB</a:t>
            </a:r>
            <a:r>
              <a:rPr lang="zh-CN" altLang="en-US" sz="1800" smtClean="0"/>
              <a:t>表；</a:t>
            </a:r>
          </a:p>
          <a:p>
            <a:r>
              <a:rPr lang="en-US" altLang="zh-CN" sz="1800" smtClean="0"/>
              <a:t>LDP</a:t>
            </a:r>
            <a:r>
              <a:rPr lang="zh-CN" altLang="en-US" sz="1800" smtClean="0"/>
              <a:t>根据相应的模式，为路由表中的路由前缀（</a:t>
            </a:r>
            <a:r>
              <a:rPr lang="en-US" altLang="zh-CN" sz="1800" smtClean="0"/>
              <a:t>FEC</a:t>
            </a:r>
            <a:r>
              <a:rPr lang="zh-CN" altLang="en-US" sz="1800" smtClean="0"/>
              <a:t>）分配标签；</a:t>
            </a:r>
          </a:p>
          <a:p>
            <a:r>
              <a:rPr lang="en-US" altLang="zh-CN" sz="1800" smtClean="0"/>
              <a:t>LDP</a:t>
            </a:r>
            <a:r>
              <a:rPr lang="zh-CN" altLang="en-US" sz="1800" smtClean="0"/>
              <a:t>根据相应的模式，将自己为路由前缀分配的标签，通过</a:t>
            </a:r>
            <a:r>
              <a:rPr lang="en-US" altLang="zh-CN" sz="1800" smtClean="0"/>
              <a:t>LDP</a:t>
            </a:r>
            <a:r>
              <a:rPr lang="zh-CN" altLang="en-US" sz="1800" smtClean="0"/>
              <a:t>标签映射报文通告给</a:t>
            </a:r>
            <a:r>
              <a:rPr lang="en-US" altLang="zh-CN" sz="1800" smtClean="0"/>
              <a:t>LDP</a:t>
            </a:r>
            <a:r>
              <a:rPr lang="zh-CN" altLang="en-US" sz="1800" smtClean="0"/>
              <a:t>邻居；</a:t>
            </a:r>
          </a:p>
          <a:p>
            <a:r>
              <a:rPr lang="en-US" altLang="zh-CN" sz="1800" smtClean="0"/>
              <a:t>LSR</a:t>
            </a:r>
            <a:r>
              <a:rPr lang="zh-CN" altLang="en-US" sz="1800" smtClean="0"/>
              <a:t>将自己为路由前缀分配的标签，以及</a:t>
            </a:r>
            <a:r>
              <a:rPr lang="en-US" altLang="zh-CN" sz="1800" smtClean="0"/>
              <a:t>LDP</a:t>
            </a:r>
            <a:r>
              <a:rPr lang="zh-CN" altLang="en-US" sz="1800" smtClean="0"/>
              <a:t>邻居为该路由前缀通告的标签存储起来，并与出接口、下一跳地址等信息形成关联（标签转发表项）；</a:t>
            </a:r>
          </a:p>
          <a:p>
            <a:r>
              <a:rPr lang="zh-CN" altLang="en-US" sz="1800" smtClean="0"/>
              <a:t>当</a:t>
            </a:r>
            <a:r>
              <a:rPr lang="en-US" altLang="zh-CN" sz="1800" smtClean="0"/>
              <a:t>LSR</a:t>
            </a:r>
            <a:r>
              <a:rPr lang="zh-CN" altLang="en-US" sz="1800" smtClean="0"/>
              <a:t>转发到达目的网络的标签报文时，所使用的出站标签总是下游</a:t>
            </a:r>
            <a:r>
              <a:rPr lang="en-US" altLang="zh-CN" sz="1800" smtClean="0"/>
              <a:t>LDP</a:t>
            </a:r>
            <a:r>
              <a:rPr lang="zh-CN" altLang="en-US" sz="1800" smtClean="0"/>
              <a:t>邻居所通告的标签，此处所指的下游邻居，是设备的路由表中到达该目的网络的下一跳设备。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3032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基本概念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LDP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工作原理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smtClean="0">
                <a:sym typeface="Huawei Sans" panose="020C0503030203020204" pitchFamily="34" charset="0"/>
              </a:rPr>
              <a:t>LDP</a:t>
            </a:r>
            <a:r>
              <a:rPr lang="zh-CN" altLang="en-US" b="1" dirty="0" smtClean="0">
                <a:sym typeface="Huawei Sans" panose="020C0503030203020204" pitchFamily="34" charset="0"/>
              </a:rPr>
              <a:t>基础配置</a:t>
            </a:r>
            <a:endParaRPr lang="en-US" altLang="zh-CN" b="1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1533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/>
              <a:t>LDP</a:t>
            </a:r>
            <a:r>
              <a:rPr lang="zh-CN" altLang="en-US" smtClean="0"/>
              <a:t>基本配置命令 </a:t>
            </a:r>
            <a:r>
              <a:rPr lang="en-US" altLang="zh-CN" smtClean="0"/>
              <a:t>(1)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 bwMode="gray">
          <a:xfrm>
            <a:off x="486809" y="1351359"/>
            <a:ext cx="11089233" cy="1921287"/>
            <a:chOff x="446088" y="2847836"/>
            <a:chExt cx="11089233" cy="1921287"/>
          </a:xfrm>
        </p:grpSpPr>
        <p:sp>
          <p:nvSpPr>
            <p:cNvPr id="9" name="矩形 8"/>
            <p:cNvSpPr/>
            <p:nvPr/>
          </p:nvSpPr>
          <p:spPr bwMode="gray">
            <a:xfrm>
              <a:off x="926622" y="3279983"/>
              <a:ext cx="10417179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[Huawei] </a:t>
              </a:r>
              <a:r>
                <a:rPr lang="en-US" altLang="zh-CN" sz="1600" b="1" dirty="0" err="1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mpls</a:t>
              </a:r>
              <a:r>
                <a:rPr lang="en-US" altLang="zh-CN" sz="16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 </a:t>
              </a:r>
              <a:r>
                <a:rPr lang="en-US" altLang="zh-CN" sz="1600" b="1" dirty="0" err="1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ldp</a:t>
              </a:r>
              <a:endParaRPr lang="zh-CN" altLang="en-US" sz="1600" b="1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0" name="矩形 9"/>
            <p:cNvSpPr/>
            <p:nvPr/>
          </p:nvSpPr>
          <p:spPr bwMode="gray">
            <a:xfrm>
              <a:off x="446088" y="2847836"/>
              <a:ext cx="1108923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fontAlgn="auto">
                <a:buFont typeface="+mj-lt"/>
                <a:buAutoNum type="arabicPeriod"/>
              </a:pPr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使</a:t>
              </a: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能</a:t>
              </a:r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LDP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 bwMode="gray">
            <a:xfrm>
              <a:off x="926622" y="3622474"/>
              <a:ext cx="106086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lnSpc>
                  <a:spcPts val="2400"/>
                </a:lnSpc>
              </a:pPr>
              <a:r>
                <a:rPr lang="en-US" altLang="zh-CN" sz="1400" b="1" dirty="0" err="1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400" b="1" dirty="0" err="1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ldp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命令用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来使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能本节点的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LDP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能力，并进入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LDP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视图。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 bwMode="gray">
            <a:xfrm>
              <a:off x="926623" y="4026521"/>
              <a:ext cx="10417178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[Huawei-GigabitEthernet0/0/0] </a:t>
              </a:r>
              <a:r>
                <a:rPr lang="en-US" altLang="zh-CN" sz="1600" b="1" dirty="0" err="1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mpls</a:t>
              </a:r>
              <a:r>
                <a:rPr lang="en-US" altLang="zh-CN" sz="16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 </a:t>
              </a:r>
              <a:r>
                <a:rPr lang="en-US" altLang="zh-CN" sz="1600" b="1" dirty="0" err="1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ldp</a:t>
              </a:r>
              <a:endParaRPr lang="zh-CN" altLang="en-US" sz="1600" b="1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3" name="矩形 12"/>
            <p:cNvSpPr/>
            <p:nvPr/>
          </p:nvSpPr>
          <p:spPr bwMode="gray">
            <a:xfrm>
              <a:off x="926621" y="4369013"/>
              <a:ext cx="106086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lnSpc>
                  <a:spcPts val="2400"/>
                </a:lnSpc>
              </a:pP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在接口视图下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，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使能当前接口的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LDP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功能。需先使能全局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LDP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能力后才能执行接口下的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LDP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使能命令。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 bwMode="gray">
          <a:xfrm>
            <a:off x="486809" y="3433068"/>
            <a:ext cx="11089233" cy="1921287"/>
            <a:chOff x="446088" y="2847836"/>
            <a:chExt cx="11089233" cy="1921287"/>
          </a:xfrm>
        </p:grpSpPr>
        <p:sp>
          <p:nvSpPr>
            <p:cNvPr id="15" name="矩形 14"/>
            <p:cNvSpPr/>
            <p:nvPr/>
          </p:nvSpPr>
          <p:spPr bwMode="gray">
            <a:xfrm>
              <a:off x="926622" y="3279983"/>
              <a:ext cx="10417179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[Huawei] </a:t>
              </a:r>
              <a:r>
                <a:rPr lang="en-US" altLang="zh-CN" sz="1600" b="1" dirty="0" err="1"/>
                <a:t>mpls</a:t>
              </a:r>
              <a:r>
                <a:rPr lang="en-US" altLang="zh-CN" sz="1600" b="1" dirty="0"/>
                <a:t> </a:t>
              </a:r>
              <a:r>
                <a:rPr lang="en-US" altLang="zh-CN" sz="1600" b="1" dirty="0" err="1"/>
                <a:t>ldp</a:t>
              </a:r>
              <a:r>
                <a:rPr lang="en-US" altLang="zh-CN" sz="1600" b="1" dirty="0"/>
                <a:t> remote-peer</a:t>
              </a:r>
              <a:r>
                <a:rPr lang="en-US" altLang="zh-CN" sz="1600" dirty="0"/>
                <a:t> </a:t>
              </a:r>
              <a:r>
                <a:rPr lang="en-US" altLang="zh-CN" sz="1600" i="1" dirty="0"/>
                <a:t>remote-peer-name</a:t>
              </a:r>
              <a:endParaRPr lang="zh-CN" altLang="en-US" sz="1600" b="1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6" name="矩形 15"/>
            <p:cNvSpPr/>
            <p:nvPr/>
          </p:nvSpPr>
          <p:spPr bwMode="gray">
            <a:xfrm>
              <a:off x="446088" y="2847836"/>
              <a:ext cx="1108923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fontAlgn="auto">
                <a:buFont typeface="+mj-lt"/>
                <a:buAutoNum type="arabicPeriod" startAt="2"/>
              </a:pP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配置</a:t>
              </a:r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LDP</a:t>
              </a: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远端会话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7" name="矩形 16"/>
            <p:cNvSpPr/>
            <p:nvPr/>
          </p:nvSpPr>
          <p:spPr bwMode="gray">
            <a:xfrm>
              <a:off x="926622" y="3622474"/>
              <a:ext cx="10608699" cy="3845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lnSpc>
                  <a:spcPts val="2400"/>
                </a:lnSpc>
              </a:pPr>
              <a:r>
                <a:rPr lang="en-US" altLang="zh-CN" sz="1400" b="1" dirty="0" err="1"/>
                <a:t>mpls</a:t>
              </a:r>
              <a:r>
                <a:rPr lang="en-US" altLang="zh-CN" sz="1400" b="1" dirty="0"/>
                <a:t> </a:t>
              </a:r>
              <a:r>
                <a:rPr lang="en-US" altLang="zh-CN" sz="1400" b="1" dirty="0" err="1"/>
                <a:t>ldp</a:t>
              </a:r>
              <a:r>
                <a:rPr lang="en-US" altLang="zh-CN" sz="1400" b="1" dirty="0"/>
                <a:t> remote-peer</a:t>
              </a:r>
              <a:r>
                <a:rPr lang="zh-CN" altLang="en-US" sz="1400" dirty="0"/>
                <a:t>命令用来创建远端对等体并进入远端对等体视图。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 bwMode="gray">
            <a:xfrm>
              <a:off x="926623" y="4026521"/>
              <a:ext cx="10417178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 dirty="0" smtClean="0"/>
                <a:t>[Huawei-</a:t>
              </a:r>
              <a:r>
                <a:rPr lang="en-US" altLang="zh-CN" sz="1600" dirty="0" err="1" smtClean="0"/>
                <a:t>mpls</a:t>
              </a:r>
              <a:r>
                <a:rPr lang="en-US" altLang="zh-CN" sz="1600" dirty="0" smtClean="0"/>
                <a:t>-</a:t>
              </a:r>
              <a:r>
                <a:rPr lang="en-US" altLang="zh-CN" sz="1600" dirty="0" err="1" smtClean="0"/>
                <a:t>ldp</a:t>
              </a:r>
              <a:r>
                <a:rPr lang="en-US" altLang="zh-CN" sz="1600" dirty="0" smtClean="0"/>
                <a:t>-remote-</a:t>
              </a:r>
              <a:r>
                <a:rPr lang="en-US" altLang="zh-CN" sz="1600" dirty="0" err="1" smtClean="0"/>
                <a:t>PeerName</a:t>
              </a:r>
              <a:r>
                <a:rPr lang="en-US" altLang="zh-CN" sz="1600" dirty="0" smtClean="0"/>
                <a:t>]</a:t>
              </a:r>
              <a:r>
                <a:rPr lang="en-US" altLang="zh-CN" sz="1600" b="1" dirty="0"/>
                <a:t> remote-</a:t>
              </a:r>
              <a:r>
                <a:rPr lang="en-US" altLang="zh-CN" sz="1600" b="1" dirty="0" err="1"/>
                <a:t>ip</a:t>
              </a:r>
              <a:r>
                <a:rPr lang="en-US" altLang="zh-CN" sz="1600" dirty="0"/>
                <a:t> </a:t>
              </a:r>
              <a:r>
                <a:rPr lang="en-US" altLang="zh-CN" sz="1600" i="1" dirty="0" err="1"/>
                <a:t>ip</a:t>
              </a:r>
              <a:r>
                <a:rPr lang="en-US" altLang="zh-CN" sz="1600" i="1" dirty="0"/>
                <a:t>-address</a:t>
              </a:r>
              <a:endParaRPr lang="zh-CN" altLang="en-US" sz="1600" b="1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9" name="矩形 18"/>
            <p:cNvSpPr/>
            <p:nvPr/>
          </p:nvSpPr>
          <p:spPr bwMode="gray">
            <a:xfrm>
              <a:off x="926621" y="4369013"/>
              <a:ext cx="106086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lnSpc>
                  <a:spcPts val="2400"/>
                </a:lnSpc>
              </a:pPr>
              <a:r>
                <a:rPr lang="en-US" altLang="zh-CN" sz="1400" b="1" dirty="0"/>
                <a:t>remote-</a:t>
              </a:r>
              <a:r>
                <a:rPr lang="en-US" altLang="zh-CN" sz="1400" b="1" dirty="0" err="1"/>
                <a:t>ip</a:t>
              </a:r>
              <a:r>
                <a:rPr lang="zh-CN" altLang="en-US" sz="1400" dirty="0"/>
                <a:t>命令用来配置</a:t>
              </a:r>
              <a:r>
                <a:rPr lang="en-US" altLang="zh-CN" sz="1400" dirty="0"/>
                <a:t>LDP</a:t>
              </a:r>
              <a:r>
                <a:rPr lang="zh-CN" altLang="en-US" sz="1400" dirty="0"/>
                <a:t>远端对等体的</a:t>
              </a:r>
              <a:r>
                <a:rPr lang="en-US" altLang="zh-CN" sz="1400" dirty="0"/>
                <a:t>IP</a:t>
              </a:r>
              <a:r>
                <a:rPr lang="zh-CN" altLang="en-US" sz="1400" dirty="0"/>
                <a:t>地址</a:t>
              </a:r>
              <a:r>
                <a:rPr lang="zh-CN" altLang="en-US" sz="1400" dirty="0" smtClean="0"/>
                <a:t>。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730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/>
              <a:t>LDP</a:t>
            </a:r>
            <a:r>
              <a:rPr lang="zh-CN" altLang="en-US" smtClean="0"/>
              <a:t>基本配置命令 </a:t>
            </a:r>
            <a:r>
              <a:rPr lang="en-US" altLang="zh-CN" smtClean="0"/>
              <a:t>(2)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 bwMode="gray">
          <a:xfrm>
            <a:off x="486809" y="1351359"/>
            <a:ext cx="11089233" cy="2713630"/>
            <a:chOff x="446088" y="2847836"/>
            <a:chExt cx="11089233" cy="2713630"/>
          </a:xfrm>
        </p:grpSpPr>
        <p:sp>
          <p:nvSpPr>
            <p:cNvPr id="9" name="矩形 8"/>
            <p:cNvSpPr/>
            <p:nvPr/>
          </p:nvSpPr>
          <p:spPr bwMode="gray">
            <a:xfrm>
              <a:off x="926622" y="3279983"/>
              <a:ext cx="10417179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[</a:t>
              </a:r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Huawei-</a:t>
              </a:r>
              <a:r>
                <a:rPr lang="en-US" altLang="zh-CN" sz="1600" dirty="0" err="1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mpls</a:t>
              </a:r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] </a:t>
              </a:r>
              <a:r>
                <a:rPr lang="en-US" altLang="zh-CN" sz="1600" b="1" dirty="0" err="1"/>
                <a:t>lsp</a:t>
              </a:r>
              <a:r>
                <a:rPr lang="en-US" altLang="zh-CN" sz="1600" b="1" dirty="0"/>
                <a:t>-trigger</a:t>
              </a:r>
              <a:r>
                <a:rPr lang="en-US" altLang="zh-CN" sz="1600" dirty="0"/>
                <a:t> { </a:t>
              </a:r>
              <a:r>
                <a:rPr lang="en-US" altLang="zh-CN" sz="1600" b="1" dirty="0"/>
                <a:t>all</a:t>
              </a:r>
              <a:r>
                <a:rPr lang="en-US" altLang="zh-CN" sz="1600" dirty="0"/>
                <a:t> | </a:t>
              </a:r>
              <a:r>
                <a:rPr lang="en-US" altLang="zh-CN" sz="1600" b="1" dirty="0"/>
                <a:t>host</a:t>
              </a:r>
              <a:r>
                <a:rPr lang="en-US" altLang="zh-CN" sz="1600" dirty="0"/>
                <a:t> | </a:t>
              </a:r>
              <a:r>
                <a:rPr lang="en-US" altLang="zh-CN" sz="1600" b="1" dirty="0" err="1"/>
                <a:t>ip</a:t>
              </a:r>
              <a:r>
                <a:rPr lang="en-US" altLang="zh-CN" sz="1600" b="1" dirty="0"/>
                <a:t>-prefix</a:t>
              </a:r>
              <a:r>
                <a:rPr lang="en-US" altLang="zh-CN" sz="1600" dirty="0"/>
                <a:t> </a:t>
              </a:r>
              <a:r>
                <a:rPr lang="en-US" altLang="zh-CN" sz="1600" i="1" dirty="0" err="1"/>
                <a:t>ip</a:t>
              </a:r>
              <a:r>
                <a:rPr lang="en-US" altLang="zh-CN" sz="1600" i="1" dirty="0"/>
                <a:t>-prefix-name</a:t>
              </a:r>
              <a:r>
                <a:rPr lang="en-US" altLang="zh-CN" sz="1600" dirty="0"/>
                <a:t> | </a:t>
              </a:r>
              <a:r>
                <a:rPr lang="en-US" altLang="zh-CN" sz="1600" b="1" dirty="0"/>
                <a:t>none</a:t>
              </a:r>
              <a:r>
                <a:rPr lang="en-US" altLang="zh-CN" sz="1600" dirty="0"/>
                <a:t> }</a:t>
              </a:r>
              <a:endParaRPr lang="zh-CN" altLang="en-US" sz="1600" b="1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0" name="矩形 9"/>
            <p:cNvSpPr/>
            <p:nvPr/>
          </p:nvSpPr>
          <p:spPr bwMode="gray">
            <a:xfrm>
              <a:off x="446088" y="2847836"/>
              <a:ext cx="1108923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fontAlgn="auto">
                <a:buFont typeface="+mj-lt"/>
                <a:buAutoNum type="arabicPeriod" startAt="3"/>
              </a:pP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配置触发</a:t>
              </a:r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LSP</a:t>
              </a:r>
              <a:r>
                <a:rPr lang="zh-CN" altLang="en-US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的策略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 bwMode="gray">
            <a:xfrm>
              <a:off x="926622" y="3622474"/>
              <a:ext cx="10608699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lnSpc>
                  <a:spcPts val="2400"/>
                </a:lnSpc>
              </a:pPr>
              <a:r>
                <a:rPr lang="en-US" altLang="zh-CN" sz="1400" b="1" dirty="0" err="1"/>
                <a:t>lsp</a:t>
              </a:r>
              <a:r>
                <a:rPr lang="en-US" altLang="zh-CN" sz="1400" b="1" dirty="0"/>
                <a:t>-trigger</a:t>
              </a:r>
              <a:r>
                <a:rPr lang="zh-CN" altLang="en-US" sz="1400" dirty="0"/>
                <a:t>命令</a:t>
              </a:r>
              <a:r>
                <a:rPr lang="zh-CN" altLang="en-US" sz="1400" dirty="0" smtClean="0"/>
                <a:t>用来指定哪些</a:t>
              </a:r>
              <a:r>
                <a:rPr lang="zh-CN" altLang="en-US" sz="1400" b="1" dirty="0" smtClean="0"/>
                <a:t>静态</a:t>
              </a:r>
              <a:r>
                <a:rPr lang="zh-CN" altLang="en-US" sz="1400" b="1" dirty="0"/>
                <a:t>路由及</a:t>
              </a:r>
              <a:r>
                <a:rPr lang="en-US" altLang="zh-CN" sz="1400" b="1" dirty="0"/>
                <a:t>IGP</a:t>
              </a:r>
              <a:r>
                <a:rPr lang="zh-CN" altLang="en-US" sz="1400" b="1" dirty="0" smtClean="0"/>
                <a:t>路由</a:t>
              </a:r>
              <a:r>
                <a:rPr lang="zh-CN" altLang="en-US" sz="1400" dirty="0" smtClean="0"/>
                <a:t>会触发</a:t>
              </a:r>
              <a:r>
                <a:rPr lang="en-US" altLang="zh-CN" sz="1400" dirty="0" smtClean="0"/>
                <a:t>LDP LSP</a:t>
              </a:r>
              <a:r>
                <a:rPr lang="zh-CN" altLang="en-US" sz="1400" dirty="0" smtClean="0"/>
                <a:t>的建立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，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缺省情况下，根据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32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位地址的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路由触发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LDP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建立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LSP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。</a:t>
              </a:r>
              <a:endPara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marL="285750" indent="-285750" fontAlgn="auto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all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：所有静态路由和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IGP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路由项触发建立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LSP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。配置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该命令后，所有静态路由及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IGP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路由会触发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LDP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建立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LSP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，会导致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LSP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数量庞大，占用过多的标签资源，以及整网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LSP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收敛速度变慢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。故一般情况下</a:t>
              </a:r>
              <a:r>
                <a:rPr lang="zh-CN" altLang="en-US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不推荐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配置此命令。</a:t>
              </a:r>
              <a:endPara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  <a:p>
              <a:pPr marL="285750" indent="-285750" fontAlgn="auto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b="1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host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：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32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位地址的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IP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路由触发建立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LSP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。</a:t>
              </a:r>
              <a:endPara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  <a:p>
              <a:pPr marL="285750" indent="-285750" fontAlgn="auto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b="1" dirty="0" err="1"/>
                <a:t>ip</a:t>
              </a:r>
              <a:r>
                <a:rPr lang="en-US" altLang="zh-CN" sz="1400" b="1" dirty="0"/>
                <a:t>-prefix</a:t>
              </a:r>
              <a:r>
                <a:rPr lang="en-US" altLang="zh-CN" sz="1400" dirty="0"/>
                <a:t> </a:t>
              </a:r>
              <a:r>
                <a:rPr lang="en-US" altLang="zh-CN" sz="1400" i="1" dirty="0" err="1" smtClean="0"/>
                <a:t>ip</a:t>
              </a:r>
              <a:r>
                <a:rPr lang="en-US" altLang="zh-CN" sz="1400" i="1" dirty="0" smtClean="0"/>
                <a:t>-prefix-name</a:t>
              </a:r>
              <a:r>
                <a:rPr lang="zh-CN" altLang="en-US" sz="1400" i="1" dirty="0"/>
                <a:t>：</a:t>
              </a:r>
              <a:r>
                <a:rPr lang="zh-CN" altLang="en-US" sz="1400" dirty="0"/>
                <a:t>根据</a:t>
              </a:r>
              <a:r>
                <a:rPr lang="en-US" altLang="zh-CN" sz="1400" dirty="0"/>
                <a:t>IP</a:t>
              </a:r>
              <a:r>
                <a:rPr lang="zh-CN" altLang="en-US" sz="1400" dirty="0"/>
                <a:t>地址前缀列表触发建立</a:t>
              </a:r>
              <a:r>
                <a:rPr lang="en-US" altLang="zh-CN" sz="1400" dirty="0"/>
                <a:t>LSP</a:t>
              </a:r>
              <a:r>
                <a:rPr lang="zh-CN" altLang="en-US" sz="1400" dirty="0" smtClean="0"/>
                <a:t>。</a:t>
              </a:r>
              <a:endParaRPr lang="en-US" altLang="zh-CN" sz="1400" dirty="0" smtClean="0"/>
            </a:p>
            <a:p>
              <a:pPr marL="285750" indent="-285750" fontAlgn="auto">
                <a:lnSpc>
                  <a:spcPts val="24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b="1" dirty="0" smtClean="0"/>
                <a:t>None</a:t>
              </a:r>
              <a:r>
                <a:rPr lang="zh-CN" altLang="en-US" sz="1400" dirty="0" smtClean="0"/>
                <a:t>：</a:t>
              </a:r>
              <a:r>
                <a:rPr lang="zh-CN" altLang="en-US" sz="1400" dirty="0"/>
                <a:t>不触发建立</a:t>
              </a:r>
              <a:r>
                <a:rPr lang="en-US" altLang="zh-CN" sz="1400" dirty="0"/>
                <a:t>LSP</a:t>
              </a:r>
              <a:r>
                <a:rPr lang="zh-CN" altLang="en-US" sz="1400" dirty="0"/>
                <a:t>。</a:t>
              </a:r>
              <a:endPara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 bwMode="gray">
          <a:xfrm>
            <a:off x="551383" y="4184355"/>
            <a:ext cx="11089233" cy="1790301"/>
            <a:chOff x="446088" y="1350359"/>
            <a:chExt cx="11089233" cy="1790301"/>
          </a:xfrm>
        </p:grpSpPr>
        <p:grpSp>
          <p:nvGrpSpPr>
            <p:cNvPr id="29" name="组合 28"/>
            <p:cNvGrpSpPr/>
            <p:nvPr/>
          </p:nvGrpSpPr>
          <p:grpSpPr bwMode="gray">
            <a:xfrm>
              <a:off x="446088" y="1350359"/>
              <a:ext cx="11089233" cy="1790301"/>
              <a:chOff x="446088" y="2847836"/>
              <a:chExt cx="11089233" cy="1790301"/>
            </a:xfrm>
          </p:grpSpPr>
          <p:sp>
            <p:nvSpPr>
              <p:cNvPr id="31" name="矩形 30"/>
              <p:cNvSpPr/>
              <p:nvPr/>
            </p:nvSpPr>
            <p:spPr bwMode="gray">
              <a:xfrm>
                <a:off x="446088" y="2847836"/>
                <a:ext cx="11089232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fontAlgn="auto">
                  <a:buFont typeface="+mj-lt"/>
                  <a:buAutoNum type="arabicPeriod" startAt="4"/>
                </a:pPr>
                <a:r>
                  <a:rPr lang="zh-CN" altLang="en-US" sz="1600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cs typeface="Huawei Sans" panose="020C0503030203020204" pitchFamily="34" charset="0"/>
                    <a:sym typeface="Huawei Sans" panose="020C0503030203020204" pitchFamily="34" charset="0"/>
                  </a:rPr>
                  <a:t>配置</a:t>
                </a:r>
                <a:r>
                  <a:rPr lang="en-US" altLang="zh-CN" sz="1600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cs typeface="Huawei Sans" panose="020C0503030203020204" pitchFamily="34" charset="0"/>
                    <a:sym typeface="Huawei Sans" panose="020C0503030203020204" pitchFamily="34" charset="0"/>
                  </a:rPr>
                  <a:t>LDP</a:t>
                </a:r>
                <a:r>
                  <a:rPr lang="zh-CN" altLang="en-US" sz="1600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cs typeface="Huawei Sans" panose="020C0503030203020204" pitchFamily="34" charset="0"/>
                    <a:sym typeface="Huawei Sans" panose="020C0503030203020204" pitchFamily="34" charset="0"/>
                  </a:rPr>
                  <a:t>标签发布模式</a:t>
                </a:r>
                <a:endPara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 bwMode="gray">
              <a:xfrm>
                <a:off x="926622" y="3622474"/>
                <a:ext cx="10608699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auto">
                  <a:lnSpc>
                    <a:spcPts val="2400"/>
                  </a:lnSpc>
                </a:pPr>
                <a:r>
                  <a:rPr lang="zh-CN" altLang="en-US" sz="1400" dirty="0"/>
                  <a:t>缺省情况下，标签发布模式为下游自主标签分发（</a:t>
                </a:r>
                <a:r>
                  <a:rPr lang="en-US" altLang="zh-CN" sz="1400" dirty="0"/>
                  <a:t>Downstream Unsolicited</a:t>
                </a:r>
                <a:r>
                  <a:rPr lang="zh-CN" altLang="en-US" sz="1400" dirty="0"/>
                  <a:t>）</a:t>
                </a:r>
                <a:r>
                  <a:rPr lang="zh-CN" altLang="en-US" sz="1400" dirty="0" smtClean="0"/>
                  <a:t>。</a:t>
                </a:r>
                <a:endParaRPr lang="en-US" altLang="zh-CN" sz="1400" dirty="0" smtClean="0"/>
              </a:p>
              <a:p>
                <a:pPr marL="285750" indent="-285750" fontAlgn="auto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如果标签分配方式为</a:t>
                </a:r>
                <a:r>
                  <a:rPr lang="en-US" altLang="zh-CN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DU</a:t>
                </a:r>
                <a:r>
                  <a:rPr lang="zh-CN" altLang="en-US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，则标签保持模式为</a:t>
                </a:r>
                <a:r>
                  <a:rPr lang="en-US" altLang="zh-CN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Liberal</a:t>
                </a:r>
                <a:r>
                  <a:rPr lang="zh-CN" altLang="en-US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。</a:t>
                </a:r>
              </a:p>
              <a:p>
                <a:pPr marL="285750" indent="-285750" fontAlgn="auto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如果标签分配方式为</a:t>
                </a:r>
                <a:r>
                  <a:rPr lang="en-US" altLang="zh-CN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DOD</a:t>
                </a:r>
                <a:r>
                  <a:rPr lang="zh-CN" altLang="en-US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，则标签保持模式为</a:t>
                </a:r>
                <a:r>
                  <a:rPr lang="en-US" altLang="zh-CN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Conservative</a:t>
                </a:r>
                <a:r>
                  <a:rPr lang="zh-CN" altLang="en-US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。</a:t>
                </a:r>
                <a:endPara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30" name="矩形 29"/>
            <p:cNvSpPr/>
            <p:nvPr/>
          </p:nvSpPr>
          <p:spPr bwMode="gray">
            <a:xfrm>
              <a:off x="967344" y="1740422"/>
              <a:ext cx="10417178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[Huawei-GigabitEthernet0/0/0] </a:t>
              </a:r>
              <a:r>
                <a:rPr lang="en-US" altLang="zh-CN" sz="1600" b="1" dirty="0" err="1"/>
                <a:t>mpls</a:t>
              </a:r>
              <a:r>
                <a:rPr lang="en-US" altLang="zh-CN" sz="1600" b="1" dirty="0"/>
                <a:t> </a:t>
              </a:r>
              <a:r>
                <a:rPr lang="en-US" altLang="zh-CN" sz="1600" b="1" dirty="0" err="1"/>
                <a:t>ldp</a:t>
              </a:r>
              <a:r>
                <a:rPr lang="en-US" altLang="zh-CN" sz="1600" b="1" dirty="0"/>
                <a:t> advertisement</a:t>
              </a:r>
              <a:r>
                <a:rPr lang="en-US" altLang="zh-CN" sz="1600" dirty="0"/>
                <a:t> { </a:t>
              </a:r>
              <a:r>
                <a:rPr lang="en-US" altLang="zh-CN" sz="1600" b="1" dirty="0" err="1"/>
                <a:t>dod</a:t>
              </a:r>
              <a:r>
                <a:rPr lang="en-US" altLang="zh-CN" sz="1600" dirty="0"/>
                <a:t> | </a:t>
              </a:r>
              <a:r>
                <a:rPr lang="en-US" altLang="zh-CN" sz="1600" b="1" dirty="0"/>
                <a:t>du</a:t>
              </a:r>
              <a:r>
                <a:rPr lang="en-US" altLang="zh-CN" sz="1600" dirty="0"/>
                <a:t> }</a:t>
              </a:r>
              <a:endParaRPr lang="zh-CN" altLang="en-US" sz="1600" b="1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790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/>
              <a:t>LDP</a:t>
            </a:r>
            <a:r>
              <a:rPr lang="zh-CN" altLang="en-US" smtClean="0"/>
              <a:t>基本配置命令 </a:t>
            </a:r>
            <a:r>
              <a:rPr lang="en-US" altLang="zh-CN" smtClean="0"/>
              <a:t>(3)</a:t>
            </a:r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 bwMode="gray">
          <a:xfrm>
            <a:off x="551383" y="2558704"/>
            <a:ext cx="11089233" cy="2098077"/>
            <a:chOff x="446088" y="1350359"/>
            <a:chExt cx="11089233" cy="2098077"/>
          </a:xfrm>
        </p:grpSpPr>
        <p:grpSp>
          <p:nvGrpSpPr>
            <p:cNvPr id="29" name="组合 28"/>
            <p:cNvGrpSpPr/>
            <p:nvPr/>
          </p:nvGrpSpPr>
          <p:grpSpPr bwMode="gray">
            <a:xfrm>
              <a:off x="446088" y="1350359"/>
              <a:ext cx="11089233" cy="2098077"/>
              <a:chOff x="446088" y="2847836"/>
              <a:chExt cx="11089233" cy="2098077"/>
            </a:xfrm>
          </p:grpSpPr>
          <p:sp>
            <p:nvSpPr>
              <p:cNvPr id="31" name="矩形 30"/>
              <p:cNvSpPr/>
              <p:nvPr/>
            </p:nvSpPr>
            <p:spPr bwMode="gray">
              <a:xfrm>
                <a:off x="446088" y="2847836"/>
                <a:ext cx="11089232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fontAlgn="auto">
                  <a:buFont typeface="+mj-lt"/>
                  <a:buAutoNum type="arabicPeriod" startAt="6"/>
                </a:pPr>
                <a:r>
                  <a:rPr lang="zh-CN" altLang="en-US" sz="1600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cs typeface="Huawei Sans" panose="020C0503030203020204" pitchFamily="34" charset="0"/>
                    <a:sym typeface="Huawei Sans" panose="020C0503030203020204" pitchFamily="34" charset="0"/>
                  </a:rPr>
                  <a:t>配置</a:t>
                </a:r>
                <a:r>
                  <a:rPr lang="en-US" altLang="zh-CN" sz="1600" dirty="0">
                    <a:latin typeface="Huawei Sans" panose="020C0503030203020204" pitchFamily="34" charset="0"/>
                    <a:ea typeface="方正兰亭黑简体" panose="02000000000000000000" pitchFamily="2" charset="-122"/>
                    <a:cs typeface="Huawei Sans" panose="020C0503030203020204" pitchFamily="34" charset="0"/>
                    <a:sym typeface="Huawei Sans" panose="020C0503030203020204" pitchFamily="34" charset="0"/>
                  </a:rPr>
                  <a:t>PHP</a:t>
                </a:r>
                <a:r>
                  <a:rPr lang="zh-CN" altLang="en-US" sz="1600" dirty="0">
                    <a:latin typeface="Huawei Sans" panose="020C0503030203020204" pitchFamily="34" charset="0"/>
                    <a:ea typeface="方正兰亭黑简体" panose="02000000000000000000" pitchFamily="2" charset="-122"/>
                    <a:cs typeface="Huawei Sans" panose="020C0503030203020204" pitchFamily="34" charset="0"/>
                    <a:sym typeface="Huawei Sans" panose="020C0503030203020204" pitchFamily="34" charset="0"/>
                  </a:rPr>
                  <a:t>特性</a:t>
                </a:r>
              </a:p>
            </p:txBody>
          </p:sp>
          <p:sp>
            <p:nvSpPr>
              <p:cNvPr id="32" name="矩形 31"/>
              <p:cNvSpPr/>
              <p:nvPr/>
            </p:nvSpPr>
            <p:spPr bwMode="gray">
              <a:xfrm>
                <a:off x="926622" y="3622474"/>
                <a:ext cx="10608699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auto">
                  <a:lnSpc>
                    <a:spcPts val="2400"/>
                  </a:lnSpc>
                </a:pPr>
                <a:r>
                  <a:rPr lang="zh-CN" altLang="en-US" sz="1400" dirty="0"/>
                  <a:t>缺省情况下，出节点向倒数第二跳分配隐式空标签（</a:t>
                </a:r>
                <a:r>
                  <a:rPr lang="en-US" altLang="zh-CN" sz="1400" dirty="0"/>
                  <a:t>implicit-null</a:t>
                </a:r>
                <a:r>
                  <a:rPr lang="zh-CN" altLang="en-US" sz="1400" dirty="0"/>
                  <a:t>）。</a:t>
                </a:r>
                <a:endParaRPr lang="en-US" altLang="zh-CN" sz="1400" dirty="0" smtClean="0"/>
              </a:p>
              <a:p>
                <a:pPr marL="285750" indent="-285750" fontAlgn="auto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b="1" dirty="0" smtClean="0"/>
                  <a:t>explicit-null</a:t>
                </a:r>
                <a:r>
                  <a:rPr lang="zh-CN" altLang="en-US" sz="1400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：出</a:t>
                </a:r>
                <a:r>
                  <a:rPr lang="zh-CN" altLang="en-US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节点向倒数第二跳分配显式空标签</a:t>
                </a:r>
                <a:r>
                  <a:rPr lang="zh-CN" altLang="en-US" sz="1400" dirty="0" smtClean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。</a:t>
                </a:r>
                <a:endPara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marL="285750" indent="-285750" fontAlgn="auto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b="1" dirty="0" smtClean="0"/>
                  <a:t>implicit-null</a:t>
                </a:r>
                <a:r>
                  <a:rPr lang="zh-CN" altLang="en-US" sz="1400" b="1" dirty="0" smtClean="0"/>
                  <a:t>：</a:t>
                </a:r>
                <a:r>
                  <a:rPr lang="zh-CN" altLang="en-US" sz="1400" dirty="0" smtClean="0"/>
                  <a:t>出</a:t>
                </a:r>
                <a:r>
                  <a:rPr lang="zh-CN" altLang="en-US" sz="1400" dirty="0"/>
                  <a:t>节点向倒数第二跳分配隐式空标签。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  <a:p>
                <a:pPr marL="285750" indent="-285750" fontAlgn="auto">
                  <a:lnSpc>
                    <a:spcPts val="24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b="1" dirty="0" smtClean="0"/>
                  <a:t>non-null</a:t>
                </a:r>
                <a:r>
                  <a:rPr lang="zh-CN" altLang="en-US" sz="1400" b="1" dirty="0" smtClean="0"/>
                  <a:t>：</a:t>
                </a:r>
                <a:r>
                  <a:rPr lang="zh-CN" altLang="en-US" sz="1400" dirty="0" smtClean="0"/>
                  <a:t>出</a:t>
                </a:r>
                <a:r>
                  <a:rPr lang="zh-CN" altLang="en-US" sz="1400" dirty="0"/>
                  <a:t>节点向倒数第二跳正常分配标签。</a:t>
                </a:r>
                <a:endPara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30" name="矩形 29"/>
            <p:cNvSpPr/>
            <p:nvPr/>
          </p:nvSpPr>
          <p:spPr bwMode="gray">
            <a:xfrm>
              <a:off x="967344" y="1740422"/>
              <a:ext cx="10417178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[</a:t>
              </a:r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Huawei-</a:t>
              </a:r>
              <a:r>
                <a:rPr lang="en-US" altLang="zh-CN" sz="1600" dirty="0" err="1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mpls</a:t>
              </a:r>
              <a:r>
                <a:rPr lang="en-US" altLang="zh-CN" sz="16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  <a:sym typeface="Huawei Sans" panose="020C0503030203020204" pitchFamily="34" charset="0"/>
                </a:rPr>
                <a:t>] </a:t>
              </a:r>
              <a:r>
                <a:rPr lang="en-US" altLang="zh-CN" sz="1600" b="1" dirty="0"/>
                <a:t>label advertise</a:t>
              </a:r>
              <a:r>
                <a:rPr lang="en-US" altLang="zh-CN" sz="1600" dirty="0"/>
                <a:t> { </a:t>
              </a:r>
              <a:r>
                <a:rPr lang="en-US" altLang="zh-CN" sz="1600" b="1" dirty="0"/>
                <a:t>explicit-null</a:t>
              </a:r>
              <a:r>
                <a:rPr lang="en-US" altLang="zh-CN" sz="1600" dirty="0"/>
                <a:t> | </a:t>
              </a:r>
              <a:r>
                <a:rPr lang="en-US" altLang="zh-CN" sz="1600" b="1" dirty="0"/>
                <a:t>implicit-null</a:t>
              </a:r>
              <a:r>
                <a:rPr lang="en-US" altLang="zh-CN" sz="1600" dirty="0"/>
                <a:t> | </a:t>
              </a:r>
              <a:r>
                <a:rPr lang="en-US" altLang="zh-CN" sz="1600" b="1" dirty="0"/>
                <a:t>non-null</a:t>
              </a:r>
              <a:r>
                <a:rPr lang="en-US" altLang="zh-CN" sz="1600" dirty="0"/>
                <a:t> }</a:t>
              </a:r>
              <a:endParaRPr lang="zh-CN" altLang="en-US" sz="1600" b="1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 bwMode="gray">
          <a:xfrm>
            <a:off x="967343" y="1766008"/>
            <a:ext cx="10608699" cy="727083"/>
            <a:chOff x="926622" y="3279983"/>
            <a:chExt cx="10608699" cy="727083"/>
          </a:xfrm>
        </p:grpSpPr>
        <p:sp>
          <p:nvSpPr>
            <p:cNvPr id="34" name="矩形 33"/>
            <p:cNvSpPr/>
            <p:nvPr/>
          </p:nvSpPr>
          <p:spPr bwMode="gray">
            <a:xfrm>
              <a:off x="926622" y="3279983"/>
              <a:ext cx="10417179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zh-CN" sz="1600" dirty="0" smtClean="0"/>
                <a:t>[</a:t>
              </a:r>
              <a:r>
                <a:rPr lang="en-US" altLang="zh-CN" sz="1600" dirty="0"/>
                <a:t>Huawei-</a:t>
              </a:r>
              <a:r>
                <a:rPr lang="en-US" altLang="zh-CN" sz="1600" dirty="0" err="1"/>
                <a:t>mpls</a:t>
              </a:r>
              <a:r>
                <a:rPr lang="en-US" altLang="zh-CN" sz="1600" dirty="0"/>
                <a:t>-</a:t>
              </a:r>
              <a:r>
                <a:rPr lang="en-US" altLang="zh-CN" sz="1600" dirty="0" err="1"/>
                <a:t>ldp</a:t>
              </a:r>
              <a:r>
                <a:rPr lang="en-US" altLang="zh-CN" sz="1600" dirty="0"/>
                <a:t>] </a:t>
              </a:r>
              <a:r>
                <a:rPr lang="en-US" altLang="zh-CN" sz="1600" b="1" dirty="0"/>
                <a:t>label distribution control-mode</a:t>
              </a:r>
              <a:r>
                <a:rPr lang="en-US" altLang="zh-CN" sz="1600" dirty="0"/>
                <a:t> { </a:t>
              </a:r>
              <a:r>
                <a:rPr lang="en-US" altLang="zh-CN" sz="1600" b="1" dirty="0"/>
                <a:t>independent</a:t>
              </a:r>
              <a:r>
                <a:rPr lang="en-US" altLang="zh-CN" sz="1600" dirty="0"/>
                <a:t> | </a:t>
              </a:r>
              <a:r>
                <a:rPr lang="en-US" altLang="zh-CN" sz="1600" b="1" dirty="0"/>
                <a:t>ordered</a:t>
              </a:r>
              <a:r>
                <a:rPr lang="en-US" altLang="zh-CN" sz="1600" dirty="0"/>
                <a:t> }</a:t>
              </a:r>
              <a:endParaRPr lang="zh-CN" altLang="en-US" sz="1600" b="1" i="1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36" name="矩形 35"/>
            <p:cNvSpPr/>
            <p:nvPr/>
          </p:nvSpPr>
          <p:spPr bwMode="gray">
            <a:xfrm>
              <a:off x="926622" y="3622474"/>
              <a:ext cx="10608699" cy="3845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auto">
                <a:lnSpc>
                  <a:spcPts val="2400"/>
                </a:lnSpc>
              </a:pPr>
              <a:r>
                <a:rPr lang="zh-CN" altLang="en-US" sz="1400" dirty="0"/>
                <a:t>缺省情况下，</a:t>
              </a:r>
              <a:r>
                <a:rPr lang="en-US" altLang="zh-CN" sz="1400" dirty="0"/>
                <a:t>LDP</a:t>
              </a:r>
              <a:r>
                <a:rPr lang="zh-CN" altLang="en-US" sz="1400" dirty="0"/>
                <a:t>标签分配控制方式为有序标签分配控制（</a:t>
              </a:r>
              <a:r>
                <a:rPr lang="en-US" altLang="zh-CN" sz="1400" dirty="0"/>
                <a:t>Ordered</a:t>
              </a:r>
              <a:r>
                <a:rPr lang="zh-CN" altLang="en-US" sz="1400" dirty="0"/>
                <a:t>）。</a:t>
              </a:r>
              <a:endPara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38" name="矩形 37"/>
          <p:cNvSpPr/>
          <p:nvPr/>
        </p:nvSpPr>
        <p:spPr bwMode="gray">
          <a:xfrm>
            <a:off x="486809" y="1333861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5"/>
            </a:pP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配置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LDP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标签分配控制方式</a:t>
            </a:r>
          </a:p>
        </p:txBody>
      </p:sp>
    </p:spTree>
    <p:extLst>
      <p:ext uri="{BB962C8B-B14F-4D97-AF65-F5344CB8AC3E}">
        <p14:creationId xmlns:p14="http://schemas.microsoft.com/office/powerpoint/2010/main" val="85375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/>
              <a:t>配置案例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 bwMode="gray">
          <a:xfrm flipV="1">
            <a:off x="2727157" y="2037820"/>
            <a:ext cx="0" cy="4181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 bwMode="gray">
          <a:xfrm flipV="1">
            <a:off x="2527652" y="2455946"/>
            <a:ext cx="3990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gray">
          <a:xfrm flipV="1">
            <a:off x="5032551" y="2037820"/>
            <a:ext cx="0" cy="4181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 bwMode="gray">
          <a:xfrm flipV="1">
            <a:off x="4833046" y="2455946"/>
            <a:ext cx="3990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gray">
          <a:xfrm flipV="1">
            <a:off x="7313488" y="2037820"/>
            <a:ext cx="0" cy="4181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 bwMode="gray">
          <a:xfrm flipV="1">
            <a:off x="7113983" y="2455946"/>
            <a:ext cx="3990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 flipV="1">
            <a:off x="9629060" y="2037820"/>
            <a:ext cx="0" cy="4181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gray">
          <a:xfrm flipV="1">
            <a:off x="9429555" y="2455946"/>
            <a:ext cx="3990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 bwMode="gray">
          <a:xfrm>
            <a:off x="2784728" y="1834415"/>
            <a:ext cx="681595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 bwMode="gray">
          <a:xfrm>
            <a:off x="2520209" y="130381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smtClean="0"/>
              <a:t>R1</a:t>
            </a:r>
            <a:endParaRPr lang="zh-CN" altLang="en-US" sz="1400" b="1"/>
          </a:p>
        </p:txBody>
      </p:sp>
      <p:sp>
        <p:nvSpPr>
          <p:cNvPr id="26" name="矩形 25"/>
          <p:cNvSpPr/>
          <p:nvPr/>
        </p:nvSpPr>
        <p:spPr bwMode="gray">
          <a:xfrm>
            <a:off x="4811383" y="130381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smtClean="0"/>
              <a:t>R2</a:t>
            </a:r>
            <a:endParaRPr lang="zh-CN" altLang="en-US" sz="1400" b="1"/>
          </a:p>
        </p:txBody>
      </p:sp>
      <p:sp>
        <p:nvSpPr>
          <p:cNvPr id="24" name="矩形 23"/>
          <p:cNvSpPr/>
          <p:nvPr/>
        </p:nvSpPr>
        <p:spPr bwMode="gray">
          <a:xfrm>
            <a:off x="7102557" y="130381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smtClean="0"/>
              <a:t>R3</a:t>
            </a:r>
            <a:endParaRPr lang="zh-CN" altLang="en-US" sz="1400" b="1"/>
          </a:p>
        </p:txBody>
      </p:sp>
      <p:sp>
        <p:nvSpPr>
          <p:cNvPr id="22" name="矩形 21"/>
          <p:cNvSpPr/>
          <p:nvPr/>
        </p:nvSpPr>
        <p:spPr bwMode="gray">
          <a:xfrm>
            <a:off x="9393731" y="130381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smtClean="0"/>
              <a:t>R4</a:t>
            </a:r>
            <a:endParaRPr lang="zh-CN" altLang="en-US" sz="1400" b="1"/>
          </a:p>
        </p:txBody>
      </p:sp>
      <p:sp>
        <p:nvSpPr>
          <p:cNvPr id="29" name="矩形 28"/>
          <p:cNvSpPr/>
          <p:nvPr/>
        </p:nvSpPr>
        <p:spPr bwMode="gray">
          <a:xfrm>
            <a:off x="2876930" y="1322644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GE0/0/0</a:t>
            </a:r>
          </a:p>
          <a:p>
            <a:r>
              <a:rPr lang="en-US" altLang="zh-CN" sz="1400" dirty="0" smtClean="0"/>
              <a:t>10.0.12.1/24</a:t>
            </a:r>
            <a:endParaRPr lang="zh-CN" altLang="en-US" sz="1400" dirty="0"/>
          </a:p>
        </p:txBody>
      </p:sp>
      <p:sp>
        <p:nvSpPr>
          <p:cNvPr id="30" name="矩形 29"/>
          <p:cNvSpPr/>
          <p:nvPr/>
        </p:nvSpPr>
        <p:spPr bwMode="gray">
          <a:xfrm>
            <a:off x="5225377" y="1311195"/>
            <a:ext cx="11865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GE0/0/1</a:t>
            </a:r>
          </a:p>
          <a:p>
            <a:r>
              <a:rPr lang="en-US" altLang="zh-CN" sz="1400" dirty="0" smtClean="0"/>
              <a:t>10.0.23.2/24</a:t>
            </a:r>
            <a:endParaRPr lang="zh-CN" altLang="en-US" sz="1400" dirty="0"/>
          </a:p>
        </p:txBody>
      </p:sp>
      <p:sp>
        <p:nvSpPr>
          <p:cNvPr id="32" name="矩形 31"/>
          <p:cNvSpPr/>
          <p:nvPr/>
        </p:nvSpPr>
        <p:spPr bwMode="gray">
          <a:xfrm>
            <a:off x="5930806" y="1854404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dirty="0" smtClean="0"/>
              <a:t>GE0/0/0</a:t>
            </a:r>
          </a:p>
          <a:p>
            <a:pPr algn="r"/>
            <a:r>
              <a:rPr lang="en-US" altLang="zh-CN" sz="1400" dirty="0" smtClean="0"/>
              <a:t>10.0.23.3/24</a:t>
            </a:r>
            <a:endParaRPr lang="zh-CN" altLang="en-US" sz="1400" dirty="0"/>
          </a:p>
        </p:txBody>
      </p:sp>
      <p:sp>
        <p:nvSpPr>
          <p:cNvPr id="33" name="矩形 32"/>
          <p:cNvSpPr/>
          <p:nvPr/>
        </p:nvSpPr>
        <p:spPr bwMode="gray">
          <a:xfrm>
            <a:off x="7512993" y="1303818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GE0/0/1</a:t>
            </a:r>
          </a:p>
          <a:p>
            <a:r>
              <a:rPr lang="en-US" altLang="zh-CN" sz="1400" dirty="0" smtClean="0"/>
              <a:t>10.0.34.3/24</a:t>
            </a:r>
            <a:endParaRPr lang="zh-CN" altLang="en-US" sz="1400" dirty="0"/>
          </a:p>
        </p:txBody>
      </p:sp>
      <p:sp>
        <p:nvSpPr>
          <p:cNvPr id="34" name="矩形 33"/>
          <p:cNvSpPr/>
          <p:nvPr/>
        </p:nvSpPr>
        <p:spPr bwMode="gray">
          <a:xfrm>
            <a:off x="8211743" y="1854404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dirty="0" smtClean="0"/>
              <a:t>GE0/0/0</a:t>
            </a:r>
          </a:p>
          <a:p>
            <a:pPr algn="r"/>
            <a:r>
              <a:rPr lang="en-US" altLang="zh-CN" sz="1400" dirty="0" smtClean="0"/>
              <a:t>10.0.34.4/24</a:t>
            </a:r>
            <a:endParaRPr lang="zh-CN" altLang="en-US" sz="1400" dirty="0"/>
          </a:p>
        </p:txBody>
      </p:sp>
      <p:sp>
        <p:nvSpPr>
          <p:cNvPr id="35" name="矩形 34"/>
          <p:cNvSpPr/>
          <p:nvPr/>
        </p:nvSpPr>
        <p:spPr bwMode="gray">
          <a:xfrm>
            <a:off x="2184380" y="2477362"/>
            <a:ext cx="1085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/>
              <a:t>Loopback0</a:t>
            </a:r>
          </a:p>
          <a:p>
            <a:pPr algn="ctr"/>
            <a:r>
              <a:rPr lang="en-US" altLang="zh-CN" sz="1400" dirty="0" smtClean="0"/>
              <a:t>10.0.1.1/32</a:t>
            </a:r>
            <a:endParaRPr lang="zh-CN" altLang="en-US" sz="1400" dirty="0"/>
          </a:p>
        </p:txBody>
      </p:sp>
      <p:sp>
        <p:nvSpPr>
          <p:cNvPr id="36" name="矩形 35"/>
          <p:cNvSpPr/>
          <p:nvPr/>
        </p:nvSpPr>
        <p:spPr bwMode="gray">
          <a:xfrm>
            <a:off x="4489774" y="2477362"/>
            <a:ext cx="1085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/>
              <a:t>Loopback0</a:t>
            </a:r>
          </a:p>
          <a:p>
            <a:pPr algn="ctr"/>
            <a:r>
              <a:rPr lang="en-US" altLang="zh-CN" sz="1400" dirty="0" smtClean="0"/>
              <a:t>10.0.2.2/32</a:t>
            </a:r>
            <a:endParaRPr lang="zh-CN" altLang="en-US" sz="1400" dirty="0"/>
          </a:p>
        </p:txBody>
      </p:sp>
      <p:sp>
        <p:nvSpPr>
          <p:cNvPr id="37" name="矩形 36"/>
          <p:cNvSpPr/>
          <p:nvPr/>
        </p:nvSpPr>
        <p:spPr bwMode="gray">
          <a:xfrm>
            <a:off x="6795168" y="2477362"/>
            <a:ext cx="1085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/>
              <a:t>Loopback0</a:t>
            </a:r>
          </a:p>
          <a:p>
            <a:pPr algn="ctr"/>
            <a:r>
              <a:rPr lang="en-US" altLang="zh-CN" sz="1400" dirty="0" smtClean="0"/>
              <a:t>10.0.3.3/32</a:t>
            </a:r>
            <a:endParaRPr lang="zh-CN" altLang="en-US" sz="1400" dirty="0"/>
          </a:p>
        </p:txBody>
      </p:sp>
      <p:sp>
        <p:nvSpPr>
          <p:cNvPr id="38" name="矩形 37"/>
          <p:cNvSpPr/>
          <p:nvPr/>
        </p:nvSpPr>
        <p:spPr bwMode="gray">
          <a:xfrm>
            <a:off x="9100562" y="2477362"/>
            <a:ext cx="1085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/>
              <a:t>Loopback0</a:t>
            </a:r>
          </a:p>
          <a:p>
            <a:pPr algn="ctr"/>
            <a:r>
              <a:rPr lang="en-US" altLang="zh-CN" sz="1400" dirty="0" smtClean="0"/>
              <a:t>10.4.4.4/32</a:t>
            </a:r>
            <a:endParaRPr lang="zh-CN" altLang="en-US" sz="1400" dirty="0"/>
          </a:p>
        </p:txBody>
      </p:sp>
      <p:pic>
        <p:nvPicPr>
          <p:cNvPr id="4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782050" y="1622545"/>
            <a:ext cx="501002" cy="423740"/>
          </a:xfrm>
          <a:prstGeom prst="rect">
            <a:avLst/>
          </a:prstGeom>
          <a:noFill/>
        </p:spPr>
      </p:pic>
      <p:pic>
        <p:nvPicPr>
          <p:cNvPr id="4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452047" y="1622545"/>
            <a:ext cx="501002" cy="423740"/>
          </a:xfrm>
          <a:prstGeom prst="rect">
            <a:avLst/>
          </a:prstGeom>
          <a:noFill/>
        </p:spPr>
      </p:pic>
      <p:pic>
        <p:nvPicPr>
          <p:cNvPr id="4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057274" y="1622545"/>
            <a:ext cx="501002" cy="423740"/>
          </a:xfrm>
          <a:prstGeom prst="rect">
            <a:avLst/>
          </a:prstGeom>
          <a:noFill/>
        </p:spPr>
      </p:pic>
      <p:pic>
        <p:nvPicPr>
          <p:cNvPr id="4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386071" y="1622545"/>
            <a:ext cx="501002" cy="423740"/>
          </a:xfrm>
          <a:prstGeom prst="rect">
            <a:avLst/>
          </a:prstGeom>
          <a:noFill/>
        </p:spPr>
      </p:pic>
      <p:sp>
        <p:nvSpPr>
          <p:cNvPr id="44" name="文本框 43"/>
          <p:cNvSpPr txBox="1"/>
          <p:nvPr/>
        </p:nvSpPr>
        <p:spPr bwMode="gray">
          <a:xfrm>
            <a:off x="2355036" y="3783176"/>
            <a:ext cx="7318029" cy="1052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 smtClean="0"/>
              <a:t>背景：</a:t>
            </a:r>
            <a:r>
              <a:rPr lang="en-US" altLang="zh-CN" sz="1600" dirty="0" smtClean="0"/>
              <a:t>R1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R2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R3</a:t>
            </a:r>
            <a:r>
              <a:rPr lang="zh-CN" altLang="en-US" sz="1600" dirty="0" smtClean="0"/>
              <a:t>和</a:t>
            </a:r>
            <a:r>
              <a:rPr lang="en-US" altLang="zh-CN" sz="1600" dirty="0" smtClean="0"/>
              <a:t>R4</a:t>
            </a:r>
            <a:r>
              <a:rPr lang="zh-CN" altLang="en-US" sz="1600" dirty="0" smtClean="0"/>
              <a:t>之间运行了</a:t>
            </a:r>
            <a:r>
              <a:rPr lang="en-US" altLang="zh-CN" sz="1600" dirty="0" smtClean="0"/>
              <a:t>IGP</a:t>
            </a:r>
            <a:r>
              <a:rPr lang="zh-CN" altLang="en-US" sz="1600" dirty="0" smtClean="0"/>
              <a:t>协议，已经实现了</a:t>
            </a:r>
            <a:r>
              <a:rPr lang="en-US" altLang="zh-CN" sz="1600" dirty="0" smtClean="0"/>
              <a:t>IP</a:t>
            </a:r>
            <a:r>
              <a:rPr lang="zh-CN" altLang="en-US" sz="1600" dirty="0" smtClean="0"/>
              <a:t>层面的互联互通。</a:t>
            </a:r>
            <a:endParaRPr lang="en-US" altLang="zh-CN" sz="1600" dirty="0" smtClean="0"/>
          </a:p>
          <a:p>
            <a:pPr>
              <a:lnSpc>
                <a:spcPct val="130000"/>
              </a:lnSpc>
            </a:pPr>
            <a:r>
              <a:rPr lang="zh-CN" altLang="en-US" sz="1600" b="1" dirty="0" smtClean="0"/>
              <a:t>需求：</a:t>
            </a:r>
            <a:r>
              <a:rPr lang="zh-CN" altLang="en-US" sz="1600" dirty="0" smtClean="0"/>
              <a:t>通过配置</a:t>
            </a:r>
            <a:r>
              <a:rPr lang="en-US" altLang="zh-CN" sz="1600" dirty="0" smtClean="0"/>
              <a:t>MPLS</a:t>
            </a:r>
            <a:r>
              <a:rPr lang="zh-CN" altLang="en-US" sz="1600" dirty="0" smtClean="0"/>
              <a:t>以及</a:t>
            </a:r>
            <a:r>
              <a:rPr lang="en-US" altLang="zh-CN" sz="1600" dirty="0" smtClean="0"/>
              <a:t>LDP</a:t>
            </a:r>
            <a:r>
              <a:rPr lang="zh-CN" altLang="en-US" sz="1600" dirty="0" smtClean="0"/>
              <a:t>，使得</a:t>
            </a:r>
            <a:r>
              <a:rPr lang="en-US" altLang="zh-CN" sz="1600" dirty="0" smtClean="0"/>
              <a:t>192.168.1.0/24</a:t>
            </a:r>
            <a:r>
              <a:rPr lang="zh-CN" altLang="en-US" sz="1600" dirty="0" smtClean="0"/>
              <a:t>网段和</a:t>
            </a:r>
            <a:r>
              <a:rPr lang="en-US" altLang="zh-CN" sz="1600" dirty="0" smtClean="0"/>
              <a:t>192.168.4.0/24</a:t>
            </a:r>
            <a:r>
              <a:rPr lang="zh-CN" altLang="en-US" sz="1600" dirty="0" smtClean="0"/>
              <a:t>网段</a:t>
            </a:r>
            <a:endParaRPr lang="en-US" altLang="zh-CN" sz="1600" dirty="0" smtClean="0"/>
          </a:p>
          <a:p>
            <a:pPr>
              <a:lnSpc>
                <a:spcPct val="130000"/>
              </a:lnSpc>
            </a:pPr>
            <a:r>
              <a:rPr lang="zh-CN" altLang="en-US" sz="1600" dirty="0" smtClean="0"/>
              <a:t>可以通过标签交换的方式实现互访。</a:t>
            </a:r>
            <a:endParaRPr lang="zh-CN" altLang="en-US" sz="1600" dirty="0"/>
          </a:p>
        </p:txBody>
      </p:sp>
      <p:sp>
        <p:nvSpPr>
          <p:cNvPr id="45" name="TextBox 123"/>
          <p:cNvSpPr txBox="1"/>
          <p:nvPr/>
        </p:nvSpPr>
        <p:spPr bwMode="gray">
          <a:xfrm>
            <a:off x="367431" y="2781390"/>
            <a:ext cx="166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PC1</a:t>
            </a:r>
          </a:p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IP:192.168.1.1/24</a:t>
            </a:r>
          </a:p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GW:192.168.1.254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6" name="图片 45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931537" y="2396033"/>
            <a:ext cx="539063" cy="414000"/>
          </a:xfrm>
          <a:prstGeom prst="rect">
            <a:avLst/>
          </a:prstGeom>
        </p:spPr>
      </p:pic>
      <p:cxnSp>
        <p:nvCxnSpPr>
          <p:cNvPr id="48" name="直接连接符 47"/>
          <p:cNvCxnSpPr>
            <a:stCxn id="46" idx="3"/>
            <a:endCxn id="41" idx="1"/>
          </p:cNvCxnSpPr>
          <p:nvPr/>
        </p:nvCxnSpPr>
        <p:spPr bwMode="gray">
          <a:xfrm flipV="1">
            <a:off x="1470600" y="1834415"/>
            <a:ext cx="981447" cy="7686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64" idx="1"/>
            <a:endCxn id="43" idx="3"/>
          </p:cNvCxnSpPr>
          <p:nvPr/>
        </p:nvCxnSpPr>
        <p:spPr bwMode="gray">
          <a:xfrm flipH="1" flipV="1">
            <a:off x="9887073" y="1834415"/>
            <a:ext cx="918424" cy="7686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123"/>
          <p:cNvSpPr txBox="1"/>
          <p:nvPr/>
        </p:nvSpPr>
        <p:spPr bwMode="gray">
          <a:xfrm>
            <a:off x="10241391" y="2822953"/>
            <a:ext cx="166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PC2</a:t>
            </a:r>
          </a:p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IP:192.168.4.1/24</a:t>
            </a:r>
          </a:p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GW:192.168.4.254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4" name="图片 63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10805497" y="2396033"/>
            <a:ext cx="539063" cy="414000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 bwMode="gray">
          <a:xfrm>
            <a:off x="3632855" y="1854404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dirty="0" smtClean="0"/>
              <a:t>GE0/0/0</a:t>
            </a:r>
          </a:p>
          <a:p>
            <a:pPr algn="r"/>
            <a:r>
              <a:rPr lang="en-US" altLang="zh-CN" sz="1400" dirty="0" smtClean="0"/>
              <a:t>10.0.12.2/24</a:t>
            </a:r>
            <a:endParaRPr lang="zh-CN" altLang="en-US" sz="1400" dirty="0"/>
          </a:p>
        </p:txBody>
      </p:sp>
      <p:sp>
        <p:nvSpPr>
          <p:cNvPr id="47" name="矩形 46"/>
          <p:cNvSpPr/>
          <p:nvPr/>
        </p:nvSpPr>
        <p:spPr bwMode="gray">
          <a:xfrm rot="19349768">
            <a:off x="1192872" y="1766115"/>
            <a:ext cx="13885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200" dirty="0" smtClean="0"/>
              <a:t>GE0/0/1</a:t>
            </a:r>
          </a:p>
          <a:p>
            <a:pPr algn="r"/>
            <a:r>
              <a:rPr lang="en-US" altLang="zh-CN" sz="1200" dirty="0" smtClean="0"/>
              <a:t>192.168.1.254/24</a:t>
            </a:r>
            <a:endParaRPr lang="zh-CN" altLang="en-US" sz="1200" dirty="0"/>
          </a:p>
        </p:txBody>
      </p:sp>
      <p:sp>
        <p:nvSpPr>
          <p:cNvPr id="49" name="矩形 48"/>
          <p:cNvSpPr/>
          <p:nvPr/>
        </p:nvSpPr>
        <p:spPr bwMode="gray">
          <a:xfrm rot="2337062">
            <a:off x="9770686" y="1707007"/>
            <a:ext cx="13885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GE0/0/1</a:t>
            </a:r>
          </a:p>
          <a:p>
            <a:r>
              <a:rPr lang="en-US" altLang="zh-CN" sz="1200" dirty="0" smtClean="0"/>
              <a:t>192.168.4.254/24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3397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/>
              <a:t>配置步骤</a:t>
            </a:r>
            <a:r>
              <a:rPr lang="en-US" altLang="zh-CN" smtClean="0"/>
              <a:t> (1)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 bwMode="gray">
          <a:xfrm flipV="1">
            <a:off x="2727157" y="2037820"/>
            <a:ext cx="0" cy="4181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 bwMode="gray">
          <a:xfrm flipV="1">
            <a:off x="2527652" y="2455946"/>
            <a:ext cx="3990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gray">
          <a:xfrm flipV="1">
            <a:off x="5032551" y="2037820"/>
            <a:ext cx="0" cy="4181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 bwMode="gray">
          <a:xfrm flipV="1">
            <a:off x="4833046" y="2455946"/>
            <a:ext cx="3990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gray">
          <a:xfrm flipV="1">
            <a:off x="7313488" y="2037820"/>
            <a:ext cx="0" cy="4181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 bwMode="gray">
          <a:xfrm flipV="1">
            <a:off x="7113983" y="2455946"/>
            <a:ext cx="3990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 flipV="1">
            <a:off x="9629060" y="2037820"/>
            <a:ext cx="0" cy="4181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gray">
          <a:xfrm flipV="1">
            <a:off x="9429555" y="2455946"/>
            <a:ext cx="3990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 bwMode="gray">
          <a:xfrm>
            <a:off x="2784728" y="1834415"/>
            <a:ext cx="681595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 bwMode="gray">
          <a:xfrm>
            <a:off x="2520209" y="130381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smtClean="0"/>
              <a:t>R1</a:t>
            </a:r>
            <a:endParaRPr lang="zh-CN" altLang="en-US" sz="1400" b="1"/>
          </a:p>
        </p:txBody>
      </p:sp>
      <p:sp>
        <p:nvSpPr>
          <p:cNvPr id="26" name="矩形 25"/>
          <p:cNvSpPr/>
          <p:nvPr/>
        </p:nvSpPr>
        <p:spPr bwMode="gray">
          <a:xfrm>
            <a:off x="4811383" y="130381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smtClean="0"/>
              <a:t>R2</a:t>
            </a:r>
            <a:endParaRPr lang="zh-CN" altLang="en-US" sz="1400" b="1"/>
          </a:p>
        </p:txBody>
      </p:sp>
      <p:sp>
        <p:nvSpPr>
          <p:cNvPr id="24" name="矩形 23"/>
          <p:cNvSpPr/>
          <p:nvPr/>
        </p:nvSpPr>
        <p:spPr bwMode="gray">
          <a:xfrm>
            <a:off x="7102557" y="130381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smtClean="0"/>
              <a:t>R3</a:t>
            </a:r>
            <a:endParaRPr lang="zh-CN" altLang="en-US" sz="1400" b="1"/>
          </a:p>
        </p:txBody>
      </p:sp>
      <p:sp>
        <p:nvSpPr>
          <p:cNvPr id="22" name="矩形 21"/>
          <p:cNvSpPr/>
          <p:nvPr/>
        </p:nvSpPr>
        <p:spPr bwMode="gray">
          <a:xfrm>
            <a:off x="9393731" y="130381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smtClean="0"/>
              <a:t>R4</a:t>
            </a:r>
            <a:endParaRPr lang="zh-CN" altLang="en-US" sz="1400" b="1"/>
          </a:p>
        </p:txBody>
      </p:sp>
      <p:sp>
        <p:nvSpPr>
          <p:cNvPr id="29" name="矩形 28"/>
          <p:cNvSpPr/>
          <p:nvPr/>
        </p:nvSpPr>
        <p:spPr bwMode="gray">
          <a:xfrm>
            <a:off x="2876930" y="1322644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GE0/0/0</a:t>
            </a:r>
          </a:p>
          <a:p>
            <a:r>
              <a:rPr lang="en-US" altLang="zh-CN" sz="1400" dirty="0" smtClean="0"/>
              <a:t>10.0.12.1/24</a:t>
            </a:r>
            <a:endParaRPr lang="zh-CN" altLang="en-US" sz="1400" dirty="0"/>
          </a:p>
        </p:txBody>
      </p:sp>
      <p:sp>
        <p:nvSpPr>
          <p:cNvPr id="30" name="矩形 29"/>
          <p:cNvSpPr/>
          <p:nvPr/>
        </p:nvSpPr>
        <p:spPr bwMode="gray">
          <a:xfrm>
            <a:off x="3632855" y="1854404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dirty="0" smtClean="0"/>
              <a:t>GE0/0/0</a:t>
            </a:r>
          </a:p>
          <a:p>
            <a:pPr algn="r"/>
            <a:r>
              <a:rPr lang="en-US" altLang="zh-CN" sz="1400" dirty="0" smtClean="0"/>
              <a:t>10.0.12.2/24</a:t>
            </a:r>
            <a:endParaRPr lang="zh-CN" altLang="en-US" sz="1400" dirty="0"/>
          </a:p>
        </p:txBody>
      </p:sp>
      <p:sp>
        <p:nvSpPr>
          <p:cNvPr id="31" name="矩形 30"/>
          <p:cNvSpPr/>
          <p:nvPr/>
        </p:nvSpPr>
        <p:spPr bwMode="gray">
          <a:xfrm rot="19349768">
            <a:off x="1192872" y="1766115"/>
            <a:ext cx="13885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200" dirty="0" smtClean="0"/>
              <a:t>GE0/0/1</a:t>
            </a:r>
          </a:p>
          <a:p>
            <a:pPr algn="r"/>
            <a:r>
              <a:rPr lang="en-US" altLang="zh-CN" sz="1200" dirty="0" smtClean="0"/>
              <a:t>192.168.1.254/24</a:t>
            </a:r>
            <a:endParaRPr lang="zh-CN" altLang="en-US" sz="1200" dirty="0"/>
          </a:p>
        </p:txBody>
      </p:sp>
      <p:sp>
        <p:nvSpPr>
          <p:cNvPr id="32" name="矩形 31"/>
          <p:cNvSpPr/>
          <p:nvPr/>
        </p:nvSpPr>
        <p:spPr bwMode="gray">
          <a:xfrm>
            <a:off x="5930806" y="1854404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dirty="0" smtClean="0"/>
              <a:t>GE0/0/0</a:t>
            </a:r>
          </a:p>
          <a:p>
            <a:pPr algn="r"/>
            <a:r>
              <a:rPr lang="en-US" altLang="zh-CN" sz="1400" dirty="0" smtClean="0"/>
              <a:t>10.0.23.3/24</a:t>
            </a:r>
            <a:endParaRPr lang="zh-CN" altLang="en-US" sz="1400" dirty="0"/>
          </a:p>
        </p:txBody>
      </p:sp>
      <p:sp>
        <p:nvSpPr>
          <p:cNvPr id="33" name="矩形 32"/>
          <p:cNvSpPr/>
          <p:nvPr/>
        </p:nvSpPr>
        <p:spPr bwMode="gray">
          <a:xfrm>
            <a:off x="7512993" y="1303818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GE0/0/1</a:t>
            </a:r>
          </a:p>
          <a:p>
            <a:r>
              <a:rPr lang="en-US" altLang="zh-CN" sz="1400" dirty="0" smtClean="0"/>
              <a:t>10.0.34.3/24</a:t>
            </a:r>
            <a:endParaRPr lang="zh-CN" altLang="en-US" sz="1400" dirty="0"/>
          </a:p>
        </p:txBody>
      </p:sp>
      <p:sp>
        <p:nvSpPr>
          <p:cNvPr id="34" name="矩形 33"/>
          <p:cNvSpPr/>
          <p:nvPr/>
        </p:nvSpPr>
        <p:spPr bwMode="gray">
          <a:xfrm>
            <a:off x="8211743" y="1854404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dirty="0" smtClean="0"/>
              <a:t>GE0/0/0</a:t>
            </a:r>
          </a:p>
          <a:p>
            <a:pPr algn="r"/>
            <a:r>
              <a:rPr lang="en-US" altLang="zh-CN" sz="1400" dirty="0" smtClean="0"/>
              <a:t>10.0.34.4/24</a:t>
            </a:r>
            <a:endParaRPr lang="zh-CN" altLang="en-US" sz="1400" dirty="0"/>
          </a:p>
        </p:txBody>
      </p:sp>
      <p:sp>
        <p:nvSpPr>
          <p:cNvPr id="35" name="矩形 34"/>
          <p:cNvSpPr/>
          <p:nvPr/>
        </p:nvSpPr>
        <p:spPr bwMode="gray">
          <a:xfrm>
            <a:off x="2184380" y="2477362"/>
            <a:ext cx="1085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/>
              <a:t>Loopback0</a:t>
            </a:r>
          </a:p>
          <a:p>
            <a:pPr algn="ctr"/>
            <a:r>
              <a:rPr lang="en-US" altLang="zh-CN" sz="1400" dirty="0" smtClean="0"/>
              <a:t>10.0.1.1/32</a:t>
            </a:r>
            <a:endParaRPr lang="zh-CN" altLang="en-US" sz="1400" dirty="0"/>
          </a:p>
        </p:txBody>
      </p:sp>
      <p:sp>
        <p:nvSpPr>
          <p:cNvPr id="36" name="矩形 35"/>
          <p:cNvSpPr/>
          <p:nvPr/>
        </p:nvSpPr>
        <p:spPr bwMode="gray">
          <a:xfrm>
            <a:off x="4489774" y="2477362"/>
            <a:ext cx="1085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/>
              <a:t>Loopback0</a:t>
            </a:r>
          </a:p>
          <a:p>
            <a:pPr algn="ctr"/>
            <a:r>
              <a:rPr lang="en-US" altLang="zh-CN" sz="1400" dirty="0" smtClean="0"/>
              <a:t>10.0.2.2/32</a:t>
            </a:r>
            <a:endParaRPr lang="zh-CN" altLang="en-US" sz="1400" dirty="0"/>
          </a:p>
        </p:txBody>
      </p:sp>
      <p:sp>
        <p:nvSpPr>
          <p:cNvPr id="37" name="矩形 36"/>
          <p:cNvSpPr/>
          <p:nvPr/>
        </p:nvSpPr>
        <p:spPr bwMode="gray">
          <a:xfrm>
            <a:off x="6795168" y="2477362"/>
            <a:ext cx="1085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/>
              <a:t>Loopback0</a:t>
            </a:r>
          </a:p>
          <a:p>
            <a:pPr algn="ctr"/>
            <a:r>
              <a:rPr lang="en-US" altLang="zh-CN" sz="1400" dirty="0" smtClean="0"/>
              <a:t>10.0.3.3/32</a:t>
            </a:r>
            <a:endParaRPr lang="zh-CN" altLang="en-US" sz="1400" dirty="0"/>
          </a:p>
        </p:txBody>
      </p:sp>
      <p:sp>
        <p:nvSpPr>
          <p:cNvPr id="38" name="矩形 37"/>
          <p:cNvSpPr/>
          <p:nvPr/>
        </p:nvSpPr>
        <p:spPr bwMode="gray">
          <a:xfrm>
            <a:off x="9100562" y="2477362"/>
            <a:ext cx="1085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/>
              <a:t>Loopback0</a:t>
            </a:r>
          </a:p>
          <a:p>
            <a:pPr algn="ctr"/>
            <a:r>
              <a:rPr lang="en-US" altLang="zh-CN" sz="1400" dirty="0" smtClean="0"/>
              <a:t>10.4.4.4/32</a:t>
            </a:r>
            <a:endParaRPr lang="zh-CN" altLang="en-US" sz="1400" dirty="0"/>
          </a:p>
        </p:txBody>
      </p:sp>
      <p:pic>
        <p:nvPicPr>
          <p:cNvPr id="4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782050" y="1622545"/>
            <a:ext cx="501002" cy="423740"/>
          </a:xfrm>
          <a:prstGeom prst="rect">
            <a:avLst/>
          </a:prstGeom>
          <a:noFill/>
        </p:spPr>
      </p:pic>
      <p:pic>
        <p:nvPicPr>
          <p:cNvPr id="4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452047" y="1622545"/>
            <a:ext cx="501002" cy="423740"/>
          </a:xfrm>
          <a:prstGeom prst="rect">
            <a:avLst/>
          </a:prstGeom>
          <a:noFill/>
        </p:spPr>
      </p:pic>
      <p:pic>
        <p:nvPicPr>
          <p:cNvPr id="4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057274" y="1622545"/>
            <a:ext cx="501002" cy="423740"/>
          </a:xfrm>
          <a:prstGeom prst="rect">
            <a:avLst/>
          </a:prstGeom>
          <a:noFill/>
        </p:spPr>
      </p:pic>
      <p:pic>
        <p:nvPicPr>
          <p:cNvPr id="4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386071" y="1622545"/>
            <a:ext cx="501002" cy="423740"/>
          </a:xfrm>
          <a:prstGeom prst="rect">
            <a:avLst/>
          </a:prstGeom>
          <a:noFill/>
        </p:spPr>
      </p:pic>
      <p:sp>
        <p:nvSpPr>
          <p:cNvPr id="45" name="TextBox 123"/>
          <p:cNvSpPr txBox="1"/>
          <p:nvPr/>
        </p:nvSpPr>
        <p:spPr bwMode="gray">
          <a:xfrm>
            <a:off x="367431" y="2781390"/>
            <a:ext cx="166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PC1</a:t>
            </a:r>
          </a:p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IP:192.168.1.1/24</a:t>
            </a:r>
          </a:p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GW:192.168.1.254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6" name="图片 45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931537" y="2396033"/>
            <a:ext cx="539063" cy="414000"/>
          </a:xfrm>
          <a:prstGeom prst="rect">
            <a:avLst/>
          </a:prstGeom>
        </p:spPr>
      </p:pic>
      <p:cxnSp>
        <p:nvCxnSpPr>
          <p:cNvPr id="48" name="直接连接符 47"/>
          <p:cNvCxnSpPr>
            <a:stCxn id="46" idx="3"/>
            <a:endCxn id="41" idx="1"/>
          </p:cNvCxnSpPr>
          <p:nvPr/>
        </p:nvCxnSpPr>
        <p:spPr bwMode="gray">
          <a:xfrm flipV="1">
            <a:off x="1470600" y="1834415"/>
            <a:ext cx="981447" cy="7686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64" idx="1"/>
            <a:endCxn id="43" idx="3"/>
          </p:cNvCxnSpPr>
          <p:nvPr/>
        </p:nvCxnSpPr>
        <p:spPr bwMode="gray">
          <a:xfrm flipH="1" flipV="1">
            <a:off x="9887073" y="1834415"/>
            <a:ext cx="918424" cy="7686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123"/>
          <p:cNvSpPr txBox="1"/>
          <p:nvPr/>
        </p:nvSpPr>
        <p:spPr bwMode="gray">
          <a:xfrm>
            <a:off x="10241391" y="2822953"/>
            <a:ext cx="166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PC2</a:t>
            </a:r>
          </a:p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IP:192.168.4.1/24</a:t>
            </a:r>
          </a:p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GW:192.168.4.254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4" name="图片 63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10805497" y="2396033"/>
            <a:ext cx="539063" cy="414000"/>
          </a:xfrm>
          <a:prstGeom prst="rect">
            <a:avLst/>
          </a:prstGeom>
        </p:spPr>
      </p:pic>
      <p:sp>
        <p:nvSpPr>
          <p:cNvPr id="70" name="矩形 69"/>
          <p:cNvSpPr/>
          <p:nvPr/>
        </p:nvSpPr>
        <p:spPr bwMode="gray">
          <a:xfrm rot="2337062">
            <a:off x="9770686" y="1707007"/>
            <a:ext cx="13885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GE0/0/1</a:t>
            </a:r>
          </a:p>
          <a:p>
            <a:r>
              <a:rPr lang="en-US" altLang="zh-CN" sz="1200" dirty="0" smtClean="0"/>
              <a:t>192.168.4.254/24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="" xmlns:a16="http://schemas.microsoft.com/office/drawing/2014/main" id="{7B785A75-A9ED-43DB-AC85-C8785E732ED7}"/>
              </a:ext>
            </a:extLst>
          </p:cNvPr>
          <p:cNvSpPr txBox="1"/>
          <p:nvPr/>
        </p:nvSpPr>
        <p:spPr bwMode="gray">
          <a:xfrm>
            <a:off x="2984233" y="3183814"/>
            <a:ext cx="6844332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1600" dirty="0" smtClean="0"/>
              <a:t>使能设备上基础的</a:t>
            </a:r>
            <a:r>
              <a:rPr lang="en-US" altLang="zh-CN" sz="1600" dirty="0" smtClean="0"/>
              <a:t>MPLS</a:t>
            </a:r>
            <a:r>
              <a:rPr lang="zh-CN" altLang="en-US" sz="1600" dirty="0" smtClean="0"/>
              <a:t>和</a:t>
            </a:r>
            <a:r>
              <a:rPr lang="en-US" altLang="zh-CN" sz="1600" dirty="0" smtClean="0"/>
              <a:t>LDP</a:t>
            </a:r>
            <a:r>
              <a:rPr lang="zh-CN" altLang="en-US" sz="1600" dirty="0" smtClean="0"/>
              <a:t>功能，以</a:t>
            </a:r>
            <a:r>
              <a:rPr lang="en-US" altLang="zh-CN" sz="1600" dirty="0" smtClean="0"/>
              <a:t>R1</a:t>
            </a:r>
            <a:r>
              <a:rPr lang="zh-CN" altLang="en-US" sz="1600" dirty="0" smtClean="0"/>
              <a:t>为例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en-US" altLang="zh-CN" dirty="0"/>
              <a:t>[R1]</a:t>
            </a:r>
            <a:r>
              <a:rPr lang="en-US" altLang="zh-CN" dirty="0" err="1"/>
              <a:t>mpls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[R1-mpls]quit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[R1]</a:t>
            </a:r>
            <a:r>
              <a:rPr lang="en-US" altLang="zh-CN" dirty="0" err="1"/>
              <a:t>mpls</a:t>
            </a:r>
            <a:r>
              <a:rPr lang="en-US" altLang="zh-CN" dirty="0"/>
              <a:t> </a:t>
            </a:r>
            <a:r>
              <a:rPr lang="en-US" altLang="zh-CN" dirty="0" err="1"/>
              <a:t>ldp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[R1-mpls-ldp]quit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/>
              <a:t>[</a:t>
            </a:r>
            <a:r>
              <a:rPr lang="en-US" altLang="zh-CN" dirty="0"/>
              <a:t>R1]interface </a:t>
            </a:r>
            <a:r>
              <a:rPr lang="en-US" altLang="zh-CN" dirty="0" err="1"/>
              <a:t>GigabitEthernet</a:t>
            </a:r>
            <a:r>
              <a:rPr lang="en-US" altLang="zh-CN" dirty="0"/>
              <a:t> 0/0/0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[R1-GigabitEthernet0/0/0]</a:t>
            </a:r>
            <a:r>
              <a:rPr lang="en-US" altLang="zh-CN" dirty="0" err="1"/>
              <a:t>mpls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[R1-GigabitEthernet0/0/0]</a:t>
            </a:r>
            <a:r>
              <a:rPr lang="en-US" altLang="zh-CN" dirty="0" err="1"/>
              <a:t>mpls</a:t>
            </a:r>
            <a:r>
              <a:rPr lang="en-US" altLang="zh-CN" dirty="0"/>
              <a:t> </a:t>
            </a:r>
            <a:r>
              <a:rPr lang="en-US" altLang="zh-CN" dirty="0" err="1"/>
              <a:t>ldp</a:t>
            </a:r>
            <a:r>
              <a:rPr lang="en-US" altLang="zh-CN" dirty="0"/>
              <a:t>	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/>
              <a:t>[</a:t>
            </a:r>
            <a:r>
              <a:rPr lang="en-US" altLang="zh-CN" dirty="0"/>
              <a:t>R1-GigabitEthernet0/0/0]quit</a:t>
            </a:r>
          </a:p>
        </p:txBody>
      </p:sp>
      <p:sp>
        <p:nvSpPr>
          <p:cNvPr id="47" name="矩形 46"/>
          <p:cNvSpPr/>
          <p:nvPr/>
        </p:nvSpPr>
        <p:spPr bwMode="gray">
          <a:xfrm>
            <a:off x="5225377" y="1311195"/>
            <a:ext cx="11865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GE0/0/1</a:t>
            </a:r>
          </a:p>
          <a:p>
            <a:r>
              <a:rPr lang="en-US" altLang="zh-CN" sz="1400" dirty="0" smtClean="0"/>
              <a:t>10.0.23.2/24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1615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/>
              <a:t>配置步骤</a:t>
            </a:r>
            <a:r>
              <a:rPr lang="en-US" altLang="zh-CN" smtClean="0"/>
              <a:t> (2)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 bwMode="gray">
          <a:xfrm flipV="1">
            <a:off x="2727157" y="2037820"/>
            <a:ext cx="0" cy="4181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 bwMode="gray">
          <a:xfrm flipV="1">
            <a:off x="2527652" y="2455946"/>
            <a:ext cx="3990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gray">
          <a:xfrm flipV="1">
            <a:off x="5032551" y="2037820"/>
            <a:ext cx="0" cy="4181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 bwMode="gray">
          <a:xfrm flipV="1">
            <a:off x="4833046" y="2455946"/>
            <a:ext cx="3990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gray">
          <a:xfrm flipV="1">
            <a:off x="7313488" y="2037820"/>
            <a:ext cx="0" cy="4181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 bwMode="gray">
          <a:xfrm flipV="1">
            <a:off x="7113983" y="2455946"/>
            <a:ext cx="3990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 bwMode="gray">
          <a:xfrm flipV="1">
            <a:off x="9629060" y="2037820"/>
            <a:ext cx="0" cy="4181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 bwMode="gray">
          <a:xfrm flipV="1">
            <a:off x="9429555" y="2455946"/>
            <a:ext cx="3990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 bwMode="gray">
          <a:xfrm>
            <a:off x="2784728" y="1834415"/>
            <a:ext cx="681595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 bwMode="gray">
          <a:xfrm>
            <a:off x="2520209" y="130381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smtClean="0"/>
              <a:t>R1</a:t>
            </a:r>
            <a:endParaRPr lang="zh-CN" altLang="en-US" sz="1400" b="1"/>
          </a:p>
        </p:txBody>
      </p:sp>
      <p:sp>
        <p:nvSpPr>
          <p:cNvPr id="26" name="矩形 25"/>
          <p:cNvSpPr/>
          <p:nvPr/>
        </p:nvSpPr>
        <p:spPr bwMode="gray">
          <a:xfrm>
            <a:off x="4811383" y="130381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smtClean="0"/>
              <a:t>R2</a:t>
            </a:r>
            <a:endParaRPr lang="zh-CN" altLang="en-US" sz="1400" b="1"/>
          </a:p>
        </p:txBody>
      </p:sp>
      <p:sp>
        <p:nvSpPr>
          <p:cNvPr id="24" name="矩形 23"/>
          <p:cNvSpPr/>
          <p:nvPr/>
        </p:nvSpPr>
        <p:spPr bwMode="gray">
          <a:xfrm>
            <a:off x="7102557" y="130381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smtClean="0"/>
              <a:t>R3</a:t>
            </a:r>
            <a:endParaRPr lang="zh-CN" altLang="en-US" sz="1400" b="1"/>
          </a:p>
        </p:txBody>
      </p:sp>
      <p:sp>
        <p:nvSpPr>
          <p:cNvPr id="22" name="矩形 21"/>
          <p:cNvSpPr/>
          <p:nvPr/>
        </p:nvSpPr>
        <p:spPr bwMode="gray">
          <a:xfrm>
            <a:off x="9393731" y="1303818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b="1" smtClean="0"/>
              <a:t>R4</a:t>
            </a:r>
            <a:endParaRPr lang="zh-CN" altLang="en-US" sz="1400" b="1"/>
          </a:p>
        </p:txBody>
      </p:sp>
      <p:sp>
        <p:nvSpPr>
          <p:cNvPr id="29" name="矩形 28"/>
          <p:cNvSpPr/>
          <p:nvPr/>
        </p:nvSpPr>
        <p:spPr bwMode="gray">
          <a:xfrm>
            <a:off x="2876930" y="1322644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GE0/0/0</a:t>
            </a:r>
          </a:p>
          <a:p>
            <a:r>
              <a:rPr lang="en-US" altLang="zh-CN" sz="1400" dirty="0" smtClean="0"/>
              <a:t>10.0.12.1/24</a:t>
            </a:r>
            <a:endParaRPr lang="zh-CN" altLang="en-US" sz="1400" dirty="0"/>
          </a:p>
        </p:txBody>
      </p:sp>
      <p:sp>
        <p:nvSpPr>
          <p:cNvPr id="30" name="矩形 29"/>
          <p:cNvSpPr/>
          <p:nvPr/>
        </p:nvSpPr>
        <p:spPr bwMode="gray">
          <a:xfrm>
            <a:off x="3632855" y="1854404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dirty="0" smtClean="0"/>
              <a:t>GE0/0/0</a:t>
            </a:r>
          </a:p>
          <a:p>
            <a:pPr algn="r"/>
            <a:r>
              <a:rPr lang="en-US" altLang="zh-CN" sz="1400" dirty="0" smtClean="0"/>
              <a:t>10.0.12.2/24</a:t>
            </a:r>
            <a:endParaRPr lang="zh-CN" altLang="en-US" sz="1400" dirty="0"/>
          </a:p>
        </p:txBody>
      </p:sp>
      <p:sp>
        <p:nvSpPr>
          <p:cNvPr id="32" name="矩形 31"/>
          <p:cNvSpPr/>
          <p:nvPr/>
        </p:nvSpPr>
        <p:spPr bwMode="gray">
          <a:xfrm>
            <a:off x="5930806" y="1854404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dirty="0" smtClean="0"/>
              <a:t>GE0/0/0</a:t>
            </a:r>
          </a:p>
          <a:p>
            <a:pPr algn="r"/>
            <a:r>
              <a:rPr lang="en-US" altLang="zh-CN" sz="1400" dirty="0" smtClean="0"/>
              <a:t>10.0.23.3/24</a:t>
            </a:r>
            <a:endParaRPr lang="zh-CN" altLang="en-US" sz="1400" dirty="0"/>
          </a:p>
        </p:txBody>
      </p:sp>
      <p:sp>
        <p:nvSpPr>
          <p:cNvPr id="33" name="矩形 32"/>
          <p:cNvSpPr/>
          <p:nvPr/>
        </p:nvSpPr>
        <p:spPr bwMode="gray">
          <a:xfrm>
            <a:off x="7512993" y="1303818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GE0/0/1</a:t>
            </a:r>
          </a:p>
          <a:p>
            <a:r>
              <a:rPr lang="en-US" altLang="zh-CN" sz="1400" dirty="0" smtClean="0"/>
              <a:t>10.0.34.3/24</a:t>
            </a:r>
            <a:endParaRPr lang="zh-CN" altLang="en-US" sz="1400" dirty="0"/>
          </a:p>
        </p:txBody>
      </p:sp>
      <p:sp>
        <p:nvSpPr>
          <p:cNvPr id="34" name="矩形 33"/>
          <p:cNvSpPr/>
          <p:nvPr/>
        </p:nvSpPr>
        <p:spPr bwMode="gray">
          <a:xfrm>
            <a:off x="8211743" y="1854404"/>
            <a:ext cx="1178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400" dirty="0" smtClean="0"/>
              <a:t>GE0/0/0</a:t>
            </a:r>
          </a:p>
          <a:p>
            <a:pPr algn="r"/>
            <a:r>
              <a:rPr lang="en-US" altLang="zh-CN" sz="1400" dirty="0" smtClean="0"/>
              <a:t>10.0.34.4/24</a:t>
            </a:r>
            <a:endParaRPr lang="zh-CN" altLang="en-US" sz="1400" dirty="0"/>
          </a:p>
        </p:txBody>
      </p:sp>
      <p:sp>
        <p:nvSpPr>
          <p:cNvPr id="35" name="矩形 34"/>
          <p:cNvSpPr/>
          <p:nvPr/>
        </p:nvSpPr>
        <p:spPr bwMode="gray">
          <a:xfrm>
            <a:off x="2184380" y="2477362"/>
            <a:ext cx="1085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/>
              <a:t>Loopback0</a:t>
            </a:r>
          </a:p>
          <a:p>
            <a:pPr algn="ctr"/>
            <a:r>
              <a:rPr lang="en-US" altLang="zh-CN" sz="1400" dirty="0" smtClean="0"/>
              <a:t>10.0.1.1/32</a:t>
            </a:r>
            <a:endParaRPr lang="zh-CN" altLang="en-US" sz="1400" dirty="0"/>
          </a:p>
        </p:txBody>
      </p:sp>
      <p:sp>
        <p:nvSpPr>
          <p:cNvPr id="36" name="矩形 35"/>
          <p:cNvSpPr/>
          <p:nvPr/>
        </p:nvSpPr>
        <p:spPr bwMode="gray">
          <a:xfrm>
            <a:off x="4489774" y="2477362"/>
            <a:ext cx="1085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/>
              <a:t>Loopback0</a:t>
            </a:r>
          </a:p>
          <a:p>
            <a:pPr algn="ctr"/>
            <a:r>
              <a:rPr lang="en-US" altLang="zh-CN" sz="1400" dirty="0" smtClean="0"/>
              <a:t>10.0.2.2/32</a:t>
            </a:r>
            <a:endParaRPr lang="zh-CN" altLang="en-US" sz="1400" dirty="0"/>
          </a:p>
        </p:txBody>
      </p:sp>
      <p:sp>
        <p:nvSpPr>
          <p:cNvPr id="37" name="矩形 36"/>
          <p:cNvSpPr/>
          <p:nvPr/>
        </p:nvSpPr>
        <p:spPr bwMode="gray">
          <a:xfrm>
            <a:off x="6795168" y="2477362"/>
            <a:ext cx="1085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/>
              <a:t>Loopback0</a:t>
            </a:r>
          </a:p>
          <a:p>
            <a:pPr algn="ctr"/>
            <a:r>
              <a:rPr lang="en-US" altLang="zh-CN" sz="1400" dirty="0" smtClean="0"/>
              <a:t>10.0.3.3/32</a:t>
            </a:r>
            <a:endParaRPr lang="zh-CN" altLang="en-US" sz="1400" dirty="0"/>
          </a:p>
        </p:txBody>
      </p:sp>
      <p:sp>
        <p:nvSpPr>
          <p:cNvPr id="38" name="矩形 37"/>
          <p:cNvSpPr/>
          <p:nvPr/>
        </p:nvSpPr>
        <p:spPr bwMode="gray">
          <a:xfrm>
            <a:off x="9100562" y="2477362"/>
            <a:ext cx="1085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/>
              <a:t>Loopback0</a:t>
            </a:r>
          </a:p>
          <a:p>
            <a:pPr algn="ctr"/>
            <a:r>
              <a:rPr lang="en-US" altLang="zh-CN" sz="1400" dirty="0" smtClean="0"/>
              <a:t>10.4.4.4/32</a:t>
            </a:r>
            <a:endParaRPr lang="zh-CN" altLang="en-US" sz="1400" dirty="0"/>
          </a:p>
        </p:txBody>
      </p:sp>
      <p:pic>
        <p:nvPicPr>
          <p:cNvPr id="4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782050" y="1622545"/>
            <a:ext cx="501002" cy="423740"/>
          </a:xfrm>
          <a:prstGeom prst="rect">
            <a:avLst/>
          </a:prstGeom>
          <a:noFill/>
        </p:spPr>
      </p:pic>
      <p:pic>
        <p:nvPicPr>
          <p:cNvPr id="4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452047" y="1622545"/>
            <a:ext cx="501002" cy="423740"/>
          </a:xfrm>
          <a:prstGeom prst="rect">
            <a:avLst/>
          </a:prstGeom>
          <a:noFill/>
        </p:spPr>
      </p:pic>
      <p:pic>
        <p:nvPicPr>
          <p:cNvPr id="4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057274" y="1622545"/>
            <a:ext cx="501002" cy="423740"/>
          </a:xfrm>
          <a:prstGeom prst="rect">
            <a:avLst/>
          </a:prstGeom>
          <a:noFill/>
        </p:spPr>
      </p:pic>
      <p:pic>
        <p:nvPicPr>
          <p:cNvPr id="4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386071" y="1622545"/>
            <a:ext cx="501002" cy="423740"/>
          </a:xfrm>
          <a:prstGeom prst="rect">
            <a:avLst/>
          </a:prstGeom>
          <a:noFill/>
        </p:spPr>
      </p:pic>
      <p:sp>
        <p:nvSpPr>
          <p:cNvPr id="45" name="TextBox 123"/>
          <p:cNvSpPr txBox="1"/>
          <p:nvPr/>
        </p:nvSpPr>
        <p:spPr bwMode="gray">
          <a:xfrm>
            <a:off x="367431" y="2781390"/>
            <a:ext cx="166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PC1</a:t>
            </a:r>
          </a:p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IP:192.168.1.1/24</a:t>
            </a:r>
          </a:p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GW:192.168.1.254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46" name="图片 45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931537" y="2396033"/>
            <a:ext cx="539063" cy="414000"/>
          </a:xfrm>
          <a:prstGeom prst="rect">
            <a:avLst/>
          </a:prstGeom>
        </p:spPr>
      </p:pic>
      <p:cxnSp>
        <p:nvCxnSpPr>
          <p:cNvPr id="48" name="直接连接符 47"/>
          <p:cNvCxnSpPr>
            <a:stCxn id="46" idx="3"/>
            <a:endCxn id="41" idx="1"/>
          </p:cNvCxnSpPr>
          <p:nvPr/>
        </p:nvCxnSpPr>
        <p:spPr bwMode="gray">
          <a:xfrm flipV="1">
            <a:off x="1470600" y="1834415"/>
            <a:ext cx="981447" cy="7686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64" idx="1"/>
            <a:endCxn id="43" idx="3"/>
          </p:cNvCxnSpPr>
          <p:nvPr/>
        </p:nvCxnSpPr>
        <p:spPr bwMode="gray">
          <a:xfrm flipH="1" flipV="1">
            <a:off x="9887073" y="1834415"/>
            <a:ext cx="918424" cy="7686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123"/>
          <p:cNvSpPr txBox="1"/>
          <p:nvPr/>
        </p:nvSpPr>
        <p:spPr bwMode="gray">
          <a:xfrm>
            <a:off x="10241391" y="2822953"/>
            <a:ext cx="1667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PC2</a:t>
            </a:r>
          </a:p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IP:192.168.4.1/24</a:t>
            </a:r>
          </a:p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GW:192.168.4.254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4" name="图片 63" descr="P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>
            <a:off x="10805497" y="2396033"/>
            <a:ext cx="539063" cy="4140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="" xmlns:a16="http://schemas.microsoft.com/office/drawing/2014/main" id="{7B785A75-A9ED-43DB-AC85-C8785E732ED7}"/>
              </a:ext>
            </a:extLst>
          </p:cNvPr>
          <p:cNvSpPr txBox="1"/>
          <p:nvPr/>
        </p:nvSpPr>
        <p:spPr bwMode="gray">
          <a:xfrm>
            <a:off x="2770537" y="3220310"/>
            <a:ext cx="6844332" cy="7694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1600" dirty="0" smtClean="0"/>
              <a:t>由于</a:t>
            </a:r>
            <a:r>
              <a:rPr lang="en-US" altLang="zh-CN" sz="1600" dirty="0" smtClean="0"/>
              <a:t>192.168.1.0/24</a:t>
            </a:r>
            <a:r>
              <a:rPr lang="zh-CN" altLang="en-US" sz="1600" dirty="0" smtClean="0"/>
              <a:t>不是</a:t>
            </a:r>
            <a:r>
              <a:rPr lang="en-US" altLang="zh-CN" sz="1600" dirty="0" smtClean="0"/>
              <a:t>32</a:t>
            </a:r>
            <a:r>
              <a:rPr lang="zh-CN" altLang="en-US" sz="1600" dirty="0" smtClean="0"/>
              <a:t>位掩码的路由，所以要额外配置触发</a:t>
            </a:r>
            <a:r>
              <a:rPr lang="en-US" altLang="zh-CN" sz="1600" dirty="0" smtClean="0"/>
              <a:t>LSP</a:t>
            </a:r>
            <a:r>
              <a:rPr lang="zh-CN" altLang="en-US" sz="1600" dirty="0" smtClean="0"/>
              <a:t>建立</a:t>
            </a:r>
            <a:r>
              <a:rPr lang="zh-CN" altLang="en-US" sz="1600" dirty="0"/>
              <a:t>。</a:t>
            </a:r>
            <a:r>
              <a:rPr lang="zh-CN" altLang="en-US" sz="1600" dirty="0" smtClean="0"/>
              <a:t> </a:t>
            </a:r>
            <a:r>
              <a:rPr lang="pt-BR" altLang="zh-CN" dirty="0" smtClean="0"/>
              <a:t>[</a:t>
            </a:r>
            <a:r>
              <a:rPr lang="pt-BR" altLang="zh-CN" dirty="0"/>
              <a:t>R1]ip ip-prefix ldp permit 192.168.1.0 24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 smtClean="0"/>
              <a:t>[</a:t>
            </a:r>
            <a:r>
              <a:rPr lang="en-US" altLang="zh-CN" dirty="0"/>
              <a:t>R1-mpls]</a:t>
            </a:r>
            <a:r>
              <a:rPr lang="en-US" altLang="zh-CN" dirty="0" err="1"/>
              <a:t>lsp</a:t>
            </a:r>
            <a:r>
              <a:rPr lang="en-US" altLang="zh-CN" dirty="0"/>
              <a:t>-trigger </a:t>
            </a:r>
            <a:r>
              <a:rPr lang="en-US" altLang="zh-CN" dirty="0" err="1"/>
              <a:t>ip</a:t>
            </a:r>
            <a:r>
              <a:rPr lang="en-US" altLang="zh-CN" dirty="0"/>
              <a:t>-prefix </a:t>
            </a:r>
            <a:r>
              <a:rPr lang="en-US" altLang="zh-CN" dirty="0" err="1"/>
              <a:t>ldp</a:t>
            </a:r>
            <a:r>
              <a:rPr lang="en-US" altLang="zh-CN" dirty="0"/>
              <a:t> </a:t>
            </a:r>
          </a:p>
        </p:txBody>
      </p:sp>
      <p:sp>
        <p:nvSpPr>
          <p:cNvPr id="44" name="矩形 43"/>
          <p:cNvSpPr/>
          <p:nvPr/>
        </p:nvSpPr>
        <p:spPr bwMode="gray">
          <a:xfrm>
            <a:off x="5225377" y="1311195"/>
            <a:ext cx="11865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/>
              <a:t>GE0/0/1</a:t>
            </a:r>
          </a:p>
          <a:p>
            <a:r>
              <a:rPr lang="en-US" altLang="zh-CN" sz="1400" dirty="0" smtClean="0"/>
              <a:t>10.0.23.2/24</a:t>
            </a:r>
            <a:endParaRPr lang="zh-CN" altLang="en-US" sz="1400" dirty="0"/>
          </a:p>
        </p:txBody>
      </p:sp>
      <p:sp>
        <p:nvSpPr>
          <p:cNvPr id="47" name="文本框 46">
            <a:extLst>
              <a:ext uri="{FF2B5EF4-FFF2-40B4-BE49-F238E27FC236}">
                <a16:creationId xmlns="" xmlns:a16="http://schemas.microsoft.com/office/drawing/2014/main" id="{7B785A75-A9ED-43DB-AC85-C8785E732ED7}"/>
              </a:ext>
            </a:extLst>
          </p:cNvPr>
          <p:cNvSpPr txBox="1"/>
          <p:nvPr/>
        </p:nvSpPr>
        <p:spPr bwMode="gray">
          <a:xfrm>
            <a:off x="2727157" y="4472305"/>
            <a:ext cx="6844332" cy="7694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1600" dirty="0" smtClean="0"/>
              <a:t>同理，</a:t>
            </a:r>
            <a:r>
              <a:rPr lang="en-US" altLang="zh-CN" sz="1600" dirty="0" smtClean="0"/>
              <a:t>R4</a:t>
            </a:r>
            <a:r>
              <a:rPr lang="zh-CN" altLang="en-US" sz="1600" dirty="0" smtClean="0"/>
              <a:t>也需要进行相应的配置。</a:t>
            </a:r>
            <a:endParaRPr lang="en-US" altLang="zh-CN" sz="1600" dirty="0" smtClean="0"/>
          </a:p>
          <a:p>
            <a:pPr>
              <a:lnSpc>
                <a:spcPct val="100000"/>
              </a:lnSpc>
            </a:pPr>
            <a:r>
              <a:rPr lang="pt-BR" altLang="zh-CN" dirty="0" smtClean="0"/>
              <a:t>[R4]ip </a:t>
            </a:r>
            <a:r>
              <a:rPr lang="pt-BR" altLang="zh-CN" dirty="0"/>
              <a:t>ip-prefix ldp permit </a:t>
            </a:r>
            <a:r>
              <a:rPr lang="pt-BR" altLang="zh-CN" dirty="0" smtClean="0"/>
              <a:t>192.168.4.0 </a:t>
            </a:r>
            <a:r>
              <a:rPr lang="pt-BR" altLang="zh-CN" dirty="0"/>
              <a:t>24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 smtClean="0"/>
              <a:t>[R4-mpls]</a:t>
            </a:r>
            <a:r>
              <a:rPr lang="en-US" altLang="zh-CN" dirty="0" err="1" smtClean="0"/>
              <a:t>lsp</a:t>
            </a:r>
            <a:r>
              <a:rPr lang="en-US" altLang="zh-CN" dirty="0" smtClean="0"/>
              <a:t>-trigger </a:t>
            </a:r>
            <a:r>
              <a:rPr lang="en-US" altLang="zh-CN" dirty="0" err="1"/>
              <a:t>ip</a:t>
            </a:r>
            <a:r>
              <a:rPr lang="en-US" altLang="zh-CN" dirty="0"/>
              <a:t>-prefix </a:t>
            </a:r>
            <a:r>
              <a:rPr lang="en-US" altLang="zh-CN" dirty="0" err="1"/>
              <a:t>ldp</a:t>
            </a:r>
            <a:r>
              <a:rPr lang="en-US" altLang="zh-CN" dirty="0"/>
              <a:t> </a:t>
            </a:r>
          </a:p>
        </p:txBody>
      </p:sp>
      <p:sp>
        <p:nvSpPr>
          <p:cNvPr id="49" name="矩形 48"/>
          <p:cNvSpPr/>
          <p:nvPr/>
        </p:nvSpPr>
        <p:spPr bwMode="gray">
          <a:xfrm rot="19349768">
            <a:off x="1192872" y="1766115"/>
            <a:ext cx="13885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200" dirty="0" smtClean="0"/>
              <a:t>GE0/0/1</a:t>
            </a:r>
          </a:p>
          <a:p>
            <a:pPr algn="r"/>
            <a:r>
              <a:rPr lang="en-US" altLang="zh-CN" sz="1200" dirty="0" smtClean="0"/>
              <a:t>192.168.1.254/24</a:t>
            </a:r>
            <a:endParaRPr lang="zh-CN" altLang="en-US" sz="1200" dirty="0"/>
          </a:p>
        </p:txBody>
      </p:sp>
      <p:sp>
        <p:nvSpPr>
          <p:cNvPr id="50" name="矩形 49"/>
          <p:cNvSpPr/>
          <p:nvPr/>
        </p:nvSpPr>
        <p:spPr bwMode="gray">
          <a:xfrm rot="2337062">
            <a:off x="9770686" y="1707007"/>
            <a:ext cx="13885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/>
              <a:t>GE0/0/1</a:t>
            </a:r>
          </a:p>
          <a:p>
            <a:r>
              <a:rPr lang="en-US" altLang="zh-CN" sz="1200" dirty="0" smtClean="0"/>
              <a:t>192.168.4.254/24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8194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/>
              <a:t>检查配置：查看</a:t>
            </a:r>
            <a:r>
              <a:rPr lang="en-US" altLang="zh-CN" dirty="0" smtClean="0"/>
              <a:t>LSP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="" xmlns:a16="http://schemas.microsoft.com/office/drawing/2014/main" id="{4A16A2A1-76A1-4D19-8A39-B3D24C893784}"/>
              </a:ext>
            </a:extLst>
          </p:cNvPr>
          <p:cNvSpPr txBox="1"/>
          <p:nvPr/>
        </p:nvSpPr>
        <p:spPr bwMode="gray">
          <a:xfrm>
            <a:off x="710243" y="1421269"/>
            <a:ext cx="10137865" cy="24622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dirty="0"/>
              <a:t>#</a:t>
            </a:r>
            <a:r>
              <a:rPr lang="zh-CN" altLang="en-US" dirty="0" smtClean="0"/>
              <a:t>查看</a:t>
            </a:r>
            <a:r>
              <a:rPr lang="en-US" altLang="zh-CN" dirty="0" smtClean="0"/>
              <a:t>R1</a:t>
            </a:r>
            <a:r>
              <a:rPr lang="zh-CN" altLang="en-US" dirty="0" smtClean="0"/>
              <a:t>使用</a:t>
            </a:r>
            <a:r>
              <a:rPr lang="en-US" altLang="zh-CN" dirty="0"/>
              <a:t>LDP</a:t>
            </a:r>
            <a:r>
              <a:rPr lang="zh-CN" altLang="en-US" dirty="0"/>
              <a:t>创建的</a:t>
            </a:r>
            <a:r>
              <a:rPr lang="en-US" altLang="zh-CN" dirty="0"/>
              <a:t>LSP</a:t>
            </a:r>
            <a:r>
              <a:rPr lang="zh-CN" altLang="en-US" dirty="0"/>
              <a:t>相关</a:t>
            </a:r>
            <a:r>
              <a:rPr lang="zh-CN" altLang="en-US" dirty="0" smtClean="0"/>
              <a:t>信息。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en-US" altLang="zh-CN" dirty="0" smtClean="0"/>
              <a:t>[R1]display </a:t>
            </a:r>
            <a:r>
              <a:rPr lang="en-US" altLang="zh-CN" dirty="0" err="1"/>
              <a:t>mpls</a:t>
            </a:r>
            <a:r>
              <a:rPr lang="en-US" altLang="zh-CN" dirty="0"/>
              <a:t> </a:t>
            </a:r>
            <a:r>
              <a:rPr lang="en-US" altLang="zh-CN" dirty="0" err="1"/>
              <a:t>ldp</a:t>
            </a:r>
            <a:r>
              <a:rPr lang="en-US" altLang="zh-CN" dirty="0"/>
              <a:t> </a:t>
            </a:r>
            <a:r>
              <a:rPr lang="en-US" altLang="zh-CN" dirty="0" err="1"/>
              <a:t>lsp</a:t>
            </a:r>
            <a:r>
              <a:rPr lang="en-US" altLang="zh-CN" dirty="0"/>
              <a:t> 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</a:t>
            </a:r>
            <a:r>
              <a:rPr lang="en-US" altLang="zh-CN" dirty="0" smtClean="0"/>
              <a:t> </a:t>
            </a:r>
            <a:r>
              <a:rPr lang="en-US" altLang="zh-CN" dirty="0"/>
              <a:t>LDP LSP Information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</a:t>
            </a:r>
            <a:r>
              <a:rPr lang="en-US" altLang="zh-CN" dirty="0" smtClean="0"/>
              <a:t>-------------------------------------------------------------------------------</a:t>
            </a:r>
            <a:r>
              <a:rPr lang="en-US" altLang="zh-CN" dirty="0"/>
              <a:t>------------------------------------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</a:t>
            </a:r>
            <a:r>
              <a:rPr lang="en-US" altLang="zh-CN" dirty="0" err="1" smtClean="0"/>
              <a:t>DestAddress</a:t>
            </a:r>
            <a:r>
              <a:rPr lang="en-US" altLang="zh-CN" dirty="0" smtClean="0"/>
              <a:t>/Mask	In/</a:t>
            </a:r>
            <a:r>
              <a:rPr lang="en-US" altLang="zh-CN" dirty="0" err="1" smtClean="0"/>
              <a:t>OutLabel</a:t>
            </a:r>
            <a:r>
              <a:rPr lang="en-US" altLang="zh-CN" dirty="0" smtClean="0"/>
              <a:t>    	</a:t>
            </a:r>
            <a:r>
              <a:rPr lang="en-US" altLang="zh-CN" dirty="0" err="1" smtClean="0"/>
              <a:t>UpstreamPeer</a:t>
            </a:r>
            <a:r>
              <a:rPr lang="en-US" altLang="zh-CN" dirty="0" smtClean="0"/>
              <a:t>    	</a:t>
            </a:r>
            <a:r>
              <a:rPr lang="en-US" altLang="zh-CN" dirty="0" err="1" smtClean="0"/>
              <a:t>NextHop</a:t>
            </a:r>
            <a:r>
              <a:rPr lang="en-US" altLang="zh-CN" dirty="0" smtClean="0"/>
              <a:t>         	</a:t>
            </a:r>
            <a:r>
              <a:rPr lang="en-US" altLang="zh-CN" dirty="0" err="1" smtClean="0"/>
              <a:t>OutInterface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 </a:t>
            </a:r>
            <a:r>
              <a:rPr lang="en-US" altLang="zh-CN" dirty="0" smtClean="0"/>
              <a:t>-------------------------------------------------------------------------------</a:t>
            </a:r>
            <a:r>
              <a:rPr lang="en-US" altLang="zh-CN" dirty="0"/>
              <a:t>------------------------------------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/>
              <a:t> </a:t>
            </a:r>
            <a:r>
              <a:rPr lang="en-US" altLang="zh-CN" dirty="0"/>
              <a:t>10.0.2.2/32       </a:t>
            </a:r>
            <a:r>
              <a:rPr lang="en-US" altLang="zh-CN" dirty="0" smtClean="0"/>
              <a:t>	1024/3            	10.0.2.2        	10.0.12.2       	GE0/0/0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 10.0.3.3/32        	</a:t>
            </a:r>
            <a:r>
              <a:rPr lang="en-US" altLang="zh-CN" dirty="0" smtClean="0"/>
              <a:t>1025/1025       	10.0.2.2        	10.0.12.2       	GE0/0/0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 192.168.1.0/24     	</a:t>
            </a:r>
            <a:r>
              <a:rPr lang="en-US" altLang="zh-CN" dirty="0" smtClean="0"/>
              <a:t>3/NULL		10.0.2.2        	192.168.1.254   	GE0/0/1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*</a:t>
            </a:r>
            <a:r>
              <a:rPr lang="en-US" altLang="zh-CN" dirty="0"/>
              <a:t>192.168.1.0/24     </a:t>
            </a:r>
            <a:r>
              <a:rPr lang="en-US" altLang="zh-CN" dirty="0" smtClean="0"/>
              <a:t>	Liberal/1027                   		DS/10.0.2.2 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/>
              <a:t> 192.168.4.0/24     	1027/1028      	10.0.2.2         	10.0.12.2       	GE0/0/0</a:t>
            </a:r>
          </a:p>
        </p:txBody>
      </p:sp>
    </p:spTree>
    <p:extLst>
      <p:ext uri="{BB962C8B-B14F-4D97-AF65-F5344CB8AC3E}">
        <p14:creationId xmlns:p14="http://schemas.microsoft.com/office/powerpoint/2010/main" val="396885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fontAlgn="base"/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单选题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r>
              <a:rPr lang="zh-CN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以下</a:t>
            </a:r>
            <a:r>
              <a:rPr lang="zh-CN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哪条命令用于查看已经为特定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zh-CN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分配的标签</a:t>
            </a:r>
            <a:r>
              <a:rPr lang="zh-CN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？</a:t>
            </a:r>
            <a:r>
              <a:rPr lang="en-US" altLang="zh-CN" sz="1600" dirty="0" smtClean="0">
                <a:sym typeface="Huawei Sans" panose="020C0503030203020204" pitchFamily="34" charset="0"/>
              </a:rPr>
              <a:t>(     )</a:t>
            </a:r>
            <a:endParaRPr lang="zh-CN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 fontAlgn="base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display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 fontAlgn="base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display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interface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 fontAlgn="base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display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endParaRPr lang="zh-CN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 fontAlgn="base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display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session</a:t>
            </a:r>
          </a:p>
          <a:p>
            <a:pPr fontAlgn="base"/>
            <a:r>
              <a:rPr lang="en-US" altLang="zh-CN" sz="1600" dirty="0">
                <a:sym typeface="Huawei Sans" panose="020C0503030203020204" pitchFamily="34" charset="0"/>
              </a:rPr>
              <a:t>(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单选题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华为设备默认的标签发布方式、标签分配控制方式和标签保持方式的组合是哪一选项？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     )</a:t>
            </a:r>
            <a:endParaRPr lang="zh-CN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 algn="l" fontAlgn="base"/>
            <a:r>
              <a:rPr lang="en-US" altLang="zh-CN" sz="1400" dirty="0" smtClean="0">
                <a:sym typeface="Huawei Sans" panose="020C0503030203020204" pitchFamily="34" charset="0"/>
              </a:rPr>
              <a:t>DU + Independent + </a:t>
            </a:r>
            <a:r>
              <a:rPr lang="en-US" altLang="zh-CN" sz="1400" dirty="0" smtClean="0"/>
              <a:t>Conservative</a:t>
            </a:r>
          </a:p>
          <a:p>
            <a:pPr lvl="1" fontAlgn="base"/>
            <a:r>
              <a:rPr lang="en-US" altLang="zh-CN" sz="1400" dirty="0" smtClean="0">
                <a:sym typeface="Huawei Sans" panose="020C0503030203020204" pitchFamily="34" charset="0"/>
              </a:rPr>
              <a:t>DU + Ordered+ </a:t>
            </a:r>
            <a:r>
              <a:rPr lang="en-US" altLang="zh-CN" sz="1400" dirty="0" smtClean="0"/>
              <a:t>Liberal</a:t>
            </a:r>
            <a:endParaRPr lang="en-US" altLang="zh-CN" sz="1400" dirty="0"/>
          </a:p>
          <a:p>
            <a:pPr lvl="1" fontAlgn="base"/>
            <a:r>
              <a:rPr lang="en-US" altLang="zh-CN" sz="1400" dirty="0" smtClean="0">
                <a:sym typeface="Huawei Sans" panose="020C0503030203020204" pitchFamily="34" charset="0"/>
              </a:rPr>
              <a:t>DoD + Independent+ Liberal</a:t>
            </a:r>
            <a:endParaRPr lang="zh-CN" altLang="zh-CN" sz="1400" dirty="0">
              <a:sym typeface="Huawei Sans" panose="020C0503030203020204" pitchFamily="34" charset="0"/>
            </a:endParaRPr>
          </a:p>
          <a:p>
            <a:pPr lvl="1" algn="l" fontAlgn="base"/>
            <a:r>
              <a:rPr lang="en-US" altLang="zh-CN" sz="1400" dirty="0" smtClean="0">
                <a:sym typeface="Huawei Sans" panose="020C0503030203020204" pitchFamily="34" charset="0"/>
              </a:rPr>
              <a:t>DoD + Ordered + </a:t>
            </a:r>
            <a:r>
              <a:rPr lang="en-US" altLang="zh-CN" sz="1400" dirty="0" smtClean="0"/>
              <a:t>Conservative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24367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 bwMode="gray"/>
        <p:txBody>
          <a:bodyPr/>
          <a:lstStyle/>
          <a:p>
            <a:r>
              <a:rPr lang="en-US" altLang="zh-CN" sz="1800" smtClean="0">
                <a:sym typeface="Huawei Sans" panose="020C0503030203020204" pitchFamily="34" charset="0"/>
              </a:rPr>
              <a:t>MPLS</a:t>
            </a:r>
            <a:r>
              <a:rPr lang="zh-CN" altLang="en-US" sz="1800" smtClean="0">
                <a:sym typeface="Huawei Sans" panose="020C0503030203020204" pitchFamily="34" charset="0"/>
              </a:rPr>
              <a:t>体系有多种标签分配协议，</a:t>
            </a:r>
            <a:r>
              <a:rPr lang="en-US" altLang="zh-CN" sz="1800" smtClean="0">
                <a:sym typeface="Huawei Sans" panose="020C0503030203020204" pitchFamily="34" charset="0"/>
              </a:rPr>
              <a:t>LDP</a:t>
            </a:r>
            <a:r>
              <a:rPr lang="zh-CN" altLang="en-US" sz="1800" smtClean="0">
                <a:sym typeface="Huawei Sans" panose="020C0503030203020204" pitchFamily="34" charset="0"/>
              </a:rPr>
              <a:t>标签分配协议是这些协议中使用较广的一种。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r>
              <a:rPr lang="en-US" altLang="zh-CN" sz="1800" smtClean="0">
                <a:sym typeface="Huawei Sans" panose="020C0503030203020204" pitchFamily="34" charset="0"/>
              </a:rPr>
              <a:t>LDP</a:t>
            </a:r>
            <a:r>
              <a:rPr lang="zh-CN" altLang="en-US" sz="1800" smtClean="0">
                <a:sym typeface="Huawei Sans" panose="020C0503030203020204" pitchFamily="34" charset="0"/>
              </a:rPr>
              <a:t>是</a:t>
            </a:r>
            <a:r>
              <a:rPr lang="en-US" altLang="zh-CN" sz="1800" smtClean="0">
                <a:sym typeface="Huawei Sans" panose="020C0503030203020204" pitchFamily="34" charset="0"/>
              </a:rPr>
              <a:t>LSR</a:t>
            </a:r>
            <a:r>
              <a:rPr lang="zh-CN" altLang="en-US" sz="1800" smtClean="0">
                <a:sym typeface="Huawei Sans" panose="020C0503030203020204" pitchFamily="34" charset="0"/>
              </a:rPr>
              <a:t>之间协商标签含义的过程。</a:t>
            </a:r>
            <a:r>
              <a:rPr lang="en-US" altLang="zh-CN" sz="1800" smtClean="0">
                <a:sym typeface="Huawei Sans" panose="020C0503030203020204" pitchFamily="34" charset="0"/>
              </a:rPr>
              <a:t>LDP</a:t>
            </a:r>
            <a:r>
              <a:rPr lang="zh-CN" altLang="en-US" sz="1800" smtClean="0">
                <a:sym typeface="Huawei Sans" panose="020C0503030203020204" pitchFamily="34" charset="0"/>
              </a:rPr>
              <a:t>协议使用发现、会话、通告、通知四类报文进行会话的建立和标签的分发。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r>
              <a:rPr lang="en-US" altLang="zh-CN" sz="1800" smtClean="0">
                <a:sym typeface="Huawei Sans" panose="020C0503030203020204" pitchFamily="34" charset="0"/>
              </a:rPr>
              <a:t>LDP</a:t>
            </a:r>
            <a:r>
              <a:rPr lang="zh-CN" altLang="en-US" sz="1800" smtClean="0">
                <a:sym typeface="Huawei Sans" panose="020C0503030203020204" pitchFamily="34" charset="0"/>
              </a:rPr>
              <a:t>通过标签发布方式、标签分配控制方式和标签保持方式来决定</a:t>
            </a:r>
            <a:r>
              <a:rPr lang="zh-CN" altLang="en-US" sz="1800" smtClean="0"/>
              <a:t>标签的发布和管理。华为数通产品默认的方式为：下游自主标签发布方式</a:t>
            </a:r>
            <a:r>
              <a:rPr lang="en-US" altLang="zh-CN" sz="1800" smtClean="0"/>
              <a:t>+</a:t>
            </a:r>
            <a:r>
              <a:rPr lang="zh-CN" altLang="en-US" sz="1800" smtClean="0"/>
              <a:t>有序标签分配控制方式</a:t>
            </a:r>
            <a:r>
              <a:rPr lang="en-US" altLang="zh-CN" sz="1800" smtClean="0"/>
              <a:t>+</a:t>
            </a:r>
            <a:r>
              <a:rPr lang="zh-CN" altLang="en-US" sz="1800" smtClean="0"/>
              <a:t>自由标签保持方式。</a:t>
            </a:r>
            <a:endParaRPr lang="zh-CN" altLang="en-US" sz="1800" smtClean="0">
              <a:sym typeface="Huawei Sans" panose="020C0503030203020204" pitchFamily="34" charset="0"/>
            </a:endParaRPr>
          </a:p>
          <a:p>
            <a:r>
              <a:rPr lang="zh-CN" altLang="zh-CN" sz="1800" smtClean="0"/>
              <a:t>利用</a:t>
            </a:r>
            <a:r>
              <a:rPr lang="en-US" altLang="zh-CN" sz="1800" smtClean="0"/>
              <a:t>LDP</a:t>
            </a:r>
            <a:r>
              <a:rPr lang="zh-CN" altLang="zh-CN" sz="1800" smtClean="0"/>
              <a:t>可以实现将网络层的路由信息直接映射到</a:t>
            </a:r>
            <a:r>
              <a:rPr lang="zh-CN" altLang="en-US" sz="1800" smtClean="0"/>
              <a:t>标签信息</a:t>
            </a:r>
            <a:r>
              <a:rPr lang="zh-CN" altLang="zh-CN" sz="1800" smtClean="0"/>
              <a:t>，进而建立起标签交换路径（</a:t>
            </a:r>
            <a:r>
              <a:rPr lang="en-US" altLang="zh-CN" sz="1800" smtClean="0"/>
              <a:t>LSP</a:t>
            </a:r>
            <a:r>
              <a:rPr lang="zh-CN" altLang="zh-CN" sz="1800" smtClean="0"/>
              <a:t>）。</a:t>
            </a:r>
            <a:r>
              <a:rPr lang="en-US" altLang="zh-CN" sz="1800" smtClean="0"/>
              <a:t>LSR</a:t>
            </a:r>
            <a:r>
              <a:rPr lang="zh-CN" altLang="zh-CN" sz="1800" smtClean="0"/>
              <a:t>之间将依据本地转发表中对应于一个特定</a:t>
            </a:r>
            <a:r>
              <a:rPr lang="en-US" altLang="zh-CN" sz="1800" smtClean="0"/>
              <a:t>FEC</a:t>
            </a:r>
            <a:r>
              <a:rPr lang="zh-CN" altLang="zh-CN" sz="1800" smtClean="0"/>
              <a:t>的入标签、下一跳节点、出标签等信息连接在一起，从而形成跨越整个</a:t>
            </a:r>
            <a:r>
              <a:rPr lang="en-US" altLang="zh-CN" sz="1800" smtClean="0"/>
              <a:t>MPLS</a:t>
            </a:r>
            <a:r>
              <a:rPr lang="zh-CN" altLang="zh-CN" sz="1800" smtClean="0"/>
              <a:t>域的标签交换路径。</a:t>
            </a: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96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11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功能页模板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700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5B4B712841F4C8A7AAEE2CD191271" ma:contentTypeVersion="1" ma:contentTypeDescription="Create a new document." ma:contentTypeScope="" ma:versionID="fd4f534fc22f1d982cc2e0e62ad2af45">
  <xsd:schema xmlns:xsd="http://www.w3.org/2001/XMLSchema" xmlns:xs="http://www.w3.org/2001/XMLSchema" xmlns:p="http://schemas.microsoft.com/office/2006/metadata/properties" xmlns:ns2="475f1e55-3009-46d8-9566-5d569a2b3a98" targetNamespace="http://schemas.microsoft.com/office/2006/metadata/properties" ma:root="true" ma:fieldsID="1d095aabec1d15598815726bd4b054a7" ns2:_="">
    <xsd:import namespace="475f1e55-3009-46d8-9566-5d569a2b3a98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f1e55-3009-46d8-9566-5d569a2b3a9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5960F2-6186-408B-A0DC-5CA5E58B604F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475f1e55-3009-46d8-9566-5d569a2b3a98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DD7DAD4-261B-4370-AF16-D6997AC45AA7}"/>
</file>

<file path=customXml/itemProps3.xml><?xml version="1.0" encoding="utf-8"?>
<ds:datastoreItem xmlns:ds="http://schemas.openxmlformats.org/officeDocument/2006/customXml" ds:itemID="{FEDE263F-0510-4442-823E-69B63ECB61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1545</TotalTime>
  <Words>6976</Words>
  <Application>Microsoft Office PowerPoint</Application>
  <PresentationFormat>宽屏</PresentationFormat>
  <Paragraphs>1061</Paragraphs>
  <Slides>48</Slides>
  <Notes>48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48</vt:i4>
      </vt:variant>
    </vt:vector>
  </HeadingPairs>
  <TitlesOfParts>
    <vt:vector size="59" baseType="lpstr">
      <vt:lpstr>方正兰亭黑简体</vt:lpstr>
      <vt:lpstr>Microsoft YaHei</vt:lpstr>
      <vt:lpstr>Microsoft YaHei</vt:lpstr>
      <vt:lpstr>Arial</vt:lpstr>
      <vt:lpstr>Courier New</vt:lpstr>
      <vt:lpstr>Huawei Sans</vt:lpstr>
      <vt:lpstr>Wingdings</vt:lpstr>
      <vt:lpstr>2_标题页模板</vt:lpstr>
      <vt:lpstr>3_功能页模板</vt:lpstr>
      <vt:lpstr>4_内容页模板</vt:lpstr>
      <vt:lpstr>5_感谢页模板</vt:lpstr>
      <vt:lpstr>PowerPoint 演示文稿</vt:lpstr>
      <vt:lpstr>MPLS LDP原理与配置</vt:lpstr>
      <vt:lpstr>PowerPoint 演示文稿</vt:lpstr>
      <vt:lpstr>PowerPoint 演示文稿</vt:lpstr>
      <vt:lpstr>PowerPoint 演示文稿</vt:lpstr>
      <vt:lpstr>LDP协议概述</vt:lpstr>
      <vt:lpstr>LDP会话、LDP邻接体、LDP对等体</vt:lpstr>
      <vt:lpstr>LSR ID与LDP ID</vt:lpstr>
      <vt:lpstr>LDP消息</vt:lpstr>
      <vt:lpstr>LDP报文封装</vt:lpstr>
      <vt:lpstr>PowerPoint 演示文稿</vt:lpstr>
      <vt:lpstr>LDP会话状态机</vt:lpstr>
      <vt:lpstr>LDP会话建立：发现阶段与TCP连接建立</vt:lpstr>
      <vt:lpstr>LDP会话建立：会话建立与保持</vt:lpstr>
      <vt:lpstr>LDP邻居状态</vt:lpstr>
      <vt:lpstr>LDP会话状态</vt:lpstr>
      <vt:lpstr>PowerPoint 演示文稿</vt:lpstr>
      <vt:lpstr>标签的发布和管理</vt:lpstr>
      <vt:lpstr>上游与下游</vt:lpstr>
      <vt:lpstr>标签发布方式：DU模式 </vt:lpstr>
      <vt:lpstr>标签发布方式：DoD模式 </vt:lpstr>
      <vt:lpstr>标签分配控制方式：独立模式</vt:lpstr>
      <vt:lpstr>标签分配控制方式：有序模式</vt:lpstr>
      <vt:lpstr>标签保留：自由模式</vt:lpstr>
      <vt:lpstr>标签保留：保守模式</vt:lpstr>
      <vt:lpstr>PHP特性</vt:lpstr>
      <vt:lpstr>隐式空标签与显式空标签 (1)</vt:lpstr>
      <vt:lpstr>隐式空标签与显式空标签 (2)</vt:lpstr>
      <vt:lpstr>PowerPoint 演示文稿</vt:lpstr>
      <vt:lpstr>组网介绍</vt:lpstr>
      <vt:lpstr>标签分发：Egress LSR</vt:lpstr>
      <vt:lpstr>标签分发：Transit LSR</vt:lpstr>
      <vt:lpstr>标签分发：Ingress LSR</vt:lpstr>
      <vt:lpstr>标签转发：Ingress LSR</vt:lpstr>
      <vt:lpstr>标签转发：Transit LSR</vt:lpstr>
      <vt:lpstr>标签转发：Egress LSR</vt:lpstr>
      <vt:lpstr>在MPLS中，运行LDP协议的LSR的操作小结</vt:lpstr>
      <vt:lpstr>PowerPoint 演示文稿</vt:lpstr>
      <vt:lpstr>LDP基本配置命令 (1)</vt:lpstr>
      <vt:lpstr>LDP基本配置命令 (2)</vt:lpstr>
      <vt:lpstr>LDP基本配置命令 (3)</vt:lpstr>
      <vt:lpstr>配置案例</vt:lpstr>
      <vt:lpstr>配置步骤 (1)</vt:lpstr>
      <vt:lpstr>配置步骤 (2)</vt:lpstr>
      <vt:lpstr>检查配置：查看LSP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hejunjianzjhw</cp:lastModifiedBy>
  <cp:revision>260</cp:revision>
  <cp:lastPrinted>2020-07-31T09:33:18Z</cp:lastPrinted>
  <dcterms:created xsi:type="dcterms:W3CDTF">2018-11-29T10:16:29Z</dcterms:created>
  <dcterms:modified xsi:type="dcterms:W3CDTF">2021-10-21T01:56:53Z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(3)/jUgwRhMv9Y01t8+lUFrl7GQy1mpxh4z0VFNa8BFykKicWu8tL0cpelKQrFZwWamI/2lHM0P
fgZmOxZ9Ip5+R6BUGdosWQRinrtPr+qKwDk1flrR87Bh4+Q5H0c2h6SHY1Q4whqf5RnMq13C
1rAIIxHJJ86cjLKbLC/yaIe4rWmR6qivWfvuvabpAhFPfqfK6df+fyFjOYGSaUpooRqQw4D4
Ru4mSZyLeusNuI4INn</vt:lpwstr>
  </property>
  <property fmtid="{D5CDD505-2E9C-101B-9397-08002B2CF9AE}" pid="3" name="_2015_ms_pID_7253431">
    <vt:lpwstr>YSxg+hlBJc3C0lfg/Ba40VlQgRWUqaqOfTDZlTKIidXIN8g4ZAIWwL
/3sp4a6uFA43KV5WZFVBSW9gw1z5BQl/i7emeeUkwHjlo/3USfHM40cnVsL1dtSTOLI0JBDN
bBP+3IzVqks/AL2XGBzAkndgunT5mdmaXnl7rJKyXuaiPjoCnsaSWh3FPV4VO737sNNBgtuV
R2U3y7p4EBXVMj/wqOpHcYdL6gjkHK8tEccR</vt:lpwstr>
  </property>
  <property fmtid="{D5CDD505-2E9C-101B-9397-08002B2CF9AE}" pid="4" name="_2015_ms_pID_7253432">
    <vt:lpwstr>+A==</vt:lpwstr>
  </property>
  <property fmtid="{D5CDD505-2E9C-101B-9397-08002B2CF9AE}" pid="5" name="ContentTypeId">
    <vt:lpwstr>0x01010002C5B4B712841F4C8A7AAEE2CD191271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1634777000</vt:lpwstr>
  </property>
</Properties>
</file>