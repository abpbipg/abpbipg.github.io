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97"/>
  </p:notesMasterIdLst>
  <p:handoutMasterIdLst>
    <p:handoutMasterId r:id="rId98"/>
  </p:handout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4"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9" clrIdx="0">
    <p:extLst>
      <p:ext uri="{19B8F6BF-5375-455C-9EA6-DF929625EA0E}">
        <p15:presenceInfo xmlns:p15="http://schemas.microsoft.com/office/powerpoint/2012/main" userId="S-1-5-21-147214757-305610072-1517763936-4736116" providerId="AD"/>
      </p:ext>
    </p:extLst>
  </p:cmAuthor>
  <p:cmAuthor id="2" name="Wuyuezjhw (Monk)" initials="W(" lastIdx="20" clrIdx="1">
    <p:extLst>
      <p:ext uri="{19B8F6BF-5375-455C-9EA6-DF929625EA0E}">
        <p15:presenceInfo xmlns:p15="http://schemas.microsoft.com/office/powerpoint/2012/main" userId="S-1-5-21-147214757-305610072-1517763936-31936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5C5"/>
    <a:srgbClr val="ED6D00"/>
    <a:srgbClr val="AFD89C"/>
    <a:srgbClr val="56C4D2"/>
    <a:srgbClr val="94DAE2"/>
    <a:srgbClr val="ECF9FA"/>
    <a:srgbClr val="D7F2F5"/>
    <a:srgbClr val="62B230"/>
    <a:srgbClr val="C7000B"/>
    <a:srgbClr val="BEE9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7063" autoAdjust="0"/>
  </p:normalViewPr>
  <p:slideViewPr>
    <p:cSldViewPr snapToGrid="0" snapToObjects="1">
      <p:cViewPr varScale="1">
        <p:scale>
          <a:sx n="103" d="100"/>
          <a:sy n="103" d="100"/>
        </p:scale>
        <p:origin x="72" y="264"/>
      </p:cViewPr>
      <p:guideLst>
        <p:guide pos="3840"/>
        <p:guide orient="horz" pos="234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125" d="100"/>
          <a:sy n="125" d="100"/>
        </p:scale>
        <p:origin x="2868" y="-112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theme" Target="theme/theme1.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103"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handoutMaster" Target="handoutMasters/handout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1"/>
            <a:ext cx="3037840" cy="466435"/>
          </a:xfrm>
          <a:prstGeom prst="rect">
            <a:avLst/>
          </a:prstGeom>
        </p:spPr>
        <p:txBody>
          <a:bodyPr vert="horz" lIns="91432" tIns="45716" rIns="91432" bIns="45716"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9" y="1"/>
            <a:ext cx="3037840" cy="466435"/>
          </a:xfrm>
          <a:prstGeom prst="rect">
            <a:avLst/>
          </a:prstGeom>
        </p:spPr>
        <p:txBody>
          <a:bodyPr vert="horz" lIns="91432" tIns="45716" rIns="91432" bIns="45716" rtlCol="0"/>
          <a:lstStyle>
            <a:lvl1pPr algn="r">
              <a:defRPr sz="1200"/>
            </a:lvl1pPr>
          </a:lstStyle>
          <a:p>
            <a:fld id="{E8CF71B8-DF2A-2E41-BE66-2E18A767DA8A}" type="datetimeFigureOut">
              <a:rPr lang="en-US" smtClean="0">
                <a:latin typeface="Huawei Sans" panose="020C0503030203020204" pitchFamily="34" charset="0"/>
              </a:rPr>
              <a:t>11/2/2021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32" tIns="45716" rIns="91432" bIns="45716"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9" y="8829968"/>
            <a:ext cx="3037840" cy="466434"/>
          </a:xfrm>
          <a:prstGeom prst="rect">
            <a:avLst/>
          </a:prstGeom>
        </p:spPr>
        <p:txBody>
          <a:bodyPr vert="horz" lIns="91432" tIns="45716" rIns="91432" bIns="45716"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2950" y="717550"/>
            <a:ext cx="5557838" cy="3125788"/>
          </a:xfrm>
          <a:prstGeom prst="rect">
            <a:avLst/>
          </a:prstGeom>
          <a:noFill/>
          <a:ln w="12700">
            <a:solidFill>
              <a:prstClr val="black"/>
            </a:solidFill>
          </a:ln>
        </p:spPr>
        <p:txBody>
          <a:bodyPr vert="horz" lIns="91432" tIns="45716" rIns="91432" bIns="45716"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191" tIns="45716" rIns="97191" bIns="4571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47311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96081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08039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10332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8827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OPEX</a:t>
            </a:r>
            <a:r>
              <a:rPr lang="zh-CN" altLang="en-US" dirty="0" smtClean="0"/>
              <a:t>：</a:t>
            </a:r>
            <a:r>
              <a:rPr lang="en-US" altLang="zh-CN" dirty="0" smtClean="0"/>
              <a:t>Operating Expense</a:t>
            </a:r>
            <a:r>
              <a:rPr lang="zh-CN" altLang="en-US" dirty="0" smtClean="0"/>
              <a:t>，运营支出</a:t>
            </a:r>
            <a:endParaRPr lang="zh-CN" altLang="en-US" dirty="0"/>
          </a:p>
        </p:txBody>
      </p:sp>
    </p:spTree>
    <p:extLst>
      <p:ext uri="{BB962C8B-B14F-4D97-AF65-F5344CB8AC3E}">
        <p14:creationId xmlns:p14="http://schemas.microsoft.com/office/powerpoint/2010/main" val="3017765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3449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44046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56382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smtClean="0"/>
              <a:t>SaaS</a:t>
            </a:r>
            <a:r>
              <a:rPr lang="zh-CN" altLang="en-US" dirty="0" smtClean="0"/>
              <a:t>：</a:t>
            </a:r>
            <a:r>
              <a:rPr lang="en-US" altLang="zh-CN" dirty="0" smtClean="0"/>
              <a:t>Software as a Service</a:t>
            </a:r>
            <a:r>
              <a:rPr lang="zh-CN" altLang="en-US" dirty="0" smtClean="0"/>
              <a:t>，软件即服务</a:t>
            </a:r>
            <a:endParaRPr lang="en-US" altLang="zh-CN" dirty="0" smtClean="0"/>
          </a:p>
          <a:p>
            <a:r>
              <a:rPr lang="en-US" altLang="zh-CN" dirty="0" smtClean="0"/>
              <a:t>GIS</a:t>
            </a:r>
            <a:r>
              <a:rPr lang="zh-CN" altLang="en-US" dirty="0" smtClean="0"/>
              <a:t>：</a:t>
            </a:r>
            <a:r>
              <a:rPr lang="en-US" altLang="zh-CN" dirty="0" smtClean="0"/>
              <a:t>Ground Information System</a:t>
            </a:r>
            <a:r>
              <a:rPr lang="zh-CN" altLang="en-US" dirty="0" smtClean="0"/>
              <a:t>，地面信息系统</a:t>
            </a:r>
            <a:endParaRPr lang="zh-CN" altLang="en-US" dirty="0"/>
          </a:p>
        </p:txBody>
      </p:sp>
    </p:spTree>
    <p:extLst>
      <p:ext uri="{BB962C8B-B14F-4D97-AF65-F5344CB8AC3E}">
        <p14:creationId xmlns:p14="http://schemas.microsoft.com/office/powerpoint/2010/main" val="2317466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5"/>
            <a:ext cx="5580062" cy="4985635"/>
          </a:xfrm>
        </p:spPr>
        <p:txBody>
          <a:bodyPr/>
          <a:lstStyle/>
          <a:p>
            <a:pPr lvl="0">
              <a:lnSpc>
                <a:spcPct val="100000"/>
              </a:lnSpc>
            </a:pPr>
            <a:r>
              <a:rPr lang="zh-CN" altLang="zh-CN" dirty="0" smtClean="0"/>
              <a:t>华为</a:t>
            </a:r>
            <a:r>
              <a:rPr lang="zh-CN" altLang="en-US" dirty="0" smtClean="0"/>
              <a:t>云园区网络</a:t>
            </a:r>
            <a:r>
              <a:rPr lang="zh-CN" altLang="zh-CN" dirty="0" smtClean="0"/>
              <a:t>解决方案包括华为公有云部署、</a:t>
            </a:r>
            <a:r>
              <a:rPr lang="en-US" altLang="zh-CN" dirty="0" smtClean="0"/>
              <a:t>MSP</a:t>
            </a:r>
            <a:r>
              <a:rPr lang="zh-CN" altLang="zh-CN" dirty="0" smtClean="0"/>
              <a:t>自建云部署和本地部署三大场景，其中本地部署方案主要面向大中型园区网络，华为公有云部署方案和</a:t>
            </a:r>
            <a:r>
              <a:rPr lang="en-US" altLang="zh-CN" dirty="0" smtClean="0"/>
              <a:t>MSP</a:t>
            </a:r>
            <a:r>
              <a:rPr lang="zh-CN" altLang="zh-CN" dirty="0" smtClean="0"/>
              <a:t>自建云部署方案面向中小型园区网络，</a:t>
            </a:r>
            <a:r>
              <a:rPr lang="zh-CN" altLang="en-US" dirty="0" smtClean="0"/>
              <a:t>本课程重点关注</a:t>
            </a:r>
            <a:r>
              <a:rPr lang="zh-CN" altLang="zh-CN" dirty="0" smtClean="0"/>
              <a:t>华为公有云部署方案</a:t>
            </a:r>
            <a:r>
              <a:rPr lang="zh-CN" altLang="en-US" dirty="0" smtClean="0"/>
              <a:t>，即云管理场景。</a:t>
            </a:r>
            <a:endParaRPr lang="en-US" altLang="zh-CN" dirty="0" smtClean="0"/>
          </a:p>
          <a:p>
            <a:pPr lvl="0">
              <a:lnSpc>
                <a:spcPct val="100000"/>
              </a:lnSpc>
            </a:pPr>
            <a:r>
              <a:rPr lang="zh-CN" altLang="zh-CN" dirty="0" smtClean="0"/>
              <a:t>华为</a:t>
            </a:r>
            <a:r>
              <a:rPr lang="zh-CN" altLang="en-US" dirty="0" smtClean="0"/>
              <a:t>云管理园区网络</a:t>
            </a:r>
            <a:r>
              <a:rPr lang="zh-CN" altLang="zh-CN" dirty="0" smtClean="0"/>
              <a:t>，利用云计算的技术实现网络的自动化和集中化管理，提供传统网络不能提供的数据收集和分析能力，从而实现网络（</a:t>
            </a:r>
            <a:r>
              <a:rPr lang="en-US" altLang="zh-CN" dirty="0" smtClean="0"/>
              <a:t>LAN/WLAN</a:t>
            </a:r>
            <a:r>
              <a:rPr lang="zh-CN" altLang="zh-CN" dirty="0" smtClean="0"/>
              <a:t>）即服务。</a:t>
            </a:r>
          </a:p>
          <a:p>
            <a:pPr>
              <a:lnSpc>
                <a:spcPct val="100000"/>
              </a:lnSpc>
            </a:pPr>
            <a:r>
              <a:rPr lang="zh-CN" altLang="zh-CN" dirty="0" smtClean="0"/>
              <a:t>华为</a:t>
            </a:r>
            <a:r>
              <a:rPr lang="zh-CN" altLang="en-US" dirty="0" smtClean="0"/>
              <a:t>云管理园区网络</a:t>
            </a:r>
            <a:r>
              <a:rPr lang="zh-CN" altLang="zh-CN" dirty="0" smtClean="0"/>
              <a:t>架构分为三层： 多租户网络、</a:t>
            </a:r>
            <a:r>
              <a:rPr lang="zh-CN" altLang="en-US" dirty="0" smtClean="0"/>
              <a:t>云管理平台</a:t>
            </a:r>
            <a:r>
              <a:rPr lang="zh-CN" altLang="zh-CN" dirty="0" smtClean="0"/>
              <a:t>和增值</a:t>
            </a:r>
            <a:r>
              <a:rPr lang="en-US" altLang="zh-CN" dirty="0" smtClean="0"/>
              <a:t>SaaS</a:t>
            </a:r>
            <a:r>
              <a:rPr lang="zh-CN" altLang="zh-CN" dirty="0" smtClean="0"/>
              <a:t>平台</a:t>
            </a:r>
            <a:r>
              <a:rPr lang="zh-CN" altLang="en-US" dirty="0" smtClean="0"/>
              <a:t>。</a:t>
            </a:r>
            <a:endParaRPr lang="en-US" altLang="zh-CN" dirty="0" smtClean="0"/>
          </a:p>
          <a:p>
            <a:pPr lvl="1">
              <a:lnSpc>
                <a:spcPct val="100000"/>
              </a:lnSpc>
            </a:pPr>
            <a:r>
              <a:rPr lang="zh-CN" altLang="zh-CN" dirty="0" smtClean="0"/>
              <a:t>多租户网络：由包含</a:t>
            </a:r>
            <a:r>
              <a:rPr lang="en-US" altLang="zh-CN" dirty="0" smtClean="0"/>
              <a:t>AP</a:t>
            </a:r>
            <a:r>
              <a:rPr lang="zh-CN" altLang="zh-CN" dirty="0" smtClean="0"/>
              <a:t>、交换机、防火墙和</a:t>
            </a:r>
            <a:r>
              <a:rPr lang="en-US" altLang="zh-CN" dirty="0" smtClean="0"/>
              <a:t>AR</a:t>
            </a:r>
            <a:r>
              <a:rPr lang="zh-CN" altLang="zh-CN" dirty="0" smtClean="0"/>
              <a:t>等上百款型的网络设备组成，部署在客户侧，提供用户接入。</a:t>
            </a:r>
          </a:p>
          <a:p>
            <a:pPr lvl="1">
              <a:lnSpc>
                <a:spcPct val="100000"/>
              </a:lnSpc>
            </a:pPr>
            <a:r>
              <a:rPr lang="zh-CN" altLang="zh-CN" dirty="0" smtClean="0"/>
              <a:t>云管理平台：</a:t>
            </a:r>
            <a:r>
              <a:rPr lang="en-US" altLang="zh-CN" dirty="0" err="1" smtClean="0"/>
              <a:t>iMaster</a:t>
            </a:r>
            <a:r>
              <a:rPr lang="en-US" altLang="zh-CN" dirty="0" smtClean="0"/>
              <a:t> NCE-Campus</a:t>
            </a:r>
            <a:r>
              <a:rPr lang="zh-CN" altLang="zh-CN" dirty="0" smtClean="0"/>
              <a:t>也可以称为云管理平台</a:t>
            </a:r>
            <a:r>
              <a:rPr lang="zh-CN" altLang="en-US" dirty="0" smtClean="0"/>
              <a:t>或</a:t>
            </a:r>
            <a:r>
              <a:rPr lang="en-US" altLang="zh-CN" dirty="0" smtClean="0"/>
              <a:t>SDN</a:t>
            </a:r>
            <a:r>
              <a:rPr lang="zh-CN" altLang="zh-CN" dirty="0" smtClean="0"/>
              <a:t>控制器，是</a:t>
            </a:r>
            <a:r>
              <a:rPr lang="zh-CN" altLang="en-US" dirty="0" smtClean="0"/>
              <a:t>云</a:t>
            </a:r>
            <a:r>
              <a:rPr lang="zh-CN" altLang="zh-CN" dirty="0" smtClean="0"/>
              <a:t>园区网络解决方案的核心部件，是基于云的网络管理运维和控制系统</a:t>
            </a:r>
            <a:r>
              <a:rPr lang="zh-CN" altLang="en-US" dirty="0" smtClean="0"/>
              <a:t>，</a:t>
            </a:r>
            <a:r>
              <a:rPr lang="zh-CN" altLang="zh-CN" dirty="0" smtClean="0"/>
              <a:t>除了可以对云化设备</a:t>
            </a:r>
            <a:r>
              <a:rPr lang="zh-CN" altLang="en-US" dirty="0" smtClean="0"/>
              <a:t>进行</a:t>
            </a:r>
            <a:r>
              <a:rPr lang="zh-CN" altLang="zh-CN" dirty="0" smtClean="0"/>
              <a:t>基本管理配置、远程运维监控、用户的准入控制外，还可以基于大数据平台实现多样的增值业务。</a:t>
            </a:r>
            <a:r>
              <a:rPr lang="en-US" altLang="zh-CN" dirty="0" err="1" smtClean="0"/>
              <a:t>iMaster</a:t>
            </a:r>
            <a:r>
              <a:rPr lang="en-US" altLang="zh-CN" dirty="0" smtClean="0"/>
              <a:t> NCE-</a:t>
            </a:r>
            <a:r>
              <a:rPr lang="en-US" altLang="zh-CN" dirty="0" err="1" smtClean="0"/>
              <a:t>CampusInsight</a:t>
            </a:r>
            <a:r>
              <a:rPr lang="zh-CN" altLang="zh-CN" dirty="0" smtClean="0"/>
              <a:t>网络智能分析平台，是网络的智能分析引擎，为用户网络提供智能运维服务。</a:t>
            </a:r>
            <a:r>
              <a:rPr lang="en-US" altLang="zh-CN" dirty="0" err="1" smtClean="0"/>
              <a:t>iMaster</a:t>
            </a:r>
            <a:r>
              <a:rPr lang="en-US" altLang="zh-CN" dirty="0" smtClean="0"/>
              <a:t> NCE-</a:t>
            </a:r>
            <a:r>
              <a:rPr lang="en-US" altLang="zh-CN" dirty="0" err="1" smtClean="0"/>
              <a:t>CampusInsight</a:t>
            </a:r>
            <a:r>
              <a:rPr lang="zh-CN" altLang="zh-CN" dirty="0" smtClean="0"/>
              <a:t>将人工智能应用于运维领域：基于设备性能指标、终端日志等数据，通过大数据分析、人工智能算法及更多高级分析技术将网络中的用户体验数字化，辅助客户及时发现网络问题，改善用户体验</a:t>
            </a:r>
            <a:r>
              <a:rPr lang="zh-CN" altLang="en-US" dirty="0" smtClean="0"/>
              <a:t>。</a:t>
            </a:r>
            <a:endParaRPr lang="en-US" altLang="zh-CN" dirty="0" smtClean="0"/>
          </a:p>
          <a:p>
            <a:pPr lvl="1">
              <a:lnSpc>
                <a:spcPct val="100000"/>
              </a:lnSpc>
            </a:pPr>
            <a:r>
              <a:rPr lang="zh-CN" altLang="zh-CN" dirty="0" smtClean="0"/>
              <a:t>增值</a:t>
            </a:r>
            <a:r>
              <a:rPr lang="en-US" altLang="zh-CN" dirty="0" smtClean="0"/>
              <a:t>SaaS</a:t>
            </a:r>
            <a:r>
              <a:rPr lang="zh-CN" altLang="zh-CN" dirty="0" smtClean="0"/>
              <a:t>平台：通过</a:t>
            </a:r>
            <a:r>
              <a:rPr lang="en-US" altLang="zh-CN" dirty="0" err="1" smtClean="0"/>
              <a:t>iMaster</a:t>
            </a:r>
            <a:r>
              <a:rPr lang="en-US" altLang="zh-CN" dirty="0" smtClean="0"/>
              <a:t> NCE-Campus</a:t>
            </a:r>
            <a:r>
              <a:rPr lang="zh-CN" altLang="zh-CN" dirty="0" smtClean="0"/>
              <a:t>开放接口与其它业务系统（如大数据等）对接，向租户提供客流分析、商业</a:t>
            </a:r>
            <a:r>
              <a:rPr lang="en-US" altLang="zh-CN" dirty="0" smtClean="0"/>
              <a:t>Portal</a:t>
            </a:r>
            <a:r>
              <a:rPr lang="zh-CN" altLang="zh-CN" dirty="0" smtClean="0"/>
              <a:t>推送、电子价签、资产管理以及医疗物联网等丰富的增值应用服务。</a:t>
            </a:r>
            <a:endParaRPr lang="en-US" altLang="zh-CN" dirty="0" smtClean="0"/>
          </a:p>
          <a:p>
            <a:pPr lvl="0">
              <a:lnSpc>
                <a:spcPct val="100000"/>
              </a:lnSpc>
            </a:pPr>
            <a:r>
              <a:rPr lang="zh-CN" altLang="en-US" dirty="0" smtClean="0"/>
              <a:t>说明：“无线非经”规范是依据中国公安部在</a:t>
            </a:r>
            <a:r>
              <a:rPr lang="en-US" altLang="zh-CN" dirty="0" smtClean="0"/>
              <a:t>2015</a:t>
            </a:r>
            <a:r>
              <a:rPr lang="zh-CN" altLang="en-US" dirty="0" smtClean="0"/>
              <a:t>年提出的</a:t>
            </a:r>
            <a:r>
              <a:rPr lang="en-US" altLang="zh-CN" dirty="0" smtClean="0"/>
              <a:t>GAWA3011.(1~5)-2015</a:t>
            </a:r>
            <a:r>
              <a:rPr lang="zh-CN" altLang="en-US" dirty="0" smtClean="0"/>
              <a:t>系列规范，要求公共</a:t>
            </a:r>
            <a:r>
              <a:rPr lang="en-US" altLang="zh-CN" dirty="0" smtClean="0"/>
              <a:t>Wi-Fi</a:t>
            </a:r>
            <a:r>
              <a:rPr lang="zh-CN" altLang="en-US" dirty="0" smtClean="0"/>
              <a:t>能够将用户上网日志按照预定要求上传至当地网监平台，如不满足，将依法责令整改，主要目的是对公共场所的免费</a:t>
            </a:r>
            <a:r>
              <a:rPr lang="en-US" altLang="zh-CN" dirty="0" smtClean="0"/>
              <a:t>Wi-Fi</a:t>
            </a:r>
            <a:r>
              <a:rPr lang="zh-CN" altLang="en-US" dirty="0" smtClean="0"/>
              <a:t>施行规范的准入制度管理，并对上网人员的身份信息、上网行为、用户终端等信息进行收集和管理。公安部为符合该系列规范的前端和后端厂商出具安全专用产品的销售许可证，原则上拥有此许可证的厂商才能在此领域进行销售。</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69323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smtClean="0"/>
              <a:t>ServiceTurbo-Cloud</a:t>
            </a:r>
            <a:r>
              <a:rPr lang="zh-CN" altLang="en-US" dirty="0" smtClean="0"/>
              <a:t>：</a:t>
            </a:r>
            <a:r>
              <a:rPr lang="en-US" altLang="zh-CN" dirty="0" smtClean="0"/>
              <a:t>https://serviceturbo-cloud.huawei.com/</a:t>
            </a:r>
            <a:r>
              <a:rPr lang="zh-CN" altLang="en-US" dirty="0" smtClean="0"/>
              <a:t>，企业工具服务云平台，面向政企服务作业场景，为华为、伙伴以及客户服务工程师提供一站式工具服务。</a:t>
            </a:r>
            <a:endParaRPr lang="en-US" altLang="zh-CN" dirty="0" smtClean="0">
              <a:sym typeface="Huawei Sans" panose="020C0503030203020204" pitchFamily="34" charset="0"/>
            </a:endParaRP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38955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64171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951620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AS-IS</a:t>
            </a:r>
            <a:r>
              <a:rPr lang="zh-CN" altLang="en-US" smtClean="0"/>
              <a:t>：当前现状。</a:t>
            </a:r>
            <a:endParaRPr lang="en-US" altLang="zh-CN" smtClean="0"/>
          </a:p>
          <a:p>
            <a:r>
              <a:rPr lang="en-US" altLang="zh-CN" smtClean="0"/>
              <a:t>TO-BE</a:t>
            </a:r>
            <a:r>
              <a:rPr lang="zh-CN" altLang="en-US" smtClean="0"/>
              <a:t>：未来的理想状态。</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27288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62516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71326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43002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56773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3722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4210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474927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9103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79575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829481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418462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268662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采用公有云云管理模式，既可以选择华为公有云云管理，也可以选择</a:t>
            </a:r>
            <a:r>
              <a:rPr lang="en-US" altLang="zh-CN" dirty="0" smtClean="0"/>
              <a:t>MSP</a:t>
            </a:r>
            <a:r>
              <a:rPr lang="zh-CN" altLang="en-US" dirty="0" smtClean="0"/>
              <a:t>自建云云管理模式，二者本质上没有差别，唯一的区别在于运营主体不同，云管理服务的提供者不同。</a:t>
            </a:r>
            <a:endParaRPr lang="en-US" altLang="zh-CN" dirty="0" smtClean="0"/>
          </a:p>
          <a:p>
            <a:r>
              <a:rPr lang="zh-CN" altLang="en-US" dirty="0" smtClean="0"/>
              <a:t>为方便说明，后续若无特殊说明，将以华为公有云云管理为例进行介绍。</a:t>
            </a:r>
            <a:endParaRPr lang="en-US" altLang="zh-CN" dirty="0" smtClean="0"/>
          </a:p>
          <a:p>
            <a:r>
              <a:rPr lang="en-US" altLang="zh-CN" dirty="0" smtClean="0"/>
              <a:t>CAPEX</a:t>
            </a:r>
            <a:r>
              <a:rPr lang="zh-CN" altLang="en-US" dirty="0" smtClean="0"/>
              <a:t>：</a:t>
            </a:r>
            <a:r>
              <a:rPr lang="en-US" altLang="zh-CN" dirty="0" smtClean="0"/>
              <a:t>Capital Expenditure</a:t>
            </a:r>
            <a:r>
              <a:rPr lang="zh-CN" altLang="en-US" dirty="0" smtClean="0"/>
              <a:t>，资本支出</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622770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5"/>
            <a:ext cx="5580062" cy="4985635"/>
          </a:xfrm>
        </p:spPr>
        <p:txBody>
          <a:bodyPr/>
          <a:lstStyle/>
          <a:p>
            <a:r>
              <a:rPr lang="zh-CN" altLang="en-US" dirty="0" smtClean="0"/>
              <a:t>如果租户管理员具备一定的</a:t>
            </a:r>
            <a:r>
              <a:rPr lang="en-US" altLang="zh-CN" dirty="0" smtClean="0"/>
              <a:t>IT</a:t>
            </a:r>
            <a:r>
              <a:rPr lang="zh-CN" altLang="en-US" dirty="0" smtClean="0"/>
              <a:t>能力，可以自行部署和运维园区网络，这种场景我们称为“租户自建自维”，租户管理员是主要实施者，</a:t>
            </a:r>
            <a:r>
              <a:rPr lang="en-US" altLang="zh-CN" dirty="0" smtClean="0"/>
              <a:t>MSP</a:t>
            </a:r>
            <a:r>
              <a:rPr lang="zh-CN" altLang="en-US" dirty="0" smtClean="0"/>
              <a:t>管理员只做一些简单的开局协助工作。反之，租户管理员可以向</a:t>
            </a:r>
            <a:r>
              <a:rPr lang="en-US" altLang="zh-CN" dirty="0" smtClean="0"/>
              <a:t>MSP</a:t>
            </a:r>
            <a:r>
              <a:rPr lang="zh-CN" altLang="en-US" dirty="0" smtClean="0"/>
              <a:t>申请代建代维服务，经过授权后由</a:t>
            </a:r>
            <a:r>
              <a:rPr lang="en-US" altLang="zh-CN" dirty="0" smtClean="0"/>
              <a:t>MSP</a:t>
            </a:r>
            <a:r>
              <a:rPr lang="zh-CN" altLang="en-US" dirty="0" smtClean="0"/>
              <a:t>进行代建代维租户的园区网络，这种场景我们称为“</a:t>
            </a:r>
            <a:r>
              <a:rPr lang="en-US" altLang="zh-CN" dirty="0" smtClean="0"/>
              <a:t>MSP</a:t>
            </a:r>
            <a:r>
              <a:rPr lang="zh-CN" altLang="en-US" dirty="0" smtClean="0"/>
              <a:t>代建代维”，</a:t>
            </a:r>
            <a:r>
              <a:rPr lang="en-US" altLang="zh-CN" dirty="0" smtClean="0"/>
              <a:t>MSP</a:t>
            </a:r>
            <a:r>
              <a:rPr lang="zh-CN" altLang="en-US" dirty="0" smtClean="0"/>
              <a:t>管理员是主要实施者。</a:t>
            </a:r>
          </a:p>
          <a:p>
            <a:r>
              <a:rPr lang="zh-CN" altLang="en-US" dirty="0" smtClean="0"/>
              <a:t>租户自建自维和</a:t>
            </a:r>
            <a:r>
              <a:rPr lang="en-US" altLang="zh-CN" dirty="0" smtClean="0"/>
              <a:t>MSP</a:t>
            </a:r>
            <a:r>
              <a:rPr lang="zh-CN" altLang="en-US" dirty="0" smtClean="0"/>
              <a:t>代建代维的部署流程区别是：</a:t>
            </a:r>
          </a:p>
          <a:p>
            <a:pPr lvl="1"/>
            <a:r>
              <a:rPr lang="zh-CN" altLang="en-US" dirty="0" smtClean="0"/>
              <a:t>租户自建自维：</a:t>
            </a:r>
          </a:p>
          <a:p>
            <a:pPr lvl="2"/>
            <a:r>
              <a:rPr lang="zh-CN" altLang="en-US" dirty="0" smtClean="0"/>
              <a:t>租户管理员自己现场安装云化设备，注册云化设备上线。</a:t>
            </a:r>
          </a:p>
          <a:p>
            <a:pPr lvl="2"/>
            <a:r>
              <a:rPr lang="zh-CN" altLang="en-US" dirty="0" smtClean="0"/>
              <a:t>租户管理员使用自己的帐号登录</a:t>
            </a:r>
            <a:r>
              <a:rPr lang="en-US" altLang="zh-CN" dirty="0" err="1" smtClean="0"/>
              <a:t>iMaster</a:t>
            </a:r>
            <a:r>
              <a:rPr lang="en-US" altLang="zh-CN" dirty="0" smtClean="0"/>
              <a:t> NCE-Campus</a:t>
            </a:r>
            <a:r>
              <a:rPr lang="zh-CN" altLang="en-US" dirty="0" smtClean="0"/>
              <a:t>，进行业务部署。</a:t>
            </a:r>
          </a:p>
          <a:p>
            <a:pPr lvl="1"/>
            <a:r>
              <a:rPr lang="en-US" altLang="zh-CN" dirty="0" smtClean="0"/>
              <a:t>MSP</a:t>
            </a:r>
            <a:r>
              <a:rPr lang="zh-CN" altLang="en-US" dirty="0" smtClean="0"/>
              <a:t>代建代维：</a:t>
            </a:r>
          </a:p>
          <a:p>
            <a:pPr lvl="2"/>
            <a:r>
              <a:rPr lang="en-US" altLang="zh-CN" dirty="0" smtClean="0"/>
              <a:t>MSP</a:t>
            </a:r>
            <a:r>
              <a:rPr lang="zh-CN" altLang="en-US" dirty="0" smtClean="0"/>
              <a:t>管理员帮助租户在现场安装云化设备，注册云化设备上线。</a:t>
            </a:r>
          </a:p>
          <a:p>
            <a:pPr lvl="2"/>
            <a:r>
              <a:rPr lang="zh-CN" altLang="en-US" dirty="0" smtClean="0"/>
              <a:t>租户管理员使用自己的帐号登录</a:t>
            </a:r>
            <a:r>
              <a:rPr lang="en-US" altLang="zh-CN" dirty="0" err="1" smtClean="0"/>
              <a:t>iMaster</a:t>
            </a:r>
            <a:r>
              <a:rPr lang="en-US" altLang="zh-CN" dirty="0" smtClean="0"/>
              <a:t> NCE-Campus</a:t>
            </a:r>
            <a:r>
              <a:rPr lang="zh-CN" altLang="en-US" dirty="0" smtClean="0"/>
              <a:t>，在主菜单中选择“系统 </a:t>
            </a:r>
            <a:r>
              <a:rPr lang="en-US" altLang="zh-CN" dirty="0" smtClean="0"/>
              <a:t>&gt; </a:t>
            </a:r>
            <a:r>
              <a:rPr lang="zh-CN" altLang="en-US" dirty="0" smtClean="0"/>
              <a:t>系统管理 </a:t>
            </a:r>
            <a:r>
              <a:rPr lang="en-US" altLang="zh-CN" dirty="0" smtClean="0"/>
              <a:t>&gt; </a:t>
            </a:r>
            <a:r>
              <a:rPr lang="zh-CN" altLang="en-US" dirty="0" smtClean="0"/>
              <a:t>租户信息”，打开“授权给</a:t>
            </a:r>
            <a:r>
              <a:rPr lang="en-US" altLang="zh-CN" dirty="0" smtClean="0"/>
              <a:t>MSP”</a:t>
            </a:r>
            <a:r>
              <a:rPr lang="zh-CN" altLang="en-US" dirty="0" smtClean="0"/>
              <a:t>开关并设置授权范围；或者</a:t>
            </a:r>
            <a:r>
              <a:rPr lang="en-US" altLang="zh-CN" dirty="0" smtClean="0"/>
              <a:t>MSP</a:t>
            </a:r>
            <a:r>
              <a:rPr lang="zh-CN" altLang="en-US" dirty="0" smtClean="0"/>
              <a:t>管理员在创建租户管理员时，打开“授权给</a:t>
            </a:r>
            <a:r>
              <a:rPr lang="en-US" altLang="zh-CN" dirty="0" smtClean="0"/>
              <a:t>MSP”</a:t>
            </a:r>
            <a:r>
              <a:rPr lang="zh-CN" altLang="en-US" dirty="0" smtClean="0"/>
              <a:t>开关，默认授权“</a:t>
            </a:r>
            <a:r>
              <a:rPr lang="en-US" altLang="zh-CN" dirty="0" smtClean="0"/>
              <a:t>Tenant Administrator”</a:t>
            </a:r>
            <a:r>
              <a:rPr lang="zh-CN" altLang="en-US" dirty="0" smtClean="0"/>
              <a:t>角色的权限。</a:t>
            </a:r>
          </a:p>
          <a:p>
            <a:pPr lvl="2"/>
            <a:r>
              <a:rPr lang="en-US" altLang="zh-CN" dirty="0" smtClean="0"/>
              <a:t>MSP</a:t>
            </a:r>
            <a:r>
              <a:rPr lang="zh-CN" altLang="en-US" dirty="0" smtClean="0"/>
              <a:t>管理员使用自己的帐号登录</a:t>
            </a:r>
            <a:r>
              <a:rPr lang="en-US" altLang="zh-CN" dirty="0" err="1" smtClean="0"/>
              <a:t>iMaster</a:t>
            </a:r>
            <a:r>
              <a:rPr lang="en-US" altLang="zh-CN" dirty="0" smtClean="0"/>
              <a:t> NCE-Campus</a:t>
            </a:r>
            <a:r>
              <a:rPr lang="zh-CN" altLang="en-US" dirty="0" smtClean="0"/>
              <a:t>，在首页的“租户列表”中选择申请代建代维且已授权的租户，“授权状态”栏目显示为“已授权”。</a:t>
            </a:r>
          </a:p>
          <a:p>
            <a:pPr lvl="2"/>
            <a:r>
              <a:rPr lang="zh-CN" altLang="en-US" dirty="0" smtClean="0"/>
              <a:t>单击租户名称进入代建代维界面，</a:t>
            </a:r>
            <a:r>
              <a:rPr lang="en-US" altLang="zh-CN" dirty="0" smtClean="0"/>
              <a:t>MSP</a:t>
            </a:r>
            <a:r>
              <a:rPr lang="zh-CN" altLang="en-US" dirty="0" smtClean="0"/>
              <a:t>管理员帮助租户进行业务部署。</a:t>
            </a:r>
            <a:br>
              <a:rPr lang="zh-CN" altLang="en-US" dirty="0" smtClean="0"/>
            </a:b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250731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79985" indent="-179985" defTabSz="1219201">
              <a:defRPr/>
            </a:pPr>
            <a:r>
              <a:rPr lang="en-US" altLang="zh-CN" dirty="0" smtClean="0"/>
              <a:t>NA</a:t>
            </a:r>
            <a:r>
              <a:rPr lang="zh-CN" altLang="en-US" dirty="0" smtClean="0"/>
              <a:t>：</a:t>
            </a:r>
            <a:r>
              <a:rPr lang="en-US" altLang="zh-CN" dirty="0" smtClean="0"/>
              <a:t>N</a:t>
            </a:r>
            <a:r>
              <a:rPr lang="en-US" altLang="zh-CN" dirty="0"/>
              <a:t>amed Account</a:t>
            </a:r>
            <a:r>
              <a:rPr lang="zh-CN" altLang="en-US" dirty="0" smtClean="0"/>
              <a:t>，</a:t>
            </a:r>
            <a:r>
              <a:rPr lang="zh-CN" altLang="en-US" dirty="0"/>
              <a:t>价值客户</a:t>
            </a:r>
          </a:p>
        </p:txBody>
      </p:sp>
    </p:spTree>
    <p:extLst>
      <p:ext uri="{BB962C8B-B14F-4D97-AF65-F5344CB8AC3E}">
        <p14:creationId xmlns:p14="http://schemas.microsoft.com/office/powerpoint/2010/main" val="15993371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为方便租户管理设备，针对中小型园区网络，推荐采用统一过期时间方案，方便对设备的管理和操作。如果需要精细化控制每类设备的使用周期，可以采用非统一过期时间方案。</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85084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15919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725949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86659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fontAlgn="base"/>
            <a:r>
              <a:rPr lang="en-US" altLang="zh-CN" dirty="0" smtClean="0"/>
              <a:t>Hub-Spoke</a:t>
            </a:r>
            <a:r>
              <a:rPr lang="zh-CN" altLang="en-US" dirty="0" smtClean="0"/>
              <a:t>：一般由企业总部和</a:t>
            </a:r>
            <a:r>
              <a:rPr lang="en-US" altLang="zh-CN" dirty="0" smtClean="0"/>
              <a:t>DC</a:t>
            </a:r>
            <a:r>
              <a:rPr lang="zh-CN" altLang="en-US" dirty="0" smtClean="0"/>
              <a:t>作为</a:t>
            </a:r>
            <a:r>
              <a:rPr lang="en-US" altLang="zh-CN" dirty="0" smtClean="0"/>
              <a:t>Hub</a:t>
            </a:r>
            <a:r>
              <a:rPr lang="zh-CN" altLang="en-US" dirty="0" smtClean="0"/>
              <a:t>，企业各分支站点可以和</a:t>
            </a:r>
            <a:r>
              <a:rPr lang="en-US" altLang="zh-CN" dirty="0" smtClean="0"/>
              <a:t>Hub</a:t>
            </a:r>
            <a:r>
              <a:rPr lang="zh-CN" altLang="en-US" dirty="0" smtClean="0"/>
              <a:t>站点互通，分支站点之间如果需要互通，也经过</a:t>
            </a:r>
            <a:r>
              <a:rPr lang="en-US" altLang="zh-CN" dirty="0" smtClean="0"/>
              <a:t>Hub</a:t>
            </a:r>
            <a:r>
              <a:rPr lang="zh-CN" altLang="en-US" dirty="0" smtClean="0"/>
              <a:t>站点中转。适用企业的所有分支站点互访都必须要绕行总部，统一进行安全监控的业务场景。</a:t>
            </a:r>
            <a:endParaRPr lang="en-US" altLang="zh-CN" dirty="0" smtClean="0"/>
          </a:p>
          <a:p>
            <a:pPr fontAlgn="base"/>
            <a:r>
              <a:rPr lang="en-US" altLang="zh-CN" dirty="0" smtClean="0"/>
              <a:t>Full-Mesh</a:t>
            </a:r>
            <a:r>
              <a:rPr lang="zh-CN" altLang="en-US" dirty="0" smtClean="0"/>
              <a:t>：企业的各站点之间均可以互通，分支和总部之间、分支站点之间如果存在业务互访关系，则数据直接交互，不需要经过中间节点。适用企业的所有站点之间的互访都需要直接互通，减少绕行总部站点时延的场景。</a:t>
            </a:r>
            <a:endParaRPr lang="en-US" altLang="zh-CN" dirty="0" smtClean="0"/>
          </a:p>
          <a:p>
            <a:pPr fontAlgn="base"/>
            <a:r>
              <a:rPr lang="en-US" altLang="zh-CN" dirty="0" smtClean="0"/>
              <a:t>Partial-Mesh</a:t>
            </a:r>
            <a:r>
              <a:rPr lang="zh-CN" altLang="en-US" dirty="0" smtClean="0"/>
              <a:t>：企业的大部分站点之间可以直接交互，但是少量站点之间</a:t>
            </a:r>
            <a:r>
              <a:rPr lang="en-US" altLang="zh-CN" dirty="0" smtClean="0"/>
              <a:t>Underlay</a:t>
            </a:r>
            <a:r>
              <a:rPr lang="zh-CN" altLang="en-US" dirty="0" smtClean="0"/>
              <a:t>的</a:t>
            </a:r>
            <a:r>
              <a:rPr lang="en-US" altLang="zh-CN" dirty="0" smtClean="0"/>
              <a:t>WAN</a:t>
            </a:r>
            <a:r>
              <a:rPr lang="zh-CN" altLang="en-US" dirty="0" smtClean="0"/>
              <a:t>网络无法直接通信，需要绕行第三个站点互访，例如图中</a:t>
            </a:r>
            <a:r>
              <a:rPr lang="en-US" altLang="zh-CN" dirty="0" smtClean="0"/>
              <a:t>Branch1</a:t>
            </a:r>
            <a:r>
              <a:rPr lang="zh-CN" altLang="en-US" dirty="0" smtClean="0"/>
              <a:t>和</a:t>
            </a:r>
            <a:r>
              <a:rPr lang="en-US" altLang="zh-CN" dirty="0" smtClean="0"/>
              <a:t>Branch3</a:t>
            </a:r>
            <a:r>
              <a:rPr lang="zh-CN" altLang="en-US" dirty="0" smtClean="0"/>
              <a:t>之间通信需要绕行逃生站点</a:t>
            </a:r>
            <a:r>
              <a:rPr lang="en-US" altLang="zh-CN" dirty="0" smtClean="0"/>
              <a:t>HQ</a:t>
            </a:r>
            <a:r>
              <a:rPr lang="zh-CN" altLang="en-US" dirty="0"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743176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14966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312487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835825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125678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19903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67317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smtClean="0"/>
              <a:t>中小型云管理园区场景主要针对商超、零售、酒店、教育、金融等中小企业、分支，根据不同网络规模采用不同的组网模型。</a:t>
            </a:r>
          </a:p>
          <a:p>
            <a:endParaRPr lang="zh-CN" altLang="en-US" dirty="0"/>
          </a:p>
        </p:txBody>
      </p:sp>
    </p:spTree>
    <p:extLst>
      <p:ext uri="{BB962C8B-B14F-4D97-AF65-F5344CB8AC3E}">
        <p14:creationId xmlns:p14="http://schemas.microsoft.com/office/powerpoint/2010/main" val="34930879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1885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500510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868856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621688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设备的可靠性：中小型园区通常采用盒式设备，其可靠性设计通常包括如下两方面：</a:t>
            </a:r>
          </a:p>
          <a:p>
            <a:pPr lvl="1"/>
            <a:r>
              <a:rPr lang="zh-CN" altLang="en-US" smtClean="0"/>
              <a:t>采用冗余组件提升设备的可靠性。</a:t>
            </a:r>
            <a:endParaRPr lang="en-US" altLang="zh-CN" smtClean="0"/>
          </a:p>
          <a:p>
            <a:pPr lvl="2"/>
            <a:r>
              <a:rPr lang="zh-CN" altLang="en-US" smtClean="0"/>
              <a:t>除了选择可靠性高的设备外，还可以通过采用双电源或冗余部件（冗余的板卡）的方式进一步提高设备自身工作的可靠性。</a:t>
            </a:r>
          </a:p>
          <a:p>
            <a:pPr lvl="1"/>
            <a:r>
              <a:rPr lang="zh-CN" altLang="en-US" smtClean="0"/>
              <a:t>采用联合组网的方式提供设备级可靠性。</a:t>
            </a:r>
          </a:p>
          <a:p>
            <a:pPr lvl="2"/>
            <a:r>
              <a:rPr lang="zh-CN" altLang="en-US" smtClean="0"/>
              <a:t>即通过多台设备联合组网的方式来提高设备工作的可靠性，比如主备、堆叠等组网方式。</a:t>
            </a:r>
          </a:p>
          <a:p>
            <a:pPr lvl="2"/>
            <a:r>
              <a:rPr lang="zh-CN" altLang="en-US" smtClean="0"/>
              <a:t>园区网络出口区部署两台设备做双机备份，形成主备关系。目前，防火墙双机模式仅支持镜像模式；</a:t>
            </a:r>
            <a:r>
              <a:rPr lang="en-US" altLang="zh-CN" smtClean="0"/>
              <a:t>AR</a:t>
            </a:r>
            <a:r>
              <a:rPr lang="zh-CN" altLang="en-US" smtClean="0"/>
              <a:t>支持双</a:t>
            </a:r>
            <a:r>
              <a:rPr lang="en-US" altLang="zh-CN" smtClean="0"/>
              <a:t>CPE</a:t>
            </a:r>
            <a:r>
              <a:rPr lang="zh-CN" altLang="en-US" smtClean="0"/>
              <a:t>组网，两台设备和两条出口链路可同时工作。</a:t>
            </a:r>
          </a:p>
          <a:p>
            <a:pPr lvl="2"/>
            <a:r>
              <a:rPr lang="zh-CN" altLang="en-US" smtClean="0"/>
              <a:t>内网设备，如核心</a:t>
            </a:r>
            <a:r>
              <a:rPr lang="en-US" altLang="zh-CN" smtClean="0"/>
              <a:t>/</a:t>
            </a:r>
            <a:r>
              <a:rPr lang="zh-CN" altLang="en-US" smtClean="0"/>
              <a:t>汇聚层的</a:t>
            </a:r>
            <a:r>
              <a:rPr lang="en-US" altLang="zh-CN" smtClean="0"/>
              <a:t>LSW</a:t>
            </a:r>
            <a:r>
              <a:rPr lang="zh-CN" altLang="en-US" smtClean="0"/>
              <a:t>设备，通过堆叠实现设备级的备份。目前，仅交换机支持堆叠。</a:t>
            </a: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063623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438007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33308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多园区网络互联方案是云园区网络方案中针对分支园区间互联、分支与总部</a:t>
            </a:r>
            <a:r>
              <a:rPr lang="en-US" altLang="zh-CN" smtClean="0"/>
              <a:t>/</a:t>
            </a:r>
            <a:r>
              <a:rPr lang="zh-CN" altLang="en-US" smtClean="0"/>
              <a:t>数据中心互联等场景提供的子方案，其融合了</a:t>
            </a:r>
            <a:r>
              <a:rPr lang="en-US" altLang="zh-CN" smtClean="0"/>
              <a:t>SD-WAN</a:t>
            </a:r>
            <a:r>
              <a:rPr lang="zh-CN" altLang="en-US" smtClean="0"/>
              <a:t>方案，针对园区</a:t>
            </a:r>
            <a:r>
              <a:rPr lang="en-US" altLang="zh-CN" smtClean="0"/>
              <a:t>WAN</a:t>
            </a:r>
            <a:r>
              <a:rPr lang="zh-CN" altLang="en-US" smtClean="0"/>
              <a:t>侧互联提供了两种互联方案的模型：静态</a:t>
            </a:r>
            <a:r>
              <a:rPr lang="en-US" altLang="zh-CN" smtClean="0"/>
              <a:t>IPsec VPN</a:t>
            </a:r>
            <a:r>
              <a:rPr lang="zh-CN" altLang="en-US" smtClean="0"/>
              <a:t>和基于</a:t>
            </a:r>
            <a:r>
              <a:rPr lang="en-US" altLang="zh-CN" smtClean="0"/>
              <a:t>EVPN</a:t>
            </a:r>
            <a:r>
              <a:rPr lang="zh-CN" altLang="en-US" smtClean="0"/>
              <a:t>的</a:t>
            </a:r>
            <a:r>
              <a:rPr lang="en-US" altLang="zh-CN" smtClean="0"/>
              <a:t>VPN</a:t>
            </a:r>
            <a:r>
              <a:rPr lang="zh-CN" altLang="en-US" smtClean="0"/>
              <a:t>。</a:t>
            </a:r>
          </a:p>
          <a:p>
            <a:pPr lvl="1"/>
            <a:r>
              <a:rPr lang="en-US" altLang="zh-CN" smtClean="0"/>
              <a:t>IPsec VPN</a:t>
            </a:r>
            <a:r>
              <a:rPr lang="zh-CN" altLang="en-US" smtClean="0"/>
              <a:t>属于一种静态的</a:t>
            </a:r>
            <a:r>
              <a:rPr lang="en-US" altLang="zh-CN" smtClean="0"/>
              <a:t>VPN</a:t>
            </a:r>
            <a:r>
              <a:rPr lang="zh-CN" altLang="en-US" smtClean="0"/>
              <a:t>，通过在站点的设备间建立</a:t>
            </a:r>
            <a:r>
              <a:rPr lang="en-US" altLang="zh-CN" smtClean="0"/>
              <a:t>IPsec</a:t>
            </a:r>
            <a:r>
              <a:rPr lang="zh-CN" altLang="en-US" smtClean="0"/>
              <a:t>隧道来创建</a:t>
            </a:r>
            <a:r>
              <a:rPr lang="en-US" altLang="zh-CN" smtClean="0"/>
              <a:t>VPN</a:t>
            </a:r>
            <a:r>
              <a:rPr lang="zh-CN" altLang="en-US" smtClean="0"/>
              <a:t>通道，根据配置静态网段引流到</a:t>
            </a:r>
            <a:r>
              <a:rPr lang="en-US" altLang="zh-CN" smtClean="0"/>
              <a:t>VPN</a:t>
            </a:r>
            <a:r>
              <a:rPr lang="zh-CN" altLang="en-US" smtClean="0"/>
              <a:t>隧道中，实现站点间的业务通过</a:t>
            </a:r>
            <a:r>
              <a:rPr lang="en-US" altLang="zh-CN" smtClean="0"/>
              <a:t>VPN</a:t>
            </a:r>
            <a:r>
              <a:rPr lang="zh-CN" altLang="en-US" smtClean="0"/>
              <a:t>隧道进行访问。 </a:t>
            </a:r>
            <a:endParaRPr lang="en-US" altLang="zh-CN" smtClean="0"/>
          </a:p>
          <a:p>
            <a:pPr lvl="1"/>
            <a:r>
              <a:rPr lang="en-US" altLang="zh-CN" smtClean="0"/>
              <a:t>EVPN</a:t>
            </a:r>
            <a:r>
              <a:rPr lang="zh-CN" altLang="en-US" smtClean="0"/>
              <a:t>属于一种动态的</a:t>
            </a:r>
            <a:r>
              <a:rPr lang="en-US" altLang="zh-CN" smtClean="0"/>
              <a:t>VPN</a:t>
            </a:r>
            <a:r>
              <a:rPr lang="zh-CN" altLang="en-US" smtClean="0"/>
              <a:t>，可以按需在站点间建立隧道，动态发布路由。</a:t>
            </a:r>
            <a:r>
              <a:rPr lang="en-US" altLang="zh-CN" smtClean="0"/>
              <a:t>EVPN</a:t>
            </a:r>
            <a:r>
              <a:rPr lang="zh-CN" altLang="en-US" smtClean="0"/>
              <a:t>通过在站点间建立</a:t>
            </a:r>
            <a:r>
              <a:rPr lang="en-US" altLang="zh-CN" smtClean="0"/>
              <a:t>GRE</a:t>
            </a:r>
            <a:r>
              <a:rPr lang="zh-CN" altLang="en-US" smtClean="0"/>
              <a:t>隧道来创建</a:t>
            </a:r>
            <a:r>
              <a:rPr lang="en-US" altLang="zh-CN" smtClean="0"/>
              <a:t>VPN</a:t>
            </a:r>
            <a:r>
              <a:rPr lang="zh-CN" altLang="en-US" smtClean="0"/>
              <a:t>通道，同时支持在</a:t>
            </a:r>
            <a:r>
              <a:rPr lang="en-US" altLang="zh-CN" smtClean="0"/>
              <a:t>GRE</a:t>
            </a:r>
            <a:r>
              <a:rPr lang="zh-CN" altLang="en-US" smtClean="0"/>
              <a:t>隧道上进行</a:t>
            </a:r>
            <a:r>
              <a:rPr lang="en-US" altLang="zh-CN" smtClean="0"/>
              <a:t>IPsec</a:t>
            </a:r>
            <a:r>
              <a:rPr lang="zh-CN" altLang="en-US" smtClean="0"/>
              <a:t>加密，以实现隧道的加密安全。另外</a:t>
            </a:r>
            <a:r>
              <a:rPr lang="en-US" altLang="zh-CN" smtClean="0"/>
              <a:t>EVPN</a:t>
            </a:r>
            <a:r>
              <a:rPr lang="zh-CN" altLang="en-US" smtClean="0"/>
              <a:t>方案可以基于应用、策略选择质量较优的链路发送数据，实现基于应用、策略的智能选路。</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442996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629456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625709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743757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690890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230295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515439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497081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714963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42353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383988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868946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noProof="0" dirty="0" smtClean="0">
                <a:sym typeface="+mn-lt"/>
              </a:rPr>
              <a:t>传统的网络开局需要工程安装人员、网络调测人员共同参与，安装、调测周期长，业务上线慢，消耗人力多，云园区网络解决方案支持自动化开局。</a:t>
            </a:r>
            <a:endParaRPr lang="en-US" altLang="zh-CN" noProof="0" dirty="0" smtClean="0">
              <a:sym typeface="+mn-lt"/>
            </a:endParaRP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991764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70305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256047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164939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14000"/>
              </a:lnSpc>
            </a:pPr>
            <a:r>
              <a:rPr lang="zh-CN" altLang="en-US" dirty="0" smtClean="0"/>
              <a:t>方案概述：</a:t>
            </a:r>
          </a:p>
          <a:p>
            <a:pPr lvl="1">
              <a:lnSpc>
                <a:spcPct val="114000"/>
              </a:lnSpc>
            </a:pPr>
            <a:r>
              <a:rPr lang="zh-CN" altLang="en-US" dirty="0" smtClean="0"/>
              <a:t>提供场景化自动部署功能，以进一步简化网络开局。</a:t>
            </a:r>
          </a:p>
          <a:p>
            <a:pPr lvl="1">
              <a:lnSpc>
                <a:spcPct val="114000"/>
              </a:lnSpc>
            </a:pPr>
            <a:r>
              <a:rPr lang="zh-CN" altLang="en-US" dirty="0" smtClean="0"/>
              <a:t>可以根据客户选择的行业场景，自动生成相关的网络配置（如</a:t>
            </a:r>
            <a:r>
              <a:rPr lang="en-US" altLang="zh-CN" dirty="0" smtClean="0"/>
              <a:t>SSID</a:t>
            </a:r>
            <a:r>
              <a:rPr lang="zh-CN" altLang="en-US" dirty="0" smtClean="0"/>
              <a:t>），无需用户事先规划和配置，避免复杂繁琐的配置设计和规划；同时，用户可以通过自定义场景模板来对站点网络进行规划，达到快速生成站点网络配置并进行部署的目的。</a:t>
            </a:r>
          </a:p>
          <a:p>
            <a:pPr lvl="1">
              <a:lnSpc>
                <a:spcPct val="114000"/>
              </a:lnSpc>
            </a:pPr>
            <a:r>
              <a:rPr lang="zh-CN" altLang="en-US" dirty="0" smtClean="0"/>
              <a:t>目前，解决方案预置场景模板为中小办公场景，后续规划增加其它场景模板。</a:t>
            </a:r>
          </a:p>
          <a:p>
            <a:pPr>
              <a:lnSpc>
                <a:spcPct val="114000"/>
              </a:lnSpc>
            </a:pPr>
            <a:r>
              <a:rPr lang="zh-CN" altLang="en-US" dirty="0" smtClean="0"/>
              <a:t>设计要点：</a:t>
            </a:r>
          </a:p>
          <a:p>
            <a:pPr lvl="1">
              <a:lnSpc>
                <a:spcPct val="114000"/>
              </a:lnSpc>
            </a:pPr>
            <a:r>
              <a:rPr lang="zh-CN" altLang="en-US" dirty="0" smtClean="0"/>
              <a:t>选择业务场景，即选择场景模板。</a:t>
            </a:r>
          </a:p>
          <a:p>
            <a:pPr lvl="1">
              <a:lnSpc>
                <a:spcPct val="114000"/>
              </a:lnSpc>
            </a:pPr>
            <a:r>
              <a:rPr lang="zh-CN" altLang="en-US" dirty="0" smtClean="0"/>
              <a:t>选择相关设备及组网拓扑。</a:t>
            </a:r>
          </a:p>
          <a:p>
            <a:pPr lvl="1">
              <a:lnSpc>
                <a:spcPct val="114000"/>
              </a:lnSpc>
            </a:pPr>
            <a:r>
              <a:rPr lang="zh-CN" altLang="en-US" dirty="0" smtClean="0"/>
              <a:t>确认相关配置或调整预置配置。</a:t>
            </a:r>
            <a:endParaRPr lang="en-US" altLang="zh-CN" dirty="0" smtClean="0"/>
          </a:p>
          <a:p>
            <a:pPr lvl="0">
              <a:lnSpc>
                <a:spcPct val="114000"/>
              </a:lnSpc>
            </a:pPr>
            <a:r>
              <a:rPr lang="zh-CN" altLang="en-US" dirty="0" smtClean="0"/>
              <a:t>场景模板包括网络开局涉及到的内容和功能，主要包括：</a:t>
            </a:r>
          </a:p>
          <a:p>
            <a:pPr lvl="1">
              <a:lnSpc>
                <a:spcPct val="114000"/>
              </a:lnSpc>
            </a:pPr>
            <a:r>
              <a:rPr lang="zh-CN" altLang="en-US" dirty="0" smtClean="0"/>
              <a:t>支持选择组网方式，支持中小型园区网络常见的组网模型。</a:t>
            </a:r>
          </a:p>
          <a:p>
            <a:pPr lvl="1">
              <a:lnSpc>
                <a:spcPct val="114000"/>
              </a:lnSpc>
            </a:pPr>
            <a:r>
              <a:rPr lang="zh-CN" altLang="en-US" dirty="0" smtClean="0"/>
              <a:t>支持自动配置</a:t>
            </a:r>
            <a:r>
              <a:rPr lang="en-US" altLang="zh-CN" dirty="0" smtClean="0"/>
              <a:t>DHCP Server</a:t>
            </a:r>
            <a:r>
              <a:rPr lang="zh-CN" altLang="en-US" dirty="0" smtClean="0"/>
              <a:t>。</a:t>
            </a:r>
          </a:p>
          <a:p>
            <a:pPr lvl="1">
              <a:lnSpc>
                <a:spcPct val="114000"/>
              </a:lnSpc>
            </a:pPr>
            <a:r>
              <a:rPr lang="zh-CN" altLang="en-US" dirty="0" smtClean="0"/>
              <a:t>支持配置</a:t>
            </a:r>
            <a:r>
              <a:rPr lang="en-US" altLang="zh-CN" dirty="0" smtClean="0"/>
              <a:t>FW</a:t>
            </a:r>
            <a:r>
              <a:rPr lang="zh-CN" altLang="en-US" dirty="0" smtClean="0"/>
              <a:t>出口双上行可靠，默认主备模式。</a:t>
            </a:r>
          </a:p>
          <a:p>
            <a:pPr lvl="1">
              <a:lnSpc>
                <a:spcPct val="114000"/>
              </a:lnSpc>
            </a:pPr>
            <a:r>
              <a:rPr lang="zh-CN" altLang="en-US" dirty="0" smtClean="0"/>
              <a:t>支持自动配置</a:t>
            </a:r>
            <a:r>
              <a:rPr lang="en-US" altLang="zh-CN" dirty="0" smtClean="0"/>
              <a:t>Eth-Trunk</a:t>
            </a:r>
            <a:r>
              <a:rPr lang="zh-CN" altLang="en-US" dirty="0" smtClean="0"/>
              <a:t>。</a:t>
            </a:r>
          </a:p>
          <a:p>
            <a:pPr lvl="1">
              <a:lnSpc>
                <a:spcPct val="114000"/>
              </a:lnSpc>
            </a:pPr>
            <a:r>
              <a:rPr lang="zh-CN" altLang="en-US" dirty="0" smtClean="0"/>
              <a:t>支持自动配置网络业务，包括：</a:t>
            </a:r>
            <a:r>
              <a:rPr lang="en-US" altLang="zh-CN" dirty="0" smtClean="0"/>
              <a:t>SSID</a:t>
            </a:r>
            <a:r>
              <a:rPr lang="zh-CN" altLang="en-US" dirty="0" smtClean="0"/>
              <a:t>配置、</a:t>
            </a:r>
            <a:r>
              <a:rPr lang="en-US" altLang="zh-CN" dirty="0" smtClean="0"/>
              <a:t>PSK</a:t>
            </a:r>
            <a:r>
              <a:rPr lang="zh-CN" altLang="en-US" dirty="0" smtClean="0"/>
              <a:t>密码、</a:t>
            </a:r>
            <a:r>
              <a:rPr lang="en-US" altLang="zh-CN" dirty="0" err="1" smtClean="0"/>
              <a:t>QoS</a:t>
            </a:r>
            <a:r>
              <a:rPr lang="zh-CN" altLang="en-US" dirty="0" smtClean="0"/>
              <a:t>配置、接入认证配置、流量及应用监控配置。</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892938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680727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769827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基于场景明确</a:t>
            </a:r>
            <a:r>
              <a:rPr lang="en-US" altLang="zh-CN" dirty="0" smtClean="0"/>
              <a:t>WLAN</a:t>
            </a:r>
            <a:r>
              <a:rPr lang="zh-CN" altLang="en-US" dirty="0" smtClean="0"/>
              <a:t>信号覆盖要求后，可以利用</a:t>
            </a:r>
            <a:r>
              <a:rPr lang="en-US" altLang="zh-CN" dirty="0" smtClean="0"/>
              <a:t>WLAN</a:t>
            </a:r>
            <a:r>
              <a:rPr lang="zh-CN" altLang="en-US" dirty="0" smtClean="0"/>
              <a:t>网规工具进行</a:t>
            </a:r>
            <a:r>
              <a:rPr lang="en-US" altLang="zh-CN" dirty="0" smtClean="0"/>
              <a:t>AP</a:t>
            </a:r>
            <a:r>
              <a:rPr lang="zh-CN" altLang="en-US" dirty="0" smtClean="0"/>
              <a:t>布放规划。当前该工具提供如下功能：</a:t>
            </a:r>
          </a:p>
          <a:p>
            <a:pPr lvl="1"/>
            <a:r>
              <a:rPr lang="zh-CN" altLang="en-US" dirty="0" smtClean="0"/>
              <a:t>支持基于图纸</a:t>
            </a:r>
            <a:r>
              <a:rPr lang="en-US" altLang="zh-CN" dirty="0" smtClean="0"/>
              <a:t>/</a:t>
            </a:r>
            <a:r>
              <a:rPr lang="zh-CN" altLang="en-US" dirty="0" smtClean="0"/>
              <a:t>高德地图创建网规工程；</a:t>
            </a:r>
          </a:p>
          <a:p>
            <a:pPr lvl="1"/>
            <a:r>
              <a:rPr lang="zh-CN" altLang="en-US" dirty="0" smtClean="0"/>
              <a:t>支持区域设置、障碍物生成，支持一键自动布放</a:t>
            </a:r>
            <a:r>
              <a:rPr lang="en-US" altLang="zh-CN" dirty="0" smtClean="0"/>
              <a:t>AP/</a:t>
            </a:r>
            <a:r>
              <a:rPr lang="zh-CN" altLang="en-US" dirty="0" smtClean="0"/>
              <a:t>手动布放</a:t>
            </a:r>
            <a:r>
              <a:rPr lang="en-US" altLang="zh-CN" dirty="0" smtClean="0"/>
              <a:t>AP</a:t>
            </a:r>
            <a:r>
              <a:rPr lang="zh-CN" altLang="en-US" dirty="0" smtClean="0"/>
              <a:t>，生成</a:t>
            </a:r>
            <a:r>
              <a:rPr lang="en-US" altLang="zh-CN" dirty="0" smtClean="0"/>
              <a:t>WLAN</a:t>
            </a:r>
            <a:r>
              <a:rPr lang="zh-CN" altLang="en-US" dirty="0" smtClean="0"/>
              <a:t>信号覆盖效果仿真；</a:t>
            </a:r>
          </a:p>
          <a:p>
            <a:pPr lvl="1"/>
            <a:r>
              <a:rPr lang="zh-CN" altLang="en-US" dirty="0" smtClean="0"/>
              <a:t>生成并导出网规文件，用户可在</a:t>
            </a:r>
            <a:r>
              <a:rPr lang="en-US" altLang="zh-CN" dirty="0" err="1" smtClean="0"/>
              <a:t>iMaster</a:t>
            </a:r>
            <a:r>
              <a:rPr lang="en-US" altLang="zh-CN" dirty="0" smtClean="0"/>
              <a:t> NCE-Campus</a:t>
            </a:r>
            <a:r>
              <a:rPr lang="zh-CN" altLang="en-US" dirty="0" smtClean="0"/>
              <a:t>的租户管理界面导入网规结果，实现</a:t>
            </a:r>
            <a:r>
              <a:rPr lang="en-US" altLang="zh-CN" dirty="0" smtClean="0"/>
              <a:t>AP</a:t>
            </a:r>
            <a:r>
              <a:rPr lang="zh-CN" altLang="en-US" dirty="0" smtClean="0"/>
              <a:t>点位呈现，还可以帮助租户进行</a:t>
            </a:r>
            <a:r>
              <a:rPr lang="en-US" altLang="zh-CN" dirty="0" smtClean="0"/>
              <a:t>AP</a:t>
            </a:r>
            <a:r>
              <a:rPr lang="zh-CN" altLang="en-US" dirty="0" smtClean="0"/>
              <a:t>安装指导；</a:t>
            </a:r>
          </a:p>
          <a:p>
            <a:pPr lvl="1"/>
            <a:r>
              <a:rPr lang="en-US" altLang="zh-CN" dirty="0" err="1" smtClean="0"/>
              <a:t>iMaster</a:t>
            </a:r>
            <a:r>
              <a:rPr lang="en-US" altLang="zh-CN" dirty="0" smtClean="0"/>
              <a:t> NCE-</a:t>
            </a:r>
            <a:r>
              <a:rPr lang="en-US" altLang="zh-CN" dirty="0" err="1" smtClean="0"/>
              <a:t>CampusInsight</a:t>
            </a:r>
            <a:r>
              <a:rPr lang="zh-CN" altLang="en-US" dirty="0" smtClean="0"/>
              <a:t>支持导入网规文件，网络部署后可以查看网络的实际信号热图。</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162637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81988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在</a:t>
            </a:r>
            <a:r>
              <a:rPr lang="en-US" altLang="zh-CN" dirty="0" smtClean="0"/>
              <a:t>WLAN</a:t>
            </a:r>
            <a:r>
              <a:rPr lang="zh-CN" altLang="en-US" dirty="0" smtClean="0"/>
              <a:t>网络中，</a:t>
            </a:r>
            <a:r>
              <a:rPr lang="en-US" altLang="zh-CN" dirty="0" smtClean="0"/>
              <a:t>SSID</a:t>
            </a:r>
            <a:r>
              <a:rPr lang="zh-CN" altLang="en-US" dirty="0" smtClean="0"/>
              <a:t>用来表示不同的无线网络，在手机等终端上搜索可接入的无线网络时，显示出来的网络名称就是</a:t>
            </a:r>
            <a:r>
              <a:rPr lang="en-US" altLang="zh-CN" dirty="0" smtClean="0"/>
              <a:t>SSID</a:t>
            </a:r>
            <a:r>
              <a:rPr lang="zh-CN" altLang="en-US" dirty="0" smtClean="0"/>
              <a:t>，终端用户可选择相应的</a:t>
            </a:r>
            <a:r>
              <a:rPr lang="en-US" altLang="zh-CN" dirty="0" smtClean="0"/>
              <a:t>SSID</a:t>
            </a:r>
            <a:r>
              <a:rPr lang="zh-CN" altLang="en-US" dirty="0" smtClean="0"/>
              <a:t>接入网络。</a:t>
            </a:r>
          </a:p>
          <a:p>
            <a:r>
              <a:rPr lang="zh-CN" altLang="en-US" dirty="0" smtClean="0"/>
              <a:t>一般按用户角色或者业务来规划</a:t>
            </a:r>
            <a:r>
              <a:rPr lang="en-US" altLang="zh-CN" dirty="0" smtClean="0"/>
              <a:t>SSID</a:t>
            </a:r>
            <a:r>
              <a:rPr lang="zh-CN" altLang="en-US" dirty="0" smtClean="0"/>
              <a:t>，不同的</a:t>
            </a:r>
            <a:r>
              <a:rPr lang="en-US" altLang="zh-CN" dirty="0" smtClean="0"/>
              <a:t>SSID</a:t>
            </a:r>
            <a:r>
              <a:rPr lang="zh-CN" altLang="en-US" dirty="0" smtClean="0"/>
              <a:t>可部署不同的认证方式、网络访问权限及控制策略等。</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870463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二层漫游的实现：</a:t>
            </a:r>
          </a:p>
          <a:p>
            <a:pPr lvl="1"/>
            <a:r>
              <a:rPr lang="zh-CN" altLang="en-US" dirty="0" smtClean="0"/>
              <a:t>漫游邻居：</a:t>
            </a:r>
            <a:r>
              <a:rPr lang="en-US" altLang="zh-CN" dirty="0" smtClean="0"/>
              <a:t>AP</a:t>
            </a:r>
            <a:r>
              <a:rPr lang="zh-CN" altLang="en-US" dirty="0" smtClean="0"/>
              <a:t>通过空口探测周围的邻居，在同一个站点下，如果</a:t>
            </a:r>
            <a:r>
              <a:rPr lang="en-US" altLang="zh-CN" dirty="0" smtClean="0"/>
              <a:t>SSID</a:t>
            </a:r>
            <a:r>
              <a:rPr lang="zh-CN" altLang="en-US" dirty="0" smtClean="0"/>
              <a:t>相同，</a:t>
            </a:r>
            <a:r>
              <a:rPr lang="en-US" altLang="zh-CN" dirty="0" smtClean="0"/>
              <a:t>AP</a:t>
            </a:r>
            <a:r>
              <a:rPr lang="zh-CN" altLang="en-US" dirty="0" smtClean="0"/>
              <a:t>能相互探测到，并认为是漫游邻居（一个</a:t>
            </a:r>
            <a:r>
              <a:rPr lang="en-US" altLang="zh-CN" dirty="0" smtClean="0"/>
              <a:t>AP</a:t>
            </a:r>
            <a:r>
              <a:rPr lang="zh-CN" altLang="en-US" dirty="0" smtClean="0"/>
              <a:t>最多可建立</a:t>
            </a:r>
            <a:r>
              <a:rPr lang="en-US" altLang="zh-CN" dirty="0" smtClean="0"/>
              <a:t>64</a:t>
            </a:r>
            <a:r>
              <a:rPr lang="zh-CN" altLang="en-US" dirty="0" smtClean="0"/>
              <a:t>个漫游邻居）。</a:t>
            </a:r>
          </a:p>
          <a:p>
            <a:pPr lvl="1"/>
            <a:r>
              <a:rPr lang="zh-CN" altLang="en-US" dirty="0" smtClean="0"/>
              <a:t>每个</a:t>
            </a:r>
            <a:r>
              <a:rPr lang="en-US" altLang="zh-CN" dirty="0" smtClean="0"/>
              <a:t>AP</a:t>
            </a:r>
            <a:r>
              <a:rPr lang="zh-CN" altLang="en-US" dirty="0" smtClean="0"/>
              <a:t>都会和漫游邻居之间建立有线</a:t>
            </a:r>
            <a:r>
              <a:rPr lang="en-US" altLang="zh-CN" dirty="0" smtClean="0"/>
              <a:t>CAPWAP</a:t>
            </a:r>
            <a:r>
              <a:rPr lang="zh-CN" altLang="en-US" dirty="0" smtClean="0"/>
              <a:t>隧道（控制面隧道），用于传递漫游信息。</a:t>
            </a:r>
            <a:endParaRPr lang="en-US" altLang="zh-CN" dirty="0" smtClean="0"/>
          </a:p>
          <a:p>
            <a:pPr lvl="1"/>
            <a:r>
              <a:rPr lang="zh-CN" altLang="en-US" dirty="0" smtClean="0"/>
              <a:t>漫游邻居的建立，和调优组没关系，调优组按管理</a:t>
            </a:r>
            <a:r>
              <a:rPr lang="en-US" altLang="zh-CN" dirty="0" smtClean="0"/>
              <a:t>VLAN</a:t>
            </a:r>
            <a:r>
              <a:rPr lang="zh-CN" altLang="en-US" dirty="0" smtClean="0"/>
              <a:t>划分，二层漫游邻居按业务</a:t>
            </a:r>
            <a:r>
              <a:rPr lang="en-US" altLang="zh-CN" dirty="0" smtClean="0"/>
              <a:t>VLAN</a:t>
            </a:r>
            <a:r>
              <a:rPr lang="zh-CN" altLang="en-US" dirty="0" smtClean="0"/>
              <a:t>是否相同而建链。</a:t>
            </a:r>
          </a:p>
          <a:p>
            <a:pPr lvl="1"/>
            <a:r>
              <a:rPr lang="zh-CN" altLang="en-US" dirty="0" smtClean="0"/>
              <a:t>终端在</a:t>
            </a:r>
            <a:r>
              <a:rPr lang="en-US" altLang="zh-CN" dirty="0" smtClean="0"/>
              <a:t>AP</a:t>
            </a:r>
            <a:r>
              <a:rPr lang="zh-CN" altLang="en-US" dirty="0" smtClean="0"/>
              <a:t>上线时，</a:t>
            </a:r>
            <a:r>
              <a:rPr lang="en-US" altLang="zh-CN" dirty="0" smtClean="0"/>
              <a:t>AP</a:t>
            </a:r>
            <a:r>
              <a:rPr lang="zh-CN" altLang="en-US" dirty="0" smtClean="0"/>
              <a:t>会将用户的</a:t>
            </a:r>
            <a:r>
              <a:rPr lang="en-US" altLang="zh-CN" dirty="0" smtClean="0"/>
              <a:t>MAC</a:t>
            </a:r>
            <a:r>
              <a:rPr lang="zh-CN" altLang="en-US" dirty="0" smtClean="0"/>
              <a:t>地址等信息同步给</a:t>
            </a:r>
            <a:r>
              <a:rPr lang="en-US" altLang="zh-CN" dirty="0" smtClean="0"/>
              <a:t>AP</a:t>
            </a:r>
            <a:r>
              <a:rPr lang="zh-CN" altLang="en-US" dirty="0" smtClean="0"/>
              <a:t>的所有漫游邻居；如终端漫游到新的</a:t>
            </a:r>
            <a:r>
              <a:rPr lang="en-US" altLang="zh-CN" dirty="0" smtClean="0"/>
              <a:t>AP</a:t>
            </a:r>
            <a:r>
              <a:rPr lang="zh-CN" altLang="en-US" dirty="0" smtClean="0"/>
              <a:t>（漫游后</a:t>
            </a:r>
            <a:r>
              <a:rPr lang="en-US" altLang="zh-CN" dirty="0" smtClean="0"/>
              <a:t>AP</a:t>
            </a:r>
            <a:r>
              <a:rPr lang="zh-CN" altLang="en-US" dirty="0" smtClean="0"/>
              <a:t>），该</a:t>
            </a:r>
            <a:r>
              <a:rPr lang="en-US" altLang="zh-CN" dirty="0" smtClean="0"/>
              <a:t>AP</a:t>
            </a:r>
            <a:r>
              <a:rPr lang="zh-CN" altLang="en-US" dirty="0" smtClean="0"/>
              <a:t>会判断该终端是否为漫游，同时需要到漫游前</a:t>
            </a:r>
            <a:r>
              <a:rPr lang="en-US" altLang="zh-CN" dirty="0" smtClean="0"/>
              <a:t>AP</a:t>
            </a:r>
            <a:r>
              <a:rPr lang="zh-CN" altLang="en-US" dirty="0" smtClean="0"/>
              <a:t>同步用户表项（</a:t>
            </a:r>
            <a:r>
              <a:rPr lang="en-US" altLang="zh-CN" dirty="0" smtClean="0"/>
              <a:t>VLAN</a:t>
            </a:r>
            <a:r>
              <a:rPr lang="zh-CN" altLang="en-US" dirty="0" smtClean="0"/>
              <a:t>、</a:t>
            </a:r>
            <a:r>
              <a:rPr lang="en-US" altLang="zh-CN" dirty="0" smtClean="0"/>
              <a:t>IP</a:t>
            </a:r>
            <a:r>
              <a:rPr lang="zh-CN" altLang="en-US" dirty="0" smtClean="0"/>
              <a:t>、认证是否通过、授权组等），然后漫游后</a:t>
            </a:r>
            <a:r>
              <a:rPr lang="en-US" altLang="zh-CN" dirty="0" smtClean="0"/>
              <a:t>AP</a:t>
            </a:r>
            <a:r>
              <a:rPr lang="zh-CN" altLang="en-US" dirty="0" smtClean="0"/>
              <a:t>会生成用户表项，此时终端无需再次进行身份认证；终端漫游完成后，漫游后</a:t>
            </a:r>
            <a:r>
              <a:rPr lang="en-US" altLang="zh-CN" dirty="0" smtClean="0"/>
              <a:t>AP</a:t>
            </a:r>
            <a:r>
              <a:rPr lang="zh-CN" altLang="en-US" dirty="0" smtClean="0"/>
              <a:t>会通知它的邻居</a:t>
            </a:r>
            <a:r>
              <a:rPr lang="en-US" altLang="zh-CN" dirty="0" smtClean="0"/>
              <a:t>AP</a:t>
            </a:r>
            <a:r>
              <a:rPr lang="zh-CN" altLang="en-US" dirty="0" smtClean="0"/>
              <a:t>，以便支持终端从本</a:t>
            </a:r>
            <a:r>
              <a:rPr lang="en-US" altLang="zh-CN" dirty="0" smtClean="0"/>
              <a:t>AP</a:t>
            </a:r>
            <a:r>
              <a:rPr lang="zh-CN" altLang="en-US" dirty="0" smtClean="0"/>
              <a:t>再漫游到其他</a:t>
            </a:r>
            <a:r>
              <a:rPr lang="en-US" altLang="zh-CN" dirty="0" smtClean="0"/>
              <a:t>AP</a:t>
            </a:r>
            <a:r>
              <a:rPr lang="zh-CN" altLang="en-US" dirty="0" smtClean="0"/>
              <a:t>。此外，漫游完成后，漫游前</a:t>
            </a:r>
            <a:r>
              <a:rPr lang="en-US" altLang="zh-CN" dirty="0" smtClean="0"/>
              <a:t>AP</a:t>
            </a:r>
            <a:r>
              <a:rPr lang="zh-CN" altLang="en-US" dirty="0" smtClean="0"/>
              <a:t>会删除用户表项。</a:t>
            </a:r>
          </a:p>
          <a:p>
            <a:pPr lvl="1"/>
            <a:r>
              <a:rPr lang="zh-CN" altLang="en-US" dirty="0" smtClean="0"/>
              <a:t>在二层漫游中，终端的流量不会迂回，由漫游后</a:t>
            </a:r>
            <a:r>
              <a:rPr lang="en-US" altLang="zh-CN" dirty="0" smtClean="0"/>
              <a:t>AP</a:t>
            </a:r>
            <a:r>
              <a:rPr lang="zh-CN" altLang="en-US" dirty="0" smtClean="0"/>
              <a:t>直接转发流量。</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056676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365825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023163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云</a:t>
            </a:r>
            <a:r>
              <a:rPr lang="en-US" altLang="zh-CN" dirty="0" smtClean="0"/>
              <a:t>AP</a:t>
            </a:r>
            <a:r>
              <a:rPr lang="zh-CN" altLang="en-US" dirty="0" smtClean="0"/>
              <a:t>本质是</a:t>
            </a:r>
            <a:r>
              <a:rPr lang="en-US" altLang="zh-CN" dirty="0" smtClean="0"/>
              <a:t>FAT AP</a:t>
            </a:r>
            <a:r>
              <a:rPr lang="zh-CN" altLang="en-US" dirty="0" smtClean="0"/>
              <a:t>，各自独立，但</a:t>
            </a:r>
            <a:r>
              <a:rPr lang="en-US" altLang="zh-CN" dirty="0" smtClean="0"/>
              <a:t>WLAN</a:t>
            </a:r>
            <a:r>
              <a:rPr lang="zh-CN" altLang="en-US" dirty="0" smtClean="0"/>
              <a:t>一些业务如调优需要集中处理，而此时又没有</a:t>
            </a:r>
            <a:r>
              <a:rPr lang="en-US" altLang="zh-CN" dirty="0" smtClean="0"/>
              <a:t>AC</a:t>
            </a:r>
            <a:r>
              <a:rPr lang="zh-CN" altLang="en-US" dirty="0" smtClean="0"/>
              <a:t>的角色，因此为了兼顾可靠性、性能，同时满足本地计算要求，需要一个类似</a:t>
            </a:r>
            <a:r>
              <a:rPr lang="en-US" altLang="zh-CN" dirty="0" smtClean="0"/>
              <a:t>AC</a:t>
            </a:r>
            <a:r>
              <a:rPr lang="zh-CN" altLang="en-US" dirty="0" smtClean="0"/>
              <a:t>的全局控制角色。</a:t>
            </a:r>
            <a:endParaRPr lang="en-US" altLang="zh-CN" dirty="0" smtClean="0"/>
          </a:p>
          <a:p>
            <a:r>
              <a:rPr lang="en-US" altLang="zh-CN" dirty="0" smtClean="0"/>
              <a:t>Leader AP</a:t>
            </a:r>
            <a:r>
              <a:rPr lang="zh-CN" altLang="en-US" dirty="0" smtClean="0"/>
              <a:t>，就是在一组</a:t>
            </a:r>
            <a:r>
              <a:rPr lang="en-US" altLang="zh-CN" dirty="0" smtClean="0"/>
              <a:t>AP</a:t>
            </a:r>
            <a:r>
              <a:rPr lang="zh-CN" altLang="en-US" dirty="0" smtClean="0"/>
              <a:t>里面选举一个能力比较强的</a:t>
            </a:r>
            <a:r>
              <a:rPr lang="en-US" altLang="zh-CN" dirty="0" smtClean="0"/>
              <a:t>AP</a:t>
            </a:r>
            <a:r>
              <a:rPr lang="zh-CN" altLang="en-US" dirty="0" smtClean="0"/>
              <a:t>作为</a:t>
            </a:r>
            <a:r>
              <a:rPr lang="en-US" altLang="zh-CN" dirty="0" smtClean="0"/>
              <a:t>Leader AP</a:t>
            </a:r>
            <a:r>
              <a:rPr lang="zh-CN" altLang="en-US" dirty="0" smtClean="0"/>
              <a:t>，负责整个组的全局调优功能（在一个二层域中自动选举）。</a:t>
            </a:r>
            <a:endParaRPr lang="en-US" altLang="zh-CN" dirty="0" smtClean="0"/>
          </a:p>
          <a:p>
            <a:r>
              <a:rPr lang="zh-CN" altLang="en-US" dirty="0" smtClean="0"/>
              <a:t>调优域的划分是基于管理</a:t>
            </a:r>
            <a:r>
              <a:rPr lang="en-US" altLang="zh-CN" dirty="0" smtClean="0"/>
              <a:t>VLAN</a:t>
            </a:r>
            <a:r>
              <a:rPr lang="zh-CN" altLang="en-US" dirty="0" smtClean="0"/>
              <a:t>自动划分的，在网络规模比较小时，一个</a:t>
            </a:r>
            <a:r>
              <a:rPr lang="en-US" altLang="zh-CN" dirty="0" smtClean="0"/>
              <a:t>Leader AP</a:t>
            </a:r>
            <a:r>
              <a:rPr lang="zh-CN" altLang="en-US" dirty="0" smtClean="0"/>
              <a:t>可以管理所有的</a:t>
            </a:r>
            <a:r>
              <a:rPr lang="en-US" altLang="zh-CN" dirty="0" smtClean="0"/>
              <a:t>AP</a:t>
            </a:r>
            <a:r>
              <a:rPr lang="zh-CN" altLang="en-US" dirty="0" smtClean="0"/>
              <a:t>（高性能</a:t>
            </a:r>
            <a:r>
              <a:rPr lang="en-US" altLang="zh-CN" dirty="0" smtClean="0"/>
              <a:t>AP</a:t>
            </a:r>
            <a:r>
              <a:rPr lang="zh-CN" altLang="en-US" dirty="0" smtClean="0"/>
              <a:t>管理规格</a:t>
            </a:r>
            <a:r>
              <a:rPr lang="en-US" altLang="zh-CN" dirty="0" smtClean="0"/>
              <a:t>&lt;=128</a:t>
            </a:r>
            <a:r>
              <a:rPr lang="zh-CN" altLang="en-US" dirty="0" smtClean="0"/>
              <a:t>、低性能规格</a:t>
            </a:r>
            <a:r>
              <a:rPr lang="en-US" altLang="zh-CN" dirty="0" smtClean="0"/>
              <a:t>&lt;=50</a:t>
            </a:r>
            <a:r>
              <a:rPr lang="zh-CN" altLang="en-US" dirty="0" smtClean="0"/>
              <a:t>），此时只需为</a:t>
            </a:r>
            <a:r>
              <a:rPr lang="en-US" altLang="zh-CN" dirty="0" smtClean="0"/>
              <a:t>AP</a:t>
            </a:r>
            <a:r>
              <a:rPr lang="zh-CN" altLang="en-US" dirty="0" smtClean="0"/>
              <a:t>规划一个管理</a:t>
            </a:r>
            <a:r>
              <a:rPr lang="en-US" altLang="zh-CN" dirty="0" smtClean="0"/>
              <a:t>VLAN</a:t>
            </a:r>
            <a:r>
              <a:rPr lang="zh-CN" altLang="en-US" dirty="0" smtClean="0"/>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9487322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smtClean="0"/>
              <a:t>定时调优时可以选择开启智能无线射频调优，利用分析器对无线网络历史数据进行分析，对网络中的干扰源进行预测。设备在对网络调优时能够提前避让开网络中可能存在的干扰源，提升整个无线网络的质量。</a:t>
            </a:r>
          </a:p>
          <a:p>
            <a:r>
              <a:rPr lang="zh-CN" altLang="zh-CN" smtClean="0"/>
              <a:t>在开局阶段，建议在完成</a:t>
            </a:r>
            <a:r>
              <a:rPr lang="en-US" altLang="zh-CN" smtClean="0"/>
              <a:t>AP</a:t>
            </a:r>
            <a:r>
              <a:rPr lang="zh-CN" altLang="zh-CN" smtClean="0"/>
              <a:t>部署并上线后，进行一次手动调优，以自动完成</a:t>
            </a:r>
            <a:r>
              <a:rPr lang="en-US" altLang="zh-CN" smtClean="0"/>
              <a:t>AP</a:t>
            </a:r>
            <a:r>
              <a:rPr lang="zh-CN" altLang="zh-CN" smtClean="0"/>
              <a:t>的信道与功率规划。</a:t>
            </a:r>
            <a:endParaRPr lang="zh-CN"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946063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581217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8163910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部署模式推荐：</a:t>
            </a:r>
            <a:endParaRPr lang="en-US" altLang="zh-CN" dirty="0" smtClean="0"/>
          </a:p>
          <a:p>
            <a:pPr lvl="1"/>
            <a:r>
              <a:rPr lang="zh-CN" altLang="en-US" dirty="0" smtClean="0"/>
              <a:t>主推采用</a:t>
            </a:r>
            <a:r>
              <a:rPr lang="en-US" altLang="zh-CN" dirty="0" err="1" smtClean="0"/>
              <a:t>iMaster</a:t>
            </a:r>
            <a:r>
              <a:rPr lang="en-US" altLang="zh-CN" dirty="0" smtClean="0"/>
              <a:t> NCE-Campus</a:t>
            </a:r>
            <a:r>
              <a:rPr lang="zh-CN" altLang="en-US" dirty="0" smtClean="0"/>
              <a:t>作为认证服务器，可以实现完整的认证、策略控制；</a:t>
            </a:r>
            <a:endParaRPr lang="en-US" altLang="zh-CN" dirty="0" smtClean="0"/>
          </a:p>
          <a:p>
            <a:pPr lvl="1"/>
            <a:r>
              <a:rPr lang="zh-CN" altLang="en-US" dirty="0" smtClean="0"/>
              <a:t>如果企业有自己的认证服务器时，则可以考虑通过</a:t>
            </a:r>
            <a:r>
              <a:rPr lang="en-US" altLang="zh-CN" dirty="0" smtClean="0"/>
              <a:t>Proxy</a:t>
            </a:r>
            <a:r>
              <a:rPr lang="zh-CN" altLang="en-US" dirty="0" smtClean="0"/>
              <a:t>的方式对接第三方服务器去对接企业自己的认证服务器，同时</a:t>
            </a:r>
            <a:r>
              <a:rPr lang="en-US" altLang="zh-CN" dirty="0" err="1" smtClean="0"/>
              <a:t>iMaster</a:t>
            </a:r>
            <a:r>
              <a:rPr lang="en-US" altLang="zh-CN" dirty="0" smtClean="0"/>
              <a:t> NCE-Campus</a:t>
            </a:r>
            <a:r>
              <a:rPr lang="zh-CN" altLang="en-US" dirty="0" smtClean="0"/>
              <a:t>也可以实现用户管理和部分策略管理；</a:t>
            </a:r>
            <a:endParaRPr lang="en-US" altLang="zh-CN" dirty="0" smtClean="0"/>
          </a:p>
          <a:p>
            <a:pPr lvl="1"/>
            <a:r>
              <a:rPr lang="zh-CN" altLang="en-US" dirty="0" smtClean="0"/>
              <a:t>如果企业完全采用第三方认证服务器来提供接入认证功能，则可以采用设备直接和第三方认证服务器对接的部署方式。</a:t>
            </a:r>
            <a:endParaRPr lang="en-US" altLang="zh-CN" dirty="0" smtClean="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5830193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4382693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421927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全层次、全业务、全场景的开放能力，助力</a:t>
            </a:r>
            <a:r>
              <a:rPr lang="en-US" altLang="zh-CN" dirty="0" smtClean="0"/>
              <a:t>MSP</a:t>
            </a:r>
            <a:r>
              <a:rPr lang="zh-CN" altLang="en-US" dirty="0" smtClean="0"/>
              <a:t>、增值应用伙伴、客户快速实现系统对接、业务融合、数据增值。</a:t>
            </a:r>
            <a:endParaRPr lang="en-US" altLang="zh-CN"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014427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3518081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6825498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根据运维操作方的不同，与网络管理模式一样，网络运维模式分为两类：</a:t>
            </a:r>
            <a:endParaRPr lang="en-US" altLang="zh-CN" dirty="0" smtClean="0"/>
          </a:p>
          <a:p>
            <a:pPr lvl="1"/>
            <a:r>
              <a:rPr lang="zh-CN" altLang="en-US" dirty="0" smtClean="0"/>
              <a:t>自运维：由企业自己负责运维。</a:t>
            </a:r>
            <a:endParaRPr lang="en-US" altLang="zh-CN" dirty="0" smtClean="0"/>
          </a:p>
          <a:p>
            <a:pPr lvl="1"/>
            <a:r>
              <a:rPr lang="zh-CN" altLang="en-US" dirty="0" smtClean="0"/>
              <a:t>代运维：由</a:t>
            </a:r>
            <a:r>
              <a:rPr lang="en-US" altLang="zh-CN" dirty="0" smtClean="0"/>
              <a:t>MSP</a:t>
            </a:r>
            <a:r>
              <a:rPr lang="zh-CN" altLang="en-US" dirty="0" smtClean="0"/>
              <a:t>负责运维。当租户向</a:t>
            </a:r>
            <a:r>
              <a:rPr lang="en-US" altLang="zh-CN" dirty="0" smtClean="0"/>
              <a:t>MSP</a:t>
            </a:r>
            <a:r>
              <a:rPr lang="zh-CN" altLang="en-US" dirty="0" smtClean="0"/>
              <a:t>申请代维服务后，</a:t>
            </a:r>
            <a:r>
              <a:rPr lang="en-US" altLang="zh-CN" dirty="0" smtClean="0"/>
              <a:t>MSP</a:t>
            </a:r>
            <a:r>
              <a:rPr lang="zh-CN" altLang="en-US" dirty="0" smtClean="0"/>
              <a:t>可直接对租户业务进行维护。此时，</a:t>
            </a:r>
            <a:r>
              <a:rPr lang="en-US" altLang="zh-CN" dirty="0" smtClean="0"/>
              <a:t>MSP</a:t>
            </a:r>
            <a:r>
              <a:rPr lang="zh-CN" altLang="en-US" dirty="0" smtClean="0"/>
              <a:t>使用已经授权</a:t>
            </a:r>
            <a:r>
              <a:rPr lang="en-US" altLang="zh-CN" dirty="0" smtClean="0"/>
              <a:t>MSP</a:t>
            </a:r>
            <a:r>
              <a:rPr lang="zh-CN" altLang="en-US" dirty="0" smtClean="0"/>
              <a:t>进行代维的租户帐号登录</a:t>
            </a:r>
            <a:r>
              <a:rPr lang="en-US" altLang="zh-CN" dirty="0" err="1" smtClean="0"/>
              <a:t>iMaster</a:t>
            </a:r>
            <a:r>
              <a:rPr lang="en-US" altLang="zh-CN" dirty="0" smtClean="0"/>
              <a:t> NCE-Campus</a:t>
            </a:r>
            <a:r>
              <a:rPr lang="zh-CN" altLang="en-US" dirty="0" smtClean="0"/>
              <a:t>。</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595127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580" indent="-228580">
              <a:buFont typeface="+mj-lt"/>
              <a:buAutoNum type="arabicPeriod"/>
            </a:pPr>
            <a:r>
              <a:rPr lang="en-US" altLang="zh-CN" dirty="0" smtClean="0"/>
              <a:t>ABC</a:t>
            </a:r>
            <a:endParaRPr lang="en-US" altLang="zh-CN" dirty="0" smtClean="0"/>
          </a:p>
          <a:p>
            <a:pPr marL="228580" indent="-228580">
              <a:buFont typeface="+mj-lt"/>
              <a:buAutoNum type="arabicPeriod"/>
            </a:pPr>
            <a:r>
              <a:rPr lang="en-US" altLang="zh-CN" dirty="0" smtClean="0"/>
              <a:t>B</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9444762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3147258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4302993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063922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16.png"/><Relationship Id="rId7" Type="http://schemas.openxmlformats.org/officeDocument/2006/relationships/image" Target="../media/image4.png"/><Relationship Id="rId12" Type="http://schemas.openxmlformats.org/officeDocument/2006/relationships/image" Target="../media/image19.png"/><Relationship Id="rId2" Type="http://schemas.openxmlformats.org/officeDocument/2006/relationships/notesSlide" Target="../notesSlides/notesSlide11.xml"/><Relationship Id="rId16" Type="http://schemas.openxmlformats.org/officeDocument/2006/relationships/image" Target="../media/image21.png"/><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9.png"/><Relationship Id="rId5" Type="http://schemas.openxmlformats.org/officeDocument/2006/relationships/image" Target="../media/image18.png"/><Relationship Id="rId15" Type="http://schemas.openxmlformats.org/officeDocument/2006/relationships/image" Target="../media/image20.png"/><Relationship Id="rId10" Type="http://schemas.openxmlformats.org/officeDocument/2006/relationships/image" Target="../media/image7.png"/><Relationship Id="rId4" Type="http://schemas.openxmlformats.org/officeDocument/2006/relationships/image" Target="../media/image17.png"/><Relationship Id="rId9" Type="http://schemas.openxmlformats.org/officeDocument/2006/relationships/image" Target="../media/image6.png"/><Relationship Id="rId1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20.png"/><Relationship Id="rId2" Type="http://schemas.openxmlformats.org/officeDocument/2006/relationships/notesSlide" Target="../notesSlides/notesSlide12.xml"/><Relationship Id="rId16"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9.png"/><Relationship Id="rId11" Type="http://schemas.openxmlformats.org/officeDocument/2006/relationships/image" Target="../media/image17.png"/><Relationship Id="rId5" Type="http://schemas.openxmlformats.org/officeDocument/2006/relationships/image" Target="../media/image23.png"/><Relationship Id="rId15" Type="http://schemas.openxmlformats.org/officeDocument/2006/relationships/image" Target="../media/image15.pn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4.png"/><Relationship Id="rId1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4.png"/><Relationship Id="rId12"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9.png"/><Relationship Id="rId11"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9.png"/><Relationship Id="rId14"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4.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6.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2.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44.png"/><Relationship Id="rId11" Type="http://schemas.openxmlformats.org/officeDocument/2006/relationships/image" Target="../media/image49.png"/><Relationship Id="rId5" Type="http://schemas.microsoft.com/office/2007/relationships/hdphoto" Target="../media/hdphoto1.wdp"/><Relationship Id="rId10" Type="http://schemas.openxmlformats.org/officeDocument/2006/relationships/image" Target="../media/image48.png"/><Relationship Id="rId4" Type="http://schemas.openxmlformats.org/officeDocument/2006/relationships/image" Target="../media/image43.png"/><Relationship Id="rId9"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53.png"/><Relationship Id="rId5" Type="http://schemas.openxmlformats.org/officeDocument/2006/relationships/image" Target="../media/image34.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3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53.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0.png"/><Relationship Id="rId7"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17.png"/><Relationship Id="rId11" Type="http://schemas.openxmlformats.org/officeDocument/2006/relationships/image" Target="../media/image9.png"/><Relationship Id="rId5" Type="http://schemas.openxmlformats.org/officeDocument/2006/relationships/image" Target="../media/image16.png"/><Relationship Id="rId10" Type="http://schemas.openxmlformats.org/officeDocument/2006/relationships/image" Target="../media/image5.png"/><Relationship Id="rId4" Type="http://schemas.openxmlformats.org/officeDocument/2006/relationships/image" Target="../media/image61.png"/><Relationship Id="rId9"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2.png"/><Relationship Id="rId7"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64.png"/><Relationship Id="rId5" Type="http://schemas.openxmlformats.org/officeDocument/2006/relationships/image" Target="../media/image9.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5.png"/><Relationship Id="rId7"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65.png"/><Relationship Id="rId5" Type="http://schemas.openxmlformats.org/officeDocument/2006/relationships/image" Target="../media/image52.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64.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9.png"/><Relationship Id="rId7"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18.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64.png"/></Relationships>
</file>

<file path=ppt/slides/_rels/slide4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18.png"/><Relationship Id="rId10" Type="http://schemas.openxmlformats.org/officeDocument/2006/relationships/image" Target="../media/image64.png"/><Relationship Id="rId4" Type="http://schemas.openxmlformats.org/officeDocument/2006/relationships/image" Target="../media/image17.png"/><Relationship Id="rId9" Type="http://schemas.openxmlformats.org/officeDocument/2006/relationships/image" Target="../media/image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5.png"/><Relationship Id="rId7"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52.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9.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5.png"/><Relationship Id="rId7"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52.pn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15.xml"/><Relationship Id="rId5" Type="http://schemas.openxmlformats.org/officeDocument/2006/relationships/image" Target="../media/image35.png"/><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27.png"/><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68.e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5.xml"/><Relationship Id="rId5" Type="http://schemas.openxmlformats.org/officeDocument/2006/relationships/image" Target="../media/image52.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69.png"/><Relationship Id="rId7"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15.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9.xml"/><Relationship Id="rId1" Type="http://schemas.openxmlformats.org/officeDocument/2006/relationships/slideLayout" Target="../slideLayouts/slideLayout15.xml"/><Relationship Id="rId5" Type="http://schemas.openxmlformats.org/officeDocument/2006/relationships/image" Target="../media/image52.pn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0.xml"/><Relationship Id="rId1" Type="http://schemas.openxmlformats.org/officeDocument/2006/relationships/slideLayout" Target="../slideLayouts/slideLayout15.xml"/><Relationship Id="rId6" Type="http://schemas.openxmlformats.org/officeDocument/2006/relationships/image" Target="../media/image66.png"/><Relationship Id="rId5" Type="http://schemas.openxmlformats.org/officeDocument/2006/relationships/image" Target="../media/image52.png"/><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35.png"/><Relationship Id="rId7" Type="http://schemas.openxmlformats.org/officeDocument/2006/relationships/image" Target="../media/image70.png"/><Relationship Id="rId2" Type="http://schemas.openxmlformats.org/officeDocument/2006/relationships/notesSlide" Target="../notesSlides/notesSlide62.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52.png"/><Relationship Id="rId10" Type="http://schemas.openxmlformats.org/officeDocument/2006/relationships/image" Target="../media/image64.png"/><Relationship Id="rId4" Type="http://schemas.openxmlformats.org/officeDocument/2006/relationships/image" Target="../media/image9.png"/><Relationship Id="rId9" Type="http://schemas.openxmlformats.org/officeDocument/2006/relationships/image" Target="../media/image72.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9.xml"/><Relationship Id="rId1" Type="http://schemas.openxmlformats.org/officeDocument/2006/relationships/slideLayout" Target="../slideLayouts/slideLayout15.xml"/><Relationship Id="rId6" Type="http://schemas.openxmlformats.org/officeDocument/2006/relationships/image" Target="../media/image77.jpeg"/><Relationship Id="rId5" Type="http://schemas.openxmlformats.org/officeDocument/2006/relationships/image" Target="../media/image76.png"/><Relationship Id="rId4" Type="http://schemas.openxmlformats.org/officeDocument/2006/relationships/image" Target="../media/image75.png"/></Relationships>
</file>

<file path=ppt/slides/_rels/slide70.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35.png"/><Relationship Id="rId2" Type="http://schemas.openxmlformats.org/officeDocument/2006/relationships/notesSlide" Target="../notesSlides/notesSlide70.xml"/><Relationship Id="rId1" Type="http://schemas.openxmlformats.org/officeDocument/2006/relationships/slideLayout" Target="../slideLayouts/slideLayout15.xml"/><Relationship Id="rId6" Type="http://schemas.openxmlformats.org/officeDocument/2006/relationships/image" Target="../media/image66.png"/><Relationship Id="rId5" Type="http://schemas.openxmlformats.org/officeDocument/2006/relationships/image" Target="../media/image52.png"/><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2.xml"/><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29.png"/></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3.xml"/><Relationship Id="rId1" Type="http://schemas.openxmlformats.org/officeDocument/2006/relationships/slideLayout" Target="../slideLayouts/slideLayout15.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4.xml"/><Relationship Id="rId1" Type="http://schemas.openxmlformats.org/officeDocument/2006/relationships/slideLayout" Target="../slideLayouts/slideLayout15.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5.xml"/><Relationship Id="rId1" Type="http://schemas.openxmlformats.org/officeDocument/2006/relationships/slideLayout" Target="../slideLayouts/slideLayout13.xml"/><Relationship Id="rId4" Type="http://schemas.openxmlformats.org/officeDocument/2006/relationships/image" Target="../media/image78.png"/></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6.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78.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9.xml"/><Relationship Id="rId1" Type="http://schemas.openxmlformats.org/officeDocument/2006/relationships/slideLayout" Target="../slideLayouts/slideLayout15.xml"/><Relationship Id="rId5" Type="http://schemas.openxmlformats.org/officeDocument/2006/relationships/image" Target="../media/image35.png"/><Relationship Id="rId4" Type="http://schemas.openxmlformats.org/officeDocument/2006/relationships/image" Target="../media/image79.png"/></Relationships>
</file>

<file path=ppt/slides/_rels/slide8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5.png"/><Relationship Id="rId7" Type="http://schemas.openxmlformats.org/officeDocument/2006/relationships/image" Target="../media/image81.png"/><Relationship Id="rId2" Type="http://schemas.openxmlformats.org/officeDocument/2006/relationships/notesSlide" Target="../notesSlides/notesSlide80.xml"/><Relationship Id="rId1" Type="http://schemas.openxmlformats.org/officeDocument/2006/relationships/slideLayout" Target="../slideLayouts/slideLayout15.xml"/><Relationship Id="rId6" Type="http://schemas.openxmlformats.org/officeDocument/2006/relationships/image" Target="../media/image80.png"/><Relationship Id="rId5" Type="http://schemas.openxmlformats.org/officeDocument/2006/relationships/image" Target="../media/image4.png"/><Relationship Id="rId10"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10.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3.png"/><Relationship Id="rId2" Type="http://schemas.openxmlformats.org/officeDocument/2006/relationships/notesSlide" Target="../notesSlides/notesSlide82.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82.png"/><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5.xml"/><Relationship Id="rId1" Type="http://schemas.openxmlformats.org/officeDocument/2006/relationships/slideLayout" Target="../slideLayouts/slideLayout15.xml"/><Relationship Id="rId5" Type="http://schemas.openxmlformats.org/officeDocument/2006/relationships/image" Target="../media/image84.png"/><Relationship Id="rId4" Type="http://schemas.openxmlformats.org/officeDocument/2006/relationships/image" Target="../media/image41.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占位符 6"/>
          <p:cNvSpPr>
            <a:spLocks noGrp="1"/>
          </p:cNvSpPr>
          <p:nvPr>
            <p:ph type="body" sz="quarter" idx="17"/>
          </p:nvPr>
        </p:nvSpPr>
        <p:spPr/>
        <p:txBody>
          <a:bodyPr/>
          <a:lstStyle/>
          <a:p>
            <a:endParaRPr lang="zh-CN" altLang="en-US" dirty="0"/>
          </a:p>
        </p:txBody>
      </p:sp>
      <p:sp>
        <p:nvSpPr>
          <p:cNvPr id="9" name="文本占位符 8"/>
          <p:cNvSpPr>
            <a:spLocks noGrp="1"/>
          </p:cNvSpPr>
          <p:nvPr>
            <p:ph type="body" sz="quarter" idx="18"/>
          </p:nvPr>
        </p:nvSpPr>
        <p:spPr/>
        <p:txBody>
          <a:bodyPr/>
          <a:lstStyle/>
          <a:p>
            <a:r>
              <a:rPr lang="en-US" altLang="zh-CN" dirty="0" err="1" smtClean="0"/>
              <a:t>Datacom</a:t>
            </a:r>
            <a:endParaRPr lang="zh-CN" altLang="en-US" dirty="0"/>
          </a:p>
        </p:txBody>
      </p:sp>
      <p:sp>
        <p:nvSpPr>
          <p:cNvPr id="42" name="文本占位符 41"/>
          <p:cNvSpPr>
            <a:spLocks noGrp="1"/>
          </p:cNvSpPr>
          <p:nvPr>
            <p:ph type="body" sz="quarter" idx="19"/>
          </p:nvPr>
        </p:nvSpPr>
        <p:spPr/>
        <p:txBody>
          <a:bodyPr/>
          <a:lstStyle/>
          <a:p>
            <a:r>
              <a:rPr lang="zh-CN" altLang="en-US" dirty="0" smtClean="0"/>
              <a:t>通用</a:t>
            </a:r>
            <a:endParaRPr lang="zh-CN" altLang="en-US" dirty="0"/>
          </a:p>
        </p:txBody>
      </p:sp>
      <p:sp>
        <p:nvSpPr>
          <p:cNvPr id="43" name="文本占位符 42"/>
          <p:cNvSpPr>
            <a:spLocks noGrp="1"/>
          </p:cNvSpPr>
          <p:nvPr>
            <p:ph type="body" sz="quarter" idx="20"/>
          </p:nvPr>
        </p:nvSpPr>
        <p:spPr/>
        <p:txBody>
          <a:bodyPr/>
          <a:lstStyle/>
          <a:p>
            <a:r>
              <a:rPr lang="en-US" altLang="zh-CN" dirty="0" smtClean="0"/>
              <a:t>V1.0</a:t>
            </a:r>
            <a:endParaRPr lang="zh-CN" altLang="en-US" dirty="0"/>
          </a:p>
        </p:txBody>
      </p:sp>
      <p:sp>
        <p:nvSpPr>
          <p:cNvPr id="2" name="文本占位符 1"/>
          <p:cNvSpPr>
            <a:spLocks noGrp="1"/>
          </p:cNvSpPr>
          <p:nvPr>
            <p:ph type="body" sz="quarter" idx="13"/>
          </p:nvPr>
        </p:nvSpPr>
        <p:spPr/>
        <p:txBody>
          <a:bodyPr/>
          <a:lstStyle/>
          <a:p>
            <a:r>
              <a:rPr lang="zh-CN" altLang="en-US" dirty="0" smtClean="0"/>
              <a:t>施淼淼</a:t>
            </a:r>
            <a:r>
              <a:rPr lang="en-US" altLang="zh-CN" dirty="0" smtClean="0"/>
              <a:t>/WX791350</a:t>
            </a:r>
            <a:endParaRPr lang="zh-CN" altLang="en-US" dirty="0"/>
          </a:p>
        </p:txBody>
      </p:sp>
      <p:sp>
        <p:nvSpPr>
          <p:cNvPr id="3" name="文本占位符 2"/>
          <p:cNvSpPr>
            <a:spLocks noGrp="1"/>
          </p:cNvSpPr>
          <p:nvPr>
            <p:ph type="body" sz="quarter" idx="14"/>
          </p:nvPr>
        </p:nvSpPr>
        <p:spPr/>
        <p:txBody>
          <a:bodyPr/>
          <a:lstStyle/>
          <a:p>
            <a:r>
              <a:rPr lang="en-US" altLang="zh-CN" dirty="0" smtClean="0"/>
              <a:t>2021.03.01</a:t>
            </a:r>
            <a:endParaRPr lang="zh-CN" altLang="en-US" dirty="0"/>
          </a:p>
        </p:txBody>
      </p:sp>
      <p:sp>
        <p:nvSpPr>
          <p:cNvPr id="4" name="文本占位符 3"/>
          <p:cNvSpPr>
            <a:spLocks noGrp="1"/>
          </p:cNvSpPr>
          <p:nvPr>
            <p:ph type="body" sz="quarter" idx="15"/>
          </p:nvPr>
        </p:nvSpPr>
        <p:spPr/>
        <p:txBody>
          <a:bodyPr/>
          <a:lstStyle/>
          <a:p>
            <a:r>
              <a:rPr lang="zh-CN" altLang="en-US" dirty="0" smtClean="0"/>
              <a:t>何军建</a:t>
            </a:r>
            <a:r>
              <a:rPr lang="en-US" altLang="zh-CN" dirty="0" smtClean="0"/>
              <a:t>/WX580230</a:t>
            </a:r>
            <a:endParaRPr lang="zh-CN" altLang="en-US" dirty="0"/>
          </a:p>
        </p:txBody>
      </p:sp>
      <p:sp>
        <p:nvSpPr>
          <p:cNvPr id="5" name="文本占位符 4"/>
          <p:cNvSpPr>
            <a:spLocks noGrp="1"/>
          </p:cNvSpPr>
          <p:nvPr>
            <p:ph type="body" sz="quarter" idx="16"/>
          </p:nvPr>
        </p:nvSpPr>
        <p:spPr/>
        <p:txBody>
          <a:bodyPr/>
          <a:lstStyle/>
          <a:p>
            <a:r>
              <a:rPr lang="zh-CN" altLang="en-US" dirty="0" smtClean="0"/>
              <a:t>新开发</a:t>
            </a:r>
            <a:endParaRPr lang="zh-CN" altLang="en-US" dirty="0"/>
          </a:p>
        </p:txBody>
      </p:sp>
      <p:sp>
        <p:nvSpPr>
          <p:cNvPr id="44" name="文本占位符 43"/>
          <p:cNvSpPr>
            <a:spLocks noGrp="1"/>
          </p:cNvSpPr>
          <p:nvPr>
            <p:ph type="body" sz="quarter" idx="21"/>
          </p:nvPr>
        </p:nvSpPr>
        <p:spPr/>
        <p:txBody>
          <a:bodyPr/>
          <a:lstStyle/>
          <a:p>
            <a:r>
              <a:rPr lang="zh-CN" altLang="en-US" dirty="0" smtClean="0"/>
              <a:t>卢玥玥</a:t>
            </a:r>
            <a:r>
              <a:rPr lang="en-US" altLang="zh-CN" dirty="0" smtClean="0"/>
              <a:t>/WX445705</a:t>
            </a:r>
            <a:endParaRPr lang="zh-CN" altLang="en-US" dirty="0"/>
          </a:p>
        </p:txBody>
      </p:sp>
      <p:sp>
        <p:nvSpPr>
          <p:cNvPr id="45" name="文本占位符 44"/>
          <p:cNvSpPr>
            <a:spLocks noGrp="1"/>
          </p:cNvSpPr>
          <p:nvPr>
            <p:ph type="body" sz="quarter" idx="22"/>
          </p:nvPr>
        </p:nvSpPr>
        <p:spPr/>
        <p:txBody>
          <a:bodyPr/>
          <a:lstStyle/>
          <a:p>
            <a:r>
              <a:rPr lang="en-US" altLang="zh-CN" dirty="0" smtClean="0"/>
              <a:t>2021.08.15</a:t>
            </a:r>
            <a:endParaRPr lang="zh-CN" altLang="en-US" dirty="0"/>
          </a:p>
        </p:txBody>
      </p:sp>
      <p:sp>
        <p:nvSpPr>
          <p:cNvPr id="46" name="文本占位符 45"/>
          <p:cNvSpPr>
            <a:spLocks noGrp="1"/>
          </p:cNvSpPr>
          <p:nvPr>
            <p:ph type="body" sz="quarter" idx="23"/>
          </p:nvPr>
        </p:nvSpPr>
        <p:spPr/>
        <p:txBody>
          <a:bodyPr/>
          <a:lstStyle/>
          <a:p>
            <a:r>
              <a:rPr lang="zh-CN" altLang="en-US" dirty="0"/>
              <a:t>吴越</a:t>
            </a:r>
            <a:r>
              <a:rPr lang="en-US" altLang="zh-CN" dirty="0"/>
              <a:t>/WX291773</a:t>
            </a:r>
            <a:endParaRPr lang="zh-CN" altLang="en-US" dirty="0"/>
          </a:p>
        </p:txBody>
      </p:sp>
      <p:sp>
        <p:nvSpPr>
          <p:cNvPr id="47" name="文本占位符 46"/>
          <p:cNvSpPr>
            <a:spLocks noGrp="1"/>
          </p:cNvSpPr>
          <p:nvPr>
            <p:ph type="body" sz="quarter" idx="24"/>
          </p:nvPr>
        </p:nvSpPr>
        <p:spPr/>
        <p:txBody>
          <a:bodyPr/>
          <a:lstStyle/>
          <a:p>
            <a:r>
              <a:rPr lang="zh-CN" altLang="en-US" dirty="0" smtClean="0"/>
              <a:t>优化</a:t>
            </a:r>
            <a:endParaRPr lang="zh-CN" altLang="en-US" dirty="0"/>
          </a:p>
        </p:txBody>
      </p:sp>
      <p:sp>
        <p:nvSpPr>
          <p:cNvPr id="48" name="文本占位符 47"/>
          <p:cNvSpPr>
            <a:spLocks noGrp="1"/>
          </p:cNvSpPr>
          <p:nvPr>
            <p:ph type="body" sz="quarter" idx="25"/>
          </p:nvPr>
        </p:nvSpPr>
        <p:spPr/>
        <p:txBody>
          <a:bodyPr/>
          <a:lstStyle/>
          <a:p>
            <a:endParaRPr lang="zh-CN" altLang="en-US"/>
          </a:p>
        </p:txBody>
      </p:sp>
      <p:sp>
        <p:nvSpPr>
          <p:cNvPr id="49" name="文本占位符 48"/>
          <p:cNvSpPr>
            <a:spLocks noGrp="1"/>
          </p:cNvSpPr>
          <p:nvPr>
            <p:ph type="body" sz="quarter" idx="26"/>
          </p:nvPr>
        </p:nvSpPr>
        <p:spPr/>
        <p:txBody>
          <a:bodyPr/>
          <a:lstStyle/>
          <a:p>
            <a:endParaRPr lang="zh-CN" altLang="en-US"/>
          </a:p>
        </p:txBody>
      </p:sp>
      <p:sp>
        <p:nvSpPr>
          <p:cNvPr id="50" name="文本占位符 49"/>
          <p:cNvSpPr>
            <a:spLocks noGrp="1"/>
          </p:cNvSpPr>
          <p:nvPr>
            <p:ph type="body" sz="quarter" idx="27"/>
          </p:nvPr>
        </p:nvSpPr>
        <p:spPr/>
        <p:txBody>
          <a:bodyPr/>
          <a:lstStyle/>
          <a:p>
            <a:endParaRPr lang="zh-CN" altLang="en-US"/>
          </a:p>
        </p:txBody>
      </p:sp>
      <p:sp>
        <p:nvSpPr>
          <p:cNvPr id="51" name="文本占位符 50"/>
          <p:cNvSpPr>
            <a:spLocks noGrp="1"/>
          </p:cNvSpPr>
          <p:nvPr>
            <p:ph type="body" sz="quarter" idx="28"/>
          </p:nvPr>
        </p:nvSpPr>
        <p:spPr/>
        <p:txBody>
          <a:bodyPr/>
          <a:lstStyle/>
          <a:p>
            <a:endParaRPr lang="zh-CN" altLang="en-US"/>
          </a:p>
        </p:txBody>
      </p:sp>
      <p:sp>
        <p:nvSpPr>
          <p:cNvPr id="52" name="文本占位符 51"/>
          <p:cNvSpPr>
            <a:spLocks noGrp="1"/>
          </p:cNvSpPr>
          <p:nvPr>
            <p:ph type="body" sz="quarter" idx="29"/>
          </p:nvPr>
        </p:nvSpPr>
        <p:spPr/>
        <p:txBody>
          <a:bodyPr/>
          <a:lstStyle/>
          <a:p>
            <a:endParaRPr lang="zh-CN" altLang="en-US"/>
          </a:p>
        </p:txBody>
      </p:sp>
      <p:sp>
        <p:nvSpPr>
          <p:cNvPr id="53" name="文本占位符 52"/>
          <p:cNvSpPr>
            <a:spLocks noGrp="1"/>
          </p:cNvSpPr>
          <p:nvPr>
            <p:ph type="body" sz="quarter" idx="30"/>
          </p:nvPr>
        </p:nvSpPr>
        <p:spPr/>
        <p:txBody>
          <a:bodyPr/>
          <a:lstStyle/>
          <a:p>
            <a:endParaRPr lang="zh-CN" altLang="en-US"/>
          </a:p>
        </p:txBody>
      </p:sp>
      <p:sp>
        <p:nvSpPr>
          <p:cNvPr id="54" name="文本占位符 53"/>
          <p:cNvSpPr>
            <a:spLocks noGrp="1"/>
          </p:cNvSpPr>
          <p:nvPr>
            <p:ph type="body" sz="quarter" idx="31"/>
          </p:nvPr>
        </p:nvSpPr>
        <p:spPr/>
        <p:txBody>
          <a:bodyPr/>
          <a:lstStyle/>
          <a:p>
            <a:endParaRPr lang="zh-CN" altLang="en-US"/>
          </a:p>
        </p:txBody>
      </p:sp>
      <p:sp>
        <p:nvSpPr>
          <p:cNvPr id="55" name="文本占位符 54"/>
          <p:cNvSpPr>
            <a:spLocks noGrp="1"/>
          </p:cNvSpPr>
          <p:nvPr>
            <p:ph type="body" sz="quarter" idx="32"/>
          </p:nvPr>
        </p:nvSpPr>
        <p:spPr/>
        <p:txBody>
          <a:bodyPr/>
          <a:lstStyle/>
          <a:p>
            <a:endParaRPr lang="zh-CN" altLang="en-US"/>
          </a:p>
        </p:txBody>
      </p:sp>
    </p:spTree>
    <p:extLst>
      <p:ext uri="{BB962C8B-B14F-4D97-AF65-F5344CB8AC3E}">
        <p14:creationId xmlns:p14="http://schemas.microsoft.com/office/powerpoint/2010/main" val="48105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中小型云管理园区网络设计</a:t>
            </a:r>
            <a:endParaRPr lang="zh-CN" altLang="en-US" dirty="0"/>
          </a:p>
        </p:txBody>
      </p:sp>
    </p:spTree>
    <p:extLst>
      <p:ext uri="{BB962C8B-B14F-4D97-AF65-F5344CB8AC3E}">
        <p14:creationId xmlns:p14="http://schemas.microsoft.com/office/powerpoint/2010/main" val="15706166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019174" y="1844675"/>
            <a:ext cx="10153651" cy="4294868"/>
          </a:xfrm>
        </p:spPr>
        <p:txBody>
          <a:bodyPr/>
          <a:lstStyle/>
          <a:p>
            <a:r>
              <a:rPr lang="zh-CN" altLang="en-US" sz="1800" dirty="0" smtClean="0"/>
              <a:t>随着技术和行业数字化的发展，尤其是连锁门店、分支办公等中小场景业务正逐步通过云化管理的网络接入到企业内部。根据</a:t>
            </a:r>
            <a:r>
              <a:rPr lang="en-US" altLang="zh-CN" sz="1800" dirty="0" smtClean="0"/>
              <a:t>IDC</a:t>
            </a:r>
            <a:r>
              <a:rPr lang="zh-CN" altLang="en-US" sz="1800" dirty="0" smtClean="0"/>
              <a:t>报告，</a:t>
            </a:r>
            <a:r>
              <a:rPr lang="en-US" altLang="zh-CN" sz="1800" dirty="0" smtClean="0"/>
              <a:t>2014~2018</a:t>
            </a:r>
            <a:r>
              <a:rPr lang="zh-CN" altLang="en-US" sz="1800" dirty="0" smtClean="0"/>
              <a:t>年，传统</a:t>
            </a:r>
            <a:r>
              <a:rPr lang="en-US" altLang="zh-CN" sz="1800" dirty="0" smtClean="0"/>
              <a:t>Wi-Fi</a:t>
            </a:r>
            <a:r>
              <a:rPr lang="zh-CN" altLang="en-US" sz="1800" dirty="0" smtClean="0"/>
              <a:t>年度增长率仅为</a:t>
            </a:r>
            <a:r>
              <a:rPr lang="en-US" altLang="zh-CN" sz="1800" dirty="0" smtClean="0"/>
              <a:t>5%</a:t>
            </a:r>
            <a:r>
              <a:rPr lang="zh-CN" altLang="en-US" sz="1800" dirty="0" smtClean="0"/>
              <a:t>，而云化</a:t>
            </a:r>
            <a:r>
              <a:rPr lang="en-US" altLang="zh-CN" sz="1800" dirty="0" smtClean="0"/>
              <a:t>Wi-Fi</a:t>
            </a:r>
            <a:r>
              <a:rPr lang="zh-CN" altLang="en-US" sz="1800" dirty="0" smtClean="0"/>
              <a:t>为</a:t>
            </a:r>
            <a:r>
              <a:rPr lang="en-US" altLang="zh-CN" sz="1800" dirty="0" smtClean="0"/>
              <a:t>38%</a:t>
            </a:r>
            <a:r>
              <a:rPr lang="zh-CN" altLang="en-US" sz="1800" dirty="0" smtClean="0"/>
              <a:t>；传统交换机与接入路由器年度增长率仅为</a:t>
            </a:r>
            <a:r>
              <a:rPr lang="en-US" altLang="zh-CN" sz="1800" dirty="0" smtClean="0"/>
              <a:t>2%</a:t>
            </a:r>
            <a:r>
              <a:rPr lang="zh-CN" altLang="en-US" sz="1800" dirty="0" smtClean="0"/>
              <a:t>，而云化交换机与接入路由器达到</a:t>
            </a:r>
            <a:r>
              <a:rPr lang="en-US" altLang="zh-CN" sz="1800" dirty="0" smtClean="0"/>
              <a:t>61%</a:t>
            </a:r>
            <a:r>
              <a:rPr lang="zh-CN" altLang="en-US" sz="1800" dirty="0" smtClean="0"/>
              <a:t>。</a:t>
            </a:r>
          </a:p>
          <a:p>
            <a:r>
              <a:rPr lang="zh-CN" altLang="en-US" sz="1800" dirty="0" smtClean="0"/>
              <a:t>从以上数据可见，云化管理的网络已经成为中小型园区网络建设的趋势，通过采用云化方案，企业可以获得管理效率的提升，网络能够更加快速地支撑新的业务开拓。</a:t>
            </a:r>
          </a:p>
          <a:p>
            <a:r>
              <a:rPr lang="zh-CN" altLang="en-US" sz="1800" dirty="0" smtClean="0"/>
              <a:t>华为云园区网络解决方案</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CloudCampus 3.0</a:t>
            </a:r>
            <a:r>
              <a:rPr lang="zh-CN" altLang="en-US" sz="1800" dirty="0" smtClean="0">
                <a:sym typeface="Huawei Sans" panose="020C0503030203020204" pitchFamily="34" charset="0"/>
              </a:rPr>
              <a:t>）</a:t>
            </a:r>
            <a:r>
              <a:rPr lang="zh-CN" altLang="en-US" sz="1800" dirty="0" smtClean="0"/>
              <a:t>，利用云计算的技术实现网络的自动化和集中化管理，提供传统网络不能提供的数据收集和分析能力，从而实现网络（</a:t>
            </a:r>
            <a:r>
              <a:rPr lang="en-US" altLang="zh-CN" sz="1800" dirty="0" smtClean="0"/>
              <a:t>LAN/WLAN</a:t>
            </a:r>
            <a:r>
              <a:rPr lang="zh-CN" altLang="en-US" sz="1800" dirty="0" smtClean="0"/>
              <a:t>）即服务。</a:t>
            </a:r>
          </a:p>
          <a:p>
            <a:r>
              <a:rPr lang="zh-CN" altLang="en-US" sz="1800" dirty="0" smtClean="0"/>
              <a:t>本文档聚焦中小型园区网络，重点介绍中小型云管理园区网络的设计与规划方法，从方案架构、技术方案对比、工程设计建议、运维等方面分别进行了阐述。</a:t>
            </a:r>
          </a:p>
          <a:p>
            <a:endParaRPr lang="zh-CN" altLang="en-US" sz="1800" dirty="0"/>
          </a:p>
        </p:txBody>
      </p:sp>
    </p:spTree>
    <p:extLst>
      <p:ext uri="{BB962C8B-B14F-4D97-AF65-F5344CB8AC3E}">
        <p14:creationId xmlns:p14="http://schemas.microsoft.com/office/powerpoint/2010/main" val="22672093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lvl="0"/>
            <a:r>
              <a:rPr lang="zh-CN" altLang="en-US" dirty="0" smtClean="0">
                <a:sym typeface="+mn-lt"/>
              </a:rPr>
              <a:t>学完本课程后，您将能够：</a:t>
            </a:r>
          </a:p>
          <a:p>
            <a:pPr lvl="1"/>
            <a:r>
              <a:rPr lang="zh-CN" altLang="en-US" dirty="0" smtClean="0">
                <a:sym typeface="+mn-lt"/>
              </a:rPr>
              <a:t>描述华为</a:t>
            </a:r>
            <a:r>
              <a:rPr lang="en-US" altLang="zh-CN" dirty="0" smtClean="0">
                <a:sym typeface="+mn-lt"/>
              </a:rPr>
              <a:t>CloudCampus</a:t>
            </a:r>
            <a:r>
              <a:rPr lang="zh-CN" altLang="en-US" dirty="0" smtClean="0">
                <a:sym typeface="+mn-lt"/>
              </a:rPr>
              <a:t>中小型园区网络方案架构</a:t>
            </a:r>
            <a:endParaRPr lang="en-US" altLang="zh-CN" dirty="0" smtClean="0">
              <a:sym typeface="+mn-lt"/>
            </a:endParaRPr>
          </a:p>
          <a:p>
            <a:pPr lvl="1"/>
            <a:r>
              <a:rPr lang="zh-CN" altLang="en-US" dirty="0" smtClean="0">
                <a:sym typeface="+mn-lt"/>
              </a:rPr>
              <a:t>描述典型的中小型园区网络组网方案</a:t>
            </a:r>
          </a:p>
          <a:p>
            <a:pPr lvl="1"/>
            <a:r>
              <a:rPr lang="zh-CN" altLang="en-US" dirty="0" smtClean="0">
                <a:sym typeface="+mn-lt"/>
              </a:rPr>
              <a:t>根据用户需求，独立完成中小型云管理园区网络方案设计，含组网设计、物理网络设计、站点开局设计、基础网络业务设计、</a:t>
            </a:r>
            <a:r>
              <a:rPr lang="en-US" altLang="zh-CN" dirty="0" smtClean="0">
                <a:sym typeface="+mn-lt"/>
              </a:rPr>
              <a:t>WLAN</a:t>
            </a:r>
            <a:r>
              <a:rPr lang="zh-CN" altLang="en-US" dirty="0" smtClean="0">
                <a:sym typeface="+mn-lt"/>
              </a:rPr>
              <a:t>设计、准入控制设计等</a:t>
            </a:r>
          </a:p>
          <a:p>
            <a:endParaRPr lang="zh-CN" altLang="en-US" dirty="0"/>
          </a:p>
        </p:txBody>
      </p:sp>
    </p:spTree>
    <p:extLst>
      <p:ext uri="{BB962C8B-B14F-4D97-AF65-F5344CB8AC3E}">
        <p14:creationId xmlns:p14="http://schemas.microsoft.com/office/powerpoint/2010/main" val="40317524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pPr lvl="0"/>
            <a:r>
              <a:rPr lang="zh-CN" altLang="en-US" b="1" dirty="0" smtClean="0">
                <a:sym typeface="+mn-lt"/>
              </a:rPr>
              <a:t>中小型园区网络趋势与挑战</a:t>
            </a:r>
            <a:endParaRPr lang="en-US" altLang="zh-CN" b="1" dirty="0" smtClean="0">
              <a:sym typeface="+mn-lt"/>
            </a:endParaRPr>
          </a:p>
          <a:p>
            <a:r>
              <a:rPr lang="en-US" altLang="zh-CN" dirty="0" smtClean="0">
                <a:solidFill>
                  <a:schemeClr val="bg1">
                    <a:lumMod val="50000"/>
                  </a:schemeClr>
                </a:solidFill>
                <a:sym typeface="+mn-lt"/>
              </a:rPr>
              <a:t>CloudCampus</a:t>
            </a:r>
            <a:r>
              <a:rPr lang="zh-CN" altLang="en-US" dirty="0">
                <a:solidFill>
                  <a:schemeClr val="bg1">
                    <a:lumMod val="50000"/>
                  </a:schemeClr>
                </a:solidFill>
                <a:sym typeface="+mn-lt"/>
              </a:rPr>
              <a:t>中小型云管理园区方案</a:t>
            </a:r>
            <a:r>
              <a:rPr lang="zh-CN" altLang="en-US" dirty="0" smtClean="0">
                <a:solidFill>
                  <a:schemeClr val="bg1">
                    <a:lumMod val="50000"/>
                  </a:schemeClr>
                </a:solidFill>
                <a:sym typeface="+mn-lt"/>
              </a:rPr>
              <a:t>概述</a:t>
            </a:r>
          </a:p>
          <a:p>
            <a:r>
              <a:rPr lang="zh-CN" altLang="en-US" dirty="0" smtClean="0">
                <a:solidFill>
                  <a:schemeClr val="bg1">
                    <a:lumMod val="50000"/>
                  </a:schemeClr>
                </a:solidFill>
                <a:sym typeface="+mn-lt"/>
              </a:rPr>
              <a:t>中小型</a:t>
            </a:r>
            <a:r>
              <a:rPr lang="zh-CN" altLang="en-US" dirty="0">
                <a:solidFill>
                  <a:schemeClr val="bg1">
                    <a:lumMod val="50000"/>
                  </a:schemeClr>
                </a:solidFill>
                <a:sym typeface="+mn-lt"/>
              </a:rPr>
              <a:t>云管理园区网络</a:t>
            </a:r>
            <a:r>
              <a:rPr lang="zh-CN" altLang="en-US" dirty="0" smtClean="0">
                <a:solidFill>
                  <a:schemeClr val="bg1">
                    <a:lumMod val="50000"/>
                  </a:schemeClr>
                </a:solidFill>
                <a:sym typeface="+mn-lt"/>
              </a:rPr>
              <a:t>设计</a:t>
            </a:r>
            <a:endParaRPr lang="zh-CN" altLang="en-US" dirty="0">
              <a:solidFill>
                <a:schemeClr val="bg1">
                  <a:lumMod val="50000"/>
                </a:schemeClr>
              </a:solidFill>
              <a:sym typeface="+mn-lt"/>
            </a:endParaRPr>
          </a:p>
        </p:txBody>
      </p:sp>
    </p:spTree>
    <p:extLst>
      <p:ext uri="{BB962C8B-B14F-4D97-AF65-F5344CB8AC3E}">
        <p14:creationId xmlns:p14="http://schemas.microsoft.com/office/powerpoint/2010/main" val="30413558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a:t>中小型园区网络面临的挑战</a:t>
            </a:r>
          </a:p>
        </p:txBody>
      </p:sp>
      <p:sp>
        <p:nvSpPr>
          <p:cNvPr id="5" name="圆角矩形 4"/>
          <p:cNvSpPr/>
          <p:nvPr/>
        </p:nvSpPr>
        <p:spPr bwMode="gray">
          <a:xfrm>
            <a:off x="688383" y="1340634"/>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行业变化加速</a:t>
            </a:r>
          </a:p>
        </p:txBody>
      </p:sp>
      <p:sp>
        <p:nvSpPr>
          <p:cNvPr id="6" name="圆角矩形 5"/>
          <p:cNvSpPr/>
          <p:nvPr/>
        </p:nvSpPr>
        <p:spPr bwMode="gray">
          <a:xfrm>
            <a:off x="688382" y="1776600"/>
            <a:ext cx="5163736" cy="402638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r>
              <a:rPr lang="zh-CN" altLang="zh-CN" sz="1400" dirty="0">
                <a:solidFill>
                  <a:schemeClr val="tx1"/>
                </a:solidFill>
              </a:rPr>
              <a:t>随着网络云化，云计算、云安全、大数据、物联网等</a:t>
            </a:r>
            <a:r>
              <a:rPr lang="en-US" altLang="zh-CN" sz="1400" dirty="0">
                <a:solidFill>
                  <a:schemeClr val="tx1"/>
                </a:solidFill>
              </a:rPr>
              <a:t>ICT</a:t>
            </a:r>
            <a:r>
              <a:rPr lang="zh-CN" altLang="zh-CN" sz="1400" dirty="0">
                <a:solidFill>
                  <a:schemeClr val="tx1"/>
                </a:solidFill>
              </a:rPr>
              <a:t>新技术的高速发展，各行各业都正在发生翻天覆地的变化。</a:t>
            </a:r>
          </a:p>
          <a:p>
            <a:pPr marL="176213" lvl="0" indent="-176213" fontAlgn="base">
              <a:lnSpc>
                <a:spcPts val="2600"/>
              </a:lnSpc>
              <a:spcAft>
                <a:spcPts val="600"/>
              </a:spcAft>
              <a:buFont typeface="Arial" panose="020B0604020202020204" pitchFamily="34" charset="0"/>
              <a:buChar char="•"/>
            </a:pPr>
            <a:r>
              <a:rPr lang="zh-CN" altLang="zh-CN" sz="1400" dirty="0">
                <a:solidFill>
                  <a:schemeClr val="tx1"/>
                </a:solidFill>
              </a:rPr>
              <a:t>传统商超零售利用免费</a:t>
            </a:r>
            <a:r>
              <a:rPr lang="en-US" altLang="zh-CN" sz="1400" dirty="0">
                <a:solidFill>
                  <a:schemeClr val="tx1"/>
                </a:solidFill>
              </a:rPr>
              <a:t>Wi-Fi</a:t>
            </a:r>
            <a:r>
              <a:rPr lang="zh-CN" altLang="zh-CN" sz="1400" dirty="0">
                <a:solidFill>
                  <a:schemeClr val="tx1"/>
                </a:solidFill>
              </a:rPr>
              <a:t>吸引顾客，并通过无线定位</a:t>
            </a:r>
            <a:r>
              <a:rPr lang="zh-CN" altLang="zh-CN" sz="1400" dirty="0" smtClean="0">
                <a:solidFill>
                  <a:schemeClr val="tx1"/>
                </a:solidFill>
              </a:rPr>
              <a:t>客流</a:t>
            </a:r>
            <a:r>
              <a:rPr lang="zh-CN" altLang="en-US" sz="1400" dirty="0" smtClean="0">
                <a:solidFill>
                  <a:schemeClr val="tx1"/>
                </a:solidFill>
              </a:rPr>
              <a:t>，</a:t>
            </a:r>
            <a:r>
              <a:rPr lang="zh-CN" altLang="zh-CN" sz="1400" dirty="0" smtClean="0">
                <a:solidFill>
                  <a:schemeClr val="tx1"/>
                </a:solidFill>
              </a:rPr>
              <a:t>分析数据</a:t>
            </a:r>
            <a:r>
              <a:rPr lang="zh-CN" altLang="en-US" sz="1400" dirty="0">
                <a:solidFill>
                  <a:schemeClr val="tx1"/>
                </a:solidFill>
              </a:rPr>
              <a:t>，</a:t>
            </a:r>
            <a:r>
              <a:rPr lang="zh-CN" altLang="zh-CN" sz="1400" dirty="0" smtClean="0">
                <a:solidFill>
                  <a:schemeClr val="tx1"/>
                </a:solidFill>
              </a:rPr>
              <a:t>实现</a:t>
            </a:r>
            <a:r>
              <a:rPr lang="zh-CN" altLang="zh-CN" sz="1400" dirty="0">
                <a:solidFill>
                  <a:schemeClr val="tx1"/>
                </a:solidFill>
              </a:rPr>
              <a:t>精准营销；</a:t>
            </a:r>
          </a:p>
          <a:p>
            <a:pPr marL="176213" lvl="0" indent="-176213" fontAlgn="base">
              <a:lnSpc>
                <a:spcPts val="2600"/>
              </a:lnSpc>
              <a:spcAft>
                <a:spcPts val="600"/>
              </a:spcAft>
              <a:buFont typeface="Arial" panose="020B0604020202020204" pitchFamily="34" charset="0"/>
              <a:buChar char="•"/>
            </a:pPr>
            <a:r>
              <a:rPr lang="zh-CN" altLang="zh-CN" sz="1400" dirty="0">
                <a:solidFill>
                  <a:schemeClr val="tx1"/>
                </a:solidFill>
              </a:rPr>
              <a:t>在教育领域，电子课堂越来越普及，丰富的多媒体教学更能激发学生的兴趣；</a:t>
            </a:r>
          </a:p>
          <a:p>
            <a:pPr marL="176213" lvl="0" indent="-176213" fontAlgn="base">
              <a:lnSpc>
                <a:spcPts val="2600"/>
              </a:lnSpc>
              <a:spcAft>
                <a:spcPts val="600"/>
              </a:spcAft>
              <a:buFont typeface="Arial" panose="020B0604020202020204" pitchFamily="34" charset="0"/>
              <a:buChar char="•"/>
            </a:pPr>
            <a:r>
              <a:rPr lang="zh-CN" altLang="zh-CN" sz="1400" dirty="0">
                <a:solidFill>
                  <a:schemeClr val="tx1"/>
                </a:solidFill>
              </a:rPr>
              <a:t>智慧医疗将医院等机构通过网络互联，实现医疗数据统一管理和分析，看病更加方便。</a:t>
            </a:r>
          </a:p>
          <a:p>
            <a:pPr>
              <a:lnSpc>
                <a:spcPts val="2400"/>
              </a:lnSpc>
              <a:spcAft>
                <a:spcPts val="600"/>
              </a:spcAft>
            </a:pPr>
            <a:r>
              <a:rPr lang="zh-CN" altLang="zh-CN" sz="1400" dirty="0" smtClean="0">
                <a:solidFill>
                  <a:schemeClr val="tx1"/>
                </a:solidFill>
              </a:rPr>
              <a:t>网络</a:t>
            </a:r>
            <a:r>
              <a:rPr lang="zh-CN" altLang="zh-CN" sz="1400" dirty="0">
                <a:solidFill>
                  <a:schemeClr val="tx1"/>
                </a:solidFill>
              </a:rPr>
              <a:t>作为承载这些上层业务和数据的管道，节点越来越多，复杂</a:t>
            </a:r>
            <a:r>
              <a:rPr lang="zh-CN" altLang="zh-CN" sz="1400" dirty="0" smtClean="0">
                <a:solidFill>
                  <a:schemeClr val="tx1"/>
                </a:solidFill>
              </a:rPr>
              <a:t>度</a:t>
            </a:r>
            <a:r>
              <a:rPr lang="zh-CN" altLang="en-US" sz="1400" dirty="0" smtClean="0">
                <a:solidFill>
                  <a:schemeClr val="tx1"/>
                </a:solidFill>
              </a:rPr>
              <a:t>也</a:t>
            </a:r>
            <a:r>
              <a:rPr lang="zh-CN" altLang="zh-CN" sz="1400" dirty="0" smtClean="0">
                <a:solidFill>
                  <a:schemeClr val="tx1"/>
                </a:solidFill>
              </a:rPr>
              <a:t>越来越</a:t>
            </a:r>
            <a:r>
              <a:rPr lang="zh-CN" altLang="zh-CN" sz="1400" dirty="0">
                <a:solidFill>
                  <a:schemeClr val="tx1"/>
                </a:solidFill>
              </a:rPr>
              <a:t>高。</a:t>
            </a:r>
            <a:endParaRPr lang="zh-CN" altLang="en-US" sz="1400" dirty="0">
              <a:solidFill>
                <a:schemeClr val="tx1"/>
              </a:solidFill>
            </a:endParaRPr>
          </a:p>
        </p:txBody>
      </p:sp>
      <p:sp>
        <p:nvSpPr>
          <p:cNvPr id="7" name="圆角矩形 6"/>
          <p:cNvSpPr/>
          <p:nvPr/>
        </p:nvSpPr>
        <p:spPr bwMode="gray">
          <a:xfrm>
            <a:off x="6281215" y="1340634"/>
            <a:ext cx="5242970"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传统的部署管理方案存在以下问题</a:t>
            </a:r>
          </a:p>
        </p:txBody>
      </p:sp>
      <p:sp>
        <p:nvSpPr>
          <p:cNvPr id="8" name="圆角矩形 7"/>
          <p:cNvSpPr/>
          <p:nvPr/>
        </p:nvSpPr>
        <p:spPr bwMode="gray">
          <a:xfrm>
            <a:off x="6281214" y="1776600"/>
            <a:ext cx="5242972" cy="402638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lvl="0">
              <a:lnSpc>
                <a:spcPts val="2400"/>
              </a:lnSpc>
              <a:spcAft>
                <a:spcPts val="600"/>
              </a:spcAft>
            </a:pPr>
            <a:r>
              <a:rPr lang="zh-CN" altLang="en-US" sz="1400" b="1" dirty="0" smtClean="0">
                <a:solidFill>
                  <a:prstClr val="black"/>
                </a:solidFill>
              </a:rPr>
              <a:t>部署</a:t>
            </a:r>
            <a:r>
              <a:rPr lang="zh-CN" altLang="en-US" sz="1400" b="1" dirty="0">
                <a:solidFill>
                  <a:prstClr val="black"/>
                </a:solidFill>
              </a:rPr>
              <a:t>效率低，影响业务开通</a:t>
            </a:r>
            <a:r>
              <a:rPr lang="zh-CN" altLang="en-US" sz="1400" b="1" dirty="0" smtClean="0">
                <a:solidFill>
                  <a:prstClr val="black"/>
                </a:solidFill>
              </a:rPr>
              <a:t>速度：</a:t>
            </a:r>
            <a:endParaRPr lang="zh-CN" altLang="en-US" sz="1400" b="1" dirty="0">
              <a:solidFill>
                <a:prstClr val="black"/>
              </a:solidFill>
            </a:endParaRPr>
          </a:p>
          <a:p>
            <a:pPr marL="176213" lvl="0" indent="-176213">
              <a:lnSpc>
                <a:spcPts val="2600"/>
              </a:lnSpc>
              <a:spcAft>
                <a:spcPts val="600"/>
              </a:spcAft>
              <a:buFont typeface="Arial" panose="020B0604020202020204" pitchFamily="34" charset="0"/>
              <a:buChar char="•"/>
            </a:pPr>
            <a:r>
              <a:rPr lang="zh-CN" altLang="en-US" sz="1400" dirty="0">
                <a:solidFill>
                  <a:schemeClr val="tx1"/>
                </a:solidFill>
              </a:rPr>
              <a:t>网络的工勘规划、部署、软调配置、优化等一系列工作，全部需要现场专业</a:t>
            </a:r>
            <a:r>
              <a:rPr lang="en-US" altLang="zh-CN" sz="1400" dirty="0">
                <a:solidFill>
                  <a:schemeClr val="tx1"/>
                </a:solidFill>
              </a:rPr>
              <a:t>IT</a:t>
            </a:r>
            <a:r>
              <a:rPr lang="zh-CN" altLang="en-US" sz="1400" dirty="0">
                <a:solidFill>
                  <a:schemeClr val="tx1"/>
                </a:solidFill>
              </a:rPr>
              <a:t>人员完成。</a:t>
            </a:r>
          </a:p>
          <a:p>
            <a:pPr lvl="0">
              <a:lnSpc>
                <a:spcPts val="2400"/>
              </a:lnSpc>
              <a:spcAft>
                <a:spcPts val="600"/>
              </a:spcAft>
            </a:pPr>
            <a:r>
              <a:rPr lang="zh-CN" altLang="en-US" sz="1400" b="1" dirty="0" smtClean="0">
                <a:solidFill>
                  <a:prstClr val="black"/>
                </a:solidFill>
              </a:rPr>
              <a:t>网络管理</a:t>
            </a:r>
            <a:r>
              <a:rPr lang="zh-CN" altLang="en-US" sz="1400" b="1" dirty="0">
                <a:solidFill>
                  <a:prstClr val="black"/>
                </a:solidFill>
              </a:rPr>
              <a:t>复杂</a:t>
            </a:r>
            <a:r>
              <a:rPr lang="zh-CN" altLang="en-US" sz="1400" b="1" dirty="0" smtClean="0">
                <a:solidFill>
                  <a:prstClr val="black"/>
                </a:solidFill>
              </a:rPr>
              <a:t>，</a:t>
            </a:r>
            <a:r>
              <a:rPr lang="en-US" altLang="zh-CN" sz="1400" b="1" dirty="0" smtClean="0">
                <a:solidFill>
                  <a:prstClr val="black"/>
                </a:solidFill>
              </a:rPr>
              <a:t>OPEX</a:t>
            </a:r>
            <a:r>
              <a:rPr lang="zh-CN" altLang="en-US" sz="1400" b="1" dirty="0">
                <a:solidFill>
                  <a:prstClr val="black"/>
                </a:solidFill>
              </a:rPr>
              <a:t>占比</a:t>
            </a:r>
            <a:r>
              <a:rPr lang="zh-CN" altLang="en-US" sz="1400" b="1" dirty="0" smtClean="0">
                <a:solidFill>
                  <a:prstClr val="black"/>
                </a:solidFill>
              </a:rPr>
              <a:t>居高不下：</a:t>
            </a:r>
            <a:endParaRPr lang="zh-CN" altLang="en-US" sz="1400" b="1" dirty="0">
              <a:solidFill>
                <a:prstClr val="black"/>
              </a:solidFill>
            </a:endParaRPr>
          </a:p>
          <a:p>
            <a:pPr marL="176213" lvl="0" indent="-176213">
              <a:lnSpc>
                <a:spcPts val="2600"/>
              </a:lnSpc>
              <a:spcAft>
                <a:spcPts val="600"/>
              </a:spcAft>
              <a:buFont typeface="Arial" panose="020B0604020202020204" pitchFamily="34" charset="0"/>
              <a:buChar char="•"/>
            </a:pPr>
            <a:r>
              <a:rPr lang="zh-CN" altLang="en-US" sz="1400" dirty="0">
                <a:solidFill>
                  <a:schemeClr val="tx1"/>
                </a:solidFill>
              </a:rPr>
              <a:t>本地化、专业化的运维模式导致运维效率低下，人力成本居高不下；网</a:t>
            </a:r>
            <a:r>
              <a:rPr lang="zh-CN" altLang="en-US" sz="1400" dirty="0" smtClean="0">
                <a:solidFill>
                  <a:schemeClr val="tx1"/>
                </a:solidFill>
              </a:rPr>
              <a:t>管、策略</a:t>
            </a:r>
            <a:r>
              <a:rPr lang="zh-CN" altLang="en-US" sz="1400" dirty="0">
                <a:solidFill>
                  <a:schemeClr val="tx1"/>
                </a:solidFill>
              </a:rPr>
              <a:t>控制</a:t>
            </a:r>
            <a:r>
              <a:rPr lang="zh-CN" altLang="en-US" sz="1400" dirty="0" smtClean="0">
                <a:solidFill>
                  <a:schemeClr val="tx1"/>
                </a:solidFill>
              </a:rPr>
              <a:t>服务器、计费、数据分析</a:t>
            </a:r>
            <a:r>
              <a:rPr lang="zh-CN" altLang="en-US" sz="1400" dirty="0">
                <a:solidFill>
                  <a:schemeClr val="tx1"/>
                </a:solidFill>
              </a:rPr>
              <a:t>平台等独立部署，专业管理维护成本高。</a:t>
            </a:r>
          </a:p>
          <a:p>
            <a:pPr lvl="0">
              <a:lnSpc>
                <a:spcPts val="2400"/>
              </a:lnSpc>
              <a:spcAft>
                <a:spcPts val="600"/>
              </a:spcAft>
            </a:pPr>
            <a:r>
              <a:rPr lang="zh-CN" altLang="en-US" sz="1400" b="1" dirty="0" smtClean="0">
                <a:solidFill>
                  <a:prstClr val="black"/>
                </a:solidFill>
              </a:rPr>
              <a:t>网络</a:t>
            </a:r>
            <a:r>
              <a:rPr lang="zh-CN" altLang="en-US" sz="1400" b="1" dirty="0">
                <a:solidFill>
                  <a:prstClr val="black"/>
                </a:solidFill>
              </a:rPr>
              <a:t>开放性</a:t>
            </a:r>
            <a:r>
              <a:rPr lang="zh-CN" altLang="en-US" sz="1400" b="1" dirty="0" smtClean="0">
                <a:solidFill>
                  <a:prstClr val="black"/>
                </a:solidFill>
              </a:rPr>
              <a:t>差：</a:t>
            </a:r>
            <a:endParaRPr lang="zh-CN" altLang="en-US" sz="1400" b="1" dirty="0">
              <a:solidFill>
                <a:prstClr val="black"/>
              </a:solidFill>
            </a:endParaRPr>
          </a:p>
          <a:p>
            <a:pPr marL="176213" lvl="1" indent="-176213">
              <a:lnSpc>
                <a:spcPts val="2600"/>
              </a:lnSpc>
              <a:spcAft>
                <a:spcPts val="600"/>
              </a:spcAft>
              <a:buFont typeface="Arial" panose="020B0604020202020204" pitchFamily="34" charset="0"/>
              <a:buChar char="•"/>
            </a:pPr>
            <a:r>
              <a:rPr lang="zh-CN" altLang="en-US" sz="1400" dirty="0">
                <a:solidFill>
                  <a:schemeClr val="tx1"/>
                </a:solidFill>
              </a:rPr>
              <a:t>传统网络的多管理系统提供的开放数据需要再次整合，同时由于接口的不兼容性，网络对接应用的速度远远赶不上应用开发的速度。</a:t>
            </a:r>
          </a:p>
        </p:txBody>
      </p:sp>
    </p:spTree>
    <p:extLst>
      <p:ext uri="{BB962C8B-B14F-4D97-AF65-F5344CB8AC3E}">
        <p14:creationId xmlns:p14="http://schemas.microsoft.com/office/powerpoint/2010/main" val="14704311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中小型园区</a:t>
            </a:r>
            <a:r>
              <a:rPr lang="zh-CN" altLang="en-US" dirty="0" smtClean="0"/>
              <a:t>网络业务诉求</a:t>
            </a:r>
            <a:endParaRPr lang="zh-CN" altLang="en-US" dirty="0"/>
          </a:p>
        </p:txBody>
      </p:sp>
      <p:sp>
        <p:nvSpPr>
          <p:cNvPr id="4" name="圆角矩形 3"/>
          <p:cNvSpPr/>
          <p:nvPr/>
        </p:nvSpPr>
        <p:spPr bwMode="gray">
          <a:xfrm>
            <a:off x="884306" y="1376969"/>
            <a:ext cx="3328323"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网络设备即插即用，提升部署效率</a:t>
            </a:r>
          </a:p>
        </p:txBody>
      </p:sp>
      <p:sp>
        <p:nvSpPr>
          <p:cNvPr id="5" name="圆角矩形 4"/>
          <p:cNvSpPr/>
          <p:nvPr/>
        </p:nvSpPr>
        <p:spPr bwMode="gray">
          <a:xfrm>
            <a:off x="884305" y="1812935"/>
            <a:ext cx="3328324" cy="402638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endParaRPr>
          </a:p>
        </p:txBody>
      </p:sp>
      <p:sp>
        <p:nvSpPr>
          <p:cNvPr id="6" name="矩形 5"/>
          <p:cNvSpPr/>
          <p:nvPr/>
        </p:nvSpPr>
        <p:spPr bwMode="gray">
          <a:xfrm>
            <a:off x="884305" y="4367995"/>
            <a:ext cx="3328323" cy="1323439"/>
          </a:xfrm>
          <a:prstGeom prst="rect">
            <a:avLst/>
          </a:prstGeom>
        </p:spPr>
        <p:txBody>
          <a:bodyPr wrap="square">
            <a:spAutoFit/>
          </a:bodyPr>
          <a:lstStyle/>
          <a:p>
            <a:pPr>
              <a:lnSpc>
                <a:spcPts val="2400"/>
              </a:lnSpc>
            </a:pPr>
            <a:r>
              <a:rPr lang="zh-CN" altLang="en-US" sz="1400" dirty="0"/>
              <a:t>集中统一下发多站点网络配置，减少现场配置调试工作，实现部署效率提升。网络即插即用，按需扩展，网络升级成本低。</a:t>
            </a:r>
          </a:p>
        </p:txBody>
      </p:sp>
      <p:sp>
        <p:nvSpPr>
          <p:cNvPr id="7" name="圆角矩形 6"/>
          <p:cNvSpPr/>
          <p:nvPr/>
        </p:nvSpPr>
        <p:spPr bwMode="gray">
          <a:xfrm>
            <a:off x="4431840" y="1376969"/>
            <a:ext cx="3328323"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云端集中运维，简化多站点运维</a:t>
            </a:r>
          </a:p>
        </p:txBody>
      </p:sp>
      <p:sp>
        <p:nvSpPr>
          <p:cNvPr id="8" name="圆角矩形 7"/>
          <p:cNvSpPr/>
          <p:nvPr/>
        </p:nvSpPr>
        <p:spPr bwMode="gray">
          <a:xfrm>
            <a:off x="4431839" y="1812935"/>
            <a:ext cx="3328324" cy="402638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endParaRPr>
          </a:p>
        </p:txBody>
      </p:sp>
      <p:sp>
        <p:nvSpPr>
          <p:cNvPr id="9" name="矩形 8"/>
          <p:cNvSpPr/>
          <p:nvPr/>
        </p:nvSpPr>
        <p:spPr bwMode="gray">
          <a:xfrm>
            <a:off x="4431839" y="4367995"/>
            <a:ext cx="3328324" cy="1015663"/>
          </a:xfrm>
          <a:prstGeom prst="rect">
            <a:avLst/>
          </a:prstGeom>
        </p:spPr>
        <p:txBody>
          <a:bodyPr wrap="square">
            <a:spAutoFit/>
          </a:bodyPr>
          <a:lstStyle/>
          <a:p>
            <a:pPr>
              <a:lnSpc>
                <a:spcPts val="2400"/>
              </a:lnSpc>
            </a:pPr>
            <a:r>
              <a:rPr lang="zh-CN" altLang="en-US" sz="1400" dirty="0"/>
              <a:t>通过互联网将分散的园区分支网络集中到云端管理，并且集成排障、监控等多种自动化工具，实现远程自动化运维。</a:t>
            </a:r>
          </a:p>
        </p:txBody>
      </p:sp>
      <p:sp>
        <p:nvSpPr>
          <p:cNvPr id="10" name="圆角矩形 9"/>
          <p:cNvSpPr/>
          <p:nvPr/>
        </p:nvSpPr>
        <p:spPr bwMode="gray">
          <a:xfrm>
            <a:off x="7979373" y="1376969"/>
            <a:ext cx="3328323"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开放的</a:t>
            </a:r>
            <a:r>
              <a:rPr lang="en-US" altLang="zh-CN" sz="1600">
                <a:solidFill>
                  <a:srgbClr val="30B5C5"/>
                </a:solidFill>
                <a:latin typeface="Huawei Sans" panose="020C0503030203020204" pitchFamily="34" charset="0"/>
                <a:ea typeface="方正兰亭黑简体" panose="02000000000000000000" pitchFamily="2" charset="-122"/>
              </a:rPr>
              <a:t>API</a:t>
            </a:r>
            <a:r>
              <a:rPr lang="zh-CN" altLang="en-US" sz="1600">
                <a:solidFill>
                  <a:srgbClr val="30B5C5"/>
                </a:solidFill>
                <a:latin typeface="Huawei Sans" panose="020C0503030203020204" pitchFamily="34" charset="0"/>
                <a:ea typeface="方正兰亭黑简体" panose="02000000000000000000" pitchFamily="2" charset="-122"/>
              </a:rPr>
              <a:t>，加速商业应用集成</a:t>
            </a:r>
          </a:p>
        </p:txBody>
      </p:sp>
      <p:sp>
        <p:nvSpPr>
          <p:cNvPr id="11" name="圆角矩形 10"/>
          <p:cNvSpPr/>
          <p:nvPr/>
        </p:nvSpPr>
        <p:spPr bwMode="gray">
          <a:xfrm>
            <a:off x="7979372" y="1812935"/>
            <a:ext cx="3328324" cy="402638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endParaRPr>
          </a:p>
        </p:txBody>
      </p:sp>
      <p:sp>
        <p:nvSpPr>
          <p:cNvPr id="12" name="矩形 11"/>
          <p:cNvSpPr/>
          <p:nvPr/>
        </p:nvSpPr>
        <p:spPr bwMode="gray">
          <a:xfrm>
            <a:off x="7979373" y="4367995"/>
            <a:ext cx="3328323" cy="1323439"/>
          </a:xfrm>
          <a:prstGeom prst="rect">
            <a:avLst/>
          </a:prstGeom>
        </p:spPr>
        <p:txBody>
          <a:bodyPr wrap="square">
            <a:spAutoFit/>
          </a:bodyPr>
          <a:lstStyle/>
          <a:p>
            <a:pPr>
              <a:lnSpc>
                <a:spcPts val="2400"/>
              </a:lnSpc>
            </a:pPr>
            <a:r>
              <a:rPr lang="zh-CN" altLang="en-US" sz="1400" smtClean="0"/>
              <a:t>具备</a:t>
            </a:r>
            <a:r>
              <a:rPr lang="zh-CN" altLang="zh-CN" sz="1400"/>
              <a:t>开放性和大数据分析能力，可以合并和对接多个管理系统，实现网络统一管理。也可以提供更多增值应用，引导企业数字化转型。</a:t>
            </a:r>
            <a:endParaRPr lang="zh-CN" altLang="en-US" sz="1400"/>
          </a:p>
        </p:txBody>
      </p:sp>
      <p:sp>
        <p:nvSpPr>
          <p:cNvPr id="13" name="Freeform 159"/>
          <p:cNvSpPr/>
          <p:nvPr/>
        </p:nvSpPr>
        <p:spPr bwMode="gray">
          <a:xfrm flipH="1">
            <a:off x="1371599" y="2827076"/>
            <a:ext cx="2353734" cy="1230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图片 76" descr="接入交换机.png"/>
          <p:cNvPicPr>
            <a:picLocks noChangeAspect="1"/>
          </p:cNvPicPr>
          <p:nvPr/>
        </p:nvPicPr>
        <p:blipFill>
          <a:blip r:embed="rId3"/>
          <a:stretch>
            <a:fillRect/>
          </a:stretch>
        </p:blipFill>
        <p:spPr bwMode="gray">
          <a:xfrm>
            <a:off x="2575301" y="3508602"/>
            <a:ext cx="335297" cy="274335"/>
          </a:xfrm>
          <a:prstGeom prst="rect">
            <a:avLst/>
          </a:prstGeom>
        </p:spPr>
      </p:pic>
      <p:pic>
        <p:nvPicPr>
          <p:cNvPr id="15" name="图片 105" descr="AP.png"/>
          <p:cNvPicPr>
            <a:picLocks noChangeAspect="1"/>
          </p:cNvPicPr>
          <p:nvPr/>
        </p:nvPicPr>
        <p:blipFill>
          <a:blip r:embed="rId4"/>
          <a:stretch>
            <a:fillRect/>
          </a:stretch>
        </p:blipFill>
        <p:spPr bwMode="gray">
          <a:xfrm>
            <a:off x="2200878" y="3508602"/>
            <a:ext cx="335297" cy="274335"/>
          </a:xfrm>
          <a:prstGeom prst="rect">
            <a:avLst/>
          </a:prstGeom>
        </p:spPr>
      </p:pic>
      <p:pic>
        <p:nvPicPr>
          <p:cNvPr id="16" name="图片 114" descr="中心AP.png"/>
          <p:cNvPicPr>
            <a:picLocks noChangeAspect="1"/>
          </p:cNvPicPr>
          <p:nvPr/>
        </p:nvPicPr>
        <p:blipFill>
          <a:blip r:embed="rId5"/>
          <a:stretch>
            <a:fillRect/>
          </a:stretch>
        </p:blipFill>
        <p:spPr bwMode="gray">
          <a:xfrm>
            <a:off x="2949724" y="3510532"/>
            <a:ext cx="330578" cy="270474"/>
          </a:xfrm>
          <a:prstGeom prst="rect">
            <a:avLst/>
          </a:prstGeom>
        </p:spPr>
      </p:pic>
      <p:pic>
        <p:nvPicPr>
          <p:cNvPr id="17" name="图片 20" descr="RRU蓝.png"/>
          <p:cNvPicPr>
            <a:picLocks noChangeAspect="1"/>
          </p:cNvPicPr>
          <p:nvPr/>
        </p:nvPicPr>
        <p:blipFill>
          <a:blip r:embed="rId6"/>
          <a:stretch>
            <a:fillRect/>
          </a:stretch>
        </p:blipFill>
        <p:spPr bwMode="gray">
          <a:xfrm>
            <a:off x="3319428" y="3510532"/>
            <a:ext cx="330578" cy="270474"/>
          </a:xfrm>
          <a:prstGeom prst="rect">
            <a:avLst/>
          </a:prstGeom>
        </p:spPr>
      </p:pic>
      <p:pic>
        <p:nvPicPr>
          <p:cNvPr id="18"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1451943" y="3508602"/>
            <a:ext cx="335297" cy="274335"/>
          </a:xfrm>
          <a:prstGeom prst="rect">
            <a:avLst/>
          </a:prstGeom>
        </p:spPr>
      </p:pic>
      <p:pic>
        <p:nvPicPr>
          <p:cNvPr id="19" name="Picture 2" descr="G:\做的项目\公共\扁平图标切换\更新2015_01_21\oss扁平图标库2015_01_21更新-04.png"/>
          <p:cNvPicPr>
            <a:picLocks noChangeAspect="1" noChangeArrowheads="1"/>
          </p:cNvPicPr>
          <p:nvPr/>
        </p:nvPicPr>
        <p:blipFill>
          <a:blip r:embed="rId8"/>
          <a:stretch>
            <a:fillRect/>
          </a:stretch>
        </p:blipFill>
        <p:spPr bwMode="gray">
          <a:xfrm>
            <a:off x="1826366" y="3510532"/>
            <a:ext cx="335386" cy="270474"/>
          </a:xfrm>
          <a:prstGeom prst="rect">
            <a:avLst/>
          </a:prstGeom>
          <a:noFill/>
        </p:spPr>
      </p:pic>
      <p:sp>
        <p:nvSpPr>
          <p:cNvPr id="20" name="文本框 19"/>
          <p:cNvSpPr txBox="1"/>
          <p:nvPr/>
        </p:nvSpPr>
        <p:spPr bwMode="gray">
          <a:xfrm>
            <a:off x="2021303" y="3178338"/>
            <a:ext cx="1107996" cy="276999"/>
          </a:xfrm>
          <a:prstGeom prst="rect">
            <a:avLst/>
          </a:prstGeom>
          <a:noFill/>
        </p:spPr>
        <p:txBody>
          <a:bodyPr wrap="none" rtlCol="0">
            <a:spAutoFit/>
          </a:bodyPr>
          <a:lstStyle/>
          <a:p>
            <a:r>
              <a:rPr lang="zh-CN" altLang="en-US" sz="1200" dirty="0" smtClean="0"/>
              <a:t>站点网络设备</a:t>
            </a:r>
            <a:endParaRPr lang="zh-CN" altLang="en-US" sz="1200" dirty="0"/>
          </a:p>
        </p:txBody>
      </p:sp>
      <p:sp>
        <p:nvSpPr>
          <p:cNvPr id="21" name="Right Arrow 158"/>
          <p:cNvSpPr/>
          <p:nvPr/>
        </p:nvSpPr>
        <p:spPr bwMode="gray">
          <a:xfrm rot="5400000">
            <a:off x="2258599" y="2486294"/>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bwMode="gray">
          <a:xfrm>
            <a:off x="1790473" y="2128914"/>
            <a:ext cx="1569660" cy="276999"/>
          </a:xfrm>
          <a:prstGeom prst="rect">
            <a:avLst/>
          </a:prstGeom>
          <a:noFill/>
        </p:spPr>
        <p:txBody>
          <a:bodyPr wrap="none" rtlCol="0">
            <a:spAutoFit/>
          </a:bodyPr>
          <a:lstStyle/>
          <a:p>
            <a:pPr algn="ctr"/>
            <a:r>
              <a:rPr lang="zh-CN" altLang="en-US" sz="1200" b="1" smtClean="0"/>
              <a:t>统一管理、集中配置</a:t>
            </a:r>
            <a:endParaRPr lang="zh-CN" altLang="en-US" sz="1200" b="1"/>
          </a:p>
        </p:txBody>
      </p:sp>
      <p:sp>
        <p:nvSpPr>
          <p:cNvPr id="23" name="文本框 22"/>
          <p:cNvSpPr txBox="1"/>
          <p:nvPr/>
        </p:nvSpPr>
        <p:spPr bwMode="gray">
          <a:xfrm>
            <a:off x="1790474" y="3787290"/>
            <a:ext cx="1569660" cy="276999"/>
          </a:xfrm>
          <a:prstGeom prst="rect">
            <a:avLst/>
          </a:prstGeom>
          <a:noFill/>
        </p:spPr>
        <p:txBody>
          <a:bodyPr wrap="none" rtlCol="0">
            <a:spAutoFit/>
          </a:bodyPr>
          <a:lstStyle/>
          <a:p>
            <a:pPr algn="ctr"/>
            <a:r>
              <a:rPr lang="zh-CN" altLang="en-US" sz="1200" b="1" dirty="0" smtClean="0"/>
              <a:t>即插即用、按需扩展</a:t>
            </a:r>
            <a:endParaRPr lang="zh-CN" altLang="en-US" sz="1200" b="1" dirty="0"/>
          </a:p>
        </p:txBody>
      </p:sp>
      <p:sp>
        <p:nvSpPr>
          <p:cNvPr id="24" name="Right Arrow 158"/>
          <p:cNvSpPr/>
          <p:nvPr/>
        </p:nvSpPr>
        <p:spPr bwMode="gray">
          <a:xfrm rot="5400000">
            <a:off x="5909200" y="2374758"/>
            <a:ext cx="410331"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bwMode="gray">
          <a:xfrm>
            <a:off x="4713987" y="2128914"/>
            <a:ext cx="2800767" cy="276999"/>
          </a:xfrm>
          <a:prstGeom prst="rect">
            <a:avLst/>
          </a:prstGeom>
          <a:noFill/>
        </p:spPr>
        <p:txBody>
          <a:bodyPr wrap="none" rtlCol="0">
            <a:spAutoFit/>
          </a:bodyPr>
          <a:lstStyle/>
          <a:p>
            <a:pPr algn="ctr"/>
            <a:r>
              <a:rPr lang="zh-CN" altLang="en-US" sz="1200" b="1" dirty="0" smtClean="0"/>
              <a:t>多分支集中云端管理，远程自动化运维</a:t>
            </a:r>
            <a:endParaRPr lang="zh-CN" altLang="en-US" sz="1200" b="1" dirty="0"/>
          </a:p>
        </p:txBody>
      </p:sp>
      <p:sp>
        <p:nvSpPr>
          <p:cNvPr id="26" name="Freeform 159"/>
          <p:cNvSpPr/>
          <p:nvPr/>
        </p:nvSpPr>
        <p:spPr bwMode="gray">
          <a:xfrm flipH="1">
            <a:off x="5974987" y="2943378"/>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文本框 26"/>
          <p:cNvSpPr txBox="1"/>
          <p:nvPr/>
        </p:nvSpPr>
        <p:spPr bwMode="gray">
          <a:xfrm>
            <a:off x="4966462" y="3526764"/>
            <a:ext cx="886781" cy="276999"/>
          </a:xfrm>
          <a:prstGeom prst="rect">
            <a:avLst/>
          </a:prstGeom>
          <a:noFill/>
        </p:spPr>
        <p:txBody>
          <a:bodyPr wrap="none" rtlCol="0">
            <a:spAutoFit/>
          </a:bodyPr>
          <a:lstStyle/>
          <a:p>
            <a:r>
              <a:rPr lang="zh-CN" altLang="en-US" sz="1200" dirty="0" smtClean="0"/>
              <a:t>站点网络</a:t>
            </a:r>
            <a:r>
              <a:rPr lang="en-US" altLang="zh-CN" sz="1200" dirty="0" smtClean="0"/>
              <a:t>1</a:t>
            </a:r>
            <a:endParaRPr lang="zh-CN" altLang="en-US" sz="1200" dirty="0"/>
          </a:p>
        </p:txBody>
      </p:sp>
      <p:sp>
        <p:nvSpPr>
          <p:cNvPr id="28" name="Freeform 159"/>
          <p:cNvSpPr/>
          <p:nvPr/>
        </p:nvSpPr>
        <p:spPr bwMode="gray">
          <a:xfrm flipH="1">
            <a:off x="4913717" y="3331976"/>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文本框 28"/>
          <p:cNvSpPr txBox="1"/>
          <p:nvPr/>
        </p:nvSpPr>
        <p:spPr bwMode="gray">
          <a:xfrm>
            <a:off x="6027732" y="3139013"/>
            <a:ext cx="886781" cy="276999"/>
          </a:xfrm>
          <a:prstGeom prst="rect">
            <a:avLst/>
          </a:prstGeom>
          <a:noFill/>
        </p:spPr>
        <p:txBody>
          <a:bodyPr wrap="none" rtlCol="0">
            <a:spAutoFit/>
          </a:bodyPr>
          <a:lstStyle/>
          <a:p>
            <a:r>
              <a:rPr lang="zh-CN" altLang="en-US" sz="1200" dirty="0" smtClean="0"/>
              <a:t>站点网络</a:t>
            </a:r>
            <a:r>
              <a:rPr lang="en-US" altLang="zh-CN" sz="1200" dirty="0" smtClean="0"/>
              <a:t>2</a:t>
            </a:r>
            <a:endParaRPr lang="zh-CN" altLang="en-US" sz="1200" dirty="0"/>
          </a:p>
        </p:txBody>
      </p:sp>
      <p:sp>
        <p:nvSpPr>
          <p:cNvPr id="30" name="Freeform 159"/>
          <p:cNvSpPr/>
          <p:nvPr/>
        </p:nvSpPr>
        <p:spPr bwMode="gray">
          <a:xfrm flipH="1">
            <a:off x="6418376" y="3570034"/>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文本框 30"/>
          <p:cNvSpPr txBox="1"/>
          <p:nvPr/>
        </p:nvSpPr>
        <p:spPr bwMode="gray">
          <a:xfrm>
            <a:off x="6471121" y="3765669"/>
            <a:ext cx="917239" cy="276999"/>
          </a:xfrm>
          <a:prstGeom prst="rect">
            <a:avLst/>
          </a:prstGeom>
          <a:noFill/>
        </p:spPr>
        <p:txBody>
          <a:bodyPr wrap="none" rtlCol="0">
            <a:spAutoFit/>
          </a:bodyPr>
          <a:lstStyle/>
          <a:p>
            <a:r>
              <a:rPr lang="zh-CN" altLang="en-US" sz="1200" dirty="0" smtClean="0"/>
              <a:t>站点网络</a:t>
            </a:r>
            <a:r>
              <a:rPr lang="en-US" altLang="zh-CN" sz="1200" dirty="0" smtClean="0"/>
              <a:t>N</a:t>
            </a:r>
            <a:endParaRPr lang="zh-CN" altLang="en-US" sz="1200" dirty="0"/>
          </a:p>
        </p:txBody>
      </p:sp>
      <p:grpSp>
        <p:nvGrpSpPr>
          <p:cNvPr id="32" name="Group 3"/>
          <p:cNvGrpSpPr/>
          <p:nvPr/>
        </p:nvGrpSpPr>
        <p:grpSpPr bwMode="gray">
          <a:xfrm>
            <a:off x="6068183" y="3670973"/>
            <a:ext cx="261965" cy="61979"/>
            <a:chOff x="559282" y="6488261"/>
            <a:chExt cx="261965" cy="61979"/>
          </a:xfrm>
          <a:solidFill>
            <a:schemeClr val="bg1">
              <a:lumMod val="50000"/>
            </a:schemeClr>
          </a:solidFill>
        </p:grpSpPr>
        <p:sp>
          <p:nvSpPr>
            <p:cNvPr id="33"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bwMode="gray">
          <a:xfrm>
            <a:off x="9214985" y="3859157"/>
            <a:ext cx="886781" cy="276999"/>
          </a:xfrm>
          <a:prstGeom prst="rect">
            <a:avLst/>
          </a:prstGeom>
          <a:noFill/>
        </p:spPr>
        <p:txBody>
          <a:bodyPr wrap="none" rtlCol="0">
            <a:spAutoFit/>
          </a:bodyPr>
          <a:lstStyle/>
          <a:p>
            <a:pPr algn="ctr"/>
            <a:r>
              <a:rPr lang="zh-CN" altLang="en-US" sz="1200" dirty="0" smtClean="0"/>
              <a:t>站点网络</a:t>
            </a:r>
            <a:r>
              <a:rPr lang="en-US" altLang="zh-CN" sz="1200" dirty="0" smtClean="0"/>
              <a:t>2</a:t>
            </a:r>
            <a:endParaRPr lang="zh-CN" altLang="en-US" sz="1200" dirty="0"/>
          </a:p>
        </p:txBody>
      </p:sp>
      <p:sp>
        <p:nvSpPr>
          <p:cNvPr id="37" name="Freeform 159"/>
          <p:cNvSpPr/>
          <p:nvPr/>
        </p:nvSpPr>
        <p:spPr bwMode="gray">
          <a:xfrm flipH="1">
            <a:off x="9154537" y="3664369"/>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159"/>
          <p:cNvSpPr/>
          <p:nvPr/>
        </p:nvSpPr>
        <p:spPr bwMode="gray">
          <a:xfrm flipH="1">
            <a:off x="9154537" y="2621910"/>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a:r>
              <a:rPr lang="zh-CN" altLang="en-US" sz="1200" b="1" dirty="0" smtClean="0"/>
              <a:t>云管理平台</a:t>
            </a:r>
            <a:endParaRPr lang="en-US" sz="1200" b="1" dirty="0"/>
          </a:p>
        </p:txBody>
      </p:sp>
      <p:sp>
        <p:nvSpPr>
          <p:cNvPr id="39" name="Right Arrow 158"/>
          <p:cNvSpPr/>
          <p:nvPr/>
        </p:nvSpPr>
        <p:spPr bwMode="gray">
          <a:xfrm rot="5400000" flipH="1">
            <a:off x="9384189" y="2295526"/>
            <a:ext cx="518689"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bwMode="gray">
          <a:xfrm>
            <a:off x="8206932" y="3581225"/>
            <a:ext cx="886781" cy="276999"/>
          </a:xfrm>
          <a:prstGeom prst="rect">
            <a:avLst/>
          </a:prstGeom>
          <a:noFill/>
        </p:spPr>
        <p:txBody>
          <a:bodyPr wrap="none" rtlCol="0">
            <a:spAutoFit/>
          </a:bodyPr>
          <a:lstStyle/>
          <a:p>
            <a:pPr algn="ctr"/>
            <a:r>
              <a:rPr lang="zh-CN" altLang="en-US" sz="1200" dirty="0" smtClean="0"/>
              <a:t>站点网络</a:t>
            </a:r>
            <a:r>
              <a:rPr lang="en-US" altLang="zh-CN" sz="1200" dirty="0" smtClean="0"/>
              <a:t>1</a:t>
            </a:r>
            <a:endParaRPr lang="zh-CN" altLang="en-US" sz="1200" dirty="0"/>
          </a:p>
        </p:txBody>
      </p:sp>
      <p:sp>
        <p:nvSpPr>
          <p:cNvPr id="41" name="Freeform 159"/>
          <p:cNvSpPr/>
          <p:nvPr/>
        </p:nvSpPr>
        <p:spPr bwMode="gray">
          <a:xfrm flipH="1">
            <a:off x="8148686" y="3386437"/>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文本框 41"/>
          <p:cNvSpPr txBox="1"/>
          <p:nvPr/>
        </p:nvSpPr>
        <p:spPr bwMode="gray">
          <a:xfrm>
            <a:off x="10268633" y="3581225"/>
            <a:ext cx="917239" cy="276999"/>
          </a:xfrm>
          <a:prstGeom prst="rect">
            <a:avLst/>
          </a:prstGeom>
          <a:noFill/>
        </p:spPr>
        <p:txBody>
          <a:bodyPr wrap="none" rtlCol="0">
            <a:spAutoFit/>
          </a:bodyPr>
          <a:lstStyle/>
          <a:p>
            <a:pPr algn="ctr"/>
            <a:r>
              <a:rPr lang="zh-CN" altLang="en-US" sz="1200" dirty="0" smtClean="0"/>
              <a:t>站点网络</a:t>
            </a:r>
            <a:r>
              <a:rPr lang="en-US" altLang="zh-CN" sz="1200" dirty="0" smtClean="0"/>
              <a:t>N</a:t>
            </a:r>
            <a:endParaRPr lang="zh-CN" altLang="en-US" sz="1200" dirty="0"/>
          </a:p>
        </p:txBody>
      </p:sp>
      <p:sp>
        <p:nvSpPr>
          <p:cNvPr id="43" name="Freeform 159"/>
          <p:cNvSpPr/>
          <p:nvPr/>
        </p:nvSpPr>
        <p:spPr bwMode="gray">
          <a:xfrm flipH="1">
            <a:off x="10212596" y="3386437"/>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文本框 43"/>
          <p:cNvSpPr txBox="1"/>
          <p:nvPr/>
        </p:nvSpPr>
        <p:spPr bwMode="gray">
          <a:xfrm>
            <a:off x="8781758" y="1991695"/>
            <a:ext cx="1723549" cy="276999"/>
          </a:xfrm>
          <a:prstGeom prst="rect">
            <a:avLst/>
          </a:prstGeom>
          <a:noFill/>
        </p:spPr>
        <p:txBody>
          <a:bodyPr wrap="none" rtlCol="0">
            <a:spAutoFit/>
          </a:bodyPr>
          <a:lstStyle/>
          <a:p>
            <a:pPr algn="ctr"/>
            <a:r>
              <a:rPr lang="zh-CN" altLang="en-US" sz="1200" b="1" smtClean="0"/>
              <a:t>开放、大数据分析能力</a:t>
            </a:r>
            <a:endParaRPr lang="zh-CN" altLang="en-US" sz="1200" b="1"/>
          </a:p>
        </p:txBody>
      </p:sp>
      <p:grpSp>
        <p:nvGrpSpPr>
          <p:cNvPr id="45" name="Group 3"/>
          <p:cNvGrpSpPr/>
          <p:nvPr/>
        </p:nvGrpSpPr>
        <p:grpSpPr bwMode="gray">
          <a:xfrm>
            <a:off x="10233983" y="4011678"/>
            <a:ext cx="261965" cy="61979"/>
            <a:chOff x="559282" y="6488261"/>
            <a:chExt cx="261965" cy="61979"/>
          </a:xfrm>
          <a:solidFill>
            <a:schemeClr val="bg1">
              <a:lumMod val="50000"/>
            </a:schemeClr>
          </a:solidFill>
        </p:grpSpPr>
        <p:sp>
          <p:nvSpPr>
            <p:cNvPr id="46"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237483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中小型园区</a:t>
            </a:r>
            <a:r>
              <a:rPr lang="zh-CN" altLang="en-US" dirty="0" smtClean="0"/>
              <a:t>网络发展</a:t>
            </a:r>
            <a:r>
              <a:rPr lang="zh-CN" altLang="en-US" dirty="0"/>
              <a:t>趋势</a:t>
            </a:r>
          </a:p>
        </p:txBody>
      </p:sp>
      <p:sp>
        <p:nvSpPr>
          <p:cNvPr id="4" name="圆角矩形 3"/>
          <p:cNvSpPr/>
          <p:nvPr/>
        </p:nvSpPr>
        <p:spPr bwMode="gray">
          <a:xfrm>
            <a:off x="463608" y="1375346"/>
            <a:ext cx="3635432"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网络云化</a:t>
            </a:r>
          </a:p>
        </p:txBody>
      </p:sp>
      <p:sp>
        <p:nvSpPr>
          <p:cNvPr id="5" name="圆角矩形 4"/>
          <p:cNvSpPr/>
          <p:nvPr/>
        </p:nvSpPr>
        <p:spPr bwMode="gray">
          <a:xfrm>
            <a:off x="463606" y="1828246"/>
            <a:ext cx="3635433" cy="372627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a:lnSpc>
                <a:spcPts val="2400"/>
              </a:lnSpc>
              <a:spcAft>
                <a:spcPts val="600"/>
              </a:spcAft>
            </a:pPr>
            <a:endParaRPr lang="zh-CN" altLang="en-US" sz="1400" dirty="0">
              <a:solidFill>
                <a:schemeClr val="tx1"/>
              </a:solidFill>
            </a:endParaRPr>
          </a:p>
        </p:txBody>
      </p:sp>
      <p:grpSp>
        <p:nvGrpSpPr>
          <p:cNvPr id="8" name="组合 7"/>
          <p:cNvGrpSpPr/>
          <p:nvPr/>
        </p:nvGrpSpPr>
        <p:grpSpPr bwMode="gray">
          <a:xfrm>
            <a:off x="1642693" y="2215695"/>
            <a:ext cx="1138005" cy="712361"/>
            <a:chOff x="541338" y="830263"/>
            <a:chExt cx="761999" cy="477837"/>
          </a:xfrm>
          <a:solidFill>
            <a:schemeClr val="bg1">
              <a:lumMod val="65000"/>
            </a:schemeClr>
          </a:solidFill>
        </p:grpSpPr>
        <p:sp>
          <p:nvSpPr>
            <p:cNvPr id="9" name="Freeform 25"/>
            <p:cNvSpPr>
              <a:spLocks/>
            </p:cNvSpPr>
            <p:nvPr/>
          </p:nvSpPr>
          <p:spPr bwMode="gray">
            <a:xfrm>
              <a:off x="541338" y="830263"/>
              <a:ext cx="761999" cy="477837"/>
            </a:xfrm>
            <a:custGeom>
              <a:avLst/>
              <a:gdLst>
                <a:gd name="T0" fmla="*/ 316 w 1754"/>
                <a:gd name="T1" fmla="*/ 1065 h 1101"/>
                <a:gd name="T2" fmla="*/ 316 w 1754"/>
                <a:gd name="T3" fmla="*/ 1065 h 1101"/>
                <a:gd name="T4" fmla="*/ 1130 w 1754"/>
                <a:gd name="T5" fmla="*/ 1065 h 1101"/>
                <a:gd name="T6" fmla="*/ 1191 w 1754"/>
                <a:gd name="T7" fmla="*/ 1101 h 1101"/>
                <a:gd name="T8" fmla="*/ 1261 w 1754"/>
                <a:gd name="T9" fmla="*/ 1032 h 1101"/>
                <a:gd name="T10" fmla="*/ 1191 w 1754"/>
                <a:gd name="T11" fmla="*/ 963 h 1101"/>
                <a:gd name="T12" fmla="*/ 1131 w 1754"/>
                <a:gd name="T13" fmla="*/ 998 h 1101"/>
                <a:gd name="T14" fmla="*/ 316 w 1754"/>
                <a:gd name="T15" fmla="*/ 998 h 1101"/>
                <a:gd name="T16" fmla="*/ 66 w 1754"/>
                <a:gd name="T17" fmla="*/ 749 h 1101"/>
                <a:gd name="T18" fmla="*/ 279 w 1754"/>
                <a:gd name="T19" fmla="*/ 502 h 1101"/>
                <a:gd name="T20" fmla="*/ 306 w 1754"/>
                <a:gd name="T21" fmla="*/ 477 h 1101"/>
                <a:gd name="T22" fmla="*/ 838 w 1754"/>
                <a:gd name="T23" fmla="*/ 66 h 1101"/>
                <a:gd name="T24" fmla="*/ 1318 w 1754"/>
                <a:gd name="T25" fmla="*/ 349 h 1101"/>
                <a:gd name="T26" fmla="*/ 1347 w 1754"/>
                <a:gd name="T27" fmla="*/ 366 h 1101"/>
                <a:gd name="T28" fmla="*/ 1687 w 1754"/>
                <a:gd name="T29" fmla="*/ 710 h 1101"/>
                <a:gd name="T30" fmla="*/ 1554 w 1754"/>
                <a:gd name="T31" fmla="*/ 981 h 1101"/>
                <a:gd name="T32" fmla="*/ 1493 w 1754"/>
                <a:gd name="T33" fmla="*/ 998 h 1101"/>
                <a:gd name="T34" fmla="*/ 1466 w 1754"/>
                <a:gd name="T35" fmla="*/ 998 h 1101"/>
                <a:gd name="T36" fmla="*/ 1405 w 1754"/>
                <a:gd name="T37" fmla="*/ 962 h 1101"/>
                <a:gd name="T38" fmla="*/ 1336 w 1754"/>
                <a:gd name="T39" fmla="*/ 1031 h 1101"/>
                <a:gd name="T40" fmla="*/ 1405 w 1754"/>
                <a:gd name="T41" fmla="*/ 1101 h 1101"/>
                <a:gd name="T42" fmla="*/ 1465 w 1754"/>
                <a:gd name="T43" fmla="*/ 1065 h 1101"/>
                <a:gd name="T44" fmla="*/ 1493 w 1754"/>
                <a:gd name="T45" fmla="*/ 1065 h 1101"/>
                <a:gd name="T46" fmla="*/ 1596 w 1754"/>
                <a:gd name="T47" fmla="*/ 1033 h 1101"/>
                <a:gd name="T48" fmla="*/ 1754 w 1754"/>
                <a:gd name="T49" fmla="*/ 710 h 1101"/>
                <a:gd name="T50" fmla="*/ 1367 w 1754"/>
                <a:gd name="T51" fmla="*/ 300 h 1101"/>
                <a:gd name="T52" fmla="*/ 838 w 1754"/>
                <a:gd name="T53" fmla="*/ 0 h 1101"/>
                <a:gd name="T54" fmla="*/ 248 w 1754"/>
                <a:gd name="T55" fmla="*/ 440 h 1101"/>
                <a:gd name="T56" fmla="*/ 0 w 1754"/>
                <a:gd name="T57" fmla="*/ 749 h 1101"/>
                <a:gd name="T58" fmla="*/ 316 w 1754"/>
                <a:gd name="T59" fmla="*/ 1065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54" h="1101">
                  <a:moveTo>
                    <a:pt x="316" y="1065"/>
                  </a:moveTo>
                  <a:lnTo>
                    <a:pt x="316" y="1065"/>
                  </a:lnTo>
                  <a:lnTo>
                    <a:pt x="1130" y="1065"/>
                  </a:lnTo>
                  <a:cubicBezTo>
                    <a:pt x="1142" y="1087"/>
                    <a:pt x="1165" y="1101"/>
                    <a:pt x="1191" y="1101"/>
                  </a:cubicBezTo>
                  <a:cubicBezTo>
                    <a:pt x="1229" y="1101"/>
                    <a:pt x="1261" y="1070"/>
                    <a:pt x="1261" y="1032"/>
                  </a:cubicBezTo>
                  <a:cubicBezTo>
                    <a:pt x="1261" y="994"/>
                    <a:pt x="1229" y="963"/>
                    <a:pt x="1191" y="963"/>
                  </a:cubicBezTo>
                  <a:cubicBezTo>
                    <a:pt x="1165" y="963"/>
                    <a:pt x="1143" y="977"/>
                    <a:pt x="1131" y="998"/>
                  </a:cubicBezTo>
                  <a:lnTo>
                    <a:pt x="316" y="998"/>
                  </a:lnTo>
                  <a:cubicBezTo>
                    <a:pt x="178" y="998"/>
                    <a:pt x="66" y="886"/>
                    <a:pt x="66" y="749"/>
                  </a:cubicBezTo>
                  <a:cubicBezTo>
                    <a:pt x="66" y="626"/>
                    <a:pt x="158" y="520"/>
                    <a:pt x="279" y="502"/>
                  </a:cubicBezTo>
                  <a:cubicBezTo>
                    <a:pt x="292" y="500"/>
                    <a:pt x="303" y="490"/>
                    <a:pt x="306" y="477"/>
                  </a:cubicBezTo>
                  <a:cubicBezTo>
                    <a:pt x="369" y="235"/>
                    <a:pt x="588" y="66"/>
                    <a:pt x="838" y="66"/>
                  </a:cubicBezTo>
                  <a:cubicBezTo>
                    <a:pt x="1037" y="66"/>
                    <a:pt x="1221" y="174"/>
                    <a:pt x="1318" y="349"/>
                  </a:cubicBezTo>
                  <a:cubicBezTo>
                    <a:pt x="1324" y="359"/>
                    <a:pt x="1335" y="366"/>
                    <a:pt x="1347" y="366"/>
                  </a:cubicBezTo>
                  <a:cubicBezTo>
                    <a:pt x="1534" y="368"/>
                    <a:pt x="1687" y="522"/>
                    <a:pt x="1687" y="710"/>
                  </a:cubicBezTo>
                  <a:cubicBezTo>
                    <a:pt x="1687" y="813"/>
                    <a:pt x="1638" y="912"/>
                    <a:pt x="1554" y="981"/>
                  </a:cubicBezTo>
                  <a:cubicBezTo>
                    <a:pt x="1540" y="992"/>
                    <a:pt x="1518" y="998"/>
                    <a:pt x="1493" y="998"/>
                  </a:cubicBezTo>
                  <a:lnTo>
                    <a:pt x="1466" y="998"/>
                  </a:lnTo>
                  <a:cubicBezTo>
                    <a:pt x="1454" y="977"/>
                    <a:pt x="1431" y="962"/>
                    <a:pt x="1405" y="962"/>
                  </a:cubicBezTo>
                  <a:cubicBezTo>
                    <a:pt x="1366" y="962"/>
                    <a:pt x="1336" y="993"/>
                    <a:pt x="1336" y="1031"/>
                  </a:cubicBezTo>
                  <a:cubicBezTo>
                    <a:pt x="1336" y="1069"/>
                    <a:pt x="1366" y="1101"/>
                    <a:pt x="1405" y="1101"/>
                  </a:cubicBezTo>
                  <a:cubicBezTo>
                    <a:pt x="1431" y="1101"/>
                    <a:pt x="1453" y="1086"/>
                    <a:pt x="1465" y="1065"/>
                  </a:cubicBezTo>
                  <a:lnTo>
                    <a:pt x="1493" y="1065"/>
                  </a:lnTo>
                  <a:cubicBezTo>
                    <a:pt x="1534" y="1065"/>
                    <a:pt x="1570" y="1054"/>
                    <a:pt x="1596" y="1033"/>
                  </a:cubicBezTo>
                  <a:cubicBezTo>
                    <a:pt x="1696" y="951"/>
                    <a:pt x="1754" y="833"/>
                    <a:pt x="1754" y="710"/>
                  </a:cubicBezTo>
                  <a:cubicBezTo>
                    <a:pt x="1754" y="492"/>
                    <a:pt x="1582" y="312"/>
                    <a:pt x="1367" y="300"/>
                  </a:cubicBezTo>
                  <a:cubicBezTo>
                    <a:pt x="1256" y="114"/>
                    <a:pt x="1055" y="0"/>
                    <a:pt x="838" y="0"/>
                  </a:cubicBezTo>
                  <a:cubicBezTo>
                    <a:pt x="565" y="0"/>
                    <a:pt x="325" y="179"/>
                    <a:pt x="248" y="440"/>
                  </a:cubicBezTo>
                  <a:cubicBezTo>
                    <a:pt x="105" y="472"/>
                    <a:pt x="0" y="601"/>
                    <a:pt x="0" y="749"/>
                  </a:cubicBezTo>
                  <a:cubicBezTo>
                    <a:pt x="0" y="923"/>
                    <a:pt x="141" y="1065"/>
                    <a:pt x="316" y="1065"/>
                  </a:cubicBezTo>
                  <a:close/>
                </a:path>
              </a:pathLst>
            </a:custGeom>
            <a:grpFill/>
            <a:ln w="0">
              <a:noFill/>
              <a:prstDash val="solid"/>
              <a:round/>
              <a:headEnd/>
              <a:tailEnd/>
            </a:ln>
          </p:spPr>
          <p:txBody>
            <a:bodyPr/>
            <a:lstStyle/>
            <a:p>
              <a:pPr defTabSz="511816">
                <a:defRPr/>
              </a:pPr>
              <a:endParaRPr lang="zh-CN" altLang="en-US"/>
            </a:p>
          </p:txBody>
        </p:sp>
        <p:sp>
          <p:nvSpPr>
            <p:cNvPr id="10" name="Freeform 26"/>
            <p:cNvSpPr>
              <a:spLocks/>
            </p:cNvSpPr>
            <p:nvPr/>
          </p:nvSpPr>
          <p:spPr bwMode="gray">
            <a:xfrm>
              <a:off x="846138" y="1104900"/>
              <a:ext cx="127000" cy="127000"/>
            </a:xfrm>
            <a:custGeom>
              <a:avLst/>
              <a:gdLst>
                <a:gd name="T0" fmla="*/ 126 w 290"/>
                <a:gd name="T1" fmla="*/ 283 h 291"/>
                <a:gd name="T2" fmla="*/ 126 w 290"/>
                <a:gd name="T3" fmla="*/ 283 h 291"/>
                <a:gd name="T4" fmla="*/ 126 w 290"/>
                <a:gd name="T5" fmla="*/ 283 h 291"/>
                <a:gd name="T6" fmla="*/ 126 w 290"/>
                <a:gd name="T7" fmla="*/ 283 h 291"/>
                <a:gd name="T8" fmla="*/ 145 w 290"/>
                <a:gd name="T9" fmla="*/ 291 h 291"/>
                <a:gd name="T10" fmla="*/ 164 w 290"/>
                <a:gd name="T11" fmla="*/ 283 h 291"/>
                <a:gd name="T12" fmla="*/ 290 w 290"/>
                <a:gd name="T13" fmla="*/ 158 h 291"/>
                <a:gd name="T14" fmla="*/ 253 w 290"/>
                <a:gd name="T15" fmla="*/ 120 h 291"/>
                <a:gd name="T16" fmla="*/ 172 w 290"/>
                <a:gd name="T17" fmla="*/ 200 h 291"/>
                <a:gd name="T18" fmla="*/ 172 w 290"/>
                <a:gd name="T19" fmla="*/ 53 h 291"/>
                <a:gd name="T20" fmla="*/ 221 w 290"/>
                <a:gd name="T21" fmla="*/ 53 h 291"/>
                <a:gd name="T22" fmla="*/ 248 w 290"/>
                <a:gd name="T23" fmla="*/ 26 h 291"/>
                <a:gd name="T24" fmla="*/ 221 w 290"/>
                <a:gd name="T25" fmla="*/ 0 h 291"/>
                <a:gd name="T26" fmla="*/ 149 w 290"/>
                <a:gd name="T27" fmla="*/ 0 h 291"/>
                <a:gd name="T28" fmla="*/ 137 w 290"/>
                <a:gd name="T29" fmla="*/ 3 h 291"/>
                <a:gd name="T30" fmla="*/ 119 w 290"/>
                <a:gd name="T31" fmla="*/ 28 h 291"/>
                <a:gd name="T32" fmla="*/ 119 w 290"/>
                <a:gd name="T33" fmla="*/ 200 h 291"/>
                <a:gd name="T34" fmla="*/ 37 w 290"/>
                <a:gd name="T35" fmla="*/ 120 h 291"/>
                <a:gd name="T36" fmla="*/ 0 w 290"/>
                <a:gd name="T37" fmla="*/ 158 h 291"/>
                <a:gd name="T38" fmla="*/ 126 w 290"/>
                <a:gd name="T39" fmla="*/ 283 h 291"/>
                <a:gd name="T40" fmla="*/ 126 w 290"/>
                <a:gd name="T41" fmla="*/ 283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0" h="291">
                  <a:moveTo>
                    <a:pt x="126" y="283"/>
                  </a:moveTo>
                  <a:lnTo>
                    <a:pt x="126" y="283"/>
                  </a:lnTo>
                  <a:lnTo>
                    <a:pt x="126" y="283"/>
                  </a:lnTo>
                  <a:lnTo>
                    <a:pt x="126" y="283"/>
                  </a:lnTo>
                  <a:cubicBezTo>
                    <a:pt x="131" y="288"/>
                    <a:pt x="138" y="291"/>
                    <a:pt x="145" y="291"/>
                  </a:cubicBezTo>
                  <a:cubicBezTo>
                    <a:pt x="153" y="291"/>
                    <a:pt x="159" y="288"/>
                    <a:pt x="164" y="283"/>
                  </a:cubicBezTo>
                  <a:lnTo>
                    <a:pt x="290" y="158"/>
                  </a:lnTo>
                  <a:lnTo>
                    <a:pt x="253" y="120"/>
                  </a:lnTo>
                  <a:lnTo>
                    <a:pt x="172" y="200"/>
                  </a:lnTo>
                  <a:lnTo>
                    <a:pt x="172" y="53"/>
                  </a:lnTo>
                  <a:lnTo>
                    <a:pt x="221" y="53"/>
                  </a:lnTo>
                  <a:cubicBezTo>
                    <a:pt x="236" y="53"/>
                    <a:pt x="248" y="41"/>
                    <a:pt x="248" y="26"/>
                  </a:cubicBezTo>
                  <a:cubicBezTo>
                    <a:pt x="248" y="12"/>
                    <a:pt x="236" y="0"/>
                    <a:pt x="221" y="0"/>
                  </a:cubicBezTo>
                  <a:lnTo>
                    <a:pt x="149" y="0"/>
                  </a:lnTo>
                  <a:cubicBezTo>
                    <a:pt x="145" y="0"/>
                    <a:pt x="140" y="1"/>
                    <a:pt x="137" y="3"/>
                  </a:cubicBezTo>
                  <a:cubicBezTo>
                    <a:pt x="126" y="6"/>
                    <a:pt x="119" y="16"/>
                    <a:pt x="119" y="28"/>
                  </a:cubicBezTo>
                  <a:lnTo>
                    <a:pt x="119" y="200"/>
                  </a:lnTo>
                  <a:lnTo>
                    <a:pt x="37" y="120"/>
                  </a:lnTo>
                  <a:lnTo>
                    <a:pt x="0" y="158"/>
                  </a:lnTo>
                  <a:lnTo>
                    <a:pt x="126" y="283"/>
                  </a:lnTo>
                  <a:lnTo>
                    <a:pt x="126" y="283"/>
                  </a:lnTo>
                  <a:close/>
                </a:path>
              </a:pathLst>
            </a:custGeom>
            <a:grpFill/>
            <a:ln w="0">
              <a:noFill/>
              <a:prstDash val="solid"/>
              <a:round/>
              <a:headEnd/>
              <a:tailEnd/>
            </a:ln>
          </p:spPr>
          <p:txBody>
            <a:bodyPr/>
            <a:lstStyle/>
            <a:p>
              <a:pPr defTabSz="511816">
                <a:defRPr/>
              </a:pPr>
              <a:endParaRPr lang="zh-CN" altLang="en-US"/>
            </a:p>
          </p:txBody>
        </p:sp>
        <p:sp>
          <p:nvSpPr>
            <p:cNvPr id="11" name="Freeform 27"/>
            <p:cNvSpPr>
              <a:spLocks/>
            </p:cNvSpPr>
            <p:nvPr/>
          </p:nvSpPr>
          <p:spPr bwMode="gray">
            <a:xfrm>
              <a:off x="942975" y="1008063"/>
              <a:ext cx="127000" cy="127000"/>
            </a:xfrm>
            <a:custGeom>
              <a:avLst/>
              <a:gdLst>
                <a:gd name="T0" fmla="*/ 282 w 290"/>
                <a:gd name="T1" fmla="*/ 127 h 291"/>
                <a:gd name="T2" fmla="*/ 282 w 290"/>
                <a:gd name="T3" fmla="*/ 127 h 291"/>
                <a:gd name="T4" fmla="*/ 282 w 290"/>
                <a:gd name="T5" fmla="*/ 127 h 291"/>
                <a:gd name="T6" fmla="*/ 282 w 290"/>
                <a:gd name="T7" fmla="*/ 127 h 291"/>
                <a:gd name="T8" fmla="*/ 282 w 290"/>
                <a:gd name="T9" fmla="*/ 127 h 291"/>
                <a:gd name="T10" fmla="*/ 157 w 290"/>
                <a:gd name="T11" fmla="*/ 0 h 291"/>
                <a:gd name="T12" fmla="*/ 119 w 290"/>
                <a:gd name="T13" fmla="*/ 38 h 291"/>
                <a:gd name="T14" fmla="*/ 199 w 290"/>
                <a:gd name="T15" fmla="*/ 119 h 291"/>
                <a:gd name="T16" fmla="*/ 54 w 290"/>
                <a:gd name="T17" fmla="*/ 119 h 291"/>
                <a:gd name="T18" fmla="*/ 54 w 290"/>
                <a:gd name="T19" fmla="*/ 71 h 291"/>
                <a:gd name="T20" fmla="*/ 28 w 290"/>
                <a:gd name="T21" fmla="*/ 45 h 291"/>
                <a:gd name="T22" fmla="*/ 1 w 290"/>
                <a:gd name="T23" fmla="*/ 71 h 291"/>
                <a:gd name="T24" fmla="*/ 1 w 290"/>
                <a:gd name="T25" fmla="*/ 140 h 291"/>
                <a:gd name="T26" fmla="*/ 0 w 290"/>
                <a:gd name="T27" fmla="*/ 146 h 291"/>
                <a:gd name="T28" fmla="*/ 27 w 290"/>
                <a:gd name="T29" fmla="*/ 172 h 291"/>
                <a:gd name="T30" fmla="*/ 199 w 290"/>
                <a:gd name="T31" fmla="*/ 172 h 291"/>
                <a:gd name="T32" fmla="*/ 119 w 290"/>
                <a:gd name="T33" fmla="*/ 253 h 291"/>
                <a:gd name="T34" fmla="*/ 157 w 290"/>
                <a:gd name="T35" fmla="*/ 291 h 291"/>
                <a:gd name="T36" fmla="*/ 282 w 290"/>
                <a:gd name="T37" fmla="*/ 165 h 291"/>
                <a:gd name="T38" fmla="*/ 282 w 290"/>
                <a:gd name="T39" fmla="*/ 164 h 291"/>
                <a:gd name="T40" fmla="*/ 282 w 290"/>
                <a:gd name="T41" fmla="*/ 164 h 291"/>
                <a:gd name="T42" fmla="*/ 282 w 290"/>
                <a:gd name="T43" fmla="*/ 164 h 291"/>
                <a:gd name="T44" fmla="*/ 290 w 290"/>
                <a:gd name="T45" fmla="*/ 146 h 291"/>
                <a:gd name="T46" fmla="*/ 282 w 290"/>
                <a:gd name="T47" fmla="*/ 127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0" h="291">
                  <a:moveTo>
                    <a:pt x="282" y="127"/>
                  </a:moveTo>
                  <a:lnTo>
                    <a:pt x="282" y="127"/>
                  </a:lnTo>
                  <a:lnTo>
                    <a:pt x="282" y="127"/>
                  </a:lnTo>
                  <a:lnTo>
                    <a:pt x="282" y="127"/>
                  </a:lnTo>
                  <a:lnTo>
                    <a:pt x="282" y="127"/>
                  </a:lnTo>
                  <a:lnTo>
                    <a:pt x="157" y="0"/>
                  </a:lnTo>
                  <a:lnTo>
                    <a:pt x="119" y="38"/>
                  </a:lnTo>
                  <a:lnTo>
                    <a:pt x="199" y="119"/>
                  </a:lnTo>
                  <a:lnTo>
                    <a:pt x="54" y="119"/>
                  </a:lnTo>
                  <a:lnTo>
                    <a:pt x="54" y="71"/>
                  </a:lnTo>
                  <a:cubicBezTo>
                    <a:pt x="54" y="57"/>
                    <a:pt x="42" y="45"/>
                    <a:pt x="28" y="45"/>
                  </a:cubicBezTo>
                  <a:cubicBezTo>
                    <a:pt x="13" y="45"/>
                    <a:pt x="1" y="57"/>
                    <a:pt x="1" y="71"/>
                  </a:cubicBezTo>
                  <a:lnTo>
                    <a:pt x="1" y="140"/>
                  </a:lnTo>
                  <a:cubicBezTo>
                    <a:pt x="1" y="142"/>
                    <a:pt x="0" y="144"/>
                    <a:pt x="0" y="146"/>
                  </a:cubicBezTo>
                  <a:cubicBezTo>
                    <a:pt x="0" y="160"/>
                    <a:pt x="12" y="172"/>
                    <a:pt x="27" y="172"/>
                  </a:cubicBezTo>
                  <a:lnTo>
                    <a:pt x="199" y="172"/>
                  </a:lnTo>
                  <a:lnTo>
                    <a:pt x="119" y="253"/>
                  </a:lnTo>
                  <a:lnTo>
                    <a:pt x="157" y="291"/>
                  </a:lnTo>
                  <a:lnTo>
                    <a:pt x="282" y="165"/>
                  </a:lnTo>
                  <a:lnTo>
                    <a:pt x="282" y="164"/>
                  </a:lnTo>
                  <a:lnTo>
                    <a:pt x="282" y="164"/>
                  </a:lnTo>
                  <a:lnTo>
                    <a:pt x="282" y="164"/>
                  </a:lnTo>
                  <a:cubicBezTo>
                    <a:pt x="287" y="160"/>
                    <a:pt x="290" y="153"/>
                    <a:pt x="290" y="146"/>
                  </a:cubicBezTo>
                  <a:cubicBezTo>
                    <a:pt x="290" y="138"/>
                    <a:pt x="287" y="132"/>
                    <a:pt x="282" y="127"/>
                  </a:cubicBezTo>
                  <a:close/>
                </a:path>
              </a:pathLst>
            </a:custGeom>
            <a:grpFill/>
            <a:ln w="0">
              <a:noFill/>
              <a:prstDash val="solid"/>
              <a:round/>
              <a:headEnd/>
              <a:tailEnd/>
            </a:ln>
          </p:spPr>
          <p:txBody>
            <a:bodyPr/>
            <a:lstStyle/>
            <a:p>
              <a:pPr defTabSz="511816">
                <a:defRPr/>
              </a:pPr>
              <a:endParaRPr lang="zh-CN" altLang="en-US"/>
            </a:p>
          </p:txBody>
        </p:sp>
        <p:sp>
          <p:nvSpPr>
            <p:cNvPr id="12" name="Freeform 28"/>
            <p:cNvSpPr>
              <a:spLocks/>
            </p:cNvSpPr>
            <p:nvPr/>
          </p:nvSpPr>
          <p:spPr bwMode="gray">
            <a:xfrm>
              <a:off x="749300" y="1009650"/>
              <a:ext cx="125412" cy="127000"/>
            </a:xfrm>
            <a:custGeom>
              <a:avLst/>
              <a:gdLst>
                <a:gd name="T0" fmla="*/ 236 w 290"/>
                <a:gd name="T1" fmla="*/ 215 h 290"/>
                <a:gd name="T2" fmla="*/ 236 w 290"/>
                <a:gd name="T3" fmla="*/ 215 h 290"/>
                <a:gd name="T4" fmla="*/ 263 w 290"/>
                <a:gd name="T5" fmla="*/ 242 h 290"/>
                <a:gd name="T6" fmla="*/ 290 w 290"/>
                <a:gd name="T7" fmla="*/ 215 h 290"/>
                <a:gd name="T8" fmla="*/ 290 w 290"/>
                <a:gd name="T9" fmla="*/ 143 h 290"/>
                <a:gd name="T10" fmla="*/ 263 w 290"/>
                <a:gd name="T11" fmla="*/ 116 h 290"/>
                <a:gd name="T12" fmla="*/ 94 w 290"/>
                <a:gd name="T13" fmla="*/ 116 h 290"/>
                <a:gd name="T14" fmla="*/ 173 w 290"/>
                <a:gd name="T15" fmla="*/ 37 h 290"/>
                <a:gd name="T16" fmla="*/ 135 w 290"/>
                <a:gd name="T17" fmla="*/ 0 h 290"/>
                <a:gd name="T18" fmla="*/ 18 w 290"/>
                <a:gd name="T19" fmla="*/ 118 h 290"/>
                <a:gd name="T20" fmla="*/ 0 w 290"/>
                <a:gd name="T21" fmla="*/ 143 h 290"/>
                <a:gd name="T22" fmla="*/ 10 w 290"/>
                <a:gd name="T23" fmla="*/ 164 h 290"/>
                <a:gd name="T24" fmla="*/ 10 w 290"/>
                <a:gd name="T25" fmla="*/ 164 h 290"/>
                <a:gd name="T26" fmla="*/ 135 w 290"/>
                <a:gd name="T27" fmla="*/ 290 h 290"/>
                <a:gd name="T28" fmla="*/ 173 w 290"/>
                <a:gd name="T29" fmla="*/ 253 h 290"/>
                <a:gd name="T30" fmla="*/ 91 w 290"/>
                <a:gd name="T31" fmla="*/ 170 h 290"/>
                <a:gd name="T32" fmla="*/ 236 w 290"/>
                <a:gd name="T33" fmla="*/ 170 h 290"/>
                <a:gd name="T34" fmla="*/ 236 w 290"/>
                <a:gd name="T35" fmla="*/ 215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0" h="290">
                  <a:moveTo>
                    <a:pt x="236" y="215"/>
                  </a:moveTo>
                  <a:lnTo>
                    <a:pt x="236" y="215"/>
                  </a:lnTo>
                  <a:cubicBezTo>
                    <a:pt x="236" y="230"/>
                    <a:pt x="248" y="242"/>
                    <a:pt x="263" y="242"/>
                  </a:cubicBezTo>
                  <a:cubicBezTo>
                    <a:pt x="278" y="242"/>
                    <a:pt x="290" y="230"/>
                    <a:pt x="290" y="215"/>
                  </a:cubicBezTo>
                  <a:lnTo>
                    <a:pt x="290" y="143"/>
                  </a:lnTo>
                  <a:cubicBezTo>
                    <a:pt x="290" y="128"/>
                    <a:pt x="278" y="116"/>
                    <a:pt x="263" y="116"/>
                  </a:cubicBezTo>
                  <a:lnTo>
                    <a:pt x="94" y="116"/>
                  </a:lnTo>
                  <a:lnTo>
                    <a:pt x="173" y="37"/>
                  </a:lnTo>
                  <a:lnTo>
                    <a:pt x="135" y="0"/>
                  </a:lnTo>
                  <a:lnTo>
                    <a:pt x="18" y="118"/>
                  </a:lnTo>
                  <a:cubicBezTo>
                    <a:pt x="7" y="122"/>
                    <a:pt x="0" y="132"/>
                    <a:pt x="0" y="143"/>
                  </a:cubicBezTo>
                  <a:cubicBezTo>
                    <a:pt x="0" y="151"/>
                    <a:pt x="4" y="159"/>
                    <a:pt x="10" y="164"/>
                  </a:cubicBezTo>
                  <a:lnTo>
                    <a:pt x="10" y="164"/>
                  </a:lnTo>
                  <a:lnTo>
                    <a:pt x="135" y="290"/>
                  </a:lnTo>
                  <a:lnTo>
                    <a:pt x="173" y="253"/>
                  </a:lnTo>
                  <a:lnTo>
                    <a:pt x="91" y="170"/>
                  </a:lnTo>
                  <a:lnTo>
                    <a:pt x="236" y="170"/>
                  </a:lnTo>
                  <a:lnTo>
                    <a:pt x="236" y="215"/>
                  </a:lnTo>
                  <a:close/>
                </a:path>
              </a:pathLst>
            </a:custGeom>
            <a:grpFill/>
            <a:ln w="0">
              <a:noFill/>
              <a:prstDash val="solid"/>
              <a:round/>
              <a:headEnd/>
              <a:tailEnd/>
            </a:ln>
          </p:spPr>
          <p:txBody>
            <a:bodyPr/>
            <a:lstStyle/>
            <a:p>
              <a:pPr defTabSz="511816">
                <a:defRPr/>
              </a:pPr>
              <a:endParaRPr lang="zh-CN" altLang="en-US"/>
            </a:p>
          </p:txBody>
        </p:sp>
        <p:sp>
          <p:nvSpPr>
            <p:cNvPr id="13" name="Freeform 29"/>
            <p:cNvSpPr>
              <a:spLocks/>
            </p:cNvSpPr>
            <p:nvPr/>
          </p:nvSpPr>
          <p:spPr bwMode="gray">
            <a:xfrm>
              <a:off x="846138" y="911225"/>
              <a:ext cx="125412" cy="125412"/>
            </a:xfrm>
            <a:custGeom>
              <a:avLst/>
              <a:gdLst>
                <a:gd name="T0" fmla="*/ 72 w 291"/>
                <a:gd name="T1" fmla="*/ 232 h 286"/>
                <a:gd name="T2" fmla="*/ 72 w 291"/>
                <a:gd name="T3" fmla="*/ 232 h 286"/>
                <a:gd name="T4" fmla="*/ 45 w 291"/>
                <a:gd name="T5" fmla="*/ 259 h 286"/>
                <a:gd name="T6" fmla="*/ 72 w 291"/>
                <a:gd name="T7" fmla="*/ 286 h 286"/>
                <a:gd name="T8" fmla="*/ 144 w 291"/>
                <a:gd name="T9" fmla="*/ 286 h 286"/>
                <a:gd name="T10" fmla="*/ 145 w 291"/>
                <a:gd name="T11" fmla="*/ 286 h 286"/>
                <a:gd name="T12" fmla="*/ 146 w 291"/>
                <a:gd name="T13" fmla="*/ 286 h 286"/>
                <a:gd name="T14" fmla="*/ 172 w 291"/>
                <a:gd name="T15" fmla="*/ 259 h 286"/>
                <a:gd name="T16" fmla="*/ 172 w 291"/>
                <a:gd name="T17" fmla="*/ 91 h 286"/>
                <a:gd name="T18" fmla="*/ 253 w 291"/>
                <a:gd name="T19" fmla="*/ 171 h 286"/>
                <a:gd name="T20" fmla="*/ 291 w 291"/>
                <a:gd name="T21" fmla="*/ 133 h 286"/>
                <a:gd name="T22" fmla="*/ 165 w 291"/>
                <a:gd name="T23" fmla="*/ 8 h 286"/>
                <a:gd name="T24" fmla="*/ 165 w 291"/>
                <a:gd name="T25" fmla="*/ 8 h 286"/>
                <a:gd name="T26" fmla="*/ 164 w 291"/>
                <a:gd name="T27" fmla="*/ 8 h 286"/>
                <a:gd name="T28" fmla="*/ 164 w 291"/>
                <a:gd name="T29" fmla="*/ 8 h 286"/>
                <a:gd name="T30" fmla="*/ 146 w 291"/>
                <a:gd name="T31" fmla="*/ 0 h 286"/>
                <a:gd name="T32" fmla="*/ 127 w 291"/>
                <a:gd name="T33" fmla="*/ 8 h 286"/>
                <a:gd name="T34" fmla="*/ 127 w 291"/>
                <a:gd name="T35" fmla="*/ 8 h 286"/>
                <a:gd name="T36" fmla="*/ 127 w 291"/>
                <a:gd name="T37" fmla="*/ 8 h 286"/>
                <a:gd name="T38" fmla="*/ 127 w 291"/>
                <a:gd name="T39" fmla="*/ 8 h 286"/>
                <a:gd name="T40" fmla="*/ 0 w 291"/>
                <a:gd name="T41" fmla="*/ 133 h 286"/>
                <a:gd name="T42" fmla="*/ 38 w 291"/>
                <a:gd name="T43" fmla="*/ 171 h 286"/>
                <a:gd name="T44" fmla="*/ 119 w 291"/>
                <a:gd name="T45" fmla="*/ 91 h 286"/>
                <a:gd name="T46" fmla="*/ 119 w 291"/>
                <a:gd name="T47" fmla="*/ 232 h 286"/>
                <a:gd name="T48" fmla="*/ 72 w 291"/>
                <a:gd name="T49" fmla="*/ 232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1" h="286">
                  <a:moveTo>
                    <a:pt x="72" y="232"/>
                  </a:moveTo>
                  <a:lnTo>
                    <a:pt x="72" y="232"/>
                  </a:lnTo>
                  <a:cubicBezTo>
                    <a:pt x="57" y="232"/>
                    <a:pt x="45" y="244"/>
                    <a:pt x="45" y="259"/>
                  </a:cubicBezTo>
                  <a:cubicBezTo>
                    <a:pt x="45" y="274"/>
                    <a:pt x="57" y="286"/>
                    <a:pt x="72" y="286"/>
                  </a:cubicBezTo>
                  <a:lnTo>
                    <a:pt x="144" y="286"/>
                  </a:lnTo>
                  <a:cubicBezTo>
                    <a:pt x="144" y="286"/>
                    <a:pt x="145" y="286"/>
                    <a:pt x="145" y="286"/>
                  </a:cubicBezTo>
                  <a:cubicBezTo>
                    <a:pt x="145" y="286"/>
                    <a:pt x="145" y="286"/>
                    <a:pt x="146" y="286"/>
                  </a:cubicBezTo>
                  <a:cubicBezTo>
                    <a:pt x="160" y="286"/>
                    <a:pt x="172" y="274"/>
                    <a:pt x="172" y="259"/>
                  </a:cubicBezTo>
                  <a:lnTo>
                    <a:pt x="172" y="91"/>
                  </a:lnTo>
                  <a:lnTo>
                    <a:pt x="253" y="171"/>
                  </a:lnTo>
                  <a:lnTo>
                    <a:pt x="291" y="133"/>
                  </a:lnTo>
                  <a:lnTo>
                    <a:pt x="165" y="8"/>
                  </a:lnTo>
                  <a:lnTo>
                    <a:pt x="165" y="8"/>
                  </a:lnTo>
                  <a:lnTo>
                    <a:pt x="164" y="8"/>
                  </a:lnTo>
                  <a:lnTo>
                    <a:pt x="164" y="8"/>
                  </a:lnTo>
                  <a:cubicBezTo>
                    <a:pt x="160" y="3"/>
                    <a:pt x="153" y="0"/>
                    <a:pt x="146" y="0"/>
                  </a:cubicBezTo>
                  <a:cubicBezTo>
                    <a:pt x="138" y="0"/>
                    <a:pt x="132" y="3"/>
                    <a:pt x="127" y="8"/>
                  </a:cubicBezTo>
                  <a:lnTo>
                    <a:pt x="127" y="8"/>
                  </a:lnTo>
                  <a:lnTo>
                    <a:pt x="127" y="8"/>
                  </a:lnTo>
                  <a:lnTo>
                    <a:pt x="127" y="8"/>
                  </a:lnTo>
                  <a:lnTo>
                    <a:pt x="0" y="133"/>
                  </a:lnTo>
                  <a:lnTo>
                    <a:pt x="38" y="171"/>
                  </a:lnTo>
                  <a:lnTo>
                    <a:pt x="119" y="91"/>
                  </a:lnTo>
                  <a:lnTo>
                    <a:pt x="119" y="232"/>
                  </a:lnTo>
                  <a:lnTo>
                    <a:pt x="72" y="232"/>
                  </a:lnTo>
                  <a:close/>
                </a:path>
              </a:pathLst>
            </a:custGeom>
            <a:grpFill/>
            <a:ln w="0">
              <a:noFill/>
              <a:prstDash val="solid"/>
              <a:round/>
              <a:headEnd/>
              <a:tailEnd/>
            </a:ln>
          </p:spPr>
          <p:txBody>
            <a:bodyPr/>
            <a:lstStyle/>
            <a:p>
              <a:pPr defTabSz="511816">
                <a:defRPr/>
              </a:pPr>
              <a:endParaRPr lang="zh-CN" altLang="en-US"/>
            </a:p>
          </p:txBody>
        </p:sp>
      </p:grpSp>
      <p:sp>
        <p:nvSpPr>
          <p:cNvPr id="41" name="矩形 40"/>
          <p:cNvSpPr/>
          <p:nvPr/>
        </p:nvSpPr>
        <p:spPr bwMode="gray">
          <a:xfrm>
            <a:off x="478023" y="3186408"/>
            <a:ext cx="3621015" cy="2211183"/>
          </a:xfrm>
          <a:prstGeom prst="rect">
            <a:avLst/>
          </a:prstGeom>
        </p:spPr>
        <p:txBody>
          <a:bodyPr wrap="square">
            <a:spAutoFit/>
          </a:bodyPr>
          <a:lstStyle/>
          <a:p>
            <a:pPr marL="176213" indent="-176213">
              <a:lnSpc>
                <a:spcPts val="2600"/>
              </a:lnSpc>
              <a:spcAft>
                <a:spcPts val="600"/>
              </a:spcAft>
              <a:buFont typeface="Arial" panose="020B0604020202020204" pitchFamily="34" charset="0"/>
              <a:buChar char="•"/>
            </a:pPr>
            <a:r>
              <a:rPr lang="zh-CN" altLang="en-US" sz="1400" dirty="0" smtClean="0"/>
              <a:t>业务的云</a:t>
            </a:r>
            <a:r>
              <a:rPr lang="zh-CN" altLang="en-US" sz="1400" dirty="0"/>
              <a:t>化架构的演进让企业将精力放在业务上，不用过于关心</a:t>
            </a:r>
            <a:r>
              <a:rPr lang="en-US" altLang="zh-CN" sz="1400" dirty="0"/>
              <a:t>IT</a:t>
            </a:r>
            <a:r>
              <a:rPr lang="zh-CN" altLang="en-US" sz="1400" dirty="0"/>
              <a:t>架构的建设</a:t>
            </a:r>
            <a:r>
              <a:rPr lang="zh-CN" altLang="en-US" sz="1400" dirty="0" smtClean="0"/>
              <a:t>。</a:t>
            </a:r>
            <a:endParaRPr lang="en-US" altLang="zh-CN" sz="1400" dirty="0" smtClean="0"/>
          </a:p>
          <a:p>
            <a:pPr marL="176213" indent="-176213">
              <a:lnSpc>
                <a:spcPts val="2600"/>
              </a:lnSpc>
              <a:spcAft>
                <a:spcPts val="600"/>
              </a:spcAft>
              <a:buFont typeface="Arial" panose="020B0604020202020204" pitchFamily="34" charset="0"/>
              <a:buChar char="•"/>
            </a:pPr>
            <a:r>
              <a:rPr lang="zh-CN" altLang="zh-CN" sz="1400" dirty="0"/>
              <a:t>为了适应业务的云化，企业需要创造一个无所不在、智能可控、随需应变的网络</a:t>
            </a:r>
            <a:r>
              <a:rPr lang="zh-CN" altLang="zh-CN" sz="1400" dirty="0" smtClean="0"/>
              <a:t>。</a:t>
            </a:r>
            <a:endParaRPr lang="en-US" altLang="zh-CN" sz="1400" dirty="0" smtClean="0"/>
          </a:p>
          <a:p>
            <a:pPr marL="176213" indent="-176213">
              <a:lnSpc>
                <a:spcPts val="2600"/>
              </a:lnSpc>
              <a:spcAft>
                <a:spcPts val="600"/>
              </a:spcAft>
              <a:buFont typeface="Arial" panose="020B0604020202020204" pitchFamily="34" charset="0"/>
              <a:buChar char="•"/>
            </a:pPr>
            <a:r>
              <a:rPr lang="zh-CN" altLang="en-US" sz="1400" dirty="0"/>
              <a:t>网络需要变革成为一种服务而不是某种解决</a:t>
            </a:r>
            <a:r>
              <a:rPr lang="zh-CN" altLang="en-US" sz="1400" dirty="0" smtClean="0"/>
              <a:t>方案。</a:t>
            </a:r>
            <a:endParaRPr lang="zh-CN" altLang="en-US" sz="1400" dirty="0"/>
          </a:p>
        </p:txBody>
      </p:sp>
      <p:sp>
        <p:nvSpPr>
          <p:cNvPr id="42" name="圆角矩形 41"/>
          <p:cNvSpPr/>
          <p:nvPr/>
        </p:nvSpPr>
        <p:spPr bwMode="gray">
          <a:xfrm>
            <a:off x="4327981" y="1375346"/>
            <a:ext cx="363048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面向云的安全</a:t>
            </a:r>
          </a:p>
        </p:txBody>
      </p:sp>
      <p:sp>
        <p:nvSpPr>
          <p:cNvPr id="43" name="圆角矩形 42"/>
          <p:cNvSpPr/>
          <p:nvPr/>
        </p:nvSpPr>
        <p:spPr bwMode="gray">
          <a:xfrm>
            <a:off x="4327980" y="1828246"/>
            <a:ext cx="3630486" cy="372627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a:lnSpc>
                <a:spcPts val="2400"/>
              </a:lnSpc>
              <a:spcAft>
                <a:spcPts val="600"/>
              </a:spcAft>
            </a:pPr>
            <a:endParaRPr lang="zh-CN" altLang="en-US" sz="1400" dirty="0">
              <a:solidFill>
                <a:schemeClr val="tx1"/>
              </a:solidFill>
            </a:endParaRPr>
          </a:p>
        </p:txBody>
      </p:sp>
      <p:grpSp>
        <p:nvGrpSpPr>
          <p:cNvPr id="44" name="组合 127"/>
          <p:cNvGrpSpPr>
            <a:grpSpLocks/>
          </p:cNvGrpSpPr>
          <p:nvPr/>
        </p:nvGrpSpPr>
        <p:grpSpPr bwMode="gray">
          <a:xfrm>
            <a:off x="5602305" y="2163017"/>
            <a:ext cx="1081837" cy="817717"/>
            <a:chOff x="6442075" y="1420813"/>
            <a:chExt cx="723900" cy="547687"/>
          </a:xfrm>
          <a:solidFill>
            <a:schemeClr val="bg1">
              <a:lumMod val="65000"/>
            </a:schemeClr>
          </a:solidFill>
        </p:grpSpPr>
        <p:sp>
          <p:nvSpPr>
            <p:cNvPr id="45" name="Freeform 107"/>
            <p:cNvSpPr>
              <a:spLocks noEditPoints="1"/>
            </p:cNvSpPr>
            <p:nvPr/>
          </p:nvSpPr>
          <p:spPr bwMode="gray">
            <a:xfrm>
              <a:off x="6442075" y="1420813"/>
              <a:ext cx="723900" cy="450850"/>
            </a:xfrm>
            <a:custGeom>
              <a:avLst/>
              <a:gdLst>
                <a:gd name="T0" fmla="*/ 2147483647 w 1726"/>
                <a:gd name="T1" fmla="*/ 2147483647 h 1074"/>
                <a:gd name="T2" fmla="*/ 2147483647 w 1726"/>
                <a:gd name="T3" fmla="*/ 2147483647 h 1074"/>
                <a:gd name="T4" fmla="*/ 2147483647 w 1726"/>
                <a:gd name="T5" fmla="*/ 2147483647 h 1074"/>
                <a:gd name="T6" fmla="*/ 2147483647 w 1726"/>
                <a:gd name="T7" fmla="*/ 2147483647 h 1074"/>
                <a:gd name="T8" fmla="*/ 2147483647 w 1726"/>
                <a:gd name="T9" fmla="*/ 2147483647 h 1074"/>
                <a:gd name="T10" fmla="*/ 2147483647 w 1726"/>
                <a:gd name="T11" fmla="*/ 2147483647 h 1074"/>
                <a:gd name="T12" fmla="*/ 2147483647 w 1726"/>
                <a:gd name="T13" fmla="*/ 2147483647 h 1074"/>
                <a:gd name="T14" fmla="*/ 2147483647 w 1726"/>
                <a:gd name="T15" fmla="*/ 2147483647 h 1074"/>
                <a:gd name="T16" fmla="*/ 2147483647 w 1726"/>
                <a:gd name="T17" fmla="*/ 2147483647 h 1074"/>
                <a:gd name="T18" fmla="*/ 2147483647 w 1726"/>
                <a:gd name="T19" fmla="*/ 2147483647 h 1074"/>
                <a:gd name="T20" fmla="*/ 2147483647 w 1726"/>
                <a:gd name="T21" fmla="*/ 0 h 1074"/>
                <a:gd name="T22" fmla="*/ 2147483647 w 1726"/>
                <a:gd name="T23" fmla="*/ 2147483647 h 1074"/>
                <a:gd name="T24" fmla="*/ 2147483647 w 1726"/>
                <a:gd name="T25" fmla="*/ 2147483647 h 1074"/>
                <a:gd name="T26" fmla="*/ 0 w 1726"/>
                <a:gd name="T27" fmla="*/ 2147483647 h 1074"/>
                <a:gd name="T28" fmla="*/ 2147483647 w 1726"/>
                <a:gd name="T29" fmla="*/ 2147483647 h 1074"/>
                <a:gd name="T30" fmla="*/ 2147483647 w 1726"/>
                <a:gd name="T31" fmla="*/ 2147483647 h 1074"/>
                <a:gd name="T32" fmla="*/ 2147483647 w 1726"/>
                <a:gd name="T33" fmla="*/ 2147483647 h 1074"/>
                <a:gd name="T34" fmla="*/ 2147483647 w 1726"/>
                <a:gd name="T35" fmla="*/ 2147483647 h 1074"/>
                <a:gd name="T36" fmla="*/ 2147483647 w 1726"/>
                <a:gd name="T37" fmla="*/ 2147483647 h 1074"/>
                <a:gd name="T38" fmla="*/ 2147483647 w 1726"/>
                <a:gd name="T39" fmla="*/ 2147483647 h 1074"/>
                <a:gd name="T40" fmla="*/ 2147483647 w 1726"/>
                <a:gd name="T41" fmla="*/ 2147483647 h 1074"/>
                <a:gd name="T42" fmla="*/ 2147483647 w 1726"/>
                <a:gd name="T43" fmla="*/ 2147483647 h 1074"/>
                <a:gd name="T44" fmla="*/ 2147483647 w 1726"/>
                <a:gd name="T45" fmla="*/ 2147483647 h 1074"/>
                <a:gd name="T46" fmla="*/ 2147483647 w 1726"/>
                <a:gd name="T47" fmla="*/ 2147483647 h 1074"/>
                <a:gd name="T48" fmla="*/ 2147483647 w 1726"/>
                <a:gd name="T49" fmla="*/ 2147483647 h 1074"/>
                <a:gd name="T50" fmla="*/ 2147483647 w 1726"/>
                <a:gd name="T51" fmla="*/ 2147483647 h 1074"/>
                <a:gd name="T52" fmla="*/ 2147483647 w 1726"/>
                <a:gd name="T53" fmla="*/ 2147483647 h 1074"/>
                <a:gd name="T54" fmla="*/ 2147483647 w 1726"/>
                <a:gd name="T55" fmla="*/ 2147483647 h 1074"/>
                <a:gd name="T56" fmla="*/ 2147483647 w 1726"/>
                <a:gd name="T57" fmla="*/ 2147483647 h 1074"/>
                <a:gd name="T58" fmla="*/ 2147483647 w 1726"/>
                <a:gd name="T59" fmla="*/ 2147483647 h 1074"/>
                <a:gd name="T60" fmla="*/ 2147483647 w 1726"/>
                <a:gd name="T61" fmla="*/ 2147483647 h 1074"/>
                <a:gd name="T62" fmla="*/ 2147483647 w 1726"/>
                <a:gd name="T63" fmla="*/ 2147483647 h 1074"/>
                <a:gd name="T64" fmla="*/ 2147483647 w 1726"/>
                <a:gd name="T65" fmla="*/ 2147483647 h 1074"/>
                <a:gd name="T66" fmla="*/ 2147483647 w 1726"/>
                <a:gd name="T67" fmla="*/ 2147483647 h 1074"/>
                <a:gd name="T68" fmla="*/ 2147483647 w 1726"/>
                <a:gd name="T69" fmla="*/ 2147483647 h 1074"/>
                <a:gd name="T70" fmla="*/ 2147483647 w 1726"/>
                <a:gd name="T71" fmla="*/ 2147483647 h 1074"/>
                <a:gd name="T72" fmla="*/ 2147483647 w 1726"/>
                <a:gd name="T73" fmla="*/ 2147483647 h 1074"/>
                <a:gd name="T74" fmla="*/ 2147483647 w 1726"/>
                <a:gd name="T75" fmla="*/ 2147483647 h 1074"/>
                <a:gd name="T76" fmla="*/ 2147483647 w 1726"/>
                <a:gd name="T77" fmla="*/ 2147483647 h 107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6"/>
                <a:gd name="T118" fmla="*/ 0 h 1074"/>
                <a:gd name="T119" fmla="*/ 1726 w 1726"/>
                <a:gd name="T120" fmla="*/ 1074 h 107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6" h="1074">
                  <a:moveTo>
                    <a:pt x="410" y="715"/>
                  </a:moveTo>
                  <a:lnTo>
                    <a:pt x="410" y="715"/>
                  </a:lnTo>
                  <a:lnTo>
                    <a:pt x="702" y="715"/>
                  </a:lnTo>
                  <a:lnTo>
                    <a:pt x="702" y="1007"/>
                  </a:lnTo>
                  <a:lnTo>
                    <a:pt x="410" y="1007"/>
                  </a:lnTo>
                  <a:lnTo>
                    <a:pt x="410" y="715"/>
                  </a:lnTo>
                  <a:close/>
                  <a:moveTo>
                    <a:pt x="1726" y="661"/>
                  </a:moveTo>
                  <a:lnTo>
                    <a:pt x="1726" y="661"/>
                  </a:lnTo>
                  <a:cubicBezTo>
                    <a:pt x="1726" y="468"/>
                    <a:pt x="1569" y="311"/>
                    <a:pt x="1376" y="311"/>
                  </a:cubicBezTo>
                  <a:lnTo>
                    <a:pt x="1349" y="311"/>
                  </a:lnTo>
                  <a:cubicBezTo>
                    <a:pt x="1259" y="121"/>
                    <a:pt x="1068" y="0"/>
                    <a:pt x="856" y="0"/>
                  </a:cubicBezTo>
                  <a:cubicBezTo>
                    <a:pt x="670" y="0"/>
                    <a:pt x="500" y="93"/>
                    <a:pt x="399" y="250"/>
                  </a:cubicBezTo>
                  <a:lnTo>
                    <a:pt x="380" y="250"/>
                  </a:lnTo>
                  <a:cubicBezTo>
                    <a:pt x="170" y="250"/>
                    <a:pt x="0" y="420"/>
                    <a:pt x="0" y="630"/>
                  </a:cubicBezTo>
                  <a:cubicBezTo>
                    <a:pt x="0" y="828"/>
                    <a:pt x="151" y="990"/>
                    <a:pt x="343" y="1009"/>
                  </a:cubicBezTo>
                  <a:lnTo>
                    <a:pt x="343" y="1040"/>
                  </a:lnTo>
                  <a:cubicBezTo>
                    <a:pt x="343" y="1059"/>
                    <a:pt x="358" y="1074"/>
                    <a:pt x="377" y="1074"/>
                  </a:cubicBezTo>
                  <a:lnTo>
                    <a:pt x="735" y="1074"/>
                  </a:lnTo>
                  <a:cubicBezTo>
                    <a:pt x="753" y="1074"/>
                    <a:pt x="768" y="1059"/>
                    <a:pt x="768" y="1040"/>
                  </a:cubicBezTo>
                  <a:lnTo>
                    <a:pt x="768" y="682"/>
                  </a:lnTo>
                  <a:cubicBezTo>
                    <a:pt x="768" y="664"/>
                    <a:pt x="753" y="649"/>
                    <a:pt x="735" y="649"/>
                  </a:cubicBezTo>
                  <a:lnTo>
                    <a:pt x="377" y="649"/>
                  </a:lnTo>
                  <a:cubicBezTo>
                    <a:pt x="358" y="649"/>
                    <a:pt x="343" y="664"/>
                    <a:pt x="343" y="682"/>
                  </a:cubicBezTo>
                  <a:lnTo>
                    <a:pt x="343" y="942"/>
                  </a:lnTo>
                  <a:cubicBezTo>
                    <a:pt x="188" y="924"/>
                    <a:pt x="66" y="791"/>
                    <a:pt x="66" y="630"/>
                  </a:cubicBezTo>
                  <a:cubicBezTo>
                    <a:pt x="66" y="457"/>
                    <a:pt x="207" y="316"/>
                    <a:pt x="380" y="316"/>
                  </a:cubicBezTo>
                  <a:lnTo>
                    <a:pt x="417" y="316"/>
                  </a:lnTo>
                  <a:cubicBezTo>
                    <a:pt x="429" y="316"/>
                    <a:pt x="440" y="310"/>
                    <a:pt x="446" y="300"/>
                  </a:cubicBezTo>
                  <a:cubicBezTo>
                    <a:pt x="533" y="154"/>
                    <a:pt x="687" y="66"/>
                    <a:pt x="856" y="66"/>
                  </a:cubicBezTo>
                  <a:cubicBezTo>
                    <a:pt x="1049" y="66"/>
                    <a:pt x="1221" y="181"/>
                    <a:pt x="1297" y="357"/>
                  </a:cubicBezTo>
                  <a:cubicBezTo>
                    <a:pt x="1302" y="370"/>
                    <a:pt x="1314" y="378"/>
                    <a:pt x="1328" y="378"/>
                  </a:cubicBezTo>
                  <a:lnTo>
                    <a:pt x="1376" y="378"/>
                  </a:lnTo>
                  <a:cubicBezTo>
                    <a:pt x="1533" y="378"/>
                    <a:pt x="1660" y="505"/>
                    <a:pt x="1660" y="661"/>
                  </a:cubicBezTo>
                  <a:cubicBezTo>
                    <a:pt x="1660" y="781"/>
                    <a:pt x="1584" y="885"/>
                    <a:pt x="1476" y="926"/>
                  </a:cubicBezTo>
                  <a:cubicBezTo>
                    <a:pt x="1464" y="914"/>
                    <a:pt x="1447" y="906"/>
                    <a:pt x="1428" y="906"/>
                  </a:cubicBezTo>
                  <a:cubicBezTo>
                    <a:pt x="1390" y="906"/>
                    <a:pt x="1359" y="937"/>
                    <a:pt x="1359" y="975"/>
                  </a:cubicBezTo>
                  <a:cubicBezTo>
                    <a:pt x="1359" y="1014"/>
                    <a:pt x="1390" y="1045"/>
                    <a:pt x="1428" y="1045"/>
                  </a:cubicBezTo>
                  <a:cubicBezTo>
                    <a:pt x="1461" y="1045"/>
                    <a:pt x="1489" y="1021"/>
                    <a:pt x="1496" y="990"/>
                  </a:cubicBezTo>
                  <a:cubicBezTo>
                    <a:pt x="1632" y="941"/>
                    <a:pt x="1726" y="811"/>
                    <a:pt x="1726" y="661"/>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46" name="Freeform 108"/>
            <p:cNvSpPr>
              <a:spLocks noEditPoints="1"/>
            </p:cNvSpPr>
            <p:nvPr/>
          </p:nvSpPr>
          <p:spPr bwMode="gray">
            <a:xfrm>
              <a:off x="6777038" y="1889125"/>
              <a:ext cx="79375" cy="79375"/>
            </a:xfrm>
            <a:custGeom>
              <a:avLst/>
              <a:gdLst>
                <a:gd name="T0" fmla="*/ 2147483647 w 192"/>
                <a:gd name="T1" fmla="*/ 2147483647 h 192"/>
                <a:gd name="T2" fmla="*/ 2147483647 w 192"/>
                <a:gd name="T3" fmla="*/ 2147483647 h 192"/>
                <a:gd name="T4" fmla="*/ 2147483647 w 192"/>
                <a:gd name="T5" fmla="*/ 2147483647 h 192"/>
                <a:gd name="T6" fmla="*/ 2147483647 w 192"/>
                <a:gd name="T7" fmla="*/ 2147483647 h 192"/>
                <a:gd name="T8" fmla="*/ 2147483647 w 192"/>
                <a:gd name="T9" fmla="*/ 2147483647 h 192"/>
                <a:gd name="T10" fmla="*/ 2147483647 w 192"/>
                <a:gd name="T11" fmla="*/ 2147483647 h 192"/>
                <a:gd name="T12" fmla="*/ 2147483647 w 192"/>
                <a:gd name="T13" fmla="*/ 0 h 192"/>
                <a:gd name="T14" fmla="*/ 2147483647 w 192"/>
                <a:gd name="T15" fmla="*/ 0 h 192"/>
                <a:gd name="T16" fmla="*/ 2147483647 w 192"/>
                <a:gd name="T17" fmla="*/ 0 h 192"/>
                <a:gd name="T18" fmla="*/ 0 w 192"/>
                <a:gd name="T19" fmla="*/ 2147483647 h 192"/>
                <a:gd name="T20" fmla="*/ 0 w 192"/>
                <a:gd name="T21" fmla="*/ 2147483647 h 192"/>
                <a:gd name="T22" fmla="*/ 2147483647 w 192"/>
                <a:gd name="T23" fmla="*/ 2147483647 h 192"/>
                <a:gd name="T24" fmla="*/ 2147483647 w 192"/>
                <a:gd name="T25" fmla="*/ 2147483647 h 192"/>
                <a:gd name="T26" fmla="*/ 2147483647 w 192"/>
                <a:gd name="T27" fmla="*/ 2147483647 h 192"/>
                <a:gd name="T28" fmla="*/ 2147483647 w 192"/>
                <a:gd name="T29" fmla="*/ 2147483647 h 192"/>
                <a:gd name="T30" fmla="*/ 2147483647 w 192"/>
                <a:gd name="T31" fmla="*/ 0 h 1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2"/>
                <a:gd name="T49" fmla="*/ 0 h 192"/>
                <a:gd name="T50" fmla="*/ 192 w 192"/>
                <a:gd name="T51" fmla="*/ 192 h 1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2" h="192">
                  <a:moveTo>
                    <a:pt x="125" y="125"/>
                  </a:moveTo>
                  <a:lnTo>
                    <a:pt x="125" y="125"/>
                  </a:lnTo>
                  <a:lnTo>
                    <a:pt x="67" y="125"/>
                  </a:lnTo>
                  <a:lnTo>
                    <a:pt x="67" y="66"/>
                  </a:lnTo>
                  <a:lnTo>
                    <a:pt x="125" y="66"/>
                  </a:lnTo>
                  <a:lnTo>
                    <a:pt x="125" y="125"/>
                  </a:lnTo>
                  <a:close/>
                  <a:moveTo>
                    <a:pt x="159" y="0"/>
                  </a:moveTo>
                  <a:lnTo>
                    <a:pt x="159" y="0"/>
                  </a:lnTo>
                  <a:lnTo>
                    <a:pt x="33" y="0"/>
                  </a:lnTo>
                  <a:cubicBezTo>
                    <a:pt x="15" y="0"/>
                    <a:pt x="0" y="15"/>
                    <a:pt x="0" y="33"/>
                  </a:cubicBezTo>
                  <a:lnTo>
                    <a:pt x="0" y="158"/>
                  </a:lnTo>
                  <a:cubicBezTo>
                    <a:pt x="0" y="177"/>
                    <a:pt x="15" y="192"/>
                    <a:pt x="33" y="192"/>
                  </a:cubicBezTo>
                  <a:lnTo>
                    <a:pt x="159" y="192"/>
                  </a:lnTo>
                  <a:cubicBezTo>
                    <a:pt x="177" y="192"/>
                    <a:pt x="192" y="177"/>
                    <a:pt x="192" y="158"/>
                  </a:cubicBezTo>
                  <a:lnTo>
                    <a:pt x="192" y="33"/>
                  </a:lnTo>
                  <a:cubicBezTo>
                    <a:pt x="192" y="15"/>
                    <a:pt x="177" y="0"/>
                    <a:pt x="159"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47" name="Freeform 109"/>
            <p:cNvSpPr>
              <a:spLocks noEditPoints="1"/>
            </p:cNvSpPr>
            <p:nvPr/>
          </p:nvSpPr>
          <p:spPr bwMode="gray">
            <a:xfrm>
              <a:off x="6681788" y="1889125"/>
              <a:ext cx="79375" cy="79375"/>
            </a:xfrm>
            <a:custGeom>
              <a:avLst/>
              <a:gdLst>
                <a:gd name="T0" fmla="*/ 2147483647 w 192"/>
                <a:gd name="T1" fmla="*/ 2147483647 h 192"/>
                <a:gd name="T2" fmla="*/ 2147483647 w 192"/>
                <a:gd name="T3" fmla="*/ 2147483647 h 192"/>
                <a:gd name="T4" fmla="*/ 2147483647 w 192"/>
                <a:gd name="T5" fmla="*/ 2147483647 h 192"/>
                <a:gd name="T6" fmla="*/ 2147483647 w 192"/>
                <a:gd name="T7" fmla="*/ 2147483647 h 192"/>
                <a:gd name="T8" fmla="*/ 2147483647 w 192"/>
                <a:gd name="T9" fmla="*/ 2147483647 h 192"/>
                <a:gd name="T10" fmla="*/ 2147483647 w 192"/>
                <a:gd name="T11" fmla="*/ 2147483647 h 192"/>
                <a:gd name="T12" fmla="*/ 2147483647 w 192"/>
                <a:gd name="T13" fmla="*/ 0 h 192"/>
                <a:gd name="T14" fmla="*/ 2147483647 w 192"/>
                <a:gd name="T15" fmla="*/ 0 h 192"/>
                <a:gd name="T16" fmla="*/ 2147483647 w 192"/>
                <a:gd name="T17" fmla="*/ 0 h 192"/>
                <a:gd name="T18" fmla="*/ 0 w 192"/>
                <a:gd name="T19" fmla="*/ 2147483647 h 192"/>
                <a:gd name="T20" fmla="*/ 0 w 192"/>
                <a:gd name="T21" fmla="*/ 2147483647 h 192"/>
                <a:gd name="T22" fmla="*/ 2147483647 w 192"/>
                <a:gd name="T23" fmla="*/ 2147483647 h 192"/>
                <a:gd name="T24" fmla="*/ 2147483647 w 192"/>
                <a:gd name="T25" fmla="*/ 2147483647 h 192"/>
                <a:gd name="T26" fmla="*/ 2147483647 w 192"/>
                <a:gd name="T27" fmla="*/ 2147483647 h 192"/>
                <a:gd name="T28" fmla="*/ 2147483647 w 192"/>
                <a:gd name="T29" fmla="*/ 2147483647 h 192"/>
                <a:gd name="T30" fmla="*/ 2147483647 w 192"/>
                <a:gd name="T31" fmla="*/ 0 h 1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2"/>
                <a:gd name="T49" fmla="*/ 0 h 192"/>
                <a:gd name="T50" fmla="*/ 192 w 192"/>
                <a:gd name="T51" fmla="*/ 192 h 1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2" h="192">
                  <a:moveTo>
                    <a:pt x="125" y="125"/>
                  </a:moveTo>
                  <a:lnTo>
                    <a:pt x="125" y="125"/>
                  </a:lnTo>
                  <a:lnTo>
                    <a:pt x="66" y="125"/>
                  </a:lnTo>
                  <a:lnTo>
                    <a:pt x="66" y="66"/>
                  </a:lnTo>
                  <a:lnTo>
                    <a:pt x="125" y="66"/>
                  </a:lnTo>
                  <a:lnTo>
                    <a:pt x="125" y="125"/>
                  </a:lnTo>
                  <a:close/>
                  <a:moveTo>
                    <a:pt x="158" y="0"/>
                  </a:moveTo>
                  <a:lnTo>
                    <a:pt x="158" y="0"/>
                  </a:lnTo>
                  <a:lnTo>
                    <a:pt x="33" y="0"/>
                  </a:lnTo>
                  <a:cubicBezTo>
                    <a:pt x="15" y="0"/>
                    <a:pt x="0" y="15"/>
                    <a:pt x="0" y="33"/>
                  </a:cubicBezTo>
                  <a:lnTo>
                    <a:pt x="0" y="158"/>
                  </a:lnTo>
                  <a:cubicBezTo>
                    <a:pt x="0" y="177"/>
                    <a:pt x="15" y="192"/>
                    <a:pt x="33" y="192"/>
                  </a:cubicBezTo>
                  <a:lnTo>
                    <a:pt x="158" y="192"/>
                  </a:lnTo>
                  <a:cubicBezTo>
                    <a:pt x="177" y="192"/>
                    <a:pt x="192" y="177"/>
                    <a:pt x="192" y="158"/>
                  </a:cubicBezTo>
                  <a:lnTo>
                    <a:pt x="192" y="33"/>
                  </a:lnTo>
                  <a:cubicBezTo>
                    <a:pt x="192" y="15"/>
                    <a:pt x="177" y="0"/>
                    <a:pt x="158"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48" name="Freeform 110"/>
            <p:cNvSpPr>
              <a:spLocks noEditPoints="1"/>
            </p:cNvSpPr>
            <p:nvPr/>
          </p:nvSpPr>
          <p:spPr bwMode="gray">
            <a:xfrm>
              <a:off x="6584950" y="1889125"/>
              <a:ext cx="80963" cy="79375"/>
            </a:xfrm>
            <a:custGeom>
              <a:avLst/>
              <a:gdLst>
                <a:gd name="T0" fmla="*/ 2147483647 w 192"/>
                <a:gd name="T1" fmla="*/ 2147483647 h 192"/>
                <a:gd name="T2" fmla="*/ 2147483647 w 192"/>
                <a:gd name="T3" fmla="*/ 2147483647 h 192"/>
                <a:gd name="T4" fmla="*/ 2147483647 w 192"/>
                <a:gd name="T5" fmla="*/ 2147483647 h 192"/>
                <a:gd name="T6" fmla="*/ 2147483647 w 192"/>
                <a:gd name="T7" fmla="*/ 2147483647 h 192"/>
                <a:gd name="T8" fmla="*/ 2147483647 w 192"/>
                <a:gd name="T9" fmla="*/ 2147483647 h 192"/>
                <a:gd name="T10" fmla="*/ 2147483647 w 192"/>
                <a:gd name="T11" fmla="*/ 2147483647 h 192"/>
                <a:gd name="T12" fmla="*/ 2147483647 w 192"/>
                <a:gd name="T13" fmla="*/ 0 h 192"/>
                <a:gd name="T14" fmla="*/ 2147483647 w 192"/>
                <a:gd name="T15" fmla="*/ 0 h 192"/>
                <a:gd name="T16" fmla="*/ 2147483647 w 192"/>
                <a:gd name="T17" fmla="*/ 0 h 192"/>
                <a:gd name="T18" fmla="*/ 0 w 192"/>
                <a:gd name="T19" fmla="*/ 2147483647 h 192"/>
                <a:gd name="T20" fmla="*/ 0 w 192"/>
                <a:gd name="T21" fmla="*/ 2147483647 h 192"/>
                <a:gd name="T22" fmla="*/ 2147483647 w 192"/>
                <a:gd name="T23" fmla="*/ 2147483647 h 192"/>
                <a:gd name="T24" fmla="*/ 2147483647 w 192"/>
                <a:gd name="T25" fmla="*/ 2147483647 h 192"/>
                <a:gd name="T26" fmla="*/ 2147483647 w 192"/>
                <a:gd name="T27" fmla="*/ 2147483647 h 192"/>
                <a:gd name="T28" fmla="*/ 2147483647 w 192"/>
                <a:gd name="T29" fmla="*/ 2147483647 h 192"/>
                <a:gd name="T30" fmla="*/ 2147483647 w 192"/>
                <a:gd name="T31" fmla="*/ 0 h 1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2"/>
                <a:gd name="T49" fmla="*/ 0 h 192"/>
                <a:gd name="T50" fmla="*/ 192 w 192"/>
                <a:gd name="T51" fmla="*/ 192 h 1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2" h="192">
                  <a:moveTo>
                    <a:pt x="126" y="125"/>
                  </a:moveTo>
                  <a:lnTo>
                    <a:pt x="126" y="125"/>
                  </a:lnTo>
                  <a:lnTo>
                    <a:pt x="67" y="125"/>
                  </a:lnTo>
                  <a:lnTo>
                    <a:pt x="67" y="66"/>
                  </a:lnTo>
                  <a:lnTo>
                    <a:pt x="126" y="66"/>
                  </a:lnTo>
                  <a:lnTo>
                    <a:pt x="126" y="125"/>
                  </a:lnTo>
                  <a:close/>
                  <a:moveTo>
                    <a:pt x="159" y="0"/>
                  </a:moveTo>
                  <a:lnTo>
                    <a:pt x="159" y="0"/>
                  </a:lnTo>
                  <a:lnTo>
                    <a:pt x="34" y="0"/>
                  </a:lnTo>
                  <a:cubicBezTo>
                    <a:pt x="15" y="0"/>
                    <a:pt x="0" y="15"/>
                    <a:pt x="0" y="33"/>
                  </a:cubicBezTo>
                  <a:lnTo>
                    <a:pt x="0" y="158"/>
                  </a:lnTo>
                  <a:cubicBezTo>
                    <a:pt x="0" y="177"/>
                    <a:pt x="15" y="192"/>
                    <a:pt x="34" y="192"/>
                  </a:cubicBezTo>
                  <a:lnTo>
                    <a:pt x="159" y="192"/>
                  </a:lnTo>
                  <a:cubicBezTo>
                    <a:pt x="177" y="192"/>
                    <a:pt x="192" y="177"/>
                    <a:pt x="192" y="158"/>
                  </a:cubicBezTo>
                  <a:lnTo>
                    <a:pt x="192" y="33"/>
                  </a:lnTo>
                  <a:cubicBezTo>
                    <a:pt x="192" y="15"/>
                    <a:pt x="177" y="0"/>
                    <a:pt x="159"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49" name="Freeform 111"/>
            <p:cNvSpPr>
              <a:spLocks noEditPoints="1"/>
            </p:cNvSpPr>
            <p:nvPr/>
          </p:nvSpPr>
          <p:spPr bwMode="gray">
            <a:xfrm>
              <a:off x="6777038" y="1692275"/>
              <a:ext cx="79375" cy="80963"/>
            </a:xfrm>
            <a:custGeom>
              <a:avLst/>
              <a:gdLst>
                <a:gd name="T0" fmla="*/ 2147483647 w 192"/>
                <a:gd name="T1" fmla="*/ 2147483647 h 192"/>
                <a:gd name="T2" fmla="*/ 2147483647 w 192"/>
                <a:gd name="T3" fmla="*/ 2147483647 h 192"/>
                <a:gd name="T4" fmla="*/ 2147483647 w 192"/>
                <a:gd name="T5" fmla="*/ 2147483647 h 192"/>
                <a:gd name="T6" fmla="*/ 2147483647 w 192"/>
                <a:gd name="T7" fmla="*/ 2147483647 h 192"/>
                <a:gd name="T8" fmla="*/ 2147483647 w 192"/>
                <a:gd name="T9" fmla="*/ 2147483647 h 192"/>
                <a:gd name="T10" fmla="*/ 2147483647 w 192"/>
                <a:gd name="T11" fmla="*/ 2147483647 h 192"/>
                <a:gd name="T12" fmla="*/ 2147483647 w 192"/>
                <a:gd name="T13" fmla="*/ 2147483647 h 192"/>
                <a:gd name="T14" fmla="*/ 2147483647 w 192"/>
                <a:gd name="T15" fmla="*/ 2147483647 h 192"/>
                <a:gd name="T16" fmla="*/ 2147483647 w 192"/>
                <a:gd name="T17" fmla="*/ 2147483647 h 192"/>
                <a:gd name="T18" fmla="*/ 2147483647 w 192"/>
                <a:gd name="T19" fmla="*/ 2147483647 h 192"/>
                <a:gd name="T20" fmla="*/ 2147483647 w 192"/>
                <a:gd name="T21" fmla="*/ 2147483647 h 192"/>
                <a:gd name="T22" fmla="*/ 2147483647 w 192"/>
                <a:gd name="T23" fmla="*/ 0 h 192"/>
                <a:gd name="T24" fmla="*/ 2147483647 w 192"/>
                <a:gd name="T25" fmla="*/ 0 h 192"/>
                <a:gd name="T26" fmla="*/ 0 w 192"/>
                <a:gd name="T27" fmla="*/ 2147483647 h 192"/>
                <a:gd name="T28" fmla="*/ 0 w 192"/>
                <a:gd name="T29" fmla="*/ 2147483647 h 192"/>
                <a:gd name="T30" fmla="*/ 2147483647 w 192"/>
                <a:gd name="T31" fmla="*/ 2147483647 h 1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2"/>
                <a:gd name="T49" fmla="*/ 0 h 192"/>
                <a:gd name="T50" fmla="*/ 192 w 192"/>
                <a:gd name="T51" fmla="*/ 192 h 1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2" h="192">
                  <a:moveTo>
                    <a:pt x="67" y="66"/>
                  </a:moveTo>
                  <a:lnTo>
                    <a:pt x="67" y="66"/>
                  </a:lnTo>
                  <a:lnTo>
                    <a:pt x="125" y="66"/>
                  </a:lnTo>
                  <a:lnTo>
                    <a:pt x="125" y="125"/>
                  </a:lnTo>
                  <a:lnTo>
                    <a:pt x="67" y="125"/>
                  </a:lnTo>
                  <a:lnTo>
                    <a:pt x="67" y="66"/>
                  </a:lnTo>
                  <a:close/>
                  <a:moveTo>
                    <a:pt x="33" y="192"/>
                  </a:moveTo>
                  <a:lnTo>
                    <a:pt x="33" y="192"/>
                  </a:lnTo>
                  <a:lnTo>
                    <a:pt x="159" y="192"/>
                  </a:lnTo>
                  <a:cubicBezTo>
                    <a:pt x="177" y="192"/>
                    <a:pt x="192" y="177"/>
                    <a:pt x="192" y="158"/>
                  </a:cubicBezTo>
                  <a:lnTo>
                    <a:pt x="192" y="33"/>
                  </a:lnTo>
                  <a:cubicBezTo>
                    <a:pt x="192" y="15"/>
                    <a:pt x="177" y="0"/>
                    <a:pt x="159" y="0"/>
                  </a:cubicBezTo>
                  <a:lnTo>
                    <a:pt x="33" y="0"/>
                  </a:lnTo>
                  <a:cubicBezTo>
                    <a:pt x="15" y="0"/>
                    <a:pt x="0" y="15"/>
                    <a:pt x="0" y="33"/>
                  </a:cubicBezTo>
                  <a:lnTo>
                    <a:pt x="0" y="158"/>
                  </a:lnTo>
                  <a:cubicBezTo>
                    <a:pt x="0" y="177"/>
                    <a:pt x="15" y="192"/>
                    <a:pt x="33" y="192"/>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50" name="Freeform 112"/>
            <p:cNvSpPr>
              <a:spLocks noEditPoints="1"/>
            </p:cNvSpPr>
            <p:nvPr/>
          </p:nvSpPr>
          <p:spPr bwMode="gray">
            <a:xfrm>
              <a:off x="6777038" y="1790700"/>
              <a:ext cx="203200" cy="80963"/>
            </a:xfrm>
            <a:custGeom>
              <a:avLst/>
              <a:gdLst>
                <a:gd name="T0" fmla="*/ 2147483647 w 487"/>
                <a:gd name="T1" fmla="*/ 2147483647 h 192"/>
                <a:gd name="T2" fmla="*/ 2147483647 w 487"/>
                <a:gd name="T3" fmla="*/ 2147483647 h 192"/>
                <a:gd name="T4" fmla="*/ 2147483647 w 487"/>
                <a:gd name="T5" fmla="*/ 2147483647 h 192"/>
                <a:gd name="T6" fmla="*/ 2147483647 w 487"/>
                <a:gd name="T7" fmla="*/ 2147483647 h 192"/>
                <a:gd name="T8" fmla="*/ 2147483647 w 487"/>
                <a:gd name="T9" fmla="*/ 2147483647 h 192"/>
                <a:gd name="T10" fmla="*/ 2147483647 w 487"/>
                <a:gd name="T11" fmla="*/ 2147483647 h 192"/>
                <a:gd name="T12" fmla="*/ 2147483647 w 487"/>
                <a:gd name="T13" fmla="*/ 2147483647 h 192"/>
                <a:gd name="T14" fmla="*/ 2147483647 w 487"/>
                <a:gd name="T15" fmla="*/ 2147483647 h 192"/>
                <a:gd name="T16" fmla="*/ 2147483647 w 487"/>
                <a:gd name="T17" fmla="*/ 2147483647 h 192"/>
                <a:gd name="T18" fmla="*/ 2147483647 w 487"/>
                <a:gd name="T19" fmla="*/ 2147483647 h 192"/>
                <a:gd name="T20" fmla="*/ 2147483647 w 487"/>
                <a:gd name="T21" fmla="*/ 2147483647 h 192"/>
                <a:gd name="T22" fmla="*/ 2147483647 w 487"/>
                <a:gd name="T23" fmla="*/ 0 h 192"/>
                <a:gd name="T24" fmla="*/ 2147483647 w 487"/>
                <a:gd name="T25" fmla="*/ 0 h 192"/>
                <a:gd name="T26" fmla="*/ 0 w 487"/>
                <a:gd name="T27" fmla="*/ 2147483647 h 192"/>
                <a:gd name="T28" fmla="*/ 0 w 487"/>
                <a:gd name="T29" fmla="*/ 2147483647 h 192"/>
                <a:gd name="T30" fmla="*/ 2147483647 w 487"/>
                <a:gd name="T31" fmla="*/ 2147483647 h 192"/>
                <a:gd name="T32" fmla="*/ 2147483647 w 487"/>
                <a:gd name="T33" fmla="*/ 2147483647 h 192"/>
                <a:gd name="T34" fmla="*/ 2147483647 w 487"/>
                <a:gd name="T35" fmla="*/ 2147483647 h 192"/>
                <a:gd name="T36" fmla="*/ 2147483647 w 487"/>
                <a:gd name="T37" fmla="*/ 2147483647 h 192"/>
                <a:gd name="T38" fmla="*/ 2147483647 w 487"/>
                <a:gd name="T39" fmla="*/ 2147483647 h 192"/>
                <a:gd name="T40" fmla="*/ 2147483647 w 487"/>
                <a:gd name="T41" fmla="*/ 2147483647 h 192"/>
                <a:gd name="T42" fmla="*/ 2147483647 w 487"/>
                <a:gd name="T43" fmla="*/ 2147483647 h 192"/>
                <a:gd name="T44" fmla="*/ 2147483647 w 487"/>
                <a:gd name="T45" fmla="*/ 2147483647 h 19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7"/>
                <a:gd name="T70" fmla="*/ 0 h 192"/>
                <a:gd name="T71" fmla="*/ 487 w 487"/>
                <a:gd name="T72" fmla="*/ 192 h 19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7" h="192">
                  <a:moveTo>
                    <a:pt x="125" y="125"/>
                  </a:moveTo>
                  <a:lnTo>
                    <a:pt x="125" y="125"/>
                  </a:lnTo>
                  <a:lnTo>
                    <a:pt x="67" y="125"/>
                  </a:lnTo>
                  <a:lnTo>
                    <a:pt x="67" y="66"/>
                  </a:lnTo>
                  <a:lnTo>
                    <a:pt x="125" y="66"/>
                  </a:lnTo>
                  <a:lnTo>
                    <a:pt x="125" y="125"/>
                  </a:lnTo>
                  <a:close/>
                  <a:moveTo>
                    <a:pt x="417" y="24"/>
                  </a:moveTo>
                  <a:lnTo>
                    <a:pt x="417" y="24"/>
                  </a:lnTo>
                  <a:cubicBezTo>
                    <a:pt x="390" y="24"/>
                    <a:pt x="367" y="40"/>
                    <a:pt x="355" y="62"/>
                  </a:cubicBezTo>
                  <a:lnTo>
                    <a:pt x="192" y="62"/>
                  </a:lnTo>
                  <a:lnTo>
                    <a:pt x="192" y="33"/>
                  </a:lnTo>
                  <a:cubicBezTo>
                    <a:pt x="192" y="15"/>
                    <a:pt x="177" y="0"/>
                    <a:pt x="159" y="0"/>
                  </a:cubicBezTo>
                  <a:lnTo>
                    <a:pt x="33" y="0"/>
                  </a:lnTo>
                  <a:cubicBezTo>
                    <a:pt x="15" y="0"/>
                    <a:pt x="0" y="15"/>
                    <a:pt x="0" y="33"/>
                  </a:cubicBezTo>
                  <a:lnTo>
                    <a:pt x="0" y="158"/>
                  </a:lnTo>
                  <a:cubicBezTo>
                    <a:pt x="0" y="177"/>
                    <a:pt x="15" y="192"/>
                    <a:pt x="33" y="192"/>
                  </a:cubicBezTo>
                  <a:lnTo>
                    <a:pt x="159" y="192"/>
                  </a:lnTo>
                  <a:cubicBezTo>
                    <a:pt x="177" y="192"/>
                    <a:pt x="192" y="177"/>
                    <a:pt x="192" y="158"/>
                  </a:cubicBezTo>
                  <a:lnTo>
                    <a:pt x="192" y="129"/>
                  </a:lnTo>
                  <a:lnTo>
                    <a:pt x="358" y="129"/>
                  </a:lnTo>
                  <a:cubicBezTo>
                    <a:pt x="370" y="149"/>
                    <a:pt x="392" y="163"/>
                    <a:pt x="417" y="163"/>
                  </a:cubicBezTo>
                  <a:cubicBezTo>
                    <a:pt x="455" y="163"/>
                    <a:pt x="487" y="132"/>
                    <a:pt x="487" y="93"/>
                  </a:cubicBezTo>
                  <a:cubicBezTo>
                    <a:pt x="487" y="55"/>
                    <a:pt x="455" y="24"/>
                    <a:pt x="417" y="24"/>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grpSp>
      <p:sp>
        <p:nvSpPr>
          <p:cNvPr id="51" name="矩形 50"/>
          <p:cNvSpPr/>
          <p:nvPr/>
        </p:nvSpPr>
        <p:spPr bwMode="gray">
          <a:xfrm>
            <a:off x="4327979" y="3186408"/>
            <a:ext cx="3621015" cy="1990288"/>
          </a:xfrm>
          <a:prstGeom prst="rect">
            <a:avLst/>
          </a:prstGeom>
        </p:spPr>
        <p:txBody>
          <a:bodyPr wrap="square">
            <a:spAutoFit/>
          </a:bodyPr>
          <a:lstStyle/>
          <a:p>
            <a:pPr marL="176213" indent="-176213">
              <a:lnSpc>
                <a:spcPts val="2600"/>
              </a:lnSpc>
              <a:spcAft>
                <a:spcPts val="600"/>
              </a:spcAft>
              <a:buFont typeface="Arial" panose="020B0604020202020204" pitchFamily="34" charset="0"/>
              <a:buChar char="•"/>
            </a:pPr>
            <a:r>
              <a:rPr lang="zh-CN" altLang="en-US" sz="1400" dirty="0"/>
              <a:t>面向云的安全将变得更加</a:t>
            </a:r>
            <a:r>
              <a:rPr lang="zh-CN" altLang="en-US" sz="1400" dirty="0" smtClean="0"/>
              <a:t>重要。</a:t>
            </a:r>
            <a:endParaRPr lang="en-US" altLang="zh-CN" sz="1400" dirty="0" smtClean="0"/>
          </a:p>
          <a:p>
            <a:pPr marL="176213" indent="-176213">
              <a:lnSpc>
                <a:spcPts val="2600"/>
              </a:lnSpc>
              <a:spcAft>
                <a:spcPts val="600"/>
              </a:spcAft>
              <a:buFont typeface="Arial" panose="020B0604020202020204" pitchFamily="34" charset="0"/>
              <a:buChar char="•"/>
            </a:pPr>
            <a:r>
              <a:rPr lang="zh-CN" altLang="zh-CN" sz="1400" dirty="0" smtClean="0"/>
              <a:t>云</a:t>
            </a:r>
            <a:r>
              <a:rPr lang="zh-CN" altLang="zh-CN" sz="1400" dirty="0"/>
              <a:t>化趋势下，企业在提供多种多样的服务时，遭受到的攻击形态发生根本性变化。</a:t>
            </a:r>
            <a:endParaRPr lang="en-US" altLang="zh-CN" sz="1400" dirty="0" smtClean="0"/>
          </a:p>
          <a:p>
            <a:pPr marL="176213" indent="-176213">
              <a:lnSpc>
                <a:spcPts val="2600"/>
              </a:lnSpc>
              <a:spcAft>
                <a:spcPts val="600"/>
              </a:spcAft>
              <a:buFont typeface="Arial" panose="020B0604020202020204" pitchFamily="34" charset="0"/>
              <a:buChar char="•"/>
            </a:pPr>
            <a:r>
              <a:rPr lang="zh-CN" altLang="en-US" sz="1400" dirty="0" smtClean="0"/>
              <a:t>安</a:t>
            </a:r>
            <a:r>
              <a:rPr lang="zh-CN" altLang="zh-CN" sz="1400" dirty="0" smtClean="0"/>
              <a:t>全</a:t>
            </a:r>
            <a:r>
              <a:rPr lang="zh-CN" altLang="zh-CN" sz="1400" dirty="0"/>
              <a:t>已经从被动防御转变为主动</a:t>
            </a:r>
            <a:r>
              <a:rPr lang="zh-CN" altLang="zh-CN" sz="1400" dirty="0" smtClean="0"/>
              <a:t>防御</a:t>
            </a:r>
            <a:r>
              <a:rPr lang="zh-CN" altLang="en-US" sz="1400" dirty="0" smtClean="0"/>
              <a:t>。</a:t>
            </a:r>
            <a:endParaRPr lang="en-US" altLang="zh-CN" sz="1400" dirty="0" smtClean="0"/>
          </a:p>
          <a:p>
            <a:pPr marL="176213" indent="-176213">
              <a:lnSpc>
                <a:spcPts val="2600"/>
              </a:lnSpc>
              <a:spcAft>
                <a:spcPts val="600"/>
              </a:spcAft>
              <a:buFont typeface="Arial" panose="020B0604020202020204" pitchFamily="34" charset="0"/>
              <a:buChar char="•"/>
            </a:pPr>
            <a:r>
              <a:rPr lang="zh-CN" altLang="en-US" sz="1400" dirty="0"/>
              <a:t>检测和响应已经变得和防御一样重要。</a:t>
            </a:r>
          </a:p>
        </p:txBody>
      </p:sp>
      <p:sp>
        <p:nvSpPr>
          <p:cNvPr id="6" name="圆角矩形 5"/>
          <p:cNvSpPr/>
          <p:nvPr/>
        </p:nvSpPr>
        <p:spPr bwMode="gray">
          <a:xfrm>
            <a:off x="8187406" y="1375346"/>
            <a:ext cx="3496175"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物联网</a:t>
            </a:r>
          </a:p>
        </p:txBody>
      </p:sp>
      <p:sp>
        <p:nvSpPr>
          <p:cNvPr id="7" name="圆角矩形 6"/>
          <p:cNvSpPr/>
          <p:nvPr/>
        </p:nvSpPr>
        <p:spPr bwMode="gray">
          <a:xfrm>
            <a:off x="8187405" y="1828246"/>
            <a:ext cx="3496176" cy="372627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a:lnSpc>
                <a:spcPts val="2400"/>
              </a:lnSpc>
              <a:spcAft>
                <a:spcPts val="600"/>
              </a:spcAft>
            </a:pPr>
            <a:endParaRPr lang="zh-CN" altLang="en-US" sz="1400" dirty="0">
              <a:solidFill>
                <a:schemeClr val="tx1"/>
              </a:solidFill>
            </a:endParaRPr>
          </a:p>
        </p:txBody>
      </p:sp>
      <p:grpSp>
        <p:nvGrpSpPr>
          <p:cNvPr id="14" name="组合 381"/>
          <p:cNvGrpSpPr>
            <a:grpSpLocks/>
          </p:cNvGrpSpPr>
          <p:nvPr/>
        </p:nvGrpSpPr>
        <p:grpSpPr bwMode="gray">
          <a:xfrm>
            <a:off x="9488602" y="2114419"/>
            <a:ext cx="893782" cy="914913"/>
            <a:chOff x="6932613" y="4262438"/>
            <a:chExt cx="671513" cy="687388"/>
          </a:xfrm>
          <a:solidFill>
            <a:schemeClr val="bg1">
              <a:lumMod val="65000"/>
            </a:schemeClr>
          </a:solidFill>
        </p:grpSpPr>
        <p:sp>
          <p:nvSpPr>
            <p:cNvPr id="15" name="Freeform 317"/>
            <p:cNvSpPr>
              <a:spLocks/>
            </p:cNvSpPr>
            <p:nvPr/>
          </p:nvSpPr>
          <p:spPr bwMode="gray">
            <a:xfrm>
              <a:off x="7010400" y="4518025"/>
              <a:ext cx="69850" cy="80963"/>
            </a:xfrm>
            <a:custGeom>
              <a:avLst/>
              <a:gdLst>
                <a:gd name="T0" fmla="*/ 0 w 149"/>
                <a:gd name="T1" fmla="*/ 2147483647 h 172"/>
                <a:gd name="T2" fmla="*/ 0 w 149"/>
                <a:gd name="T3" fmla="*/ 2147483647 h 172"/>
                <a:gd name="T4" fmla="*/ 0 w 149"/>
                <a:gd name="T5" fmla="*/ 2147483647 h 172"/>
                <a:gd name="T6" fmla="*/ 2147483647 w 149"/>
                <a:gd name="T7" fmla="*/ 0 h 172"/>
                <a:gd name="T8" fmla="*/ 2147483647 w 149"/>
                <a:gd name="T9" fmla="*/ 2147483647 h 172"/>
                <a:gd name="T10" fmla="*/ 2147483647 w 149"/>
                <a:gd name="T11" fmla="*/ 2147483647 h 172"/>
                <a:gd name="T12" fmla="*/ 2147483647 w 149"/>
                <a:gd name="T13" fmla="*/ 2147483647 h 172"/>
                <a:gd name="T14" fmla="*/ 0 w 149"/>
                <a:gd name="T15" fmla="*/ 2147483647 h 172"/>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172"/>
                <a:gd name="T26" fmla="*/ 149 w 149"/>
                <a:gd name="T27" fmla="*/ 172 h 1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172">
                  <a:moveTo>
                    <a:pt x="0" y="129"/>
                  </a:moveTo>
                  <a:lnTo>
                    <a:pt x="0" y="129"/>
                  </a:lnTo>
                  <a:lnTo>
                    <a:pt x="0" y="43"/>
                  </a:lnTo>
                  <a:lnTo>
                    <a:pt x="74" y="0"/>
                  </a:lnTo>
                  <a:lnTo>
                    <a:pt x="149" y="44"/>
                  </a:lnTo>
                  <a:lnTo>
                    <a:pt x="148" y="129"/>
                  </a:lnTo>
                  <a:lnTo>
                    <a:pt x="74" y="172"/>
                  </a:lnTo>
                  <a:lnTo>
                    <a:pt x="0" y="129"/>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16" name="Freeform 318"/>
            <p:cNvSpPr>
              <a:spLocks/>
            </p:cNvSpPr>
            <p:nvPr/>
          </p:nvSpPr>
          <p:spPr bwMode="gray">
            <a:xfrm>
              <a:off x="7064375" y="4621213"/>
              <a:ext cx="65088" cy="76200"/>
            </a:xfrm>
            <a:custGeom>
              <a:avLst/>
              <a:gdLst>
                <a:gd name="T0" fmla="*/ 0 w 139"/>
                <a:gd name="T1" fmla="*/ 2147483647 h 160"/>
                <a:gd name="T2" fmla="*/ 0 w 139"/>
                <a:gd name="T3" fmla="*/ 2147483647 h 160"/>
                <a:gd name="T4" fmla="*/ 2147483647 w 139"/>
                <a:gd name="T5" fmla="*/ 2147483647 h 160"/>
                <a:gd name="T6" fmla="*/ 2147483647 w 139"/>
                <a:gd name="T7" fmla="*/ 0 h 160"/>
                <a:gd name="T8" fmla="*/ 2147483647 w 139"/>
                <a:gd name="T9" fmla="*/ 2147483647 h 160"/>
                <a:gd name="T10" fmla="*/ 2147483647 w 139"/>
                <a:gd name="T11" fmla="*/ 2147483647 h 160"/>
                <a:gd name="T12" fmla="*/ 2147483647 w 139"/>
                <a:gd name="T13" fmla="*/ 2147483647 h 160"/>
                <a:gd name="T14" fmla="*/ 0 w 139"/>
                <a:gd name="T15" fmla="*/ 2147483647 h 160"/>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160"/>
                <a:gd name="T26" fmla="*/ 139 w 139"/>
                <a:gd name="T27" fmla="*/ 160 h 1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160">
                  <a:moveTo>
                    <a:pt x="0" y="120"/>
                  </a:moveTo>
                  <a:lnTo>
                    <a:pt x="0" y="120"/>
                  </a:lnTo>
                  <a:lnTo>
                    <a:pt x="1" y="40"/>
                  </a:lnTo>
                  <a:lnTo>
                    <a:pt x="70" y="0"/>
                  </a:lnTo>
                  <a:lnTo>
                    <a:pt x="139" y="40"/>
                  </a:lnTo>
                  <a:lnTo>
                    <a:pt x="139" y="120"/>
                  </a:lnTo>
                  <a:lnTo>
                    <a:pt x="70" y="160"/>
                  </a:lnTo>
                  <a:lnTo>
                    <a:pt x="0" y="12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17" name="Freeform 319"/>
            <p:cNvSpPr>
              <a:spLocks/>
            </p:cNvSpPr>
            <p:nvPr/>
          </p:nvSpPr>
          <p:spPr bwMode="gray">
            <a:xfrm>
              <a:off x="7432675" y="4638675"/>
              <a:ext cx="65088" cy="74613"/>
            </a:xfrm>
            <a:custGeom>
              <a:avLst/>
              <a:gdLst>
                <a:gd name="T0" fmla="*/ 0 w 139"/>
                <a:gd name="T1" fmla="*/ 2147483647 h 160"/>
                <a:gd name="T2" fmla="*/ 0 w 139"/>
                <a:gd name="T3" fmla="*/ 2147483647 h 160"/>
                <a:gd name="T4" fmla="*/ 0 w 139"/>
                <a:gd name="T5" fmla="*/ 2147483647 h 160"/>
                <a:gd name="T6" fmla="*/ 2147483647 w 139"/>
                <a:gd name="T7" fmla="*/ 0 h 160"/>
                <a:gd name="T8" fmla="*/ 2147483647 w 139"/>
                <a:gd name="T9" fmla="*/ 2147483647 h 160"/>
                <a:gd name="T10" fmla="*/ 2147483647 w 139"/>
                <a:gd name="T11" fmla="*/ 2147483647 h 160"/>
                <a:gd name="T12" fmla="*/ 2147483647 w 139"/>
                <a:gd name="T13" fmla="*/ 2147483647 h 160"/>
                <a:gd name="T14" fmla="*/ 0 w 139"/>
                <a:gd name="T15" fmla="*/ 2147483647 h 160"/>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160"/>
                <a:gd name="T26" fmla="*/ 139 w 139"/>
                <a:gd name="T27" fmla="*/ 160 h 1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160">
                  <a:moveTo>
                    <a:pt x="0" y="120"/>
                  </a:moveTo>
                  <a:lnTo>
                    <a:pt x="0" y="120"/>
                  </a:lnTo>
                  <a:lnTo>
                    <a:pt x="0" y="40"/>
                  </a:lnTo>
                  <a:lnTo>
                    <a:pt x="70" y="0"/>
                  </a:lnTo>
                  <a:lnTo>
                    <a:pt x="139" y="40"/>
                  </a:lnTo>
                  <a:lnTo>
                    <a:pt x="139" y="120"/>
                  </a:lnTo>
                  <a:lnTo>
                    <a:pt x="70" y="160"/>
                  </a:lnTo>
                  <a:lnTo>
                    <a:pt x="0" y="12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18" name="Freeform 320"/>
            <p:cNvSpPr>
              <a:spLocks/>
            </p:cNvSpPr>
            <p:nvPr/>
          </p:nvSpPr>
          <p:spPr bwMode="gray">
            <a:xfrm>
              <a:off x="7129463" y="4449763"/>
              <a:ext cx="50800" cy="58738"/>
            </a:xfrm>
            <a:custGeom>
              <a:avLst/>
              <a:gdLst>
                <a:gd name="T0" fmla="*/ 0 w 110"/>
                <a:gd name="T1" fmla="*/ 2147483647 h 126"/>
                <a:gd name="T2" fmla="*/ 0 w 110"/>
                <a:gd name="T3" fmla="*/ 2147483647 h 126"/>
                <a:gd name="T4" fmla="*/ 2147483647 w 110"/>
                <a:gd name="T5" fmla="*/ 2147483647 h 126"/>
                <a:gd name="T6" fmla="*/ 2147483647 w 110"/>
                <a:gd name="T7" fmla="*/ 0 h 126"/>
                <a:gd name="T8" fmla="*/ 2147483647 w 110"/>
                <a:gd name="T9" fmla="*/ 2147483647 h 126"/>
                <a:gd name="T10" fmla="*/ 2147483647 w 110"/>
                <a:gd name="T11" fmla="*/ 2147483647 h 126"/>
                <a:gd name="T12" fmla="*/ 2147483647 w 110"/>
                <a:gd name="T13" fmla="*/ 2147483647 h 126"/>
                <a:gd name="T14" fmla="*/ 0 w 110"/>
                <a:gd name="T15" fmla="*/ 2147483647 h 126"/>
                <a:gd name="T16" fmla="*/ 0 60000 65536"/>
                <a:gd name="T17" fmla="*/ 0 60000 65536"/>
                <a:gd name="T18" fmla="*/ 0 60000 65536"/>
                <a:gd name="T19" fmla="*/ 0 60000 65536"/>
                <a:gd name="T20" fmla="*/ 0 60000 65536"/>
                <a:gd name="T21" fmla="*/ 0 60000 65536"/>
                <a:gd name="T22" fmla="*/ 0 60000 65536"/>
                <a:gd name="T23" fmla="*/ 0 60000 65536"/>
                <a:gd name="T24" fmla="*/ 0 w 110"/>
                <a:gd name="T25" fmla="*/ 0 h 126"/>
                <a:gd name="T26" fmla="*/ 110 w 110"/>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0" h="126">
                  <a:moveTo>
                    <a:pt x="0" y="95"/>
                  </a:moveTo>
                  <a:lnTo>
                    <a:pt x="0" y="95"/>
                  </a:lnTo>
                  <a:lnTo>
                    <a:pt x="1" y="32"/>
                  </a:lnTo>
                  <a:lnTo>
                    <a:pt x="55" y="0"/>
                  </a:lnTo>
                  <a:lnTo>
                    <a:pt x="110" y="32"/>
                  </a:lnTo>
                  <a:lnTo>
                    <a:pt x="109" y="95"/>
                  </a:lnTo>
                  <a:lnTo>
                    <a:pt x="55" y="126"/>
                  </a:lnTo>
                  <a:lnTo>
                    <a:pt x="0" y="95"/>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19" name="Freeform 321"/>
            <p:cNvSpPr>
              <a:spLocks/>
            </p:cNvSpPr>
            <p:nvPr/>
          </p:nvSpPr>
          <p:spPr bwMode="gray">
            <a:xfrm>
              <a:off x="7146925" y="4556125"/>
              <a:ext cx="74613" cy="85725"/>
            </a:xfrm>
            <a:custGeom>
              <a:avLst/>
              <a:gdLst>
                <a:gd name="T0" fmla="*/ 0 w 157"/>
                <a:gd name="T1" fmla="*/ 2147483647 h 181"/>
                <a:gd name="T2" fmla="*/ 0 w 157"/>
                <a:gd name="T3" fmla="*/ 2147483647 h 181"/>
                <a:gd name="T4" fmla="*/ 0 w 157"/>
                <a:gd name="T5" fmla="*/ 2147483647 h 181"/>
                <a:gd name="T6" fmla="*/ 2147483647 w 157"/>
                <a:gd name="T7" fmla="*/ 0 h 181"/>
                <a:gd name="T8" fmla="*/ 2147483647 w 157"/>
                <a:gd name="T9" fmla="*/ 2147483647 h 181"/>
                <a:gd name="T10" fmla="*/ 2147483647 w 157"/>
                <a:gd name="T11" fmla="*/ 2147483647 h 181"/>
                <a:gd name="T12" fmla="*/ 2147483647 w 157"/>
                <a:gd name="T13" fmla="*/ 2147483647 h 181"/>
                <a:gd name="T14" fmla="*/ 0 w 157"/>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181"/>
                <a:gd name="T26" fmla="*/ 157 w 157"/>
                <a:gd name="T27" fmla="*/ 181 h 1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181">
                  <a:moveTo>
                    <a:pt x="0" y="135"/>
                  </a:moveTo>
                  <a:lnTo>
                    <a:pt x="0" y="135"/>
                  </a:lnTo>
                  <a:lnTo>
                    <a:pt x="0" y="45"/>
                  </a:lnTo>
                  <a:lnTo>
                    <a:pt x="79" y="0"/>
                  </a:lnTo>
                  <a:lnTo>
                    <a:pt x="157" y="45"/>
                  </a:lnTo>
                  <a:lnTo>
                    <a:pt x="157" y="136"/>
                  </a:lnTo>
                  <a:lnTo>
                    <a:pt x="79" y="181"/>
                  </a:lnTo>
                  <a:lnTo>
                    <a:pt x="0" y="135"/>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0" name="Freeform 322"/>
            <p:cNvSpPr>
              <a:spLocks/>
            </p:cNvSpPr>
            <p:nvPr/>
          </p:nvSpPr>
          <p:spPr bwMode="gray">
            <a:xfrm>
              <a:off x="7378700" y="4449763"/>
              <a:ext cx="69850" cy="80963"/>
            </a:xfrm>
            <a:custGeom>
              <a:avLst/>
              <a:gdLst>
                <a:gd name="T0" fmla="*/ 0 w 149"/>
                <a:gd name="T1" fmla="*/ 2147483647 h 172"/>
                <a:gd name="T2" fmla="*/ 0 w 149"/>
                <a:gd name="T3" fmla="*/ 2147483647 h 172"/>
                <a:gd name="T4" fmla="*/ 0 w 149"/>
                <a:gd name="T5" fmla="*/ 2147483647 h 172"/>
                <a:gd name="T6" fmla="*/ 2147483647 w 149"/>
                <a:gd name="T7" fmla="*/ 0 h 172"/>
                <a:gd name="T8" fmla="*/ 2147483647 w 149"/>
                <a:gd name="T9" fmla="*/ 2147483647 h 172"/>
                <a:gd name="T10" fmla="*/ 2147483647 w 149"/>
                <a:gd name="T11" fmla="*/ 2147483647 h 172"/>
                <a:gd name="T12" fmla="*/ 2147483647 w 149"/>
                <a:gd name="T13" fmla="*/ 2147483647 h 172"/>
                <a:gd name="T14" fmla="*/ 0 w 149"/>
                <a:gd name="T15" fmla="*/ 2147483647 h 172"/>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172"/>
                <a:gd name="T26" fmla="*/ 149 w 149"/>
                <a:gd name="T27" fmla="*/ 172 h 1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172">
                  <a:moveTo>
                    <a:pt x="0" y="129"/>
                  </a:moveTo>
                  <a:lnTo>
                    <a:pt x="0" y="129"/>
                  </a:lnTo>
                  <a:lnTo>
                    <a:pt x="0" y="43"/>
                  </a:lnTo>
                  <a:lnTo>
                    <a:pt x="74" y="0"/>
                  </a:lnTo>
                  <a:lnTo>
                    <a:pt x="149" y="44"/>
                  </a:lnTo>
                  <a:lnTo>
                    <a:pt x="149" y="129"/>
                  </a:lnTo>
                  <a:lnTo>
                    <a:pt x="74" y="172"/>
                  </a:lnTo>
                  <a:lnTo>
                    <a:pt x="0" y="129"/>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1" name="Freeform 323"/>
            <p:cNvSpPr>
              <a:spLocks/>
            </p:cNvSpPr>
            <p:nvPr/>
          </p:nvSpPr>
          <p:spPr bwMode="gray">
            <a:xfrm>
              <a:off x="7283450" y="4591050"/>
              <a:ext cx="103188" cy="117475"/>
            </a:xfrm>
            <a:custGeom>
              <a:avLst/>
              <a:gdLst>
                <a:gd name="T0" fmla="*/ 0 w 218"/>
                <a:gd name="T1" fmla="*/ 2147483647 h 252"/>
                <a:gd name="T2" fmla="*/ 0 w 218"/>
                <a:gd name="T3" fmla="*/ 2147483647 h 252"/>
                <a:gd name="T4" fmla="*/ 0 w 218"/>
                <a:gd name="T5" fmla="*/ 2147483647 h 252"/>
                <a:gd name="T6" fmla="*/ 2147483647 w 218"/>
                <a:gd name="T7" fmla="*/ 0 h 252"/>
                <a:gd name="T8" fmla="*/ 2147483647 w 218"/>
                <a:gd name="T9" fmla="*/ 2147483647 h 252"/>
                <a:gd name="T10" fmla="*/ 2147483647 w 218"/>
                <a:gd name="T11" fmla="*/ 2147483647 h 252"/>
                <a:gd name="T12" fmla="*/ 2147483647 w 218"/>
                <a:gd name="T13" fmla="*/ 2147483647 h 252"/>
                <a:gd name="T14" fmla="*/ 0 w 218"/>
                <a:gd name="T15" fmla="*/ 2147483647 h 252"/>
                <a:gd name="T16" fmla="*/ 0 60000 65536"/>
                <a:gd name="T17" fmla="*/ 0 60000 65536"/>
                <a:gd name="T18" fmla="*/ 0 60000 65536"/>
                <a:gd name="T19" fmla="*/ 0 60000 65536"/>
                <a:gd name="T20" fmla="*/ 0 60000 65536"/>
                <a:gd name="T21" fmla="*/ 0 60000 65536"/>
                <a:gd name="T22" fmla="*/ 0 60000 65536"/>
                <a:gd name="T23" fmla="*/ 0 60000 65536"/>
                <a:gd name="T24" fmla="*/ 0 w 218"/>
                <a:gd name="T25" fmla="*/ 0 h 252"/>
                <a:gd name="T26" fmla="*/ 218 w 218"/>
                <a:gd name="T27" fmla="*/ 252 h 2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8" h="252">
                  <a:moveTo>
                    <a:pt x="0" y="189"/>
                  </a:moveTo>
                  <a:lnTo>
                    <a:pt x="0" y="189"/>
                  </a:lnTo>
                  <a:lnTo>
                    <a:pt x="0" y="63"/>
                  </a:lnTo>
                  <a:lnTo>
                    <a:pt x="109" y="0"/>
                  </a:lnTo>
                  <a:lnTo>
                    <a:pt x="218" y="63"/>
                  </a:lnTo>
                  <a:lnTo>
                    <a:pt x="218" y="189"/>
                  </a:lnTo>
                  <a:lnTo>
                    <a:pt x="109" y="252"/>
                  </a:lnTo>
                  <a:lnTo>
                    <a:pt x="0" y="189"/>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2" name="Freeform 324"/>
            <p:cNvSpPr>
              <a:spLocks/>
            </p:cNvSpPr>
            <p:nvPr/>
          </p:nvSpPr>
          <p:spPr bwMode="gray">
            <a:xfrm>
              <a:off x="7232650" y="4416425"/>
              <a:ext cx="119063" cy="138113"/>
            </a:xfrm>
            <a:custGeom>
              <a:avLst/>
              <a:gdLst>
                <a:gd name="T0" fmla="*/ 0 w 255"/>
                <a:gd name="T1" fmla="*/ 2147483647 h 294"/>
                <a:gd name="T2" fmla="*/ 0 w 255"/>
                <a:gd name="T3" fmla="*/ 2147483647 h 294"/>
                <a:gd name="T4" fmla="*/ 0 w 255"/>
                <a:gd name="T5" fmla="*/ 2147483647 h 294"/>
                <a:gd name="T6" fmla="*/ 2147483647 w 255"/>
                <a:gd name="T7" fmla="*/ 0 h 294"/>
                <a:gd name="T8" fmla="*/ 2147483647 w 255"/>
                <a:gd name="T9" fmla="*/ 2147483647 h 294"/>
                <a:gd name="T10" fmla="*/ 2147483647 w 255"/>
                <a:gd name="T11" fmla="*/ 2147483647 h 294"/>
                <a:gd name="T12" fmla="*/ 2147483647 w 255"/>
                <a:gd name="T13" fmla="*/ 2147483647 h 294"/>
                <a:gd name="T14" fmla="*/ 0 w 255"/>
                <a:gd name="T15" fmla="*/ 2147483647 h 294"/>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294"/>
                <a:gd name="T26" fmla="*/ 255 w 255"/>
                <a:gd name="T27" fmla="*/ 294 h 2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294">
                  <a:moveTo>
                    <a:pt x="0" y="220"/>
                  </a:moveTo>
                  <a:lnTo>
                    <a:pt x="0" y="220"/>
                  </a:lnTo>
                  <a:lnTo>
                    <a:pt x="0" y="73"/>
                  </a:lnTo>
                  <a:lnTo>
                    <a:pt x="128" y="0"/>
                  </a:lnTo>
                  <a:lnTo>
                    <a:pt x="255" y="74"/>
                  </a:lnTo>
                  <a:lnTo>
                    <a:pt x="254" y="220"/>
                  </a:lnTo>
                  <a:lnTo>
                    <a:pt x="127" y="294"/>
                  </a:lnTo>
                  <a:lnTo>
                    <a:pt x="0" y="22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3" name="Freeform 325"/>
            <p:cNvSpPr>
              <a:spLocks/>
            </p:cNvSpPr>
            <p:nvPr/>
          </p:nvSpPr>
          <p:spPr bwMode="gray">
            <a:xfrm>
              <a:off x="7369175" y="4711700"/>
              <a:ext cx="71438" cy="80963"/>
            </a:xfrm>
            <a:custGeom>
              <a:avLst/>
              <a:gdLst>
                <a:gd name="T0" fmla="*/ 0 w 149"/>
                <a:gd name="T1" fmla="*/ 2147483647 h 172"/>
                <a:gd name="T2" fmla="*/ 0 w 149"/>
                <a:gd name="T3" fmla="*/ 2147483647 h 172"/>
                <a:gd name="T4" fmla="*/ 2147483647 w 149"/>
                <a:gd name="T5" fmla="*/ 2147483647 h 172"/>
                <a:gd name="T6" fmla="*/ 2147483647 w 149"/>
                <a:gd name="T7" fmla="*/ 0 h 172"/>
                <a:gd name="T8" fmla="*/ 2147483647 w 149"/>
                <a:gd name="T9" fmla="*/ 2147483647 h 172"/>
                <a:gd name="T10" fmla="*/ 2147483647 w 149"/>
                <a:gd name="T11" fmla="*/ 2147483647 h 172"/>
                <a:gd name="T12" fmla="*/ 2147483647 w 149"/>
                <a:gd name="T13" fmla="*/ 2147483647 h 172"/>
                <a:gd name="T14" fmla="*/ 0 w 149"/>
                <a:gd name="T15" fmla="*/ 2147483647 h 172"/>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172"/>
                <a:gd name="T26" fmla="*/ 149 w 149"/>
                <a:gd name="T27" fmla="*/ 172 h 1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172">
                  <a:moveTo>
                    <a:pt x="0" y="129"/>
                  </a:moveTo>
                  <a:lnTo>
                    <a:pt x="0" y="129"/>
                  </a:lnTo>
                  <a:lnTo>
                    <a:pt x="1" y="43"/>
                  </a:lnTo>
                  <a:lnTo>
                    <a:pt x="75" y="0"/>
                  </a:lnTo>
                  <a:lnTo>
                    <a:pt x="149" y="43"/>
                  </a:lnTo>
                  <a:lnTo>
                    <a:pt x="149" y="129"/>
                  </a:lnTo>
                  <a:lnTo>
                    <a:pt x="75" y="172"/>
                  </a:lnTo>
                  <a:lnTo>
                    <a:pt x="0" y="129"/>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4" name="Freeform 326"/>
            <p:cNvSpPr>
              <a:spLocks/>
            </p:cNvSpPr>
            <p:nvPr/>
          </p:nvSpPr>
          <p:spPr bwMode="gray">
            <a:xfrm>
              <a:off x="7440613" y="4530725"/>
              <a:ext cx="77788" cy="90488"/>
            </a:xfrm>
            <a:custGeom>
              <a:avLst/>
              <a:gdLst>
                <a:gd name="T0" fmla="*/ 0 w 168"/>
                <a:gd name="T1" fmla="*/ 2147483647 h 194"/>
                <a:gd name="T2" fmla="*/ 0 w 168"/>
                <a:gd name="T3" fmla="*/ 2147483647 h 194"/>
                <a:gd name="T4" fmla="*/ 0 w 168"/>
                <a:gd name="T5" fmla="*/ 2147483647 h 194"/>
                <a:gd name="T6" fmla="*/ 2147483647 w 168"/>
                <a:gd name="T7" fmla="*/ 0 h 194"/>
                <a:gd name="T8" fmla="*/ 2147483647 w 168"/>
                <a:gd name="T9" fmla="*/ 2147483647 h 194"/>
                <a:gd name="T10" fmla="*/ 2147483647 w 168"/>
                <a:gd name="T11" fmla="*/ 2147483647 h 194"/>
                <a:gd name="T12" fmla="*/ 2147483647 w 168"/>
                <a:gd name="T13" fmla="*/ 2147483647 h 194"/>
                <a:gd name="T14" fmla="*/ 0 w 168"/>
                <a:gd name="T15" fmla="*/ 2147483647 h 194"/>
                <a:gd name="T16" fmla="*/ 0 60000 65536"/>
                <a:gd name="T17" fmla="*/ 0 60000 65536"/>
                <a:gd name="T18" fmla="*/ 0 60000 65536"/>
                <a:gd name="T19" fmla="*/ 0 60000 65536"/>
                <a:gd name="T20" fmla="*/ 0 60000 65536"/>
                <a:gd name="T21" fmla="*/ 0 60000 65536"/>
                <a:gd name="T22" fmla="*/ 0 60000 65536"/>
                <a:gd name="T23" fmla="*/ 0 60000 65536"/>
                <a:gd name="T24" fmla="*/ 0 w 168"/>
                <a:gd name="T25" fmla="*/ 0 h 194"/>
                <a:gd name="T26" fmla="*/ 168 w 168"/>
                <a:gd name="T27" fmla="*/ 194 h 1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8" h="194">
                  <a:moveTo>
                    <a:pt x="0" y="145"/>
                  </a:moveTo>
                  <a:lnTo>
                    <a:pt x="0" y="145"/>
                  </a:lnTo>
                  <a:lnTo>
                    <a:pt x="0" y="49"/>
                  </a:lnTo>
                  <a:lnTo>
                    <a:pt x="84" y="0"/>
                  </a:lnTo>
                  <a:lnTo>
                    <a:pt x="168" y="49"/>
                  </a:lnTo>
                  <a:lnTo>
                    <a:pt x="168" y="146"/>
                  </a:lnTo>
                  <a:lnTo>
                    <a:pt x="84" y="194"/>
                  </a:lnTo>
                  <a:lnTo>
                    <a:pt x="0" y="145"/>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5" name="Freeform 327"/>
            <p:cNvSpPr>
              <a:spLocks/>
            </p:cNvSpPr>
            <p:nvPr/>
          </p:nvSpPr>
          <p:spPr bwMode="gray">
            <a:xfrm>
              <a:off x="7058025" y="4584700"/>
              <a:ext cx="26988" cy="47625"/>
            </a:xfrm>
            <a:custGeom>
              <a:avLst/>
              <a:gdLst>
                <a:gd name="T0" fmla="*/ 2147483647 w 59"/>
                <a:gd name="T1" fmla="*/ 2147483647 h 102"/>
                <a:gd name="T2" fmla="*/ 2147483647 w 59"/>
                <a:gd name="T3" fmla="*/ 2147483647 h 102"/>
                <a:gd name="T4" fmla="*/ 0 w 59"/>
                <a:gd name="T5" fmla="*/ 2147483647 h 102"/>
                <a:gd name="T6" fmla="*/ 2147483647 w 59"/>
                <a:gd name="T7" fmla="*/ 0 h 102"/>
                <a:gd name="T8" fmla="*/ 2147483647 w 59"/>
                <a:gd name="T9" fmla="*/ 2147483647 h 102"/>
                <a:gd name="T10" fmla="*/ 2147483647 w 59"/>
                <a:gd name="T11" fmla="*/ 2147483647 h 102"/>
                <a:gd name="T12" fmla="*/ 0 60000 65536"/>
                <a:gd name="T13" fmla="*/ 0 60000 65536"/>
                <a:gd name="T14" fmla="*/ 0 60000 65536"/>
                <a:gd name="T15" fmla="*/ 0 60000 65536"/>
                <a:gd name="T16" fmla="*/ 0 60000 65536"/>
                <a:gd name="T17" fmla="*/ 0 60000 65536"/>
                <a:gd name="T18" fmla="*/ 0 w 59"/>
                <a:gd name="T19" fmla="*/ 0 h 102"/>
                <a:gd name="T20" fmla="*/ 59 w 59"/>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59" h="102">
                  <a:moveTo>
                    <a:pt x="34" y="102"/>
                  </a:moveTo>
                  <a:lnTo>
                    <a:pt x="34" y="102"/>
                  </a:lnTo>
                  <a:lnTo>
                    <a:pt x="0" y="10"/>
                  </a:lnTo>
                  <a:lnTo>
                    <a:pt x="25" y="0"/>
                  </a:lnTo>
                  <a:lnTo>
                    <a:pt x="59" y="93"/>
                  </a:lnTo>
                  <a:lnTo>
                    <a:pt x="34" y="10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6" name="Freeform 328"/>
            <p:cNvSpPr>
              <a:spLocks/>
            </p:cNvSpPr>
            <p:nvPr/>
          </p:nvSpPr>
          <p:spPr bwMode="gray">
            <a:xfrm>
              <a:off x="7070725" y="4484688"/>
              <a:ext cx="68263" cy="61913"/>
            </a:xfrm>
            <a:custGeom>
              <a:avLst/>
              <a:gdLst>
                <a:gd name="T0" fmla="*/ 2147483647 w 144"/>
                <a:gd name="T1" fmla="*/ 2147483647 h 133"/>
                <a:gd name="T2" fmla="*/ 2147483647 w 144"/>
                <a:gd name="T3" fmla="*/ 2147483647 h 133"/>
                <a:gd name="T4" fmla="*/ 0 w 144"/>
                <a:gd name="T5" fmla="*/ 2147483647 h 133"/>
                <a:gd name="T6" fmla="*/ 2147483647 w 144"/>
                <a:gd name="T7" fmla="*/ 0 h 133"/>
                <a:gd name="T8" fmla="*/ 2147483647 w 144"/>
                <a:gd name="T9" fmla="*/ 2147483647 h 133"/>
                <a:gd name="T10" fmla="*/ 2147483647 w 144"/>
                <a:gd name="T11" fmla="*/ 2147483647 h 133"/>
                <a:gd name="T12" fmla="*/ 0 60000 65536"/>
                <a:gd name="T13" fmla="*/ 0 60000 65536"/>
                <a:gd name="T14" fmla="*/ 0 60000 65536"/>
                <a:gd name="T15" fmla="*/ 0 60000 65536"/>
                <a:gd name="T16" fmla="*/ 0 60000 65536"/>
                <a:gd name="T17" fmla="*/ 0 60000 65536"/>
                <a:gd name="T18" fmla="*/ 0 w 144"/>
                <a:gd name="T19" fmla="*/ 0 h 133"/>
                <a:gd name="T20" fmla="*/ 144 w 144"/>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44" h="133">
                  <a:moveTo>
                    <a:pt x="18" y="133"/>
                  </a:moveTo>
                  <a:lnTo>
                    <a:pt x="18" y="133"/>
                  </a:lnTo>
                  <a:lnTo>
                    <a:pt x="0" y="113"/>
                  </a:lnTo>
                  <a:lnTo>
                    <a:pt x="126" y="0"/>
                  </a:lnTo>
                  <a:lnTo>
                    <a:pt x="144" y="20"/>
                  </a:lnTo>
                  <a:lnTo>
                    <a:pt x="18" y="13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7" name="Freeform 329"/>
            <p:cNvSpPr>
              <a:spLocks/>
            </p:cNvSpPr>
            <p:nvPr/>
          </p:nvSpPr>
          <p:spPr bwMode="gray">
            <a:xfrm>
              <a:off x="7177088" y="4471988"/>
              <a:ext cx="58738" cy="12700"/>
            </a:xfrm>
            <a:custGeom>
              <a:avLst/>
              <a:gdLst>
                <a:gd name="T0" fmla="*/ 2147483647 w 123"/>
                <a:gd name="T1" fmla="*/ 2147483647 h 27"/>
                <a:gd name="T2" fmla="*/ 2147483647 w 123"/>
                <a:gd name="T3" fmla="*/ 2147483647 h 27"/>
                <a:gd name="T4" fmla="*/ 0 w 123"/>
                <a:gd name="T5" fmla="*/ 2147483647 h 27"/>
                <a:gd name="T6" fmla="*/ 0 w 123"/>
                <a:gd name="T7" fmla="*/ 0 h 27"/>
                <a:gd name="T8" fmla="*/ 2147483647 w 123"/>
                <a:gd name="T9" fmla="*/ 0 h 27"/>
                <a:gd name="T10" fmla="*/ 2147483647 w 123"/>
                <a:gd name="T11" fmla="*/ 2147483647 h 27"/>
                <a:gd name="T12" fmla="*/ 0 60000 65536"/>
                <a:gd name="T13" fmla="*/ 0 60000 65536"/>
                <a:gd name="T14" fmla="*/ 0 60000 65536"/>
                <a:gd name="T15" fmla="*/ 0 60000 65536"/>
                <a:gd name="T16" fmla="*/ 0 60000 65536"/>
                <a:gd name="T17" fmla="*/ 0 60000 65536"/>
                <a:gd name="T18" fmla="*/ 0 w 123"/>
                <a:gd name="T19" fmla="*/ 0 h 27"/>
                <a:gd name="T20" fmla="*/ 123 w 123"/>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123" h="27">
                  <a:moveTo>
                    <a:pt x="123" y="27"/>
                  </a:moveTo>
                  <a:lnTo>
                    <a:pt x="123" y="27"/>
                  </a:lnTo>
                  <a:lnTo>
                    <a:pt x="0" y="27"/>
                  </a:lnTo>
                  <a:lnTo>
                    <a:pt x="0" y="0"/>
                  </a:lnTo>
                  <a:lnTo>
                    <a:pt x="123" y="0"/>
                  </a:lnTo>
                  <a:lnTo>
                    <a:pt x="123" y="2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8" name="Freeform 330"/>
            <p:cNvSpPr>
              <a:spLocks/>
            </p:cNvSpPr>
            <p:nvPr/>
          </p:nvSpPr>
          <p:spPr bwMode="gray">
            <a:xfrm>
              <a:off x="7340600" y="4471988"/>
              <a:ext cx="58738" cy="12700"/>
            </a:xfrm>
            <a:custGeom>
              <a:avLst/>
              <a:gdLst>
                <a:gd name="T0" fmla="*/ 2147483647 w 123"/>
                <a:gd name="T1" fmla="*/ 2147483647 h 27"/>
                <a:gd name="T2" fmla="*/ 2147483647 w 123"/>
                <a:gd name="T3" fmla="*/ 2147483647 h 27"/>
                <a:gd name="T4" fmla="*/ 0 w 123"/>
                <a:gd name="T5" fmla="*/ 2147483647 h 27"/>
                <a:gd name="T6" fmla="*/ 0 w 123"/>
                <a:gd name="T7" fmla="*/ 0 h 27"/>
                <a:gd name="T8" fmla="*/ 2147483647 w 123"/>
                <a:gd name="T9" fmla="*/ 0 h 27"/>
                <a:gd name="T10" fmla="*/ 2147483647 w 123"/>
                <a:gd name="T11" fmla="*/ 2147483647 h 27"/>
                <a:gd name="T12" fmla="*/ 0 60000 65536"/>
                <a:gd name="T13" fmla="*/ 0 60000 65536"/>
                <a:gd name="T14" fmla="*/ 0 60000 65536"/>
                <a:gd name="T15" fmla="*/ 0 60000 65536"/>
                <a:gd name="T16" fmla="*/ 0 60000 65536"/>
                <a:gd name="T17" fmla="*/ 0 60000 65536"/>
                <a:gd name="T18" fmla="*/ 0 w 123"/>
                <a:gd name="T19" fmla="*/ 0 h 27"/>
                <a:gd name="T20" fmla="*/ 123 w 123"/>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123" h="27">
                  <a:moveTo>
                    <a:pt x="123" y="27"/>
                  </a:moveTo>
                  <a:lnTo>
                    <a:pt x="123" y="27"/>
                  </a:lnTo>
                  <a:lnTo>
                    <a:pt x="0" y="27"/>
                  </a:lnTo>
                  <a:lnTo>
                    <a:pt x="0" y="0"/>
                  </a:lnTo>
                  <a:lnTo>
                    <a:pt x="123" y="0"/>
                  </a:lnTo>
                  <a:lnTo>
                    <a:pt x="123" y="2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29" name="Freeform 331"/>
            <p:cNvSpPr>
              <a:spLocks/>
            </p:cNvSpPr>
            <p:nvPr/>
          </p:nvSpPr>
          <p:spPr bwMode="gray">
            <a:xfrm>
              <a:off x="7423150" y="4503738"/>
              <a:ext cx="44450" cy="46038"/>
            </a:xfrm>
            <a:custGeom>
              <a:avLst/>
              <a:gdLst>
                <a:gd name="T0" fmla="*/ 2147483647 w 92"/>
                <a:gd name="T1" fmla="*/ 2147483647 h 96"/>
                <a:gd name="T2" fmla="*/ 2147483647 w 92"/>
                <a:gd name="T3" fmla="*/ 2147483647 h 96"/>
                <a:gd name="T4" fmla="*/ 0 w 92"/>
                <a:gd name="T5" fmla="*/ 2147483647 h 96"/>
                <a:gd name="T6" fmla="*/ 2147483647 w 92"/>
                <a:gd name="T7" fmla="*/ 0 h 96"/>
                <a:gd name="T8" fmla="*/ 2147483647 w 92"/>
                <a:gd name="T9" fmla="*/ 2147483647 h 96"/>
                <a:gd name="T10" fmla="*/ 2147483647 w 92"/>
                <a:gd name="T11" fmla="*/ 2147483647 h 96"/>
                <a:gd name="T12" fmla="*/ 0 60000 65536"/>
                <a:gd name="T13" fmla="*/ 0 60000 65536"/>
                <a:gd name="T14" fmla="*/ 0 60000 65536"/>
                <a:gd name="T15" fmla="*/ 0 60000 65536"/>
                <a:gd name="T16" fmla="*/ 0 60000 65536"/>
                <a:gd name="T17" fmla="*/ 0 60000 65536"/>
                <a:gd name="T18" fmla="*/ 0 w 92"/>
                <a:gd name="T19" fmla="*/ 0 h 96"/>
                <a:gd name="T20" fmla="*/ 92 w 92"/>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92" h="96">
                  <a:moveTo>
                    <a:pt x="73" y="96"/>
                  </a:moveTo>
                  <a:lnTo>
                    <a:pt x="73" y="96"/>
                  </a:lnTo>
                  <a:lnTo>
                    <a:pt x="0" y="18"/>
                  </a:lnTo>
                  <a:lnTo>
                    <a:pt x="19" y="0"/>
                  </a:lnTo>
                  <a:lnTo>
                    <a:pt x="92" y="78"/>
                  </a:lnTo>
                  <a:lnTo>
                    <a:pt x="73" y="96"/>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0" name="Freeform 332"/>
            <p:cNvSpPr>
              <a:spLocks/>
            </p:cNvSpPr>
            <p:nvPr/>
          </p:nvSpPr>
          <p:spPr bwMode="gray">
            <a:xfrm>
              <a:off x="7466013" y="4608513"/>
              <a:ext cx="12700" cy="44450"/>
            </a:xfrm>
            <a:custGeom>
              <a:avLst/>
              <a:gdLst>
                <a:gd name="T0" fmla="*/ 2147483647 w 27"/>
                <a:gd name="T1" fmla="*/ 2147483647 h 93"/>
                <a:gd name="T2" fmla="*/ 2147483647 w 27"/>
                <a:gd name="T3" fmla="*/ 2147483647 h 93"/>
                <a:gd name="T4" fmla="*/ 0 w 27"/>
                <a:gd name="T5" fmla="*/ 2147483647 h 93"/>
                <a:gd name="T6" fmla="*/ 0 w 27"/>
                <a:gd name="T7" fmla="*/ 0 h 93"/>
                <a:gd name="T8" fmla="*/ 2147483647 w 27"/>
                <a:gd name="T9" fmla="*/ 0 h 93"/>
                <a:gd name="T10" fmla="*/ 2147483647 w 27"/>
                <a:gd name="T11" fmla="*/ 2147483647 h 93"/>
                <a:gd name="T12" fmla="*/ 0 60000 65536"/>
                <a:gd name="T13" fmla="*/ 0 60000 65536"/>
                <a:gd name="T14" fmla="*/ 0 60000 65536"/>
                <a:gd name="T15" fmla="*/ 0 60000 65536"/>
                <a:gd name="T16" fmla="*/ 0 60000 65536"/>
                <a:gd name="T17" fmla="*/ 0 60000 65536"/>
                <a:gd name="T18" fmla="*/ 0 w 27"/>
                <a:gd name="T19" fmla="*/ 0 h 93"/>
                <a:gd name="T20" fmla="*/ 27 w 27"/>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27" h="93">
                  <a:moveTo>
                    <a:pt x="27" y="93"/>
                  </a:moveTo>
                  <a:lnTo>
                    <a:pt x="27" y="93"/>
                  </a:lnTo>
                  <a:lnTo>
                    <a:pt x="0" y="93"/>
                  </a:lnTo>
                  <a:lnTo>
                    <a:pt x="0" y="0"/>
                  </a:lnTo>
                  <a:lnTo>
                    <a:pt x="27" y="0"/>
                  </a:lnTo>
                  <a:lnTo>
                    <a:pt x="27" y="9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1" name="Freeform 333"/>
            <p:cNvSpPr>
              <a:spLocks/>
            </p:cNvSpPr>
            <p:nvPr/>
          </p:nvSpPr>
          <p:spPr bwMode="gray">
            <a:xfrm>
              <a:off x="7416800" y="4691063"/>
              <a:ext cx="39688" cy="46038"/>
            </a:xfrm>
            <a:custGeom>
              <a:avLst/>
              <a:gdLst>
                <a:gd name="T0" fmla="*/ 2147483647 w 82"/>
                <a:gd name="T1" fmla="*/ 2147483647 h 98"/>
                <a:gd name="T2" fmla="*/ 2147483647 w 82"/>
                <a:gd name="T3" fmla="*/ 2147483647 h 98"/>
                <a:gd name="T4" fmla="*/ 0 w 82"/>
                <a:gd name="T5" fmla="*/ 2147483647 h 98"/>
                <a:gd name="T6" fmla="*/ 2147483647 w 82"/>
                <a:gd name="T7" fmla="*/ 0 h 98"/>
                <a:gd name="T8" fmla="*/ 2147483647 w 82"/>
                <a:gd name="T9" fmla="*/ 2147483647 h 98"/>
                <a:gd name="T10" fmla="*/ 2147483647 w 82"/>
                <a:gd name="T11" fmla="*/ 2147483647 h 98"/>
                <a:gd name="T12" fmla="*/ 0 60000 65536"/>
                <a:gd name="T13" fmla="*/ 0 60000 65536"/>
                <a:gd name="T14" fmla="*/ 0 60000 65536"/>
                <a:gd name="T15" fmla="*/ 0 60000 65536"/>
                <a:gd name="T16" fmla="*/ 0 60000 65536"/>
                <a:gd name="T17" fmla="*/ 0 60000 65536"/>
                <a:gd name="T18" fmla="*/ 0 w 82"/>
                <a:gd name="T19" fmla="*/ 0 h 98"/>
                <a:gd name="T20" fmla="*/ 82 w 82"/>
                <a:gd name="T21" fmla="*/ 98 h 98"/>
              </a:gdLst>
              <a:ahLst/>
              <a:cxnLst>
                <a:cxn ang="T12">
                  <a:pos x="T0" y="T1"/>
                </a:cxn>
                <a:cxn ang="T13">
                  <a:pos x="T2" y="T3"/>
                </a:cxn>
                <a:cxn ang="T14">
                  <a:pos x="T4" y="T5"/>
                </a:cxn>
                <a:cxn ang="T15">
                  <a:pos x="T6" y="T7"/>
                </a:cxn>
                <a:cxn ang="T16">
                  <a:pos x="T8" y="T9"/>
                </a:cxn>
                <a:cxn ang="T17">
                  <a:pos x="T10" y="T11"/>
                </a:cxn>
              </a:cxnLst>
              <a:rect l="T18" t="T19" r="T20" b="T21"/>
              <a:pathLst>
                <a:path w="82" h="98">
                  <a:moveTo>
                    <a:pt x="22" y="98"/>
                  </a:moveTo>
                  <a:lnTo>
                    <a:pt x="22" y="98"/>
                  </a:lnTo>
                  <a:lnTo>
                    <a:pt x="0" y="82"/>
                  </a:lnTo>
                  <a:lnTo>
                    <a:pt x="61" y="0"/>
                  </a:lnTo>
                  <a:lnTo>
                    <a:pt x="82" y="16"/>
                  </a:lnTo>
                  <a:lnTo>
                    <a:pt x="22" y="9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2" name="Freeform 334"/>
            <p:cNvSpPr>
              <a:spLocks/>
            </p:cNvSpPr>
            <p:nvPr/>
          </p:nvSpPr>
          <p:spPr bwMode="gray">
            <a:xfrm>
              <a:off x="7351713" y="4679950"/>
              <a:ext cx="47625" cy="66675"/>
            </a:xfrm>
            <a:custGeom>
              <a:avLst/>
              <a:gdLst>
                <a:gd name="T0" fmla="*/ 2147483647 w 100"/>
                <a:gd name="T1" fmla="*/ 2147483647 h 141"/>
                <a:gd name="T2" fmla="*/ 2147483647 w 100"/>
                <a:gd name="T3" fmla="*/ 2147483647 h 141"/>
                <a:gd name="T4" fmla="*/ 0 w 100"/>
                <a:gd name="T5" fmla="*/ 2147483647 h 141"/>
                <a:gd name="T6" fmla="*/ 2147483647 w 100"/>
                <a:gd name="T7" fmla="*/ 0 h 141"/>
                <a:gd name="T8" fmla="*/ 2147483647 w 100"/>
                <a:gd name="T9" fmla="*/ 2147483647 h 141"/>
                <a:gd name="T10" fmla="*/ 2147483647 w 100"/>
                <a:gd name="T11" fmla="*/ 2147483647 h 141"/>
                <a:gd name="T12" fmla="*/ 0 60000 65536"/>
                <a:gd name="T13" fmla="*/ 0 60000 65536"/>
                <a:gd name="T14" fmla="*/ 0 60000 65536"/>
                <a:gd name="T15" fmla="*/ 0 60000 65536"/>
                <a:gd name="T16" fmla="*/ 0 60000 65536"/>
                <a:gd name="T17" fmla="*/ 0 60000 65536"/>
                <a:gd name="T18" fmla="*/ 0 w 100"/>
                <a:gd name="T19" fmla="*/ 0 h 141"/>
                <a:gd name="T20" fmla="*/ 100 w 100"/>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00" h="141">
                  <a:moveTo>
                    <a:pt x="77" y="141"/>
                  </a:moveTo>
                  <a:lnTo>
                    <a:pt x="77" y="141"/>
                  </a:lnTo>
                  <a:lnTo>
                    <a:pt x="0" y="14"/>
                  </a:lnTo>
                  <a:lnTo>
                    <a:pt x="23" y="0"/>
                  </a:lnTo>
                  <a:lnTo>
                    <a:pt x="100" y="127"/>
                  </a:lnTo>
                  <a:lnTo>
                    <a:pt x="77" y="14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3" name="Freeform 335"/>
            <p:cNvSpPr>
              <a:spLocks/>
            </p:cNvSpPr>
            <p:nvPr/>
          </p:nvSpPr>
          <p:spPr bwMode="gray">
            <a:xfrm>
              <a:off x="7367588" y="4587875"/>
              <a:ext cx="79375" cy="44450"/>
            </a:xfrm>
            <a:custGeom>
              <a:avLst/>
              <a:gdLst>
                <a:gd name="T0" fmla="*/ 2147483647 w 170"/>
                <a:gd name="T1" fmla="*/ 2147483647 h 95"/>
                <a:gd name="T2" fmla="*/ 2147483647 w 170"/>
                <a:gd name="T3" fmla="*/ 2147483647 h 95"/>
                <a:gd name="T4" fmla="*/ 0 w 170"/>
                <a:gd name="T5" fmla="*/ 2147483647 h 95"/>
                <a:gd name="T6" fmla="*/ 2147483647 w 170"/>
                <a:gd name="T7" fmla="*/ 0 h 95"/>
                <a:gd name="T8" fmla="*/ 2147483647 w 170"/>
                <a:gd name="T9" fmla="*/ 2147483647 h 95"/>
                <a:gd name="T10" fmla="*/ 2147483647 w 170"/>
                <a:gd name="T11" fmla="*/ 2147483647 h 95"/>
                <a:gd name="T12" fmla="*/ 0 60000 65536"/>
                <a:gd name="T13" fmla="*/ 0 60000 65536"/>
                <a:gd name="T14" fmla="*/ 0 60000 65536"/>
                <a:gd name="T15" fmla="*/ 0 60000 65536"/>
                <a:gd name="T16" fmla="*/ 0 60000 65536"/>
                <a:gd name="T17" fmla="*/ 0 60000 65536"/>
                <a:gd name="T18" fmla="*/ 0 w 170"/>
                <a:gd name="T19" fmla="*/ 0 h 95"/>
                <a:gd name="T20" fmla="*/ 170 w 170"/>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170" h="95">
                  <a:moveTo>
                    <a:pt x="11" y="95"/>
                  </a:moveTo>
                  <a:lnTo>
                    <a:pt x="11" y="95"/>
                  </a:lnTo>
                  <a:lnTo>
                    <a:pt x="0" y="71"/>
                  </a:lnTo>
                  <a:lnTo>
                    <a:pt x="160" y="0"/>
                  </a:lnTo>
                  <a:lnTo>
                    <a:pt x="170" y="24"/>
                  </a:lnTo>
                  <a:lnTo>
                    <a:pt x="11" y="95"/>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4" name="Freeform 336"/>
            <p:cNvSpPr>
              <a:spLocks/>
            </p:cNvSpPr>
            <p:nvPr/>
          </p:nvSpPr>
          <p:spPr bwMode="gray">
            <a:xfrm>
              <a:off x="7304088" y="4525963"/>
              <a:ext cx="22225" cy="88900"/>
            </a:xfrm>
            <a:custGeom>
              <a:avLst/>
              <a:gdLst>
                <a:gd name="T0" fmla="*/ 2147483647 w 46"/>
                <a:gd name="T1" fmla="*/ 2147483647 h 188"/>
                <a:gd name="T2" fmla="*/ 2147483647 w 46"/>
                <a:gd name="T3" fmla="*/ 2147483647 h 188"/>
                <a:gd name="T4" fmla="*/ 0 w 46"/>
                <a:gd name="T5" fmla="*/ 2147483647 h 188"/>
                <a:gd name="T6" fmla="*/ 2147483647 w 46"/>
                <a:gd name="T7" fmla="*/ 0 h 188"/>
                <a:gd name="T8" fmla="*/ 2147483647 w 46"/>
                <a:gd name="T9" fmla="*/ 2147483647 h 188"/>
                <a:gd name="T10" fmla="*/ 2147483647 w 46"/>
                <a:gd name="T11" fmla="*/ 2147483647 h 188"/>
                <a:gd name="T12" fmla="*/ 0 60000 65536"/>
                <a:gd name="T13" fmla="*/ 0 60000 65536"/>
                <a:gd name="T14" fmla="*/ 0 60000 65536"/>
                <a:gd name="T15" fmla="*/ 0 60000 65536"/>
                <a:gd name="T16" fmla="*/ 0 60000 65536"/>
                <a:gd name="T17" fmla="*/ 0 60000 65536"/>
                <a:gd name="T18" fmla="*/ 0 w 46"/>
                <a:gd name="T19" fmla="*/ 0 h 188"/>
                <a:gd name="T20" fmla="*/ 46 w 46"/>
                <a:gd name="T21" fmla="*/ 188 h 188"/>
              </a:gdLst>
              <a:ahLst/>
              <a:cxnLst>
                <a:cxn ang="T12">
                  <a:pos x="T0" y="T1"/>
                </a:cxn>
                <a:cxn ang="T13">
                  <a:pos x="T2" y="T3"/>
                </a:cxn>
                <a:cxn ang="T14">
                  <a:pos x="T4" y="T5"/>
                </a:cxn>
                <a:cxn ang="T15">
                  <a:pos x="T6" y="T7"/>
                </a:cxn>
                <a:cxn ang="T16">
                  <a:pos x="T8" y="T9"/>
                </a:cxn>
                <a:cxn ang="T17">
                  <a:pos x="T10" y="T11"/>
                </a:cxn>
              </a:cxnLst>
              <a:rect l="T18" t="T19" r="T20" b="T21"/>
              <a:pathLst>
                <a:path w="46" h="188">
                  <a:moveTo>
                    <a:pt x="19" y="188"/>
                  </a:moveTo>
                  <a:lnTo>
                    <a:pt x="19" y="188"/>
                  </a:lnTo>
                  <a:lnTo>
                    <a:pt x="0" y="2"/>
                  </a:lnTo>
                  <a:lnTo>
                    <a:pt x="26" y="0"/>
                  </a:lnTo>
                  <a:lnTo>
                    <a:pt x="46" y="185"/>
                  </a:lnTo>
                  <a:lnTo>
                    <a:pt x="19" y="1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5" name="Freeform 337"/>
            <p:cNvSpPr>
              <a:spLocks/>
            </p:cNvSpPr>
            <p:nvPr/>
          </p:nvSpPr>
          <p:spPr bwMode="gray">
            <a:xfrm>
              <a:off x="7199313" y="4518025"/>
              <a:ext cx="68263" cy="66675"/>
            </a:xfrm>
            <a:custGeom>
              <a:avLst/>
              <a:gdLst>
                <a:gd name="T0" fmla="*/ 2147483647 w 144"/>
                <a:gd name="T1" fmla="*/ 2147483647 h 143"/>
                <a:gd name="T2" fmla="*/ 2147483647 w 144"/>
                <a:gd name="T3" fmla="*/ 2147483647 h 143"/>
                <a:gd name="T4" fmla="*/ 0 w 144"/>
                <a:gd name="T5" fmla="*/ 2147483647 h 143"/>
                <a:gd name="T6" fmla="*/ 2147483647 w 144"/>
                <a:gd name="T7" fmla="*/ 0 h 143"/>
                <a:gd name="T8" fmla="*/ 2147483647 w 144"/>
                <a:gd name="T9" fmla="*/ 2147483647 h 143"/>
                <a:gd name="T10" fmla="*/ 2147483647 w 144"/>
                <a:gd name="T11" fmla="*/ 2147483647 h 143"/>
                <a:gd name="T12" fmla="*/ 0 60000 65536"/>
                <a:gd name="T13" fmla="*/ 0 60000 65536"/>
                <a:gd name="T14" fmla="*/ 0 60000 65536"/>
                <a:gd name="T15" fmla="*/ 0 60000 65536"/>
                <a:gd name="T16" fmla="*/ 0 60000 65536"/>
                <a:gd name="T17" fmla="*/ 0 60000 65536"/>
                <a:gd name="T18" fmla="*/ 0 w 144"/>
                <a:gd name="T19" fmla="*/ 0 h 143"/>
                <a:gd name="T20" fmla="*/ 144 w 144"/>
                <a:gd name="T21" fmla="*/ 143 h 143"/>
              </a:gdLst>
              <a:ahLst/>
              <a:cxnLst>
                <a:cxn ang="T12">
                  <a:pos x="T0" y="T1"/>
                </a:cxn>
                <a:cxn ang="T13">
                  <a:pos x="T2" y="T3"/>
                </a:cxn>
                <a:cxn ang="T14">
                  <a:pos x="T4" y="T5"/>
                </a:cxn>
                <a:cxn ang="T15">
                  <a:pos x="T6" y="T7"/>
                </a:cxn>
                <a:cxn ang="T16">
                  <a:pos x="T8" y="T9"/>
                </a:cxn>
                <a:cxn ang="T17">
                  <a:pos x="T10" y="T11"/>
                </a:cxn>
              </a:cxnLst>
              <a:rect l="T18" t="T19" r="T20" b="T21"/>
              <a:pathLst>
                <a:path w="144" h="143">
                  <a:moveTo>
                    <a:pt x="19" y="143"/>
                  </a:moveTo>
                  <a:lnTo>
                    <a:pt x="19" y="143"/>
                  </a:lnTo>
                  <a:lnTo>
                    <a:pt x="0" y="124"/>
                  </a:lnTo>
                  <a:lnTo>
                    <a:pt x="126" y="0"/>
                  </a:lnTo>
                  <a:lnTo>
                    <a:pt x="144" y="19"/>
                  </a:lnTo>
                  <a:lnTo>
                    <a:pt x="19" y="14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6" name="Freeform 338"/>
            <p:cNvSpPr>
              <a:spLocks/>
            </p:cNvSpPr>
            <p:nvPr/>
          </p:nvSpPr>
          <p:spPr bwMode="gray">
            <a:xfrm>
              <a:off x="7110413" y="4608513"/>
              <a:ext cx="47625" cy="38100"/>
            </a:xfrm>
            <a:custGeom>
              <a:avLst/>
              <a:gdLst>
                <a:gd name="T0" fmla="*/ 2147483647 w 98"/>
                <a:gd name="T1" fmla="*/ 2147483647 h 80"/>
                <a:gd name="T2" fmla="*/ 2147483647 w 98"/>
                <a:gd name="T3" fmla="*/ 2147483647 h 80"/>
                <a:gd name="T4" fmla="*/ 0 w 98"/>
                <a:gd name="T5" fmla="*/ 2147483647 h 80"/>
                <a:gd name="T6" fmla="*/ 2147483647 w 98"/>
                <a:gd name="T7" fmla="*/ 0 h 80"/>
                <a:gd name="T8" fmla="*/ 2147483647 w 98"/>
                <a:gd name="T9" fmla="*/ 2147483647 h 80"/>
                <a:gd name="T10" fmla="*/ 2147483647 w 98"/>
                <a:gd name="T11" fmla="*/ 2147483647 h 80"/>
                <a:gd name="T12" fmla="*/ 0 60000 65536"/>
                <a:gd name="T13" fmla="*/ 0 60000 65536"/>
                <a:gd name="T14" fmla="*/ 0 60000 65536"/>
                <a:gd name="T15" fmla="*/ 0 60000 65536"/>
                <a:gd name="T16" fmla="*/ 0 60000 65536"/>
                <a:gd name="T17" fmla="*/ 0 60000 65536"/>
                <a:gd name="T18" fmla="*/ 0 w 98"/>
                <a:gd name="T19" fmla="*/ 0 h 80"/>
                <a:gd name="T20" fmla="*/ 98 w 98"/>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98" h="80">
                  <a:moveTo>
                    <a:pt x="15" y="80"/>
                  </a:moveTo>
                  <a:lnTo>
                    <a:pt x="15" y="80"/>
                  </a:lnTo>
                  <a:lnTo>
                    <a:pt x="0" y="58"/>
                  </a:lnTo>
                  <a:lnTo>
                    <a:pt x="83" y="0"/>
                  </a:lnTo>
                  <a:lnTo>
                    <a:pt x="98" y="22"/>
                  </a:lnTo>
                  <a:lnTo>
                    <a:pt x="15" y="8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7" name="Freeform 339"/>
            <p:cNvSpPr>
              <a:spLocks/>
            </p:cNvSpPr>
            <p:nvPr/>
          </p:nvSpPr>
          <p:spPr bwMode="gray">
            <a:xfrm>
              <a:off x="7204075" y="4611688"/>
              <a:ext cx="95250" cy="39688"/>
            </a:xfrm>
            <a:custGeom>
              <a:avLst/>
              <a:gdLst>
                <a:gd name="T0" fmla="*/ 2147483647 w 202"/>
                <a:gd name="T1" fmla="*/ 2147483647 h 83"/>
                <a:gd name="T2" fmla="*/ 2147483647 w 202"/>
                <a:gd name="T3" fmla="*/ 2147483647 h 83"/>
                <a:gd name="T4" fmla="*/ 0 w 202"/>
                <a:gd name="T5" fmla="*/ 2147483647 h 83"/>
                <a:gd name="T6" fmla="*/ 2147483647 w 202"/>
                <a:gd name="T7" fmla="*/ 0 h 83"/>
                <a:gd name="T8" fmla="*/ 2147483647 w 202"/>
                <a:gd name="T9" fmla="*/ 2147483647 h 83"/>
                <a:gd name="T10" fmla="*/ 2147483647 w 202"/>
                <a:gd name="T11" fmla="*/ 2147483647 h 83"/>
                <a:gd name="T12" fmla="*/ 0 60000 65536"/>
                <a:gd name="T13" fmla="*/ 0 60000 65536"/>
                <a:gd name="T14" fmla="*/ 0 60000 65536"/>
                <a:gd name="T15" fmla="*/ 0 60000 65536"/>
                <a:gd name="T16" fmla="*/ 0 60000 65536"/>
                <a:gd name="T17" fmla="*/ 0 60000 65536"/>
                <a:gd name="T18" fmla="*/ 0 w 202"/>
                <a:gd name="T19" fmla="*/ 0 h 83"/>
                <a:gd name="T20" fmla="*/ 202 w 202"/>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202" h="83">
                  <a:moveTo>
                    <a:pt x="195" y="83"/>
                  </a:moveTo>
                  <a:lnTo>
                    <a:pt x="195" y="83"/>
                  </a:lnTo>
                  <a:lnTo>
                    <a:pt x="0" y="25"/>
                  </a:lnTo>
                  <a:lnTo>
                    <a:pt x="7" y="0"/>
                  </a:lnTo>
                  <a:lnTo>
                    <a:pt x="202" y="57"/>
                  </a:lnTo>
                  <a:lnTo>
                    <a:pt x="195" y="8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8" name="Freeform 340"/>
            <p:cNvSpPr>
              <a:spLocks/>
            </p:cNvSpPr>
            <p:nvPr/>
          </p:nvSpPr>
          <p:spPr bwMode="gray">
            <a:xfrm>
              <a:off x="6932613" y="4262438"/>
              <a:ext cx="671513" cy="671513"/>
            </a:xfrm>
            <a:custGeom>
              <a:avLst/>
              <a:gdLst>
                <a:gd name="T0" fmla="*/ 2147483647 w 1430"/>
                <a:gd name="T1" fmla="*/ 2147483647 h 1425"/>
                <a:gd name="T2" fmla="*/ 2147483647 w 1430"/>
                <a:gd name="T3" fmla="*/ 2147483647 h 1425"/>
                <a:gd name="T4" fmla="*/ 2147483647 w 1430"/>
                <a:gd name="T5" fmla="*/ 2147483647 h 1425"/>
                <a:gd name="T6" fmla="*/ 0 w 1430"/>
                <a:gd name="T7" fmla="*/ 2147483647 h 1425"/>
                <a:gd name="T8" fmla="*/ 2147483647 w 1430"/>
                <a:gd name="T9" fmla="*/ 0 h 1425"/>
                <a:gd name="T10" fmla="*/ 2147483647 w 1430"/>
                <a:gd name="T11" fmla="*/ 2147483647 h 1425"/>
                <a:gd name="T12" fmla="*/ 2147483647 w 1430"/>
                <a:gd name="T13" fmla="*/ 2147483647 h 1425"/>
                <a:gd name="T14" fmla="*/ 2147483647 w 1430"/>
                <a:gd name="T15" fmla="*/ 2147483647 h 1425"/>
                <a:gd name="T16" fmla="*/ 2147483647 w 1430"/>
                <a:gd name="T17" fmla="*/ 2147483647 h 1425"/>
                <a:gd name="T18" fmla="*/ 2147483647 w 1430"/>
                <a:gd name="T19" fmla="*/ 2147483647 h 1425"/>
                <a:gd name="T20" fmla="*/ 2147483647 w 1430"/>
                <a:gd name="T21" fmla="*/ 2147483647 h 1425"/>
                <a:gd name="T22" fmla="*/ 2147483647 w 1430"/>
                <a:gd name="T23" fmla="*/ 2147483647 h 1425"/>
                <a:gd name="T24" fmla="*/ 2147483647 w 1430"/>
                <a:gd name="T25" fmla="*/ 2147483647 h 1425"/>
                <a:gd name="T26" fmla="*/ 2147483647 w 1430"/>
                <a:gd name="T27" fmla="*/ 2147483647 h 1425"/>
                <a:gd name="T28" fmla="*/ 2147483647 w 1430"/>
                <a:gd name="T29" fmla="*/ 2147483647 h 14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30"/>
                <a:gd name="T46" fmla="*/ 0 h 1425"/>
                <a:gd name="T47" fmla="*/ 1430 w 1430"/>
                <a:gd name="T48" fmla="*/ 1425 h 14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30" h="1425">
                  <a:moveTo>
                    <a:pt x="612" y="1422"/>
                  </a:moveTo>
                  <a:lnTo>
                    <a:pt x="612" y="1422"/>
                  </a:lnTo>
                  <a:cubicBezTo>
                    <a:pt x="611" y="1422"/>
                    <a:pt x="609" y="1422"/>
                    <a:pt x="607" y="1422"/>
                  </a:cubicBezTo>
                  <a:cubicBezTo>
                    <a:pt x="261" y="1370"/>
                    <a:pt x="0" y="1066"/>
                    <a:pt x="0" y="715"/>
                  </a:cubicBezTo>
                  <a:cubicBezTo>
                    <a:pt x="0" y="321"/>
                    <a:pt x="321" y="0"/>
                    <a:pt x="715" y="0"/>
                  </a:cubicBezTo>
                  <a:cubicBezTo>
                    <a:pt x="1109" y="0"/>
                    <a:pt x="1429" y="321"/>
                    <a:pt x="1429" y="715"/>
                  </a:cubicBezTo>
                  <a:cubicBezTo>
                    <a:pt x="1430" y="1066"/>
                    <a:pt x="1168" y="1370"/>
                    <a:pt x="822" y="1422"/>
                  </a:cubicBezTo>
                  <a:cubicBezTo>
                    <a:pt x="804" y="1425"/>
                    <a:pt x="787" y="1412"/>
                    <a:pt x="784" y="1394"/>
                  </a:cubicBezTo>
                  <a:cubicBezTo>
                    <a:pt x="781" y="1376"/>
                    <a:pt x="794" y="1359"/>
                    <a:pt x="812" y="1356"/>
                  </a:cubicBezTo>
                  <a:cubicBezTo>
                    <a:pt x="1126" y="1309"/>
                    <a:pt x="1363" y="1033"/>
                    <a:pt x="1363" y="715"/>
                  </a:cubicBezTo>
                  <a:cubicBezTo>
                    <a:pt x="1363" y="358"/>
                    <a:pt x="1072" y="67"/>
                    <a:pt x="715" y="67"/>
                  </a:cubicBezTo>
                  <a:cubicBezTo>
                    <a:pt x="357" y="67"/>
                    <a:pt x="67" y="358"/>
                    <a:pt x="67" y="715"/>
                  </a:cubicBezTo>
                  <a:cubicBezTo>
                    <a:pt x="67" y="1033"/>
                    <a:pt x="303" y="1309"/>
                    <a:pt x="617" y="1356"/>
                  </a:cubicBezTo>
                  <a:cubicBezTo>
                    <a:pt x="636" y="1359"/>
                    <a:pt x="648" y="1376"/>
                    <a:pt x="645" y="1394"/>
                  </a:cubicBezTo>
                  <a:cubicBezTo>
                    <a:pt x="643" y="1410"/>
                    <a:pt x="629" y="1422"/>
                    <a:pt x="612" y="1422"/>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39" name="Freeform 341"/>
            <p:cNvSpPr>
              <a:spLocks/>
            </p:cNvSpPr>
            <p:nvPr/>
          </p:nvSpPr>
          <p:spPr bwMode="gray">
            <a:xfrm>
              <a:off x="7186613" y="4884738"/>
              <a:ext cx="65088" cy="6508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sp>
          <p:nvSpPr>
            <p:cNvPr id="40" name="Freeform 342"/>
            <p:cNvSpPr>
              <a:spLocks/>
            </p:cNvSpPr>
            <p:nvPr/>
          </p:nvSpPr>
          <p:spPr bwMode="gray">
            <a:xfrm>
              <a:off x="7286625" y="4883150"/>
              <a:ext cx="65088" cy="6508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8"/>
                    <a:pt x="0" y="69"/>
                  </a:cubicBezTo>
                  <a:cubicBezTo>
                    <a:pt x="0" y="31"/>
                    <a:pt x="30" y="0"/>
                    <a:pt x="69" y="0"/>
                  </a:cubicBezTo>
                  <a:cubicBezTo>
                    <a:pt x="107" y="0"/>
                    <a:pt x="138" y="31"/>
                    <a:pt x="138" y="69"/>
                  </a:cubicBezTo>
                  <a:cubicBezTo>
                    <a:pt x="138" y="108"/>
                    <a:pt x="107"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p>
          </p:txBody>
        </p:sp>
      </p:grpSp>
      <p:sp>
        <p:nvSpPr>
          <p:cNvPr id="52" name="矩形 51"/>
          <p:cNvSpPr/>
          <p:nvPr/>
        </p:nvSpPr>
        <p:spPr bwMode="gray">
          <a:xfrm>
            <a:off x="8187406" y="3186408"/>
            <a:ext cx="3496175" cy="2211183"/>
          </a:xfrm>
          <a:prstGeom prst="rect">
            <a:avLst/>
          </a:prstGeom>
        </p:spPr>
        <p:txBody>
          <a:bodyPr wrap="square">
            <a:spAutoFit/>
          </a:bodyPr>
          <a:lstStyle/>
          <a:p>
            <a:pPr marL="176213" indent="-176213">
              <a:lnSpc>
                <a:spcPts val="2600"/>
              </a:lnSpc>
              <a:spcAft>
                <a:spcPts val="600"/>
              </a:spcAft>
              <a:buFont typeface="Arial" panose="020B0604020202020204" pitchFamily="34" charset="0"/>
              <a:buChar char="•"/>
            </a:pPr>
            <a:r>
              <a:rPr lang="zh-CN" altLang="en-US" sz="1400" dirty="0" smtClean="0"/>
              <a:t>物</a:t>
            </a:r>
            <a:r>
              <a:rPr lang="zh-CN" altLang="en-US" sz="1400" dirty="0"/>
              <a:t>联网应用导致终端数量和种类出现了海量的增长，产生大量的</a:t>
            </a:r>
            <a:r>
              <a:rPr lang="zh-CN" altLang="en-US" sz="1400" dirty="0" smtClean="0"/>
              <a:t>数据。</a:t>
            </a:r>
            <a:endParaRPr lang="zh-CN" altLang="en-US" sz="1400" dirty="0"/>
          </a:p>
          <a:p>
            <a:pPr marL="176213" indent="-176213">
              <a:lnSpc>
                <a:spcPts val="2600"/>
              </a:lnSpc>
              <a:spcAft>
                <a:spcPts val="600"/>
              </a:spcAft>
              <a:buFont typeface="Arial" panose="020B0604020202020204" pitchFamily="34" charset="0"/>
              <a:buChar char="•"/>
            </a:pPr>
            <a:r>
              <a:rPr lang="zh-CN" altLang="en-US" sz="1400" dirty="0" smtClean="0"/>
              <a:t>多样化</a:t>
            </a:r>
            <a:r>
              <a:rPr lang="zh-CN" altLang="en-US" sz="1400" dirty="0"/>
              <a:t>的传感网需平滑</a:t>
            </a:r>
            <a:r>
              <a:rPr lang="zh-CN" altLang="en-US" sz="1400" dirty="0" smtClean="0"/>
              <a:t>接入到现有网络。</a:t>
            </a:r>
            <a:endParaRPr lang="zh-CN" altLang="en-US" sz="1400" dirty="0"/>
          </a:p>
          <a:p>
            <a:pPr marL="176213" indent="-176213">
              <a:lnSpc>
                <a:spcPts val="2600"/>
              </a:lnSpc>
              <a:spcAft>
                <a:spcPts val="600"/>
              </a:spcAft>
              <a:buFont typeface="Arial" panose="020B0604020202020204" pitchFamily="34" charset="0"/>
              <a:buChar char="•"/>
            </a:pPr>
            <a:r>
              <a:rPr lang="zh-CN" altLang="en-US" sz="1400" dirty="0" smtClean="0"/>
              <a:t>接入</a:t>
            </a:r>
            <a:r>
              <a:rPr lang="zh-CN" altLang="en-US" sz="1400" dirty="0"/>
              <a:t>到园区网络的终端类型变的非常复杂，</a:t>
            </a:r>
            <a:r>
              <a:rPr lang="zh-CN" altLang="en-US" sz="1400" dirty="0" smtClean="0"/>
              <a:t>网络变成了综合多种</a:t>
            </a:r>
            <a:r>
              <a:rPr lang="zh-CN" altLang="en-US" sz="1400" dirty="0"/>
              <a:t>终端、介质的融合型的网络。</a:t>
            </a:r>
          </a:p>
        </p:txBody>
      </p:sp>
    </p:spTree>
    <p:extLst>
      <p:ext uri="{BB962C8B-B14F-4D97-AF65-F5344CB8AC3E}">
        <p14:creationId xmlns:p14="http://schemas.microsoft.com/office/powerpoint/2010/main" val="29835271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pPr lvl="0"/>
            <a:r>
              <a:rPr lang="zh-CN" altLang="en-US" dirty="0" smtClean="0">
                <a:solidFill>
                  <a:schemeClr val="bg1">
                    <a:lumMod val="50000"/>
                  </a:schemeClr>
                </a:solidFill>
                <a:sym typeface="+mn-lt"/>
              </a:rPr>
              <a:t>中小型园区网络趋势与挑战</a:t>
            </a:r>
            <a:endParaRPr lang="en-US" altLang="zh-CN" dirty="0" smtClean="0">
              <a:solidFill>
                <a:schemeClr val="bg1">
                  <a:lumMod val="50000"/>
                </a:schemeClr>
              </a:solidFill>
              <a:sym typeface="+mn-lt"/>
            </a:endParaRPr>
          </a:p>
          <a:p>
            <a:r>
              <a:rPr lang="en-US" altLang="zh-CN" b="1" dirty="0" smtClean="0">
                <a:sym typeface="+mn-lt"/>
              </a:rPr>
              <a:t>CloudCampus</a:t>
            </a:r>
            <a:r>
              <a:rPr lang="zh-CN" altLang="en-US" b="1" dirty="0" smtClean="0">
                <a:sym typeface="+mn-lt"/>
              </a:rPr>
              <a:t>中小型云管理园区方案概述</a:t>
            </a:r>
          </a:p>
          <a:p>
            <a:r>
              <a:rPr lang="zh-CN" altLang="en-US" dirty="0">
                <a:solidFill>
                  <a:schemeClr val="bg1">
                    <a:lumMod val="50000"/>
                  </a:schemeClr>
                </a:solidFill>
                <a:sym typeface="+mn-lt"/>
              </a:rPr>
              <a:t>中小型云管理园区网络</a:t>
            </a:r>
            <a:r>
              <a:rPr lang="zh-CN" altLang="en-US" dirty="0" smtClean="0">
                <a:solidFill>
                  <a:schemeClr val="bg1">
                    <a:lumMod val="50000"/>
                  </a:schemeClr>
                </a:solidFill>
                <a:sym typeface="+mn-lt"/>
              </a:rPr>
              <a:t>设计</a:t>
            </a:r>
            <a:endParaRPr lang="zh-CN" altLang="en-US" dirty="0">
              <a:solidFill>
                <a:schemeClr val="bg1">
                  <a:lumMod val="50000"/>
                </a:schemeClr>
              </a:solidFill>
              <a:sym typeface="+mn-lt"/>
            </a:endParaRPr>
          </a:p>
        </p:txBody>
      </p:sp>
    </p:spTree>
    <p:extLst>
      <p:ext uri="{BB962C8B-B14F-4D97-AF65-F5344CB8AC3E}">
        <p14:creationId xmlns:p14="http://schemas.microsoft.com/office/powerpoint/2010/main" val="28389714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latin typeface="+mn-lt"/>
                <a:ea typeface="+mn-ea"/>
                <a:cs typeface="+mn-ea"/>
                <a:sym typeface="+mn-lt"/>
              </a:rPr>
              <a:t>华为云管理网络，使能极致体验的数字化运营</a:t>
            </a:r>
          </a:p>
        </p:txBody>
      </p:sp>
      <p:sp>
        <p:nvSpPr>
          <p:cNvPr id="21" name="Freeform 159"/>
          <p:cNvSpPr/>
          <p:nvPr/>
        </p:nvSpPr>
        <p:spPr bwMode="gray">
          <a:xfrm flipH="1">
            <a:off x="2004257" y="1588331"/>
            <a:ext cx="3733603" cy="20598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6172201" y="990743"/>
            <a:ext cx="5469936"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超宽连接，网络和应用品质提升</a:t>
            </a:r>
          </a:p>
        </p:txBody>
      </p:sp>
      <p:sp>
        <p:nvSpPr>
          <p:cNvPr id="23" name="圆角矩形 22"/>
          <p:cNvSpPr/>
          <p:nvPr/>
        </p:nvSpPr>
        <p:spPr bwMode="gray">
          <a:xfrm>
            <a:off x="6172200" y="1443644"/>
            <a:ext cx="5469938" cy="120711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marL="177800" indent="-177800" algn="just">
              <a:lnSpc>
                <a:spcPts val="2400"/>
              </a:lnSpc>
              <a:spcAft>
                <a:spcPts val="3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全场景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，大带宽、高</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并发、低时延。</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平台和网络安全可靠，符合行业和相关国家法律法规</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标准。</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开放</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，提供行业化应用</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，加速数字化转型</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进程。</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6172201" y="2711865"/>
            <a:ext cx="5469936"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极简管理，</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OPEX</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降低</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bwMode="gray">
          <a:xfrm>
            <a:off x="6172200" y="3164765"/>
            <a:ext cx="5469938" cy="154561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室内</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外在线网规平台</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，定制</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化网规模板，网规报告自动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生成。</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p>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多元化的场景配置套餐：拓扑</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设备款型及参数，一站式配齐。</a:t>
            </a:r>
          </a:p>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GIS</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地图、逻辑拓扑、移动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等丰富的手段运</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维。 </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多分支在线集中巡检，报告自动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生成。</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gray">
          <a:xfrm>
            <a:off x="6172201" y="4764332"/>
            <a:ext cx="5469936"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极智运维，基于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的云化运维</a:t>
            </a:r>
          </a:p>
        </p:txBody>
      </p:sp>
      <p:sp>
        <p:nvSpPr>
          <p:cNvPr id="27" name="圆角矩形 26"/>
          <p:cNvSpPr/>
          <p:nvPr/>
        </p:nvSpPr>
        <p:spPr bwMode="gray">
          <a:xfrm>
            <a:off x="6172200" y="5206841"/>
            <a:ext cx="5469938" cy="86144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marL="177800" indent="-177800" algn="just">
              <a:lnSpc>
                <a:spcPts val="2400"/>
              </a:lnSpc>
              <a:spcAft>
                <a:spcPts val="3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网络智能运维，保障用户和应用接入体验</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，潜在</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故障主动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预测。</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SD-WAN</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：智能保障关键</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业务的广域互联，带来分支的极致</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体验。</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300"/>
          <p:cNvSpPr txBox="1"/>
          <p:nvPr/>
        </p:nvSpPr>
        <p:spPr bwMode="gray">
          <a:xfrm>
            <a:off x="1838233" y="3785986"/>
            <a:ext cx="3906054" cy="2351288"/>
          </a:xfrm>
          <a:prstGeom prst="roundRect">
            <a:avLst>
              <a:gd name="adj" fmla="val 7589"/>
            </a:avLst>
          </a:prstGeom>
          <a:solidFill>
            <a:schemeClr val="bg1">
              <a:lumMod val="95000"/>
            </a:schemeClr>
          </a:solidFill>
          <a:ln>
            <a:noFill/>
          </a:ln>
        </p:spPr>
        <p:txBody>
          <a:bodyPr wrap="square" rtlCol="0" anchor="ctr" anchorCtr="0">
            <a:noAutofit/>
          </a:bodyPr>
          <a:lstStyle>
            <a:defPPr>
              <a:defRPr lang="en-US"/>
            </a:defPPr>
            <a:lvl1pPr algn="ctr">
              <a:defRPr sz="1100" b="1">
                <a:solidFill>
                  <a:prstClr val="white"/>
                </a:solidFill>
              </a:defRPr>
            </a:lvl1pPr>
          </a:lstStyle>
          <a:p>
            <a:endParaRPr lang="en-US" altLang="zh-CN" sz="1400" b="0">
              <a:solidFill>
                <a:prstClr val="black">
                  <a:lumMod val="65000"/>
                  <a:lumOff val="3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303"/>
          <p:cNvSpPr txBox="1"/>
          <p:nvPr/>
        </p:nvSpPr>
        <p:spPr bwMode="gray">
          <a:xfrm>
            <a:off x="1838233" y="1081302"/>
            <a:ext cx="3906054" cy="401321"/>
          </a:xfrm>
          <a:prstGeom prst="roundRect">
            <a:avLst>
              <a:gd name="adj" fmla="val 7648"/>
            </a:avLst>
          </a:prstGeom>
          <a:solidFill>
            <a:schemeClr val="bg1">
              <a:lumMod val="95000"/>
            </a:schemeClr>
          </a:solid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b="0">
                <a:solidFill>
                  <a:prstClr val="black">
                    <a:lumMod val="65000"/>
                    <a:lumOff val="35000"/>
                  </a:prstClr>
                </a:solidFill>
                <a:latin typeface="Huawei Sans" panose="020C0503030203020204" pitchFamily="34" charset="0"/>
                <a:ea typeface="方正兰亭黑简体" panose="02000000000000000000" pitchFamily="2" charset="-122"/>
                <a:sym typeface="Huawei Sans" panose="020C0503030203020204" pitchFamily="34" charset="0"/>
              </a:rPr>
              <a:t>行业化应用</a:t>
            </a:r>
            <a:endParaRPr lang="en-US" altLang="zh-CN" sz="1400" b="0" dirty="0">
              <a:solidFill>
                <a:prstClr val="black">
                  <a:lumMod val="65000"/>
                  <a:lumOff val="3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3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95960" y="2345446"/>
            <a:ext cx="1488552" cy="276999"/>
          </a:xfrm>
          <a:prstGeom prst="rect">
            <a:avLst/>
          </a:prstGeom>
        </p:spPr>
      </p:pic>
      <p:pic>
        <p:nvPicPr>
          <p:cNvPr id="38" name="图片 3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369536" y="5012970"/>
            <a:ext cx="1282125" cy="880658"/>
          </a:xfrm>
          <a:prstGeom prst="roundRect">
            <a:avLst>
              <a:gd name="adj" fmla="val 3516"/>
            </a:avLst>
          </a:prstGeom>
          <a:noFill/>
        </p:spPr>
      </p:pic>
      <p:pic>
        <p:nvPicPr>
          <p:cNvPr id="39" name="图片 38"/>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3976998" y="5012517"/>
            <a:ext cx="1282125" cy="880658"/>
          </a:xfrm>
          <a:prstGeom prst="roundRect">
            <a:avLst>
              <a:gd name="adj" fmla="val 3516"/>
            </a:avLst>
          </a:prstGeom>
          <a:noFill/>
        </p:spPr>
      </p:pic>
      <p:pic>
        <p:nvPicPr>
          <p:cNvPr id="3" name="图片 2"/>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2369536" y="3965481"/>
            <a:ext cx="1270548" cy="895098"/>
          </a:xfrm>
          <a:prstGeom prst="roundRect">
            <a:avLst>
              <a:gd name="adj" fmla="val 3516"/>
            </a:avLst>
          </a:prstGeom>
          <a:noFill/>
        </p:spPr>
      </p:pic>
      <p:pic>
        <p:nvPicPr>
          <p:cNvPr id="4" name="图片 3"/>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3988108" y="3965481"/>
            <a:ext cx="1270548" cy="895098"/>
          </a:xfrm>
          <a:prstGeom prst="roundRect">
            <a:avLst>
              <a:gd name="adj" fmla="val 3516"/>
            </a:avLst>
          </a:prstGeom>
          <a:noFill/>
        </p:spPr>
      </p:pic>
      <p:sp>
        <p:nvSpPr>
          <p:cNvPr id="34" name="TextBox 300"/>
          <p:cNvSpPr txBox="1"/>
          <p:nvPr/>
        </p:nvSpPr>
        <p:spPr bwMode="gray">
          <a:xfrm>
            <a:off x="681855" y="3707950"/>
            <a:ext cx="1156377" cy="2201748"/>
          </a:xfrm>
          <a:prstGeom prst="roundRect">
            <a:avLst>
              <a:gd name="adj" fmla="val 7589"/>
            </a:avLst>
          </a:prstGeom>
          <a:no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多租户网络</a:t>
            </a:r>
            <a:endPar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301"/>
          <p:cNvSpPr txBox="1"/>
          <p:nvPr/>
        </p:nvSpPr>
        <p:spPr bwMode="gray">
          <a:xfrm>
            <a:off x="681855" y="1911433"/>
            <a:ext cx="1156377" cy="1477585"/>
          </a:xfrm>
          <a:prstGeom prst="roundRect">
            <a:avLst>
              <a:gd name="adj" fmla="val 6351"/>
            </a:avLst>
          </a:prstGeom>
          <a:no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云管理平台</a:t>
            </a:r>
            <a:endPar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303"/>
          <p:cNvSpPr txBox="1"/>
          <p:nvPr/>
        </p:nvSpPr>
        <p:spPr bwMode="gray">
          <a:xfrm>
            <a:off x="681855" y="1077282"/>
            <a:ext cx="1156377" cy="401321"/>
          </a:xfrm>
          <a:prstGeom prst="roundRect">
            <a:avLst>
              <a:gd name="adj" fmla="val 7648"/>
            </a:avLst>
          </a:prstGeom>
          <a:no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增值</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SaaS</a:t>
            </a:r>
          </a:p>
        </p:txBody>
      </p:sp>
      <p:pic>
        <p:nvPicPr>
          <p:cNvPr id="37" name="图片 3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095959" y="2843482"/>
            <a:ext cx="1330169" cy="321283"/>
          </a:xfrm>
          <a:prstGeom prst="rect">
            <a:avLst/>
          </a:prstGeom>
        </p:spPr>
      </p:pic>
    </p:spTree>
    <p:extLst>
      <p:ext uri="{BB962C8B-B14F-4D97-AF65-F5344CB8AC3E}">
        <p14:creationId xmlns:p14="http://schemas.microsoft.com/office/powerpoint/2010/main" val="34372325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latin typeface="+mn-lt"/>
                <a:ea typeface="+mn-ea"/>
                <a:cs typeface="+mn-ea"/>
                <a:sym typeface="+mn-lt"/>
              </a:rPr>
              <a:t>CloudCampus</a:t>
            </a:r>
            <a:r>
              <a:rPr lang="zh-CN" altLang="en-US" dirty="0" smtClean="0">
                <a:latin typeface="+mn-lt"/>
                <a:ea typeface="+mn-ea"/>
                <a:cs typeface="+mn-ea"/>
                <a:sym typeface="+mn-lt"/>
              </a:rPr>
              <a:t>网络架构 </a:t>
            </a:r>
            <a:r>
              <a:rPr lang="en-US" altLang="zh-CN" dirty="0" smtClean="0">
                <a:latin typeface="+mn-lt"/>
                <a:ea typeface="+mn-ea"/>
                <a:cs typeface="+mn-ea"/>
                <a:sym typeface="+mn-lt"/>
              </a:rPr>
              <a:t>(</a:t>
            </a:r>
            <a:r>
              <a:rPr lang="zh-CN" altLang="en-US" dirty="0">
                <a:cs typeface="+mn-ea"/>
                <a:sym typeface="+mn-lt"/>
              </a:rPr>
              <a:t>中小型云管理</a:t>
            </a:r>
            <a:r>
              <a:rPr lang="zh-CN" altLang="en-US" dirty="0" smtClean="0">
                <a:cs typeface="+mn-ea"/>
                <a:sym typeface="+mn-lt"/>
              </a:rPr>
              <a:t>园区网络场景</a:t>
            </a:r>
            <a:r>
              <a:rPr lang="en-US" altLang="zh-CN" dirty="0" smtClean="0">
                <a:latin typeface="+mn-lt"/>
                <a:ea typeface="+mn-ea"/>
                <a:cs typeface="+mn-ea"/>
                <a:sym typeface="+mn-lt"/>
              </a:rPr>
              <a:t>)</a:t>
            </a:r>
            <a:endParaRPr lang="zh-CN" altLang="en-US" dirty="0">
              <a:latin typeface="+mn-lt"/>
              <a:ea typeface="+mn-ea"/>
              <a:cs typeface="+mn-ea"/>
              <a:sym typeface="+mn-lt"/>
            </a:endParaRPr>
          </a:p>
        </p:txBody>
      </p:sp>
      <p:cxnSp>
        <p:nvCxnSpPr>
          <p:cNvPr id="121" name="Straight Connector 156"/>
          <p:cNvCxnSpPr/>
          <p:nvPr/>
        </p:nvCxnSpPr>
        <p:spPr bwMode="gray">
          <a:xfrm flipH="1">
            <a:off x="8357103" y="4453918"/>
            <a:ext cx="56736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2" name="Group 274"/>
          <p:cNvGrpSpPr/>
          <p:nvPr/>
        </p:nvGrpSpPr>
        <p:grpSpPr bwMode="gray">
          <a:xfrm rot="10800000">
            <a:off x="2585779" y="4895666"/>
            <a:ext cx="688326" cy="366192"/>
            <a:chOff x="-1233037" y="914446"/>
            <a:chExt cx="1573823" cy="778776"/>
          </a:xfrm>
        </p:grpSpPr>
        <p:cxnSp>
          <p:nvCxnSpPr>
            <p:cNvPr id="123" name="Straight Connector 275"/>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276"/>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125" name="Straight Connector 206"/>
          <p:cNvCxnSpPr/>
          <p:nvPr/>
        </p:nvCxnSpPr>
        <p:spPr bwMode="gray">
          <a:xfrm flipH="1">
            <a:off x="8983998" y="4914180"/>
            <a:ext cx="0" cy="455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99"/>
          <p:cNvCxnSpPr/>
          <p:nvPr/>
        </p:nvCxnSpPr>
        <p:spPr bwMode="gray">
          <a:xfrm flipH="1">
            <a:off x="10592606" y="3707950"/>
            <a:ext cx="0" cy="8288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7" name="图片 11" descr="开放网络-蓝.png"/>
          <p:cNvPicPr>
            <a:picLocks noChangeAspect="1"/>
          </p:cNvPicPr>
          <p:nvPr/>
        </p:nvPicPr>
        <p:blipFill>
          <a:blip r:embed="rId3"/>
          <a:stretch>
            <a:fillRect/>
          </a:stretch>
        </p:blipFill>
        <p:spPr bwMode="gray">
          <a:xfrm>
            <a:off x="5208842" y="5224075"/>
            <a:ext cx="335054" cy="257919"/>
          </a:xfrm>
          <a:prstGeom prst="rect">
            <a:avLst/>
          </a:prstGeom>
        </p:spPr>
      </p:pic>
      <p:pic>
        <p:nvPicPr>
          <p:cNvPr id="128" name="图片 158" descr="SAN网络-蓝.png"/>
          <p:cNvPicPr>
            <a:picLocks noChangeAspect="1"/>
          </p:cNvPicPr>
          <p:nvPr/>
        </p:nvPicPr>
        <p:blipFill>
          <a:blip r:embed="rId4"/>
          <a:stretch>
            <a:fillRect/>
          </a:stretch>
        </p:blipFill>
        <p:spPr bwMode="gray">
          <a:xfrm>
            <a:off x="6289997" y="5216956"/>
            <a:ext cx="166121" cy="272157"/>
          </a:xfrm>
          <a:prstGeom prst="rect">
            <a:avLst/>
          </a:prstGeom>
        </p:spPr>
      </p:pic>
      <p:pic>
        <p:nvPicPr>
          <p:cNvPr id="129" name="图片 157" descr="故障链路.png"/>
          <p:cNvPicPr>
            <a:picLocks noChangeAspect="1"/>
          </p:cNvPicPr>
          <p:nvPr/>
        </p:nvPicPr>
        <p:blipFill>
          <a:blip r:embed="rId5"/>
          <a:stretch>
            <a:fillRect/>
          </a:stretch>
        </p:blipFill>
        <p:spPr bwMode="gray">
          <a:xfrm>
            <a:off x="5764539" y="5239387"/>
            <a:ext cx="304815" cy="227295"/>
          </a:xfrm>
          <a:prstGeom prst="rect">
            <a:avLst/>
          </a:prstGeom>
        </p:spPr>
      </p:pic>
      <p:sp>
        <p:nvSpPr>
          <p:cNvPr id="130" name="圆角矩形 75"/>
          <p:cNvSpPr/>
          <p:nvPr/>
        </p:nvSpPr>
        <p:spPr bwMode="gray">
          <a:xfrm>
            <a:off x="4864041" y="3707950"/>
            <a:ext cx="2056918" cy="2201748"/>
          </a:xfrm>
          <a:prstGeom prst="roundRect">
            <a:avLst>
              <a:gd name="adj" fmla="val 2686"/>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31" name="Straight Connector 156"/>
          <p:cNvCxnSpPr/>
          <p:nvPr/>
        </p:nvCxnSpPr>
        <p:spPr bwMode="gray">
          <a:xfrm flipH="1">
            <a:off x="5887223" y="3707950"/>
            <a:ext cx="0" cy="1281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2" name="Group 157"/>
          <p:cNvGrpSpPr/>
          <p:nvPr/>
        </p:nvGrpSpPr>
        <p:grpSpPr bwMode="gray">
          <a:xfrm rot="10800000">
            <a:off x="5160738" y="4450885"/>
            <a:ext cx="1470074" cy="466334"/>
            <a:chOff x="-1233037" y="914446"/>
            <a:chExt cx="1573823" cy="778776"/>
          </a:xfrm>
        </p:grpSpPr>
        <p:cxnSp>
          <p:nvCxnSpPr>
            <p:cNvPr id="133" name="Straight Connector 158"/>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59"/>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35"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719575" y="3871970"/>
            <a:ext cx="335297" cy="274335"/>
          </a:xfrm>
          <a:prstGeom prst="rect">
            <a:avLst/>
          </a:prstGeom>
        </p:spPr>
      </p:pic>
      <p:pic>
        <p:nvPicPr>
          <p:cNvPr id="136" name="图片 76" descr="接入交换机.png"/>
          <p:cNvPicPr>
            <a:picLocks noChangeAspect="1"/>
          </p:cNvPicPr>
          <p:nvPr/>
        </p:nvPicPr>
        <p:blipFill>
          <a:blip r:embed="rId7"/>
          <a:stretch>
            <a:fillRect/>
          </a:stretch>
        </p:blipFill>
        <p:spPr bwMode="gray">
          <a:xfrm>
            <a:off x="5719575" y="4316751"/>
            <a:ext cx="335297" cy="274335"/>
          </a:xfrm>
          <a:prstGeom prst="rect">
            <a:avLst/>
          </a:prstGeom>
        </p:spPr>
      </p:pic>
      <p:pic>
        <p:nvPicPr>
          <p:cNvPr id="137" name="图片 105" descr="AP.png"/>
          <p:cNvPicPr>
            <a:picLocks noChangeAspect="1"/>
          </p:cNvPicPr>
          <p:nvPr/>
        </p:nvPicPr>
        <p:blipFill>
          <a:blip r:embed="rId8"/>
          <a:stretch>
            <a:fillRect/>
          </a:stretch>
        </p:blipFill>
        <p:spPr bwMode="gray">
          <a:xfrm>
            <a:off x="5002677" y="4799455"/>
            <a:ext cx="335297" cy="274335"/>
          </a:xfrm>
          <a:prstGeom prst="rect">
            <a:avLst/>
          </a:prstGeom>
        </p:spPr>
      </p:pic>
      <p:pic>
        <p:nvPicPr>
          <p:cNvPr id="138" name="图片 105" descr="AP.png"/>
          <p:cNvPicPr>
            <a:picLocks noChangeAspect="1"/>
          </p:cNvPicPr>
          <p:nvPr/>
        </p:nvPicPr>
        <p:blipFill>
          <a:blip r:embed="rId8"/>
          <a:stretch>
            <a:fillRect/>
          </a:stretch>
        </p:blipFill>
        <p:spPr bwMode="gray">
          <a:xfrm>
            <a:off x="6447025" y="4799455"/>
            <a:ext cx="335297" cy="274335"/>
          </a:xfrm>
          <a:prstGeom prst="rect">
            <a:avLst/>
          </a:prstGeom>
        </p:spPr>
      </p:pic>
      <p:pic>
        <p:nvPicPr>
          <p:cNvPr id="139" name="图片 105" descr="AP.png"/>
          <p:cNvPicPr>
            <a:picLocks noChangeAspect="1"/>
          </p:cNvPicPr>
          <p:nvPr/>
        </p:nvPicPr>
        <p:blipFill>
          <a:blip r:embed="rId8"/>
          <a:stretch>
            <a:fillRect/>
          </a:stretch>
        </p:blipFill>
        <p:spPr bwMode="gray">
          <a:xfrm>
            <a:off x="5724851" y="4799455"/>
            <a:ext cx="335297" cy="274335"/>
          </a:xfrm>
          <a:prstGeom prst="rect">
            <a:avLst/>
          </a:prstGeom>
        </p:spPr>
      </p:pic>
      <p:sp>
        <p:nvSpPr>
          <p:cNvPr id="140" name="TextBox 169"/>
          <p:cNvSpPr txBox="1"/>
          <p:nvPr/>
        </p:nvSpPr>
        <p:spPr bwMode="gray">
          <a:xfrm>
            <a:off x="8138174" y="5909698"/>
            <a:ext cx="488168" cy="274594"/>
          </a:xfrm>
          <a:prstGeom prst="rect">
            <a:avLst/>
          </a:prstGeom>
          <a:noFill/>
        </p:spPr>
        <p:txBody>
          <a:bodyPr wrap="none" rtlCol="0">
            <a:spAutoFit/>
          </a:bodyPr>
          <a:lstStyle/>
          <a:p>
            <a:pPr algn="ctr"/>
            <a:r>
              <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酒店</a:t>
            </a:r>
          </a:p>
        </p:txBody>
      </p:sp>
      <p:pic>
        <p:nvPicPr>
          <p:cNvPr id="141" name="图片 158" descr="SAN网络-蓝.png"/>
          <p:cNvPicPr>
            <a:picLocks noChangeAspect="1"/>
          </p:cNvPicPr>
          <p:nvPr/>
        </p:nvPicPr>
        <p:blipFill>
          <a:blip r:embed="rId4"/>
          <a:stretch>
            <a:fillRect/>
          </a:stretch>
        </p:blipFill>
        <p:spPr bwMode="gray">
          <a:xfrm>
            <a:off x="10744226" y="4943544"/>
            <a:ext cx="166121" cy="272157"/>
          </a:xfrm>
          <a:prstGeom prst="rect">
            <a:avLst/>
          </a:prstGeom>
        </p:spPr>
      </p:pic>
      <p:pic>
        <p:nvPicPr>
          <p:cNvPr id="142" name="图片 157" descr="故障链路.png"/>
          <p:cNvPicPr>
            <a:picLocks noChangeAspect="1"/>
          </p:cNvPicPr>
          <p:nvPr/>
        </p:nvPicPr>
        <p:blipFill>
          <a:blip r:embed="rId5"/>
          <a:stretch>
            <a:fillRect/>
          </a:stretch>
        </p:blipFill>
        <p:spPr bwMode="gray">
          <a:xfrm>
            <a:off x="10218768" y="4965975"/>
            <a:ext cx="304815" cy="227295"/>
          </a:xfrm>
          <a:prstGeom prst="rect">
            <a:avLst/>
          </a:prstGeom>
        </p:spPr>
      </p:pic>
      <p:sp>
        <p:nvSpPr>
          <p:cNvPr id="143" name="圆角矩形 75"/>
          <p:cNvSpPr/>
          <p:nvPr/>
        </p:nvSpPr>
        <p:spPr bwMode="gray">
          <a:xfrm>
            <a:off x="9805318" y="3707950"/>
            <a:ext cx="1526595" cy="2201748"/>
          </a:xfrm>
          <a:prstGeom prst="roundRect">
            <a:avLst>
              <a:gd name="adj" fmla="val 2874"/>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44" name="图片 105" descr="AP.png"/>
          <p:cNvPicPr>
            <a:picLocks noChangeAspect="1"/>
          </p:cNvPicPr>
          <p:nvPr/>
        </p:nvPicPr>
        <p:blipFill>
          <a:blip r:embed="rId8"/>
          <a:stretch>
            <a:fillRect/>
          </a:stretch>
        </p:blipFill>
        <p:spPr bwMode="gray">
          <a:xfrm>
            <a:off x="10417084" y="4316751"/>
            <a:ext cx="335297" cy="274335"/>
          </a:xfrm>
          <a:prstGeom prst="rect">
            <a:avLst/>
          </a:prstGeom>
        </p:spPr>
      </p:pic>
      <p:sp>
        <p:nvSpPr>
          <p:cNvPr id="145" name="TextBox 183"/>
          <p:cNvSpPr txBox="1"/>
          <p:nvPr/>
        </p:nvSpPr>
        <p:spPr bwMode="gray">
          <a:xfrm>
            <a:off x="10192497" y="5909698"/>
            <a:ext cx="800219" cy="276999"/>
          </a:xfrm>
          <a:prstGeom prst="rect">
            <a:avLst/>
          </a:prstGeom>
          <a:noFill/>
        </p:spPr>
        <p:txBody>
          <a:bodyPr wrap="none" rtlCol="0">
            <a:spAutoFit/>
          </a:bodyPr>
          <a:lstStyle/>
          <a:p>
            <a:pPr algn="ctr"/>
            <a:r>
              <a:rPr lang="zh-CN" altLang="en-US" sz="120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微型门店</a:t>
            </a:r>
            <a:endPar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6" name="图片 11" descr="开放网络-蓝.png"/>
          <p:cNvPicPr>
            <a:picLocks noChangeAspect="1"/>
          </p:cNvPicPr>
          <p:nvPr/>
        </p:nvPicPr>
        <p:blipFill>
          <a:blip r:embed="rId3"/>
          <a:stretch>
            <a:fillRect/>
          </a:stretch>
        </p:blipFill>
        <p:spPr bwMode="gray">
          <a:xfrm>
            <a:off x="7696028" y="5583979"/>
            <a:ext cx="335054" cy="257919"/>
          </a:xfrm>
          <a:prstGeom prst="rect">
            <a:avLst/>
          </a:prstGeom>
        </p:spPr>
      </p:pic>
      <p:pic>
        <p:nvPicPr>
          <p:cNvPr id="147" name="图片 158" descr="SAN网络-蓝.png"/>
          <p:cNvPicPr>
            <a:picLocks noChangeAspect="1"/>
          </p:cNvPicPr>
          <p:nvPr/>
        </p:nvPicPr>
        <p:blipFill>
          <a:blip r:embed="rId4"/>
          <a:stretch>
            <a:fillRect/>
          </a:stretch>
        </p:blipFill>
        <p:spPr bwMode="gray">
          <a:xfrm>
            <a:off x="8613504" y="5576860"/>
            <a:ext cx="166121" cy="272157"/>
          </a:xfrm>
          <a:prstGeom prst="rect">
            <a:avLst/>
          </a:prstGeom>
        </p:spPr>
      </p:pic>
      <p:pic>
        <p:nvPicPr>
          <p:cNvPr id="148" name="图片 157" descr="故障链路.png"/>
          <p:cNvPicPr>
            <a:picLocks noChangeAspect="1"/>
          </p:cNvPicPr>
          <p:nvPr/>
        </p:nvPicPr>
        <p:blipFill>
          <a:blip r:embed="rId5"/>
          <a:stretch>
            <a:fillRect/>
          </a:stretch>
        </p:blipFill>
        <p:spPr bwMode="gray">
          <a:xfrm>
            <a:off x="8169886" y="5599291"/>
            <a:ext cx="304815" cy="227295"/>
          </a:xfrm>
          <a:prstGeom prst="rect">
            <a:avLst/>
          </a:prstGeom>
        </p:spPr>
      </p:pic>
      <p:sp>
        <p:nvSpPr>
          <p:cNvPr id="149" name="圆角矩形 75"/>
          <p:cNvSpPr/>
          <p:nvPr/>
        </p:nvSpPr>
        <p:spPr bwMode="gray">
          <a:xfrm>
            <a:off x="7185457" y="3707950"/>
            <a:ext cx="2388656" cy="2201748"/>
          </a:xfrm>
          <a:prstGeom prst="roundRect">
            <a:avLst>
              <a:gd name="adj" fmla="val 2231"/>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50" name="Straight Connector 188"/>
          <p:cNvCxnSpPr/>
          <p:nvPr/>
        </p:nvCxnSpPr>
        <p:spPr bwMode="gray">
          <a:xfrm flipH="1">
            <a:off x="8334840" y="3707950"/>
            <a:ext cx="0" cy="7429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1" name="Group 189"/>
          <p:cNvGrpSpPr/>
          <p:nvPr/>
        </p:nvGrpSpPr>
        <p:grpSpPr bwMode="gray">
          <a:xfrm rot="10800000">
            <a:off x="7563134" y="4450886"/>
            <a:ext cx="1560516" cy="593910"/>
            <a:chOff x="-1233037" y="914446"/>
            <a:chExt cx="1573823" cy="778776"/>
          </a:xfrm>
        </p:grpSpPr>
        <p:cxnSp>
          <p:nvCxnSpPr>
            <p:cNvPr id="152" name="Straight Connector 190"/>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91"/>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54"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8167192" y="3871970"/>
            <a:ext cx="335297" cy="274335"/>
          </a:xfrm>
          <a:prstGeom prst="rect">
            <a:avLst/>
          </a:prstGeom>
        </p:spPr>
      </p:pic>
      <p:pic>
        <p:nvPicPr>
          <p:cNvPr id="155" name="图片 76" descr="接入交换机.png"/>
          <p:cNvPicPr>
            <a:picLocks noChangeAspect="1"/>
          </p:cNvPicPr>
          <p:nvPr/>
        </p:nvPicPr>
        <p:blipFill>
          <a:blip r:embed="rId7"/>
          <a:stretch>
            <a:fillRect/>
          </a:stretch>
        </p:blipFill>
        <p:spPr bwMode="gray">
          <a:xfrm>
            <a:off x="8167192" y="4316751"/>
            <a:ext cx="335297" cy="274335"/>
          </a:xfrm>
          <a:prstGeom prst="rect">
            <a:avLst/>
          </a:prstGeom>
        </p:spPr>
      </p:pic>
      <p:pic>
        <p:nvPicPr>
          <p:cNvPr id="156" name="图片 105" descr="AP.png"/>
          <p:cNvPicPr>
            <a:picLocks noChangeAspect="1"/>
          </p:cNvPicPr>
          <p:nvPr/>
        </p:nvPicPr>
        <p:blipFill>
          <a:blip r:embed="rId8"/>
          <a:stretch>
            <a:fillRect/>
          </a:stretch>
        </p:blipFill>
        <p:spPr bwMode="gray">
          <a:xfrm>
            <a:off x="7543429" y="4799455"/>
            <a:ext cx="335297" cy="274335"/>
          </a:xfrm>
          <a:prstGeom prst="rect">
            <a:avLst/>
          </a:prstGeom>
        </p:spPr>
      </p:pic>
      <p:sp>
        <p:nvSpPr>
          <p:cNvPr id="157" name="TextBox 197"/>
          <p:cNvSpPr txBox="1"/>
          <p:nvPr/>
        </p:nvSpPr>
        <p:spPr bwMode="gray">
          <a:xfrm>
            <a:off x="5651690" y="5909698"/>
            <a:ext cx="488168" cy="274594"/>
          </a:xfrm>
          <a:prstGeom prst="rect">
            <a:avLst/>
          </a:prstGeom>
          <a:noFill/>
        </p:spPr>
        <p:txBody>
          <a:bodyPr wrap="none" rtlCol="0">
            <a:spAutoFit/>
          </a:bodyPr>
          <a:lstStyle/>
          <a:p>
            <a:pPr algn="ctr"/>
            <a:r>
              <a:rPr lang="zh-CN" altLang="en-US" sz="120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商超</a:t>
            </a:r>
            <a:endParaRPr lang="en-US" altLang="zh-CN"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8" name="图片 114" descr="中心AP.png"/>
          <p:cNvPicPr>
            <a:picLocks noChangeAspect="1"/>
          </p:cNvPicPr>
          <p:nvPr/>
        </p:nvPicPr>
        <p:blipFill>
          <a:blip r:embed="rId9"/>
          <a:stretch>
            <a:fillRect/>
          </a:stretch>
        </p:blipFill>
        <p:spPr bwMode="gray">
          <a:xfrm>
            <a:off x="8818709" y="4801385"/>
            <a:ext cx="330578" cy="270474"/>
          </a:xfrm>
          <a:prstGeom prst="rect">
            <a:avLst/>
          </a:prstGeom>
        </p:spPr>
      </p:pic>
      <p:pic>
        <p:nvPicPr>
          <p:cNvPr id="159" name="图片 20" descr="RRU蓝.png"/>
          <p:cNvPicPr>
            <a:picLocks noChangeAspect="1"/>
          </p:cNvPicPr>
          <p:nvPr/>
        </p:nvPicPr>
        <p:blipFill>
          <a:blip r:embed="rId10"/>
          <a:stretch>
            <a:fillRect/>
          </a:stretch>
        </p:blipFill>
        <p:spPr bwMode="gray">
          <a:xfrm>
            <a:off x="8818709" y="5217797"/>
            <a:ext cx="330578" cy="270474"/>
          </a:xfrm>
          <a:prstGeom prst="rect">
            <a:avLst/>
          </a:prstGeom>
        </p:spPr>
      </p:pic>
      <p:grpSp>
        <p:nvGrpSpPr>
          <p:cNvPr id="160" name="Group 208"/>
          <p:cNvGrpSpPr/>
          <p:nvPr/>
        </p:nvGrpSpPr>
        <p:grpSpPr bwMode="gray">
          <a:xfrm>
            <a:off x="9204173" y="5322045"/>
            <a:ext cx="261965" cy="61979"/>
            <a:chOff x="559282" y="6488261"/>
            <a:chExt cx="261965" cy="61979"/>
          </a:xfrm>
          <a:solidFill>
            <a:schemeClr val="bg1">
              <a:lumMod val="50000"/>
            </a:schemeClr>
          </a:solidFill>
        </p:grpSpPr>
        <p:sp>
          <p:nvSpPr>
            <p:cNvPr id="161" name="Oval 209"/>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Oval 210"/>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Oval 211"/>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4" name="TextBox 212"/>
          <p:cNvSpPr txBox="1"/>
          <p:nvPr/>
        </p:nvSpPr>
        <p:spPr bwMode="gray">
          <a:xfrm>
            <a:off x="5311410" y="3886027"/>
            <a:ext cx="428322"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TextBox 213"/>
          <p:cNvSpPr txBox="1"/>
          <p:nvPr/>
        </p:nvSpPr>
        <p:spPr bwMode="gray">
          <a:xfrm>
            <a:off x="5318738" y="4323700"/>
            <a:ext cx="429926"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TextBox 214"/>
          <p:cNvSpPr txBox="1"/>
          <p:nvPr/>
        </p:nvSpPr>
        <p:spPr bwMode="gray">
          <a:xfrm>
            <a:off x="4980836" y="4556359"/>
            <a:ext cx="383439"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TextBox 215"/>
          <p:cNvSpPr txBox="1"/>
          <p:nvPr/>
        </p:nvSpPr>
        <p:spPr bwMode="gray">
          <a:xfrm>
            <a:off x="10387672" y="4580853"/>
            <a:ext cx="383439"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TextBox 216"/>
          <p:cNvSpPr txBox="1"/>
          <p:nvPr/>
        </p:nvSpPr>
        <p:spPr bwMode="gray">
          <a:xfrm>
            <a:off x="7498039" y="4580717"/>
            <a:ext cx="383439"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TextBox 218"/>
          <p:cNvSpPr txBox="1"/>
          <p:nvPr/>
        </p:nvSpPr>
        <p:spPr bwMode="gray">
          <a:xfrm>
            <a:off x="7765854" y="3886027"/>
            <a:ext cx="428322"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TextBox 219"/>
          <p:cNvSpPr txBox="1"/>
          <p:nvPr/>
        </p:nvSpPr>
        <p:spPr bwMode="gray">
          <a:xfrm>
            <a:off x="7765052" y="4330808"/>
            <a:ext cx="429926"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TextBox 220"/>
          <p:cNvSpPr txBox="1"/>
          <p:nvPr/>
        </p:nvSpPr>
        <p:spPr bwMode="gray">
          <a:xfrm>
            <a:off x="8694807" y="4580717"/>
            <a:ext cx="976549"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Central AP</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TextBox 221"/>
          <p:cNvSpPr txBox="1"/>
          <p:nvPr/>
        </p:nvSpPr>
        <p:spPr bwMode="gray">
          <a:xfrm>
            <a:off x="8512173" y="5247705"/>
            <a:ext cx="397866"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RU</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3"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10010446" y="4316751"/>
            <a:ext cx="335297" cy="274335"/>
          </a:xfrm>
          <a:prstGeom prst="rect">
            <a:avLst/>
          </a:prstGeom>
        </p:spPr>
      </p:pic>
      <p:pic>
        <p:nvPicPr>
          <p:cNvPr id="174" name="Picture 2" descr="G:\做的项目\公共\扁平图标切换\更新2015_01_21\oss扁平图标库2015_01_21更新-04.png"/>
          <p:cNvPicPr>
            <a:picLocks noChangeAspect="1" noChangeArrowheads="1"/>
          </p:cNvPicPr>
          <p:nvPr/>
        </p:nvPicPr>
        <p:blipFill>
          <a:blip r:embed="rId11"/>
          <a:stretch>
            <a:fillRect/>
          </a:stretch>
        </p:blipFill>
        <p:spPr bwMode="gray">
          <a:xfrm>
            <a:off x="10822649" y="4318681"/>
            <a:ext cx="335386" cy="270474"/>
          </a:xfrm>
          <a:prstGeom prst="rect">
            <a:avLst/>
          </a:prstGeom>
          <a:noFill/>
        </p:spPr>
      </p:pic>
      <p:sp>
        <p:nvSpPr>
          <p:cNvPr id="175" name="TextBox 225"/>
          <p:cNvSpPr txBox="1"/>
          <p:nvPr/>
        </p:nvSpPr>
        <p:spPr bwMode="gray">
          <a:xfrm>
            <a:off x="9967997" y="4580853"/>
            <a:ext cx="428322"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TextBox 226"/>
          <p:cNvSpPr txBox="1"/>
          <p:nvPr/>
        </p:nvSpPr>
        <p:spPr bwMode="gray">
          <a:xfrm>
            <a:off x="10795416" y="4580853"/>
            <a:ext cx="389851"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7" name="图片 11" descr="开放网络-蓝.png"/>
          <p:cNvPicPr>
            <a:picLocks noChangeAspect="1"/>
          </p:cNvPicPr>
          <p:nvPr/>
        </p:nvPicPr>
        <p:blipFill>
          <a:blip r:embed="rId3"/>
          <a:stretch>
            <a:fillRect/>
          </a:stretch>
        </p:blipFill>
        <p:spPr bwMode="gray">
          <a:xfrm>
            <a:off x="4145228" y="5224075"/>
            <a:ext cx="335054" cy="257919"/>
          </a:xfrm>
          <a:prstGeom prst="rect">
            <a:avLst/>
          </a:prstGeom>
        </p:spPr>
      </p:pic>
      <p:pic>
        <p:nvPicPr>
          <p:cNvPr id="178" name="图片 158" descr="SAN网络-蓝.png"/>
          <p:cNvPicPr>
            <a:picLocks noChangeAspect="1"/>
          </p:cNvPicPr>
          <p:nvPr/>
        </p:nvPicPr>
        <p:blipFill>
          <a:blip r:embed="rId4"/>
          <a:stretch>
            <a:fillRect/>
          </a:stretch>
        </p:blipFill>
        <p:spPr bwMode="gray">
          <a:xfrm>
            <a:off x="3702833" y="5576860"/>
            <a:ext cx="166121" cy="272157"/>
          </a:xfrm>
          <a:prstGeom prst="rect">
            <a:avLst/>
          </a:prstGeom>
        </p:spPr>
      </p:pic>
      <p:pic>
        <p:nvPicPr>
          <p:cNvPr id="179" name="图片 157" descr="故障链路.png"/>
          <p:cNvPicPr>
            <a:picLocks noChangeAspect="1"/>
          </p:cNvPicPr>
          <p:nvPr/>
        </p:nvPicPr>
        <p:blipFill>
          <a:blip r:embed="rId5"/>
          <a:stretch>
            <a:fillRect/>
          </a:stretch>
        </p:blipFill>
        <p:spPr bwMode="gray">
          <a:xfrm>
            <a:off x="3177375" y="5599291"/>
            <a:ext cx="304815" cy="227295"/>
          </a:xfrm>
          <a:prstGeom prst="rect">
            <a:avLst/>
          </a:prstGeom>
        </p:spPr>
      </p:pic>
      <p:sp>
        <p:nvSpPr>
          <p:cNvPr id="180" name="圆角矩形 75"/>
          <p:cNvSpPr/>
          <p:nvPr/>
        </p:nvSpPr>
        <p:spPr bwMode="gray">
          <a:xfrm>
            <a:off x="2215772" y="3707950"/>
            <a:ext cx="2436210" cy="2201748"/>
          </a:xfrm>
          <a:prstGeom prst="roundRect">
            <a:avLst>
              <a:gd name="adj" fmla="val 2231"/>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81" name="Straight Connector 248"/>
          <p:cNvCxnSpPr/>
          <p:nvPr/>
        </p:nvCxnSpPr>
        <p:spPr bwMode="gray">
          <a:xfrm flipH="1">
            <a:off x="3618245" y="3707950"/>
            <a:ext cx="0" cy="7429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2" name="Group 249"/>
          <p:cNvGrpSpPr/>
          <p:nvPr/>
        </p:nvGrpSpPr>
        <p:grpSpPr bwMode="gray">
          <a:xfrm rot="10800000">
            <a:off x="2861890" y="4450885"/>
            <a:ext cx="1529814" cy="466334"/>
            <a:chOff x="-1233037" y="914446"/>
            <a:chExt cx="1573823" cy="778776"/>
          </a:xfrm>
        </p:grpSpPr>
        <p:cxnSp>
          <p:nvCxnSpPr>
            <p:cNvPr id="183" name="Straight Connector 250"/>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251"/>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85"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3450597" y="3871970"/>
            <a:ext cx="335297" cy="274335"/>
          </a:xfrm>
          <a:prstGeom prst="rect">
            <a:avLst/>
          </a:prstGeom>
        </p:spPr>
      </p:pic>
      <p:sp>
        <p:nvSpPr>
          <p:cNvPr id="186" name="TextBox 257"/>
          <p:cNvSpPr txBox="1"/>
          <p:nvPr/>
        </p:nvSpPr>
        <p:spPr bwMode="gray">
          <a:xfrm>
            <a:off x="2248010" y="5909698"/>
            <a:ext cx="2405173" cy="274594"/>
          </a:xfrm>
          <a:prstGeom prst="rect">
            <a:avLst/>
          </a:prstGeom>
          <a:noFill/>
        </p:spPr>
        <p:txBody>
          <a:bodyPr wrap="square" rtlCol="0">
            <a:spAutoFit/>
          </a:bodyPr>
          <a:lstStyle/>
          <a:p>
            <a:pPr algn="ct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购物中心</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商场</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普教</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7" name="TextBox 258"/>
          <p:cNvSpPr txBox="1"/>
          <p:nvPr/>
        </p:nvSpPr>
        <p:spPr bwMode="gray">
          <a:xfrm>
            <a:off x="3050899" y="3886027"/>
            <a:ext cx="428322"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TextBox 259"/>
          <p:cNvSpPr txBox="1"/>
          <p:nvPr/>
        </p:nvSpPr>
        <p:spPr bwMode="gray">
          <a:xfrm>
            <a:off x="3694680" y="4330808"/>
            <a:ext cx="429926"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9" name="图片 76" descr="接入交换机.png"/>
          <p:cNvPicPr>
            <a:picLocks noChangeAspect="1"/>
          </p:cNvPicPr>
          <p:nvPr/>
        </p:nvPicPr>
        <p:blipFill>
          <a:blip r:embed="rId7"/>
          <a:stretch>
            <a:fillRect/>
          </a:stretch>
        </p:blipFill>
        <p:spPr bwMode="gray">
          <a:xfrm>
            <a:off x="2762294" y="4764041"/>
            <a:ext cx="335297" cy="274335"/>
          </a:xfrm>
          <a:prstGeom prst="rect">
            <a:avLst/>
          </a:prstGeom>
        </p:spPr>
      </p:pic>
      <p:pic>
        <p:nvPicPr>
          <p:cNvPr id="190" name="图片 76" descr="接入交换机.png"/>
          <p:cNvPicPr>
            <a:picLocks noChangeAspect="1"/>
          </p:cNvPicPr>
          <p:nvPr/>
        </p:nvPicPr>
        <p:blipFill>
          <a:blip r:embed="rId7"/>
          <a:stretch>
            <a:fillRect/>
          </a:stretch>
        </p:blipFill>
        <p:spPr bwMode="gray">
          <a:xfrm>
            <a:off x="4145233" y="4764041"/>
            <a:ext cx="335297" cy="274335"/>
          </a:xfrm>
          <a:prstGeom prst="rect">
            <a:avLst/>
          </a:prstGeom>
        </p:spPr>
      </p:pic>
      <p:grpSp>
        <p:nvGrpSpPr>
          <p:cNvPr id="191" name="Group 267"/>
          <p:cNvGrpSpPr/>
          <p:nvPr/>
        </p:nvGrpSpPr>
        <p:grpSpPr bwMode="gray">
          <a:xfrm>
            <a:off x="7936541" y="4958861"/>
            <a:ext cx="261965" cy="61979"/>
            <a:chOff x="559282" y="6488261"/>
            <a:chExt cx="261965" cy="61979"/>
          </a:xfrm>
          <a:solidFill>
            <a:schemeClr val="bg1">
              <a:lumMod val="50000"/>
            </a:schemeClr>
          </a:solidFill>
        </p:grpSpPr>
        <p:sp>
          <p:nvSpPr>
            <p:cNvPr id="192" name="Oval 268"/>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3" name="Oval 269"/>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Oval 270"/>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95" name="图片 105" descr="AP.png"/>
          <p:cNvPicPr>
            <a:picLocks noChangeAspect="1"/>
          </p:cNvPicPr>
          <p:nvPr/>
        </p:nvPicPr>
        <p:blipFill>
          <a:blip r:embed="rId8"/>
          <a:stretch>
            <a:fillRect/>
          </a:stretch>
        </p:blipFill>
        <p:spPr bwMode="gray">
          <a:xfrm>
            <a:off x="2309914" y="5215867"/>
            <a:ext cx="335297" cy="274335"/>
          </a:xfrm>
          <a:prstGeom prst="rect">
            <a:avLst/>
          </a:prstGeom>
        </p:spPr>
      </p:pic>
      <p:pic>
        <p:nvPicPr>
          <p:cNvPr id="196" name="图片 105" descr="AP.png"/>
          <p:cNvPicPr>
            <a:picLocks noChangeAspect="1"/>
          </p:cNvPicPr>
          <p:nvPr/>
        </p:nvPicPr>
        <p:blipFill>
          <a:blip r:embed="rId8"/>
          <a:stretch>
            <a:fillRect/>
          </a:stretch>
        </p:blipFill>
        <p:spPr bwMode="gray">
          <a:xfrm>
            <a:off x="3174569" y="5215867"/>
            <a:ext cx="335297" cy="274335"/>
          </a:xfrm>
          <a:prstGeom prst="rect">
            <a:avLst/>
          </a:prstGeom>
        </p:spPr>
      </p:pic>
      <p:grpSp>
        <p:nvGrpSpPr>
          <p:cNvPr id="197" name="Group 279"/>
          <p:cNvGrpSpPr/>
          <p:nvPr/>
        </p:nvGrpSpPr>
        <p:grpSpPr bwMode="gray">
          <a:xfrm>
            <a:off x="2778907" y="5322045"/>
            <a:ext cx="261965" cy="61979"/>
            <a:chOff x="559282" y="6488261"/>
            <a:chExt cx="261965" cy="61979"/>
          </a:xfrm>
          <a:solidFill>
            <a:schemeClr val="bg1">
              <a:lumMod val="50000"/>
            </a:schemeClr>
          </a:solidFill>
        </p:grpSpPr>
        <p:sp>
          <p:nvSpPr>
            <p:cNvPr id="198" name="Oval 280"/>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Oval 281"/>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Oval 282"/>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201" name="Straight Connector 283"/>
          <p:cNvCxnSpPr/>
          <p:nvPr/>
        </p:nvCxnSpPr>
        <p:spPr bwMode="gray">
          <a:xfrm flipH="1">
            <a:off x="2762294" y="4450885"/>
            <a:ext cx="7397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02" name="图片 76" descr="接入交换机.png"/>
          <p:cNvPicPr>
            <a:picLocks noChangeAspect="1"/>
          </p:cNvPicPr>
          <p:nvPr/>
        </p:nvPicPr>
        <p:blipFill>
          <a:blip r:embed="rId7"/>
          <a:stretch>
            <a:fillRect/>
          </a:stretch>
        </p:blipFill>
        <p:spPr bwMode="gray">
          <a:xfrm>
            <a:off x="3450597" y="4316751"/>
            <a:ext cx="335297" cy="274335"/>
          </a:xfrm>
          <a:prstGeom prst="rect">
            <a:avLst/>
          </a:prstGeom>
        </p:spPr>
      </p:pic>
      <p:sp>
        <p:nvSpPr>
          <p:cNvPr id="203" name="Freeform 288"/>
          <p:cNvSpPr/>
          <p:nvPr/>
        </p:nvSpPr>
        <p:spPr bwMode="gray">
          <a:xfrm flipH="1">
            <a:off x="2380871" y="4169042"/>
            <a:ext cx="751034" cy="39258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TextBox 289"/>
          <p:cNvSpPr txBox="1"/>
          <p:nvPr/>
        </p:nvSpPr>
        <p:spPr bwMode="gray">
          <a:xfrm>
            <a:off x="2470383" y="4256162"/>
            <a:ext cx="516488" cy="276999"/>
          </a:xfrm>
          <a:prstGeom prst="rect">
            <a:avLst/>
          </a:prstGeom>
          <a:noFill/>
        </p:spPr>
        <p:txBody>
          <a:bodyPr wrap="none" rtlCol="0">
            <a:spAutoFit/>
          </a:bodyPr>
          <a:lstStyle/>
          <a:p>
            <a:pPr algn="ctr"/>
            <a:r>
              <a:rPr lang="en-US" altLang="zh-CN" sz="1200" b="1" dirty="0" smtClean="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DCN</a:t>
            </a:r>
            <a:endParaRPr lang="zh-CN" altLang="en-US" sz="1200" b="1"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5" name="Picture 2" descr="G:\做的项目\公共\扁平图标切换\更新2015_01_21\oss扁平图标库2015_01_21更新-04.png"/>
          <p:cNvPicPr>
            <a:picLocks noChangeAspect="1" noChangeArrowheads="1"/>
          </p:cNvPicPr>
          <p:nvPr/>
        </p:nvPicPr>
        <p:blipFill>
          <a:blip r:embed="rId11"/>
          <a:stretch>
            <a:fillRect/>
          </a:stretch>
        </p:blipFill>
        <p:spPr bwMode="gray">
          <a:xfrm>
            <a:off x="6123723" y="3870889"/>
            <a:ext cx="335386" cy="270474"/>
          </a:xfrm>
          <a:prstGeom prst="rect">
            <a:avLst/>
          </a:prstGeom>
          <a:noFill/>
        </p:spPr>
      </p:pic>
      <p:sp>
        <p:nvSpPr>
          <p:cNvPr id="206" name="TextBox 292"/>
          <p:cNvSpPr txBox="1"/>
          <p:nvPr/>
        </p:nvSpPr>
        <p:spPr bwMode="gray">
          <a:xfrm>
            <a:off x="6404366" y="3886027"/>
            <a:ext cx="389851"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TextBox 300"/>
          <p:cNvSpPr txBox="1"/>
          <p:nvPr/>
        </p:nvSpPr>
        <p:spPr bwMode="gray">
          <a:xfrm>
            <a:off x="681855" y="3707950"/>
            <a:ext cx="1156377" cy="2201748"/>
          </a:xfrm>
          <a:prstGeom prst="roundRect">
            <a:avLst>
              <a:gd name="adj" fmla="val 7589"/>
            </a:avLst>
          </a:prstGeom>
          <a:no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多租户网络</a:t>
            </a:r>
            <a:endPar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8" name="TextBox 301"/>
          <p:cNvSpPr txBox="1"/>
          <p:nvPr/>
        </p:nvSpPr>
        <p:spPr bwMode="gray">
          <a:xfrm>
            <a:off x="681855" y="1911433"/>
            <a:ext cx="1156377" cy="1477585"/>
          </a:xfrm>
          <a:prstGeom prst="roundRect">
            <a:avLst>
              <a:gd name="adj" fmla="val 6351"/>
            </a:avLst>
          </a:prstGeom>
          <a:no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云管理平台</a:t>
            </a:r>
            <a:endPar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9" name="Straight Connector 294"/>
          <p:cNvCxnSpPr/>
          <p:nvPr/>
        </p:nvCxnSpPr>
        <p:spPr bwMode="gray">
          <a:xfrm>
            <a:off x="694557" y="3601922"/>
            <a:ext cx="10560772"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302"/>
          <p:cNvCxnSpPr/>
          <p:nvPr/>
        </p:nvCxnSpPr>
        <p:spPr bwMode="gray">
          <a:xfrm>
            <a:off x="771141" y="1698528"/>
            <a:ext cx="10560772"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11" name="TextBox 303"/>
          <p:cNvSpPr txBox="1"/>
          <p:nvPr/>
        </p:nvSpPr>
        <p:spPr bwMode="gray">
          <a:xfrm>
            <a:off x="681855" y="1077282"/>
            <a:ext cx="1156377" cy="401321"/>
          </a:xfrm>
          <a:prstGeom prst="roundRect">
            <a:avLst>
              <a:gd name="adj" fmla="val 7648"/>
            </a:avLst>
          </a:prstGeom>
          <a:no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增值</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SaaS</a:t>
            </a:r>
          </a:p>
        </p:txBody>
      </p:sp>
      <p:sp>
        <p:nvSpPr>
          <p:cNvPr id="212" name="TextBox 303"/>
          <p:cNvSpPr txBox="1"/>
          <p:nvPr/>
        </p:nvSpPr>
        <p:spPr bwMode="gray">
          <a:xfrm>
            <a:off x="2215772" y="1077282"/>
            <a:ext cx="1440000" cy="401321"/>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sz="1400" dirty="0">
                <a:sym typeface="Huawei Sans" panose="020C0503030203020204" pitchFamily="34" charset="0"/>
              </a:rPr>
              <a:t>大数据分析</a:t>
            </a:r>
            <a:endParaRPr lang="en-US" altLang="zh-CN" sz="1400" dirty="0">
              <a:sym typeface="Huawei Sans" panose="020C0503030203020204" pitchFamily="34" charset="0"/>
            </a:endParaRPr>
          </a:p>
        </p:txBody>
      </p:sp>
      <p:sp>
        <p:nvSpPr>
          <p:cNvPr id="213" name="TextBox 303"/>
          <p:cNvSpPr txBox="1"/>
          <p:nvPr/>
        </p:nvSpPr>
        <p:spPr bwMode="gray">
          <a:xfrm>
            <a:off x="3764497" y="1077282"/>
            <a:ext cx="1440000" cy="401321"/>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sz="1400" dirty="0">
                <a:sym typeface="Huawei Sans" panose="020C0503030203020204" pitchFamily="34" charset="0"/>
              </a:rPr>
              <a:t>客流</a:t>
            </a:r>
            <a:r>
              <a:rPr lang="zh-CN" altLang="en-US" sz="1400" dirty="0" smtClean="0">
                <a:sym typeface="Huawei Sans" panose="020C0503030203020204" pitchFamily="34" charset="0"/>
              </a:rPr>
              <a:t>分析</a:t>
            </a:r>
            <a:endParaRPr lang="en-US" altLang="zh-CN" sz="1400" dirty="0">
              <a:sym typeface="Huawei Sans" panose="020C0503030203020204" pitchFamily="34" charset="0"/>
            </a:endParaRPr>
          </a:p>
        </p:txBody>
      </p:sp>
      <p:sp>
        <p:nvSpPr>
          <p:cNvPr id="214" name="TextBox 303"/>
          <p:cNvSpPr txBox="1"/>
          <p:nvPr/>
        </p:nvSpPr>
        <p:spPr bwMode="gray">
          <a:xfrm>
            <a:off x="5313222" y="1077282"/>
            <a:ext cx="1440000" cy="401321"/>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sz="1400" dirty="0">
                <a:sym typeface="Huawei Sans" panose="020C0503030203020204" pitchFamily="34" charset="0"/>
              </a:rPr>
              <a:t>第三方认证计费</a:t>
            </a:r>
            <a:endParaRPr lang="en-US" altLang="zh-CN" sz="1400" dirty="0">
              <a:sym typeface="Huawei Sans" panose="020C0503030203020204" pitchFamily="34" charset="0"/>
            </a:endParaRPr>
          </a:p>
        </p:txBody>
      </p:sp>
      <p:sp>
        <p:nvSpPr>
          <p:cNvPr id="215" name="TextBox 303"/>
          <p:cNvSpPr txBox="1"/>
          <p:nvPr/>
        </p:nvSpPr>
        <p:spPr bwMode="gray">
          <a:xfrm>
            <a:off x="6861947" y="1077282"/>
            <a:ext cx="1440000" cy="401321"/>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sz="1400" dirty="0" smtClean="0">
                <a:sym typeface="Huawei Sans" panose="020C0503030203020204" pitchFamily="34" charset="0"/>
              </a:rPr>
              <a:t>APP</a:t>
            </a:r>
            <a:endParaRPr lang="en-US" altLang="zh-CN" sz="1400" dirty="0">
              <a:sym typeface="Huawei Sans" panose="020C0503030203020204" pitchFamily="34" charset="0"/>
            </a:endParaRPr>
          </a:p>
        </p:txBody>
      </p:sp>
      <p:sp>
        <p:nvSpPr>
          <p:cNvPr id="216" name="TextBox 303"/>
          <p:cNvSpPr txBox="1"/>
          <p:nvPr/>
        </p:nvSpPr>
        <p:spPr bwMode="gray">
          <a:xfrm>
            <a:off x="8410672" y="1077282"/>
            <a:ext cx="1440000" cy="401321"/>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sz="1400" dirty="0" smtClean="0">
                <a:sym typeface="Huawei Sans" panose="020C0503030203020204" pitchFamily="34" charset="0"/>
              </a:rPr>
              <a:t>电子价签</a:t>
            </a:r>
            <a:endParaRPr lang="en-US" altLang="zh-CN" sz="1400" dirty="0">
              <a:sym typeface="Huawei Sans" panose="020C0503030203020204" pitchFamily="34" charset="0"/>
            </a:endParaRPr>
          </a:p>
        </p:txBody>
      </p:sp>
      <p:sp>
        <p:nvSpPr>
          <p:cNvPr id="217" name="Right Arrow 157"/>
          <p:cNvSpPr/>
          <p:nvPr/>
        </p:nvSpPr>
        <p:spPr bwMode="gray">
          <a:xfrm rot="16200000">
            <a:off x="5900127" y="1167042"/>
            <a:ext cx="273445" cy="1165546"/>
          </a:xfrm>
          <a:prstGeom prst="rightArrow">
            <a:avLst>
              <a:gd name="adj1" fmla="val 79333"/>
              <a:gd name="adj2" fmla="val 50000"/>
            </a:avLst>
          </a:prstGeom>
          <a:gradFill flip="none" rotWithShape="1">
            <a:gsLst>
              <a:gs pos="15000">
                <a:schemeClr val="accent1">
                  <a:lumMod val="5000"/>
                  <a:lumOff val="95000"/>
                  <a:alpha val="0"/>
                </a:schemeClr>
              </a:gs>
              <a:gs pos="81000">
                <a:schemeClr val="bg1">
                  <a:lumMod val="65000"/>
                  <a:alpha val="75000"/>
                </a:schemeClr>
              </a:gs>
            </a:gsLst>
            <a:lin ang="0" scaled="1"/>
            <a:tileRect/>
          </a:gradFill>
          <a:ln w="9525">
            <a:gradFill flip="none" rotWithShape="1">
              <a:gsLst>
                <a:gs pos="0">
                  <a:schemeClr val="accent1">
                    <a:lumMod val="5000"/>
                    <a:lumOff val="95000"/>
                  </a:schemeClr>
                </a:gs>
                <a:gs pos="100000">
                  <a:schemeClr val="tx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TextBox 197"/>
          <p:cNvSpPr txBox="1"/>
          <p:nvPr/>
        </p:nvSpPr>
        <p:spPr bwMode="gray">
          <a:xfrm>
            <a:off x="5605756" y="1671033"/>
            <a:ext cx="949299" cy="276999"/>
          </a:xfrm>
          <a:prstGeom prst="rect">
            <a:avLst/>
          </a:prstGeom>
          <a:noFill/>
        </p:spPr>
        <p:txBody>
          <a:bodyPr wrap="none" rtlCol="0">
            <a:spAutoFit/>
          </a:bodyPr>
          <a:lstStyle/>
          <a:p>
            <a:pPr algn="ct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Restful API</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9" name="图片 102" descr="AC-蓝.png"/>
          <p:cNvPicPr>
            <a:picLocks noChangeAspect="1"/>
          </p:cNvPicPr>
          <p:nvPr/>
        </p:nvPicPr>
        <p:blipFill>
          <a:blip r:embed="rId12" cstate="print"/>
          <a:stretch>
            <a:fillRect/>
          </a:stretch>
        </p:blipFill>
        <p:spPr bwMode="gray">
          <a:xfrm>
            <a:off x="8738474" y="4359207"/>
            <a:ext cx="251914" cy="206112"/>
          </a:xfrm>
          <a:prstGeom prst="rect">
            <a:avLst/>
          </a:prstGeom>
        </p:spPr>
      </p:pic>
      <p:sp>
        <p:nvSpPr>
          <p:cNvPr id="220" name="TextBox 219"/>
          <p:cNvSpPr txBox="1"/>
          <p:nvPr/>
        </p:nvSpPr>
        <p:spPr bwMode="gray">
          <a:xfrm>
            <a:off x="8981700" y="4318681"/>
            <a:ext cx="386644"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1" name="TextBox 303"/>
          <p:cNvSpPr txBox="1"/>
          <p:nvPr/>
        </p:nvSpPr>
        <p:spPr bwMode="gray">
          <a:xfrm>
            <a:off x="2241982" y="1923510"/>
            <a:ext cx="9205088" cy="1465508"/>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2" name="图片 22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bwMode="gray">
          <a:xfrm>
            <a:off x="4863670" y="2166951"/>
            <a:ext cx="1346845" cy="248394"/>
          </a:xfrm>
          <a:prstGeom prst="rect">
            <a:avLst/>
          </a:prstGeom>
        </p:spPr>
      </p:pic>
      <p:pic>
        <p:nvPicPr>
          <p:cNvPr id="223" name="图片 2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6363592" y="2148560"/>
            <a:ext cx="1119914" cy="270499"/>
          </a:xfrm>
          <a:prstGeom prst="rect">
            <a:avLst/>
          </a:prstGeom>
        </p:spPr>
      </p:pic>
      <p:cxnSp>
        <p:nvCxnSpPr>
          <p:cNvPr id="227" name="Straight Connector 302"/>
          <p:cNvCxnSpPr/>
          <p:nvPr/>
        </p:nvCxnSpPr>
        <p:spPr bwMode="gray">
          <a:xfrm>
            <a:off x="2477562" y="2876972"/>
            <a:ext cx="8854351"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28" name="TextBox 179"/>
          <p:cNvSpPr txBox="1"/>
          <p:nvPr/>
        </p:nvSpPr>
        <p:spPr bwMode="gray">
          <a:xfrm>
            <a:off x="4171727" y="3020432"/>
            <a:ext cx="694272" cy="221182"/>
          </a:xfrm>
          <a:prstGeom prst="roundRect">
            <a:avLst>
              <a:gd name="adj" fmla="val 49545"/>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云网规</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9" name="TextBox 179"/>
          <p:cNvSpPr txBox="1"/>
          <p:nvPr/>
        </p:nvSpPr>
        <p:spPr bwMode="gray">
          <a:xfrm>
            <a:off x="5623084" y="3020432"/>
            <a:ext cx="694272" cy="221182"/>
          </a:xfrm>
          <a:prstGeom prst="roundRect">
            <a:avLst>
              <a:gd name="adj" fmla="val 49545"/>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云部署</a:t>
            </a: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0" name="TextBox 179"/>
          <p:cNvSpPr txBox="1"/>
          <p:nvPr/>
        </p:nvSpPr>
        <p:spPr bwMode="gray">
          <a:xfrm>
            <a:off x="7074441" y="3020432"/>
            <a:ext cx="694272" cy="221182"/>
          </a:xfrm>
          <a:prstGeom prst="roundRect">
            <a:avLst>
              <a:gd name="adj" fmla="val 49545"/>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云运维</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1" name="TextBox 179"/>
          <p:cNvSpPr txBox="1"/>
          <p:nvPr/>
        </p:nvSpPr>
        <p:spPr bwMode="gray">
          <a:xfrm>
            <a:off x="8525799" y="3020432"/>
            <a:ext cx="694272" cy="221182"/>
          </a:xfrm>
          <a:prstGeom prst="roundRect">
            <a:avLst>
              <a:gd name="adj" fmla="val 49545"/>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云巡检</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2" name="燕尾形 231"/>
          <p:cNvSpPr/>
          <p:nvPr/>
        </p:nvSpPr>
        <p:spPr bwMode="gray">
          <a:xfrm>
            <a:off x="5199945" y="3081967"/>
            <a:ext cx="89193" cy="98112"/>
          </a:xfrm>
          <a:prstGeom prst="chevron">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3" name="燕尾形 232"/>
          <p:cNvSpPr/>
          <p:nvPr/>
        </p:nvSpPr>
        <p:spPr bwMode="gray">
          <a:xfrm>
            <a:off x="6651302" y="3081967"/>
            <a:ext cx="89193" cy="98112"/>
          </a:xfrm>
          <a:prstGeom prst="chevron">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4" name="燕尾形 233"/>
          <p:cNvSpPr/>
          <p:nvPr/>
        </p:nvSpPr>
        <p:spPr bwMode="gray">
          <a:xfrm>
            <a:off x="8102659" y="3081967"/>
            <a:ext cx="89193" cy="98112"/>
          </a:xfrm>
          <a:prstGeom prst="chevron">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任意多边形 234"/>
          <p:cNvSpPr>
            <a:spLocks noChangeAspect="1"/>
          </p:cNvSpPr>
          <p:nvPr/>
        </p:nvSpPr>
        <p:spPr bwMode="gray">
          <a:xfrm>
            <a:off x="3258395" y="3282444"/>
            <a:ext cx="720000" cy="48141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任意多边形 235"/>
          <p:cNvSpPr>
            <a:spLocks noChangeAspect="1"/>
          </p:cNvSpPr>
          <p:nvPr/>
        </p:nvSpPr>
        <p:spPr bwMode="gray">
          <a:xfrm>
            <a:off x="5519283" y="3282444"/>
            <a:ext cx="720000" cy="48141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任意多边形 236"/>
          <p:cNvSpPr>
            <a:spLocks noChangeAspect="1"/>
          </p:cNvSpPr>
          <p:nvPr/>
        </p:nvSpPr>
        <p:spPr bwMode="gray">
          <a:xfrm>
            <a:off x="7970595" y="3282444"/>
            <a:ext cx="720000" cy="48141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8" name="任意多边形 237"/>
          <p:cNvSpPr>
            <a:spLocks noChangeAspect="1"/>
          </p:cNvSpPr>
          <p:nvPr/>
        </p:nvSpPr>
        <p:spPr bwMode="gray">
          <a:xfrm>
            <a:off x="10214415" y="3282444"/>
            <a:ext cx="720000" cy="48141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9" name="TextBox 303"/>
          <p:cNvSpPr txBox="1"/>
          <p:nvPr/>
        </p:nvSpPr>
        <p:spPr bwMode="gray">
          <a:xfrm>
            <a:off x="9959396" y="1077282"/>
            <a:ext cx="1440000" cy="401321"/>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sz="1400" dirty="0" smtClean="0">
                <a:sym typeface="Huawei Sans" panose="020C0503030203020204" pitchFamily="34" charset="0"/>
              </a:rPr>
              <a:t>无线非经</a:t>
            </a:r>
            <a:endParaRPr lang="en-US" altLang="zh-CN" sz="1400" dirty="0">
              <a:sym typeface="Huawei Sans" panose="020C0503030203020204" pitchFamily="34" charset="0"/>
            </a:endParaRPr>
          </a:p>
        </p:txBody>
      </p:sp>
      <p:sp>
        <p:nvSpPr>
          <p:cNvPr id="242" name="TextBox 3"/>
          <p:cNvSpPr txBox="1">
            <a:spLocks noChangeArrowheads="1"/>
          </p:cNvSpPr>
          <p:nvPr/>
        </p:nvSpPr>
        <p:spPr bwMode="gray">
          <a:xfrm>
            <a:off x="7987189" y="2152649"/>
            <a:ext cx="1107996" cy="276999"/>
          </a:xfrm>
          <a:prstGeom prst="rect">
            <a:avLst/>
          </a:prstGeom>
          <a:noFill/>
          <a:ln w="9525">
            <a:noFill/>
            <a:miter lim="800000"/>
            <a:headEnd/>
            <a:tailEnd/>
          </a:ln>
        </p:spPr>
        <p:txBody>
          <a:bodyPr wrap="none">
            <a:spAutoFit/>
          </a:bodyPr>
          <a:lstStyle/>
          <a:p>
            <a:pPr algn="ctr" defTabSz="1218906" eaLnBrk="0" fontAlgn="ctr" hangingPunct="0">
              <a:buSzPct val="100000"/>
            </a:pPr>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注册查询中心</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3" name="文本框 242"/>
          <p:cNvSpPr txBox="1"/>
          <p:nvPr/>
        </p:nvSpPr>
        <p:spPr bwMode="auto">
          <a:xfrm>
            <a:off x="9651269" y="2109292"/>
            <a:ext cx="1748127" cy="523220"/>
          </a:xfrm>
          <a:prstGeom prst="rect">
            <a:avLst/>
          </a:prstGeom>
          <a:noFill/>
        </p:spPr>
        <p:txBody>
          <a:bodyPr wrap="square" rtlCol="0">
            <a:spAutoFit/>
          </a:bodyPr>
          <a:lstStyle/>
          <a:p>
            <a:pPr algn="ctr"/>
            <a:r>
              <a:rPr lang="zh-CN" altLang="en-US" sz="1400" b="1" dirty="0" smtClean="0">
                <a:solidFill>
                  <a:srgbClr val="30B5C5"/>
                </a:solidFill>
                <a:latin typeface="Microsoft YaHei" panose="020B0503020204020204" pitchFamily="34" charset="-122"/>
                <a:ea typeface="Microsoft YaHei" panose="020B0503020204020204" pitchFamily="34" charset="-122"/>
              </a:rPr>
              <a:t>以</a:t>
            </a:r>
            <a:r>
              <a:rPr lang="en-US" altLang="zh-CN" sz="1400" b="1" dirty="0" err="1">
                <a:solidFill>
                  <a:srgbClr val="30B5C5"/>
                </a:solidFill>
                <a:latin typeface="Microsoft YaHei" panose="020B0503020204020204" pitchFamily="34" charset="-122"/>
                <a:ea typeface="Microsoft YaHei" panose="020B0503020204020204" pitchFamily="34" charset="-122"/>
              </a:rPr>
              <a:t>iMaster</a:t>
            </a:r>
            <a:r>
              <a:rPr lang="en-US" altLang="zh-CN" sz="1400" b="1" dirty="0">
                <a:solidFill>
                  <a:srgbClr val="30B5C5"/>
                </a:solidFill>
                <a:latin typeface="Microsoft YaHei" panose="020B0503020204020204" pitchFamily="34" charset="-122"/>
                <a:ea typeface="Microsoft YaHei" panose="020B0503020204020204" pitchFamily="34" charset="-122"/>
              </a:rPr>
              <a:t> </a:t>
            </a:r>
            <a:r>
              <a:rPr lang="en-US" altLang="zh-CN" sz="1400" b="1" dirty="0" smtClean="0">
                <a:solidFill>
                  <a:srgbClr val="30B5C5"/>
                </a:solidFill>
                <a:latin typeface="Microsoft YaHei" panose="020B0503020204020204" pitchFamily="34" charset="-122"/>
                <a:ea typeface="Microsoft YaHei" panose="020B0503020204020204" pitchFamily="34" charset="-122"/>
              </a:rPr>
              <a:t>NCE</a:t>
            </a:r>
            <a:r>
              <a:rPr lang="zh-CN" altLang="en-US" sz="1400" b="1" dirty="0" smtClean="0">
                <a:solidFill>
                  <a:srgbClr val="30B5C5"/>
                </a:solidFill>
                <a:latin typeface="Microsoft YaHei" panose="020B0503020204020204" pitchFamily="34" charset="-122"/>
                <a:ea typeface="Microsoft YaHei" panose="020B0503020204020204" pitchFamily="34" charset="-122"/>
              </a:rPr>
              <a:t>为核心的云管理平台</a:t>
            </a:r>
          </a:p>
        </p:txBody>
      </p:sp>
      <p:sp>
        <p:nvSpPr>
          <p:cNvPr id="224" name="TextBox 179"/>
          <p:cNvSpPr txBox="1"/>
          <p:nvPr/>
        </p:nvSpPr>
        <p:spPr bwMode="gray">
          <a:xfrm>
            <a:off x="3864332" y="2563912"/>
            <a:ext cx="1229945" cy="221182"/>
          </a:xfrm>
          <a:prstGeom prst="roundRect">
            <a:avLst>
              <a:gd name="adj" fmla="val 49545"/>
            </a:avLst>
          </a:prstGeom>
          <a:solidFill>
            <a:schemeClr val="bg1">
              <a:lumMod val="50000"/>
            </a:schemeClr>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华为公有云部署</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5" name="TextBox 179"/>
          <p:cNvSpPr txBox="1"/>
          <p:nvPr/>
        </p:nvSpPr>
        <p:spPr bwMode="gray">
          <a:xfrm>
            <a:off x="6028750" y="2563912"/>
            <a:ext cx="1229945" cy="221182"/>
          </a:xfrm>
          <a:prstGeom prst="roundRect">
            <a:avLst>
              <a:gd name="adj" fmla="val 49545"/>
            </a:avLst>
          </a:prstGeom>
          <a:solidFill>
            <a:schemeClr val="bg1">
              <a:lumMod val="65000"/>
            </a:schemeClr>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MSP</a:t>
            </a:r>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自建云部署</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6" name="TextBox 179"/>
          <p:cNvSpPr txBox="1"/>
          <p:nvPr/>
        </p:nvSpPr>
        <p:spPr bwMode="gray">
          <a:xfrm>
            <a:off x="8193168" y="2563912"/>
            <a:ext cx="1229945" cy="221182"/>
          </a:xfrm>
          <a:prstGeom prst="roundRect">
            <a:avLst>
              <a:gd name="adj" fmla="val 49545"/>
            </a:avLst>
          </a:prstGeom>
          <a:solidFill>
            <a:schemeClr val="bg1">
              <a:lumMod val="65000"/>
            </a:schemeClr>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本地部署</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0" name="1820117482" descr="网络管理员-蓝.png"/>
          <p:cNvPicPr>
            <a:picLocks noChangeAspect="1"/>
          </p:cNvPicPr>
          <p:nvPr/>
        </p:nvPicPr>
        <p:blipFill>
          <a:blip r:embed="rId15"/>
          <a:stretch>
            <a:fillRect/>
          </a:stretch>
        </p:blipFill>
        <p:spPr bwMode="gray">
          <a:xfrm>
            <a:off x="7661928" y="2134968"/>
            <a:ext cx="374606" cy="306497"/>
          </a:xfrm>
          <a:prstGeom prst="rect">
            <a:avLst/>
          </a:prstGeom>
        </p:spPr>
      </p:pic>
      <p:pic>
        <p:nvPicPr>
          <p:cNvPr id="244" name="图片 243"/>
          <p:cNvPicPr>
            <a:picLocks noChangeAspect="1"/>
          </p:cNvPicPr>
          <p:nvPr/>
        </p:nvPicPr>
        <p:blipFill>
          <a:blip r:embed="rId16">
            <a:extLst>
              <a:ext uri="{28A0092B-C50C-407E-A947-70E740481C1C}">
                <a14:useLocalDpi xmlns:a14="http://schemas.microsoft.com/office/drawing/2010/main" val="0"/>
              </a:ext>
            </a:extLst>
          </a:blip>
          <a:stretch>
            <a:fillRect/>
          </a:stretch>
        </p:blipFill>
        <p:spPr bwMode="gray">
          <a:xfrm>
            <a:off x="3676865" y="2438013"/>
            <a:ext cx="330850" cy="324723"/>
          </a:xfrm>
          <a:prstGeom prst="rect">
            <a:avLst/>
          </a:prstGeom>
        </p:spPr>
      </p:pic>
    </p:spTree>
    <p:extLst>
      <p:ext uri="{BB962C8B-B14F-4D97-AF65-F5344CB8AC3E}">
        <p14:creationId xmlns:p14="http://schemas.microsoft.com/office/powerpoint/2010/main" val="42022743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cs typeface="+mn-ea"/>
                <a:sym typeface="+mn-lt"/>
              </a:rPr>
              <a:t>CloudCampus</a:t>
            </a:r>
            <a:r>
              <a:rPr lang="zh-CN" altLang="en-US" dirty="0" smtClean="0"/>
              <a:t>方案组件 </a:t>
            </a:r>
            <a:r>
              <a:rPr lang="en-US" altLang="zh-CN" dirty="0" smtClean="0"/>
              <a:t>(</a:t>
            </a:r>
            <a:r>
              <a:rPr lang="zh-CN" altLang="en-US" dirty="0">
                <a:cs typeface="+mn-ea"/>
                <a:sym typeface="+mn-lt"/>
              </a:rPr>
              <a:t>中小型云管理</a:t>
            </a:r>
            <a:r>
              <a:rPr lang="zh-CN" altLang="en-US" dirty="0" smtClean="0">
                <a:cs typeface="+mn-ea"/>
                <a:sym typeface="+mn-lt"/>
              </a:rPr>
              <a:t>园区网络场景</a:t>
            </a:r>
            <a:r>
              <a:rPr lang="en-US" altLang="zh-CN" dirty="0" smtClean="0"/>
              <a:t>)</a:t>
            </a:r>
            <a:endParaRPr lang="zh-CN" altLang="en-US" dirty="0"/>
          </a:p>
        </p:txBody>
      </p:sp>
      <p:sp>
        <p:nvSpPr>
          <p:cNvPr id="3" name="Rounded Rectangle 27"/>
          <p:cNvSpPr/>
          <p:nvPr/>
        </p:nvSpPr>
        <p:spPr bwMode="gray">
          <a:xfrm>
            <a:off x="1123894" y="3650331"/>
            <a:ext cx="9911755" cy="1134543"/>
          </a:xfrm>
          <a:prstGeom prst="roundRect">
            <a:avLst>
              <a:gd name="adj" fmla="val 2446"/>
            </a:avLst>
          </a:prstGeom>
          <a:gradFill flip="none" rotWithShape="1">
            <a:gsLst>
              <a:gs pos="100000">
                <a:sysClr val="window" lastClr="FFFFFF"/>
              </a:gs>
              <a:gs pos="1000">
                <a:srgbClr val="ECF9FA"/>
              </a:gs>
            </a:gsLst>
            <a:lin ang="0" scaled="1"/>
          </a:gradFill>
          <a:ln w="9525" cap="flat" cmpd="sng" algn="ctr">
            <a:gradFill flip="none" rotWithShape="1">
              <a:gsLst>
                <a:gs pos="32000">
                  <a:srgbClr val="56C4D2"/>
                </a:gs>
                <a:gs pos="100000">
                  <a:sysClr val="window" lastClr="FFFFFF">
                    <a:alpha val="0"/>
                  </a:sysClr>
                </a:gs>
              </a:gsLst>
              <a:lin ang="0" scaled="1"/>
            </a:gradFill>
            <a:prstDash val="solid"/>
            <a:miter lim="800000"/>
          </a:ln>
          <a:effectLst/>
        </p:spPr>
        <p:txBody>
          <a:bodyPr lIns="287916" tIns="45705" rIns="91413" bIns="45705" rtlCol="0" anchor="ctr"/>
          <a:lstStyle/>
          <a:p>
            <a:pPr defTabSz="914400"/>
            <a:endParaRPr lang="zh-CN" altLang="en-US" sz="2800" kern="0" dirty="0">
              <a:solidFill>
                <a:srgbClr val="007FAC"/>
              </a:solidFill>
              <a:cs typeface="Huawei Sans" panose="020C0503030203020204" pitchFamily="34" charset="0"/>
              <a:sym typeface="Huawei Sans" panose="020C0503030203020204" pitchFamily="34" charset="0"/>
            </a:endParaRPr>
          </a:p>
        </p:txBody>
      </p:sp>
      <p:sp>
        <p:nvSpPr>
          <p:cNvPr id="4" name="Rounded Rectangle 27"/>
          <p:cNvSpPr/>
          <p:nvPr/>
        </p:nvSpPr>
        <p:spPr bwMode="gray">
          <a:xfrm>
            <a:off x="1123894" y="4856330"/>
            <a:ext cx="9911755" cy="1134543"/>
          </a:xfrm>
          <a:prstGeom prst="roundRect">
            <a:avLst>
              <a:gd name="adj" fmla="val 2446"/>
            </a:avLst>
          </a:prstGeom>
          <a:gradFill flip="none" rotWithShape="1">
            <a:gsLst>
              <a:gs pos="100000">
                <a:sysClr val="window" lastClr="FFFFFF"/>
              </a:gs>
              <a:gs pos="1000">
                <a:srgbClr val="ECF9FA"/>
              </a:gs>
            </a:gsLst>
            <a:lin ang="0" scaled="1"/>
          </a:gradFill>
          <a:ln w="9525" cap="flat" cmpd="sng" algn="ctr">
            <a:gradFill flip="none" rotWithShape="1">
              <a:gsLst>
                <a:gs pos="32000">
                  <a:srgbClr val="56C4D2"/>
                </a:gs>
                <a:gs pos="100000">
                  <a:sysClr val="window" lastClr="FFFFFF">
                    <a:alpha val="0"/>
                  </a:sysClr>
                </a:gs>
              </a:gsLst>
              <a:lin ang="0" scaled="1"/>
            </a:gradFill>
            <a:prstDash val="solid"/>
            <a:miter lim="800000"/>
          </a:ln>
          <a:effectLst/>
        </p:spPr>
        <p:txBody>
          <a:bodyPr lIns="287916" tIns="45705" rIns="91413" bIns="45705" rtlCol="0" anchor="ctr"/>
          <a:lstStyle/>
          <a:p>
            <a:pPr defTabSz="914400"/>
            <a:endParaRPr lang="zh-CN" altLang="en-US" sz="2800" kern="0" dirty="0">
              <a:solidFill>
                <a:srgbClr val="007FAC"/>
              </a:solidFill>
              <a:cs typeface="Huawei Sans" panose="020C0503030203020204" pitchFamily="34" charset="0"/>
              <a:sym typeface="Huawei Sans" panose="020C0503030203020204" pitchFamily="34" charset="0"/>
            </a:endParaRPr>
          </a:p>
        </p:txBody>
      </p:sp>
      <p:sp>
        <p:nvSpPr>
          <p:cNvPr id="5" name="Rounded Rectangle 27"/>
          <p:cNvSpPr/>
          <p:nvPr/>
        </p:nvSpPr>
        <p:spPr bwMode="gray">
          <a:xfrm>
            <a:off x="1123894" y="2416265"/>
            <a:ext cx="9911755" cy="1134543"/>
          </a:xfrm>
          <a:prstGeom prst="roundRect">
            <a:avLst>
              <a:gd name="adj" fmla="val 2446"/>
            </a:avLst>
          </a:prstGeom>
          <a:gradFill flip="none" rotWithShape="1">
            <a:gsLst>
              <a:gs pos="100000">
                <a:sysClr val="window" lastClr="FFFFFF"/>
              </a:gs>
              <a:gs pos="1000">
                <a:srgbClr val="ECF9FA"/>
              </a:gs>
            </a:gsLst>
            <a:lin ang="0" scaled="1"/>
          </a:gradFill>
          <a:ln w="9525" cap="flat" cmpd="sng" algn="ctr">
            <a:gradFill flip="none" rotWithShape="1">
              <a:gsLst>
                <a:gs pos="32000">
                  <a:srgbClr val="56C4D2"/>
                </a:gs>
                <a:gs pos="100000">
                  <a:sysClr val="window" lastClr="FFFFFF">
                    <a:alpha val="0"/>
                  </a:sysClr>
                </a:gs>
              </a:gsLst>
              <a:lin ang="0" scaled="1"/>
            </a:gradFill>
            <a:prstDash val="solid"/>
            <a:miter lim="800000"/>
          </a:ln>
          <a:effectLst/>
        </p:spPr>
        <p:txBody>
          <a:bodyPr lIns="287916" tIns="45705" rIns="91413" bIns="45705" rtlCol="0" anchor="ctr"/>
          <a:lstStyle/>
          <a:p>
            <a:pPr defTabSz="914400"/>
            <a:endParaRPr lang="zh-CN" altLang="en-US" sz="2800" kern="0" dirty="0">
              <a:solidFill>
                <a:srgbClr val="007FAC"/>
              </a:solidFill>
              <a:cs typeface="Huawei Sans" panose="020C0503030203020204" pitchFamily="34" charset="0"/>
              <a:sym typeface="Huawei Sans" panose="020C0503030203020204" pitchFamily="34" charset="0"/>
            </a:endParaRPr>
          </a:p>
        </p:txBody>
      </p:sp>
      <p:sp>
        <p:nvSpPr>
          <p:cNvPr id="6" name="Rounded Rectangle 27"/>
          <p:cNvSpPr/>
          <p:nvPr/>
        </p:nvSpPr>
        <p:spPr bwMode="gray">
          <a:xfrm>
            <a:off x="1123894" y="1182325"/>
            <a:ext cx="9911755" cy="1134543"/>
          </a:xfrm>
          <a:prstGeom prst="roundRect">
            <a:avLst>
              <a:gd name="adj" fmla="val 2446"/>
            </a:avLst>
          </a:prstGeom>
          <a:gradFill flip="none" rotWithShape="1">
            <a:gsLst>
              <a:gs pos="100000">
                <a:sysClr val="window" lastClr="FFFFFF"/>
              </a:gs>
              <a:gs pos="1000">
                <a:srgbClr val="ECF9FA"/>
              </a:gs>
            </a:gsLst>
            <a:lin ang="0" scaled="1"/>
          </a:gradFill>
          <a:ln w="9525" cap="flat" cmpd="sng" algn="ctr">
            <a:gradFill flip="none" rotWithShape="1">
              <a:gsLst>
                <a:gs pos="32000">
                  <a:srgbClr val="56C4D2"/>
                </a:gs>
                <a:gs pos="100000">
                  <a:sysClr val="window" lastClr="FFFFFF">
                    <a:alpha val="0"/>
                  </a:sysClr>
                </a:gs>
              </a:gsLst>
              <a:lin ang="0" scaled="1"/>
            </a:gradFill>
            <a:prstDash val="solid"/>
            <a:miter lim="800000"/>
          </a:ln>
          <a:effectLst/>
        </p:spPr>
        <p:txBody>
          <a:bodyPr lIns="287916" tIns="45705" rIns="91413" bIns="45705"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dirty="0" smtClean="0">
              <a:ln>
                <a:noFill/>
              </a:ln>
              <a:solidFill>
                <a:srgbClr val="007FAC"/>
              </a:solidFill>
              <a:effectLst/>
              <a:uLnTx/>
              <a:uFillTx/>
              <a:cs typeface="Huawei Sans" panose="020C0503030203020204" pitchFamily="34" charset="0"/>
              <a:sym typeface="Huawei Sans" panose="020C0503030203020204" pitchFamily="34" charset="0"/>
            </a:endParaRPr>
          </a:p>
        </p:txBody>
      </p:sp>
      <p:pic>
        <p:nvPicPr>
          <p:cNvPr id="7" name="2095056840" descr="AP.png"/>
          <p:cNvPicPr>
            <a:picLocks noChangeAspect="1"/>
          </p:cNvPicPr>
          <p:nvPr/>
        </p:nvPicPr>
        <p:blipFill>
          <a:blip r:embed="rId3"/>
          <a:stretch>
            <a:fillRect/>
          </a:stretch>
        </p:blipFill>
        <p:spPr bwMode="gray">
          <a:xfrm>
            <a:off x="6548377" y="5144282"/>
            <a:ext cx="432000" cy="353460"/>
          </a:xfrm>
          <a:prstGeom prst="rect">
            <a:avLst/>
          </a:prstGeom>
        </p:spPr>
      </p:pic>
      <p:pic>
        <p:nvPicPr>
          <p:cNvPr id="8" name="101194486" descr="接入交换机.png"/>
          <p:cNvPicPr>
            <a:picLocks noChangeAspect="1"/>
          </p:cNvPicPr>
          <p:nvPr/>
        </p:nvPicPr>
        <p:blipFill>
          <a:blip r:embed="rId4"/>
          <a:stretch>
            <a:fillRect/>
          </a:stretch>
        </p:blipFill>
        <p:spPr bwMode="gray">
          <a:xfrm>
            <a:off x="5615498" y="5144282"/>
            <a:ext cx="432000" cy="353460"/>
          </a:xfrm>
          <a:prstGeom prst="rect">
            <a:avLst/>
          </a:prstGeom>
        </p:spPr>
      </p:pic>
      <p:pic>
        <p:nvPicPr>
          <p:cNvPr id="9" name="912856290"/>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3805739" y="5152609"/>
            <a:ext cx="432000" cy="353460"/>
          </a:xfrm>
          <a:prstGeom prst="rect">
            <a:avLst/>
          </a:prstGeom>
        </p:spPr>
      </p:pic>
      <p:pic>
        <p:nvPicPr>
          <p:cNvPr id="10" name="1389421103" descr="G:\做的项目\公共\扁平图标切换\更新2015_01_21\oss扁平图标库2015_01_21更新-04.png"/>
          <p:cNvPicPr>
            <a:picLocks noChangeAspect="1" noChangeArrowheads="1"/>
          </p:cNvPicPr>
          <p:nvPr/>
        </p:nvPicPr>
        <p:blipFill>
          <a:blip r:embed="rId6"/>
          <a:stretch>
            <a:fillRect/>
          </a:stretch>
        </p:blipFill>
        <p:spPr bwMode="gray">
          <a:xfrm>
            <a:off x="4684641" y="5152609"/>
            <a:ext cx="432000" cy="353452"/>
          </a:xfrm>
          <a:prstGeom prst="rect">
            <a:avLst/>
          </a:prstGeom>
          <a:noFill/>
        </p:spPr>
      </p:pic>
      <p:pic>
        <p:nvPicPr>
          <p:cNvPr id="11" name="190832677" descr="RRU蓝.png"/>
          <p:cNvPicPr>
            <a:picLocks noChangeAspect="1"/>
          </p:cNvPicPr>
          <p:nvPr/>
        </p:nvPicPr>
        <p:blipFill>
          <a:blip r:embed="rId7"/>
          <a:stretch>
            <a:fillRect/>
          </a:stretch>
        </p:blipFill>
        <p:spPr bwMode="gray">
          <a:xfrm>
            <a:off x="9340930" y="5169344"/>
            <a:ext cx="432000" cy="353456"/>
          </a:xfrm>
          <a:prstGeom prst="rect">
            <a:avLst/>
          </a:prstGeom>
        </p:spPr>
      </p:pic>
      <p:pic>
        <p:nvPicPr>
          <p:cNvPr id="12" name="1398571480" descr="中心AP.png"/>
          <p:cNvPicPr>
            <a:picLocks noChangeAspect="1"/>
          </p:cNvPicPr>
          <p:nvPr/>
        </p:nvPicPr>
        <p:blipFill>
          <a:blip r:embed="rId8"/>
          <a:stretch>
            <a:fillRect/>
          </a:stretch>
        </p:blipFill>
        <p:spPr bwMode="gray">
          <a:xfrm>
            <a:off x="8388415" y="5152611"/>
            <a:ext cx="432000" cy="367104"/>
          </a:xfrm>
          <a:prstGeom prst="rect">
            <a:avLst/>
          </a:prstGeom>
        </p:spPr>
      </p:pic>
      <p:sp>
        <p:nvSpPr>
          <p:cNvPr id="13" name="1959192430"/>
          <p:cNvSpPr txBox="1"/>
          <p:nvPr/>
        </p:nvSpPr>
        <p:spPr bwMode="gray">
          <a:xfrm>
            <a:off x="1140204" y="5212557"/>
            <a:ext cx="2270094" cy="584775"/>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eaLnBrk="0" fontAlgn="ctr" hangingPunct="0"/>
            <a:r>
              <a:rPr lang="zh-CN" altLang="en-US" sz="1600" dirty="0" smtClean="0">
                <a:solidFill>
                  <a:srgbClr val="30B5C5"/>
                </a:solidFill>
                <a:latin typeface="+mn-lt"/>
                <a:ea typeface="+mn-ea"/>
                <a:cs typeface="Huawei Sans" panose="020C0503030203020204" pitchFamily="34" charset="0"/>
                <a:sym typeface="Huawei Sans" panose="020C0503030203020204" pitchFamily="34" charset="0"/>
              </a:rPr>
              <a:t>云管理设备</a:t>
            </a:r>
            <a:r>
              <a:rPr lang="en-US" altLang="zh-CN" sz="1600" dirty="0" smtClean="0">
                <a:solidFill>
                  <a:srgbClr val="30B5C5"/>
                </a:solidFill>
                <a:latin typeface="+mn-lt"/>
                <a:ea typeface="+mn-ea"/>
                <a:cs typeface="Huawei Sans" panose="020C0503030203020204" pitchFamily="34" charset="0"/>
                <a:sym typeface="Huawei Sans" panose="020C0503030203020204" pitchFamily="34" charset="0"/>
              </a:rPr>
              <a:t>和</a:t>
            </a:r>
          </a:p>
          <a:p>
            <a:pPr eaLnBrk="0" fontAlgn="ctr" hangingPunct="0"/>
            <a:r>
              <a:rPr lang="en-US" altLang="zh-CN" sz="1600" dirty="0" err="1" smtClean="0">
                <a:solidFill>
                  <a:srgbClr val="30B5C5"/>
                </a:solidFill>
                <a:latin typeface="+mn-lt"/>
                <a:ea typeface="+mn-ea"/>
                <a:cs typeface="Huawei Sans" panose="020C0503030203020204" pitchFamily="34" charset="0"/>
                <a:sym typeface="Huawei Sans" panose="020C0503030203020204" pitchFamily="34" charset="0"/>
              </a:rPr>
              <a:t>远程运维APP</a:t>
            </a:r>
            <a:endParaRPr lang="en-US" altLang="zh-CN" sz="1600" dirty="0">
              <a:solidFill>
                <a:srgbClr val="30B5C5"/>
              </a:solidFill>
              <a:latin typeface="+mn-lt"/>
              <a:ea typeface="+mn-ea"/>
              <a:cs typeface="Huawei Sans" panose="020C0503030203020204" pitchFamily="34" charset="0"/>
              <a:sym typeface="Huawei Sans" panose="020C0503030203020204" pitchFamily="34" charset="0"/>
            </a:endParaRPr>
          </a:p>
        </p:txBody>
      </p:sp>
      <p:sp>
        <p:nvSpPr>
          <p:cNvPr id="14" name="438571627"/>
          <p:cNvSpPr txBox="1"/>
          <p:nvPr/>
        </p:nvSpPr>
        <p:spPr bwMode="gray">
          <a:xfrm>
            <a:off x="1140203" y="4107446"/>
            <a:ext cx="2176167" cy="338554"/>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fontAlgn="ctr"/>
            <a:r>
              <a:rPr lang="en-US" altLang="zh-CN" sz="1600" dirty="0" err="1" smtClean="0">
                <a:solidFill>
                  <a:srgbClr val="30B5C5"/>
                </a:solidFill>
                <a:latin typeface="+mn-lt"/>
                <a:ea typeface="+mn-ea"/>
                <a:cs typeface="Huawei Sans" panose="020C0503030203020204" pitchFamily="34" charset="0"/>
                <a:sym typeface="Huawei Sans" panose="020C0503030203020204" pitchFamily="34" charset="0"/>
              </a:rPr>
              <a:t>部署环境</a:t>
            </a:r>
            <a:endParaRPr lang="en-US" altLang="zh-CN" sz="1600" dirty="0">
              <a:solidFill>
                <a:srgbClr val="30B5C5"/>
              </a:solidFill>
              <a:latin typeface="+mn-lt"/>
              <a:ea typeface="+mn-ea"/>
              <a:cs typeface="Huawei Sans" panose="020C0503030203020204" pitchFamily="34" charset="0"/>
              <a:sym typeface="Huawei Sans" panose="020C0503030203020204" pitchFamily="34" charset="0"/>
            </a:endParaRPr>
          </a:p>
        </p:txBody>
      </p:sp>
      <p:sp>
        <p:nvSpPr>
          <p:cNvPr id="15" name="1391376183"/>
          <p:cNvSpPr txBox="1"/>
          <p:nvPr/>
        </p:nvSpPr>
        <p:spPr bwMode="gray">
          <a:xfrm>
            <a:off x="1140203" y="2880252"/>
            <a:ext cx="2444136" cy="338554"/>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eaLnBrk="0" fontAlgn="ctr" hangingPunct="0"/>
            <a:r>
              <a:rPr lang="en-US" altLang="zh-CN" sz="1600" dirty="0" err="1" smtClean="0">
                <a:solidFill>
                  <a:srgbClr val="30B5C5"/>
                </a:solidFill>
                <a:latin typeface="+mn-lt"/>
                <a:ea typeface="+mn-ea"/>
                <a:cs typeface="Huawei Sans" panose="020C0503030203020204" pitchFamily="34" charset="0"/>
                <a:sym typeface="Huawei Sans" panose="020C0503030203020204" pitchFamily="34" charset="0"/>
              </a:rPr>
              <a:t>云管理平台</a:t>
            </a:r>
            <a:endParaRPr lang="en-US" altLang="zh-CN" sz="1600" dirty="0">
              <a:solidFill>
                <a:srgbClr val="30B5C5"/>
              </a:solidFill>
              <a:latin typeface="+mn-lt"/>
              <a:ea typeface="+mn-ea"/>
              <a:cs typeface="Huawei Sans" panose="020C0503030203020204" pitchFamily="34" charset="0"/>
              <a:sym typeface="Huawei Sans" panose="020C0503030203020204" pitchFamily="34" charset="0"/>
            </a:endParaRPr>
          </a:p>
        </p:txBody>
      </p:sp>
      <p:sp>
        <p:nvSpPr>
          <p:cNvPr id="16" name="697937219"/>
          <p:cNvSpPr txBox="1"/>
          <p:nvPr/>
        </p:nvSpPr>
        <p:spPr bwMode="gray">
          <a:xfrm>
            <a:off x="1140203" y="1576222"/>
            <a:ext cx="2047799" cy="338554"/>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eaLnBrk="0" fontAlgn="ctr" hangingPunct="0"/>
            <a:r>
              <a:rPr lang="en-US" altLang="zh-CN" sz="1600" dirty="0" err="1" smtClean="0">
                <a:solidFill>
                  <a:srgbClr val="30B5C5"/>
                </a:solidFill>
                <a:latin typeface="+mn-lt"/>
                <a:ea typeface="+mn-ea"/>
                <a:cs typeface="Huawei Sans" panose="020C0503030203020204" pitchFamily="34" charset="0"/>
                <a:sym typeface="Huawei Sans" panose="020C0503030203020204" pitchFamily="34" charset="0"/>
              </a:rPr>
              <a:t>华为支撑系统</a:t>
            </a:r>
            <a:endParaRPr lang="en-US" altLang="zh-CN" sz="1600" dirty="0">
              <a:solidFill>
                <a:srgbClr val="30B5C5"/>
              </a:solidFill>
              <a:latin typeface="+mn-lt"/>
              <a:ea typeface="+mn-ea"/>
              <a:cs typeface="Huawei Sans" panose="020C0503030203020204" pitchFamily="34" charset="0"/>
              <a:sym typeface="Huawei Sans" panose="020C0503030203020204" pitchFamily="34" charset="0"/>
            </a:endParaRPr>
          </a:p>
        </p:txBody>
      </p:sp>
      <p:sp>
        <p:nvSpPr>
          <p:cNvPr id="17" name="134309768"/>
          <p:cNvSpPr txBox="1"/>
          <p:nvPr/>
        </p:nvSpPr>
        <p:spPr bwMode="gray">
          <a:xfrm>
            <a:off x="3590865" y="1748055"/>
            <a:ext cx="1128359" cy="523220"/>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fontAlgn="ctr"/>
            <a:r>
              <a:rPr lang="en-US" altLang="zh-CN" sz="1400" dirty="0" err="1" smtClean="0">
                <a:solidFill>
                  <a:prstClr val="black"/>
                </a:solidFill>
                <a:latin typeface="+mn-lt"/>
                <a:ea typeface="+mn-ea"/>
                <a:cs typeface="Huawei Sans" panose="020C0503030203020204" pitchFamily="34" charset="0"/>
                <a:sym typeface="Huawei Sans" panose="020C0503030203020204" pitchFamily="34" charset="0"/>
              </a:rPr>
              <a:t>ESDP平台</a:t>
            </a:r>
            <a:endParaRPr lang="en-US" altLang="zh-CN" sz="1400" dirty="0">
              <a:solidFill>
                <a:prstClr val="black"/>
              </a:solidFill>
              <a:latin typeface="+mn-lt"/>
              <a:ea typeface="+mn-ea"/>
              <a:cs typeface="Huawei Sans" panose="020C0503030203020204" pitchFamily="34" charset="0"/>
              <a:sym typeface="Huawei Sans" panose="020C0503030203020204" pitchFamily="34" charset="0"/>
            </a:endParaRPr>
          </a:p>
          <a:p>
            <a:pPr algn="ctr" fontAlgn="ct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（License）</a:t>
            </a:r>
            <a:endParaRPr lang="en-US" altLang="zh-CN"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18" name="840461949"/>
          <p:cNvSpPr txBox="1"/>
          <p:nvPr/>
        </p:nvSpPr>
        <p:spPr bwMode="gray">
          <a:xfrm>
            <a:off x="6615693" y="1745077"/>
            <a:ext cx="2140866" cy="523220"/>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eaLnBrk="0" fontAlgn="ctr" hangingPunct="0">
              <a:defRPr/>
            </a:pPr>
            <a:r>
              <a:rPr lang="en-US" altLang="zh-CN" sz="1400" dirty="0" err="1" smtClean="0">
                <a:solidFill>
                  <a:prstClr val="black"/>
                </a:solidFill>
                <a:latin typeface="+mn-lt"/>
                <a:ea typeface="+mn-ea"/>
                <a:cs typeface="Huawei Sans" panose="020C0503030203020204" pitchFamily="34" charset="0"/>
                <a:sym typeface="Huawei Sans" panose="020C0503030203020204" pitchFamily="34" charset="0"/>
              </a:rPr>
              <a:t>华为Support网站</a:t>
            </a:r>
            <a:endParaRPr lang="en-US" altLang="zh-CN" sz="1400" dirty="0" smtClean="0">
              <a:solidFill>
                <a:prstClr val="black"/>
              </a:solidFill>
              <a:latin typeface="+mn-lt"/>
              <a:ea typeface="+mn-ea"/>
              <a:cs typeface="Huawei Sans" panose="020C0503030203020204" pitchFamily="34" charset="0"/>
              <a:sym typeface="Huawei Sans" panose="020C0503030203020204" pitchFamily="34" charset="0"/>
            </a:endParaRPr>
          </a:p>
          <a:p>
            <a:pPr algn="ctr" eaLnBrk="0" fontAlgn="ctr" hangingPunct="0">
              <a:defRPr/>
            </a:pP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a:t>
            </a:r>
            <a:r>
              <a:rPr lang="en-US" altLang="zh-CN" sz="1400" dirty="0" err="1" smtClean="0">
                <a:solidFill>
                  <a:prstClr val="black"/>
                </a:solidFill>
                <a:latin typeface="+mn-lt"/>
                <a:ea typeface="+mn-ea"/>
                <a:cs typeface="Huawei Sans" panose="020C0503030203020204" pitchFamily="34" charset="0"/>
                <a:sym typeface="Huawei Sans" panose="020C0503030203020204" pitchFamily="34" charset="0"/>
              </a:rPr>
              <a:t>软件版本&amp;补丁</a:t>
            </a: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a:t>
            </a:r>
            <a:endParaRPr lang="en-US" altLang="zh-CN"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19" name="1020021917"/>
          <p:cNvSpPr txBox="1"/>
          <p:nvPr/>
        </p:nvSpPr>
        <p:spPr bwMode="gray">
          <a:xfrm>
            <a:off x="5123414" y="1745078"/>
            <a:ext cx="1441600" cy="523220"/>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fontAlgn="ctr"/>
            <a:r>
              <a:rPr lang="en-US" altLang="zh-CN" sz="1400" dirty="0" err="1" smtClean="0">
                <a:solidFill>
                  <a:prstClr val="black"/>
                </a:solidFill>
                <a:latin typeface="+mn-lt"/>
                <a:ea typeface="+mn-ea"/>
                <a:cs typeface="Huawei Sans" panose="020C0503030203020204" pitchFamily="34" charset="0"/>
                <a:sym typeface="Huawei Sans" panose="020C0503030203020204" pitchFamily="34" charset="0"/>
              </a:rPr>
              <a:t>PKI平台</a:t>
            </a:r>
            <a:endParaRPr lang="en-US" altLang="zh-CN" sz="1400" dirty="0">
              <a:solidFill>
                <a:prstClr val="black"/>
              </a:solidFill>
              <a:latin typeface="+mn-lt"/>
              <a:ea typeface="+mn-ea"/>
              <a:cs typeface="Huawei Sans" panose="020C0503030203020204" pitchFamily="34" charset="0"/>
              <a:sym typeface="Huawei Sans" panose="020C0503030203020204" pitchFamily="34" charset="0"/>
            </a:endParaRPr>
          </a:p>
          <a:p>
            <a:pPr algn="ctr" fontAlgn="ct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a:t>
            </a:r>
            <a:r>
              <a:rPr lang="en-US" altLang="zh-CN" sz="1400" dirty="0" err="1" smtClean="0">
                <a:solidFill>
                  <a:prstClr val="black"/>
                </a:solidFill>
                <a:latin typeface="+mn-lt"/>
                <a:ea typeface="+mn-ea"/>
                <a:cs typeface="Huawei Sans" panose="020C0503030203020204" pitchFamily="34" charset="0"/>
                <a:sym typeface="Huawei Sans" panose="020C0503030203020204" pitchFamily="34" charset="0"/>
              </a:rPr>
              <a:t>设备证书</a:t>
            </a: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a:t>
            </a:r>
            <a:endParaRPr lang="en-US" altLang="zh-CN" sz="1400" dirty="0">
              <a:solidFill>
                <a:prstClr val="black"/>
              </a:solidFill>
              <a:latin typeface="+mn-lt"/>
              <a:ea typeface="+mn-ea"/>
              <a:cs typeface="Huawei Sans" panose="020C0503030203020204" pitchFamily="34" charset="0"/>
              <a:sym typeface="Huawei Sans" panose="020C0503030203020204" pitchFamily="34" charset="0"/>
            </a:endParaRPr>
          </a:p>
        </p:txBody>
      </p:sp>
      <p:pic>
        <p:nvPicPr>
          <p:cNvPr id="20" name="1722557" descr="交换机.png"/>
          <p:cNvPicPr>
            <a:picLocks noChangeAspect="1"/>
          </p:cNvPicPr>
          <p:nvPr/>
        </p:nvPicPr>
        <p:blipFill>
          <a:blip r:embed="rId9"/>
          <a:stretch>
            <a:fillRect/>
          </a:stretch>
        </p:blipFill>
        <p:spPr bwMode="gray">
          <a:xfrm>
            <a:off x="5628214" y="1392125"/>
            <a:ext cx="432000" cy="353456"/>
          </a:xfrm>
          <a:prstGeom prst="rect">
            <a:avLst/>
          </a:prstGeom>
        </p:spPr>
      </p:pic>
      <p:pic>
        <p:nvPicPr>
          <p:cNvPr id="21" name="76107944" descr="交换机.png"/>
          <p:cNvPicPr>
            <a:picLocks noGrp="1" noChangeAspect="1"/>
          </p:cNvPicPr>
          <p:nvPr/>
        </p:nvPicPr>
        <p:blipFill>
          <a:blip r:embed="rId10"/>
          <a:stretch>
            <a:fillRect/>
          </a:stretch>
        </p:blipFill>
        <p:spPr bwMode="gray">
          <a:xfrm>
            <a:off x="3939044" y="1392831"/>
            <a:ext cx="432000" cy="352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302460200" descr="交换机.png"/>
          <p:cNvPicPr>
            <a:picLocks/>
          </p:cNvPicPr>
          <p:nvPr/>
        </p:nvPicPr>
        <p:blipFill>
          <a:blip r:embed="rId10"/>
          <a:stretch>
            <a:fillRect/>
          </a:stretch>
        </p:blipFill>
        <p:spPr bwMode="gray">
          <a:xfrm>
            <a:off x="7470126" y="1392831"/>
            <a:ext cx="432000" cy="352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1205916219"/>
          <p:cNvSpPr txBox="1"/>
          <p:nvPr/>
        </p:nvSpPr>
        <p:spPr bwMode="gray">
          <a:xfrm>
            <a:off x="8733549" y="1724066"/>
            <a:ext cx="1500309" cy="523220"/>
          </a:xfrm>
          <a:prstGeom prst="rect">
            <a:avLst/>
          </a:prstGeom>
        </p:spPr>
        <p:txBody>
          <a:bodyPr wrap="square"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fontAlgn="ctr"/>
            <a:r>
              <a:rPr lang="en-US" altLang="zh-CN" sz="1400" dirty="0">
                <a:latin typeface="+mn-lt"/>
                <a:ea typeface="+mn-ea"/>
              </a:rPr>
              <a:t>ServiceTurbo-Cloud</a:t>
            </a:r>
            <a:endParaRPr lang="en-US" altLang="zh-CN" sz="1400" dirty="0">
              <a:solidFill>
                <a:prstClr val="black"/>
              </a:solidFill>
              <a:latin typeface="+mn-lt"/>
              <a:ea typeface="+mn-ea"/>
              <a:cs typeface="Huawei Sans" panose="020C0503030203020204" pitchFamily="34" charset="0"/>
              <a:sym typeface="Huawei Sans" panose="020C0503030203020204" pitchFamily="34" charset="0"/>
            </a:endParaRPr>
          </a:p>
        </p:txBody>
      </p:sp>
      <p:pic>
        <p:nvPicPr>
          <p:cNvPr id="25" name="1277918054" descr="SAN网络-蓝.png"/>
          <p:cNvPicPr>
            <a:picLocks noChangeAspect="1"/>
          </p:cNvPicPr>
          <p:nvPr/>
        </p:nvPicPr>
        <p:blipFill>
          <a:blip r:embed="rId11"/>
          <a:stretch>
            <a:fillRect/>
          </a:stretch>
        </p:blipFill>
        <p:spPr bwMode="gray">
          <a:xfrm>
            <a:off x="10267622" y="5066808"/>
            <a:ext cx="285514" cy="469098"/>
          </a:xfrm>
          <a:prstGeom prst="rect">
            <a:avLst/>
          </a:prstGeom>
        </p:spPr>
      </p:pic>
      <p:sp>
        <p:nvSpPr>
          <p:cNvPr id="26" name="480928905"/>
          <p:cNvSpPr txBox="1"/>
          <p:nvPr/>
        </p:nvSpPr>
        <p:spPr bwMode="gray">
          <a:xfrm>
            <a:off x="10115254" y="5513412"/>
            <a:ext cx="530775"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fontAlgn="ctr"/>
            <a:r>
              <a:rPr lang="en-US" altLang="zh-CN" sz="1400" dirty="0" smtClean="0">
                <a:solidFill>
                  <a:srgbClr val="000000"/>
                </a:solidFill>
                <a:latin typeface="+mn-lt"/>
                <a:ea typeface="+mn-ea"/>
                <a:cs typeface="Huawei Sans" panose="020C0503030203020204" pitchFamily="34" charset="0"/>
                <a:sym typeface="Huawei Sans" panose="020C0503030203020204" pitchFamily="34" charset="0"/>
              </a:rPr>
              <a:t>APP</a:t>
            </a:r>
            <a:endParaRPr lang="en-US" altLang="zh-CN" sz="1400" dirty="0">
              <a:solidFill>
                <a:srgbClr val="000000"/>
              </a:solidFill>
              <a:latin typeface="+mn-lt"/>
              <a:ea typeface="+mn-ea"/>
              <a:cs typeface="Huawei Sans" panose="020C0503030203020204" pitchFamily="34" charset="0"/>
              <a:sym typeface="Huawei Sans" panose="020C0503030203020204" pitchFamily="34" charset="0"/>
            </a:endParaRPr>
          </a:p>
        </p:txBody>
      </p:sp>
      <p:sp>
        <p:nvSpPr>
          <p:cNvPr id="27" name="411453487"/>
          <p:cNvSpPr txBox="1"/>
          <p:nvPr/>
        </p:nvSpPr>
        <p:spPr bwMode="gray">
          <a:xfrm>
            <a:off x="3697241" y="5514614"/>
            <a:ext cx="805927"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fontAlgn="ctr"/>
            <a:r>
              <a:rPr lang="zh-CN" altLang="en-US" sz="1400" dirty="0">
                <a:solidFill>
                  <a:prstClr val="black"/>
                </a:solidFill>
                <a:latin typeface="+mn-lt"/>
                <a:ea typeface="+mn-ea"/>
                <a:cs typeface="Huawei Sans" panose="020C0503030203020204" pitchFamily="34" charset="0"/>
                <a:sym typeface="Huawei Sans" panose="020C0503030203020204" pitchFamily="34" charset="0"/>
              </a:rPr>
              <a:t>防火墙</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28" name="746724282"/>
          <p:cNvSpPr txBox="1"/>
          <p:nvPr/>
        </p:nvSpPr>
        <p:spPr bwMode="gray">
          <a:xfrm>
            <a:off x="4709547" y="5513412"/>
            <a:ext cx="407094"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fontAlgn="ct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AR</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29" name="447576467"/>
          <p:cNvSpPr txBox="1"/>
          <p:nvPr/>
        </p:nvSpPr>
        <p:spPr bwMode="gray">
          <a:xfrm>
            <a:off x="5522360" y="5514614"/>
            <a:ext cx="731641"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fontAlgn="ctr"/>
            <a:r>
              <a:rPr lang="zh-CN" altLang="en-US" sz="1400" dirty="0">
                <a:solidFill>
                  <a:prstClr val="black"/>
                </a:solidFill>
                <a:latin typeface="+mn-lt"/>
                <a:ea typeface="+mn-ea"/>
                <a:cs typeface="Huawei Sans" panose="020C0503030203020204" pitchFamily="34" charset="0"/>
                <a:sym typeface="Huawei Sans" panose="020C0503030203020204" pitchFamily="34" charset="0"/>
              </a:rPr>
              <a:t>交换机</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30" name="7063094"/>
          <p:cNvSpPr txBox="1"/>
          <p:nvPr/>
        </p:nvSpPr>
        <p:spPr bwMode="gray">
          <a:xfrm>
            <a:off x="6580274" y="5513412"/>
            <a:ext cx="425541"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fontAlgn="ct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AP</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31" name="94016176"/>
          <p:cNvSpPr txBox="1"/>
          <p:nvPr/>
        </p:nvSpPr>
        <p:spPr bwMode="gray">
          <a:xfrm>
            <a:off x="8082885" y="5514614"/>
            <a:ext cx="1043059"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中心AP</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32" name="1891586098"/>
          <p:cNvSpPr txBox="1"/>
          <p:nvPr/>
        </p:nvSpPr>
        <p:spPr bwMode="gray">
          <a:xfrm>
            <a:off x="9371298" y="5513412"/>
            <a:ext cx="444796"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fontAlgn="ct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RU</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pic>
        <p:nvPicPr>
          <p:cNvPr id="33" name="1820117482" descr="网络管理员-蓝.png"/>
          <p:cNvPicPr>
            <a:picLocks noChangeAspect="1"/>
          </p:cNvPicPr>
          <p:nvPr/>
        </p:nvPicPr>
        <p:blipFill>
          <a:blip r:embed="rId12"/>
          <a:stretch>
            <a:fillRect/>
          </a:stretch>
        </p:blipFill>
        <p:spPr bwMode="gray">
          <a:xfrm>
            <a:off x="8744330" y="2772819"/>
            <a:ext cx="432000" cy="353456"/>
          </a:xfrm>
          <a:prstGeom prst="rect">
            <a:avLst/>
          </a:prstGeom>
        </p:spPr>
      </p:pic>
      <p:sp>
        <p:nvSpPr>
          <p:cNvPr id="34" name="629613692"/>
          <p:cNvSpPr txBox="1"/>
          <p:nvPr/>
        </p:nvSpPr>
        <p:spPr bwMode="gray">
          <a:xfrm>
            <a:off x="8206767" y="3168607"/>
            <a:ext cx="1507127"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fontAlgn="ctr"/>
            <a:r>
              <a:rPr lang="en-US" altLang="zh-CN" sz="1400" dirty="0" err="1" smtClean="0">
                <a:solidFill>
                  <a:prstClr val="black"/>
                </a:solidFill>
                <a:latin typeface="+mn-lt"/>
                <a:ea typeface="+mn-ea"/>
                <a:cs typeface="Huawei Sans" panose="020C0503030203020204" pitchFamily="34" charset="0"/>
                <a:sym typeface="Huawei Sans" panose="020C0503030203020204" pitchFamily="34" charset="0"/>
              </a:rPr>
              <a:t>注册查询中心</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sp>
        <p:nvSpPr>
          <p:cNvPr id="35" name="2141704383"/>
          <p:cNvSpPr/>
          <p:nvPr/>
        </p:nvSpPr>
        <p:spPr bwMode="gray">
          <a:xfrm>
            <a:off x="5303358" y="4289059"/>
            <a:ext cx="1678739" cy="307777"/>
          </a:xfrm>
          <a:prstGeom prst="rect">
            <a:avLst/>
          </a:prstGeom>
        </p:spPr>
        <p:txBody>
          <a:bodyPr wrap="square"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fontAlgn="ctr"/>
            <a:r>
              <a:rPr lang="en-US" altLang="zh-CN" sz="1400" dirty="0" err="1" smtClean="0">
                <a:solidFill>
                  <a:prstClr val="black"/>
                </a:solidFill>
                <a:latin typeface="+mn-lt"/>
                <a:ea typeface="+mn-ea"/>
                <a:cs typeface="Huawei Sans" panose="020C0503030203020204" pitchFamily="34" charset="0"/>
                <a:sym typeface="Huawei Sans" panose="020C0503030203020204" pitchFamily="34" charset="0"/>
              </a:rPr>
              <a:t>华为公有云</a:t>
            </a:r>
            <a:endParaRPr lang="en-US" altLang="zh-CN" sz="1400" dirty="0">
              <a:solidFill>
                <a:prstClr val="black"/>
              </a:solidFill>
              <a:latin typeface="+mn-lt"/>
              <a:ea typeface="+mn-ea"/>
              <a:cs typeface="Huawei Sans" panose="020C0503030203020204" pitchFamily="34" charset="0"/>
              <a:sym typeface="Huawei Sans" panose="020C0503030203020204" pitchFamily="34" charset="0"/>
            </a:endParaRPr>
          </a:p>
        </p:txBody>
      </p:sp>
      <p:grpSp>
        <p:nvGrpSpPr>
          <p:cNvPr id="40" name="组合 39"/>
          <p:cNvGrpSpPr/>
          <p:nvPr/>
        </p:nvGrpSpPr>
        <p:grpSpPr bwMode="gray">
          <a:xfrm>
            <a:off x="5805257" y="3889461"/>
            <a:ext cx="696998" cy="386406"/>
            <a:chOff x="7548250" y="3754274"/>
            <a:chExt cx="696998" cy="386406"/>
          </a:xfrm>
        </p:grpSpPr>
        <p:sp>
          <p:nvSpPr>
            <p:cNvPr id="41" name="Freeform 159"/>
            <p:cNvSpPr/>
            <p:nvPr/>
          </p:nvSpPr>
          <p:spPr bwMode="gray">
            <a:xfrm flipH="1">
              <a:off x="7548250" y="3754274"/>
              <a:ext cx="696998" cy="3643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smtClean="0">
                <a:ln>
                  <a:noFill/>
                </a:ln>
                <a:solidFill>
                  <a:prstClr val="white"/>
                </a:solidFill>
                <a:effectLst/>
                <a:uLnTx/>
                <a:uFillTx/>
                <a:cs typeface="Huawei Sans" panose="020C0503030203020204" pitchFamily="34" charset="0"/>
                <a:sym typeface="Huawei Sans" panose="020C0503030203020204" pitchFamily="34" charset="0"/>
              </a:endParaRPr>
            </a:p>
          </p:txBody>
        </p:sp>
        <p:sp>
          <p:nvSpPr>
            <p:cNvPr id="42" name="文本框 41"/>
            <p:cNvSpPr txBox="1"/>
            <p:nvPr/>
          </p:nvSpPr>
          <p:spPr bwMode="gray">
            <a:xfrm>
              <a:off x="7714649" y="3832903"/>
              <a:ext cx="364202"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smtClean="0">
                  <a:ln>
                    <a:noFill/>
                  </a:ln>
                  <a:solidFill>
                    <a:schemeClr val="bg1">
                      <a:lumMod val="50000"/>
                    </a:schemeClr>
                  </a:solidFill>
                  <a:effectLst/>
                  <a:uLnTx/>
                  <a:uFillTx/>
                  <a:cs typeface="Huawei Sans" panose="020C0503030203020204" pitchFamily="34" charset="0"/>
                  <a:sym typeface="Huawei Sans" panose="020C0503030203020204" pitchFamily="34" charset="0"/>
                </a:rPr>
                <a:t>云</a:t>
              </a:r>
              <a:endParaRPr kumimoji="0" lang="zh-CN" altLang="en-US" sz="1400" b="0" i="0" u="none" strike="noStrike" kern="0" cap="none" spc="0" normalizeH="0" baseline="0" noProof="0" dirty="0" smtClean="0">
                <a:ln>
                  <a:noFill/>
                </a:ln>
                <a:solidFill>
                  <a:schemeClr val="bg1">
                    <a:lumMod val="50000"/>
                  </a:schemeClr>
                </a:solidFill>
                <a:effectLst/>
                <a:uLnTx/>
                <a:uFillTx/>
                <a:cs typeface="Huawei Sans" panose="020C0503030203020204" pitchFamily="34" charset="0"/>
                <a:sym typeface="Huawei Sans" panose="020C0503030203020204" pitchFamily="34" charset="0"/>
              </a:endParaRPr>
            </a:p>
          </p:txBody>
        </p:sp>
      </p:grpSp>
      <p:pic>
        <p:nvPicPr>
          <p:cNvPr id="52" name="图片 102" descr="AC-蓝.png"/>
          <p:cNvPicPr>
            <a:picLocks noChangeAspect="1"/>
          </p:cNvPicPr>
          <p:nvPr/>
        </p:nvPicPr>
        <p:blipFill>
          <a:blip r:embed="rId13"/>
          <a:stretch>
            <a:fillRect/>
          </a:stretch>
        </p:blipFill>
        <p:spPr bwMode="gray">
          <a:xfrm>
            <a:off x="7470126" y="5144282"/>
            <a:ext cx="432000" cy="353454"/>
          </a:xfrm>
          <a:prstGeom prst="rect">
            <a:avLst/>
          </a:prstGeom>
        </p:spPr>
      </p:pic>
      <p:sp>
        <p:nvSpPr>
          <p:cNvPr id="53" name="94016176"/>
          <p:cNvSpPr txBox="1"/>
          <p:nvPr/>
        </p:nvSpPr>
        <p:spPr bwMode="gray">
          <a:xfrm>
            <a:off x="7165118" y="5513412"/>
            <a:ext cx="1042017" cy="307777"/>
          </a:xfrm>
          <a:prstGeom prst="rect">
            <a:avLst/>
          </a:prstGeom>
          <a:noFill/>
        </p:spPr>
        <p:txBody>
          <a:bodyPr wrap="square" rtlCol="0" anchor="t" anchorCtr="0">
            <a:spAutoFit/>
          </a:bodyPr>
          <a:lstStyle>
            <a:defPPr>
              <a:defRPr lang="zh-CN"/>
            </a:defPPr>
            <a:lvl1pPr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itchFamily="34" charset="0"/>
                <a:ea typeface="宋体" panose="02010600030101010101" pitchFamily="2" charset="-122"/>
                <a:cs typeface="+mn-cs"/>
              </a:defRPr>
            </a:lvl9pPr>
          </a:lstStyle>
          <a:p>
            <a:pPr algn="ctr" fontAlgn="ctr"/>
            <a:r>
              <a:rPr lang="en-US" altLang="zh-CN" sz="1400" dirty="0" smtClean="0">
                <a:solidFill>
                  <a:prstClr val="black"/>
                </a:solidFill>
                <a:latin typeface="+mn-lt"/>
                <a:ea typeface="+mn-ea"/>
                <a:cs typeface="Huawei Sans" panose="020C0503030203020204" pitchFamily="34" charset="0"/>
                <a:sym typeface="Huawei Sans" panose="020C0503030203020204" pitchFamily="34" charset="0"/>
              </a:rPr>
              <a:t>WLAN AC</a:t>
            </a:r>
            <a:endParaRPr lang="en-US" sz="1400" dirty="0">
              <a:solidFill>
                <a:prstClr val="black"/>
              </a:solidFill>
              <a:latin typeface="+mn-lt"/>
              <a:ea typeface="+mn-ea"/>
              <a:cs typeface="Huawei Sans" panose="020C0503030203020204" pitchFamily="34" charset="0"/>
              <a:sym typeface="Huawei Sans" panose="020C0503030203020204" pitchFamily="34" charset="0"/>
            </a:endParaRPr>
          </a:p>
        </p:txBody>
      </p:sp>
      <p:pic>
        <p:nvPicPr>
          <p:cNvPr id="58" name="图片 57"/>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3685018" y="2889496"/>
            <a:ext cx="1346845" cy="248394"/>
          </a:xfrm>
          <a:prstGeom prst="rect">
            <a:avLst/>
          </a:prstGeom>
        </p:spPr>
      </p:pic>
      <p:pic>
        <p:nvPicPr>
          <p:cNvPr id="59" name="图片 5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6138173" y="2872430"/>
            <a:ext cx="1191431" cy="287773"/>
          </a:xfrm>
          <a:prstGeom prst="rect">
            <a:avLst/>
          </a:prstGeom>
        </p:spPr>
      </p:pic>
      <p:pic>
        <p:nvPicPr>
          <p:cNvPr id="1030" name="Picture 6" descr="https://serviceturbo-cloud.huawei.com/serviceturbocloud/static/logo3.png"/>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gray">
          <a:xfrm>
            <a:off x="9223544" y="1387957"/>
            <a:ext cx="432000" cy="352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9743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ym typeface="Huawei Sans" panose="020C0503030203020204" pitchFamily="34" charset="0"/>
              </a:rPr>
              <a:t>CloudCampus</a:t>
            </a:r>
            <a:r>
              <a:rPr lang="zh-CN" altLang="en-US" dirty="0" smtClean="0">
                <a:sym typeface="Huawei Sans" panose="020C0503030203020204" pitchFamily="34" charset="0"/>
              </a:rPr>
              <a:t>方案组件 </a:t>
            </a:r>
            <a:r>
              <a:rPr lang="en-US" altLang="zh-CN" dirty="0" smtClean="0">
                <a:sym typeface="Huawei Sans" panose="020C0503030203020204" pitchFamily="34" charset="0"/>
              </a:rPr>
              <a:t>- </a:t>
            </a:r>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endParaRPr lang="zh-CN" altLang="en-US" dirty="0">
              <a:sym typeface="Huawei Sans" panose="020C0503030203020204" pitchFamily="34" charset="0"/>
            </a:endParaRPr>
          </a:p>
        </p:txBody>
      </p:sp>
      <p:sp>
        <p:nvSpPr>
          <p:cNvPr id="46" name="文本占位符 45"/>
          <p:cNvSpPr>
            <a:spLocks noGrp="1"/>
          </p:cNvSpPr>
          <p:nvPr>
            <p:ph type="body" sz="quarter" idx="10"/>
          </p:nvPr>
        </p:nvSpPr>
        <p:spPr>
          <a:xfrm>
            <a:off x="455612" y="1047750"/>
            <a:ext cx="11293475" cy="910281"/>
          </a:xfrm>
        </p:spPr>
        <p:txBody>
          <a:bodyPr/>
          <a:lstStyle/>
          <a:p>
            <a:r>
              <a:rPr lang="en-US" altLang="zh-CN" sz="1800" dirty="0" err="1" smtClean="0">
                <a:sym typeface="Huawei Sans" panose="020C0503030203020204" pitchFamily="34" charset="0"/>
              </a:rPr>
              <a:t>iMaster</a:t>
            </a:r>
            <a:r>
              <a:rPr lang="en-US" altLang="zh-CN" sz="1800" dirty="0" smtClean="0">
                <a:sym typeface="Huawei Sans" panose="020C0503030203020204" pitchFamily="34" charset="0"/>
              </a:rPr>
              <a:t> NCE-Campus</a:t>
            </a:r>
            <a:r>
              <a:rPr lang="zh-CN" altLang="en-US" sz="1800" dirty="0" smtClean="0">
                <a:sym typeface="Huawei Sans" panose="020C0503030203020204" pitchFamily="34" charset="0"/>
              </a:rPr>
              <a:t>是</a:t>
            </a:r>
            <a:r>
              <a:rPr lang="en-US" altLang="zh-CN" sz="1800" dirty="0" smtClean="0">
                <a:sym typeface="Huawei Sans" panose="020C0503030203020204" pitchFamily="34" charset="0"/>
              </a:rPr>
              <a:t>CloudCampus</a:t>
            </a:r>
            <a:r>
              <a:rPr lang="zh-CN" altLang="en-US" sz="1800" dirty="0" smtClean="0">
                <a:sym typeface="Huawei Sans" panose="020C0503030203020204" pitchFamily="34" charset="0"/>
              </a:rPr>
              <a:t>解决方案主要的配置和管理平台，是</a:t>
            </a:r>
            <a:r>
              <a:rPr lang="en-US" altLang="zh-CN" sz="1800" dirty="0" smtClean="0">
                <a:sym typeface="Huawei Sans" panose="020C0503030203020204" pitchFamily="34" charset="0"/>
              </a:rPr>
              <a:t>CloudCampus</a:t>
            </a:r>
            <a:r>
              <a:rPr lang="zh-CN" altLang="en-US" sz="1800" dirty="0" smtClean="0">
                <a:sym typeface="Huawei Sans" panose="020C0503030203020204" pitchFamily="34" charset="0"/>
              </a:rPr>
              <a:t>业务配置和运维监控的主要入口。</a:t>
            </a:r>
            <a:endParaRPr lang="zh-CN" altLang="en-US" sz="1800" dirty="0">
              <a:sym typeface="Huawei Sans" panose="020C0503030203020204" pitchFamily="34" charset="0"/>
            </a:endParaRPr>
          </a:p>
        </p:txBody>
      </p:sp>
      <p:sp>
        <p:nvSpPr>
          <p:cNvPr id="3" name="圆角矩形 2"/>
          <p:cNvSpPr/>
          <p:nvPr/>
        </p:nvSpPr>
        <p:spPr bwMode="gray">
          <a:xfrm>
            <a:off x="6745406" y="3490844"/>
            <a:ext cx="4928369" cy="721406"/>
          </a:xfrm>
          <a:prstGeom prst="roundRect">
            <a:avLst>
              <a:gd name="adj" fmla="val 15918"/>
            </a:avLst>
          </a:prstGeom>
          <a:solidFill>
            <a:srgbClr val="BEE9EE">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6745406" y="4742872"/>
            <a:ext cx="4928369" cy="721406"/>
          </a:xfrm>
          <a:prstGeom prst="roundRect">
            <a:avLst>
              <a:gd name="adj" fmla="val 11657"/>
            </a:avLst>
          </a:prstGeom>
          <a:solidFill>
            <a:srgbClr val="BEE9EE">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6907304" y="3666881"/>
            <a:ext cx="1845377" cy="369332"/>
          </a:xfrm>
          <a:prstGeom prst="rect">
            <a:avLst/>
          </a:prstGeom>
          <a:noFill/>
        </p:spPr>
        <p:txBody>
          <a:bodyPr wrap="none" anchor="ctr">
            <a:spAutoFit/>
          </a:bodyPr>
          <a:lstStyle/>
          <a:p>
            <a:pPr lvl="0" algn="r" defTabSz="914400">
              <a:defRPr/>
            </a:pP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管理</a:t>
            </a:r>
            <a:r>
              <a:rPr lang="en-US" altLang="zh-CN"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控制</a:t>
            </a:r>
            <a:r>
              <a:rPr lang="en-US" altLang="zh-CN"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p>
        </p:txBody>
      </p:sp>
      <p:sp>
        <p:nvSpPr>
          <p:cNvPr id="6" name="矩形 5"/>
          <p:cNvSpPr/>
          <p:nvPr/>
        </p:nvSpPr>
        <p:spPr bwMode="gray">
          <a:xfrm>
            <a:off x="8909066" y="3555960"/>
            <a:ext cx="1896673" cy="612475"/>
          </a:xfrm>
          <a:prstGeom prst="rect">
            <a:avLst/>
          </a:prstGeom>
        </p:spPr>
        <p:txBody>
          <a:bodyPr wrap="none">
            <a:spAutoFit/>
          </a:bodyPr>
          <a:lstStyle/>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统一数据底座</a:t>
            </a:r>
          </a:p>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感知定位处置一气呵成</a:t>
            </a:r>
          </a:p>
        </p:txBody>
      </p:sp>
      <p:sp>
        <p:nvSpPr>
          <p:cNvPr id="7" name="矩形 6"/>
          <p:cNvSpPr/>
          <p:nvPr/>
        </p:nvSpPr>
        <p:spPr bwMode="gray">
          <a:xfrm>
            <a:off x="6953790" y="4918909"/>
            <a:ext cx="1513556" cy="369332"/>
          </a:xfrm>
          <a:prstGeom prst="rect">
            <a:avLst/>
          </a:prstGeom>
          <a:noFill/>
        </p:spPr>
        <p:txBody>
          <a:bodyPr wrap="none" anchor="ctr">
            <a:spAutoFit/>
          </a:bodyPr>
          <a:lstStyle/>
          <a:p>
            <a:pPr lvl="0" algn="r" defTabSz="914400">
              <a:defRPr/>
            </a:pP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规</a:t>
            </a:r>
            <a:r>
              <a:rPr lang="en-US" altLang="zh-CN"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建</a:t>
            </a:r>
            <a:r>
              <a:rPr lang="en-US" altLang="zh-CN"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维</a:t>
            </a:r>
            <a:r>
              <a:rPr lang="en-US" altLang="zh-CN"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优</a:t>
            </a:r>
          </a:p>
        </p:txBody>
      </p:sp>
      <p:sp>
        <p:nvSpPr>
          <p:cNvPr id="8" name="矩形 7"/>
          <p:cNvSpPr/>
          <p:nvPr/>
        </p:nvSpPr>
        <p:spPr bwMode="gray">
          <a:xfrm>
            <a:off x="8909066" y="4807988"/>
            <a:ext cx="1588897" cy="612475"/>
          </a:xfrm>
          <a:prstGeom prst="rect">
            <a:avLst/>
          </a:prstGeom>
        </p:spPr>
        <p:txBody>
          <a:bodyPr wrap="none">
            <a:spAutoFit/>
          </a:bodyPr>
          <a:lstStyle/>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全生命周期管理</a:t>
            </a:r>
          </a:p>
          <a:p>
            <a:pPr marL="171450" indent="-171450" defTabSz="914400">
              <a:lnSpc>
                <a:spcPct val="120000"/>
              </a:lnSpc>
              <a:spcBef>
                <a:spcPts val="600"/>
              </a:spcBef>
              <a:buFont typeface="Arial" panose="020B0604020202020204" pitchFamily="34" charset="0"/>
              <a:buChar char="•"/>
            </a:pP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仿真校验监控优化</a:t>
            </a:r>
          </a:p>
        </p:txBody>
      </p:sp>
      <p:sp>
        <p:nvSpPr>
          <p:cNvPr id="9" name="矩形 8"/>
          <p:cNvSpPr/>
          <p:nvPr/>
        </p:nvSpPr>
        <p:spPr bwMode="gray">
          <a:xfrm>
            <a:off x="505910" y="5849378"/>
            <a:ext cx="11167865" cy="338554"/>
          </a:xfrm>
          <a:prstGeom prst="rect">
            <a:avLst/>
          </a:prstGeom>
          <a:solidFill>
            <a:srgbClr val="BF8082"/>
          </a:solidFill>
        </p:spPr>
        <p:txBody>
          <a:bodyPr wrap="square">
            <a:sp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园区自动驾驶网络管理</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控制系统：</a:t>
            </a:r>
            <a:r>
              <a:rPr lang="en-US" altLang="zh-CN" sz="1600" dirty="0" err="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NCE-Campus</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524130" y="2194184"/>
            <a:ext cx="6043119" cy="892827"/>
          </a:xfrm>
          <a:prstGeom prst="rect">
            <a:avLst/>
          </a:prstGeom>
          <a:gradFill>
            <a:gsLst>
              <a:gs pos="0">
                <a:schemeClr val="bg1"/>
              </a:gs>
              <a:gs pos="100000">
                <a:srgbClr val="D0E8C4"/>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524130" y="3087011"/>
            <a:ext cx="6043119" cy="1601238"/>
          </a:xfrm>
          <a:prstGeom prst="rect">
            <a:avLst/>
          </a:prstGeom>
          <a:gradFill>
            <a:gsLst>
              <a:gs pos="0">
                <a:schemeClr val="bg1"/>
              </a:gs>
              <a:gs pos="100000">
                <a:srgbClr val="BEE9EE"/>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bwMode="gray">
          <a:xfrm>
            <a:off x="524130" y="4882132"/>
            <a:ext cx="6043119" cy="892827"/>
          </a:xfrm>
          <a:prstGeom prst="rect">
            <a:avLst/>
          </a:prstGeom>
          <a:gradFill>
            <a:gsLst>
              <a:gs pos="0">
                <a:schemeClr val="bg1"/>
              </a:gs>
              <a:gs pos="100000">
                <a:srgbClr val="D0E8C4"/>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 Box 76"/>
          <p:cNvSpPr txBox="1">
            <a:spLocks noChangeArrowheads="1"/>
          </p:cNvSpPr>
          <p:nvPr/>
        </p:nvSpPr>
        <p:spPr bwMode="gray">
          <a:xfrm>
            <a:off x="634292" y="2125062"/>
            <a:ext cx="1043089" cy="288147"/>
          </a:xfrm>
          <a:prstGeom prst="rect">
            <a:avLst/>
          </a:prstGeom>
          <a:noFill/>
          <a:ln w="3175" cap="flat" cmpd="sng" algn="ctr">
            <a:noFill/>
            <a:prstDash val="solid"/>
            <a:round/>
            <a:headEnd type="none" w="med" len="med"/>
            <a:tailEnd type="none" w="med" len="med"/>
          </a:ln>
          <a:effectLst/>
          <a:scene3d>
            <a:camera prst="orthographicFront"/>
            <a:lightRig rig="flat" dir="t"/>
          </a:scene3d>
        </p:spPr>
        <p:txBody>
          <a:bodyPr wrap="none" lIns="72000" tIns="36000" rIns="72000" bIns="36000" rtlCol="0" anchor="ctr">
            <a:spAutoFit/>
          </a:bodyPr>
          <a:lstStyle>
            <a:defPPr>
              <a:defRPr lang="zh-CN"/>
            </a:defPPr>
            <a:lvl1pPr algn="ctr">
              <a:defRPr sz="14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defTabSz="1219109"/>
            <a:r>
              <a:rPr lang="zh-CN" altLang="en-US"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a:t>
            </a:r>
            <a:r>
              <a:rPr lang="zh-CN" altLang="en-US" b="1"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服务层</a:t>
            </a:r>
            <a:endParaRPr kumimoji="1" lang="zh-CN" altLang="en-US" b="1"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317"/>
          <p:cNvSpPr/>
          <p:nvPr/>
        </p:nvSpPr>
        <p:spPr bwMode="gray">
          <a:xfrm>
            <a:off x="553681" y="5004830"/>
            <a:ext cx="1043089"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62" fontAlgn="base"/>
            <a:r>
              <a:rPr lang="zh-CN" altLang="en-US" sz="1400" b="1"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基础设施层</a:t>
            </a:r>
            <a:endParaRPr lang="en-US" altLang="zh-CN"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矩形 317"/>
          <p:cNvSpPr/>
          <p:nvPr/>
        </p:nvSpPr>
        <p:spPr bwMode="gray">
          <a:xfrm>
            <a:off x="617273" y="3289269"/>
            <a:ext cx="863552"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62" fontAlgn="base"/>
            <a:r>
              <a:rPr lang="zh-CN" altLang="en-US" sz="1400" b="1"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管控析层</a:t>
            </a:r>
            <a:endParaRPr lang="en-US" altLang="zh-CN"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1680508374"/>
          <p:cNvSpPr txBox="1">
            <a:spLocks noChangeArrowheads="1"/>
          </p:cNvSpPr>
          <p:nvPr/>
        </p:nvSpPr>
        <p:spPr bwMode="gray">
          <a:xfrm>
            <a:off x="579808" y="2501030"/>
            <a:ext cx="914760"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MDM</a:t>
            </a:r>
          </a:p>
        </p:txBody>
      </p:sp>
      <p:sp>
        <p:nvSpPr>
          <p:cNvPr id="17" name="453896541"/>
          <p:cNvSpPr txBox="1">
            <a:spLocks noChangeArrowheads="1"/>
          </p:cNvSpPr>
          <p:nvPr/>
        </p:nvSpPr>
        <p:spPr bwMode="gray">
          <a:xfrm>
            <a:off x="1561534" y="2501030"/>
            <a:ext cx="914760"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e-Schoolbag</a:t>
            </a:r>
          </a:p>
        </p:txBody>
      </p:sp>
      <p:sp>
        <p:nvSpPr>
          <p:cNvPr id="18" name="1099195176"/>
          <p:cNvSpPr txBox="1">
            <a:spLocks noChangeArrowheads="1"/>
          </p:cNvSpPr>
          <p:nvPr/>
        </p:nvSpPr>
        <p:spPr bwMode="gray">
          <a:xfrm>
            <a:off x="3595309" y="2501030"/>
            <a:ext cx="999713"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Asset management</a:t>
            </a:r>
          </a:p>
        </p:txBody>
      </p:sp>
      <p:sp>
        <p:nvSpPr>
          <p:cNvPr id="19" name="1680508374"/>
          <p:cNvSpPr txBox="1">
            <a:spLocks noChangeArrowheads="1"/>
          </p:cNvSpPr>
          <p:nvPr/>
        </p:nvSpPr>
        <p:spPr bwMode="gray">
          <a:xfrm>
            <a:off x="2543260" y="2501030"/>
            <a:ext cx="985083"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Health management</a:t>
            </a:r>
          </a:p>
        </p:txBody>
      </p:sp>
      <p:sp>
        <p:nvSpPr>
          <p:cNvPr id="20" name="1099195176"/>
          <p:cNvSpPr txBox="1">
            <a:spLocks noChangeArrowheads="1"/>
          </p:cNvSpPr>
          <p:nvPr/>
        </p:nvSpPr>
        <p:spPr bwMode="gray">
          <a:xfrm>
            <a:off x="4661988" y="2501030"/>
            <a:ext cx="799829"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b="1"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2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 name="1099195176"/>
          <p:cNvSpPr txBox="1">
            <a:spLocks noChangeArrowheads="1"/>
          </p:cNvSpPr>
          <p:nvPr/>
        </p:nvSpPr>
        <p:spPr bwMode="gray">
          <a:xfrm>
            <a:off x="5528781" y="2501030"/>
            <a:ext cx="914760" cy="392040"/>
          </a:xfrm>
          <a:prstGeom prst="rect">
            <a:avLst/>
          </a:prstGeom>
          <a:solidFill>
            <a:schemeClr val="bg1"/>
          </a:solidFill>
          <a:ln w="9525">
            <a:solidFill>
              <a:schemeClr val="bg1">
                <a:lumMod val="65000"/>
              </a:schemeClr>
            </a:solidFill>
            <a:miter lim="800000"/>
            <a:headEnd/>
            <a:tailEnd/>
          </a:ln>
        </p:spPr>
        <p:txBody>
          <a:bodyPr wrap="square"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09" fontAlgn="ctr"/>
            <a:r>
              <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Intelligent OAM</a:t>
            </a:r>
          </a:p>
        </p:txBody>
      </p:sp>
      <p:pic>
        <p:nvPicPr>
          <p:cNvPr id="23"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631249" y="5311047"/>
            <a:ext cx="368827" cy="301769"/>
          </a:xfrm>
          <a:prstGeom prst="rect">
            <a:avLst/>
          </a:prstGeom>
        </p:spPr>
      </p:pic>
      <p:pic>
        <p:nvPicPr>
          <p:cNvPr id="2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1209975" y="5311048"/>
            <a:ext cx="368827" cy="301767"/>
          </a:xfrm>
          <a:prstGeom prst="rect">
            <a:avLst/>
          </a:prstGeom>
          <a:noFill/>
        </p:spPr>
      </p:pic>
      <p:pic>
        <p:nvPicPr>
          <p:cNvPr id="25" name="图片 86" descr="核心交换机.png"/>
          <p:cNvPicPr>
            <a:picLocks noChangeAspect="1"/>
          </p:cNvPicPr>
          <p:nvPr/>
        </p:nvPicPr>
        <p:blipFill>
          <a:blip r:embed="rId5" cstate="print"/>
          <a:stretch>
            <a:fillRect/>
          </a:stretch>
        </p:blipFill>
        <p:spPr bwMode="gray">
          <a:xfrm>
            <a:off x="1946854" y="5311047"/>
            <a:ext cx="368827" cy="301769"/>
          </a:xfrm>
          <a:prstGeom prst="rect">
            <a:avLst/>
          </a:prstGeom>
        </p:spPr>
      </p:pic>
      <p:pic>
        <p:nvPicPr>
          <p:cNvPr id="26" name="图片 87" descr="汇聚交换机.png"/>
          <p:cNvPicPr>
            <a:picLocks noChangeAspect="1"/>
          </p:cNvPicPr>
          <p:nvPr/>
        </p:nvPicPr>
        <p:blipFill>
          <a:blip r:embed="rId6" cstate="print"/>
          <a:stretch>
            <a:fillRect/>
          </a:stretch>
        </p:blipFill>
        <p:spPr bwMode="gray">
          <a:xfrm>
            <a:off x="2683733" y="5311047"/>
            <a:ext cx="368827" cy="301769"/>
          </a:xfrm>
          <a:prstGeom prst="rect">
            <a:avLst/>
          </a:prstGeom>
        </p:spPr>
      </p:pic>
      <p:pic>
        <p:nvPicPr>
          <p:cNvPr id="27" name="图片 76" descr="接入交换机.png"/>
          <p:cNvPicPr>
            <a:picLocks noChangeAspect="1"/>
          </p:cNvPicPr>
          <p:nvPr/>
        </p:nvPicPr>
        <p:blipFill>
          <a:blip r:embed="rId7" cstate="print"/>
          <a:stretch>
            <a:fillRect/>
          </a:stretch>
        </p:blipFill>
        <p:spPr bwMode="gray">
          <a:xfrm>
            <a:off x="3420612" y="5311047"/>
            <a:ext cx="368827" cy="301769"/>
          </a:xfrm>
          <a:prstGeom prst="rect">
            <a:avLst/>
          </a:prstGeom>
        </p:spPr>
      </p:pic>
      <p:pic>
        <p:nvPicPr>
          <p:cNvPr id="28" name="图片 105" descr="AP.png"/>
          <p:cNvPicPr>
            <a:picLocks noChangeAspect="1"/>
          </p:cNvPicPr>
          <p:nvPr/>
        </p:nvPicPr>
        <p:blipFill>
          <a:blip r:embed="rId8" cstate="print"/>
          <a:stretch>
            <a:fillRect/>
          </a:stretch>
        </p:blipFill>
        <p:spPr bwMode="gray">
          <a:xfrm>
            <a:off x="4157491" y="5311047"/>
            <a:ext cx="368827" cy="301769"/>
          </a:xfrm>
          <a:prstGeom prst="rect">
            <a:avLst/>
          </a:prstGeom>
        </p:spPr>
      </p:pic>
      <p:pic>
        <p:nvPicPr>
          <p:cNvPr id="29" name="图片 102" descr="AC-蓝.png"/>
          <p:cNvPicPr>
            <a:picLocks noChangeAspect="1"/>
          </p:cNvPicPr>
          <p:nvPr/>
        </p:nvPicPr>
        <p:blipFill>
          <a:blip r:embed="rId9" cstate="print"/>
          <a:stretch>
            <a:fillRect/>
          </a:stretch>
        </p:blipFill>
        <p:spPr bwMode="gray">
          <a:xfrm>
            <a:off x="4894370" y="5311047"/>
            <a:ext cx="368827" cy="301769"/>
          </a:xfrm>
          <a:prstGeom prst="rect">
            <a:avLst/>
          </a:prstGeom>
        </p:spPr>
      </p:pic>
      <p:sp>
        <p:nvSpPr>
          <p:cNvPr id="42" name="圆角矩形 41"/>
          <p:cNvSpPr/>
          <p:nvPr/>
        </p:nvSpPr>
        <p:spPr bwMode="gray">
          <a:xfrm>
            <a:off x="6745406" y="2288666"/>
            <a:ext cx="4928369" cy="721406"/>
          </a:xfrm>
          <a:prstGeom prst="roundRect">
            <a:avLst>
              <a:gd name="adj" fmla="val 15918"/>
            </a:avLst>
          </a:prstGeom>
          <a:solidFill>
            <a:srgbClr val="BEE9EE">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6830359" y="2464703"/>
            <a:ext cx="1745992" cy="369332"/>
          </a:xfrm>
          <a:prstGeom prst="rect">
            <a:avLst/>
          </a:prstGeom>
          <a:noFill/>
        </p:spPr>
        <p:txBody>
          <a:bodyPr wrap="none" anchor="ctr">
            <a:spAutoFit/>
          </a:bodyPr>
          <a:lstStyle/>
          <a:p>
            <a:pPr lvl="0" algn="r" defTabSz="914400">
              <a:defRPr/>
            </a:pP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自动化</a:t>
            </a:r>
            <a:r>
              <a:rPr lang="en-US" altLang="zh-CN"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b="1"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智能化</a:t>
            </a:r>
          </a:p>
        </p:txBody>
      </p:sp>
      <p:sp>
        <p:nvSpPr>
          <p:cNvPr id="44" name="矩形 43"/>
          <p:cNvSpPr/>
          <p:nvPr/>
        </p:nvSpPr>
        <p:spPr bwMode="gray">
          <a:xfrm>
            <a:off x="8909066" y="2343131"/>
            <a:ext cx="2108269" cy="598882"/>
          </a:xfrm>
          <a:prstGeom prst="rect">
            <a:avLst/>
          </a:prstGeom>
        </p:spPr>
        <p:txBody>
          <a:bodyPr wrap="none">
            <a:spAutoFit/>
          </a:bodyPr>
          <a:lstStyle/>
          <a:p>
            <a:pPr marL="171450" indent="-171450" defTabSz="914400">
              <a:lnSpc>
                <a:spcPct val="120000"/>
              </a:lnSpc>
              <a:spcBef>
                <a:spcPts val="600"/>
              </a:spcBef>
              <a:buFont typeface="Arial" panose="020B0604020202020204" pitchFamily="34" charset="0"/>
              <a:buChar char="•"/>
            </a:pPr>
            <a:r>
              <a:rPr lang="en-US" altLang="zh-CN"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SDN</a:t>
            </a: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自动化业务配置部署</a:t>
            </a:r>
          </a:p>
          <a:p>
            <a:pPr marL="171450" indent="-171450" defTabSz="914400">
              <a:lnSpc>
                <a:spcPct val="120000"/>
              </a:lnSpc>
              <a:spcBef>
                <a:spcPts val="600"/>
              </a:spcBef>
              <a:buFont typeface="Arial" panose="020B0604020202020204" pitchFamily="34" charset="0"/>
              <a:buChar char="•"/>
            </a:pPr>
            <a:r>
              <a:rPr lang="en-US" altLang="zh-CN"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a:t>
            </a:r>
            <a:r>
              <a:rPr lang="zh-CN" altLang="en-US" sz="12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智能分析预测排障 </a:t>
            </a:r>
          </a:p>
        </p:txBody>
      </p:sp>
      <p:grpSp>
        <p:nvGrpSpPr>
          <p:cNvPr id="53" name="组合 52"/>
          <p:cNvGrpSpPr/>
          <p:nvPr/>
        </p:nvGrpSpPr>
        <p:grpSpPr bwMode="gray">
          <a:xfrm>
            <a:off x="1705171" y="3216978"/>
            <a:ext cx="3561568" cy="1228868"/>
            <a:chOff x="1705171" y="3216978"/>
            <a:chExt cx="3561568" cy="1228868"/>
          </a:xfrm>
        </p:grpSpPr>
        <p:sp>
          <p:nvSpPr>
            <p:cNvPr id="48" name="梯形 47"/>
            <p:cNvSpPr/>
            <p:nvPr/>
          </p:nvSpPr>
          <p:spPr bwMode="gray">
            <a:xfrm>
              <a:off x="1705171" y="3216978"/>
              <a:ext cx="3561568" cy="1228868"/>
            </a:xfrm>
            <a:prstGeom prst="trapezoid">
              <a:avLst>
                <a:gd name="adj" fmla="val 195616"/>
              </a:avLst>
            </a:prstGeom>
            <a:gradFill>
              <a:gsLst>
                <a:gs pos="0">
                  <a:sysClr val="window" lastClr="FFFFFF">
                    <a:alpha val="0"/>
                  </a:sysClr>
                </a:gs>
                <a:gs pos="77000">
                  <a:srgbClr val="56C4D2"/>
                </a:gs>
                <a:gs pos="39000">
                  <a:srgbClr val="30B5C5"/>
                </a:gs>
                <a:gs pos="100000">
                  <a:sysClr val="window" lastClr="FFFFFF">
                    <a:alpha val="0"/>
                  </a:sys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梯形 48"/>
            <p:cNvSpPr/>
            <p:nvPr/>
          </p:nvSpPr>
          <p:spPr bwMode="gray">
            <a:xfrm>
              <a:off x="2221863" y="3216978"/>
              <a:ext cx="2528186" cy="1228868"/>
            </a:xfrm>
            <a:prstGeom prst="trapezoid">
              <a:avLst>
                <a:gd name="adj" fmla="val 147530"/>
              </a:avLst>
            </a:prstGeom>
            <a:gradFill>
              <a:gsLst>
                <a:gs pos="0">
                  <a:sysClr val="window" lastClr="FFFFFF">
                    <a:alpha val="0"/>
                  </a:sysClr>
                </a:gs>
                <a:gs pos="61000">
                  <a:srgbClr val="56C4D2"/>
                </a:gs>
                <a:gs pos="39000">
                  <a:srgbClr val="30B5C5"/>
                </a:gs>
                <a:gs pos="100000">
                  <a:sysClr val="window" lastClr="FFFFFF">
                    <a:alpha val="0"/>
                  </a:sys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梯形 49"/>
            <p:cNvSpPr/>
            <p:nvPr/>
          </p:nvSpPr>
          <p:spPr bwMode="gray">
            <a:xfrm>
              <a:off x="2804768" y="3317181"/>
              <a:ext cx="1386117" cy="1128665"/>
            </a:xfrm>
            <a:prstGeom prst="trapezoid">
              <a:avLst>
                <a:gd name="adj" fmla="val 80291"/>
              </a:avLst>
            </a:prstGeom>
            <a:gradFill>
              <a:gsLst>
                <a:gs pos="0">
                  <a:sysClr val="window" lastClr="FFFFFF">
                    <a:alpha val="0"/>
                  </a:sysClr>
                </a:gs>
                <a:gs pos="48000">
                  <a:srgbClr val="56C4D2"/>
                </a:gs>
                <a:gs pos="32000">
                  <a:srgbClr val="30B5C5"/>
                </a:gs>
                <a:gs pos="100000">
                  <a:sysClr val="window" lastClr="FFFFFF">
                    <a:alpha val="0"/>
                  </a:sys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1" name="矩形 317"/>
          <p:cNvSpPr/>
          <p:nvPr/>
        </p:nvSpPr>
        <p:spPr bwMode="gray">
          <a:xfrm>
            <a:off x="3162789" y="3709724"/>
            <a:ext cx="646332" cy="369332"/>
          </a:xfrm>
          <a:prstGeom prst="rect">
            <a:avLst/>
          </a:prstGeom>
          <a:noFill/>
        </p:spPr>
        <p:txBody>
          <a:bodyPr wrap="none" anchor="ctr">
            <a:spAutoFit/>
          </a:bodyPr>
          <a:lstStyle/>
          <a:p>
            <a:pPr algn="r" defTabSz="914400"/>
            <a:r>
              <a:rPr lang="zh-CN" altLang="en-US"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融合</a:t>
            </a:r>
            <a:endParaRPr lang="en-US" altLang="zh-CN"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2" name="图片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2594866" y="3157042"/>
            <a:ext cx="1792651" cy="330612"/>
          </a:xfrm>
          <a:prstGeom prst="rect">
            <a:avLst/>
          </a:prstGeom>
        </p:spPr>
      </p:pic>
      <p:pic>
        <p:nvPicPr>
          <p:cNvPr id="34" name="图片 33">
            <a:extLst>
              <a:ext uri="{FF2B5EF4-FFF2-40B4-BE49-F238E27FC236}">
                <a16:creationId xmlns:a16="http://schemas.microsoft.com/office/drawing/2014/main" xmlns="" id="{9B7DC79A-4488-4034-A596-6F0B3CD71D5E}"/>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t="20584" r="24682"/>
          <a:stretch/>
        </p:blipFill>
        <p:spPr bwMode="gray">
          <a:xfrm>
            <a:off x="2041043" y="4169438"/>
            <a:ext cx="584533" cy="205443"/>
          </a:xfrm>
          <a:prstGeom prst="rect">
            <a:avLst/>
          </a:prstGeom>
        </p:spPr>
      </p:pic>
      <p:pic>
        <p:nvPicPr>
          <p:cNvPr id="35" name="图片 34">
            <a:extLst>
              <a:ext uri="{FF2B5EF4-FFF2-40B4-BE49-F238E27FC236}">
                <a16:creationId xmlns:a16="http://schemas.microsoft.com/office/drawing/2014/main" xmlns="" id="{77763993-1245-47BA-A863-8AE93A95288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bwMode="gray">
          <a:xfrm>
            <a:off x="2936538" y="4161456"/>
            <a:ext cx="968148" cy="213045"/>
          </a:xfrm>
          <a:prstGeom prst="rect">
            <a:avLst/>
          </a:prstGeom>
        </p:spPr>
      </p:pic>
      <p:grpSp>
        <p:nvGrpSpPr>
          <p:cNvPr id="36" name="组合 35">
            <a:extLst>
              <a:ext uri="{FF2B5EF4-FFF2-40B4-BE49-F238E27FC236}">
                <a16:creationId xmlns:a16="http://schemas.microsoft.com/office/drawing/2014/main" xmlns="" id="{72CBCD9E-97DD-4CC0-8CCF-138211EEC95E}"/>
              </a:ext>
            </a:extLst>
          </p:cNvPr>
          <p:cNvGrpSpPr/>
          <p:nvPr/>
        </p:nvGrpSpPr>
        <p:grpSpPr bwMode="gray">
          <a:xfrm>
            <a:off x="4136211" y="4160242"/>
            <a:ext cx="931469" cy="273886"/>
            <a:chOff x="4054853" y="5596386"/>
            <a:chExt cx="3538130" cy="1151554"/>
          </a:xfrm>
        </p:grpSpPr>
        <p:pic>
          <p:nvPicPr>
            <p:cNvPr id="37" name="图片 36">
              <a:extLst>
                <a:ext uri="{FF2B5EF4-FFF2-40B4-BE49-F238E27FC236}">
                  <a16:creationId xmlns:a16="http://schemas.microsoft.com/office/drawing/2014/main" xmlns="" id="{E9CD8881-8AB1-488B-9D41-85E4CB909DA8}"/>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r="78902"/>
            <a:stretch/>
          </p:blipFill>
          <p:spPr bwMode="gray">
            <a:xfrm>
              <a:off x="4054853" y="5636787"/>
              <a:ext cx="1059697" cy="912036"/>
            </a:xfrm>
            <a:prstGeom prst="rect">
              <a:avLst/>
            </a:prstGeom>
          </p:spPr>
        </p:pic>
        <p:pic>
          <p:nvPicPr>
            <p:cNvPr id="38" name="图片 37">
              <a:extLst>
                <a:ext uri="{FF2B5EF4-FFF2-40B4-BE49-F238E27FC236}">
                  <a16:creationId xmlns:a16="http://schemas.microsoft.com/office/drawing/2014/main" xmlns="" id="{31B02498-6A5A-47CC-9EAB-4408C94A46CB}"/>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60897"/>
            <a:stretch/>
          </p:blipFill>
          <p:spPr bwMode="gray">
            <a:xfrm>
              <a:off x="5113136" y="5596386"/>
              <a:ext cx="2479847" cy="1151554"/>
            </a:xfrm>
            <a:prstGeom prst="rect">
              <a:avLst/>
            </a:prstGeom>
          </p:spPr>
        </p:pic>
      </p:grpSp>
    </p:spTree>
    <p:extLst>
      <p:ext uri="{BB962C8B-B14F-4D97-AF65-F5344CB8AC3E}">
        <p14:creationId xmlns:p14="http://schemas.microsoft.com/office/powerpoint/2010/main" val="34898621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CloudCampus</a:t>
            </a:r>
            <a:r>
              <a:rPr lang="zh-CN" altLang="en-US" dirty="0" smtClean="0">
                <a:sym typeface="Huawei Sans" panose="020C0503030203020204" pitchFamily="34" charset="0"/>
              </a:rPr>
              <a:t>方案组件 </a:t>
            </a:r>
            <a:r>
              <a:rPr lang="en-US" altLang="zh-CN" dirty="0" smtClean="0">
                <a:sym typeface="Huawei Sans" panose="020C0503030203020204" pitchFamily="34" charset="0"/>
              </a:rPr>
              <a:t>- </a:t>
            </a:r>
            <a:r>
              <a:rPr lang="zh-CN" altLang="en-US" dirty="0" smtClean="0">
                <a:sym typeface="Huawei Sans" panose="020C0503030203020204" pitchFamily="34" charset="0"/>
              </a:rPr>
              <a:t>注册查询中心</a:t>
            </a:r>
            <a:endParaRPr lang="zh-CN" altLang="en-US" dirty="0">
              <a:sym typeface="Huawei Sans" panose="020C0503030203020204" pitchFamily="34" charset="0"/>
            </a:endParaRPr>
          </a:p>
        </p:txBody>
      </p:sp>
      <p:sp>
        <p:nvSpPr>
          <p:cNvPr id="9" name="矩形 8"/>
          <p:cNvSpPr/>
          <p:nvPr/>
        </p:nvSpPr>
        <p:spPr bwMode="gray">
          <a:xfrm>
            <a:off x="505910" y="5849378"/>
            <a:ext cx="11167865" cy="338554"/>
          </a:xfrm>
          <a:prstGeom prst="rect">
            <a:avLst/>
          </a:prstGeom>
          <a:solidFill>
            <a:srgbClr val="BF8082"/>
          </a:solidFill>
        </p:spPr>
        <p:txBody>
          <a:bodyPr wrap="square">
            <a:spAutoFit/>
          </a:bodyPr>
          <a:lstStyle/>
          <a:p>
            <a:pPr algn="ct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分支侧无需额外配置即可实现设备自动上线到云管理平台。</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5" name="图片 44" descr="云管理平台蓝.png"/>
          <p:cNvPicPr>
            <a:picLocks noChangeAspect="1"/>
          </p:cNvPicPr>
          <p:nvPr/>
        </p:nvPicPr>
        <p:blipFill>
          <a:blip r:embed="rId3" cstate="print"/>
          <a:stretch>
            <a:fillRect/>
          </a:stretch>
        </p:blipFill>
        <p:spPr bwMode="gray">
          <a:xfrm>
            <a:off x="3916776" y="1730039"/>
            <a:ext cx="540000" cy="441818"/>
          </a:xfrm>
          <a:prstGeom prst="rect">
            <a:avLst/>
          </a:prstGeom>
        </p:spPr>
      </p:pic>
      <p:pic>
        <p:nvPicPr>
          <p:cNvPr id="47" name="图片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411226" y="1680475"/>
            <a:ext cx="951607" cy="540946"/>
          </a:xfrm>
          <a:prstGeom prst="rect">
            <a:avLst/>
          </a:prstGeom>
        </p:spPr>
      </p:pic>
      <p:cxnSp>
        <p:nvCxnSpPr>
          <p:cNvPr id="40" name="直接箭头连接符 39"/>
          <p:cNvCxnSpPr/>
          <p:nvPr/>
        </p:nvCxnSpPr>
        <p:spPr bwMode="gray">
          <a:xfrm>
            <a:off x="2440890" y="2171857"/>
            <a:ext cx="1360449" cy="0"/>
          </a:xfrm>
          <a:prstGeom prst="straightConnector1">
            <a:avLst/>
          </a:prstGeom>
          <a:noFill/>
          <a:ln w="19050">
            <a:solidFill>
              <a:srgbClr val="8A8A8A"/>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p:sp>
        <p:nvSpPr>
          <p:cNvPr id="54" name="矩形 53"/>
          <p:cNvSpPr/>
          <p:nvPr/>
        </p:nvSpPr>
        <p:spPr bwMode="gray">
          <a:xfrm>
            <a:off x="2385135" y="1583716"/>
            <a:ext cx="1338147" cy="609398"/>
          </a:xfrm>
          <a:prstGeom prst="rect">
            <a:avLst/>
          </a:prstGeom>
        </p:spPr>
        <p:txBody>
          <a:bodyPr wrap="square">
            <a:spAutoFit/>
          </a:bodyPr>
          <a:lstStyle/>
          <a:p>
            <a:pPr defTabSz="914400">
              <a:lnSpc>
                <a:spcPct val="120000"/>
              </a:lnSpc>
              <a:spcBef>
                <a:spcPts val="600"/>
              </a:spcBef>
            </a:pPr>
            <a:r>
              <a:rPr lang="zh-CN" altLang="en-US"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同步设备信息（</a:t>
            </a:r>
            <a:r>
              <a:rPr lang="en-US" altLang="zh-CN"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ESN</a:t>
            </a:r>
            <a:r>
              <a:rPr lang="zh-CN" altLang="en-US"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r>
              <a:rPr lang="zh-CN" altLang="en-US"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5" name="矩形 54"/>
          <p:cNvSpPr/>
          <p:nvPr/>
        </p:nvSpPr>
        <p:spPr bwMode="gray">
          <a:xfrm>
            <a:off x="4456777" y="1642885"/>
            <a:ext cx="1066932" cy="609398"/>
          </a:xfrm>
          <a:prstGeom prst="rect">
            <a:avLst/>
          </a:prstGeom>
        </p:spPr>
        <p:txBody>
          <a:bodyPr wrap="square">
            <a:spAutoFit/>
          </a:bodyPr>
          <a:lstStyle/>
          <a:p>
            <a:pPr defTabSz="914400">
              <a:lnSpc>
                <a:spcPct val="120000"/>
              </a:lnSpc>
              <a:spcBef>
                <a:spcPts val="600"/>
              </a:spcBef>
            </a:pPr>
            <a:r>
              <a:rPr lang="zh-CN" altLang="en-US"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华为注册查询中心</a:t>
            </a:r>
            <a:endParaRPr lang="zh-CN" altLang="en-US"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6" name="圆角矩形 75"/>
          <p:cNvSpPr/>
          <p:nvPr/>
        </p:nvSpPr>
        <p:spPr bwMode="gray">
          <a:xfrm>
            <a:off x="774700" y="4046821"/>
            <a:ext cx="5300360" cy="825190"/>
          </a:xfrm>
          <a:prstGeom prst="roundRect">
            <a:avLst>
              <a:gd name="adj" fmla="val 2231"/>
            </a:avLst>
          </a:prstGeom>
          <a:gradFill>
            <a:gsLst>
              <a:gs pos="0">
                <a:schemeClr val="bg1"/>
              </a:gs>
              <a:gs pos="100000">
                <a:srgbClr val="D0E8C4"/>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2" name="组合 51"/>
          <p:cNvGrpSpPr/>
          <p:nvPr/>
        </p:nvGrpSpPr>
        <p:grpSpPr bwMode="gray">
          <a:xfrm>
            <a:off x="1679416" y="4318445"/>
            <a:ext cx="3576102" cy="455867"/>
            <a:chOff x="1658924" y="3494328"/>
            <a:chExt cx="3576102" cy="455867"/>
          </a:xfrm>
        </p:grpSpPr>
        <p:pic>
          <p:nvPicPr>
            <p:cNvPr id="57" name="图片 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658924" y="3508027"/>
              <a:ext cx="540425" cy="442168"/>
            </a:xfrm>
            <a:prstGeom prst="rect">
              <a:avLst/>
            </a:prstGeom>
          </p:spPr>
        </p:pic>
        <p:pic>
          <p:nvPicPr>
            <p:cNvPr id="60" name="图片 105" descr="AP.png"/>
            <p:cNvPicPr>
              <a:picLocks noChangeAspect="1"/>
            </p:cNvPicPr>
            <p:nvPr/>
          </p:nvPicPr>
          <p:blipFill>
            <a:blip r:embed="rId6"/>
            <a:stretch>
              <a:fillRect/>
            </a:stretch>
          </p:blipFill>
          <p:spPr bwMode="gray">
            <a:xfrm>
              <a:off x="2670721" y="3504915"/>
              <a:ext cx="540425" cy="442168"/>
            </a:xfrm>
            <a:prstGeom prst="rect">
              <a:avLst/>
            </a:prstGeom>
          </p:spPr>
        </p:pic>
        <p:pic>
          <p:nvPicPr>
            <p:cNvPr id="63" name="Picture 2" descr="G:\做的项目\公共\扁平图标切换\更新2015_01_21\oss扁平图标库2015_01_21更新-04.png"/>
            <p:cNvPicPr>
              <a:picLocks noChangeArrowheads="1"/>
            </p:cNvPicPr>
            <p:nvPr/>
          </p:nvPicPr>
          <p:blipFill>
            <a:blip r:embed="rId7"/>
            <a:stretch>
              <a:fillRect/>
            </a:stretch>
          </p:blipFill>
          <p:spPr bwMode="gray">
            <a:xfrm>
              <a:off x="3682518" y="3507061"/>
              <a:ext cx="540568" cy="435944"/>
            </a:xfrm>
            <a:prstGeom prst="rect">
              <a:avLst/>
            </a:prstGeom>
            <a:noFill/>
          </p:spPr>
        </p:pic>
        <p:pic>
          <p:nvPicPr>
            <p:cNvPr id="65" name="图片 86" descr="核心交换机.png"/>
            <p:cNvPicPr>
              <a:picLocks/>
            </p:cNvPicPr>
            <p:nvPr/>
          </p:nvPicPr>
          <p:blipFill>
            <a:blip r:embed="rId8" cstate="print"/>
            <a:stretch>
              <a:fillRect/>
            </a:stretch>
          </p:blipFill>
          <p:spPr bwMode="gray">
            <a:xfrm>
              <a:off x="4694458" y="3494328"/>
              <a:ext cx="540568" cy="435944"/>
            </a:xfrm>
            <a:prstGeom prst="rect">
              <a:avLst/>
            </a:prstGeom>
          </p:spPr>
        </p:pic>
      </p:grpSp>
      <p:sp>
        <p:nvSpPr>
          <p:cNvPr id="67" name="矩形 317"/>
          <p:cNvSpPr/>
          <p:nvPr/>
        </p:nvSpPr>
        <p:spPr bwMode="gray">
          <a:xfrm>
            <a:off x="774700" y="4017532"/>
            <a:ext cx="1222624" cy="288147"/>
          </a:xfrm>
          <a:prstGeom prst="rect">
            <a:avLst/>
          </a:prstGeom>
        </p:spPr>
        <p:txBody>
          <a:bodyPr wrap="none" lIns="72000" tIns="36000" rIns="72000" bIns="36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62" fontAlgn="base"/>
            <a:r>
              <a:rPr lang="zh-CN" altLang="en-US" sz="1400" b="1"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分支网络设备</a:t>
            </a:r>
            <a:endParaRPr lang="en-US" altLang="zh-CN" sz="1400" b="1"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8" name="任意多边形 67"/>
          <p:cNvSpPr>
            <a:spLocks noChangeAspect="1"/>
          </p:cNvSpPr>
          <p:nvPr/>
        </p:nvSpPr>
        <p:spPr bwMode="gray">
          <a:xfrm>
            <a:off x="2713705" y="2708442"/>
            <a:ext cx="974971" cy="651897"/>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a:off x="4416221" y="2737581"/>
            <a:ext cx="1452162" cy="609398"/>
          </a:xfrm>
          <a:prstGeom prst="rect">
            <a:avLst/>
          </a:prstGeom>
        </p:spPr>
        <p:txBody>
          <a:bodyPr wrap="square">
            <a:spAutoFit/>
          </a:bodyPr>
          <a:lstStyle/>
          <a:p>
            <a:pPr defTabSz="914400">
              <a:lnSpc>
                <a:spcPct val="120000"/>
              </a:lnSpc>
              <a:spcBef>
                <a:spcPts val="600"/>
              </a:spcBef>
            </a:pPr>
            <a:r>
              <a:rPr lang="zh-CN" altLang="en-US"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查询云管理平台地址、端口号</a:t>
            </a:r>
            <a:endParaRPr lang="zh-CN" altLang="en-US"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7" name="任意多边形 76"/>
          <p:cNvSpPr/>
          <p:nvPr/>
        </p:nvSpPr>
        <p:spPr bwMode="gray">
          <a:xfrm>
            <a:off x="4111120" y="2224451"/>
            <a:ext cx="603830" cy="1784195"/>
          </a:xfrm>
          <a:custGeom>
            <a:avLst/>
            <a:gdLst>
              <a:gd name="connsiteX0" fmla="*/ 23967 w 603830"/>
              <a:gd name="connsiteY0" fmla="*/ 1784195 h 1784195"/>
              <a:gd name="connsiteX1" fmla="*/ 68572 w 603830"/>
              <a:gd name="connsiteY1" fmla="*/ 613317 h 1784195"/>
              <a:gd name="connsiteX2" fmla="*/ 603830 w 603830"/>
              <a:gd name="connsiteY2" fmla="*/ 0 h 1784195"/>
            </a:gdLst>
            <a:ahLst/>
            <a:cxnLst>
              <a:cxn ang="0">
                <a:pos x="connsiteX0" y="connsiteY0"/>
              </a:cxn>
              <a:cxn ang="0">
                <a:pos x="connsiteX1" y="connsiteY1"/>
              </a:cxn>
              <a:cxn ang="0">
                <a:pos x="connsiteX2" y="connsiteY2"/>
              </a:cxn>
            </a:cxnLst>
            <a:rect l="l" t="t" r="r" b="b"/>
            <a:pathLst>
              <a:path w="603830" h="1784195">
                <a:moveTo>
                  <a:pt x="23967" y="1784195"/>
                </a:moveTo>
                <a:cubicBezTo>
                  <a:pt x="-2053" y="1347439"/>
                  <a:pt x="-28072" y="910683"/>
                  <a:pt x="68572" y="613317"/>
                </a:cubicBezTo>
                <a:cubicBezTo>
                  <a:pt x="165216" y="315951"/>
                  <a:pt x="384523" y="157975"/>
                  <a:pt x="603830"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endParaRPr>
          </a:p>
        </p:txBody>
      </p:sp>
      <p:sp>
        <p:nvSpPr>
          <p:cNvPr id="78" name="任意多边形 77"/>
          <p:cNvSpPr/>
          <p:nvPr/>
        </p:nvSpPr>
        <p:spPr bwMode="gray">
          <a:xfrm flipH="1">
            <a:off x="1824228" y="2374603"/>
            <a:ext cx="1222121" cy="1634043"/>
          </a:xfrm>
          <a:custGeom>
            <a:avLst/>
            <a:gdLst>
              <a:gd name="connsiteX0" fmla="*/ 23967 w 603830"/>
              <a:gd name="connsiteY0" fmla="*/ 1784195 h 1784195"/>
              <a:gd name="connsiteX1" fmla="*/ 68572 w 603830"/>
              <a:gd name="connsiteY1" fmla="*/ 613317 h 1784195"/>
              <a:gd name="connsiteX2" fmla="*/ 603830 w 603830"/>
              <a:gd name="connsiteY2" fmla="*/ 0 h 1784195"/>
              <a:gd name="connsiteX0" fmla="*/ 7282 w 587145"/>
              <a:gd name="connsiteY0" fmla="*/ 1784195 h 1784195"/>
              <a:gd name="connsiteX1" fmla="*/ 122816 w 587145"/>
              <a:gd name="connsiteY1" fmla="*/ 774520 h 1784195"/>
              <a:gd name="connsiteX2" fmla="*/ 587145 w 587145"/>
              <a:gd name="connsiteY2" fmla="*/ 0 h 1784195"/>
            </a:gdLst>
            <a:ahLst/>
            <a:cxnLst>
              <a:cxn ang="0">
                <a:pos x="connsiteX0" y="connsiteY0"/>
              </a:cxn>
              <a:cxn ang="0">
                <a:pos x="connsiteX1" y="connsiteY1"/>
              </a:cxn>
              <a:cxn ang="0">
                <a:pos x="connsiteX2" y="connsiteY2"/>
              </a:cxn>
            </a:cxnLst>
            <a:rect l="l" t="t" r="r" b="b"/>
            <a:pathLst>
              <a:path w="587145" h="1784195">
                <a:moveTo>
                  <a:pt x="7282" y="1784195"/>
                </a:moveTo>
                <a:cubicBezTo>
                  <a:pt x="-18738" y="1347439"/>
                  <a:pt x="26172" y="1071886"/>
                  <a:pt x="122816" y="774520"/>
                </a:cubicBezTo>
                <a:cubicBezTo>
                  <a:pt x="219460" y="477154"/>
                  <a:pt x="367838" y="157975"/>
                  <a:pt x="587145" y="0"/>
                </a:cubicBezTo>
              </a:path>
            </a:pathLst>
          </a:custGeom>
          <a:noFill/>
          <a:ln w="19050">
            <a:solidFill>
              <a:srgbClr val="FF5C56"/>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endParaRPr>
          </a:p>
        </p:txBody>
      </p:sp>
      <p:sp>
        <p:nvSpPr>
          <p:cNvPr id="79" name="矩形 78"/>
          <p:cNvSpPr/>
          <p:nvPr/>
        </p:nvSpPr>
        <p:spPr bwMode="gray">
          <a:xfrm>
            <a:off x="1188426" y="2737581"/>
            <a:ext cx="1267336" cy="609398"/>
          </a:xfrm>
          <a:prstGeom prst="rect">
            <a:avLst/>
          </a:prstGeom>
        </p:spPr>
        <p:txBody>
          <a:bodyPr wrap="square">
            <a:spAutoFit/>
          </a:bodyPr>
          <a:lstStyle/>
          <a:p>
            <a:pPr defTabSz="914400">
              <a:lnSpc>
                <a:spcPct val="120000"/>
              </a:lnSpc>
              <a:spcBef>
                <a:spcPts val="600"/>
              </a:spcBef>
            </a:pPr>
            <a:r>
              <a:rPr lang="zh-CN" altLang="en-US" sz="1400" kern="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获取平台地址后发起注册</a:t>
            </a:r>
            <a:endParaRPr lang="zh-CN" altLang="en-US"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3" name="TextBox 179"/>
          <p:cNvSpPr txBox="1"/>
          <p:nvPr/>
        </p:nvSpPr>
        <p:spPr bwMode="gray">
          <a:xfrm>
            <a:off x="6168304" y="1766169"/>
            <a:ext cx="1158557" cy="280280"/>
          </a:xfrm>
          <a:prstGeom prst="roundRect">
            <a:avLst>
              <a:gd name="adj" fmla="val 49545"/>
            </a:avLst>
          </a:prstGeom>
          <a:solidFill>
            <a:srgbClr val="56C4D2"/>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z="14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出厂即用</a:t>
            </a:r>
            <a:endParaRPr lang="zh-CN" altLang="en-US" sz="14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bwMode="gray">
          <a:xfrm>
            <a:off x="7420105" y="1573571"/>
            <a:ext cx="4328983" cy="707886"/>
          </a:xfrm>
          <a:prstGeom prst="rect">
            <a:avLst/>
          </a:prstGeom>
        </p:spPr>
        <p:txBody>
          <a:bodyPr wrap="square">
            <a:spAutoFit/>
          </a:bodyPr>
          <a:lstStyle/>
          <a:p>
            <a:pPr lvl="0" latinLnBrk="1">
              <a:lnSpc>
                <a:spcPts val="2400"/>
              </a:lnSpc>
              <a:spcAft>
                <a:spcPts val="3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设备出厂预置注册查询中心域（</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register.naas.huawei.com</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），无需额外</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179"/>
          <p:cNvSpPr txBox="1"/>
          <p:nvPr/>
        </p:nvSpPr>
        <p:spPr bwMode="gray">
          <a:xfrm>
            <a:off x="6168304" y="2668874"/>
            <a:ext cx="1158557" cy="280280"/>
          </a:xfrm>
          <a:prstGeom prst="roundRect">
            <a:avLst>
              <a:gd name="adj" fmla="val 49545"/>
            </a:avLst>
          </a:prstGeom>
          <a:solidFill>
            <a:srgbClr val="56C4D2"/>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z="14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安全传输</a:t>
            </a:r>
          </a:p>
        </p:txBody>
      </p:sp>
      <p:sp>
        <p:nvSpPr>
          <p:cNvPr id="29" name="矩形 28"/>
          <p:cNvSpPr/>
          <p:nvPr/>
        </p:nvSpPr>
        <p:spPr bwMode="gray">
          <a:xfrm>
            <a:off x="7420105" y="2476276"/>
            <a:ext cx="4328983" cy="707886"/>
          </a:xfrm>
          <a:prstGeom prst="rect">
            <a:avLst/>
          </a:prstGeom>
        </p:spPr>
        <p:txBody>
          <a:bodyPr wrap="square">
            <a:spAutoFit/>
          </a:bodyPr>
          <a:lstStyle/>
          <a:p>
            <a:pPr>
              <a:lnSpc>
                <a:spcPts val="2400"/>
              </a:lnSpc>
              <a:spcAft>
                <a:spcPts val="3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HTTP 2.0</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的双向认证加密查询通道，保证用户设备信息不泄露。</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79"/>
          <p:cNvSpPr txBox="1"/>
          <p:nvPr/>
        </p:nvSpPr>
        <p:spPr bwMode="gray">
          <a:xfrm>
            <a:off x="6168304" y="3571579"/>
            <a:ext cx="1158557" cy="280280"/>
          </a:xfrm>
          <a:prstGeom prst="roundRect">
            <a:avLst>
              <a:gd name="adj" fmla="val 49545"/>
            </a:avLst>
          </a:prstGeom>
          <a:solidFill>
            <a:srgbClr val="56C4D2"/>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z="14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广泛覆盖</a:t>
            </a:r>
            <a:endParaRPr lang="zh-CN" altLang="en-US" sz="14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7420105" y="3506467"/>
            <a:ext cx="4224901" cy="400110"/>
          </a:xfrm>
          <a:prstGeom prst="rect">
            <a:avLst/>
          </a:prstGeom>
        </p:spPr>
        <p:txBody>
          <a:bodyPr wrap="square">
            <a:spAutoFit/>
          </a:bodyPr>
          <a:lstStyle/>
          <a:p>
            <a:pPr>
              <a:lnSpc>
                <a:spcPts val="2400"/>
              </a:lnSpc>
              <a:spcAft>
                <a:spcPts val="30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全球部署多个查询中心。</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79"/>
          <p:cNvSpPr txBox="1"/>
          <p:nvPr/>
        </p:nvSpPr>
        <p:spPr bwMode="gray">
          <a:xfrm>
            <a:off x="6168304" y="4503457"/>
            <a:ext cx="1158557" cy="280280"/>
          </a:xfrm>
          <a:prstGeom prst="roundRect">
            <a:avLst>
              <a:gd name="adj" fmla="val 49545"/>
            </a:avLst>
          </a:prstGeom>
          <a:solidFill>
            <a:srgbClr val="56C4D2"/>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z="14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快速响应</a:t>
            </a:r>
            <a:endParaRPr lang="zh-CN" altLang="en-US" sz="14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7420105" y="4310859"/>
            <a:ext cx="4328982" cy="707886"/>
          </a:xfrm>
          <a:prstGeom prst="rect">
            <a:avLst/>
          </a:prstGeom>
        </p:spPr>
        <p:txBody>
          <a:bodyPr wrap="square">
            <a:spAutoFit/>
          </a:bodyPr>
          <a:lstStyle/>
          <a:p>
            <a:pPr>
              <a:lnSpc>
                <a:spcPts val="2400"/>
              </a:lnSpc>
              <a:spcAft>
                <a:spcPts val="3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基于智能</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DNS</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，为设备返回最近的注册查询中心服务器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地址，保证查询速度。</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Oval 4"/>
          <p:cNvSpPr>
            <a:spLocks noChangeAspect="1"/>
          </p:cNvSpPr>
          <p:nvPr/>
        </p:nvSpPr>
        <p:spPr bwMode="gray">
          <a:xfrm>
            <a:off x="3867777" y="3306138"/>
            <a:ext cx="252000" cy="252000"/>
          </a:xfrm>
          <a:prstGeom prst="ellipse">
            <a:avLst/>
          </a:prstGeom>
          <a:solidFill>
            <a:srgbClr val="30B5C5"/>
          </a:solidFill>
          <a:ln w="1270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smtClean="0">
                <a:ln>
                  <a:noFill/>
                </a:ln>
                <a:solidFill>
                  <a:prstClr val="white"/>
                </a:solidFill>
                <a:effectLst/>
                <a:uLnTx/>
                <a:uFillTx/>
                <a:latin typeface="Huawei Sans"/>
                <a:ea typeface="方正兰亭黑简体"/>
                <a:cs typeface="+mn-cs"/>
                <a:sym typeface="Huawei Sans" panose="020C0503030203020204" pitchFamily="34" charset="0"/>
              </a:rPr>
              <a:t>1</a:t>
            </a:r>
            <a:endParaRPr kumimoji="0" lang="zh-CN" altLang="en-US" sz="1400" b="1" i="0" u="none" strike="noStrike" kern="0" cap="none" spc="0" normalizeH="0" baseline="0" noProof="0" dirty="0" smtClean="0">
              <a:ln>
                <a:noFill/>
              </a:ln>
              <a:solidFill>
                <a:prstClr val="white"/>
              </a:solidFill>
              <a:effectLst/>
              <a:uLnTx/>
              <a:uFillTx/>
              <a:latin typeface="Huawei Sans"/>
              <a:ea typeface="方正兰亭黑简体"/>
              <a:cs typeface="+mn-cs"/>
              <a:sym typeface="Huawei Sans" panose="020C0503030203020204" pitchFamily="34" charset="0"/>
            </a:endParaRPr>
          </a:p>
        </p:txBody>
      </p:sp>
      <p:sp>
        <p:nvSpPr>
          <p:cNvPr id="35" name="Oval 4"/>
          <p:cNvSpPr>
            <a:spLocks noChangeAspect="1"/>
          </p:cNvSpPr>
          <p:nvPr/>
        </p:nvSpPr>
        <p:spPr bwMode="gray">
          <a:xfrm>
            <a:off x="2573105" y="3306138"/>
            <a:ext cx="252000" cy="252000"/>
          </a:xfrm>
          <a:prstGeom prst="ellipse">
            <a:avLst/>
          </a:prstGeom>
          <a:solidFill>
            <a:srgbClr val="30B5C5"/>
          </a:solidFill>
          <a:ln w="1270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smtClean="0">
                <a:ln>
                  <a:noFill/>
                </a:ln>
                <a:solidFill>
                  <a:prstClr val="white"/>
                </a:solidFill>
                <a:effectLst/>
                <a:uLnTx/>
                <a:uFillTx/>
                <a:latin typeface="Huawei Sans"/>
                <a:ea typeface="方正兰亭黑简体"/>
                <a:cs typeface="+mn-cs"/>
                <a:sym typeface="Huawei Sans" panose="020C0503030203020204" pitchFamily="34" charset="0"/>
              </a:rPr>
              <a:t>2</a:t>
            </a:r>
            <a:endParaRPr kumimoji="0" lang="zh-CN" altLang="en-US" sz="1400" b="1" i="0" u="none" strike="noStrike" kern="0" cap="none" spc="0" normalizeH="0" baseline="0" noProof="0" dirty="0" smtClean="0">
              <a:ln>
                <a:noFill/>
              </a:ln>
              <a:solidFill>
                <a:prstClr val="white"/>
              </a:solidFill>
              <a:effectLst/>
              <a:uLnTx/>
              <a:uFillTx/>
              <a:latin typeface="Huawei Sans"/>
              <a:ea typeface="方正兰亭黑简体"/>
              <a:cs typeface="+mn-cs"/>
              <a:sym typeface="Huawei Sans" panose="020C0503030203020204" pitchFamily="34" charset="0"/>
            </a:endParaRPr>
          </a:p>
        </p:txBody>
      </p:sp>
    </p:spTree>
    <p:extLst>
      <p:ext uri="{BB962C8B-B14F-4D97-AF65-F5344CB8AC3E}">
        <p14:creationId xmlns:p14="http://schemas.microsoft.com/office/powerpoint/2010/main" val="12376327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CloudCampus</a:t>
            </a:r>
            <a:r>
              <a:rPr lang="zh-CN" altLang="en-US" dirty="0" smtClean="0">
                <a:sym typeface="Huawei Sans" panose="020C0503030203020204" pitchFamily="34" charset="0"/>
              </a:rPr>
              <a:t>方案组件 </a:t>
            </a:r>
            <a:r>
              <a:rPr lang="en-US" altLang="zh-CN" dirty="0" smtClean="0">
                <a:sym typeface="Huawei Sans" panose="020C0503030203020204" pitchFamily="34" charset="0"/>
              </a:rPr>
              <a:t>- </a:t>
            </a:r>
            <a:r>
              <a:rPr lang="en-US" altLang="zh-CN" dirty="0" err="1" smtClean="0">
                <a:sym typeface="Huawei Sans" panose="020C0503030203020204" pitchFamily="34" charset="0"/>
              </a:rPr>
              <a:t>iMaster</a:t>
            </a:r>
            <a:r>
              <a:rPr lang="en-US" altLang="zh-CN" dirty="0" smtClean="0">
                <a:sym typeface="Huawei Sans" panose="020C0503030203020204" pitchFamily="34" charset="0"/>
              </a:rPr>
              <a:t> NCE-</a:t>
            </a:r>
            <a:r>
              <a:rPr lang="en-US" altLang="zh-CN" dirty="0" err="1" smtClean="0">
                <a:sym typeface="Huawei Sans" panose="020C0503030203020204" pitchFamily="34" charset="0"/>
              </a:rPr>
              <a:t>CampusInsight</a:t>
            </a:r>
            <a:endParaRPr lang="zh-CN" altLang="en-US" dirty="0">
              <a:sym typeface="Huawei Sans" panose="020C0503030203020204" pitchFamily="34" charset="0"/>
            </a:endParaRPr>
          </a:p>
        </p:txBody>
      </p:sp>
      <p:sp>
        <p:nvSpPr>
          <p:cNvPr id="16" name="矩形 15"/>
          <p:cNvSpPr/>
          <p:nvPr/>
        </p:nvSpPr>
        <p:spPr bwMode="gray">
          <a:xfrm>
            <a:off x="487578" y="5845653"/>
            <a:ext cx="11145622" cy="307777"/>
          </a:xfrm>
          <a:prstGeom prst="rect">
            <a:avLst/>
          </a:prstGeom>
          <a:solidFill>
            <a:srgbClr val="BF8082"/>
          </a:solidFill>
        </p:spPr>
        <p:txBody>
          <a:bodyPr wrap="square">
            <a:spAutoFit/>
          </a:bodyPr>
          <a:lstStyle/>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利用算法提升效率，通过场景化的持续学习和专家经验，智能运维将运维人员从复杂的告警和</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噪声中解放</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出来，使运维更加自动化和</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智能化</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Right Arrow 157"/>
          <p:cNvSpPr/>
          <p:nvPr/>
        </p:nvSpPr>
        <p:spPr bwMode="gray">
          <a:xfrm>
            <a:off x="4644365" y="3224404"/>
            <a:ext cx="673200" cy="347871"/>
          </a:xfrm>
          <a:prstGeom prst="rightArrow">
            <a:avLst>
              <a:gd name="adj1" fmla="val 64439"/>
              <a:gd name="adj2" fmla="val 50000"/>
            </a:avLst>
          </a:prstGeom>
          <a:gradFill flip="none" rotWithShape="1">
            <a:gsLst>
              <a:gs pos="15000">
                <a:schemeClr val="accent1">
                  <a:lumMod val="5000"/>
                  <a:lumOff val="95000"/>
                  <a:alpha val="0"/>
                </a:schemeClr>
              </a:gs>
              <a:gs pos="81000">
                <a:srgbClr val="94DAE2"/>
              </a:gs>
            </a:gsLst>
            <a:lin ang="0" scaled="1"/>
            <a:tileRect/>
          </a:gradFill>
          <a:ln>
            <a:gradFill flip="none" rotWithShape="1">
              <a:gsLst>
                <a:gs pos="11000">
                  <a:schemeClr val="accent1">
                    <a:lumMod val="0"/>
                    <a:lumOff val="100000"/>
                    <a:alpha val="0"/>
                  </a:schemeClr>
                </a:gs>
                <a:gs pos="74000">
                  <a:srgbClr val="56C4D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任意多边形 37"/>
          <p:cNvSpPr/>
          <p:nvPr/>
        </p:nvSpPr>
        <p:spPr bwMode="gray">
          <a:xfrm rot="5400000" flipV="1">
            <a:off x="2264627" y="2075225"/>
            <a:ext cx="1497201" cy="496193"/>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2042390"/>
              <a:gd name="connsiteY0" fmla="*/ 0 h 659976"/>
              <a:gd name="connsiteX1" fmla="*/ 0 w 2042390"/>
              <a:gd name="connsiteY1" fmla="*/ 659976 h 659976"/>
              <a:gd name="connsiteX2" fmla="*/ 2042390 w 2042390"/>
              <a:gd name="connsiteY2" fmla="*/ 480554 h 659976"/>
              <a:gd name="connsiteX3" fmla="*/ 602404 w 2042390"/>
              <a:gd name="connsiteY3" fmla="*/ 0 h 659976"/>
              <a:gd name="connsiteX0" fmla="*/ 4898426 w 6338412"/>
              <a:gd name="connsiteY0" fmla="*/ 0 h 507739"/>
              <a:gd name="connsiteX1" fmla="*/ 0 w 6338412"/>
              <a:gd name="connsiteY1" fmla="*/ 507739 h 507739"/>
              <a:gd name="connsiteX2" fmla="*/ 6338412 w 6338412"/>
              <a:gd name="connsiteY2" fmla="*/ 480554 h 507739"/>
              <a:gd name="connsiteX3" fmla="*/ 4898426 w 6338412"/>
              <a:gd name="connsiteY3" fmla="*/ 0 h 507739"/>
              <a:gd name="connsiteX0" fmla="*/ 4203860 w 6338412"/>
              <a:gd name="connsiteY0" fmla="*/ 0 h 627354"/>
              <a:gd name="connsiteX1" fmla="*/ 0 w 6338412"/>
              <a:gd name="connsiteY1" fmla="*/ 627354 h 627354"/>
              <a:gd name="connsiteX2" fmla="*/ 6338412 w 6338412"/>
              <a:gd name="connsiteY2" fmla="*/ 600169 h 627354"/>
              <a:gd name="connsiteX3" fmla="*/ 4203860 w 6338412"/>
              <a:gd name="connsiteY3"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261238"/>
              <a:gd name="connsiteY0" fmla="*/ 0 h 627354"/>
              <a:gd name="connsiteX1" fmla="*/ 0 w 6261238"/>
              <a:gd name="connsiteY1" fmla="*/ 627354 h 627354"/>
              <a:gd name="connsiteX2" fmla="*/ 6261238 w 6261238"/>
              <a:gd name="connsiteY2" fmla="*/ 605606 h 627354"/>
              <a:gd name="connsiteX3" fmla="*/ 4883586 w 6261238"/>
              <a:gd name="connsiteY3" fmla="*/ 6442 h 627354"/>
              <a:gd name="connsiteX4" fmla="*/ 4203860 w 6261238"/>
              <a:gd name="connsiteY4" fmla="*/ 0 h 627354"/>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660639 w 6261238"/>
              <a:gd name="connsiteY3" fmla="*/ 0 h 620912"/>
              <a:gd name="connsiteX4" fmla="*/ 3732241 w 6261238"/>
              <a:gd name="connsiteY4" fmla="*/ 4432 h 620912"/>
              <a:gd name="connsiteX0" fmla="*/ 4049512 w 6261238"/>
              <a:gd name="connsiteY0" fmla="*/ 0 h 638228"/>
              <a:gd name="connsiteX1" fmla="*/ 0 w 6261238"/>
              <a:gd name="connsiteY1" fmla="*/ 638228 h 638228"/>
              <a:gd name="connsiteX2" fmla="*/ 6261238 w 6261238"/>
              <a:gd name="connsiteY2" fmla="*/ 616480 h 638228"/>
              <a:gd name="connsiteX3" fmla="*/ 4660639 w 6261238"/>
              <a:gd name="connsiteY3" fmla="*/ 17316 h 638228"/>
              <a:gd name="connsiteX4" fmla="*/ 4049512 w 6261238"/>
              <a:gd name="connsiteY4" fmla="*/ 0 h 638228"/>
              <a:gd name="connsiteX0" fmla="*/ 4049512 w 6261238"/>
              <a:gd name="connsiteY0" fmla="*/ 0 h 638228"/>
              <a:gd name="connsiteX1" fmla="*/ 0 w 6261238"/>
              <a:gd name="connsiteY1" fmla="*/ 638228 h 638228"/>
              <a:gd name="connsiteX2" fmla="*/ 6261238 w 6261238"/>
              <a:gd name="connsiteY2" fmla="*/ 616480 h 638228"/>
              <a:gd name="connsiteX3" fmla="*/ 4652065 w 6261238"/>
              <a:gd name="connsiteY3" fmla="*/ 8254 h 638228"/>
              <a:gd name="connsiteX4" fmla="*/ 4049512 w 6261238"/>
              <a:gd name="connsiteY4" fmla="*/ 0 h 638228"/>
              <a:gd name="connsiteX0" fmla="*/ 4049512 w 6261238"/>
              <a:gd name="connsiteY0" fmla="*/ 808 h 639036"/>
              <a:gd name="connsiteX1" fmla="*/ 0 w 6261238"/>
              <a:gd name="connsiteY1" fmla="*/ 639036 h 639036"/>
              <a:gd name="connsiteX2" fmla="*/ 6261238 w 6261238"/>
              <a:gd name="connsiteY2" fmla="*/ 617288 h 639036"/>
              <a:gd name="connsiteX3" fmla="*/ 4632057 w 6261238"/>
              <a:gd name="connsiteY3" fmla="*/ 0 h 639036"/>
              <a:gd name="connsiteX4" fmla="*/ 4049512 w 6261238"/>
              <a:gd name="connsiteY4" fmla="*/ 808 h 639036"/>
              <a:gd name="connsiteX0" fmla="*/ 4232634 w 6261238"/>
              <a:gd name="connsiteY0" fmla="*/ 0 h 670850"/>
              <a:gd name="connsiteX1" fmla="*/ 0 w 6261238"/>
              <a:gd name="connsiteY1" fmla="*/ 670850 h 670850"/>
              <a:gd name="connsiteX2" fmla="*/ 6261238 w 6261238"/>
              <a:gd name="connsiteY2" fmla="*/ 649102 h 670850"/>
              <a:gd name="connsiteX3" fmla="*/ 4632057 w 6261238"/>
              <a:gd name="connsiteY3" fmla="*/ 31814 h 670850"/>
              <a:gd name="connsiteX4" fmla="*/ 4232634 w 6261238"/>
              <a:gd name="connsiteY4" fmla="*/ 0 h 670850"/>
              <a:gd name="connsiteX0" fmla="*/ 4232634 w 6261238"/>
              <a:gd name="connsiteY0" fmla="*/ 807 h 671657"/>
              <a:gd name="connsiteX1" fmla="*/ 0 w 6261238"/>
              <a:gd name="connsiteY1" fmla="*/ 671657 h 671657"/>
              <a:gd name="connsiteX2" fmla="*/ 6261238 w 6261238"/>
              <a:gd name="connsiteY2" fmla="*/ 649909 h 671657"/>
              <a:gd name="connsiteX3" fmla="*/ 4595441 w 6261238"/>
              <a:gd name="connsiteY3" fmla="*/ 0 h 671657"/>
              <a:gd name="connsiteX4" fmla="*/ 4232634 w 6261238"/>
              <a:gd name="connsiteY4" fmla="*/ 807 h 671657"/>
              <a:gd name="connsiteX0" fmla="*/ 1286382 w 3314986"/>
              <a:gd name="connsiteY0" fmla="*/ 807 h 649909"/>
              <a:gd name="connsiteX1" fmla="*/ 0 w 3314986"/>
              <a:gd name="connsiteY1" fmla="*/ 407055 h 649909"/>
              <a:gd name="connsiteX2" fmla="*/ 3314986 w 3314986"/>
              <a:gd name="connsiteY2" fmla="*/ 649909 h 649909"/>
              <a:gd name="connsiteX3" fmla="*/ 1649189 w 3314986"/>
              <a:gd name="connsiteY3" fmla="*/ 0 h 649909"/>
              <a:gd name="connsiteX4" fmla="*/ 1286382 w 3314986"/>
              <a:gd name="connsiteY4" fmla="*/ 807 h 649909"/>
              <a:gd name="connsiteX0" fmla="*/ 1286382 w 3087099"/>
              <a:gd name="connsiteY0" fmla="*/ 807 h 410680"/>
              <a:gd name="connsiteX1" fmla="*/ 0 w 3087099"/>
              <a:gd name="connsiteY1" fmla="*/ 407055 h 410680"/>
              <a:gd name="connsiteX2" fmla="*/ 3087099 w 3087099"/>
              <a:gd name="connsiteY2" fmla="*/ 410680 h 410680"/>
              <a:gd name="connsiteX3" fmla="*/ 1649189 w 3087099"/>
              <a:gd name="connsiteY3" fmla="*/ 0 h 410680"/>
              <a:gd name="connsiteX4" fmla="*/ 1286382 w 3087099"/>
              <a:gd name="connsiteY4" fmla="*/ 807 h 410680"/>
              <a:gd name="connsiteX0" fmla="*/ 1286382 w 3709719"/>
              <a:gd name="connsiteY0" fmla="*/ 807 h 407055"/>
              <a:gd name="connsiteX1" fmla="*/ 0 w 3709719"/>
              <a:gd name="connsiteY1" fmla="*/ 407055 h 407055"/>
              <a:gd name="connsiteX2" fmla="*/ 3709719 w 3709719"/>
              <a:gd name="connsiteY2" fmla="*/ 350873 h 407055"/>
              <a:gd name="connsiteX3" fmla="*/ 1649189 w 3709719"/>
              <a:gd name="connsiteY3" fmla="*/ 0 h 407055"/>
              <a:gd name="connsiteX4" fmla="*/ 1286382 w 3709719"/>
              <a:gd name="connsiteY4" fmla="*/ 807 h 407055"/>
              <a:gd name="connsiteX0" fmla="*/ 1616004 w 4039341"/>
              <a:gd name="connsiteY0" fmla="*/ 807 h 354044"/>
              <a:gd name="connsiteX1" fmla="*/ 0 w 4039341"/>
              <a:gd name="connsiteY1" fmla="*/ 354044 h 354044"/>
              <a:gd name="connsiteX2" fmla="*/ 4039341 w 4039341"/>
              <a:gd name="connsiteY2" fmla="*/ 350873 h 354044"/>
              <a:gd name="connsiteX3" fmla="*/ 1978811 w 4039341"/>
              <a:gd name="connsiteY3" fmla="*/ 0 h 354044"/>
              <a:gd name="connsiteX4" fmla="*/ 1616004 w 4039341"/>
              <a:gd name="connsiteY4" fmla="*/ 807 h 354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9341" h="354044">
                <a:moveTo>
                  <a:pt x="1616004" y="807"/>
                </a:moveTo>
                <a:lnTo>
                  <a:pt x="0" y="354044"/>
                </a:lnTo>
                <a:lnTo>
                  <a:pt x="4039341" y="350873"/>
                </a:lnTo>
                <a:lnTo>
                  <a:pt x="1978811" y="0"/>
                </a:lnTo>
                <a:lnTo>
                  <a:pt x="1616004" y="807"/>
                </a:lnTo>
                <a:close/>
              </a:path>
            </a:pathLst>
          </a:custGeom>
          <a:gradFill>
            <a:gsLst>
              <a:gs pos="100000">
                <a:sysClr val="window" lastClr="FFFFFF">
                  <a:alpha val="0"/>
                </a:sysClr>
              </a:gs>
              <a:gs pos="41000">
                <a:schemeClr val="bg1">
                  <a:lumMod val="75000"/>
                </a:schemeClr>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圆角矩形 38"/>
          <p:cNvSpPr/>
          <p:nvPr/>
        </p:nvSpPr>
        <p:spPr bwMode="gray">
          <a:xfrm>
            <a:off x="577537" y="1189741"/>
            <a:ext cx="4107345" cy="360000"/>
          </a:xfrm>
          <a:prstGeom prst="roundRect">
            <a:avLst/>
          </a:prstGeom>
          <a:gradFill>
            <a:gsLst>
              <a:gs pos="0">
                <a:schemeClr val="bg1"/>
              </a:gs>
              <a:gs pos="100000">
                <a:schemeClr val="bg1">
                  <a:lumMod val="85000"/>
                </a:schemeClr>
              </a:gs>
            </a:gsLst>
            <a:lin ang="5400000" scaled="1"/>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AS-IS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：以设备为中心的网络管理</a:t>
            </a:r>
            <a:endPar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39"/>
          <p:cNvSpPr/>
          <p:nvPr/>
        </p:nvSpPr>
        <p:spPr bwMode="gray">
          <a:xfrm>
            <a:off x="5340618" y="1189741"/>
            <a:ext cx="608132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TO-BE</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：以用户体验为中心的</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智能运维</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40"/>
          <p:cNvSpPr/>
          <p:nvPr/>
        </p:nvSpPr>
        <p:spPr bwMode="gray">
          <a:xfrm>
            <a:off x="5340618" y="1585879"/>
            <a:ext cx="6081320" cy="4098295"/>
          </a:xfrm>
          <a:prstGeom prst="roundRect">
            <a:avLst>
              <a:gd name="adj" fmla="val 973"/>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2" name="圆角矩形 41"/>
          <p:cNvSpPr/>
          <p:nvPr/>
        </p:nvSpPr>
        <p:spPr bwMode="gray">
          <a:xfrm>
            <a:off x="573438" y="1585877"/>
            <a:ext cx="4110788" cy="4098297"/>
          </a:xfrm>
          <a:prstGeom prst="roundRect">
            <a:avLst>
              <a:gd name="adj" fmla="val 181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3" name="文本框 42"/>
          <p:cNvSpPr txBox="1"/>
          <p:nvPr/>
        </p:nvSpPr>
        <p:spPr bwMode="gray">
          <a:xfrm>
            <a:off x="683737" y="4358920"/>
            <a:ext cx="3279914" cy="892167"/>
          </a:xfrm>
          <a:prstGeom prst="rect">
            <a:avLst/>
          </a:prstGeom>
          <a:noFill/>
        </p:spPr>
        <p:txBody>
          <a:bodyPr wrap="square" rtlCol="0">
            <a:spAutoFit/>
          </a:bodyPr>
          <a:lstStyle/>
          <a:p>
            <a:pPr marL="180849" indent="-180849" defTabSz="1218418">
              <a:spcAft>
                <a:spcPts val="600"/>
              </a:spcAft>
              <a:buFont typeface="Arial" panose="020B0604020202020204" pitchFamily="34" charset="0"/>
              <a:buChar char="•"/>
            </a:pP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以设备为中心</a:t>
            </a: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，无法感知用户</a:t>
            </a:r>
            <a:r>
              <a:rPr lang="zh-CN" altLang="en-US" sz="1399"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体验。</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“救火式”响应</a:t>
            </a: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，无法识别潜在</a:t>
            </a:r>
            <a:r>
              <a:rPr lang="zh-CN" altLang="en-US" sz="1399"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80849" indent="-180849" defTabSz="1218418">
              <a:spcAft>
                <a:spcPts val="600"/>
              </a:spcAft>
              <a:buFont typeface="Arial" panose="020B0604020202020204" pitchFamily="34" charset="0"/>
              <a:buChar char="•"/>
            </a:pPr>
            <a:r>
              <a:rPr lang="zh-CN" altLang="en-US"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依靠专业工程师</a:t>
            </a:r>
            <a:r>
              <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现场定位</a:t>
            </a:r>
            <a:r>
              <a:rPr lang="zh-CN" altLang="en-US" sz="1399" b="1"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a:t>
            </a:r>
            <a:endParaRPr lang="zh-CN" altLang="en-US" sz="1399"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矩形 43"/>
          <p:cNvSpPr/>
          <p:nvPr/>
        </p:nvSpPr>
        <p:spPr bwMode="gray">
          <a:xfrm>
            <a:off x="1063330" y="3413533"/>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文本框 44"/>
          <p:cNvSpPr txBox="1"/>
          <p:nvPr/>
        </p:nvSpPr>
        <p:spPr bwMode="gray">
          <a:xfrm>
            <a:off x="1063330" y="2607625"/>
            <a:ext cx="1568638" cy="584395"/>
          </a:xfrm>
          <a:prstGeom prst="rect">
            <a:avLst/>
          </a:prstGeom>
          <a:noFill/>
        </p:spPr>
        <p:txBody>
          <a:bodyPr wrap="none" rtlCol="0">
            <a:spAutoFit/>
          </a:bodyPr>
          <a:lstStyle/>
          <a:p>
            <a:pPr algn="r" defTabSz="1218418"/>
            <a:r>
              <a:rPr lang="en-US" altLang="zh-CN" sz="1998" b="1" dirty="0">
                <a:latin typeface="Huawei Sans" panose="020C0503030203020204" pitchFamily="34" charset="0"/>
                <a:ea typeface="方正兰亭黑简体" panose="02000000000000000000" pitchFamily="2" charset="-122"/>
                <a:cs typeface="+mn-ea"/>
                <a:sym typeface="Huawei Sans" panose="020C0503030203020204" pitchFamily="34" charset="0"/>
              </a:rPr>
              <a:t>SNMP</a:t>
            </a:r>
          </a:p>
          <a:p>
            <a:pPr algn="r" defTabSz="1218418"/>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分钟级网络数据采集</a:t>
            </a:r>
            <a:endParaRPr lang="en-US" altLang="zh-CN" sz="15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6" name="直接箭头连接符 45"/>
          <p:cNvCxnSpPr/>
          <p:nvPr/>
        </p:nvCxnSpPr>
        <p:spPr bwMode="gray">
          <a:xfrm>
            <a:off x="2603961" y="2500589"/>
            <a:ext cx="0" cy="798527"/>
          </a:xfrm>
          <a:prstGeom prst="straightConnector1">
            <a:avLst/>
          </a:prstGeom>
          <a:noFill/>
          <a:ln w="28575" algn="ctr">
            <a:solidFill>
              <a:schemeClr val="bg1">
                <a:lumMod val="75000"/>
              </a:schemeClr>
            </a:solidFill>
            <a:round/>
            <a:headEnd type="triangle" w="med" len="med"/>
            <a:tailEnd type="none" w="med" len="med"/>
          </a:ln>
        </p:spPr>
      </p:cxnSp>
      <p:sp>
        <p:nvSpPr>
          <p:cNvPr id="47" name="矩形 46"/>
          <p:cNvSpPr/>
          <p:nvPr/>
        </p:nvSpPr>
        <p:spPr bwMode="gray">
          <a:xfrm>
            <a:off x="3194644" y="1694072"/>
            <a:ext cx="1261884" cy="1259086"/>
          </a:xfrm>
          <a:prstGeom prst="rect">
            <a:avLst/>
          </a:prstGeom>
          <a:solidFill>
            <a:schemeClr val="bg1"/>
          </a:solidFill>
          <a:ln w="9525" cap="flat" cmpd="sng" algn="ctr">
            <a:solidFill>
              <a:schemeClr val="bg1">
                <a:lumMod val="85000"/>
              </a:schemeClr>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6213" indent="-176213">
              <a:lnSpc>
                <a:spcPts val="1800"/>
              </a:lnSpc>
              <a:buFont typeface="Arial" panose="020B0604020202020204" pitchFamily="34" charset="0"/>
              <a:buChar char="•"/>
            </a:pPr>
            <a:r>
              <a:rPr lang="zh-CN" altLang="en-US" sz="1200" kern="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拓扑</a:t>
            </a: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性能管理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告警管理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配置管理</a:t>
            </a:r>
            <a:endParaRPr lang="en-US" altLang="zh-CN" sz="1200" kern="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5401733" y="3976015"/>
            <a:ext cx="6007039" cy="1708160"/>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1217982" fontAlgn="auto">
              <a:lnSpc>
                <a:spcPts val="1679"/>
              </a:lnSpc>
              <a:spcAft>
                <a:spcPts val="600"/>
              </a:spcAft>
            </a:pPr>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体验</a:t>
            </a:r>
            <a:r>
              <a:rPr lang="zh-CN" altLang="en-US"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可视化：</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秒级数据采集，每用户每应用每时刻体验</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可视</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1217982" fontAlgn="auto">
              <a:lnSpc>
                <a:spcPts val="1679"/>
              </a:lnSpc>
              <a:spcAft>
                <a:spcPts val="600"/>
              </a:spcAft>
            </a:pPr>
            <a:r>
              <a:rPr lang="zh-CN" altLang="en-US"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分钟级潜在</a:t>
            </a:r>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故障识别和根因</a:t>
            </a:r>
            <a:r>
              <a:rPr lang="zh-CN" altLang="en-US"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定位：</a:t>
            </a:r>
            <a:endParaRPr lang="en-US" altLang="zh-CN"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628530" lvl="1" indent="-171330" defTabSz="1217982" fontAlgn="auto">
              <a:lnSpc>
                <a:spcPts val="1679"/>
              </a:lnSpc>
              <a:spcAft>
                <a:spcPts val="6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基于动态基线、大数据关联等识别潜在故障。</a:t>
            </a:r>
          </a:p>
          <a:p>
            <a:pPr marL="628530" lvl="1" indent="-171330" defTabSz="1217982" fontAlgn="auto">
              <a:lnSpc>
                <a:spcPts val="1679"/>
              </a:lnSpc>
              <a:spcAft>
                <a:spcPts val="600"/>
              </a:spcAft>
              <a:buFont typeface="Arial" panose="020B0604020202020204" pitchFamily="34" charset="0"/>
              <a:buChar char="•"/>
            </a:pP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KPI</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关联分析和协议回放，精准定位问题根</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因。</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1217982" fontAlgn="auto">
              <a:lnSpc>
                <a:spcPts val="1679"/>
              </a:lnSpc>
              <a:spcAft>
                <a:spcPts val="600"/>
              </a:spcAft>
            </a:pPr>
            <a:r>
              <a:rPr lang="zh-CN" altLang="en-US" sz="1400" b="1" dirty="0" smtClean="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网络预测性调优：</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智能分析</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的负载趋势，完成无线网络的预测性调优闭环。</a:t>
            </a:r>
            <a:endParaRPr lang="en-US" altLang="zh-CN" sz="1400" b="1" dirty="0">
              <a:solidFill>
                <a:srgbClr val="C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矩形 48"/>
          <p:cNvSpPr/>
          <p:nvPr/>
        </p:nvSpPr>
        <p:spPr bwMode="gray">
          <a:xfrm>
            <a:off x="1506319" y="2100599"/>
            <a:ext cx="902811" cy="307648"/>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defTabSz="1217982" fontAlgn="auto">
              <a:spcAft>
                <a:spcPts val="0"/>
              </a:spcAft>
            </a:pPr>
            <a:r>
              <a:rPr lang="zh-CN" altLang="en-US" sz="1399" dirty="0" smtClean="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传统网管</a:t>
            </a:r>
            <a:endParaRPr lang="en-US" altLang="zh-CN" sz="1399"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50" name="组合 49"/>
          <p:cNvGrpSpPr/>
          <p:nvPr/>
        </p:nvGrpSpPr>
        <p:grpSpPr bwMode="gray">
          <a:xfrm>
            <a:off x="1295742" y="3524901"/>
            <a:ext cx="2594795" cy="249395"/>
            <a:chOff x="940595" y="3748838"/>
            <a:chExt cx="2594795" cy="249395"/>
          </a:xfrm>
        </p:grpSpPr>
        <p:pic>
          <p:nvPicPr>
            <p:cNvPr id="51"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5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53"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54"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55"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sp>
        <p:nvSpPr>
          <p:cNvPr id="56" name="文本框 55"/>
          <p:cNvSpPr txBox="1"/>
          <p:nvPr/>
        </p:nvSpPr>
        <p:spPr bwMode="gray">
          <a:xfrm>
            <a:off x="7165020" y="2607625"/>
            <a:ext cx="1441420" cy="584455"/>
          </a:xfrm>
          <a:prstGeom prst="rect">
            <a:avLst/>
          </a:prstGeom>
          <a:noFill/>
        </p:spPr>
        <p:txBody>
          <a:bodyPr wrap="none" rtlCol="0">
            <a:spAutoFit/>
          </a:bodyPr>
          <a:lstStyle/>
          <a:p>
            <a:pPr algn="r" defTabSz="1218418"/>
            <a:r>
              <a:rPr lang="en-US" altLang="zh-CN" sz="1998"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p>
          <a:p>
            <a:pPr algn="r" defTabSz="1218418"/>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秒级网络数据采集</a:t>
            </a:r>
            <a:endParaRPr lang="en-US" altLang="zh-CN" sz="1599"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7" name="直接箭头连接符 56"/>
          <p:cNvCxnSpPr/>
          <p:nvPr/>
        </p:nvCxnSpPr>
        <p:spPr bwMode="gray">
          <a:xfrm>
            <a:off x="8599378" y="2500589"/>
            <a:ext cx="0" cy="798527"/>
          </a:xfrm>
          <a:prstGeom prst="straightConnector1">
            <a:avLst/>
          </a:prstGeom>
          <a:noFill/>
          <a:ln w="28575" algn="ctr">
            <a:solidFill>
              <a:srgbClr val="C7000B"/>
            </a:solidFill>
            <a:round/>
            <a:headEnd type="triangle" w="med" len="med"/>
            <a:tailEnd type="none" w="med" len="med"/>
          </a:ln>
        </p:spPr>
      </p:cxnSp>
      <p:sp>
        <p:nvSpPr>
          <p:cNvPr id="58" name="矩形 57"/>
          <p:cNvSpPr/>
          <p:nvPr/>
        </p:nvSpPr>
        <p:spPr bwMode="gray">
          <a:xfrm>
            <a:off x="9778044" y="1694072"/>
            <a:ext cx="1441420" cy="1259086"/>
          </a:xfrm>
          <a:prstGeom prst="rect">
            <a:avLst/>
          </a:prstGeom>
          <a:solidFill>
            <a:schemeClr val="bg1"/>
          </a:solidFill>
          <a:ln w="9525" cap="flat" cmpd="sng" algn="ctr">
            <a:solidFill>
              <a:srgbClr val="BEE9EE"/>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体验可视化管理</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用户旅程回放</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潜在故障识别</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故障根因定位</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1800"/>
              </a:lnSpc>
              <a:buFont typeface="Arial" panose="020B0604020202020204" pitchFamily="34" charset="0"/>
              <a:buChar char="•"/>
            </a:pP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网络预测性调优</a:t>
            </a:r>
            <a:endPar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9" name="图片 5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7659326" y="1883297"/>
            <a:ext cx="1574850" cy="524950"/>
          </a:xfrm>
          <a:prstGeom prst="rect">
            <a:avLst/>
          </a:prstGeom>
        </p:spPr>
      </p:pic>
      <p:sp>
        <p:nvSpPr>
          <p:cNvPr id="60" name="矩形 59"/>
          <p:cNvSpPr/>
          <p:nvPr/>
        </p:nvSpPr>
        <p:spPr bwMode="gray">
          <a:xfrm>
            <a:off x="6950837" y="3413533"/>
            <a:ext cx="3059618" cy="472131"/>
          </a:xfrm>
          <a:prstGeom prst="rect">
            <a:avLst/>
          </a:prstGeom>
          <a:noFill/>
          <a:ln w="12700">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418"/>
            <a:endParaRPr lang="zh-CN" altLang="en-US" sz="3199">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61" name="组合 60"/>
          <p:cNvGrpSpPr/>
          <p:nvPr/>
        </p:nvGrpSpPr>
        <p:grpSpPr bwMode="gray">
          <a:xfrm>
            <a:off x="7183249" y="3524901"/>
            <a:ext cx="2594795" cy="249395"/>
            <a:chOff x="940595" y="3748838"/>
            <a:chExt cx="2594795" cy="249395"/>
          </a:xfrm>
        </p:grpSpPr>
        <p:pic>
          <p:nvPicPr>
            <p:cNvPr id="62"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30575" y="3748838"/>
              <a:ext cx="304815" cy="249395"/>
            </a:xfrm>
            <a:prstGeom prst="rect">
              <a:avLst/>
            </a:prstGeom>
          </p:spPr>
        </p:pic>
        <p:pic>
          <p:nvPicPr>
            <p:cNvPr id="6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085585" y="3748838"/>
              <a:ext cx="304815" cy="249395"/>
            </a:xfrm>
            <a:prstGeom prst="rect">
              <a:avLst/>
            </a:prstGeom>
            <a:noFill/>
          </p:spPr>
        </p:pic>
        <p:pic>
          <p:nvPicPr>
            <p:cNvPr id="64" name="图片 76" descr="接入交换机.png"/>
            <p:cNvPicPr>
              <a:picLocks noChangeAspect="1"/>
            </p:cNvPicPr>
            <p:nvPr/>
          </p:nvPicPr>
          <p:blipFill>
            <a:blip r:embed="rId5" cstate="print"/>
            <a:stretch>
              <a:fillRect/>
            </a:stretch>
          </p:blipFill>
          <p:spPr bwMode="gray">
            <a:xfrm>
              <a:off x="2658080" y="3748838"/>
              <a:ext cx="304815" cy="249395"/>
            </a:xfrm>
            <a:prstGeom prst="rect">
              <a:avLst/>
            </a:prstGeom>
          </p:spPr>
        </p:pic>
        <p:pic>
          <p:nvPicPr>
            <p:cNvPr id="65" name="图片 105" descr="AP.png"/>
            <p:cNvPicPr>
              <a:picLocks noChangeAspect="1"/>
            </p:cNvPicPr>
            <p:nvPr/>
          </p:nvPicPr>
          <p:blipFill>
            <a:blip r:embed="rId6" cstate="print"/>
            <a:stretch>
              <a:fillRect/>
            </a:stretch>
          </p:blipFill>
          <p:spPr bwMode="gray">
            <a:xfrm>
              <a:off x="940595" y="3748838"/>
              <a:ext cx="304815" cy="249395"/>
            </a:xfrm>
            <a:prstGeom prst="rect">
              <a:avLst/>
            </a:prstGeom>
          </p:spPr>
        </p:pic>
        <p:pic>
          <p:nvPicPr>
            <p:cNvPr id="66" name="图片 102" descr="AC-蓝.png"/>
            <p:cNvPicPr>
              <a:picLocks noChangeAspect="1"/>
            </p:cNvPicPr>
            <p:nvPr/>
          </p:nvPicPr>
          <p:blipFill>
            <a:blip r:embed="rId7" cstate="print"/>
            <a:stretch>
              <a:fillRect/>
            </a:stretch>
          </p:blipFill>
          <p:spPr bwMode="gray">
            <a:xfrm>
              <a:off x="1513090" y="3748838"/>
              <a:ext cx="304815" cy="249395"/>
            </a:xfrm>
            <a:prstGeom prst="rect">
              <a:avLst/>
            </a:prstGeom>
          </p:spPr>
        </p:pic>
      </p:grpSp>
      <p:pic>
        <p:nvPicPr>
          <p:cNvPr id="67" name="图片 72" descr="交换机.png"/>
          <p:cNvPicPr>
            <a:picLocks noChangeAspect="1"/>
          </p:cNvPicPr>
          <p:nvPr/>
        </p:nvPicPr>
        <p:blipFill>
          <a:blip r:embed="rId9" cstate="print"/>
          <a:stretch>
            <a:fillRect/>
          </a:stretch>
        </p:blipFill>
        <p:spPr bwMode="gray">
          <a:xfrm>
            <a:off x="2419015" y="2076304"/>
            <a:ext cx="404368" cy="331943"/>
          </a:xfrm>
          <a:prstGeom prst="rect">
            <a:avLst/>
          </a:prstGeom>
        </p:spPr>
      </p:pic>
      <p:sp>
        <p:nvSpPr>
          <p:cNvPr id="68" name="任意多边形 67"/>
          <p:cNvSpPr/>
          <p:nvPr/>
        </p:nvSpPr>
        <p:spPr bwMode="gray">
          <a:xfrm rot="5400000" flipV="1">
            <a:off x="8811681" y="2017463"/>
            <a:ext cx="1297505" cy="650640"/>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2042390"/>
              <a:gd name="connsiteY0" fmla="*/ 0 h 659976"/>
              <a:gd name="connsiteX1" fmla="*/ 0 w 2042390"/>
              <a:gd name="connsiteY1" fmla="*/ 659976 h 659976"/>
              <a:gd name="connsiteX2" fmla="*/ 2042390 w 2042390"/>
              <a:gd name="connsiteY2" fmla="*/ 480554 h 659976"/>
              <a:gd name="connsiteX3" fmla="*/ 602404 w 2042390"/>
              <a:gd name="connsiteY3" fmla="*/ 0 h 659976"/>
              <a:gd name="connsiteX0" fmla="*/ 4898426 w 6338412"/>
              <a:gd name="connsiteY0" fmla="*/ 0 h 507739"/>
              <a:gd name="connsiteX1" fmla="*/ 0 w 6338412"/>
              <a:gd name="connsiteY1" fmla="*/ 507739 h 507739"/>
              <a:gd name="connsiteX2" fmla="*/ 6338412 w 6338412"/>
              <a:gd name="connsiteY2" fmla="*/ 480554 h 507739"/>
              <a:gd name="connsiteX3" fmla="*/ 4898426 w 6338412"/>
              <a:gd name="connsiteY3" fmla="*/ 0 h 507739"/>
              <a:gd name="connsiteX0" fmla="*/ 4203860 w 6338412"/>
              <a:gd name="connsiteY0" fmla="*/ 0 h 627354"/>
              <a:gd name="connsiteX1" fmla="*/ 0 w 6338412"/>
              <a:gd name="connsiteY1" fmla="*/ 627354 h 627354"/>
              <a:gd name="connsiteX2" fmla="*/ 6338412 w 6338412"/>
              <a:gd name="connsiteY2" fmla="*/ 600169 h 627354"/>
              <a:gd name="connsiteX3" fmla="*/ 4203860 w 6338412"/>
              <a:gd name="connsiteY3"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338412"/>
              <a:gd name="connsiteY0" fmla="*/ 0 h 627354"/>
              <a:gd name="connsiteX1" fmla="*/ 0 w 6338412"/>
              <a:gd name="connsiteY1" fmla="*/ 627354 h 627354"/>
              <a:gd name="connsiteX2" fmla="*/ 6338412 w 6338412"/>
              <a:gd name="connsiteY2" fmla="*/ 600169 h 627354"/>
              <a:gd name="connsiteX3" fmla="*/ 4883586 w 6338412"/>
              <a:gd name="connsiteY3" fmla="*/ 6442 h 627354"/>
              <a:gd name="connsiteX4" fmla="*/ 4203860 w 6338412"/>
              <a:gd name="connsiteY4" fmla="*/ 0 h 627354"/>
              <a:gd name="connsiteX0" fmla="*/ 4203860 w 6261238"/>
              <a:gd name="connsiteY0" fmla="*/ 0 h 627354"/>
              <a:gd name="connsiteX1" fmla="*/ 0 w 6261238"/>
              <a:gd name="connsiteY1" fmla="*/ 627354 h 627354"/>
              <a:gd name="connsiteX2" fmla="*/ 6261238 w 6261238"/>
              <a:gd name="connsiteY2" fmla="*/ 605606 h 627354"/>
              <a:gd name="connsiteX3" fmla="*/ 4883586 w 6261238"/>
              <a:gd name="connsiteY3" fmla="*/ 6442 h 627354"/>
              <a:gd name="connsiteX4" fmla="*/ 4203860 w 6261238"/>
              <a:gd name="connsiteY4" fmla="*/ 0 h 627354"/>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883586 w 6261238"/>
              <a:gd name="connsiteY3" fmla="*/ 0 h 620912"/>
              <a:gd name="connsiteX4" fmla="*/ 3732241 w 6261238"/>
              <a:gd name="connsiteY4" fmla="*/ 4432 h 620912"/>
              <a:gd name="connsiteX0" fmla="*/ 3732241 w 6261238"/>
              <a:gd name="connsiteY0" fmla="*/ 4432 h 620912"/>
              <a:gd name="connsiteX1" fmla="*/ 0 w 6261238"/>
              <a:gd name="connsiteY1" fmla="*/ 620912 h 620912"/>
              <a:gd name="connsiteX2" fmla="*/ 6261238 w 6261238"/>
              <a:gd name="connsiteY2" fmla="*/ 599164 h 620912"/>
              <a:gd name="connsiteX3" fmla="*/ 4660639 w 6261238"/>
              <a:gd name="connsiteY3" fmla="*/ 0 h 620912"/>
              <a:gd name="connsiteX4" fmla="*/ 3732241 w 6261238"/>
              <a:gd name="connsiteY4" fmla="*/ 4432 h 620912"/>
              <a:gd name="connsiteX0" fmla="*/ 4049512 w 6261238"/>
              <a:gd name="connsiteY0" fmla="*/ 0 h 638228"/>
              <a:gd name="connsiteX1" fmla="*/ 0 w 6261238"/>
              <a:gd name="connsiteY1" fmla="*/ 638228 h 638228"/>
              <a:gd name="connsiteX2" fmla="*/ 6261238 w 6261238"/>
              <a:gd name="connsiteY2" fmla="*/ 616480 h 638228"/>
              <a:gd name="connsiteX3" fmla="*/ 4660639 w 6261238"/>
              <a:gd name="connsiteY3" fmla="*/ 17316 h 638228"/>
              <a:gd name="connsiteX4" fmla="*/ 4049512 w 6261238"/>
              <a:gd name="connsiteY4" fmla="*/ 0 h 638228"/>
              <a:gd name="connsiteX0" fmla="*/ 4049512 w 6261238"/>
              <a:gd name="connsiteY0" fmla="*/ 0 h 638228"/>
              <a:gd name="connsiteX1" fmla="*/ 0 w 6261238"/>
              <a:gd name="connsiteY1" fmla="*/ 638228 h 638228"/>
              <a:gd name="connsiteX2" fmla="*/ 6261238 w 6261238"/>
              <a:gd name="connsiteY2" fmla="*/ 616480 h 638228"/>
              <a:gd name="connsiteX3" fmla="*/ 4652065 w 6261238"/>
              <a:gd name="connsiteY3" fmla="*/ 8254 h 638228"/>
              <a:gd name="connsiteX4" fmla="*/ 4049512 w 6261238"/>
              <a:gd name="connsiteY4" fmla="*/ 0 h 638228"/>
              <a:gd name="connsiteX0" fmla="*/ 4049512 w 6261238"/>
              <a:gd name="connsiteY0" fmla="*/ 808 h 639036"/>
              <a:gd name="connsiteX1" fmla="*/ 0 w 6261238"/>
              <a:gd name="connsiteY1" fmla="*/ 639036 h 639036"/>
              <a:gd name="connsiteX2" fmla="*/ 6261238 w 6261238"/>
              <a:gd name="connsiteY2" fmla="*/ 617288 h 639036"/>
              <a:gd name="connsiteX3" fmla="*/ 4632057 w 6261238"/>
              <a:gd name="connsiteY3" fmla="*/ 0 h 639036"/>
              <a:gd name="connsiteX4" fmla="*/ 4049512 w 6261238"/>
              <a:gd name="connsiteY4" fmla="*/ 808 h 639036"/>
              <a:gd name="connsiteX0" fmla="*/ 4232634 w 6261238"/>
              <a:gd name="connsiteY0" fmla="*/ 0 h 670850"/>
              <a:gd name="connsiteX1" fmla="*/ 0 w 6261238"/>
              <a:gd name="connsiteY1" fmla="*/ 670850 h 670850"/>
              <a:gd name="connsiteX2" fmla="*/ 6261238 w 6261238"/>
              <a:gd name="connsiteY2" fmla="*/ 649102 h 670850"/>
              <a:gd name="connsiteX3" fmla="*/ 4632057 w 6261238"/>
              <a:gd name="connsiteY3" fmla="*/ 31814 h 670850"/>
              <a:gd name="connsiteX4" fmla="*/ 4232634 w 6261238"/>
              <a:gd name="connsiteY4" fmla="*/ 0 h 670850"/>
              <a:gd name="connsiteX0" fmla="*/ 4232634 w 6261238"/>
              <a:gd name="connsiteY0" fmla="*/ 807 h 671657"/>
              <a:gd name="connsiteX1" fmla="*/ 0 w 6261238"/>
              <a:gd name="connsiteY1" fmla="*/ 671657 h 671657"/>
              <a:gd name="connsiteX2" fmla="*/ 6261238 w 6261238"/>
              <a:gd name="connsiteY2" fmla="*/ 649909 h 671657"/>
              <a:gd name="connsiteX3" fmla="*/ 4595441 w 6261238"/>
              <a:gd name="connsiteY3" fmla="*/ 0 h 671657"/>
              <a:gd name="connsiteX4" fmla="*/ 4232634 w 6261238"/>
              <a:gd name="connsiteY4" fmla="*/ 807 h 671657"/>
              <a:gd name="connsiteX0" fmla="*/ 1286382 w 3314986"/>
              <a:gd name="connsiteY0" fmla="*/ 807 h 649909"/>
              <a:gd name="connsiteX1" fmla="*/ 0 w 3314986"/>
              <a:gd name="connsiteY1" fmla="*/ 407055 h 649909"/>
              <a:gd name="connsiteX2" fmla="*/ 3314986 w 3314986"/>
              <a:gd name="connsiteY2" fmla="*/ 649909 h 649909"/>
              <a:gd name="connsiteX3" fmla="*/ 1649189 w 3314986"/>
              <a:gd name="connsiteY3" fmla="*/ 0 h 649909"/>
              <a:gd name="connsiteX4" fmla="*/ 1286382 w 3314986"/>
              <a:gd name="connsiteY4" fmla="*/ 807 h 649909"/>
              <a:gd name="connsiteX0" fmla="*/ 1286382 w 3087099"/>
              <a:gd name="connsiteY0" fmla="*/ 807 h 410680"/>
              <a:gd name="connsiteX1" fmla="*/ 0 w 3087099"/>
              <a:gd name="connsiteY1" fmla="*/ 407055 h 410680"/>
              <a:gd name="connsiteX2" fmla="*/ 3087099 w 3087099"/>
              <a:gd name="connsiteY2" fmla="*/ 410680 h 410680"/>
              <a:gd name="connsiteX3" fmla="*/ 1649189 w 3087099"/>
              <a:gd name="connsiteY3" fmla="*/ 0 h 410680"/>
              <a:gd name="connsiteX4" fmla="*/ 1286382 w 3087099"/>
              <a:gd name="connsiteY4" fmla="*/ 807 h 410680"/>
              <a:gd name="connsiteX0" fmla="*/ 1286382 w 3709719"/>
              <a:gd name="connsiteY0" fmla="*/ 807 h 407055"/>
              <a:gd name="connsiteX1" fmla="*/ 0 w 3709719"/>
              <a:gd name="connsiteY1" fmla="*/ 407055 h 407055"/>
              <a:gd name="connsiteX2" fmla="*/ 3709719 w 3709719"/>
              <a:gd name="connsiteY2" fmla="*/ 350873 h 407055"/>
              <a:gd name="connsiteX3" fmla="*/ 1649189 w 3709719"/>
              <a:gd name="connsiteY3" fmla="*/ 0 h 407055"/>
              <a:gd name="connsiteX4" fmla="*/ 1286382 w 3709719"/>
              <a:gd name="connsiteY4" fmla="*/ 807 h 407055"/>
              <a:gd name="connsiteX0" fmla="*/ 1616004 w 4039341"/>
              <a:gd name="connsiteY0" fmla="*/ 807 h 354044"/>
              <a:gd name="connsiteX1" fmla="*/ 0 w 4039341"/>
              <a:gd name="connsiteY1" fmla="*/ 354044 h 354044"/>
              <a:gd name="connsiteX2" fmla="*/ 4039341 w 4039341"/>
              <a:gd name="connsiteY2" fmla="*/ 350873 h 354044"/>
              <a:gd name="connsiteX3" fmla="*/ 1978811 w 4039341"/>
              <a:gd name="connsiteY3" fmla="*/ 0 h 354044"/>
              <a:gd name="connsiteX4" fmla="*/ 1616004 w 4039341"/>
              <a:gd name="connsiteY4" fmla="*/ 807 h 354044"/>
              <a:gd name="connsiteX0" fmla="*/ 1616004 w 4063764"/>
              <a:gd name="connsiteY0" fmla="*/ 807 h 412041"/>
              <a:gd name="connsiteX1" fmla="*/ 0 w 4063764"/>
              <a:gd name="connsiteY1" fmla="*/ 354044 h 412041"/>
              <a:gd name="connsiteX2" fmla="*/ 4063765 w 4063764"/>
              <a:gd name="connsiteY2" fmla="*/ 412041 h 412041"/>
              <a:gd name="connsiteX3" fmla="*/ 1978811 w 4063764"/>
              <a:gd name="connsiteY3" fmla="*/ 0 h 412041"/>
              <a:gd name="connsiteX4" fmla="*/ 1616004 w 4063764"/>
              <a:gd name="connsiteY4" fmla="*/ 807 h 412041"/>
              <a:gd name="connsiteX0" fmla="*/ 1603796 w 4051556"/>
              <a:gd name="connsiteY0" fmla="*/ 807 h 412041"/>
              <a:gd name="connsiteX1" fmla="*/ 0 w 4051556"/>
              <a:gd name="connsiteY1" fmla="*/ 409773 h 412041"/>
              <a:gd name="connsiteX2" fmla="*/ 4051557 w 4051556"/>
              <a:gd name="connsiteY2" fmla="*/ 412041 h 412041"/>
              <a:gd name="connsiteX3" fmla="*/ 1966603 w 4051556"/>
              <a:gd name="connsiteY3" fmla="*/ 0 h 412041"/>
              <a:gd name="connsiteX4" fmla="*/ 1603796 w 4051556"/>
              <a:gd name="connsiteY4" fmla="*/ 807 h 412041"/>
              <a:gd name="connsiteX0" fmla="*/ 1127675 w 4051556"/>
              <a:gd name="connsiteY0" fmla="*/ 0 h 464245"/>
              <a:gd name="connsiteX1" fmla="*/ 0 w 4051556"/>
              <a:gd name="connsiteY1" fmla="*/ 461977 h 464245"/>
              <a:gd name="connsiteX2" fmla="*/ 4051557 w 4051556"/>
              <a:gd name="connsiteY2" fmla="*/ 464245 h 464245"/>
              <a:gd name="connsiteX3" fmla="*/ 1966603 w 4051556"/>
              <a:gd name="connsiteY3" fmla="*/ 52204 h 464245"/>
              <a:gd name="connsiteX4" fmla="*/ 1127675 w 4051556"/>
              <a:gd name="connsiteY4" fmla="*/ 0 h 464245"/>
              <a:gd name="connsiteX0" fmla="*/ 1127675 w 4051556"/>
              <a:gd name="connsiteY0" fmla="*/ 0 h 464245"/>
              <a:gd name="connsiteX1" fmla="*/ 0 w 4051556"/>
              <a:gd name="connsiteY1" fmla="*/ 461977 h 464245"/>
              <a:gd name="connsiteX2" fmla="*/ 4051557 w 4051556"/>
              <a:gd name="connsiteY2" fmla="*/ 464245 h 464245"/>
              <a:gd name="connsiteX3" fmla="*/ 1875040 w 4051556"/>
              <a:gd name="connsiteY3" fmla="*/ 4630 h 464245"/>
              <a:gd name="connsiteX4" fmla="*/ 1127675 w 4051556"/>
              <a:gd name="connsiteY4" fmla="*/ 0 h 464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1556" h="464245">
                <a:moveTo>
                  <a:pt x="1127675" y="0"/>
                </a:moveTo>
                <a:lnTo>
                  <a:pt x="0" y="461977"/>
                </a:lnTo>
                <a:lnTo>
                  <a:pt x="4051557" y="464245"/>
                </a:lnTo>
                <a:lnTo>
                  <a:pt x="1875040" y="4630"/>
                </a:lnTo>
                <a:lnTo>
                  <a:pt x="1127675" y="0"/>
                </a:lnTo>
                <a:close/>
              </a:path>
            </a:pathLst>
          </a:custGeom>
          <a:gradFill>
            <a:gsLst>
              <a:gs pos="100000">
                <a:sysClr val="window" lastClr="FFFFFF">
                  <a:alpha val="0"/>
                </a:sysClr>
              </a:gs>
              <a:gs pos="41000">
                <a:srgbClr val="BEE9EE"/>
              </a:gs>
            </a:gsLst>
            <a:lin ang="5400000" scaled="1"/>
          </a:gra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565527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sym typeface="Huawei Sans" panose="020C0503030203020204" pitchFamily="34" charset="0"/>
              </a:rPr>
              <a:t>CloudCampus</a:t>
            </a:r>
            <a:r>
              <a:rPr lang="zh-CN" altLang="en-US" dirty="0" smtClean="0">
                <a:sym typeface="Huawei Sans" panose="020C0503030203020204" pitchFamily="34" charset="0"/>
              </a:rPr>
              <a:t>方案</a:t>
            </a:r>
            <a:r>
              <a:rPr lang="zh-CN" altLang="en-US" dirty="0">
                <a:sym typeface="Huawei Sans" panose="020C0503030203020204" pitchFamily="34" charset="0"/>
              </a:rPr>
              <a:t>组件 </a:t>
            </a:r>
            <a:r>
              <a:rPr lang="en-US" altLang="zh-CN" dirty="0" smtClean="0">
                <a:sym typeface="Huawei Sans" panose="020C0503030203020204" pitchFamily="34" charset="0"/>
              </a:rPr>
              <a:t>- WLAN Planner</a:t>
            </a:r>
            <a:endParaRPr lang="zh-CN" altLang="en-US" dirty="0"/>
          </a:p>
        </p:txBody>
      </p:sp>
      <p:pic>
        <p:nvPicPr>
          <p:cNvPr id="4" name="图片 3"/>
          <p:cNvPicPr>
            <a:picLocks noChangeAspect="1"/>
          </p:cNvPicPr>
          <p:nvPr/>
        </p:nvPicPr>
        <p:blipFill>
          <a:blip r:embed="rId3"/>
          <a:stretch>
            <a:fillRect/>
          </a:stretch>
        </p:blipFill>
        <p:spPr bwMode="gray">
          <a:xfrm>
            <a:off x="505909" y="1466894"/>
            <a:ext cx="6131015" cy="3629333"/>
          </a:xfrm>
          <a:prstGeom prst="rect">
            <a:avLst/>
          </a:prstGeom>
          <a:ln w="12700">
            <a:solidFill>
              <a:schemeClr val="bg1">
                <a:lumMod val="85000"/>
              </a:schemeClr>
            </a:solidFill>
          </a:ln>
        </p:spPr>
      </p:pic>
      <p:sp>
        <p:nvSpPr>
          <p:cNvPr id="5" name="矩形 4"/>
          <p:cNvSpPr/>
          <p:nvPr/>
        </p:nvSpPr>
        <p:spPr bwMode="gray">
          <a:xfrm>
            <a:off x="505910" y="5820136"/>
            <a:ext cx="11167865" cy="338554"/>
          </a:xfrm>
          <a:prstGeom prst="rect">
            <a:avLst/>
          </a:prstGeom>
          <a:solidFill>
            <a:srgbClr val="BF8082"/>
          </a:solidFill>
        </p:spPr>
        <p:txBody>
          <a:bodyPr wrap="square">
            <a:spAutoFit/>
          </a:bodyPr>
          <a:lstStyle/>
          <a:p>
            <a:pPr algn="ct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高效</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网络规划工具，信号仿真确认</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布</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放位置和信号覆盖情况。</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6723017" y="1484313"/>
            <a:ext cx="4919120"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高效支撑</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6723017" y="2294041"/>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免安装</a:t>
            </a:r>
          </a:p>
        </p:txBody>
      </p:sp>
      <p:sp>
        <p:nvSpPr>
          <p:cNvPr id="8" name="圆角矩形 7"/>
          <p:cNvSpPr/>
          <p:nvPr/>
        </p:nvSpPr>
        <p:spPr bwMode="gray">
          <a:xfrm>
            <a:off x="9225623" y="2294041"/>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全场景</a:t>
            </a:r>
          </a:p>
        </p:txBody>
      </p:sp>
      <p:sp>
        <p:nvSpPr>
          <p:cNvPr id="9" name="圆角矩形 8"/>
          <p:cNvSpPr/>
          <p:nvPr/>
        </p:nvSpPr>
        <p:spPr bwMode="gray">
          <a:xfrm>
            <a:off x="6723017" y="3609780"/>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高效率</a:t>
            </a:r>
            <a:endPar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圆角矩形 9"/>
          <p:cNvSpPr/>
          <p:nvPr/>
        </p:nvSpPr>
        <p:spPr bwMode="gray">
          <a:xfrm>
            <a:off x="9225623" y="3609780"/>
            <a:ext cx="2416514" cy="353725"/>
          </a:xfrm>
          <a:prstGeom prst="roundRect">
            <a:avLst>
              <a:gd name="adj" fmla="val 1591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高质量</a:t>
            </a:r>
            <a:endParaRPr lang="zh-CN" altLang="en-US" sz="16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矩形 12"/>
          <p:cNvSpPr/>
          <p:nvPr/>
        </p:nvSpPr>
        <p:spPr bwMode="gray">
          <a:xfrm>
            <a:off x="6723017" y="2770877"/>
            <a:ext cx="2416514" cy="307777"/>
          </a:xfrm>
          <a:prstGeom prst="rect">
            <a:avLst/>
          </a:prstGeom>
        </p:spPr>
        <p:txBody>
          <a:bodyPr wrap="square">
            <a:spAutoFit/>
          </a:bodyPr>
          <a:lstStyle/>
          <a:p>
            <a:pPr algn="ctr"/>
            <a:r>
              <a:rPr lang="zh-CN" altLang="en-US" sz="1400" dirty="0" smtClean="0"/>
              <a:t>工具云化免软件安装</a:t>
            </a:r>
            <a:endParaRPr lang="zh-CN" altLang="en-US" sz="1400" dirty="0"/>
          </a:p>
        </p:txBody>
      </p:sp>
      <p:sp>
        <p:nvSpPr>
          <p:cNvPr id="14" name="矩形 13"/>
          <p:cNvSpPr/>
          <p:nvPr/>
        </p:nvSpPr>
        <p:spPr bwMode="gray">
          <a:xfrm>
            <a:off x="9225623" y="2647767"/>
            <a:ext cx="2416514" cy="523220"/>
          </a:xfrm>
          <a:prstGeom prst="rect">
            <a:avLst/>
          </a:prstGeom>
        </p:spPr>
        <p:txBody>
          <a:bodyPr wrap="square">
            <a:spAutoFit/>
          </a:bodyPr>
          <a:lstStyle/>
          <a:p>
            <a:pPr algn="ctr"/>
            <a:r>
              <a:rPr lang="zh-CN" altLang="en-US" sz="1400" dirty="0" smtClean="0"/>
              <a:t>室内、室外、敏分、高密</a:t>
            </a:r>
            <a:endParaRPr lang="en-US" altLang="zh-CN" sz="1400" dirty="0" smtClean="0"/>
          </a:p>
          <a:p>
            <a:pPr algn="ctr"/>
            <a:r>
              <a:rPr lang="zh-CN" altLang="en-US" sz="1400" dirty="0" smtClean="0"/>
              <a:t>全场景支持</a:t>
            </a:r>
            <a:endParaRPr lang="zh-CN" altLang="en-US" sz="1400" dirty="0"/>
          </a:p>
        </p:txBody>
      </p:sp>
      <p:sp>
        <p:nvSpPr>
          <p:cNvPr id="15" name="矩形 14"/>
          <p:cNvSpPr/>
          <p:nvPr/>
        </p:nvSpPr>
        <p:spPr bwMode="gray">
          <a:xfrm>
            <a:off x="6723017" y="3947655"/>
            <a:ext cx="2416514" cy="307777"/>
          </a:xfrm>
          <a:prstGeom prst="rect">
            <a:avLst/>
          </a:prstGeom>
        </p:spPr>
        <p:txBody>
          <a:bodyPr wrap="square">
            <a:spAutoFit/>
          </a:bodyPr>
          <a:lstStyle/>
          <a:p>
            <a:pPr algn="ctr"/>
            <a:r>
              <a:rPr lang="zh-CN" altLang="en-US" sz="1400" dirty="0" smtClean="0"/>
              <a:t>比传统单机版仿真效率提升</a:t>
            </a:r>
            <a:endParaRPr lang="zh-CN" altLang="en-US" sz="1400" dirty="0"/>
          </a:p>
        </p:txBody>
      </p:sp>
      <p:sp>
        <p:nvSpPr>
          <p:cNvPr id="16" name="矩形 15"/>
          <p:cNvSpPr/>
          <p:nvPr/>
        </p:nvSpPr>
        <p:spPr bwMode="gray">
          <a:xfrm>
            <a:off x="9225623" y="3947655"/>
            <a:ext cx="2416514" cy="307777"/>
          </a:xfrm>
          <a:prstGeom prst="rect">
            <a:avLst/>
          </a:prstGeom>
        </p:spPr>
        <p:txBody>
          <a:bodyPr wrap="square">
            <a:spAutoFit/>
          </a:bodyPr>
          <a:lstStyle/>
          <a:p>
            <a:pPr algn="ctr"/>
            <a:r>
              <a:rPr lang="zh-CN" altLang="en-US" sz="1400" dirty="0" smtClean="0"/>
              <a:t>支撑上万</a:t>
            </a:r>
            <a:r>
              <a:rPr lang="en-US" altLang="zh-CN" sz="1400" dirty="0" smtClean="0"/>
              <a:t>+WLAN</a:t>
            </a:r>
            <a:r>
              <a:rPr lang="zh-CN" altLang="en-US" sz="1400" dirty="0" smtClean="0"/>
              <a:t>项目</a:t>
            </a:r>
            <a:endParaRPr lang="zh-CN" altLang="en-US" sz="1400" dirty="0"/>
          </a:p>
        </p:txBody>
      </p:sp>
    </p:spTree>
    <p:extLst>
      <p:ext uri="{BB962C8B-B14F-4D97-AF65-F5344CB8AC3E}">
        <p14:creationId xmlns:p14="http://schemas.microsoft.com/office/powerpoint/2010/main" val="19120350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sym typeface="Huawei Sans" panose="020C0503030203020204" pitchFamily="34" charset="0"/>
              </a:rPr>
              <a:t>CloudCampus</a:t>
            </a:r>
            <a:r>
              <a:rPr lang="zh-CN" altLang="en-US" dirty="0" smtClean="0">
                <a:sym typeface="Huawei Sans" panose="020C0503030203020204" pitchFamily="34" charset="0"/>
              </a:rPr>
              <a:t>方案</a:t>
            </a:r>
            <a:r>
              <a:rPr lang="zh-CN" altLang="en-US" dirty="0">
                <a:sym typeface="Huawei Sans" panose="020C0503030203020204" pitchFamily="34" charset="0"/>
              </a:rPr>
              <a:t>组件 </a:t>
            </a:r>
            <a:r>
              <a:rPr lang="en-US" altLang="zh-CN" dirty="0">
                <a:sym typeface="Huawei Sans" panose="020C0503030203020204" pitchFamily="34" charset="0"/>
              </a:rPr>
              <a:t>-</a:t>
            </a:r>
            <a:r>
              <a:rPr lang="en-US" altLang="zh-CN" dirty="0" smtClean="0">
                <a:sym typeface="Huawei Sans" panose="020C0503030203020204" pitchFamily="34" charset="0"/>
              </a:rPr>
              <a:t> CloudCampus APP</a:t>
            </a:r>
            <a:endParaRPr lang="zh-CN" altLang="en-US" dirty="0"/>
          </a:p>
        </p:txBody>
      </p:sp>
      <p:sp>
        <p:nvSpPr>
          <p:cNvPr id="3" name="文本框 2"/>
          <p:cNvSpPr txBox="1"/>
          <p:nvPr/>
        </p:nvSpPr>
        <p:spPr bwMode="gray">
          <a:xfrm>
            <a:off x="5828076" y="1647966"/>
            <a:ext cx="696960" cy="6336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stStyle>
          <a:p>
            <a:r>
              <a:rPr lang="zh-CN" altLang="en-US" dirty="0"/>
              <a:t>工勘</a:t>
            </a:r>
          </a:p>
        </p:txBody>
      </p:sp>
      <p:sp>
        <p:nvSpPr>
          <p:cNvPr id="4" name="文本框 3"/>
          <p:cNvSpPr txBox="1"/>
          <p:nvPr/>
        </p:nvSpPr>
        <p:spPr bwMode="gray">
          <a:xfrm>
            <a:off x="5828076" y="2397913"/>
            <a:ext cx="696960" cy="6336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网规</a:t>
            </a:r>
          </a:p>
        </p:txBody>
      </p:sp>
      <p:sp>
        <p:nvSpPr>
          <p:cNvPr id="5" name="文本框 4"/>
          <p:cNvSpPr txBox="1"/>
          <p:nvPr/>
        </p:nvSpPr>
        <p:spPr bwMode="gray">
          <a:xfrm>
            <a:off x="5828076" y="3165898"/>
            <a:ext cx="696960" cy="6336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开局</a:t>
            </a:r>
          </a:p>
        </p:txBody>
      </p:sp>
      <p:sp>
        <p:nvSpPr>
          <p:cNvPr id="6" name="文本框 5"/>
          <p:cNvSpPr txBox="1"/>
          <p:nvPr/>
        </p:nvSpPr>
        <p:spPr bwMode="gray">
          <a:xfrm>
            <a:off x="5828076" y="4710304"/>
            <a:ext cx="696960" cy="6336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运维</a:t>
            </a:r>
          </a:p>
        </p:txBody>
      </p:sp>
      <p:sp>
        <p:nvSpPr>
          <p:cNvPr id="7" name="文本框 6"/>
          <p:cNvSpPr txBox="1"/>
          <p:nvPr/>
        </p:nvSpPr>
        <p:spPr bwMode="gray">
          <a:xfrm>
            <a:off x="5828076" y="3925755"/>
            <a:ext cx="696960" cy="633600"/>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400">
                <a:solidFill>
                  <a:srgbClr val="30B5C5"/>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验收</a:t>
            </a:r>
          </a:p>
        </p:txBody>
      </p:sp>
      <p:sp>
        <p:nvSpPr>
          <p:cNvPr id="8" name="文本框 7"/>
          <p:cNvSpPr txBox="1"/>
          <p:nvPr/>
        </p:nvSpPr>
        <p:spPr bwMode="gray">
          <a:xfrm>
            <a:off x="7315653" y="1117644"/>
            <a:ext cx="2515143" cy="338554"/>
          </a:xfrm>
          <a:prstGeom prst="rect">
            <a:avLst/>
          </a:prstGeom>
          <a:noFill/>
        </p:spPr>
        <p:txBody>
          <a:bodyPr wrap="square" rtlCol="0">
            <a:spAutoFit/>
          </a:bodyPr>
          <a:lstStyle/>
          <a:p>
            <a:pPr algn="ctr"/>
            <a:r>
              <a:rPr lang="zh-CN" altLang="en-US" sz="1600" b="1" dirty="0" smtClean="0">
                <a:solidFill>
                  <a:prstClr val="black"/>
                </a:solidFill>
                <a:latin typeface="Microsoft YaHei" panose="020B0503020204020204" pitchFamily="34" charset="-122"/>
                <a:ea typeface="Microsoft YaHei" panose="020B0503020204020204" pitchFamily="34" charset="-122"/>
              </a:rPr>
              <a:t>全生命周期的移动</a:t>
            </a:r>
            <a:r>
              <a:rPr lang="en-US" altLang="zh-CN" sz="1600" b="1" dirty="0" smtClean="0">
                <a:solidFill>
                  <a:prstClr val="black"/>
                </a:solidFill>
                <a:latin typeface="Microsoft YaHei" panose="020B0503020204020204" pitchFamily="34" charset="-122"/>
                <a:ea typeface="Microsoft YaHei" panose="020B0503020204020204" pitchFamily="34" charset="-122"/>
              </a:rPr>
              <a:t>APP</a:t>
            </a:r>
            <a:endParaRPr lang="zh-CN" altLang="en-US" sz="1600" b="1" dirty="0" smtClean="0">
              <a:solidFill>
                <a:prstClr val="black"/>
              </a:solidFill>
              <a:latin typeface="Microsoft YaHei" panose="020B0503020204020204" pitchFamily="34" charset="-122"/>
              <a:ea typeface="Microsoft YaHei" panose="020B0503020204020204" pitchFamily="34" charset="-122"/>
            </a:endParaRPr>
          </a:p>
        </p:txBody>
      </p:sp>
      <p:sp>
        <p:nvSpPr>
          <p:cNvPr id="9" name="矩形 8"/>
          <p:cNvSpPr/>
          <p:nvPr/>
        </p:nvSpPr>
        <p:spPr bwMode="gray">
          <a:xfrm>
            <a:off x="6577904" y="1647965"/>
            <a:ext cx="4728886" cy="633601"/>
          </a:xfrm>
          <a:prstGeom prst="rect">
            <a:avLst/>
          </a:prstGeom>
          <a:noFill/>
          <a:ln w="9525">
            <a:solidFill>
              <a:srgbClr val="56C4D2"/>
            </a:solidFill>
          </a:ln>
        </p:spPr>
        <p:txBody>
          <a:bodyPr wrap="square" lIns="108000" tIns="108000" rIns="108000" bIns="108000" rtlCol="0" anchor="ctr" anchorCtr="0">
            <a:noAutofit/>
          </a:bodyPr>
          <a:lstStyle/>
          <a:p>
            <a:pPr defTabSz="1218835" fontAlgn="base">
              <a:spcBef>
                <a:spcPct val="0"/>
              </a:spcBef>
            </a:pPr>
            <a:r>
              <a:rPr lang="zh-CN" altLang="en-US" sz="1400" dirty="0">
                <a:solidFill>
                  <a:prstClr val="black"/>
                </a:solidFill>
                <a:latin typeface="Arial"/>
                <a:ea typeface="微软雅黑" panose="020B0503020204020204" pitchFamily="34" charset="-122"/>
                <a:cs typeface="Arial" panose="020B0604020202020204" pitchFamily="34" charset="0"/>
              </a:rPr>
              <a:t>对接云网</a:t>
            </a:r>
            <a:r>
              <a:rPr lang="zh-CN" altLang="en-US" sz="1400" dirty="0" smtClean="0">
                <a:solidFill>
                  <a:prstClr val="black"/>
                </a:solidFill>
                <a:latin typeface="Arial"/>
                <a:ea typeface="微软雅黑" panose="020B0503020204020204" pitchFamily="34" charset="-122"/>
                <a:cs typeface="Arial" panose="020B0604020202020204" pitchFamily="34" charset="0"/>
              </a:rPr>
              <a:t>规平台，</a:t>
            </a:r>
            <a:r>
              <a:rPr lang="zh-CN" altLang="en-US" sz="1400" dirty="0">
                <a:solidFill>
                  <a:prstClr val="black"/>
                </a:solidFill>
                <a:latin typeface="Arial"/>
                <a:ea typeface="微软雅黑" panose="020B0503020204020204" pitchFamily="34" charset="-122"/>
                <a:cs typeface="Arial" panose="020B0604020202020204" pitchFamily="34" charset="0"/>
              </a:rPr>
              <a:t>基于图纸可以进行照片、文字的</a:t>
            </a:r>
            <a:r>
              <a:rPr lang="zh-CN" altLang="en-US" sz="1400" dirty="0" smtClean="0">
                <a:solidFill>
                  <a:prstClr val="black"/>
                </a:solidFill>
                <a:latin typeface="Arial"/>
                <a:ea typeface="微软雅黑" panose="020B0503020204020204" pitchFamily="34" charset="-122"/>
                <a:cs typeface="Arial" panose="020B0604020202020204" pitchFamily="34" charset="0"/>
              </a:rPr>
              <a:t>记录</a:t>
            </a:r>
            <a:r>
              <a:rPr lang="zh-CN" altLang="en-US" sz="1400" dirty="0">
                <a:solidFill>
                  <a:prstClr val="black"/>
                </a:solidFill>
                <a:latin typeface="Arial"/>
                <a:ea typeface="微软雅黑" panose="020B0503020204020204" pitchFamily="34" charset="-122"/>
                <a:cs typeface="Arial" panose="020B0604020202020204" pitchFamily="34" charset="0"/>
              </a:rPr>
              <a:t>。</a:t>
            </a:r>
          </a:p>
        </p:txBody>
      </p:sp>
      <p:sp>
        <p:nvSpPr>
          <p:cNvPr id="10" name="矩形 9"/>
          <p:cNvSpPr/>
          <p:nvPr/>
        </p:nvSpPr>
        <p:spPr bwMode="gray">
          <a:xfrm>
            <a:off x="6577904" y="2397912"/>
            <a:ext cx="4728886" cy="633601"/>
          </a:xfrm>
          <a:prstGeom prst="rect">
            <a:avLst/>
          </a:prstGeom>
          <a:noFill/>
          <a:ln w="9525">
            <a:solidFill>
              <a:srgbClr val="56C4D2"/>
            </a:solidFill>
          </a:ln>
        </p:spPr>
        <p:txBody>
          <a:bodyPr wrap="square" lIns="108000" tIns="108000" rIns="108000" bIns="108000" rtlCol="0" anchor="ctr" anchorCtr="0">
            <a:noAutofit/>
          </a:bodyPr>
          <a:lstStyle/>
          <a:p>
            <a:pPr defTabSz="1218835" fontAlgn="base">
              <a:spcBef>
                <a:spcPct val="0"/>
              </a:spcBef>
            </a:pPr>
            <a:r>
              <a:rPr lang="zh-CN" altLang="en-US" sz="1400" dirty="0">
                <a:solidFill>
                  <a:prstClr val="black"/>
                </a:solidFill>
                <a:latin typeface="Arial"/>
                <a:ea typeface="微软雅黑" panose="020B0503020204020204" pitchFamily="34" charset="-122"/>
                <a:cs typeface="Arial" panose="020B0604020202020204" pitchFamily="34" charset="0"/>
              </a:rPr>
              <a:t>对接云网规，随时随地查看网规结果、热图、</a:t>
            </a:r>
            <a:r>
              <a:rPr lang="en-US" altLang="zh-CN" sz="1400" dirty="0">
                <a:solidFill>
                  <a:prstClr val="black"/>
                </a:solidFill>
                <a:latin typeface="Arial"/>
                <a:ea typeface="微软雅黑" panose="020B0503020204020204" pitchFamily="34" charset="-122"/>
                <a:cs typeface="Arial" panose="020B0604020202020204" pitchFamily="34" charset="0"/>
              </a:rPr>
              <a:t>AP</a:t>
            </a:r>
            <a:r>
              <a:rPr lang="zh-CN" altLang="en-US" sz="1400" dirty="0">
                <a:solidFill>
                  <a:prstClr val="black"/>
                </a:solidFill>
                <a:latin typeface="Arial"/>
                <a:ea typeface="微软雅黑" panose="020B0503020204020204" pitchFamily="34" charset="-122"/>
                <a:cs typeface="Arial" panose="020B0604020202020204" pitchFamily="34" charset="0"/>
              </a:rPr>
              <a:t>属性</a:t>
            </a:r>
            <a:r>
              <a:rPr lang="zh-CN" altLang="en-US" sz="1400" dirty="0" smtClean="0">
                <a:solidFill>
                  <a:prstClr val="black"/>
                </a:solidFill>
                <a:latin typeface="Arial"/>
                <a:ea typeface="微软雅黑" panose="020B0503020204020204" pitchFamily="34" charset="-122"/>
                <a:cs typeface="Arial" panose="020B0604020202020204" pitchFamily="34" charset="0"/>
              </a:rPr>
              <a:t>等。</a:t>
            </a:r>
            <a:endParaRPr lang="zh-CN" altLang="en-US" sz="1400" dirty="0">
              <a:solidFill>
                <a:prstClr val="black"/>
              </a:solidFill>
              <a:latin typeface="Arial"/>
              <a:ea typeface="微软雅黑" panose="020B0503020204020204" pitchFamily="34" charset="-122"/>
              <a:cs typeface="Arial" panose="020B0604020202020204" pitchFamily="34" charset="0"/>
            </a:endParaRPr>
          </a:p>
        </p:txBody>
      </p:sp>
      <p:sp>
        <p:nvSpPr>
          <p:cNvPr id="11" name="矩形 10"/>
          <p:cNvSpPr/>
          <p:nvPr/>
        </p:nvSpPr>
        <p:spPr bwMode="gray">
          <a:xfrm>
            <a:off x="6577904" y="3925755"/>
            <a:ext cx="4728886" cy="633600"/>
          </a:xfrm>
          <a:prstGeom prst="rect">
            <a:avLst/>
          </a:prstGeom>
          <a:noFill/>
          <a:ln w="9525">
            <a:solidFill>
              <a:srgbClr val="56C4D2"/>
            </a:solidFill>
          </a:ln>
        </p:spPr>
        <p:txBody>
          <a:bodyPr wrap="square" lIns="108000" tIns="108000" rIns="108000" bIns="108000" rtlCol="0" anchor="ctr" anchorCtr="0">
            <a:noAutofit/>
          </a:bodyPr>
          <a:lstStyle/>
          <a:p>
            <a:pPr defTabSz="1218835" fontAlgn="base">
              <a:spcBef>
                <a:spcPct val="0"/>
              </a:spcBef>
              <a:spcAft>
                <a:spcPts val="300"/>
              </a:spcAft>
            </a:pPr>
            <a:r>
              <a:rPr lang="zh-CN" altLang="en-US" sz="1400" dirty="0">
                <a:solidFill>
                  <a:prstClr val="black"/>
                </a:solidFill>
                <a:latin typeface="Arial"/>
                <a:ea typeface="微软雅黑" panose="020B0503020204020204" pitchFamily="34" charset="-122"/>
                <a:cs typeface="Arial" panose="020B0604020202020204" pitchFamily="34" charset="0"/>
              </a:rPr>
              <a:t>一键测试、单元业务测试、项目</a:t>
            </a:r>
            <a:r>
              <a:rPr lang="zh-CN" altLang="en-US" sz="1400" dirty="0" smtClean="0">
                <a:solidFill>
                  <a:prstClr val="black"/>
                </a:solidFill>
                <a:latin typeface="Arial"/>
                <a:ea typeface="微软雅黑" panose="020B0503020204020204" pitchFamily="34" charset="-122"/>
                <a:cs typeface="Arial" panose="020B0604020202020204" pitchFamily="34" charset="0"/>
              </a:rPr>
              <a:t>测试。</a:t>
            </a:r>
            <a:endParaRPr lang="en-US" altLang="zh-CN" sz="1400" dirty="0">
              <a:solidFill>
                <a:prstClr val="black"/>
              </a:solidFill>
              <a:latin typeface="Arial"/>
              <a:ea typeface="微软雅黑" panose="020B0503020204020204" pitchFamily="34" charset="-122"/>
              <a:cs typeface="Arial" panose="020B0604020202020204" pitchFamily="34" charset="0"/>
            </a:endParaRPr>
          </a:p>
          <a:p>
            <a:pPr defTabSz="1218835" fontAlgn="base">
              <a:spcBef>
                <a:spcPct val="0"/>
              </a:spcBef>
              <a:spcAft>
                <a:spcPts val="300"/>
              </a:spcAft>
            </a:pPr>
            <a:r>
              <a:rPr lang="zh-CN" altLang="en-US" sz="1400" dirty="0" smtClean="0">
                <a:solidFill>
                  <a:prstClr val="black"/>
                </a:solidFill>
                <a:latin typeface="Arial"/>
                <a:ea typeface="微软雅黑" panose="020B0503020204020204" pitchFamily="34" charset="-122"/>
                <a:cs typeface="Arial" panose="020B0604020202020204" pitchFamily="34" charset="0"/>
              </a:rPr>
              <a:t>增加</a:t>
            </a:r>
            <a:r>
              <a:rPr lang="zh-CN" altLang="en-US" sz="1400" dirty="0">
                <a:solidFill>
                  <a:prstClr val="black"/>
                </a:solidFill>
                <a:latin typeface="Arial"/>
                <a:ea typeface="微软雅黑" panose="020B0503020204020204" pitchFamily="34" charset="-122"/>
                <a:cs typeface="Arial" panose="020B0604020202020204" pitchFamily="34" charset="0"/>
              </a:rPr>
              <a:t>基于云网规工程的点位</a:t>
            </a:r>
            <a:r>
              <a:rPr lang="zh-CN" altLang="en-US" sz="1400" dirty="0" smtClean="0">
                <a:solidFill>
                  <a:prstClr val="black"/>
                </a:solidFill>
                <a:latin typeface="Arial"/>
                <a:ea typeface="微软雅黑" panose="020B0503020204020204" pitchFamily="34" charset="-122"/>
                <a:cs typeface="Arial" panose="020B0604020202020204" pitchFamily="34" charset="0"/>
              </a:rPr>
              <a:t>验收。</a:t>
            </a:r>
            <a:endParaRPr lang="en-US" altLang="zh-CN" sz="1400" dirty="0">
              <a:solidFill>
                <a:prstClr val="black"/>
              </a:solidFill>
              <a:latin typeface="Arial"/>
              <a:ea typeface="微软雅黑" panose="020B0503020204020204" pitchFamily="34" charset="-122"/>
              <a:cs typeface="Arial" panose="020B0604020202020204" pitchFamily="34" charset="0"/>
            </a:endParaRPr>
          </a:p>
        </p:txBody>
      </p:sp>
      <p:sp>
        <p:nvSpPr>
          <p:cNvPr id="12" name="矩形 11"/>
          <p:cNvSpPr/>
          <p:nvPr/>
        </p:nvSpPr>
        <p:spPr bwMode="gray">
          <a:xfrm>
            <a:off x="6577904" y="3165897"/>
            <a:ext cx="4728886" cy="633601"/>
          </a:xfrm>
          <a:prstGeom prst="rect">
            <a:avLst/>
          </a:prstGeom>
          <a:noFill/>
          <a:ln w="9525">
            <a:solidFill>
              <a:srgbClr val="56C4D2"/>
            </a:solidFill>
          </a:ln>
        </p:spPr>
        <p:txBody>
          <a:bodyPr wrap="square" lIns="108000" tIns="108000" rIns="108000" bIns="108000" rtlCol="0" anchor="ctr" anchorCtr="0">
            <a:noAutofit/>
          </a:bodyPr>
          <a:lstStyle/>
          <a:p>
            <a:pPr defTabSz="1218835" fontAlgn="base">
              <a:spcBef>
                <a:spcPct val="0"/>
              </a:spcBef>
            </a:pPr>
            <a:r>
              <a:rPr lang="zh-CN" altLang="en-US" sz="1400" dirty="0" smtClean="0">
                <a:solidFill>
                  <a:prstClr val="black"/>
                </a:solidFill>
                <a:latin typeface="Arial"/>
                <a:ea typeface="微软雅黑" panose="020B0503020204020204" pitchFamily="34" charset="-122"/>
                <a:cs typeface="Arial" panose="020B0604020202020204" pitchFamily="34" charset="0"/>
              </a:rPr>
              <a:t>扫</a:t>
            </a:r>
            <a:r>
              <a:rPr lang="zh-CN" altLang="en-US" sz="1400" dirty="0">
                <a:solidFill>
                  <a:prstClr val="black"/>
                </a:solidFill>
                <a:latin typeface="Arial"/>
                <a:ea typeface="微软雅黑" panose="020B0503020204020204" pitchFamily="34" charset="-122"/>
                <a:cs typeface="Arial" panose="020B0604020202020204" pitchFamily="34" charset="0"/>
              </a:rPr>
              <a:t>码</a:t>
            </a:r>
            <a:r>
              <a:rPr lang="zh-CN" altLang="en-US" sz="1400" dirty="0" smtClean="0">
                <a:solidFill>
                  <a:prstClr val="black"/>
                </a:solidFill>
                <a:latin typeface="Arial"/>
                <a:ea typeface="微软雅黑" panose="020B0503020204020204" pitchFamily="34" charset="-122"/>
                <a:cs typeface="Arial" panose="020B0604020202020204" pitchFamily="34" charset="0"/>
              </a:rPr>
              <a:t>开局。</a:t>
            </a:r>
            <a:endParaRPr lang="en-US" altLang="zh-CN" sz="1400" dirty="0">
              <a:solidFill>
                <a:prstClr val="black"/>
              </a:solidFill>
              <a:latin typeface="Arial"/>
              <a:ea typeface="微软雅黑" panose="020B0503020204020204" pitchFamily="34" charset="-122"/>
              <a:cs typeface="Arial" panose="020B0604020202020204" pitchFamily="34" charset="0"/>
            </a:endParaRPr>
          </a:p>
        </p:txBody>
      </p:sp>
      <p:sp>
        <p:nvSpPr>
          <p:cNvPr id="13" name="矩形 12"/>
          <p:cNvSpPr/>
          <p:nvPr/>
        </p:nvSpPr>
        <p:spPr bwMode="gray">
          <a:xfrm>
            <a:off x="6577904" y="4710305"/>
            <a:ext cx="4728886" cy="633600"/>
          </a:xfrm>
          <a:prstGeom prst="rect">
            <a:avLst/>
          </a:prstGeom>
          <a:noFill/>
          <a:ln w="9525">
            <a:solidFill>
              <a:srgbClr val="56C4D2"/>
            </a:solidFill>
          </a:ln>
        </p:spPr>
        <p:txBody>
          <a:bodyPr wrap="square" lIns="108000" tIns="108000" rIns="108000" bIns="108000" rtlCol="0" anchor="ctr" anchorCtr="0">
            <a:noAutofit/>
          </a:bodyPr>
          <a:lstStyle/>
          <a:p>
            <a:pPr defTabSz="1218835" fontAlgn="base">
              <a:spcBef>
                <a:spcPct val="0"/>
              </a:spcBef>
              <a:spcAft>
                <a:spcPts val="300"/>
              </a:spcAft>
            </a:pPr>
            <a:r>
              <a:rPr lang="zh-CN" altLang="en-US" sz="1400" dirty="0">
                <a:solidFill>
                  <a:prstClr val="black"/>
                </a:solidFill>
                <a:latin typeface="Arial"/>
                <a:ea typeface="微软雅黑" panose="020B0503020204020204" pitchFamily="34" charset="-122"/>
                <a:cs typeface="Arial" panose="020B0604020202020204" pitchFamily="34" charset="0"/>
              </a:rPr>
              <a:t>移动运维，设备、应用</a:t>
            </a:r>
            <a:r>
              <a:rPr lang="zh-CN" altLang="en-US" sz="1400" dirty="0" smtClean="0">
                <a:solidFill>
                  <a:prstClr val="black"/>
                </a:solidFill>
                <a:latin typeface="Arial"/>
                <a:ea typeface="微软雅黑" panose="020B0503020204020204" pitchFamily="34" charset="-122"/>
                <a:cs typeface="Arial" panose="020B0604020202020204" pitchFamily="34" charset="0"/>
              </a:rPr>
              <a:t>监控。</a:t>
            </a:r>
            <a:endParaRPr lang="en-US" altLang="zh-CN" sz="1400" dirty="0">
              <a:solidFill>
                <a:prstClr val="black"/>
              </a:solidFill>
              <a:latin typeface="Arial"/>
              <a:ea typeface="微软雅黑" panose="020B0503020204020204" pitchFamily="34" charset="-122"/>
              <a:cs typeface="Arial" panose="020B0604020202020204" pitchFamily="34" charset="0"/>
            </a:endParaRPr>
          </a:p>
          <a:p>
            <a:pPr defTabSz="1218835" fontAlgn="base">
              <a:spcBef>
                <a:spcPct val="0"/>
              </a:spcBef>
              <a:spcAft>
                <a:spcPts val="300"/>
              </a:spcAft>
            </a:pPr>
            <a:r>
              <a:rPr lang="zh-CN" altLang="en-US" sz="1400" dirty="0" smtClean="0">
                <a:solidFill>
                  <a:prstClr val="black"/>
                </a:solidFill>
                <a:latin typeface="Arial"/>
                <a:ea typeface="微软雅黑" panose="020B0503020204020204" pitchFamily="34" charset="-122"/>
                <a:cs typeface="Arial" panose="020B0604020202020204" pitchFamily="34" charset="0"/>
              </a:rPr>
              <a:t>增加</a:t>
            </a:r>
            <a:r>
              <a:rPr lang="zh-CN" altLang="en-US" sz="1400" dirty="0">
                <a:solidFill>
                  <a:prstClr val="black"/>
                </a:solidFill>
                <a:latin typeface="Arial"/>
                <a:ea typeface="微软雅黑" panose="020B0503020204020204" pitchFamily="34" charset="-122"/>
                <a:cs typeface="Arial" panose="020B0604020202020204" pitchFamily="34" charset="0"/>
              </a:rPr>
              <a:t>蓝牙</a:t>
            </a:r>
            <a:r>
              <a:rPr lang="en-US" altLang="zh-CN" sz="1400" dirty="0">
                <a:solidFill>
                  <a:prstClr val="black"/>
                </a:solidFill>
                <a:latin typeface="Arial"/>
                <a:ea typeface="微软雅黑" panose="020B0503020204020204" pitchFamily="34" charset="-122"/>
                <a:cs typeface="Arial" panose="020B0604020202020204" pitchFamily="34" charset="0"/>
              </a:rPr>
              <a:t>/</a:t>
            </a:r>
            <a:r>
              <a:rPr lang="zh-CN" altLang="en-US" sz="1400" dirty="0">
                <a:solidFill>
                  <a:prstClr val="black"/>
                </a:solidFill>
                <a:latin typeface="Arial"/>
                <a:ea typeface="微软雅黑" panose="020B0503020204020204" pitchFamily="34" charset="-122"/>
                <a:cs typeface="Arial" panose="020B0604020202020204" pitchFamily="34" charset="0"/>
              </a:rPr>
              <a:t>管理</a:t>
            </a:r>
            <a:r>
              <a:rPr lang="en-US" altLang="zh-CN" sz="1400" dirty="0">
                <a:solidFill>
                  <a:prstClr val="black"/>
                </a:solidFill>
                <a:latin typeface="Arial"/>
                <a:ea typeface="微软雅黑" panose="020B0503020204020204" pitchFamily="34" charset="-122"/>
                <a:cs typeface="Arial" panose="020B0604020202020204" pitchFamily="34" charset="0"/>
              </a:rPr>
              <a:t>VAP</a:t>
            </a:r>
            <a:r>
              <a:rPr lang="zh-CN" altLang="en-US" sz="1400" dirty="0">
                <a:solidFill>
                  <a:prstClr val="black"/>
                </a:solidFill>
                <a:latin typeface="Arial"/>
                <a:ea typeface="微软雅黑" panose="020B0503020204020204" pitchFamily="34" charset="-122"/>
                <a:cs typeface="Arial" panose="020B0604020202020204" pitchFamily="34" charset="0"/>
              </a:rPr>
              <a:t>接入</a:t>
            </a:r>
            <a:r>
              <a:rPr lang="en-US" altLang="zh-CN" sz="1400" dirty="0">
                <a:solidFill>
                  <a:prstClr val="black"/>
                </a:solidFill>
                <a:latin typeface="Arial"/>
                <a:ea typeface="微软雅黑" panose="020B0503020204020204" pitchFamily="34" charset="-122"/>
                <a:cs typeface="Arial" panose="020B0604020202020204" pitchFamily="34" charset="0"/>
              </a:rPr>
              <a:t>AP</a:t>
            </a:r>
            <a:r>
              <a:rPr lang="zh-CN" altLang="en-US" sz="1400" dirty="0">
                <a:solidFill>
                  <a:prstClr val="black"/>
                </a:solidFill>
                <a:latin typeface="Arial"/>
                <a:ea typeface="微软雅黑" panose="020B0503020204020204" pitchFamily="34" charset="-122"/>
                <a:cs typeface="Arial" panose="020B0604020202020204" pitchFamily="34" charset="0"/>
              </a:rPr>
              <a:t>、</a:t>
            </a:r>
            <a:r>
              <a:rPr lang="en-US" altLang="zh-CN" sz="1400" dirty="0">
                <a:solidFill>
                  <a:prstClr val="black"/>
                </a:solidFill>
                <a:latin typeface="Arial"/>
                <a:ea typeface="微软雅黑" panose="020B0503020204020204" pitchFamily="34" charset="-122"/>
                <a:cs typeface="Arial" panose="020B0604020202020204" pitchFamily="34" charset="0"/>
              </a:rPr>
              <a:t>AP</a:t>
            </a:r>
            <a:r>
              <a:rPr lang="zh-CN" altLang="en-US" sz="1400" dirty="0">
                <a:solidFill>
                  <a:prstClr val="black"/>
                </a:solidFill>
                <a:latin typeface="Arial"/>
                <a:ea typeface="微软雅黑" panose="020B0503020204020204" pitchFamily="34" charset="-122"/>
                <a:cs typeface="Arial" panose="020B0604020202020204" pitchFamily="34" charset="0"/>
              </a:rPr>
              <a:t>离线</a:t>
            </a:r>
            <a:r>
              <a:rPr lang="zh-CN" altLang="en-US" sz="1400" dirty="0" smtClean="0">
                <a:solidFill>
                  <a:prstClr val="black"/>
                </a:solidFill>
                <a:latin typeface="Arial"/>
                <a:ea typeface="微软雅黑" panose="020B0503020204020204" pitchFamily="34" charset="-122"/>
                <a:cs typeface="Arial" panose="020B0604020202020204" pitchFamily="34" charset="0"/>
              </a:rPr>
              <a:t>诊断。</a:t>
            </a:r>
            <a:endParaRPr lang="en-US" altLang="zh-CN" sz="1400" dirty="0">
              <a:solidFill>
                <a:prstClr val="black"/>
              </a:solidFill>
              <a:latin typeface="Arial"/>
              <a:ea typeface="微软雅黑" panose="020B0503020204020204" pitchFamily="34" charset="-122"/>
              <a:cs typeface="Arial" panose="020B0604020202020204" pitchFamily="34" charset="0"/>
            </a:endParaRPr>
          </a:p>
        </p:txBody>
      </p:sp>
      <p:pic>
        <p:nvPicPr>
          <p:cNvPr id="15" name="图片 14"/>
          <p:cNvPicPr>
            <a:picLocks noChangeAspect="1"/>
          </p:cNvPicPr>
          <p:nvPr/>
        </p:nvPicPr>
        <p:blipFill>
          <a:blip r:embed="rId3"/>
          <a:stretch>
            <a:fillRect/>
          </a:stretch>
        </p:blipFill>
        <p:spPr bwMode="gray">
          <a:xfrm>
            <a:off x="2789302" y="1117644"/>
            <a:ext cx="2613061" cy="4600892"/>
          </a:xfrm>
          <a:prstGeom prst="rect">
            <a:avLst/>
          </a:prstGeom>
          <a:ln w="12700">
            <a:solidFill>
              <a:schemeClr val="bg1">
                <a:lumMod val="85000"/>
              </a:schemeClr>
            </a:solidFill>
          </a:ln>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321137" y="2984442"/>
            <a:ext cx="562215" cy="562215"/>
          </a:xfrm>
          <a:prstGeom prst="rect">
            <a:avLst/>
          </a:prstGeom>
        </p:spPr>
      </p:pic>
      <p:sp>
        <p:nvSpPr>
          <p:cNvPr id="17" name="矩形 16"/>
          <p:cNvSpPr/>
          <p:nvPr/>
        </p:nvSpPr>
        <p:spPr bwMode="gray">
          <a:xfrm>
            <a:off x="505910" y="5820136"/>
            <a:ext cx="11167865" cy="338554"/>
          </a:xfrm>
          <a:prstGeom prst="rect">
            <a:avLst/>
          </a:prstGeom>
          <a:solidFill>
            <a:srgbClr val="BF8082"/>
          </a:solidFill>
        </p:spPr>
        <p:txBody>
          <a:bodyPr wrap="square">
            <a:spAutoFit/>
          </a:bodyPr>
          <a:lstStyle/>
          <a:p>
            <a:pPr algn="ct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实现规划、开局、运维端到端极简。</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56364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sym typeface="Huawei Sans" panose="020C0503030203020204" pitchFamily="34" charset="0"/>
              </a:rPr>
              <a:t>CloudCampus</a:t>
            </a:r>
            <a:r>
              <a:rPr lang="zh-CN" altLang="en-US" dirty="0" smtClean="0">
                <a:sym typeface="Huawei Sans" panose="020C0503030203020204" pitchFamily="34" charset="0"/>
              </a:rPr>
              <a:t>方案组件</a:t>
            </a:r>
            <a:r>
              <a:rPr lang="en-US" altLang="zh-CN" dirty="0" smtClean="0">
                <a:sym typeface="Huawei Sans" panose="020C0503030203020204" pitchFamily="34" charset="0"/>
              </a:rPr>
              <a:t> - </a:t>
            </a:r>
            <a:r>
              <a:rPr lang="zh-CN" altLang="en-US" dirty="0" smtClean="0">
                <a:sym typeface="Huawei Sans" panose="020C0503030203020204" pitchFamily="34" charset="0"/>
              </a:rPr>
              <a:t>网络硬件产品</a:t>
            </a:r>
            <a:endParaRPr lang="zh-CN" altLang="en-US" dirty="0">
              <a:sym typeface="Huawei Sans" panose="020C0503030203020204" pitchFamily="34" charset="0"/>
            </a:endParaRPr>
          </a:p>
        </p:txBody>
      </p:sp>
      <p:sp>
        <p:nvSpPr>
          <p:cNvPr id="4" name="文本框 3"/>
          <p:cNvSpPr txBox="1"/>
          <p:nvPr/>
        </p:nvSpPr>
        <p:spPr bwMode="gray">
          <a:xfrm>
            <a:off x="448449" y="1172503"/>
            <a:ext cx="2287685" cy="338554"/>
          </a:xfrm>
          <a:prstGeom prst="rect">
            <a:avLst/>
          </a:prstGeom>
          <a:noFill/>
        </p:spPr>
        <p:txBody>
          <a:bodyPr wrap="square" rtlCol="0">
            <a:spAutoFit/>
          </a:bodyPr>
          <a:lstStyle/>
          <a:p>
            <a:pPr defTabSz="1219028"/>
            <a:r>
              <a:rPr lang="en-US" altLang="zh-CN" sz="1600" b="1" dirty="0" err="1"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CloudEngine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6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a:t>
            </a:r>
            <a:r>
              <a:rPr lang="zh-CN" altLang="en-US" sz="16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交换机</a:t>
            </a:r>
            <a:endPar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 name="直接连接符 394"/>
          <p:cNvCxnSpPr>
            <a:cxnSpLocks noChangeShapeType="1"/>
          </p:cNvCxnSpPr>
          <p:nvPr/>
        </p:nvCxnSpPr>
        <p:spPr bwMode="gray">
          <a:xfrm>
            <a:off x="718561" y="3807646"/>
            <a:ext cx="10771200" cy="0"/>
          </a:xfrm>
          <a:prstGeom prst="line">
            <a:avLst/>
          </a:prstGeom>
          <a:noFill/>
          <a:ln w="19050" algn="ctr">
            <a:solidFill>
              <a:schemeClr val="bg1">
                <a:lumMod val="75000"/>
              </a:schemeClr>
            </a:solidFill>
            <a:prstDash val="sysDot"/>
            <a:round/>
            <a:headEnd/>
            <a:tailEnd/>
          </a:ln>
        </p:spPr>
      </p:cxnSp>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l="17058" r="19398"/>
          <a:stretch/>
        </p:blipFill>
        <p:spPr bwMode="gray">
          <a:xfrm>
            <a:off x="2086766" y="4398383"/>
            <a:ext cx="978222" cy="1119486"/>
          </a:xfrm>
          <a:prstGeom prst="rect">
            <a:avLst/>
          </a:prstGeom>
        </p:spPr>
      </p:pic>
      <p:pic>
        <p:nvPicPr>
          <p:cNvPr id="9" name="图片 8"/>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val="0"/>
              </a:ext>
            </a:extLst>
          </a:blip>
          <a:srcRect l="25948" t="7768" r="27590" b="19963"/>
          <a:stretch/>
        </p:blipFill>
        <p:spPr bwMode="gray">
          <a:xfrm>
            <a:off x="3557937" y="4582020"/>
            <a:ext cx="671197" cy="759257"/>
          </a:xfrm>
          <a:prstGeom prst="rect">
            <a:avLst/>
          </a:prstGeom>
        </p:spPr>
      </p:pic>
      <p:sp>
        <p:nvSpPr>
          <p:cNvPr id="14" name="矩形 13"/>
          <p:cNvSpPr/>
          <p:nvPr/>
        </p:nvSpPr>
        <p:spPr bwMode="gray">
          <a:xfrm>
            <a:off x="448449" y="3987152"/>
            <a:ext cx="2316383" cy="338554"/>
          </a:xfrm>
          <a:prstGeom prst="rect">
            <a:avLst/>
          </a:prstGeom>
          <a:noFill/>
        </p:spPr>
        <p:txBody>
          <a:bodyPr wrap="square" rtlCol="0">
            <a:spAutoFit/>
          </a:bodyPr>
          <a:lstStyle/>
          <a:p>
            <a:pPr defTabSz="1219028"/>
            <a:r>
              <a:rPr lang="en-US" altLang="zh-CN" sz="1600" b="1" dirty="0" err="1"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AirEngine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6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Wi-Fi 6 AP</a:t>
            </a:r>
            <a:endPar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2" name="图片 31"/>
          <p:cNvPicPr>
            <a:picLocks noChangeAspect="1"/>
          </p:cNvPicPr>
          <p:nvPr/>
        </p:nvPicPr>
        <p:blipFill rotWithShape="1">
          <a:blip r:embed="rId6" cstate="print">
            <a:extLst>
              <a:ext uri="{28A0092B-C50C-407E-A947-70E740481C1C}">
                <a14:useLocalDpi xmlns:a14="http://schemas.microsoft.com/office/drawing/2010/main" val="0"/>
              </a:ext>
            </a:extLst>
          </a:blip>
          <a:srcRect l="1913" r="1977"/>
          <a:stretch/>
        </p:blipFill>
        <p:spPr bwMode="gray">
          <a:xfrm>
            <a:off x="927096" y="1631159"/>
            <a:ext cx="4782513" cy="1534722"/>
          </a:xfrm>
          <a:prstGeom prst="rect">
            <a:avLst/>
          </a:prstGeom>
          <a:noFill/>
        </p:spPr>
      </p:pic>
      <p:grpSp>
        <p:nvGrpSpPr>
          <p:cNvPr id="2" name="组合 1"/>
          <p:cNvGrpSpPr/>
          <p:nvPr/>
        </p:nvGrpSpPr>
        <p:grpSpPr>
          <a:xfrm>
            <a:off x="6630945" y="2115327"/>
            <a:ext cx="4596914" cy="701090"/>
            <a:chOff x="8154684" y="2487643"/>
            <a:chExt cx="2737783" cy="417548"/>
          </a:xfrm>
        </p:grpSpPr>
        <p:pic>
          <p:nvPicPr>
            <p:cNvPr id="40" name="Picture 6" descr="https://info.support.huawei.com/onlinetoolweb/Network_imagelib/getImgByNames?package_name=AR6300_pic.zip&amp;picture_name=front_top.png&amp;ipNum=local"/>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9935018" y="2487643"/>
              <a:ext cx="957449" cy="39662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descr="https://info.support.huawei.com/onlinetoolweb/Network_imagelib/getImgByNames?package_name=AR6280_pic.zip&amp;picture_name=front_top.png&amp;ipNum=loc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gray">
            <a:xfrm>
              <a:off x="9005259" y="2570806"/>
              <a:ext cx="930451" cy="31802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https://info.support.huawei.com/onlinetoolweb/Network_imagelib/getImgByNames?package_name=AR6120_pic.zip&amp;picture_name=front_top.png&amp;ipNum=local"/>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8154684" y="2735466"/>
              <a:ext cx="875057" cy="1697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组合 66"/>
          <p:cNvGrpSpPr/>
          <p:nvPr/>
        </p:nvGrpSpPr>
        <p:grpSpPr>
          <a:xfrm>
            <a:off x="6266919" y="4495092"/>
            <a:ext cx="5410481" cy="752986"/>
            <a:chOff x="6860808" y="4650427"/>
            <a:chExt cx="4367051" cy="607770"/>
          </a:xfrm>
        </p:grpSpPr>
        <p:pic>
          <p:nvPicPr>
            <p:cNvPr id="43" name="Picture 8" descr="https://info.support.huawei.com/onlinetoolweb/Network_imagelib/getImgByNames?package_name=USG6305E_pic.zip&amp;picture_name=front_top.png&amp;ipNum=local"/>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6860808" y="4852841"/>
              <a:ext cx="1108602" cy="20294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2" descr="https://info.support.huawei.com/onlinetoolweb/Network_imagelib/getImgByNames?package_name=USG6560E_pic.zip&amp;picture_name=front_top.png&amp;ipNum=local"/>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gray">
            <a:xfrm>
              <a:off x="7975560" y="4650427"/>
              <a:ext cx="1080000" cy="60777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4" descr="https://info.support.huawei.com/onlinetoolweb/Network_imagelib/getImgByNames?package_name=USG6655E_pic.zip&amp;picture_name=front_top.png&amp;ipNum=local"/>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gray">
            <a:xfrm>
              <a:off x="9061710" y="4813596"/>
              <a:ext cx="1080000" cy="28143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6" descr="https://info.support.huawei.com/onlinetoolweb/Network_imagelib/getImgByNames?package_name=USG6716E_pic.zip&amp;picture_name=front_top.png&amp;ipNum=local"/>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gray">
            <a:xfrm>
              <a:off x="10147859" y="4802869"/>
              <a:ext cx="1080000" cy="302887"/>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矩形 58"/>
          <p:cNvSpPr/>
          <p:nvPr/>
        </p:nvSpPr>
        <p:spPr bwMode="gray">
          <a:xfrm>
            <a:off x="1336241" y="3220308"/>
            <a:ext cx="3962940" cy="307777"/>
          </a:xfrm>
          <a:prstGeom prst="rect">
            <a:avLst/>
          </a:prstGeom>
        </p:spPr>
        <p:txBody>
          <a:bodyPr wrap="square">
            <a:spAutoFit/>
          </a:bodyPr>
          <a:lstStyle/>
          <a:p>
            <a:pPr algn="ctr" defTabSz="1219028"/>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园区高性能交换机</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矩形 59"/>
          <p:cNvSpPr/>
          <p:nvPr/>
        </p:nvSpPr>
        <p:spPr bwMode="gray">
          <a:xfrm>
            <a:off x="718562" y="5539261"/>
            <a:ext cx="5198298" cy="523220"/>
          </a:xfrm>
          <a:prstGeom prst="rect">
            <a:avLst/>
          </a:prstGeom>
        </p:spPr>
        <p:txBody>
          <a:bodyPr wrap="square">
            <a:spAutoFit/>
          </a:bodyPr>
          <a:lstStyle/>
          <a:p>
            <a:pPr algn="ctr" defTabSz="1219028"/>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AP</a:t>
            </a:r>
            <a:endPar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219028"/>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包括室内放装型、室内面板型、敏捷分布式、室外等全场景型号。</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文本框 62"/>
          <p:cNvSpPr txBox="1"/>
          <p:nvPr/>
        </p:nvSpPr>
        <p:spPr bwMode="gray">
          <a:xfrm>
            <a:off x="6100762" y="1172503"/>
            <a:ext cx="2287685" cy="338554"/>
          </a:xfrm>
          <a:prstGeom prst="rect">
            <a:avLst/>
          </a:prstGeom>
          <a:noFill/>
        </p:spPr>
        <p:txBody>
          <a:bodyPr wrap="square" rtlCol="0">
            <a:spAutoFit/>
          </a:bodyPr>
          <a:lstStyle/>
          <a:p>
            <a:pPr defTabSz="1219028"/>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NetEngine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AR</a:t>
            </a: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路由器</a:t>
            </a:r>
            <a:endPar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矩形 63"/>
          <p:cNvSpPr/>
          <p:nvPr/>
        </p:nvSpPr>
        <p:spPr bwMode="gray">
          <a:xfrm>
            <a:off x="6943849" y="3112586"/>
            <a:ext cx="3962940" cy="523220"/>
          </a:xfrm>
          <a:prstGeom prst="rect">
            <a:avLst/>
          </a:prstGeom>
        </p:spPr>
        <p:txBody>
          <a:bodyPr wrap="square">
            <a:spAutoFit/>
          </a:bodyPr>
          <a:lstStyle/>
          <a:p>
            <a:pPr algn="ctr" defTabSz="1219028"/>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园区出口路由器</a:t>
            </a:r>
            <a:endPar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219028"/>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集路由、交换、</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Wi-Fi</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5G</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及安全功能于一身。</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矩形 64"/>
          <p:cNvSpPr/>
          <p:nvPr/>
        </p:nvSpPr>
        <p:spPr bwMode="gray">
          <a:xfrm>
            <a:off x="6100762" y="3987152"/>
            <a:ext cx="2316383" cy="338554"/>
          </a:xfrm>
          <a:prstGeom prst="rect">
            <a:avLst/>
          </a:prstGeom>
          <a:noFill/>
        </p:spPr>
        <p:txBody>
          <a:bodyPr wrap="square" rtlCol="0">
            <a:spAutoFit/>
          </a:bodyPr>
          <a:lstStyle/>
          <a:p>
            <a:pPr algn="ctr" defTabSz="1219028"/>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HiSecEngine</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AI</a:t>
            </a: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防火墙</a:t>
            </a:r>
            <a:endPar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矩形 65"/>
          <p:cNvSpPr/>
          <p:nvPr/>
        </p:nvSpPr>
        <p:spPr bwMode="gray">
          <a:xfrm>
            <a:off x="6858788" y="5539261"/>
            <a:ext cx="4133062" cy="523220"/>
          </a:xfrm>
          <a:prstGeom prst="rect">
            <a:avLst/>
          </a:prstGeom>
        </p:spPr>
        <p:txBody>
          <a:bodyPr wrap="square">
            <a:spAutoFit/>
          </a:bodyPr>
          <a:lstStyle/>
          <a:p>
            <a:pPr algn="ctr" defTabSz="1219028"/>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防火墙</a:t>
            </a:r>
            <a:endParaRPr lang="en-US" altLang="zh-CN"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219028"/>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提供全面一体化的网络安全防护能力。</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8" name="直接连接符 394"/>
          <p:cNvCxnSpPr>
            <a:cxnSpLocks noChangeShapeType="1"/>
          </p:cNvCxnSpPr>
          <p:nvPr/>
        </p:nvCxnSpPr>
        <p:spPr bwMode="gray">
          <a:xfrm rot="5400000">
            <a:off x="3444485" y="3680775"/>
            <a:ext cx="5040000" cy="0"/>
          </a:xfrm>
          <a:prstGeom prst="line">
            <a:avLst/>
          </a:prstGeom>
          <a:noFill/>
          <a:ln w="19050" algn="ctr">
            <a:solidFill>
              <a:schemeClr val="bg1">
                <a:lumMod val="75000"/>
              </a:schemeClr>
            </a:solidFill>
            <a:prstDash val="sysDot"/>
            <a:round/>
            <a:headEnd/>
            <a:tailEnd/>
          </a:ln>
        </p:spPr>
      </p:cxnSp>
    </p:spTree>
    <p:extLst>
      <p:ext uri="{BB962C8B-B14F-4D97-AF65-F5344CB8AC3E}">
        <p14:creationId xmlns:p14="http://schemas.microsoft.com/office/powerpoint/2010/main" val="41358310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75"/>
          <p:cNvSpPr/>
          <p:nvPr/>
        </p:nvSpPr>
        <p:spPr bwMode="gray">
          <a:xfrm>
            <a:off x="601980" y="3304433"/>
            <a:ext cx="1341120" cy="1620298"/>
          </a:xfrm>
          <a:prstGeom prst="roundRect">
            <a:avLst>
              <a:gd name="adj" fmla="val 287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mn-lt"/>
            </a:endParaRPr>
          </a:p>
        </p:txBody>
      </p:sp>
      <p:sp>
        <p:nvSpPr>
          <p:cNvPr id="37" name="圆角矩形 75"/>
          <p:cNvSpPr/>
          <p:nvPr/>
        </p:nvSpPr>
        <p:spPr bwMode="gray">
          <a:xfrm>
            <a:off x="2439488" y="3304433"/>
            <a:ext cx="1341120" cy="1620298"/>
          </a:xfrm>
          <a:prstGeom prst="roundRect">
            <a:avLst>
              <a:gd name="adj" fmla="val 287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mn-lt"/>
            </a:endParaRPr>
          </a:p>
        </p:txBody>
      </p:sp>
      <p:sp>
        <p:nvSpPr>
          <p:cNvPr id="39" name="圆角矩形 75"/>
          <p:cNvSpPr/>
          <p:nvPr/>
        </p:nvSpPr>
        <p:spPr bwMode="gray">
          <a:xfrm>
            <a:off x="4146368" y="3304433"/>
            <a:ext cx="1341120" cy="1620298"/>
          </a:xfrm>
          <a:prstGeom prst="roundRect">
            <a:avLst>
              <a:gd name="adj" fmla="val 287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mn-lt"/>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CloudCampus</a:t>
            </a:r>
            <a:r>
              <a:rPr lang="zh-CN" altLang="en-US" dirty="0" smtClean="0"/>
              <a:t>方案关键技术 </a:t>
            </a:r>
            <a:r>
              <a:rPr lang="en-US" altLang="zh-CN" dirty="0" smtClean="0"/>
              <a:t>- </a:t>
            </a:r>
            <a:r>
              <a:rPr lang="zh-CN" altLang="en-US" dirty="0" smtClean="0"/>
              <a:t>设备即插即用</a:t>
            </a:r>
            <a:endParaRPr lang="zh-CN" altLang="en-US" dirty="0"/>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433763" y="1982838"/>
            <a:ext cx="1346845" cy="248394"/>
          </a:xfrm>
          <a:prstGeom prst="rect">
            <a:avLst/>
          </a:prstGeom>
        </p:spPr>
      </p:pic>
      <p:sp>
        <p:nvSpPr>
          <p:cNvPr id="56" name="TextBox 179"/>
          <p:cNvSpPr txBox="1"/>
          <p:nvPr/>
        </p:nvSpPr>
        <p:spPr bwMode="gray">
          <a:xfrm>
            <a:off x="563287" y="3388361"/>
            <a:ext cx="5109446" cy="568816"/>
          </a:xfrm>
          <a:prstGeom prst="roundRect">
            <a:avLst/>
          </a:prstGeom>
          <a:gradFill>
            <a:gsLst>
              <a:gs pos="0">
                <a:schemeClr val="bg1"/>
              </a:gs>
              <a:gs pos="100000">
                <a:srgbClr val="D0E8C4"/>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cxnSp>
        <p:nvCxnSpPr>
          <p:cNvPr id="4" name="Straight Connector 199"/>
          <p:cNvCxnSpPr/>
          <p:nvPr/>
        </p:nvCxnSpPr>
        <p:spPr bwMode="gray">
          <a:xfrm>
            <a:off x="548404" y="2823881"/>
            <a:ext cx="5538787" cy="0"/>
          </a:xfrm>
          <a:prstGeom prst="line">
            <a:avLst/>
          </a:prstGeom>
          <a:ln w="285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bwMode="gray">
          <a:xfrm>
            <a:off x="6172201" y="1875583"/>
            <a:ext cx="5469936" cy="399600"/>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简化网络部署</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gray">
          <a:xfrm>
            <a:off x="6172200" y="2328483"/>
            <a:ext cx="5469938" cy="253926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降低设备初始化安装与配置、设备升级等环节的时间成本和人力成本。</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园区内</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设备上电连接到互联网之后可通过多种方式获取到</a:t>
            </a:r>
            <a:r>
              <a:rPr lang="en-US" altLang="zh-CN" sz="1400" dirty="0" err="1"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的地址并注册上线，后续所有操作均可在控制器操作，无需人员到场操作。</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预先在控制器上部署好业务，极大缩短部署时间。</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通过图形化操作，减少了配置的错误概率</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Freeform 159"/>
          <p:cNvSpPr/>
          <p:nvPr/>
        </p:nvSpPr>
        <p:spPr bwMode="gray">
          <a:xfrm flipH="1">
            <a:off x="817799" y="270669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p:nvPr/>
        </p:nvGrpSpPr>
        <p:grpSpPr bwMode="gray">
          <a:xfrm>
            <a:off x="1002328" y="3474574"/>
            <a:ext cx="540425" cy="733487"/>
            <a:chOff x="631240" y="4257843"/>
            <a:chExt cx="540425" cy="733487"/>
          </a:xfrm>
        </p:grpSpPr>
        <p:pic>
          <p:nvPicPr>
            <p:cNvPr id="25" name="图片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31240" y="4257843"/>
              <a:ext cx="540425" cy="442168"/>
            </a:xfrm>
            <a:prstGeom prst="rect">
              <a:avLst/>
            </a:prstGeom>
          </p:spPr>
        </p:pic>
        <p:sp>
          <p:nvSpPr>
            <p:cNvPr id="27" name="TextBox 225"/>
            <p:cNvSpPr txBox="1"/>
            <p:nvPr/>
          </p:nvSpPr>
          <p:spPr bwMode="gray">
            <a:xfrm>
              <a:off x="666452" y="4683553"/>
              <a:ext cx="470001" cy="307777"/>
            </a:xfrm>
            <a:prstGeom prst="rect">
              <a:avLst/>
            </a:prstGeom>
            <a:noFill/>
          </p:spPr>
          <p:txBody>
            <a:bodyPr wrap="none" rtlCol="0">
              <a:spAutoFit/>
            </a:bodyPr>
            <a:lstStyle/>
            <a:p>
              <a:pPr algn="ctr"/>
              <a:r>
                <a:rPr lang="en-US" altLang="zh-CN" sz="1400" b="1" dirty="0" smtClean="0">
                  <a:cs typeface="+mn-ea"/>
                  <a:sym typeface="+mn-lt"/>
                </a:rPr>
                <a:t>FW</a:t>
              </a:r>
              <a:endParaRPr lang="zh-CN" altLang="en-US" sz="1400" b="1" dirty="0">
                <a:cs typeface="+mn-ea"/>
                <a:sym typeface="+mn-lt"/>
              </a:endParaRPr>
            </a:p>
          </p:txBody>
        </p:sp>
      </p:grpSp>
      <p:grpSp>
        <p:nvGrpSpPr>
          <p:cNvPr id="32" name="组合 31"/>
          <p:cNvGrpSpPr/>
          <p:nvPr/>
        </p:nvGrpSpPr>
        <p:grpSpPr bwMode="gray">
          <a:xfrm>
            <a:off x="2839836" y="3471462"/>
            <a:ext cx="540425" cy="739711"/>
            <a:chOff x="2412327" y="4251619"/>
            <a:chExt cx="540425" cy="739711"/>
          </a:xfrm>
        </p:grpSpPr>
        <p:pic>
          <p:nvPicPr>
            <p:cNvPr id="23" name="图片 105" descr="AP.png"/>
            <p:cNvPicPr>
              <a:picLocks noChangeAspect="1"/>
            </p:cNvPicPr>
            <p:nvPr/>
          </p:nvPicPr>
          <p:blipFill>
            <a:blip r:embed="rId5"/>
            <a:stretch>
              <a:fillRect/>
            </a:stretch>
          </p:blipFill>
          <p:spPr bwMode="gray">
            <a:xfrm>
              <a:off x="2412327" y="4251619"/>
              <a:ext cx="540425" cy="442168"/>
            </a:xfrm>
            <a:prstGeom prst="rect">
              <a:avLst/>
            </a:prstGeom>
          </p:spPr>
        </p:pic>
        <p:sp>
          <p:nvSpPr>
            <p:cNvPr id="24" name="TextBox 215"/>
            <p:cNvSpPr txBox="1"/>
            <p:nvPr/>
          </p:nvSpPr>
          <p:spPr bwMode="gray">
            <a:xfrm>
              <a:off x="2474790" y="4683553"/>
              <a:ext cx="415499" cy="307777"/>
            </a:xfrm>
            <a:prstGeom prst="rect">
              <a:avLst/>
            </a:prstGeom>
            <a:noFill/>
          </p:spPr>
          <p:txBody>
            <a:bodyPr wrap="none" rtlCol="0">
              <a:spAutoFit/>
            </a:bodyPr>
            <a:lstStyle/>
            <a:p>
              <a:pPr algn="ctr"/>
              <a:r>
                <a:rPr lang="en-US" altLang="zh-CN" sz="1400" b="1" dirty="0" smtClean="0">
                  <a:cs typeface="+mn-ea"/>
                  <a:sym typeface="+mn-lt"/>
                </a:rPr>
                <a:t>AP</a:t>
              </a:r>
              <a:endParaRPr lang="zh-CN" altLang="en-US" sz="1400" b="1" dirty="0">
                <a:cs typeface="+mn-ea"/>
                <a:sym typeface="+mn-lt"/>
              </a:endParaRPr>
            </a:p>
          </p:txBody>
        </p:sp>
      </p:grpSp>
      <p:sp>
        <p:nvSpPr>
          <p:cNvPr id="29" name="Freeform 159"/>
          <p:cNvSpPr/>
          <p:nvPr/>
        </p:nvSpPr>
        <p:spPr bwMode="gray">
          <a:xfrm flipH="1">
            <a:off x="2655307" y="270669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3" name="组合 32"/>
          <p:cNvGrpSpPr/>
          <p:nvPr/>
        </p:nvGrpSpPr>
        <p:grpSpPr bwMode="gray">
          <a:xfrm>
            <a:off x="4546644" y="3473608"/>
            <a:ext cx="540568" cy="735419"/>
            <a:chOff x="4238626" y="4257843"/>
            <a:chExt cx="540568" cy="735419"/>
          </a:xfrm>
        </p:grpSpPr>
        <p:pic>
          <p:nvPicPr>
            <p:cNvPr id="26" name="Picture 2" descr="G:\做的项目\公共\扁平图标切换\更新2015_01_21\oss扁平图标库2015_01_21更新-04.png"/>
            <p:cNvPicPr>
              <a:picLocks noChangeAspect="1" noChangeArrowheads="1"/>
            </p:cNvPicPr>
            <p:nvPr/>
          </p:nvPicPr>
          <p:blipFill>
            <a:blip r:embed="rId6"/>
            <a:stretch>
              <a:fillRect/>
            </a:stretch>
          </p:blipFill>
          <p:spPr bwMode="gray">
            <a:xfrm>
              <a:off x="4238626" y="4257843"/>
              <a:ext cx="540568" cy="435944"/>
            </a:xfrm>
            <a:prstGeom prst="rect">
              <a:avLst/>
            </a:prstGeom>
            <a:noFill/>
          </p:spPr>
        </p:pic>
        <p:sp>
          <p:nvSpPr>
            <p:cNvPr id="28" name="TextBox 226"/>
            <p:cNvSpPr txBox="1"/>
            <p:nvPr/>
          </p:nvSpPr>
          <p:spPr bwMode="gray">
            <a:xfrm>
              <a:off x="4296352" y="4685485"/>
              <a:ext cx="425116" cy="307777"/>
            </a:xfrm>
            <a:prstGeom prst="rect">
              <a:avLst/>
            </a:prstGeom>
            <a:noFill/>
          </p:spPr>
          <p:txBody>
            <a:bodyPr wrap="none" rtlCol="0">
              <a:spAutoFit/>
            </a:bodyPr>
            <a:lstStyle/>
            <a:p>
              <a:pPr algn="ctr"/>
              <a:r>
                <a:rPr lang="en-US" altLang="zh-CN" sz="1400" b="1" dirty="0" smtClean="0">
                  <a:cs typeface="+mn-ea"/>
                  <a:sym typeface="+mn-lt"/>
                </a:rPr>
                <a:t>AR</a:t>
              </a:r>
              <a:endParaRPr lang="zh-CN" altLang="en-US" sz="1400" b="1" dirty="0">
                <a:cs typeface="+mn-ea"/>
                <a:sym typeface="+mn-lt"/>
              </a:endParaRPr>
            </a:p>
          </p:txBody>
        </p:sp>
      </p:grpSp>
      <p:sp>
        <p:nvSpPr>
          <p:cNvPr id="30" name="Freeform 159"/>
          <p:cNvSpPr/>
          <p:nvPr/>
        </p:nvSpPr>
        <p:spPr bwMode="gray">
          <a:xfrm flipH="1">
            <a:off x="4362187" y="270669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872431" y="4599235"/>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2709939" y="4599235"/>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4416819" y="4599235"/>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Straight Connector 199"/>
          <p:cNvCxnSpPr>
            <a:endCxn id="25" idx="0"/>
          </p:cNvCxnSpPr>
          <p:nvPr/>
        </p:nvCxnSpPr>
        <p:spPr bwMode="gray">
          <a:xfrm>
            <a:off x="1272541" y="3182105"/>
            <a:ext cx="0" cy="292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199"/>
          <p:cNvCxnSpPr/>
          <p:nvPr/>
        </p:nvCxnSpPr>
        <p:spPr bwMode="gray">
          <a:xfrm>
            <a:off x="3118010" y="3182105"/>
            <a:ext cx="0" cy="292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199"/>
          <p:cNvCxnSpPr/>
          <p:nvPr/>
        </p:nvCxnSpPr>
        <p:spPr bwMode="gray">
          <a:xfrm>
            <a:off x="4827747" y="3182105"/>
            <a:ext cx="0" cy="292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 xmlns:a16="http://schemas.microsoft.com/office/drawing/2014/main" id="{231ABB1E-7E34-432C-967E-2BE669C5F9BB}"/>
              </a:ext>
            </a:extLst>
          </p:cNvPr>
          <p:cNvCxnSpPr>
            <a:cxnSpLocks/>
          </p:cNvCxnSpPr>
          <p:nvPr/>
        </p:nvCxnSpPr>
        <p:spPr bwMode="gray">
          <a:xfrm>
            <a:off x="3107186" y="2231232"/>
            <a:ext cx="0" cy="346505"/>
          </a:xfrm>
          <a:prstGeom prst="straightConnector1">
            <a:avLst/>
          </a:prstGeom>
          <a:ln w="19050">
            <a:solidFill>
              <a:srgbClr val="56C4D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 xmlns:a16="http://schemas.microsoft.com/office/drawing/2014/main" id="{231ABB1E-7E34-432C-967E-2BE669C5F9BB}"/>
              </a:ext>
            </a:extLst>
          </p:cNvPr>
          <p:cNvCxnSpPr>
            <a:cxnSpLocks/>
          </p:cNvCxnSpPr>
          <p:nvPr/>
        </p:nvCxnSpPr>
        <p:spPr bwMode="gray">
          <a:xfrm>
            <a:off x="1272541" y="2231232"/>
            <a:ext cx="0" cy="346505"/>
          </a:xfrm>
          <a:prstGeom prst="straightConnector1">
            <a:avLst/>
          </a:prstGeom>
          <a:ln w="19050">
            <a:solidFill>
              <a:srgbClr val="56C4D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 xmlns:a16="http://schemas.microsoft.com/office/drawing/2014/main" id="{231ABB1E-7E34-432C-967E-2BE669C5F9BB}"/>
              </a:ext>
            </a:extLst>
          </p:cNvPr>
          <p:cNvCxnSpPr>
            <a:cxnSpLocks/>
          </p:cNvCxnSpPr>
          <p:nvPr/>
        </p:nvCxnSpPr>
        <p:spPr bwMode="gray">
          <a:xfrm>
            <a:off x="4832035" y="2231232"/>
            <a:ext cx="0" cy="346505"/>
          </a:xfrm>
          <a:prstGeom prst="straightConnector1">
            <a:avLst/>
          </a:prstGeom>
          <a:ln w="19050">
            <a:solidFill>
              <a:srgbClr val="56C4D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47" name="Rectangle 14">
            <a:extLst>
              <a:ext uri="{FF2B5EF4-FFF2-40B4-BE49-F238E27FC236}">
                <a16:creationId xmlns="" xmlns:a16="http://schemas.microsoft.com/office/drawing/2014/main" id="{1C3E25ED-3352-4E51-B364-2123B4CB34E3}"/>
              </a:ext>
            </a:extLst>
          </p:cNvPr>
          <p:cNvSpPr/>
          <p:nvPr/>
        </p:nvSpPr>
        <p:spPr bwMode="gray">
          <a:xfrm>
            <a:off x="839824" y="1755829"/>
            <a:ext cx="4842386" cy="627770"/>
          </a:xfrm>
          <a:prstGeom prst="rect">
            <a:avLst/>
          </a:prstGeom>
          <a:noFill/>
          <a:ln w="19050" cap="flat" cmpd="sng" algn="ctr">
            <a:solidFill>
              <a:srgbClr val="56C4D2"/>
            </a:solidFill>
            <a:prstDash val="sysDash"/>
          </a:ln>
          <a:effectLst/>
        </p:spPr>
        <p:txBody>
          <a:bodyPr wrap="none" rIns="45720"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smtClean="0">
              <a:ln>
                <a:noFill/>
              </a:ln>
              <a:solidFill>
                <a:srgbClr val="FFFFFF"/>
              </a:solidFill>
              <a:effectLst>
                <a:outerShdw blurRad="38100" dist="38100" dir="2700000" algn="tl">
                  <a:srgbClr val="000000">
                    <a:alpha val="43137"/>
                  </a:srgbClr>
                </a:outerShdw>
              </a:effectLst>
              <a:uLnTx/>
              <a:uFillTx/>
              <a:cs typeface="+mn-ea"/>
              <a:sym typeface="Huawei Sans Light" panose="020C0303030203020204" pitchFamily="34" charset="0"/>
            </a:endParaRPr>
          </a:p>
        </p:txBody>
      </p:sp>
    </p:spTree>
    <p:extLst>
      <p:ext uri="{BB962C8B-B14F-4D97-AF65-F5344CB8AC3E}">
        <p14:creationId xmlns:p14="http://schemas.microsoft.com/office/powerpoint/2010/main" val="11387560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设备即插即用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3" name="任意多边形 2"/>
          <p:cNvSpPr/>
          <p:nvPr/>
        </p:nvSpPr>
        <p:spPr bwMode="gray">
          <a:xfrm rot="10800000">
            <a:off x="8920405" y="2629656"/>
            <a:ext cx="2382526" cy="593283"/>
          </a:xfrm>
          <a:custGeom>
            <a:avLst/>
            <a:gdLst>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4" fmla="*/ 177800 w 1104900"/>
              <a:gd name="connsiteY4" fmla="*/ 0 h 444500"/>
              <a:gd name="connsiteX0" fmla="*/ 73025 w 1104900"/>
              <a:gd name="connsiteY0" fmla="*/ 0 h 687388"/>
              <a:gd name="connsiteX1" fmla="*/ 660400 w 1104900"/>
              <a:gd name="connsiteY1" fmla="*/ 242888 h 687388"/>
              <a:gd name="connsiteX2" fmla="*/ 1104900 w 1104900"/>
              <a:gd name="connsiteY2" fmla="*/ 687388 h 687388"/>
              <a:gd name="connsiteX3" fmla="*/ 0 w 1104900"/>
              <a:gd name="connsiteY3" fmla="*/ 687388 h 687388"/>
              <a:gd name="connsiteX4" fmla="*/ 73025 w 1104900"/>
              <a:gd name="connsiteY4" fmla="*/ 0 h 687388"/>
              <a:gd name="connsiteX0" fmla="*/ 73025 w 1104900"/>
              <a:gd name="connsiteY0" fmla="*/ 0 h 687388"/>
              <a:gd name="connsiteX1" fmla="*/ 1010443 w 1104900"/>
              <a:gd name="connsiteY1" fmla="*/ 0 h 687388"/>
              <a:gd name="connsiteX2" fmla="*/ 1104900 w 1104900"/>
              <a:gd name="connsiteY2" fmla="*/ 687388 h 687388"/>
              <a:gd name="connsiteX3" fmla="*/ 0 w 1104900"/>
              <a:gd name="connsiteY3" fmla="*/ 687388 h 687388"/>
              <a:gd name="connsiteX4" fmla="*/ 73025 w 1104900"/>
              <a:gd name="connsiteY4" fmla="*/ 0 h 687388"/>
              <a:gd name="connsiteX0" fmla="*/ 73025 w 1010443"/>
              <a:gd name="connsiteY0" fmla="*/ 0 h 687388"/>
              <a:gd name="connsiteX1" fmla="*/ 1010443 w 1010443"/>
              <a:gd name="connsiteY1" fmla="*/ 0 h 687388"/>
              <a:gd name="connsiteX2" fmla="*/ 0 w 1010443"/>
              <a:gd name="connsiteY2" fmla="*/ 687388 h 687388"/>
              <a:gd name="connsiteX3" fmla="*/ 73025 w 1010443"/>
              <a:gd name="connsiteY3" fmla="*/ 0 h 687388"/>
              <a:gd name="connsiteX0" fmla="*/ 127794 w 1065212"/>
              <a:gd name="connsiteY0" fmla="*/ 0 h 661195"/>
              <a:gd name="connsiteX1" fmla="*/ 1065212 w 1065212"/>
              <a:gd name="connsiteY1" fmla="*/ 0 h 661195"/>
              <a:gd name="connsiteX2" fmla="*/ 0 w 1065212"/>
              <a:gd name="connsiteY2" fmla="*/ 661195 h 661195"/>
              <a:gd name="connsiteX3" fmla="*/ 127794 w 1065212"/>
              <a:gd name="connsiteY3" fmla="*/ 0 h 661195"/>
              <a:gd name="connsiteX0" fmla="*/ 118269 w 1055687"/>
              <a:gd name="connsiteY0" fmla="*/ 0 h 604045"/>
              <a:gd name="connsiteX1" fmla="*/ 1055687 w 1055687"/>
              <a:gd name="connsiteY1" fmla="*/ 0 h 604045"/>
              <a:gd name="connsiteX2" fmla="*/ 0 w 1055687"/>
              <a:gd name="connsiteY2" fmla="*/ 604045 h 604045"/>
              <a:gd name="connsiteX3" fmla="*/ 118269 w 1055687"/>
              <a:gd name="connsiteY3" fmla="*/ 0 h 604045"/>
              <a:gd name="connsiteX0" fmla="*/ 0 w 937418"/>
              <a:gd name="connsiteY0" fmla="*/ 0 h 1376403"/>
              <a:gd name="connsiteX1" fmla="*/ 937418 w 937418"/>
              <a:gd name="connsiteY1" fmla="*/ 0 h 1376403"/>
              <a:gd name="connsiteX2" fmla="*/ 139184 w 937418"/>
              <a:gd name="connsiteY2" fmla="*/ 1376403 h 1376403"/>
              <a:gd name="connsiteX3" fmla="*/ 0 w 937418"/>
              <a:gd name="connsiteY3" fmla="*/ 0 h 1376403"/>
              <a:gd name="connsiteX0" fmla="*/ 0 w 1381300"/>
              <a:gd name="connsiteY0" fmla="*/ 0 h 1536203"/>
              <a:gd name="connsiteX1" fmla="*/ 1381300 w 1381300"/>
              <a:gd name="connsiteY1" fmla="*/ 159800 h 1536203"/>
              <a:gd name="connsiteX2" fmla="*/ 583066 w 1381300"/>
              <a:gd name="connsiteY2" fmla="*/ 1536203 h 1536203"/>
              <a:gd name="connsiteX3" fmla="*/ 0 w 1381300"/>
              <a:gd name="connsiteY3" fmla="*/ 0 h 1536203"/>
              <a:gd name="connsiteX0" fmla="*/ 0 w 1106095"/>
              <a:gd name="connsiteY0" fmla="*/ 0 h 1536203"/>
              <a:gd name="connsiteX1" fmla="*/ 1106095 w 1106095"/>
              <a:gd name="connsiteY1" fmla="*/ 2 h 1536203"/>
              <a:gd name="connsiteX2" fmla="*/ 583066 w 1106095"/>
              <a:gd name="connsiteY2" fmla="*/ 1536203 h 1536203"/>
              <a:gd name="connsiteX3" fmla="*/ 0 w 1106095"/>
              <a:gd name="connsiteY3" fmla="*/ 0 h 1536203"/>
              <a:gd name="connsiteX0" fmla="*/ 0 w 1106095"/>
              <a:gd name="connsiteY0" fmla="*/ 0 h 1669368"/>
              <a:gd name="connsiteX1" fmla="*/ 1106095 w 1106095"/>
              <a:gd name="connsiteY1" fmla="*/ 2 h 1669368"/>
              <a:gd name="connsiteX2" fmla="*/ 698475 w 1106095"/>
              <a:gd name="connsiteY2" fmla="*/ 1669368 h 1669368"/>
              <a:gd name="connsiteX3" fmla="*/ 0 w 1106095"/>
              <a:gd name="connsiteY3" fmla="*/ 0 h 1669368"/>
              <a:gd name="connsiteX0" fmla="*/ 0 w 1239260"/>
              <a:gd name="connsiteY0" fmla="*/ 11080 h 1680448"/>
              <a:gd name="connsiteX1" fmla="*/ 1239260 w 1239260"/>
              <a:gd name="connsiteY1" fmla="*/ 0 h 1680448"/>
              <a:gd name="connsiteX2" fmla="*/ 698475 w 1239260"/>
              <a:gd name="connsiteY2" fmla="*/ 1680448 h 1680448"/>
              <a:gd name="connsiteX3" fmla="*/ 0 w 1239260"/>
              <a:gd name="connsiteY3" fmla="*/ 11080 h 1680448"/>
              <a:gd name="connsiteX0" fmla="*/ 0 w 1247725"/>
              <a:gd name="connsiteY0" fmla="*/ 108844 h 1680448"/>
              <a:gd name="connsiteX1" fmla="*/ 1247725 w 1247725"/>
              <a:gd name="connsiteY1" fmla="*/ 0 h 1680448"/>
              <a:gd name="connsiteX2" fmla="*/ 706940 w 1247725"/>
              <a:gd name="connsiteY2" fmla="*/ 1680448 h 1680448"/>
              <a:gd name="connsiteX3" fmla="*/ 0 w 1247725"/>
              <a:gd name="connsiteY3" fmla="*/ 108844 h 1680448"/>
              <a:gd name="connsiteX0" fmla="*/ 0 w 1285825"/>
              <a:gd name="connsiteY0" fmla="*/ 24292 h 1595896"/>
              <a:gd name="connsiteX1" fmla="*/ 1285825 w 1285825"/>
              <a:gd name="connsiteY1" fmla="*/ 0 h 1595896"/>
              <a:gd name="connsiteX2" fmla="*/ 706940 w 1285825"/>
              <a:gd name="connsiteY2" fmla="*/ 1595896 h 1595896"/>
              <a:gd name="connsiteX3" fmla="*/ 0 w 1285825"/>
              <a:gd name="connsiteY3" fmla="*/ 24292 h 1595896"/>
              <a:gd name="connsiteX0" fmla="*/ 0 w 1122838"/>
              <a:gd name="connsiteY0" fmla="*/ 34861 h 1595896"/>
              <a:gd name="connsiteX1" fmla="*/ 1122838 w 1122838"/>
              <a:gd name="connsiteY1" fmla="*/ 0 h 1595896"/>
              <a:gd name="connsiteX2" fmla="*/ 543953 w 1122838"/>
              <a:gd name="connsiteY2" fmla="*/ 1595896 h 1595896"/>
              <a:gd name="connsiteX3" fmla="*/ 0 w 1122838"/>
              <a:gd name="connsiteY3" fmla="*/ 34861 h 1595896"/>
              <a:gd name="connsiteX0" fmla="*/ 0 w 961971"/>
              <a:gd name="connsiteY0" fmla="*/ 24291 h 1585326"/>
              <a:gd name="connsiteX1" fmla="*/ 961971 w 961971"/>
              <a:gd name="connsiteY1" fmla="*/ 0 h 1585326"/>
              <a:gd name="connsiteX2" fmla="*/ 543953 w 961971"/>
              <a:gd name="connsiteY2" fmla="*/ 1585326 h 1585326"/>
              <a:gd name="connsiteX3" fmla="*/ 0 w 961971"/>
              <a:gd name="connsiteY3" fmla="*/ 24291 h 1585326"/>
              <a:gd name="connsiteX0" fmla="*/ 0 w 1685871"/>
              <a:gd name="connsiteY0" fmla="*/ 0 h 1561035"/>
              <a:gd name="connsiteX1" fmla="*/ 1685871 w 1685871"/>
              <a:gd name="connsiteY1" fmla="*/ 407722 h 1561035"/>
              <a:gd name="connsiteX2" fmla="*/ 543953 w 1685871"/>
              <a:gd name="connsiteY2" fmla="*/ 1561035 h 1561035"/>
              <a:gd name="connsiteX3" fmla="*/ 0 w 1685871"/>
              <a:gd name="connsiteY3" fmla="*/ 0 h 1561035"/>
              <a:gd name="connsiteX0" fmla="*/ 0 w 2298646"/>
              <a:gd name="connsiteY0" fmla="*/ 0 h 1184510"/>
              <a:gd name="connsiteX1" fmla="*/ 2298646 w 2298646"/>
              <a:gd name="connsiteY1" fmla="*/ 31197 h 1184510"/>
              <a:gd name="connsiteX2" fmla="*/ 1156728 w 2298646"/>
              <a:gd name="connsiteY2" fmla="*/ 1184510 h 1184510"/>
              <a:gd name="connsiteX3" fmla="*/ 0 w 2298646"/>
              <a:gd name="connsiteY3" fmla="*/ 0 h 1184510"/>
              <a:gd name="connsiteX0" fmla="*/ 0 w 2298646"/>
              <a:gd name="connsiteY0" fmla="*/ 0 h 740607"/>
              <a:gd name="connsiteX1" fmla="*/ 2298646 w 2298646"/>
              <a:gd name="connsiteY1" fmla="*/ 31197 h 740607"/>
              <a:gd name="connsiteX2" fmla="*/ 1172603 w 2298646"/>
              <a:gd name="connsiteY2" fmla="*/ 740607 h 740607"/>
              <a:gd name="connsiteX3" fmla="*/ 0 w 2298646"/>
              <a:gd name="connsiteY3" fmla="*/ 0 h 740607"/>
            </a:gdLst>
            <a:ahLst/>
            <a:cxnLst>
              <a:cxn ang="0">
                <a:pos x="connsiteX0" y="connsiteY0"/>
              </a:cxn>
              <a:cxn ang="0">
                <a:pos x="connsiteX1" y="connsiteY1"/>
              </a:cxn>
              <a:cxn ang="0">
                <a:pos x="connsiteX2" y="connsiteY2"/>
              </a:cxn>
              <a:cxn ang="0">
                <a:pos x="connsiteX3" y="connsiteY3"/>
              </a:cxn>
            </a:cxnLst>
            <a:rect l="l" t="t" r="r" b="b"/>
            <a:pathLst>
              <a:path w="2298646" h="740607">
                <a:moveTo>
                  <a:pt x="0" y="0"/>
                </a:moveTo>
                <a:lnTo>
                  <a:pt x="2298646" y="31197"/>
                </a:lnTo>
                <a:lnTo>
                  <a:pt x="1172603" y="740607"/>
                </a:lnTo>
                <a:lnTo>
                  <a:pt x="0" y="0"/>
                </a:lnTo>
                <a:close/>
              </a:path>
            </a:pathLst>
          </a:custGeom>
          <a:gradFill flip="none" rotWithShape="1">
            <a:gsLst>
              <a:gs pos="0">
                <a:schemeClr val="bg1"/>
              </a:gs>
              <a:gs pos="100000">
                <a:srgbClr val="FFCC66"/>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任意多边形 3"/>
          <p:cNvSpPr/>
          <p:nvPr/>
        </p:nvSpPr>
        <p:spPr bwMode="gray">
          <a:xfrm rot="5400000">
            <a:off x="2943128" y="1883035"/>
            <a:ext cx="961971" cy="1002113"/>
          </a:xfrm>
          <a:custGeom>
            <a:avLst/>
            <a:gdLst>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4" fmla="*/ 177800 w 1104900"/>
              <a:gd name="connsiteY4" fmla="*/ 0 h 444500"/>
              <a:gd name="connsiteX0" fmla="*/ 73025 w 1104900"/>
              <a:gd name="connsiteY0" fmla="*/ 0 h 687388"/>
              <a:gd name="connsiteX1" fmla="*/ 660400 w 1104900"/>
              <a:gd name="connsiteY1" fmla="*/ 242888 h 687388"/>
              <a:gd name="connsiteX2" fmla="*/ 1104900 w 1104900"/>
              <a:gd name="connsiteY2" fmla="*/ 687388 h 687388"/>
              <a:gd name="connsiteX3" fmla="*/ 0 w 1104900"/>
              <a:gd name="connsiteY3" fmla="*/ 687388 h 687388"/>
              <a:gd name="connsiteX4" fmla="*/ 73025 w 1104900"/>
              <a:gd name="connsiteY4" fmla="*/ 0 h 687388"/>
              <a:gd name="connsiteX0" fmla="*/ 73025 w 1104900"/>
              <a:gd name="connsiteY0" fmla="*/ 0 h 687388"/>
              <a:gd name="connsiteX1" fmla="*/ 1010443 w 1104900"/>
              <a:gd name="connsiteY1" fmla="*/ 0 h 687388"/>
              <a:gd name="connsiteX2" fmla="*/ 1104900 w 1104900"/>
              <a:gd name="connsiteY2" fmla="*/ 687388 h 687388"/>
              <a:gd name="connsiteX3" fmla="*/ 0 w 1104900"/>
              <a:gd name="connsiteY3" fmla="*/ 687388 h 687388"/>
              <a:gd name="connsiteX4" fmla="*/ 73025 w 1104900"/>
              <a:gd name="connsiteY4" fmla="*/ 0 h 687388"/>
              <a:gd name="connsiteX0" fmla="*/ 73025 w 1010443"/>
              <a:gd name="connsiteY0" fmla="*/ 0 h 687388"/>
              <a:gd name="connsiteX1" fmla="*/ 1010443 w 1010443"/>
              <a:gd name="connsiteY1" fmla="*/ 0 h 687388"/>
              <a:gd name="connsiteX2" fmla="*/ 0 w 1010443"/>
              <a:gd name="connsiteY2" fmla="*/ 687388 h 687388"/>
              <a:gd name="connsiteX3" fmla="*/ 73025 w 1010443"/>
              <a:gd name="connsiteY3" fmla="*/ 0 h 687388"/>
              <a:gd name="connsiteX0" fmla="*/ 127794 w 1065212"/>
              <a:gd name="connsiteY0" fmla="*/ 0 h 661195"/>
              <a:gd name="connsiteX1" fmla="*/ 1065212 w 1065212"/>
              <a:gd name="connsiteY1" fmla="*/ 0 h 661195"/>
              <a:gd name="connsiteX2" fmla="*/ 0 w 1065212"/>
              <a:gd name="connsiteY2" fmla="*/ 661195 h 661195"/>
              <a:gd name="connsiteX3" fmla="*/ 127794 w 1065212"/>
              <a:gd name="connsiteY3" fmla="*/ 0 h 661195"/>
              <a:gd name="connsiteX0" fmla="*/ 118269 w 1055687"/>
              <a:gd name="connsiteY0" fmla="*/ 0 h 604045"/>
              <a:gd name="connsiteX1" fmla="*/ 1055687 w 1055687"/>
              <a:gd name="connsiteY1" fmla="*/ 0 h 604045"/>
              <a:gd name="connsiteX2" fmla="*/ 0 w 1055687"/>
              <a:gd name="connsiteY2" fmla="*/ 604045 h 604045"/>
              <a:gd name="connsiteX3" fmla="*/ 118269 w 1055687"/>
              <a:gd name="connsiteY3" fmla="*/ 0 h 604045"/>
              <a:gd name="connsiteX0" fmla="*/ 0 w 937418"/>
              <a:gd name="connsiteY0" fmla="*/ 0 h 1376403"/>
              <a:gd name="connsiteX1" fmla="*/ 937418 w 937418"/>
              <a:gd name="connsiteY1" fmla="*/ 0 h 1376403"/>
              <a:gd name="connsiteX2" fmla="*/ 139184 w 937418"/>
              <a:gd name="connsiteY2" fmla="*/ 1376403 h 1376403"/>
              <a:gd name="connsiteX3" fmla="*/ 0 w 937418"/>
              <a:gd name="connsiteY3" fmla="*/ 0 h 1376403"/>
              <a:gd name="connsiteX0" fmla="*/ 0 w 1381300"/>
              <a:gd name="connsiteY0" fmla="*/ 0 h 1536203"/>
              <a:gd name="connsiteX1" fmla="*/ 1381300 w 1381300"/>
              <a:gd name="connsiteY1" fmla="*/ 159800 h 1536203"/>
              <a:gd name="connsiteX2" fmla="*/ 583066 w 1381300"/>
              <a:gd name="connsiteY2" fmla="*/ 1536203 h 1536203"/>
              <a:gd name="connsiteX3" fmla="*/ 0 w 1381300"/>
              <a:gd name="connsiteY3" fmla="*/ 0 h 1536203"/>
              <a:gd name="connsiteX0" fmla="*/ 0 w 1106095"/>
              <a:gd name="connsiteY0" fmla="*/ 0 h 1536203"/>
              <a:gd name="connsiteX1" fmla="*/ 1106095 w 1106095"/>
              <a:gd name="connsiteY1" fmla="*/ 2 h 1536203"/>
              <a:gd name="connsiteX2" fmla="*/ 583066 w 1106095"/>
              <a:gd name="connsiteY2" fmla="*/ 1536203 h 1536203"/>
              <a:gd name="connsiteX3" fmla="*/ 0 w 1106095"/>
              <a:gd name="connsiteY3" fmla="*/ 0 h 1536203"/>
              <a:gd name="connsiteX0" fmla="*/ 0 w 1106095"/>
              <a:gd name="connsiteY0" fmla="*/ 0 h 1669368"/>
              <a:gd name="connsiteX1" fmla="*/ 1106095 w 1106095"/>
              <a:gd name="connsiteY1" fmla="*/ 2 h 1669368"/>
              <a:gd name="connsiteX2" fmla="*/ 698475 w 1106095"/>
              <a:gd name="connsiteY2" fmla="*/ 1669368 h 1669368"/>
              <a:gd name="connsiteX3" fmla="*/ 0 w 1106095"/>
              <a:gd name="connsiteY3" fmla="*/ 0 h 1669368"/>
              <a:gd name="connsiteX0" fmla="*/ 0 w 1239260"/>
              <a:gd name="connsiteY0" fmla="*/ 11080 h 1680448"/>
              <a:gd name="connsiteX1" fmla="*/ 1239260 w 1239260"/>
              <a:gd name="connsiteY1" fmla="*/ 0 h 1680448"/>
              <a:gd name="connsiteX2" fmla="*/ 698475 w 1239260"/>
              <a:gd name="connsiteY2" fmla="*/ 1680448 h 1680448"/>
              <a:gd name="connsiteX3" fmla="*/ 0 w 1239260"/>
              <a:gd name="connsiteY3" fmla="*/ 11080 h 1680448"/>
              <a:gd name="connsiteX0" fmla="*/ 0 w 1247725"/>
              <a:gd name="connsiteY0" fmla="*/ 108844 h 1680448"/>
              <a:gd name="connsiteX1" fmla="*/ 1247725 w 1247725"/>
              <a:gd name="connsiteY1" fmla="*/ 0 h 1680448"/>
              <a:gd name="connsiteX2" fmla="*/ 706940 w 1247725"/>
              <a:gd name="connsiteY2" fmla="*/ 1680448 h 1680448"/>
              <a:gd name="connsiteX3" fmla="*/ 0 w 1247725"/>
              <a:gd name="connsiteY3" fmla="*/ 108844 h 1680448"/>
              <a:gd name="connsiteX0" fmla="*/ 0 w 1285825"/>
              <a:gd name="connsiteY0" fmla="*/ 24292 h 1595896"/>
              <a:gd name="connsiteX1" fmla="*/ 1285825 w 1285825"/>
              <a:gd name="connsiteY1" fmla="*/ 0 h 1595896"/>
              <a:gd name="connsiteX2" fmla="*/ 706940 w 1285825"/>
              <a:gd name="connsiteY2" fmla="*/ 1595896 h 1595896"/>
              <a:gd name="connsiteX3" fmla="*/ 0 w 1285825"/>
              <a:gd name="connsiteY3" fmla="*/ 24292 h 1595896"/>
              <a:gd name="connsiteX0" fmla="*/ 0 w 1122838"/>
              <a:gd name="connsiteY0" fmla="*/ 34861 h 1595896"/>
              <a:gd name="connsiteX1" fmla="*/ 1122838 w 1122838"/>
              <a:gd name="connsiteY1" fmla="*/ 0 h 1595896"/>
              <a:gd name="connsiteX2" fmla="*/ 543953 w 1122838"/>
              <a:gd name="connsiteY2" fmla="*/ 1595896 h 1595896"/>
              <a:gd name="connsiteX3" fmla="*/ 0 w 1122838"/>
              <a:gd name="connsiteY3" fmla="*/ 34861 h 1595896"/>
              <a:gd name="connsiteX0" fmla="*/ 0 w 961971"/>
              <a:gd name="connsiteY0" fmla="*/ 24291 h 1585326"/>
              <a:gd name="connsiteX1" fmla="*/ 961971 w 961971"/>
              <a:gd name="connsiteY1" fmla="*/ 0 h 1585326"/>
              <a:gd name="connsiteX2" fmla="*/ 543953 w 961971"/>
              <a:gd name="connsiteY2" fmla="*/ 1585326 h 1585326"/>
              <a:gd name="connsiteX3" fmla="*/ 0 w 961971"/>
              <a:gd name="connsiteY3" fmla="*/ 24291 h 1585326"/>
              <a:gd name="connsiteX0" fmla="*/ 0 w 961971"/>
              <a:gd name="connsiteY0" fmla="*/ 24291 h 1250958"/>
              <a:gd name="connsiteX1" fmla="*/ 961971 w 961971"/>
              <a:gd name="connsiteY1" fmla="*/ 0 h 1250958"/>
              <a:gd name="connsiteX2" fmla="*/ 322280 w 961971"/>
              <a:gd name="connsiteY2" fmla="*/ 1250958 h 1250958"/>
              <a:gd name="connsiteX3" fmla="*/ 0 w 961971"/>
              <a:gd name="connsiteY3" fmla="*/ 24291 h 1250958"/>
            </a:gdLst>
            <a:ahLst/>
            <a:cxnLst>
              <a:cxn ang="0">
                <a:pos x="connsiteX0" y="connsiteY0"/>
              </a:cxn>
              <a:cxn ang="0">
                <a:pos x="connsiteX1" y="connsiteY1"/>
              </a:cxn>
              <a:cxn ang="0">
                <a:pos x="connsiteX2" y="connsiteY2"/>
              </a:cxn>
              <a:cxn ang="0">
                <a:pos x="connsiteX3" y="connsiteY3"/>
              </a:cxn>
            </a:cxnLst>
            <a:rect l="l" t="t" r="r" b="b"/>
            <a:pathLst>
              <a:path w="961971" h="1250958">
                <a:moveTo>
                  <a:pt x="0" y="24291"/>
                </a:moveTo>
                <a:lnTo>
                  <a:pt x="961971" y="0"/>
                </a:lnTo>
                <a:lnTo>
                  <a:pt x="322280" y="1250958"/>
                </a:lnTo>
                <a:lnTo>
                  <a:pt x="0" y="24291"/>
                </a:lnTo>
                <a:close/>
              </a:path>
            </a:pathLst>
          </a:custGeom>
          <a:gradFill flip="none" rotWithShape="1">
            <a:gsLst>
              <a:gs pos="0">
                <a:schemeClr val="bg1"/>
              </a:gs>
              <a:gs pos="100000">
                <a:srgbClr val="FFCC66"/>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780869" y="1082699"/>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CloudCampus </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APP</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扫码）方式</a:t>
            </a:r>
          </a:p>
        </p:txBody>
      </p:sp>
      <p:sp>
        <p:nvSpPr>
          <p:cNvPr id="6" name="圆角矩形 5"/>
          <p:cNvSpPr/>
          <p:nvPr/>
        </p:nvSpPr>
        <p:spPr bwMode="gray">
          <a:xfrm>
            <a:off x="780868" y="1527901"/>
            <a:ext cx="5163736" cy="414239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1136765" y="3682699"/>
            <a:ext cx="4511913" cy="1933060"/>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7" descr="云AP蓝.png"/>
          <p:cNvPicPr>
            <a:picLocks noChangeAspect="1"/>
          </p:cNvPicPr>
          <p:nvPr/>
        </p:nvPicPr>
        <p:blipFill>
          <a:blip r:embed="rId3" cstate="print"/>
          <a:stretch>
            <a:fillRect/>
          </a:stretch>
        </p:blipFill>
        <p:spPr bwMode="gray">
          <a:xfrm>
            <a:off x="2605193" y="4183780"/>
            <a:ext cx="536397" cy="438870"/>
          </a:xfrm>
          <a:prstGeom prst="rect">
            <a:avLst/>
          </a:prstGeom>
        </p:spPr>
      </p:pic>
      <p:sp>
        <p:nvSpPr>
          <p:cNvPr id="9" name="任意多边形 8"/>
          <p:cNvSpPr/>
          <p:nvPr/>
        </p:nvSpPr>
        <p:spPr bwMode="gray">
          <a:xfrm>
            <a:off x="2615333" y="2902200"/>
            <a:ext cx="985656" cy="65904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任意多边形 9"/>
          <p:cNvSpPr/>
          <p:nvPr/>
        </p:nvSpPr>
        <p:spPr bwMode="gray">
          <a:xfrm rot="5400000">
            <a:off x="3281429" y="3491844"/>
            <a:ext cx="1104900" cy="1698993"/>
          </a:xfrm>
          <a:custGeom>
            <a:avLst/>
            <a:gdLst>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4" fmla="*/ 177800 w 1104900"/>
              <a:gd name="connsiteY4" fmla="*/ 0 h 444500"/>
              <a:gd name="connsiteX0" fmla="*/ 0 w 1104900"/>
              <a:gd name="connsiteY0" fmla="*/ 444500 h 444500"/>
              <a:gd name="connsiteX1" fmla="*/ 660400 w 1104900"/>
              <a:gd name="connsiteY1" fmla="*/ 0 h 444500"/>
              <a:gd name="connsiteX2" fmla="*/ 1104900 w 1104900"/>
              <a:gd name="connsiteY2" fmla="*/ 444500 h 444500"/>
              <a:gd name="connsiteX3" fmla="*/ 0 w 1104900"/>
              <a:gd name="connsiteY3" fmla="*/ 444500 h 444500"/>
            </a:gdLst>
            <a:ahLst/>
            <a:cxnLst>
              <a:cxn ang="0">
                <a:pos x="connsiteX0" y="connsiteY0"/>
              </a:cxn>
              <a:cxn ang="0">
                <a:pos x="connsiteX1" y="connsiteY1"/>
              </a:cxn>
              <a:cxn ang="0">
                <a:pos x="connsiteX2" y="connsiteY2"/>
              </a:cxn>
              <a:cxn ang="0">
                <a:pos x="connsiteX3" y="connsiteY3"/>
              </a:cxn>
            </a:cxnLst>
            <a:rect l="l" t="t" r="r" b="b"/>
            <a:pathLst>
              <a:path w="1104900" h="444500">
                <a:moveTo>
                  <a:pt x="0" y="444500"/>
                </a:moveTo>
                <a:lnTo>
                  <a:pt x="660400" y="0"/>
                </a:lnTo>
                <a:lnTo>
                  <a:pt x="1104900" y="444500"/>
                </a:lnTo>
                <a:lnTo>
                  <a:pt x="0" y="444500"/>
                </a:lnTo>
                <a:close/>
              </a:path>
            </a:pathLst>
          </a:custGeom>
          <a:gradFill flip="none" rotWithShape="1">
            <a:gsLst>
              <a:gs pos="0">
                <a:srgbClr val="FFCC66"/>
              </a:gs>
              <a:gs pos="100000">
                <a:schemeClr val="bg1">
                  <a:alpha val="0"/>
                </a:schemeClr>
              </a:gs>
            </a:gsLst>
            <a:lin ang="54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descr="SAN网络-蓝.png"/>
          <p:cNvPicPr>
            <a:picLocks noChangeAspect="1"/>
          </p:cNvPicPr>
          <p:nvPr/>
        </p:nvPicPr>
        <p:blipFill>
          <a:blip r:embed="rId4" cstate="print"/>
          <a:stretch>
            <a:fillRect/>
          </a:stretch>
        </p:blipFill>
        <p:spPr bwMode="gray">
          <a:xfrm>
            <a:off x="4676775" y="4111518"/>
            <a:ext cx="356095" cy="583393"/>
          </a:xfrm>
          <a:prstGeom prst="rect">
            <a:avLst/>
          </a:prstGeom>
        </p:spPr>
      </p:pic>
      <p:sp>
        <p:nvSpPr>
          <p:cNvPr id="12" name="文本框 11"/>
          <p:cNvSpPr txBox="1"/>
          <p:nvPr/>
        </p:nvSpPr>
        <p:spPr bwMode="gray">
          <a:xfrm>
            <a:off x="3648046" y="4249325"/>
            <a:ext cx="599844" cy="307777"/>
          </a:xfrm>
          <a:prstGeom prst="rect">
            <a:avLst/>
          </a:prstGeom>
          <a:noFill/>
        </p:spPr>
        <p:txBody>
          <a:bodyPr wrap="none" rtlCol="0">
            <a:spAutoFit/>
          </a:bodyPr>
          <a:lstStyle/>
          <a:p>
            <a:pPr algn="r"/>
            <a:r>
              <a:rPr lang="zh-CN" altLang="en-US" sz="1400" b="1" dirty="0" smtClean="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rPr>
              <a:t>扫 码</a:t>
            </a:r>
            <a:endParaRPr lang="zh-CN" altLang="en-US" sz="14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圆角矩形 12"/>
          <p:cNvSpPr/>
          <p:nvPr/>
        </p:nvSpPr>
        <p:spPr bwMode="gray">
          <a:xfrm>
            <a:off x="3885151" y="1893571"/>
            <a:ext cx="1872207" cy="974256"/>
          </a:xfrm>
          <a:prstGeom prst="roundRect">
            <a:avLst>
              <a:gd name="adj" fmla="val 4091"/>
            </a:avLst>
          </a:prstGeom>
          <a:solidFill>
            <a:srgbClr val="FFFFCC"/>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sz="1400" dirty="0" err="1">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TenantX</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200"/>
              </a:lnSpc>
            </a:pP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err="1">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SiteY</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200"/>
              </a:lnSpc>
            </a:pP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设备：</a:t>
            </a:r>
            <a:r>
              <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ESN…</a:t>
            </a: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椭圆 13"/>
          <p:cNvSpPr>
            <a:spLocks noChangeAspect="1"/>
          </p:cNvSpPr>
          <p:nvPr/>
        </p:nvSpPr>
        <p:spPr bwMode="gray">
          <a:xfrm>
            <a:off x="4313471" y="4286973"/>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椭圆 14"/>
          <p:cNvSpPr>
            <a:spLocks noChangeAspect="1"/>
          </p:cNvSpPr>
          <p:nvPr/>
        </p:nvSpPr>
        <p:spPr bwMode="gray">
          <a:xfrm>
            <a:off x="4313471" y="4773393"/>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3776471" y="5043522"/>
            <a:ext cx="1872516" cy="523220"/>
          </a:xfrm>
          <a:prstGeom prst="rect">
            <a:avLst/>
          </a:prstGeom>
          <a:noFill/>
        </p:spPr>
        <p:txBody>
          <a:bodyPr wrap="square" rtlCol="0">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APP</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获得</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ESN</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号、</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地址等信息</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任意多边形 16"/>
          <p:cNvSpPr/>
          <p:nvPr/>
        </p:nvSpPr>
        <p:spPr bwMode="gray">
          <a:xfrm>
            <a:off x="3304079" y="2702030"/>
            <a:ext cx="1395499" cy="1473693"/>
          </a:xfrm>
          <a:custGeom>
            <a:avLst/>
            <a:gdLst>
              <a:gd name="connsiteX0" fmla="*/ 1580226 w 1580226"/>
              <a:gd name="connsiteY0" fmla="*/ 1473693 h 1473693"/>
              <a:gd name="connsiteX1" fmla="*/ 0 w 1580226"/>
              <a:gd name="connsiteY1" fmla="*/ 0 h 1473693"/>
              <a:gd name="connsiteX0" fmla="*/ 1580226 w 1580226"/>
              <a:gd name="connsiteY0" fmla="*/ 1473693 h 1473693"/>
              <a:gd name="connsiteX1" fmla="*/ 0 w 1580226"/>
              <a:gd name="connsiteY1" fmla="*/ 0 h 1473693"/>
              <a:gd name="connsiteX0" fmla="*/ 1580226 w 1580226"/>
              <a:gd name="connsiteY0" fmla="*/ 1473693 h 1473693"/>
              <a:gd name="connsiteX1" fmla="*/ 0 w 1580226"/>
              <a:gd name="connsiteY1" fmla="*/ 0 h 1473693"/>
              <a:gd name="connsiteX0" fmla="*/ 1580226 w 1580226"/>
              <a:gd name="connsiteY0" fmla="*/ 1473693 h 1473693"/>
              <a:gd name="connsiteX1" fmla="*/ 0 w 1580226"/>
              <a:gd name="connsiteY1" fmla="*/ 0 h 1473693"/>
              <a:gd name="connsiteX0" fmla="*/ 1524808 w 1524808"/>
              <a:gd name="connsiteY0" fmla="*/ 1473693 h 1473693"/>
              <a:gd name="connsiteX1" fmla="*/ 0 w 1524808"/>
              <a:gd name="connsiteY1" fmla="*/ 0 h 1473693"/>
              <a:gd name="connsiteX0" fmla="*/ 1524808 w 1524808"/>
              <a:gd name="connsiteY0" fmla="*/ 1473693 h 1473693"/>
              <a:gd name="connsiteX1" fmla="*/ 0 w 1524808"/>
              <a:gd name="connsiteY1" fmla="*/ 0 h 1473693"/>
              <a:gd name="connsiteX0" fmla="*/ 1395499 w 1395499"/>
              <a:gd name="connsiteY0" fmla="*/ 1473693 h 1473693"/>
              <a:gd name="connsiteX1" fmla="*/ 0 w 1395499"/>
              <a:gd name="connsiteY1" fmla="*/ 0 h 1473693"/>
              <a:gd name="connsiteX0" fmla="*/ 1395499 w 1395499"/>
              <a:gd name="connsiteY0" fmla="*/ 1473693 h 1473693"/>
              <a:gd name="connsiteX1" fmla="*/ 0 w 1395499"/>
              <a:gd name="connsiteY1" fmla="*/ 0 h 1473693"/>
              <a:gd name="connsiteX0" fmla="*/ 1395499 w 1395499"/>
              <a:gd name="connsiteY0" fmla="*/ 1473693 h 1473693"/>
              <a:gd name="connsiteX1" fmla="*/ 0 w 1395499"/>
              <a:gd name="connsiteY1" fmla="*/ 0 h 1473693"/>
            </a:gdLst>
            <a:ahLst/>
            <a:cxnLst>
              <a:cxn ang="0">
                <a:pos x="connsiteX0" y="connsiteY0"/>
              </a:cxn>
              <a:cxn ang="0">
                <a:pos x="connsiteX1" y="connsiteY1"/>
              </a:cxn>
            </a:cxnLst>
            <a:rect l="l" t="t" r="r" b="b"/>
            <a:pathLst>
              <a:path w="1395499" h="1473693">
                <a:moveTo>
                  <a:pt x="1395499" y="1473693"/>
                </a:moveTo>
                <a:cubicBezTo>
                  <a:pt x="1066936" y="606730"/>
                  <a:pt x="850910" y="376808"/>
                  <a:pt x="0"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4446571" y="3222768"/>
            <a:ext cx="1440160" cy="307777"/>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上报</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p:cNvSpPr>
            <a:spLocks noChangeAspect="1"/>
          </p:cNvSpPr>
          <p:nvPr/>
        </p:nvSpPr>
        <p:spPr bwMode="gray">
          <a:xfrm>
            <a:off x="4247890" y="3398927"/>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椭圆 19"/>
          <p:cNvSpPr>
            <a:spLocks noChangeAspect="1"/>
          </p:cNvSpPr>
          <p:nvPr/>
        </p:nvSpPr>
        <p:spPr bwMode="gray">
          <a:xfrm>
            <a:off x="5337926" y="1775619"/>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gray">
          <a:xfrm flipH="1">
            <a:off x="2377507" y="2719108"/>
            <a:ext cx="483485" cy="1394472"/>
          </a:xfrm>
          <a:custGeom>
            <a:avLst/>
            <a:gdLst>
              <a:gd name="connsiteX0" fmla="*/ 1580226 w 1580226"/>
              <a:gd name="connsiteY0" fmla="*/ 1473693 h 1473693"/>
              <a:gd name="connsiteX1" fmla="*/ 0 w 1580226"/>
              <a:gd name="connsiteY1" fmla="*/ 0 h 1473693"/>
              <a:gd name="connsiteX0" fmla="*/ 5606094 w 5606094"/>
              <a:gd name="connsiteY0" fmla="*/ 1491449 h 1491449"/>
              <a:gd name="connsiteX1" fmla="*/ 0 w 5606094"/>
              <a:gd name="connsiteY1" fmla="*/ 0 h 1491449"/>
              <a:gd name="connsiteX0" fmla="*/ 0 w 3860126"/>
              <a:gd name="connsiteY0" fmla="*/ 1429306 h 1429306"/>
              <a:gd name="connsiteX1" fmla="*/ 3860126 w 3860126"/>
              <a:gd name="connsiteY1" fmla="*/ 0 h 1429306"/>
              <a:gd name="connsiteX0" fmla="*/ 0 w 4581322"/>
              <a:gd name="connsiteY0" fmla="*/ 1429306 h 1429306"/>
              <a:gd name="connsiteX1" fmla="*/ 3860126 w 4581322"/>
              <a:gd name="connsiteY1" fmla="*/ 0 h 1429306"/>
              <a:gd name="connsiteX0" fmla="*/ 0 w 3796565"/>
              <a:gd name="connsiteY0" fmla="*/ 1429306 h 1429306"/>
              <a:gd name="connsiteX1" fmla="*/ 1575176 w 3796565"/>
              <a:gd name="connsiteY1" fmla="*/ 0 h 1429306"/>
              <a:gd name="connsiteX0" fmla="*/ 0 w 4990743"/>
              <a:gd name="connsiteY0" fmla="*/ 1429306 h 1429306"/>
              <a:gd name="connsiteX1" fmla="*/ 1575176 w 4990743"/>
              <a:gd name="connsiteY1" fmla="*/ 0 h 1429306"/>
              <a:gd name="connsiteX0" fmla="*/ 0 w 5757692"/>
              <a:gd name="connsiteY0" fmla="*/ 1394472 h 1394472"/>
              <a:gd name="connsiteX1" fmla="*/ 3176189 w 5757692"/>
              <a:gd name="connsiteY1" fmla="*/ 0 h 1394472"/>
              <a:gd name="connsiteX0" fmla="*/ 0 w 5925726"/>
              <a:gd name="connsiteY0" fmla="*/ 1394472 h 1394472"/>
              <a:gd name="connsiteX1" fmla="*/ 3176189 w 5925726"/>
              <a:gd name="connsiteY1" fmla="*/ 0 h 1394472"/>
            </a:gdLst>
            <a:ahLst/>
            <a:cxnLst>
              <a:cxn ang="0">
                <a:pos x="connsiteX0" y="connsiteY0"/>
              </a:cxn>
              <a:cxn ang="0">
                <a:pos x="connsiteX1" y="connsiteY1"/>
              </a:cxn>
            </a:cxnLst>
            <a:rect l="l" t="t" r="r" b="b"/>
            <a:pathLst>
              <a:path w="5925726" h="1394472">
                <a:moveTo>
                  <a:pt x="0" y="1394472"/>
                </a:moveTo>
                <a:cubicBezTo>
                  <a:pt x="8250373" y="900282"/>
                  <a:pt x="6451091" y="467727"/>
                  <a:pt x="3176189"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p:cNvSpPr>
            <a:spLocks noChangeAspect="1"/>
          </p:cNvSpPr>
          <p:nvPr/>
        </p:nvSpPr>
        <p:spPr bwMode="gray">
          <a:xfrm>
            <a:off x="2363602" y="3556410"/>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1370307" y="3149372"/>
            <a:ext cx="1004427" cy="523220"/>
          </a:xfrm>
          <a:prstGeom prst="rect">
            <a:avLst/>
          </a:prstGeom>
          <a:noFill/>
        </p:spPr>
        <p:txBody>
          <a:bodyPr wrap="square" rtlCol="0">
            <a:spAutoFit/>
          </a:bodyPr>
          <a:lstStyle/>
          <a:p>
            <a:pPr algn="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设备注册并被纳管</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6106145" y="1082699"/>
            <a:ext cx="5242970"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注册查询中心方式</a:t>
            </a:r>
          </a:p>
        </p:txBody>
      </p:sp>
      <p:sp>
        <p:nvSpPr>
          <p:cNvPr id="25" name="圆角矩形 24"/>
          <p:cNvSpPr/>
          <p:nvPr/>
        </p:nvSpPr>
        <p:spPr bwMode="gray">
          <a:xfrm>
            <a:off x="6106144" y="1527901"/>
            <a:ext cx="5242972" cy="414239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gray">
          <a:xfrm>
            <a:off x="6318297" y="4329720"/>
            <a:ext cx="4734894" cy="1286039"/>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26" descr="云AP蓝.png"/>
          <p:cNvPicPr>
            <a:picLocks noChangeAspect="1"/>
          </p:cNvPicPr>
          <p:nvPr/>
        </p:nvPicPr>
        <p:blipFill>
          <a:blip r:embed="rId3" cstate="print"/>
          <a:stretch>
            <a:fillRect/>
          </a:stretch>
        </p:blipFill>
        <p:spPr bwMode="gray">
          <a:xfrm>
            <a:off x="8167843" y="4839103"/>
            <a:ext cx="536397" cy="438870"/>
          </a:xfrm>
          <a:prstGeom prst="rect">
            <a:avLst/>
          </a:prstGeom>
        </p:spPr>
      </p:pic>
      <p:sp>
        <p:nvSpPr>
          <p:cNvPr id="28" name="文本框 27"/>
          <p:cNvSpPr txBox="1"/>
          <p:nvPr/>
        </p:nvSpPr>
        <p:spPr bwMode="gray">
          <a:xfrm>
            <a:off x="6271790" y="2569713"/>
            <a:ext cx="1260281" cy="307777"/>
          </a:xfrm>
          <a:prstGeom prst="rect">
            <a:avLst/>
          </a:prstGeom>
          <a:noFill/>
        </p:spPr>
        <p:txBody>
          <a:bodyPr wrap="non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1.1.1.1:18008</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780869" y="5718468"/>
            <a:ext cx="5163734" cy="400674"/>
          </a:xfrm>
          <a:prstGeom prst="roundRect">
            <a:avLst>
              <a:gd name="adj" fmla="val 14624"/>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支持设备类型：</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29"/>
          <p:cNvSpPr/>
          <p:nvPr/>
        </p:nvSpPr>
        <p:spPr bwMode="gray">
          <a:xfrm>
            <a:off x="6106145" y="5718468"/>
            <a:ext cx="5242970" cy="400674"/>
          </a:xfrm>
          <a:prstGeom prst="roundRect">
            <a:avLst>
              <a:gd name="adj" fmla="val 14624"/>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支持设备类型： </a:t>
            </a:r>
            <a:r>
              <a:rPr lang="en-US" altLang="zh-CN"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a:t>
            </a: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换机</a:t>
            </a: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descr="云管理平台蓝.png"/>
          <p:cNvPicPr>
            <a:picLocks noChangeAspect="1"/>
          </p:cNvPicPr>
          <p:nvPr/>
        </p:nvPicPr>
        <p:blipFill>
          <a:blip r:embed="rId5" cstate="print"/>
          <a:stretch>
            <a:fillRect/>
          </a:stretch>
        </p:blipFill>
        <p:spPr bwMode="gray">
          <a:xfrm>
            <a:off x="9858048" y="2363551"/>
            <a:ext cx="540000" cy="441818"/>
          </a:xfrm>
          <a:prstGeom prst="rect">
            <a:avLst/>
          </a:prstGeom>
        </p:spPr>
      </p:pic>
      <p:sp>
        <p:nvSpPr>
          <p:cNvPr id="32" name="文本框 31"/>
          <p:cNvSpPr txBox="1"/>
          <p:nvPr/>
        </p:nvSpPr>
        <p:spPr bwMode="gray">
          <a:xfrm>
            <a:off x="10365659" y="2322850"/>
            <a:ext cx="1041114" cy="523220"/>
          </a:xfrm>
          <a:prstGeom prst="rect">
            <a:avLst/>
          </a:prstGeom>
          <a:noFill/>
        </p:spPr>
        <p:txBody>
          <a:bodyPr wrap="square" rtlCol="0">
            <a:spAutoFit/>
          </a:bodyPr>
          <a:lstStyle/>
          <a:p>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华为注册查询中心</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箭头连接符 32"/>
          <p:cNvCxnSpPr/>
          <p:nvPr/>
        </p:nvCxnSpPr>
        <p:spPr bwMode="gray">
          <a:xfrm>
            <a:off x="7936119" y="1953907"/>
            <a:ext cx="0" cy="419744"/>
          </a:xfrm>
          <a:prstGeom prst="straightConnector1">
            <a:avLst/>
          </a:pr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34" name="图片 33" descr="管理员-蓝.png"/>
          <p:cNvPicPr>
            <a:picLocks noChangeAspect="1"/>
          </p:cNvPicPr>
          <p:nvPr/>
        </p:nvPicPr>
        <p:blipFill>
          <a:blip r:embed="rId6" cstate="print"/>
          <a:stretch>
            <a:fillRect/>
          </a:stretch>
        </p:blipFill>
        <p:spPr bwMode="gray">
          <a:xfrm>
            <a:off x="7690665" y="1617508"/>
            <a:ext cx="490909" cy="401654"/>
          </a:xfrm>
          <a:prstGeom prst="rect">
            <a:avLst/>
          </a:prstGeom>
        </p:spPr>
      </p:pic>
      <p:sp>
        <p:nvSpPr>
          <p:cNvPr id="35" name="椭圆 34"/>
          <p:cNvSpPr>
            <a:spLocks noChangeAspect="1"/>
          </p:cNvSpPr>
          <p:nvPr/>
        </p:nvSpPr>
        <p:spPr bwMode="gray">
          <a:xfrm>
            <a:off x="8282625" y="1719902"/>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8529699" y="1670464"/>
            <a:ext cx="1620957" cy="307777"/>
          </a:xfrm>
          <a:prstGeom prst="rect">
            <a:avLst/>
          </a:prstGeom>
          <a:noFill/>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网管录入设备信息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箭头连接符 36"/>
          <p:cNvCxnSpPr>
            <a:endCxn id="31" idx="1"/>
          </p:cNvCxnSpPr>
          <p:nvPr/>
        </p:nvCxnSpPr>
        <p:spPr bwMode="gray">
          <a:xfrm flipV="1">
            <a:off x="8206119" y="2584460"/>
            <a:ext cx="1651929" cy="1"/>
          </a:xfrm>
          <a:prstGeom prst="straightConnector1">
            <a:avLst/>
          </a:pr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8" name="椭圆 37"/>
          <p:cNvSpPr>
            <a:spLocks noChangeAspect="1"/>
          </p:cNvSpPr>
          <p:nvPr/>
        </p:nvSpPr>
        <p:spPr bwMode="gray">
          <a:xfrm>
            <a:off x="8797233" y="2468220"/>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8392063" y="2137653"/>
            <a:ext cx="1261884" cy="307777"/>
          </a:xfrm>
          <a:prstGeom prst="rect">
            <a:avLst/>
          </a:prstGeom>
          <a:noFill/>
        </p:spPr>
        <p:txBody>
          <a:bodyPr wrap="none" rtlCol="0">
            <a:spAutoFit/>
          </a:bodyPr>
          <a:lstStyle/>
          <a:p>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同步设备信息</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椭圆 39"/>
          <p:cNvSpPr>
            <a:spLocks noChangeAspect="1"/>
          </p:cNvSpPr>
          <p:nvPr/>
        </p:nvSpPr>
        <p:spPr bwMode="gray">
          <a:xfrm>
            <a:off x="8797233" y="4942298"/>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9029712" y="4700908"/>
            <a:ext cx="2023477" cy="738664"/>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自动向华为注册查询中心发起查询，获得云管理平台的地址与端口号</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任意多边形 41"/>
          <p:cNvSpPr/>
          <p:nvPr/>
        </p:nvSpPr>
        <p:spPr bwMode="gray">
          <a:xfrm flipH="1">
            <a:off x="7635018" y="3081331"/>
            <a:ext cx="439518" cy="1729626"/>
          </a:xfrm>
          <a:custGeom>
            <a:avLst/>
            <a:gdLst>
              <a:gd name="connsiteX0" fmla="*/ 1580226 w 1580226"/>
              <a:gd name="connsiteY0" fmla="*/ 1473693 h 1473693"/>
              <a:gd name="connsiteX1" fmla="*/ 0 w 1580226"/>
              <a:gd name="connsiteY1" fmla="*/ 0 h 1473693"/>
              <a:gd name="connsiteX0" fmla="*/ 5606094 w 5606094"/>
              <a:gd name="connsiteY0" fmla="*/ 1491449 h 1491449"/>
              <a:gd name="connsiteX1" fmla="*/ 0 w 5606094"/>
              <a:gd name="connsiteY1" fmla="*/ 0 h 1491449"/>
              <a:gd name="connsiteX0" fmla="*/ 0 w 3860126"/>
              <a:gd name="connsiteY0" fmla="*/ 1429306 h 1429306"/>
              <a:gd name="connsiteX1" fmla="*/ 3860126 w 3860126"/>
              <a:gd name="connsiteY1" fmla="*/ 0 h 1429306"/>
              <a:gd name="connsiteX0" fmla="*/ 0 w 4581322"/>
              <a:gd name="connsiteY0" fmla="*/ 1429306 h 1429306"/>
              <a:gd name="connsiteX1" fmla="*/ 3860126 w 4581322"/>
              <a:gd name="connsiteY1" fmla="*/ 0 h 1429306"/>
              <a:gd name="connsiteX0" fmla="*/ 0 w 3796565"/>
              <a:gd name="connsiteY0" fmla="*/ 1429306 h 1429306"/>
              <a:gd name="connsiteX1" fmla="*/ 1575176 w 3796565"/>
              <a:gd name="connsiteY1" fmla="*/ 0 h 1429306"/>
              <a:gd name="connsiteX0" fmla="*/ 0 w 4990743"/>
              <a:gd name="connsiteY0" fmla="*/ 1429306 h 1429306"/>
              <a:gd name="connsiteX1" fmla="*/ 1575176 w 4990743"/>
              <a:gd name="connsiteY1" fmla="*/ 0 h 1429306"/>
              <a:gd name="connsiteX0" fmla="*/ 0 w 5386854"/>
              <a:gd name="connsiteY0" fmla="*/ 1429306 h 1429306"/>
              <a:gd name="connsiteX1" fmla="*/ 1575176 w 5386854"/>
              <a:gd name="connsiteY1" fmla="*/ 0 h 1429306"/>
            </a:gdLst>
            <a:ahLst/>
            <a:cxnLst>
              <a:cxn ang="0">
                <a:pos x="connsiteX0" y="connsiteY0"/>
              </a:cxn>
              <a:cxn ang="0">
                <a:pos x="connsiteX1" y="connsiteY1"/>
              </a:cxn>
            </a:cxnLst>
            <a:rect l="l" t="t" r="r" b="b"/>
            <a:pathLst>
              <a:path w="5386854" h="1429306">
                <a:moveTo>
                  <a:pt x="0" y="1429306"/>
                </a:moveTo>
                <a:cubicBezTo>
                  <a:pt x="8250373" y="935116"/>
                  <a:pt x="5564619" y="476435"/>
                  <a:pt x="1575176"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任意多边形 42"/>
          <p:cNvSpPr/>
          <p:nvPr/>
        </p:nvSpPr>
        <p:spPr bwMode="gray">
          <a:xfrm>
            <a:off x="7883787" y="3353179"/>
            <a:ext cx="985656" cy="65904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椭圆 43"/>
          <p:cNvSpPr>
            <a:spLocks noChangeAspect="1"/>
          </p:cNvSpPr>
          <p:nvPr/>
        </p:nvSpPr>
        <p:spPr bwMode="gray">
          <a:xfrm>
            <a:off x="7496295" y="3554607"/>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494261" y="3421089"/>
            <a:ext cx="981596" cy="523220"/>
          </a:xfrm>
          <a:prstGeom prst="rect">
            <a:avLst/>
          </a:prstGeom>
          <a:noFill/>
        </p:spPr>
        <p:txBody>
          <a:bodyPr wrap="square" rtlCol="0">
            <a:spAutoFit/>
          </a:bodyPr>
          <a:lstStyle/>
          <a:p>
            <a:pPr algn="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设备注册并被纳管</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45"/>
          <p:cNvSpPr/>
          <p:nvPr/>
        </p:nvSpPr>
        <p:spPr bwMode="gray">
          <a:xfrm>
            <a:off x="8913459" y="3190680"/>
            <a:ext cx="2389471" cy="974256"/>
          </a:xfrm>
          <a:prstGeom prst="roundRect">
            <a:avLst>
              <a:gd name="adj" fmla="val 4091"/>
            </a:avLst>
          </a:prstGeom>
          <a:solidFill>
            <a:srgbClr val="FFFFCC"/>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sz="1400" dirty="0" err="1"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TenantX</a:t>
            </a:r>
            <a:endPar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200"/>
              </a:lnSpc>
            </a:pP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云管</a:t>
            </a: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理平台：</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1.1.1.1:18008</a:t>
            </a:r>
          </a:p>
          <a:p>
            <a:pPr>
              <a:lnSpc>
                <a:spcPts val="2200"/>
              </a:lnSpc>
            </a:pP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设备：</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ESN…</a:t>
            </a:r>
            <a:r>
              <a:rPr lang="zh-CN" altLang="en-US" sz="1400"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46"/>
          <p:cNvSpPr>
            <a:spLocks noChangeAspect="1"/>
          </p:cNvSpPr>
          <p:nvPr/>
        </p:nvSpPr>
        <p:spPr bwMode="gray">
          <a:xfrm>
            <a:off x="10545223" y="3018605"/>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椭圆 47"/>
          <p:cNvSpPr>
            <a:spLocks noChangeAspect="1"/>
          </p:cNvSpPr>
          <p:nvPr/>
        </p:nvSpPr>
        <p:spPr bwMode="gray">
          <a:xfrm>
            <a:off x="7837580" y="4942298"/>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6563692" y="4807282"/>
            <a:ext cx="1273185" cy="523220"/>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主动向云管理平台发起注册</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0" name="图片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2327339" y="2089110"/>
            <a:ext cx="951607" cy="540946"/>
          </a:xfrm>
          <a:prstGeom prst="rect">
            <a:avLst/>
          </a:prstGeom>
        </p:spPr>
      </p:pic>
      <p:pic>
        <p:nvPicPr>
          <p:cNvPr id="51" name="图片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7454241" y="2440480"/>
            <a:ext cx="951607" cy="540946"/>
          </a:xfrm>
          <a:prstGeom prst="rect">
            <a:avLst/>
          </a:prstGeom>
        </p:spPr>
      </p:pic>
      <p:sp>
        <p:nvSpPr>
          <p:cNvPr id="52" name="文本框 51"/>
          <p:cNvSpPr txBox="1"/>
          <p:nvPr/>
        </p:nvSpPr>
        <p:spPr bwMode="gray">
          <a:xfrm>
            <a:off x="1140591" y="5305215"/>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6302283" y="5305215"/>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898219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设备即插即用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3" name="圆角矩形 2"/>
          <p:cNvSpPr/>
          <p:nvPr/>
        </p:nvSpPr>
        <p:spPr bwMode="gray">
          <a:xfrm>
            <a:off x="788140" y="1111222"/>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网管方式</a:t>
            </a:r>
          </a:p>
        </p:txBody>
      </p:sp>
      <p:sp>
        <p:nvSpPr>
          <p:cNvPr id="4" name="圆角矩形 3"/>
          <p:cNvSpPr/>
          <p:nvPr/>
        </p:nvSpPr>
        <p:spPr bwMode="gray">
          <a:xfrm>
            <a:off x="788139" y="1555655"/>
            <a:ext cx="5163736" cy="402638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6113416" y="1111222"/>
            <a:ext cx="5242970"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命令行方式</a:t>
            </a:r>
          </a:p>
        </p:txBody>
      </p:sp>
      <p:sp>
        <p:nvSpPr>
          <p:cNvPr id="6" name="圆角矩形 5"/>
          <p:cNvSpPr/>
          <p:nvPr/>
        </p:nvSpPr>
        <p:spPr bwMode="gray">
          <a:xfrm>
            <a:off x="6113415" y="1555655"/>
            <a:ext cx="5242972" cy="402638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788140" y="5638740"/>
            <a:ext cx="5163734" cy="400674"/>
          </a:xfrm>
          <a:prstGeom prst="roundRect">
            <a:avLst>
              <a:gd name="adj" fmla="val 14624"/>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支持设备类型： </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、交换机、</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6113416" y="5638740"/>
            <a:ext cx="5242970" cy="400674"/>
          </a:xfrm>
          <a:prstGeom prst="roundRect">
            <a:avLst>
              <a:gd name="adj" fmla="val 14624"/>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支持设备类型： </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、交换机、</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gray">
          <a:xfrm>
            <a:off x="1178259" y="3520278"/>
            <a:ext cx="4511913" cy="1949169"/>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9" descr="云AP蓝.png"/>
          <p:cNvPicPr>
            <a:picLocks noChangeAspect="1"/>
          </p:cNvPicPr>
          <p:nvPr/>
        </p:nvPicPr>
        <p:blipFill>
          <a:blip r:embed="rId3" cstate="print"/>
          <a:stretch>
            <a:fillRect/>
          </a:stretch>
        </p:blipFill>
        <p:spPr bwMode="gray">
          <a:xfrm>
            <a:off x="2646687" y="4021359"/>
            <a:ext cx="536397" cy="438870"/>
          </a:xfrm>
          <a:prstGeom prst="rect">
            <a:avLst/>
          </a:prstGeom>
        </p:spPr>
      </p:pic>
      <p:sp>
        <p:nvSpPr>
          <p:cNvPr id="11" name="任意多边形 10"/>
          <p:cNvSpPr/>
          <p:nvPr/>
        </p:nvSpPr>
        <p:spPr bwMode="gray">
          <a:xfrm>
            <a:off x="2656827" y="2739779"/>
            <a:ext cx="985656" cy="65904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任意多边形 11"/>
          <p:cNvSpPr/>
          <p:nvPr/>
        </p:nvSpPr>
        <p:spPr bwMode="gray">
          <a:xfrm flipH="1">
            <a:off x="2474846" y="2381159"/>
            <a:ext cx="285595" cy="1587755"/>
          </a:xfrm>
          <a:custGeom>
            <a:avLst/>
            <a:gdLst>
              <a:gd name="connsiteX0" fmla="*/ 1580226 w 1580226"/>
              <a:gd name="connsiteY0" fmla="*/ 1473693 h 1473693"/>
              <a:gd name="connsiteX1" fmla="*/ 0 w 1580226"/>
              <a:gd name="connsiteY1" fmla="*/ 0 h 1473693"/>
              <a:gd name="connsiteX0" fmla="*/ 5606094 w 5606094"/>
              <a:gd name="connsiteY0" fmla="*/ 1491449 h 1491449"/>
              <a:gd name="connsiteX1" fmla="*/ 0 w 5606094"/>
              <a:gd name="connsiteY1" fmla="*/ 0 h 1491449"/>
              <a:gd name="connsiteX0" fmla="*/ 0 w 3860126"/>
              <a:gd name="connsiteY0" fmla="*/ 1429306 h 1429306"/>
              <a:gd name="connsiteX1" fmla="*/ 3860126 w 3860126"/>
              <a:gd name="connsiteY1" fmla="*/ 0 h 1429306"/>
              <a:gd name="connsiteX0" fmla="*/ 0 w 4581322"/>
              <a:gd name="connsiteY0" fmla="*/ 1429306 h 1429306"/>
              <a:gd name="connsiteX1" fmla="*/ 3860126 w 4581322"/>
              <a:gd name="connsiteY1" fmla="*/ 0 h 1429306"/>
              <a:gd name="connsiteX0" fmla="*/ 0 w 3796565"/>
              <a:gd name="connsiteY0" fmla="*/ 1429306 h 1429306"/>
              <a:gd name="connsiteX1" fmla="*/ 1575176 w 3796565"/>
              <a:gd name="connsiteY1" fmla="*/ 0 h 1429306"/>
              <a:gd name="connsiteX0" fmla="*/ 0 w 4990743"/>
              <a:gd name="connsiteY0" fmla="*/ 1429306 h 1429306"/>
              <a:gd name="connsiteX1" fmla="*/ 1575176 w 4990743"/>
              <a:gd name="connsiteY1" fmla="*/ 0 h 1429306"/>
              <a:gd name="connsiteX0" fmla="*/ 0 w 5182848"/>
              <a:gd name="connsiteY0" fmla="*/ 1462383 h 1462383"/>
              <a:gd name="connsiteX1" fmla="*/ 2010397 w 5182848"/>
              <a:gd name="connsiteY1" fmla="*/ 0 h 1462383"/>
              <a:gd name="connsiteX0" fmla="*/ 0 w 5416097"/>
              <a:gd name="connsiteY0" fmla="*/ 1462383 h 1462383"/>
              <a:gd name="connsiteX1" fmla="*/ 2010397 w 5416097"/>
              <a:gd name="connsiteY1" fmla="*/ 0 h 1462383"/>
              <a:gd name="connsiteX0" fmla="*/ 0 w 4674310"/>
              <a:gd name="connsiteY0" fmla="*/ 1478921 h 1478921"/>
              <a:gd name="connsiteX1" fmla="*/ 269479 w 4674310"/>
              <a:gd name="connsiteY1" fmla="*/ 0 h 1478921"/>
              <a:gd name="connsiteX0" fmla="*/ 0 w 3500331"/>
              <a:gd name="connsiteY0" fmla="*/ 1478921 h 1478921"/>
              <a:gd name="connsiteX1" fmla="*/ 269479 w 3500331"/>
              <a:gd name="connsiteY1" fmla="*/ 0 h 1478921"/>
            </a:gdLst>
            <a:ahLst/>
            <a:cxnLst>
              <a:cxn ang="0">
                <a:pos x="connsiteX0" y="connsiteY0"/>
              </a:cxn>
              <a:cxn ang="0">
                <a:pos x="connsiteX1" y="connsiteY1"/>
              </a:cxn>
            </a:cxnLst>
            <a:rect l="l" t="t" r="r" b="b"/>
            <a:pathLst>
              <a:path w="3500331" h="1478921">
                <a:moveTo>
                  <a:pt x="0" y="1478921"/>
                </a:moveTo>
                <a:cubicBezTo>
                  <a:pt x="5421391" y="844155"/>
                  <a:pt x="3770300" y="476435"/>
                  <a:pt x="269479"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椭圆 12"/>
          <p:cNvSpPr>
            <a:spLocks noChangeAspect="1"/>
          </p:cNvSpPr>
          <p:nvPr/>
        </p:nvSpPr>
        <p:spPr bwMode="gray">
          <a:xfrm>
            <a:off x="2405096" y="3393989"/>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1399033" y="2986951"/>
            <a:ext cx="1017196" cy="523220"/>
          </a:xfrm>
          <a:prstGeom prst="rect">
            <a:avLst/>
          </a:prstGeom>
          <a:noFill/>
        </p:spPr>
        <p:txBody>
          <a:bodyPr wrap="square" rtlCol="0">
            <a:spAutoFit/>
          </a:bodyPr>
          <a:lstStyle/>
          <a:p>
            <a:pPr algn="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设备注册并被纳管</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箭头连接符 14"/>
          <p:cNvCxnSpPr/>
          <p:nvPr/>
        </p:nvCxnSpPr>
        <p:spPr bwMode="gray">
          <a:xfrm flipH="1">
            <a:off x="3242969" y="4240792"/>
            <a:ext cx="1454888" cy="1"/>
          </a:xfrm>
          <a:prstGeom prst="straightConnector1">
            <a:avLst/>
          </a:pr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16" name="图片 15" descr="笔记本电脑.png"/>
          <p:cNvPicPr>
            <a:picLocks noChangeAspect="1"/>
          </p:cNvPicPr>
          <p:nvPr/>
        </p:nvPicPr>
        <p:blipFill>
          <a:blip r:embed="rId4" cstate="print"/>
          <a:stretch>
            <a:fillRect/>
          </a:stretch>
        </p:blipFill>
        <p:spPr bwMode="gray">
          <a:xfrm>
            <a:off x="4641332" y="4015587"/>
            <a:ext cx="718446" cy="450410"/>
          </a:xfrm>
          <a:prstGeom prst="rect">
            <a:avLst/>
          </a:prstGeom>
        </p:spPr>
      </p:pic>
      <p:sp>
        <p:nvSpPr>
          <p:cNvPr id="17" name="椭圆 16"/>
          <p:cNvSpPr>
            <a:spLocks noChangeAspect="1"/>
          </p:cNvSpPr>
          <p:nvPr/>
        </p:nvSpPr>
        <p:spPr bwMode="gray">
          <a:xfrm>
            <a:off x="4521213" y="4471052"/>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2641093" y="4670956"/>
            <a:ext cx="3023235" cy="738664"/>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界面配置，配置接入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IP/URL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地址和端口</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3758002" y="3937314"/>
            <a:ext cx="606809" cy="307777"/>
          </a:xfrm>
          <a:prstGeom prst="rect">
            <a:avLst/>
          </a:prstGeom>
          <a:noFill/>
        </p:spPr>
        <p:txBody>
          <a:bodyPr wrap="square" rtlCol="0">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WEB</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gray">
          <a:xfrm>
            <a:off x="6466908" y="3520278"/>
            <a:ext cx="4511913" cy="1949169"/>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图片 20" descr="云AP蓝.png"/>
          <p:cNvPicPr>
            <a:picLocks noChangeAspect="1"/>
          </p:cNvPicPr>
          <p:nvPr/>
        </p:nvPicPr>
        <p:blipFill>
          <a:blip r:embed="rId3" cstate="print"/>
          <a:stretch>
            <a:fillRect/>
          </a:stretch>
        </p:blipFill>
        <p:spPr bwMode="gray">
          <a:xfrm>
            <a:off x="7935336" y="4021359"/>
            <a:ext cx="536397" cy="438870"/>
          </a:xfrm>
          <a:prstGeom prst="rect">
            <a:avLst/>
          </a:prstGeom>
        </p:spPr>
      </p:pic>
      <p:sp>
        <p:nvSpPr>
          <p:cNvPr id="22" name="任意多边形 21"/>
          <p:cNvSpPr/>
          <p:nvPr/>
        </p:nvSpPr>
        <p:spPr bwMode="gray">
          <a:xfrm>
            <a:off x="7945476" y="2739779"/>
            <a:ext cx="985656" cy="65904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22"/>
          <p:cNvSpPr/>
          <p:nvPr/>
        </p:nvSpPr>
        <p:spPr bwMode="gray">
          <a:xfrm flipH="1">
            <a:off x="7763495" y="2381159"/>
            <a:ext cx="285595" cy="1587755"/>
          </a:xfrm>
          <a:custGeom>
            <a:avLst/>
            <a:gdLst>
              <a:gd name="connsiteX0" fmla="*/ 1580226 w 1580226"/>
              <a:gd name="connsiteY0" fmla="*/ 1473693 h 1473693"/>
              <a:gd name="connsiteX1" fmla="*/ 0 w 1580226"/>
              <a:gd name="connsiteY1" fmla="*/ 0 h 1473693"/>
              <a:gd name="connsiteX0" fmla="*/ 5606094 w 5606094"/>
              <a:gd name="connsiteY0" fmla="*/ 1491449 h 1491449"/>
              <a:gd name="connsiteX1" fmla="*/ 0 w 5606094"/>
              <a:gd name="connsiteY1" fmla="*/ 0 h 1491449"/>
              <a:gd name="connsiteX0" fmla="*/ 0 w 3860126"/>
              <a:gd name="connsiteY0" fmla="*/ 1429306 h 1429306"/>
              <a:gd name="connsiteX1" fmla="*/ 3860126 w 3860126"/>
              <a:gd name="connsiteY1" fmla="*/ 0 h 1429306"/>
              <a:gd name="connsiteX0" fmla="*/ 0 w 4581322"/>
              <a:gd name="connsiteY0" fmla="*/ 1429306 h 1429306"/>
              <a:gd name="connsiteX1" fmla="*/ 3860126 w 4581322"/>
              <a:gd name="connsiteY1" fmla="*/ 0 h 1429306"/>
              <a:gd name="connsiteX0" fmla="*/ 0 w 3796565"/>
              <a:gd name="connsiteY0" fmla="*/ 1429306 h 1429306"/>
              <a:gd name="connsiteX1" fmla="*/ 1575176 w 3796565"/>
              <a:gd name="connsiteY1" fmla="*/ 0 h 1429306"/>
              <a:gd name="connsiteX0" fmla="*/ 0 w 4990743"/>
              <a:gd name="connsiteY0" fmla="*/ 1429306 h 1429306"/>
              <a:gd name="connsiteX1" fmla="*/ 1575176 w 4990743"/>
              <a:gd name="connsiteY1" fmla="*/ 0 h 1429306"/>
              <a:gd name="connsiteX0" fmla="*/ 0 w 5182848"/>
              <a:gd name="connsiteY0" fmla="*/ 1462383 h 1462383"/>
              <a:gd name="connsiteX1" fmla="*/ 2010397 w 5182848"/>
              <a:gd name="connsiteY1" fmla="*/ 0 h 1462383"/>
              <a:gd name="connsiteX0" fmla="*/ 0 w 5416097"/>
              <a:gd name="connsiteY0" fmla="*/ 1462383 h 1462383"/>
              <a:gd name="connsiteX1" fmla="*/ 2010397 w 5416097"/>
              <a:gd name="connsiteY1" fmla="*/ 0 h 1462383"/>
              <a:gd name="connsiteX0" fmla="*/ 0 w 4674310"/>
              <a:gd name="connsiteY0" fmla="*/ 1478921 h 1478921"/>
              <a:gd name="connsiteX1" fmla="*/ 269479 w 4674310"/>
              <a:gd name="connsiteY1" fmla="*/ 0 h 1478921"/>
              <a:gd name="connsiteX0" fmla="*/ 0 w 3500331"/>
              <a:gd name="connsiteY0" fmla="*/ 1478921 h 1478921"/>
              <a:gd name="connsiteX1" fmla="*/ 269479 w 3500331"/>
              <a:gd name="connsiteY1" fmla="*/ 0 h 1478921"/>
            </a:gdLst>
            <a:ahLst/>
            <a:cxnLst>
              <a:cxn ang="0">
                <a:pos x="connsiteX0" y="connsiteY0"/>
              </a:cxn>
              <a:cxn ang="0">
                <a:pos x="connsiteX1" y="connsiteY1"/>
              </a:cxn>
            </a:cxnLst>
            <a:rect l="l" t="t" r="r" b="b"/>
            <a:pathLst>
              <a:path w="3500331" h="1478921">
                <a:moveTo>
                  <a:pt x="0" y="1478921"/>
                </a:moveTo>
                <a:cubicBezTo>
                  <a:pt x="5421391" y="844155"/>
                  <a:pt x="3770300" y="476435"/>
                  <a:pt x="269479"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椭圆 23"/>
          <p:cNvSpPr>
            <a:spLocks noChangeAspect="1"/>
          </p:cNvSpPr>
          <p:nvPr/>
        </p:nvSpPr>
        <p:spPr bwMode="gray">
          <a:xfrm>
            <a:off x="7693745" y="3393989"/>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6696236" y="2986951"/>
            <a:ext cx="1008642" cy="523220"/>
          </a:xfrm>
          <a:prstGeom prst="rect">
            <a:avLst/>
          </a:prstGeom>
          <a:noFill/>
        </p:spPr>
        <p:txBody>
          <a:bodyPr wrap="square" rtlCol="0">
            <a:spAutoFit/>
          </a:bodyPr>
          <a:lstStyle/>
          <a:p>
            <a:pPr algn="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设备注册并被纳管</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箭头连接符 25"/>
          <p:cNvCxnSpPr/>
          <p:nvPr/>
        </p:nvCxnSpPr>
        <p:spPr bwMode="gray">
          <a:xfrm flipH="1">
            <a:off x="8531618" y="4240792"/>
            <a:ext cx="1454888" cy="1"/>
          </a:xfrm>
          <a:prstGeom prst="straightConnector1">
            <a:avLst/>
          </a:pr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27" name="图片 26" descr="笔记本电脑.png"/>
          <p:cNvPicPr>
            <a:picLocks noChangeAspect="1"/>
          </p:cNvPicPr>
          <p:nvPr/>
        </p:nvPicPr>
        <p:blipFill>
          <a:blip r:embed="rId4" cstate="print"/>
          <a:stretch>
            <a:fillRect/>
          </a:stretch>
        </p:blipFill>
        <p:spPr bwMode="gray">
          <a:xfrm>
            <a:off x="9929981" y="4015587"/>
            <a:ext cx="718446" cy="450410"/>
          </a:xfrm>
          <a:prstGeom prst="rect">
            <a:avLst/>
          </a:prstGeom>
        </p:spPr>
      </p:pic>
      <p:sp>
        <p:nvSpPr>
          <p:cNvPr id="28" name="椭圆 27"/>
          <p:cNvSpPr>
            <a:spLocks noChangeAspect="1"/>
          </p:cNvSpPr>
          <p:nvPr/>
        </p:nvSpPr>
        <p:spPr bwMode="gray">
          <a:xfrm>
            <a:off x="9809862" y="4471052"/>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7929742" y="4670956"/>
            <a:ext cx="3023235" cy="738664"/>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通过</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命令行</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界面配置，配置接入</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IP/URL</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地址和端口号</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9479398" y="3937314"/>
            <a:ext cx="901166" cy="307777"/>
          </a:xfrm>
          <a:prstGeom prst="rect">
            <a:avLst/>
          </a:prstGeom>
          <a:noFill/>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CLI</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405096" y="1751092"/>
            <a:ext cx="951607" cy="540946"/>
          </a:xfrm>
          <a:prstGeom prst="rect">
            <a:avLst/>
          </a:prstGeom>
        </p:spPr>
      </p:pic>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7580011" y="1751092"/>
            <a:ext cx="951607" cy="540946"/>
          </a:xfrm>
          <a:prstGeom prst="rect">
            <a:avLst/>
          </a:prstGeom>
        </p:spPr>
      </p:pic>
      <p:sp>
        <p:nvSpPr>
          <p:cNvPr id="33" name="文本框 32"/>
          <p:cNvSpPr txBox="1"/>
          <p:nvPr/>
        </p:nvSpPr>
        <p:spPr bwMode="gray">
          <a:xfrm>
            <a:off x="1178259" y="5163129"/>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6466908" y="5163129"/>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392062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设备即插即用</a:t>
            </a:r>
            <a:r>
              <a:rPr lang="en-US" altLang="zh-CN" dirty="0" smtClean="0">
                <a:sym typeface="Huawei Sans" panose="020C0503030203020204" pitchFamily="34" charset="0"/>
              </a:rPr>
              <a:t> (3)</a:t>
            </a:r>
            <a:endParaRPr lang="zh-CN" altLang="en-US" dirty="0">
              <a:sym typeface="Huawei Sans" panose="020C0503030203020204" pitchFamily="34" charset="0"/>
            </a:endParaRPr>
          </a:p>
        </p:txBody>
      </p:sp>
      <p:sp>
        <p:nvSpPr>
          <p:cNvPr id="3" name="圆角矩形 2"/>
          <p:cNvSpPr/>
          <p:nvPr/>
        </p:nvSpPr>
        <p:spPr bwMode="gray">
          <a:xfrm>
            <a:off x="4439816" y="3273639"/>
            <a:ext cx="4095384" cy="2159782"/>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连接符 3"/>
          <p:cNvCxnSpPr/>
          <p:nvPr/>
        </p:nvCxnSpPr>
        <p:spPr bwMode="gray">
          <a:xfrm>
            <a:off x="6451996" y="3786573"/>
            <a:ext cx="0" cy="12738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圆角矩形 4"/>
          <p:cNvSpPr/>
          <p:nvPr/>
        </p:nvSpPr>
        <p:spPr bwMode="gray">
          <a:xfrm>
            <a:off x="846339" y="1133069"/>
            <a:ext cx="10499320"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DHCP Option148</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方式</a:t>
            </a:r>
          </a:p>
        </p:txBody>
      </p:sp>
      <p:sp>
        <p:nvSpPr>
          <p:cNvPr id="6" name="圆角矩形 5"/>
          <p:cNvSpPr/>
          <p:nvPr/>
        </p:nvSpPr>
        <p:spPr bwMode="gray">
          <a:xfrm>
            <a:off x="846338" y="1577503"/>
            <a:ext cx="10499324" cy="4109920"/>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任意多边形 6"/>
          <p:cNvSpPr/>
          <p:nvPr/>
        </p:nvSpPr>
        <p:spPr bwMode="gray">
          <a:xfrm>
            <a:off x="5835503" y="2352990"/>
            <a:ext cx="1264712" cy="84562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b="1"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6814499" y="3511256"/>
            <a:ext cx="410690" cy="307777"/>
          </a:xfrm>
          <a:prstGeom prst="rect">
            <a:avLst/>
          </a:prstGeom>
          <a:noFill/>
        </p:spPr>
        <p:txBody>
          <a:bodyPr wrap="none" rtlCol="0">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AR</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197859" y="3434954"/>
            <a:ext cx="540000" cy="439964"/>
          </a:xfrm>
          <a:prstGeom prst="rect">
            <a:avLst/>
          </a:prstGeom>
        </p:spPr>
      </p:pic>
      <p:pic>
        <p:nvPicPr>
          <p:cNvPr id="10" name="图片 9" descr="接入交换机.png"/>
          <p:cNvPicPr>
            <a:picLocks noChangeAspect="1"/>
          </p:cNvPicPr>
          <p:nvPr/>
        </p:nvPicPr>
        <p:blipFill>
          <a:blip r:embed="rId4" cstate="print"/>
          <a:stretch>
            <a:fillRect/>
          </a:stretch>
        </p:blipFill>
        <p:spPr bwMode="gray">
          <a:xfrm>
            <a:off x="6198770" y="4829712"/>
            <a:ext cx="538178" cy="440328"/>
          </a:xfrm>
          <a:prstGeom prst="rect">
            <a:avLst/>
          </a:prstGeom>
        </p:spPr>
      </p:pic>
      <p:cxnSp>
        <p:nvCxnSpPr>
          <p:cNvPr id="11" name="直接箭头连接符 10"/>
          <p:cNvCxnSpPr/>
          <p:nvPr/>
        </p:nvCxnSpPr>
        <p:spPr bwMode="gray">
          <a:xfrm>
            <a:off x="3175140" y="3668520"/>
            <a:ext cx="2915611" cy="0"/>
          </a:xfrm>
          <a:prstGeom prst="straightConnector1">
            <a:avLst/>
          </a:pr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2" name="椭圆 11"/>
          <p:cNvSpPr>
            <a:spLocks noChangeAspect="1"/>
          </p:cNvSpPr>
          <p:nvPr/>
        </p:nvSpPr>
        <p:spPr bwMode="gray">
          <a:xfrm>
            <a:off x="3529663" y="3556319"/>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12" descr="管理员-蓝.png"/>
          <p:cNvPicPr>
            <a:picLocks noChangeAspect="1"/>
          </p:cNvPicPr>
          <p:nvPr/>
        </p:nvPicPr>
        <p:blipFill>
          <a:blip r:embed="rId5" cstate="print"/>
          <a:stretch>
            <a:fillRect/>
          </a:stretch>
        </p:blipFill>
        <p:spPr bwMode="gray">
          <a:xfrm>
            <a:off x="2648624" y="3464317"/>
            <a:ext cx="490909" cy="401654"/>
          </a:xfrm>
          <a:prstGeom prst="rect">
            <a:avLst/>
          </a:prstGeom>
        </p:spPr>
      </p:pic>
      <p:sp>
        <p:nvSpPr>
          <p:cNvPr id="14" name="文本框 13"/>
          <p:cNvSpPr txBox="1"/>
          <p:nvPr/>
        </p:nvSpPr>
        <p:spPr bwMode="gray">
          <a:xfrm>
            <a:off x="1037191" y="3894703"/>
            <a:ext cx="3384376" cy="1849737"/>
          </a:xfrm>
          <a:prstGeom prst="rect">
            <a:avLst/>
          </a:prstGeom>
          <a:noFill/>
        </p:spPr>
        <p:txBody>
          <a:bodyPr wrap="square" rtlCol="0">
            <a:spAutoFit/>
          </a:bodyPr>
          <a:lstStyle/>
          <a:p>
            <a:pPr marL="285750" indent="-285750">
              <a:lnSpc>
                <a:spcPct val="130000"/>
              </a:lnSpc>
              <a:spcAft>
                <a:spcPts val="600"/>
              </a:spcAft>
              <a:buFont typeface="Arial" panose="020B0604020202020204" pitchFamily="34" charset="0"/>
              <a:buChar cha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网络管理员提前在网络中部署</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服务（可将服务部署在出口设备，或者单独部署</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spcAft>
                <a:spcPts val="600"/>
              </a:spcAft>
              <a:buFont typeface="Arial" panose="020B0604020202020204" pitchFamily="34" charset="0"/>
              <a:buChar char="•"/>
            </a:pP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服务器除了向待开局设备发放</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地址，还通过</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Option148</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通告云管理平台的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地址与端口号。</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箭头连接符 14"/>
          <p:cNvCxnSpPr/>
          <p:nvPr/>
        </p:nvCxnSpPr>
        <p:spPr bwMode="gray">
          <a:xfrm flipV="1">
            <a:off x="6197859" y="3957535"/>
            <a:ext cx="0" cy="850568"/>
          </a:xfrm>
          <a:prstGeom prst="straightConnector1">
            <a:avLst/>
          </a:pr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6" name="椭圆 15"/>
          <p:cNvSpPr>
            <a:spLocks noChangeAspect="1"/>
          </p:cNvSpPr>
          <p:nvPr/>
        </p:nvSpPr>
        <p:spPr bwMode="gray">
          <a:xfrm>
            <a:off x="6078632" y="4273523"/>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4556557" y="4235874"/>
            <a:ext cx="1512168" cy="307777"/>
          </a:xfrm>
          <a:prstGeom prst="rect">
            <a:avLst/>
          </a:prstGeom>
          <a:noFill/>
        </p:spPr>
        <p:txBody>
          <a:bodyPr wrap="square" rtlCol="0">
            <a:spAutoFit/>
          </a:bodyPr>
          <a:lstStyle/>
          <a:p>
            <a:pPr algn="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请求</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箭头连接符 17"/>
          <p:cNvCxnSpPr/>
          <p:nvPr/>
        </p:nvCxnSpPr>
        <p:spPr bwMode="gray">
          <a:xfrm>
            <a:off x="6693670" y="3902094"/>
            <a:ext cx="0" cy="902960"/>
          </a:xfrm>
          <a:prstGeom prst="straightConnector1">
            <a:avLst/>
          </a:pr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9" name="椭圆 18"/>
          <p:cNvSpPr>
            <a:spLocks noChangeAspect="1"/>
          </p:cNvSpPr>
          <p:nvPr/>
        </p:nvSpPr>
        <p:spPr bwMode="gray">
          <a:xfrm>
            <a:off x="6582019" y="4164883"/>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6797132" y="4002581"/>
            <a:ext cx="1512168" cy="523220"/>
          </a:xfrm>
          <a:prstGeom prst="rect">
            <a:avLst/>
          </a:prstGeom>
          <a:noFill/>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应答，含</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Option148</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gray">
          <a:xfrm>
            <a:off x="6812812" y="1977789"/>
            <a:ext cx="2002888" cy="3033232"/>
          </a:xfrm>
          <a:custGeom>
            <a:avLst/>
            <a:gdLst>
              <a:gd name="connsiteX0" fmla="*/ 1580226 w 1580226"/>
              <a:gd name="connsiteY0" fmla="*/ 1473693 h 1473693"/>
              <a:gd name="connsiteX1" fmla="*/ 0 w 1580226"/>
              <a:gd name="connsiteY1" fmla="*/ 0 h 1473693"/>
              <a:gd name="connsiteX0" fmla="*/ 5606094 w 5606094"/>
              <a:gd name="connsiteY0" fmla="*/ 1491449 h 1491449"/>
              <a:gd name="connsiteX1" fmla="*/ 0 w 5606094"/>
              <a:gd name="connsiteY1" fmla="*/ 0 h 1491449"/>
              <a:gd name="connsiteX0" fmla="*/ 0 w 3860126"/>
              <a:gd name="connsiteY0" fmla="*/ 1429306 h 1429306"/>
              <a:gd name="connsiteX1" fmla="*/ 3860126 w 3860126"/>
              <a:gd name="connsiteY1" fmla="*/ 0 h 1429306"/>
              <a:gd name="connsiteX0" fmla="*/ 0 w 4581322"/>
              <a:gd name="connsiteY0" fmla="*/ 1429306 h 1429306"/>
              <a:gd name="connsiteX1" fmla="*/ 3860126 w 4581322"/>
              <a:gd name="connsiteY1" fmla="*/ 0 h 1429306"/>
              <a:gd name="connsiteX0" fmla="*/ 0 w 3796565"/>
              <a:gd name="connsiteY0" fmla="*/ 1429306 h 1429306"/>
              <a:gd name="connsiteX1" fmla="*/ 1575176 w 3796565"/>
              <a:gd name="connsiteY1" fmla="*/ 0 h 1429306"/>
              <a:gd name="connsiteX0" fmla="*/ 0 w 4990743"/>
              <a:gd name="connsiteY0" fmla="*/ 1429306 h 1429306"/>
              <a:gd name="connsiteX1" fmla="*/ 1575176 w 4990743"/>
              <a:gd name="connsiteY1" fmla="*/ 0 h 1429306"/>
              <a:gd name="connsiteX0" fmla="*/ 0 w 5182848"/>
              <a:gd name="connsiteY0" fmla="*/ 1462383 h 1462383"/>
              <a:gd name="connsiteX1" fmla="*/ 2010397 w 5182848"/>
              <a:gd name="connsiteY1" fmla="*/ 0 h 1462383"/>
              <a:gd name="connsiteX0" fmla="*/ 0 w 5416097"/>
              <a:gd name="connsiteY0" fmla="*/ 1462383 h 1462383"/>
              <a:gd name="connsiteX1" fmla="*/ 2010397 w 5416097"/>
              <a:gd name="connsiteY1" fmla="*/ 0 h 1462383"/>
              <a:gd name="connsiteX0" fmla="*/ 0 w 4674310"/>
              <a:gd name="connsiteY0" fmla="*/ 1478921 h 1478921"/>
              <a:gd name="connsiteX1" fmla="*/ 269479 w 4674310"/>
              <a:gd name="connsiteY1" fmla="*/ 0 h 1478921"/>
              <a:gd name="connsiteX0" fmla="*/ 0 w 3500331"/>
              <a:gd name="connsiteY0" fmla="*/ 1478921 h 1478921"/>
              <a:gd name="connsiteX1" fmla="*/ 269479 w 3500331"/>
              <a:gd name="connsiteY1" fmla="*/ 0 h 1478921"/>
              <a:gd name="connsiteX0" fmla="*/ 0 w 3471698"/>
              <a:gd name="connsiteY0" fmla="*/ 1495024 h 1495024"/>
              <a:gd name="connsiteX1" fmla="*/ 204509 w 3471698"/>
              <a:gd name="connsiteY1" fmla="*/ 0 h 1495024"/>
              <a:gd name="connsiteX0" fmla="*/ 0 w 3248647"/>
              <a:gd name="connsiteY0" fmla="*/ 1495024 h 1495024"/>
              <a:gd name="connsiteX1" fmla="*/ 204509 w 3248647"/>
              <a:gd name="connsiteY1" fmla="*/ 0 h 1495024"/>
              <a:gd name="connsiteX0" fmla="*/ 0 w 3161048"/>
              <a:gd name="connsiteY0" fmla="*/ 1490998 h 1490998"/>
              <a:gd name="connsiteX1" fmla="*/ 9597 w 3161048"/>
              <a:gd name="connsiteY1" fmla="*/ 0 h 1490998"/>
              <a:gd name="connsiteX0" fmla="*/ 0 w 2931594"/>
              <a:gd name="connsiteY0" fmla="*/ 1490998 h 1490998"/>
              <a:gd name="connsiteX1" fmla="*/ 9597 w 2931594"/>
              <a:gd name="connsiteY1" fmla="*/ 0 h 1490998"/>
            </a:gdLst>
            <a:ahLst/>
            <a:cxnLst>
              <a:cxn ang="0">
                <a:pos x="connsiteX0" y="connsiteY0"/>
              </a:cxn>
              <a:cxn ang="0">
                <a:pos x="connsiteX1" y="connsiteY1"/>
              </a:cxn>
            </a:cxnLst>
            <a:rect l="l" t="t" r="r" b="b"/>
            <a:pathLst>
              <a:path w="2931594" h="1490998">
                <a:moveTo>
                  <a:pt x="0" y="1490998"/>
                </a:moveTo>
                <a:cubicBezTo>
                  <a:pt x="4862645" y="1206484"/>
                  <a:pt x="2821730" y="311374"/>
                  <a:pt x="9597"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p:cNvSpPr>
            <a:spLocks noChangeAspect="1"/>
          </p:cNvSpPr>
          <p:nvPr/>
        </p:nvSpPr>
        <p:spPr bwMode="gray">
          <a:xfrm>
            <a:off x="8580160" y="3971063"/>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8798236" y="3951260"/>
            <a:ext cx="2366686" cy="307777"/>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主动向云管理平台发起注册</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846337" y="5754357"/>
            <a:ext cx="10499321" cy="400674"/>
          </a:xfrm>
          <a:prstGeom prst="roundRect">
            <a:avLst>
              <a:gd name="adj" fmla="val 14624"/>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支持设备类型： </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、交换机、</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4556557" y="4904330"/>
            <a:ext cx="1512168" cy="307777"/>
          </a:xfrm>
          <a:prstGeom prst="rect">
            <a:avLst/>
          </a:prstGeom>
          <a:noFill/>
        </p:spPr>
        <p:txBody>
          <a:bodyPr wrap="square" rtlCol="0">
            <a:spAutoFit/>
          </a:bodyPr>
          <a:lstStyle/>
          <a:p>
            <a:pPr algn="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待开局交换机</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976192" y="1705673"/>
            <a:ext cx="951607" cy="540946"/>
          </a:xfrm>
          <a:prstGeom prst="rect">
            <a:avLst/>
          </a:prstGeom>
        </p:spPr>
      </p:pic>
      <p:sp>
        <p:nvSpPr>
          <p:cNvPr id="27" name="文本框 26"/>
          <p:cNvSpPr txBox="1"/>
          <p:nvPr/>
        </p:nvSpPr>
        <p:spPr bwMode="gray">
          <a:xfrm>
            <a:off x="7637121" y="5086931"/>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357016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设备即插即用</a:t>
            </a:r>
            <a:r>
              <a:rPr lang="en-US" altLang="zh-CN" dirty="0" smtClean="0">
                <a:sym typeface="Huawei Sans" panose="020C0503030203020204" pitchFamily="34" charset="0"/>
              </a:rPr>
              <a:t> (4)</a:t>
            </a:r>
            <a:endParaRPr lang="zh-CN" altLang="en-US" dirty="0">
              <a:sym typeface="Huawei Sans" panose="020C0503030203020204" pitchFamily="34" charset="0"/>
            </a:endParaRPr>
          </a:p>
        </p:txBody>
      </p:sp>
      <p:sp>
        <p:nvSpPr>
          <p:cNvPr id="28" name="圆角矩形 27"/>
          <p:cNvSpPr/>
          <p:nvPr/>
        </p:nvSpPr>
        <p:spPr bwMode="gray">
          <a:xfrm>
            <a:off x="516000" y="3711604"/>
            <a:ext cx="3923816" cy="1966948"/>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480288" y="1049079"/>
            <a:ext cx="11231422"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Email</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开局</a:t>
            </a:r>
          </a:p>
        </p:txBody>
      </p:sp>
      <p:sp>
        <p:nvSpPr>
          <p:cNvPr id="30" name="圆角矩形 29"/>
          <p:cNvSpPr/>
          <p:nvPr/>
        </p:nvSpPr>
        <p:spPr bwMode="gray">
          <a:xfrm>
            <a:off x="480286" y="5744196"/>
            <a:ext cx="11231424" cy="400674"/>
          </a:xfrm>
          <a:prstGeom prst="roundRect">
            <a:avLst>
              <a:gd name="adj" fmla="val 14624"/>
            </a:avLst>
          </a:pr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支持设备类型： </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AR</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连接符 30"/>
          <p:cNvCxnSpPr/>
          <p:nvPr/>
        </p:nvCxnSpPr>
        <p:spPr bwMode="gray">
          <a:xfrm flipH="1">
            <a:off x="1761546" y="2857073"/>
            <a:ext cx="15121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gray">
          <a:xfrm>
            <a:off x="3152550" y="2318655"/>
            <a:ext cx="0" cy="29739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92505" y="3949406"/>
            <a:ext cx="540000" cy="442800"/>
          </a:xfrm>
          <a:prstGeom prst="rect">
            <a:avLst/>
          </a:prstGeom>
        </p:spPr>
      </p:pic>
      <p:sp>
        <p:nvSpPr>
          <p:cNvPr id="34" name="任意多边形 33"/>
          <p:cNvSpPr>
            <a:spLocks noChangeAspect="1"/>
          </p:cNvSpPr>
          <p:nvPr/>
        </p:nvSpPr>
        <p:spPr bwMode="gray">
          <a:xfrm>
            <a:off x="2741208" y="2548542"/>
            <a:ext cx="842595" cy="56338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34" descr="笔记本电脑.png"/>
          <p:cNvPicPr>
            <a:picLocks noChangeAspect="1"/>
          </p:cNvPicPr>
          <p:nvPr/>
        </p:nvPicPr>
        <p:blipFill>
          <a:blip r:embed="rId4" cstate="print"/>
          <a:stretch>
            <a:fillRect/>
          </a:stretch>
        </p:blipFill>
        <p:spPr bwMode="gray">
          <a:xfrm>
            <a:off x="2892616" y="5280133"/>
            <a:ext cx="539779" cy="338400"/>
          </a:xfrm>
          <a:prstGeom prst="rect">
            <a:avLst/>
          </a:prstGeom>
        </p:spPr>
      </p:pic>
      <p:pic>
        <p:nvPicPr>
          <p:cNvPr id="36" name="图片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327314" y="1690588"/>
            <a:ext cx="490909" cy="401976"/>
          </a:xfrm>
          <a:prstGeom prst="rect">
            <a:avLst/>
          </a:prstGeom>
        </p:spPr>
      </p:pic>
      <p:sp>
        <p:nvSpPr>
          <p:cNvPr id="37" name="下箭头 36"/>
          <p:cNvSpPr/>
          <p:nvPr/>
        </p:nvSpPr>
        <p:spPr bwMode="gray">
          <a:xfrm rot="5400000" flipV="1">
            <a:off x="2143249" y="1575029"/>
            <a:ext cx="208925" cy="633095"/>
          </a:xfrm>
          <a:prstGeom prst="downArrow">
            <a:avLst/>
          </a:pr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图片 37" descr="wifi信号蓝.png"/>
          <p:cNvPicPr>
            <a:picLocks noChangeAspect="1"/>
          </p:cNvPicPr>
          <p:nvPr/>
        </p:nvPicPr>
        <p:blipFill>
          <a:blip r:embed="rId6" cstate="print"/>
          <a:stretch>
            <a:fillRect/>
          </a:stretch>
        </p:blipFill>
        <p:spPr bwMode="gray">
          <a:xfrm rot="8100000">
            <a:off x="3354778" y="4428522"/>
            <a:ext cx="285606" cy="239153"/>
          </a:xfrm>
          <a:prstGeom prst="rect">
            <a:avLst/>
          </a:prstGeom>
        </p:spPr>
      </p:pic>
      <p:pic>
        <p:nvPicPr>
          <p:cNvPr id="39" name="图片 38" descr="wifi信号蓝.png"/>
          <p:cNvPicPr>
            <a:picLocks noChangeAspect="1"/>
          </p:cNvPicPr>
          <p:nvPr/>
        </p:nvPicPr>
        <p:blipFill>
          <a:blip r:embed="rId6" cstate="print"/>
          <a:stretch>
            <a:fillRect/>
          </a:stretch>
        </p:blipFill>
        <p:spPr bwMode="gray">
          <a:xfrm rot="2700000">
            <a:off x="3353629" y="4988657"/>
            <a:ext cx="285606" cy="239153"/>
          </a:xfrm>
          <a:prstGeom prst="rect">
            <a:avLst/>
          </a:prstGeom>
        </p:spPr>
      </p:pic>
      <p:sp>
        <p:nvSpPr>
          <p:cNvPr id="40" name="椭圆 39"/>
          <p:cNvSpPr>
            <a:spLocks noChangeAspect="1"/>
          </p:cNvSpPr>
          <p:nvPr/>
        </p:nvSpPr>
        <p:spPr bwMode="gray">
          <a:xfrm>
            <a:off x="1863728" y="1763559"/>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40" descr="通用服务器-蓝.png"/>
          <p:cNvPicPr>
            <a:picLocks noChangeAspect="1"/>
          </p:cNvPicPr>
          <p:nvPr/>
        </p:nvPicPr>
        <p:blipFill>
          <a:blip r:embed="rId7" cstate="print"/>
          <a:stretch>
            <a:fillRect/>
          </a:stretch>
        </p:blipFill>
        <p:spPr bwMode="gray">
          <a:xfrm>
            <a:off x="1388480" y="2656247"/>
            <a:ext cx="490909" cy="401653"/>
          </a:xfrm>
          <a:prstGeom prst="rect">
            <a:avLst/>
          </a:prstGeom>
        </p:spPr>
      </p:pic>
      <p:sp>
        <p:nvSpPr>
          <p:cNvPr id="42" name="文本框 41"/>
          <p:cNvSpPr txBox="1"/>
          <p:nvPr/>
        </p:nvSpPr>
        <p:spPr bwMode="gray">
          <a:xfrm>
            <a:off x="861212" y="2099411"/>
            <a:ext cx="1082348" cy="307777"/>
          </a:xfrm>
          <a:prstGeom prst="rect">
            <a:avLst/>
          </a:prstGeom>
          <a:noFill/>
        </p:spPr>
        <p:txBody>
          <a:bodyPr wrap="none" rtlCol="0">
            <a:spAutoFit/>
          </a:bodyPr>
          <a:lstStyle/>
          <a:p>
            <a:pPr algn="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网络管理员</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922378" y="3051722"/>
            <a:ext cx="1082348" cy="307777"/>
          </a:xfrm>
          <a:prstGeom prst="rect">
            <a:avLst/>
          </a:prstGeom>
          <a:noFill/>
        </p:spPr>
        <p:txBody>
          <a:bodyPr wrap="none" rtlCol="0">
            <a:spAutoFit/>
          </a:bodyPr>
          <a:lstStyle/>
          <a:p>
            <a:pPr algn="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邮件服务器</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856054" y="4926801"/>
            <a:ext cx="1261885" cy="307777"/>
          </a:xfrm>
          <a:prstGeom prst="rect">
            <a:avLst/>
          </a:prstGeom>
          <a:noFill/>
        </p:spPr>
        <p:txBody>
          <a:bodyPr wrap="none" rtlCol="0">
            <a:spAutoFit/>
          </a:bodyPr>
          <a:lstStyle/>
          <a:p>
            <a:pPr algn="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站点开局人员</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下箭头 44"/>
          <p:cNvSpPr/>
          <p:nvPr/>
        </p:nvSpPr>
        <p:spPr bwMode="gray">
          <a:xfrm rot="5400000" flipV="1">
            <a:off x="2328463" y="5039563"/>
            <a:ext cx="208925" cy="766045"/>
          </a:xfrm>
          <a:prstGeom prst="downArrow">
            <a:avLst/>
          </a:pr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3432395" y="3978597"/>
            <a:ext cx="410690" cy="307777"/>
          </a:xfrm>
          <a:prstGeom prst="rect">
            <a:avLst/>
          </a:prstGeom>
          <a:noFill/>
        </p:spPr>
        <p:txBody>
          <a:bodyPr wrap="none" rtlCol="0">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AR</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任意多边形 46"/>
          <p:cNvSpPr/>
          <p:nvPr/>
        </p:nvSpPr>
        <p:spPr bwMode="gray">
          <a:xfrm flipH="1" flipV="1">
            <a:off x="1920736" y="2333399"/>
            <a:ext cx="971768" cy="421803"/>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622570"/>
              <a:gd name="connsiteY0" fmla="*/ 2973237 h 2973237"/>
              <a:gd name="connsiteX1" fmla="*/ 622570 w 622570"/>
              <a:gd name="connsiteY1" fmla="*/ 0 h 2973237"/>
              <a:gd name="connsiteX0" fmla="*/ 0 w 622570"/>
              <a:gd name="connsiteY0" fmla="*/ 2973237 h 2976202"/>
              <a:gd name="connsiteX1" fmla="*/ 622570 w 622570"/>
              <a:gd name="connsiteY1" fmla="*/ 0 h 2976202"/>
              <a:gd name="connsiteX0" fmla="*/ 0 w 542330"/>
              <a:gd name="connsiteY0" fmla="*/ 3315278 h 3317836"/>
              <a:gd name="connsiteX1" fmla="*/ 481606 w 542330"/>
              <a:gd name="connsiteY1" fmla="*/ 0 h 3317836"/>
              <a:gd name="connsiteX0" fmla="*/ 0 w 866413"/>
              <a:gd name="connsiteY0" fmla="*/ 3315278 h 3318792"/>
              <a:gd name="connsiteX1" fmla="*/ 481606 w 866413"/>
              <a:gd name="connsiteY1" fmla="*/ 0 h 3318792"/>
              <a:gd name="connsiteX0" fmla="*/ 0 w 824658"/>
              <a:gd name="connsiteY0" fmla="*/ 3184796 h 3188581"/>
              <a:gd name="connsiteX1" fmla="*/ 414361 w 824658"/>
              <a:gd name="connsiteY1" fmla="*/ 0 h 3188581"/>
              <a:gd name="connsiteX0" fmla="*/ 0 w 909471"/>
              <a:gd name="connsiteY0" fmla="*/ 3005221 h 3009454"/>
              <a:gd name="connsiteX1" fmla="*/ 547806 w 909471"/>
              <a:gd name="connsiteY1" fmla="*/ 0 h 3009454"/>
              <a:gd name="connsiteX0" fmla="*/ 0 w 894794"/>
              <a:gd name="connsiteY0" fmla="*/ 3063318 h 3067395"/>
              <a:gd name="connsiteX1" fmla="*/ 525565 w 894794"/>
              <a:gd name="connsiteY1" fmla="*/ 0 h 3067395"/>
              <a:gd name="connsiteX0" fmla="*/ 0 w 883526"/>
              <a:gd name="connsiteY0" fmla="*/ 3036909 h 3041055"/>
              <a:gd name="connsiteX1" fmla="*/ 508267 w 883526"/>
              <a:gd name="connsiteY1" fmla="*/ 0 h 3041055"/>
              <a:gd name="connsiteX0" fmla="*/ 0 w 931709"/>
              <a:gd name="connsiteY0" fmla="*/ 3036909 h 3040561"/>
              <a:gd name="connsiteX1" fmla="*/ 508267 w 931709"/>
              <a:gd name="connsiteY1" fmla="*/ 0 h 3040561"/>
              <a:gd name="connsiteX0" fmla="*/ 1849272 w 2110960"/>
              <a:gd name="connsiteY0" fmla="*/ 4136230 h 4138472"/>
              <a:gd name="connsiteX1" fmla="*/ 0 w 2110960"/>
              <a:gd name="connsiteY1" fmla="*/ 0 h 4138472"/>
              <a:gd name="connsiteX0" fmla="*/ 0 w 981567"/>
              <a:gd name="connsiteY0" fmla="*/ 1169158 h 1233895"/>
              <a:gd name="connsiteX1" fmla="*/ 582404 w 981567"/>
              <a:gd name="connsiteY1" fmla="*/ 0 h 1233895"/>
              <a:gd name="connsiteX0" fmla="*/ 0 w 670939"/>
              <a:gd name="connsiteY0" fmla="*/ 1169158 h 1194339"/>
              <a:gd name="connsiteX1" fmla="*/ 582404 w 670939"/>
              <a:gd name="connsiteY1" fmla="*/ 0 h 1194339"/>
              <a:gd name="connsiteX0" fmla="*/ 0 w 703418"/>
              <a:gd name="connsiteY0" fmla="*/ 1251197 h 1271213"/>
              <a:gd name="connsiteX1" fmla="*/ 636770 w 703418"/>
              <a:gd name="connsiteY1" fmla="*/ 0 h 1271213"/>
              <a:gd name="connsiteX0" fmla="*/ 0 w 636858"/>
              <a:gd name="connsiteY0" fmla="*/ 1251197 h 1251197"/>
              <a:gd name="connsiteX1" fmla="*/ 636770 w 636858"/>
              <a:gd name="connsiteY1" fmla="*/ 0 h 1251197"/>
              <a:gd name="connsiteX0" fmla="*/ 0 w 587440"/>
              <a:gd name="connsiteY0" fmla="*/ 1415275 h 1415275"/>
              <a:gd name="connsiteX1" fmla="*/ 587345 w 587440"/>
              <a:gd name="connsiteY1" fmla="*/ 0 h 1415275"/>
              <a:gd name="connsiteX0" fmla="*/ 0 w 587345"/>
              <a:gd name="connsiteY0" fmla="*/ 1415275 h 1415275"/>
              <a:gd name="connsiteX1" fmla="*/ 587345 w 587345"/>
              <a:gd name="connsiteY1" fmla="*/ 0 h 1415275"/>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71783"/>
              <a:gd name="connsiteY0" fmla="*/ 1521069 h 1521069"/>
              <a:gd name="connsiteX1" fmla="*/ 571783 w 571783"/>
              <a:gd name="connsiteY1" fmla="*/ 0 h 1521069"/>
              <a:gd name="connsiteX0" fmla="*/ 0 w 571783"/>
              <a:gd name="connsiteY0" fmla="*/ 1521069 h 1521069"/>
              <a:gd name="connsiteX1" fmla="*/ 571783 w 571783"/>
              <a:gd name="connsiteY1" fmla="*/ 0 h 1521069"/>
              <a:gd name="connsiteX0" fmla="*/ 0 w 570380"/>
              <a:gd name="connsiteY0" fmla="*/ 1527706 h 1527706"/>
              <a:gd name="connsiteX1" fmla="*/ 570380 w 570380"/>
              <a:gd name="connsiteY1" fmla="*/ 0 h 1527706"/>
              <a:gd name="connsiteX0" fmla="*/ 0 w 570380"/>
              <a:gd name="connsiteY0" fmla="*/ 1527706 h 1527706"/>
              <a:gd name="connsiteX1" fmla="*/ 570380 w 570380"/>
              <a:gd name="connsiteY1" fmla="*/ 0 h 1527706"/>
            </a:gdLst>
            <a:ahLst/>
            <a:cxnLst>
              <a:cxn ang="0">
                <a:pos x="connsiteX0" y="connsiteY0"/>
              </a:cxn>
              <a:cxn ang="0">
                <a:pos x="connsiteX1" y="connsiteY1"/>
              </a:cxn>
            </a:cxnLst>
            <a:rect l="l" t="t" r="r" b="b"/>
            <a:pathLst>
              <a:path w="570380" h="1527706">
                <a:moveTo>
                  <a:pt x="0" y="1527706"/>
                </a:moveTo>
                <a:cubicBezTo>
                  <a:pt x="75954" y="297055"/>
                  <a:pt x="227382" y="81712"/>
                  <a:pt x="570380"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任意多边形 47"/>
          <p:cNvSpPr/>
          <p:nvPr/>
        </p:nvSpPr>
        <p:spPr bwMode="gray">
          <a:xfrm>
            <a:off x="1945043" y="2978268"/>
            <a:ext cx="947461" cy="2307748"/>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622570"/>
              <a:gd name="connsiteY0" fmla="*/ 2973237 h 2973237"/>
              <a:gd name="connsiteX1" fmla="*/ 622570 w 622570"/>
              <a:gd name="connsiteY1" fmla="*/ 0 h 2973237"/>
              <a:gd name="connsiteX0" fmla="*/ 0 w 622570"/>
              <a:gd name="connsiteY0" fmla="*/ 2973237 h 2976202"/>
              <a:gd name="connsiteX1" fmla="*/ 622570 w 622570"/>
              <a:gd name="connsiteY1" fmla="*/ 0 h 2976202"/>
              <a:gd name="connsiteX0" fmla="*/ 0 w 542330"/>
              <a:gd name="connsiteY0" fmla="*/ 3315278 h 3317836"/>
              <a:gd name="connsiteX1" fmla="*/ 481606 w 542330"/>
              <a:gd name="connsiteY1" fmla="*/ 0 h 3317836"/>
              <a:gd name="connsiteX0" fmla="*/ 0 w 866413"/>
              <a:gd name="connsiteY0" fmla="*/ 3315278 h 3318792"/>
              <a:gd name="connsiteX1" fmla="*/ 481606 w 866413"/>
              <a:gd name="connsiteY1" fmla="*/ 0 h 3318792"/>
              <a:gd name="connsiteX0" fmla="*/ 0 w 824658"/>
              <a:gd name="connsiteY0" fmla="*/ 3184796 h 3188581"/>
              <a:gd name="connsiteX1" fmla="*/ 414361 w 824658"/>
              <a:gd name="connsiteY1" fmla="*/ 0 h 3188581"/>
              <a:gd name="connsiteX0" fmla="*/ 0 w 909471"/>
              <a:gd name="connsiteY0" fmla="*/ 3005221 h 3009454"/>
              <a:gd name="connsiteX1" fmla="*/ 547806 w 909471"/>
              <a:gd name="connsiteY1" fmla="*/ 0 h 3009454"/>
              <a:gd name="connsiteX0" fmla="*/ 0 w 894794"/>
              <a:gd name="connsiteY0" fmla="*/ 3063318 h 3067395"/>
              <a:gd name="connsiteX1" fmla="*/ 525565 w 894794"/>
              <a:gd name="connsiteY1" fmla="*/ 0 h 3067395"/>
              <a:gd name="connsiteX0" fmla="*/ 0 w 883526"/>
              <a:gd name="connsiteY0" fmla="*/ 3036909 h 3041055"/>
              <a:gd name="connsiteX1" fmla="*/ 508267 w 883526"/>
              <a:gd name="connsiteY1" fmla="*/ 0 h 3041055"/>
              <a:gd name="connsiteX0" fmla="*/ 0 w 931709"/>
              <a:gd name="connsiteY0" fmla="*/ 3036909 h 3040561"/>
              <a:gd name="connsiteX1" fmla="*/ 508267 w 931709"/>
              <a:gd name="connsiteY1" fmla="*/ 0 h 3040561"/>
              <a:gd name="connsiteX0" fmla="*/ 1849272 w 2110960"/>
              <a:gd name="connsiteY0" fmla="*/ 4136230 h 4138472"/>
              <a:gd name="connsiteX1" fmla="*/ 0 w 2110960"/>
              <a:gd name="connsiteY1" fmla="*/ 0 h 4138472"/>
              <a:gd name="connsiteX0" fmla="*/ 0 w 981567"/>
              <a:gd name="connsiteY0" fmla="*/ 1169158 h 1233895"/>
              <a:gd name="connsiteX1" fmla="*/ 582404 w 981567"/>
              <a:gd name="connsiteY1" fmla="*/ 0 h 1233895"/>
              <a:gd name="connsiteX0" fmla="*/ 0 w 670939"/>
              <a:gd name="connsiteY0" fmla="*/ 1169158 h 1194339"/>
              <a:gd name="connsiteX1" fmla="*/ 582404 w 670939"/>
              <a:gd name="connsiteY1" fmla="*/ 0 h 1194339"/>
              <a:gd name="connsiteX0" fmla="*/ 0 w 703418"/>
              <a:gd name="connsiteY0" fmla="*/ 1251197 h 1271213"/>
              <a:gd name="connsiteX1" fmla="*/ 636770 w 703418"/>
              <a:gd name="connsiteY1" fmla="*/ 0 h 1271213"/>
              <a:gd name="connsiteX0" fmla="*/ 0 w 636858"/>
              <a:gd name="connsiteY0" fmla="*/ 1251197 h 1251197"/>
              <a:gd name="connsiteX1" fmla="*/ 636770 w 636858"/>
              <a:gd name="connsiteY1" fmla="*/ 0 h 1251197"/>
              <a:gd name="connsiteX0" fmla="*/ 0 w 587440"/>
              <a:gd name="connsiteY0" fmla="*/ 1415275 h 1415275"/>
              <a:gd name="connsiteX1" fmla="*/ 587345 w 587440"/>
              <a:gd name="connsiteY1" fmla="*/ 0 h 1415275"/>
              <a:gd name="connsiteX0" fmla="*/ 0 w 587345"/>
              <a:gd name="connsiteY0" fmla="*/ 1415275 h 1415275"/>
              <a:gd name="connsiteX1" fmla="*/ 587345 w 587345"/>
              <a:gd name="connsiteY1" fmla="*/ 0 h 1415275"/>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90138"/>
              <a:gd name="connsiteY0" fmla="*/ 465146 h 547247"/>
              <a:gd name="connsiteX1" fmla="*/ 590138 w 590138"/>
              <a:gd name="connsiteY1" fmla="*/ 546201 h 547247"/>
              <a:gd name="connsiteX0" fmla="*/ 0 w 590138"/>
              <a:gd name="connsiteY0" fmla="*/ 89 h 89640"/>
              <a:gd name="connsiteX1" fmla="*/ 590138 w 590138"/>
              <a:gd name="connsiteY1" fmla="*/ 81144 h 89640"/>
              <a:gd name="connsiteX0" fmla="*/ 0 w 300578"/>
              <a:gd name="connsiteY0" fmla="*/ 3 h 4904651"/>
              <a:gd name="connsiteX1" fmla="*/ 300578 w 300578"/>
              <a:gd name="connsiteY1" fmla="*/ 4904387 h 4904651"/>
              <a:gd name="connsiteX0" fmla="*/ 0 w 300578"/>
              <a:gd name="connsiteY0" fmla="*/ 3 h 4904387"/>
              <a:gd name="connsiteX1" fmla="*/ 300578 w 300578"/>
              <a:gd name="connsiteY1" fmla="*/ 4904387 h 4904387"/>
              <a:gd name="connsiteX0" fmla="*/ 0 w 300578"/>
              <a:gd name="connsiteY0" fmla="*/ 156 h 4904540"/>
              <a:gd name="connsiteX1" fmla="*/ 300578 w 300578"/>
              <a:gd name="connsiteY1" fmla="*/ 4904540 h 4904540"/>
              <a:gd name="connsiteX0" fmla="*/ 0 w 300578"/>
              <a:gd name="connsiteY0" fmla="*/ 87 h 4904471"/>
              <a:gd name="connsiteX1" fmla="*/ 300578 w 300578"/>
              <a:gd name="connsiteY1" fmla="*/ 4904471 h 4904471"/>
              <a:gd name="connsiteX0" fmla="*/ 0 w 326902"/>
              <a:gd name="connsiteY0" fmla="*/ 87 h 4848168"/>
              <a:gd name="connsiteX1" fmla="*/ 326902 w 326902"/>
              <a:gd name="connsiteY1" fmla="*/ 4848168 h 4848168"/>
            </a:gdLst>
            <a:ahLst/>
            <a:cxnLst>
              <a:cxn ang="0">
                <a:pos x="connsiteX0" y="connsiteY0"/>
              </a:cxn>
              <a:cxn ang="0">
                <a:pos x="connsiteX1" y="connsiteY1"/>
              </a:cxn>
            </a:cxnLst>
            <a:rect l="l" t="t" r="r" b="b"/>
            <a:pathLst>
              <a:path w="326902" h="4848168">
                <a:moveTo>
                  <a:pt x="0" y="87"/>
                </a:moveTo>
                <a:cubicBezTo>
                  <a:pt x="524710" y="-22562"/>
                  <a:pt x="-114317" y="4327024"/>
                  <a:pt x="326902" y="4848168"/>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a:spLocks noChangeAspect="1"/>
          </p:cNvSpPr>
          <p:nvPr/>
        </p:nvSpPr>
        <p:spPr bwMode="gray">
          <a:xfrm>
            <a:off x="2487829" y="2516350"/>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p:cNvSpPr>
            <a:spLocks noChangeAspect="1"/>
          </p:cNvSpPr>
          <p:nvPr/>
        </p:nvSpPr>
        <p:spPr bwMode="gray">
          <a:xfrm>
            <a:off x="2066658" y="5306345"/>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任意多边形 50"/>
          <p:cNvSpPr/>
          <p:nvPr/>
        </p:nvSpPr>
        <p:spPr bwMode="gray">
          <a:xfrm flipH="1">
            <a:off x="3475785" y="4127147"/>
            <a:ext cx="662749" cy="1190976"/>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622570"/>
              <a:gd name="connsiteY0" fmla="*/ 2973237 h 2973237"/>
              <a:gd name="connsiteX1" fmla="*/ 622570 w 622570"/>
              <a:gd name="connsiteY1" fmla="*/ 0 h 2973237"/>
              <a:gd name="connsiteX0" fmla="*/ 0 w 622570"/>
              <a:gd name="connsiteY0" fmla="*/ 2973237 h 2976202"/>
              <a:gd name="connsiteX1" fmla="*/ 622570 w 622570"/>
              <a:gd name="connsiteY1" fmla="*/ 0 h 2976202"/>
              <a:gd name="connsiteX0" fmla="*/ 0 w 542330"/>
              <a:gd name="connsiteY0" fmla="*/ 3315278 h 3317836"/>
              <a:gd name="connsiteX1" fmla="*/ 481606 w 542330"/>
              <a:gd name="connsiteY1" fmla="*/ 0 h 3317836"/>
              <a:gd name="connsiteX0" fmla="*/ 0 w 866413"/>
              <a:gd name="connsiteY0" fmla="*/ 3315278 h 3318792"/>
              <a:gd name="connsiteX1" fmla="*/ 481606 w 866413"/>
              <a:gd name="connsiteY1" fmla="*/ 0 h 3318792"/>
              <a:gd name="connsiteX0" fmla="*/ 0 w 824658"/>
              <a:gd name="connsiteY0" fmla="*/ 3184796 h 3188581"/>
              <a:gd name="connsiteX1" fmla="*/ 414361 w 824658"/>
              <a:gd name="connsiteY1" fmla="*/ 0 h 3188581"/>
              <a:gd name="connsiteX0" fmla="*/ 0 w 909471"/>
              <a:gd name="connsiteY0" fmla="*/ 3005221 h 3009454"/>
              <a:gd name="connsiteX1" fmla="*/ 547806 w 909471"/>
              <a:gd name="connsiteY1" fmla="*/ 0 h 3009454"/>
              <a:gd name="connsiteX0" fmla="*/ 0 w 894794"/>
              <a:gd name="connsiteY0" fmla="*/ 3063318 h 3067395"/>
              <a:gd name="connsiteX1" fmla="*/ 525565 w 894794"/>
              <a:gd name="connsiteY1" fmla="*/ 0 h 3067395"/>
              <a:gd name="connsiteX0" fmla="*/ 0 w 883526"/>
              <a:gd name="connsiteY0" fmla="*/ 3036909 h 3041055"/>
              <a:gd name="connsiteX1" fmla="*/ 508267 w 883526"/>
              <a:gd name="connsiteY1" fmla="*/ 0 h 3041055"/>
              <a:gd name="connsiteX0" fmla="*/ 0 w 931709"/>
              <a:gd name="connsiteY0" fmla="*/ 3036909 h 3040561"/>
              <a:gd name="connsiteX1" fmla="*/ 508267 w 931709"/>
              <a:gd name="connsiteY1" fmla="*/ 0 h 3040561"/>
              <a:gd name="connsiteX0" fmla="*/ 1849272 w 2110960"/>
              <a:gd name="connsiteY0" fmla="*/ 4136230 h 4138472"/>
              <a:gd name="connsiteX1" fmla="*/ 0 w 2110960"/>
              <a:gd name="connsiteY1" fmla="*/ 0 h 4138472"/>
              <a:gd name="connsiteX0" fmla="*/ 0 w 981567"/>
              <a:gd name="connsiteY0" fmla="*/ 1169158 h 1233895"/>
              <a:gd name="connsiteX1" fmla="*/ 582404 w 981567"/>
              <a:gd name="connsiteY1" fmla="*/ 0 h 1233895"/>
              <a:gd name="connsiteX0" fmla="*/ 0 w 670939"/>
              <a:gd name="connsiteY0" fmla="*/ 1169158 h 1194339"/>
              <a:gd name="connsiteX1" fmla="*/ 582404 w 670939"/>
              <a:gd name="connsiteY1" fmla="*/ 0 h 1194339"/>
              <a:gd name="connsiteX0" fmla="*/ 0 w 703418"/>
              <a:gd name="connsiteY0" fmla="*/ 1251197 h 1271213"/>
              <a:gd name="connsiteX1" fmla="*/ 636770 w 703418"/>
              <a:gd name="connsiteY1" fmla="*/ 0 h 1271213"/>
              <a:gd name="connsiteX0" fmla="*/ 0 w 636858"/>
              <a:gd name="connsiteY0" fmla="*/ 1251197 h 1251197"/>
              <a:gd name="connsiteX1" fmla="*/ 636770 w 636858"/>
              <a:gd name="connsiteY1" fmla="*/ 0 h 1251197"/>
              <a:gd name="connsiteX0" fmla="*/ 0 w 587440"/>
              <a:gd name="connsiteY0" fmla="*/ 1415275 h 1415275"/>
              <a:gd name="connsiteX1" fmla="*/ 587345 w 587440"/>
              <a:gd name="connsiteY1" fmla="*/ 0 h 1415275"/>
              <a:gd name="connsiteX0" fmla="*/ 0 w 587345"/>
              <a:gd name="connsiteY0" fmla="*/ 1415275 h 1415275"/>
              <a:gd name="connsiteX1" fmla="*/ 587345 w 587345"/>
              <a:gd name="connsiteY1" fmla="*/ 0 h 1415275"/>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959452 w 959622"/>
              <a:gd name="connsiteY0" fmla="*/ 2942373 h 2942373"/>
              <a:gd name="connsiteX1" fmla="*/ 60420 w 959622"/>
              <a:gd name="connsiteY1" fmla="*/ 0 h 2942373"/>
              <a:gd name="connsiteX0" fmla="*/ 997454 w 997454"/>
              <a:gd name="connsiteY0" fmla="*/ 2942373 h 2942373"/>
              <a:gd name="connsiteX1" fmla="*/ 98422 w 997454"/>
              <a:gd name="connsiteY1" fmla="*/ 0 h 2942373"/>
              <a:gd name="connsiteX0" fmla="*/ 535503 w 535503"/>
              <a:gd name="connsiteY0" fmla="*/ 1286760 h 1286760"/>
              <a:gd name="connsiteX1" fmla="*/ 211712 w 535503"/>
              <a:gd name="connsiteY1" fmla="*/ 0 h 1286760"/>
              <a:gd name="connsiteX0" fmla="*/ 438649 w 438649"/>
              <a:gd name="connsiteY0" fmla="*/ 1286760 h 1286760"/>
              <a:gd name="connsiteX1" fmla="*/ 114858 w 438649"/>
              <a:gd name="connsiteY1" fmla="*/ 0 h 1286760"/>
              <a:gd name="connsiteX0" fmla="*/ 369202 w 369202"/>
              <a:gd name="connsiteY0" fmla="*/ 1286760 h 1286760"/>
              <a:gd name="connsiteX1" fmla="*/ 45411 w 369202"/>
              <a:gd name="connsiteY1" fmla="*/ 0 h 1286760"/>
              <a:gd name="connsiteX0" fmla="*/ 425229 w 425229"/>
              <a:gd name="connsiteY0" fmla="*/ 1286760 h 1286760"/>
              <a:gd name="connsiteX1" fmla="*/ 101438 w 425229"/>
              <a:gd name="connsiteY1" fmla="*/ 0 h 1286760"/>
              <a:gd name="connsiteX0" fmla="*/ 329526 w 329526"/>
              <a:gd name="connsiteY0" fmla="*/ 1380638 h 1380638"/>
              <a:gd name="connsiteX1" fmla="*/ 132827 w 329526"/>
              <a:gd name="connsiteY1" fmla="*/ 0 h 1380638"/>
              <a:gd name="connsiteX0" fmla="*/ 417239 w 417239"/>
              <a:gd name="connsiteY0" fmla="*/ 1380638 h 1380638"/>
              <a:gd name="connsiteX1" fmla="*/ 220540 w 417239"/>
              <a:gd name="connsiteY1" fmla="*/ 0 h 1380638"/>
              <a:gd name="connsiteX0" fmla="*/ 414787 w 414787"/>
              <a:gd name="connsiteY0" fmla="*/ 1380638 h 1380638"/>
              <a:gd name="connsiteX1" fmla="*/ 218088 w 414787"/>
              <a:gd name="connsiteY1" fmla="*/ 0 h 1380638"/>
              <a:gd name="connsiteX0" fmla="*/ 433217 w 433217"/>
              <a:gd name="connsiteY0" fmla="*/ 1380638 h 1380638"/>
              <a:gd name="connsiteX1" fmla="*/ 211100 w 433217"/>
              <a:gd name="connsiteY1" fmla="*/ 0 h 1380638"/>
              <a:gd name="connsiteX0" fmla="*/ 388044 w 388044"/>
              <a:gd name="connsiteY0" fmla="*/ 1380638 h 1380638"/>
              <a:gd name="connsiteX1" fmla="*/ 165927 w 388044"/>
              <a:gd name="connsiteY1" fmla="*/ 0 h 1380638"/>
              <a:gd name="connsiteX0" fmla="*/ 388044 w 388044"/>
              <a:gd name="connsiteY0" fmla="*/ 1380638 h 1380638"/>
              <a:gd name="connsiteX1" fmla="*/ 165927 w 388044"/>
              <a:gd name="connsiteY1" fmla="*/ 0 h 1380638"/>
              <a:gd name="connsiteX0" fmla="*/ 386881 w 386881"/>
              <a:gd name="connsiteY0" fmla="*/ 1380638 h 1380638"/>
              <a:gd name="connsiteX1" fmla="*/ 164764 w 386881"/>
              <a:gd name="connsiteY1" fmla="*/ 0 h 1380638"/>
            </a:gdLst>
            <a:ahLst/>
            <a:cxnLst>
              <a:cxn ang="0">
                <a:pos x="connsiteX0" y="connsiteY0"/>
              </a:cxn>
              <a:cxn ang="0">
                <a:pos x="connsiteX1" y="connsiteY1"/>
              </a:cxn>
            </a:cxnLst>
            <a:rect l="l" t="t" r="r" b="b"/>
            <a:pathLst>
              <a:path w="386881" h="1380638">
                <a:moveTo>
                  <a:pt x="386881" y="1380638"/>
                </a:moveTo>
                <a:cubicBezTo>
                  <a:pt x="77136" y="1228558"/>
                  <a:pt x="-180567" y="776045"/>
                  <a:pt x="164764"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椭圆 51"/>
          <p:cNvSpPr>
            <a:spLocks noChangeAspect="1"/>
          </p:cNvSpPr>
          <p:nvPr/>
        </p:nvSpPr>
        <p:spPr bwMode="gray">
          <a:xfrm>
            <a:off x="3968735" y="4806463"/>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任意多边形 52"/>
          <p:cNvSpPr/>
          <p:nvPr/>
        </p:nvSpPr>
        <p:spPr bwMode="gray">
          <a:xfrm flipH="1">
            <a:off x="3475783" y="2312397"/>
            <a:ext cx="659749" cy="1664837"/>
          </a:xfrm>
          <a:custGeom>
            <a:avLst/>
            <a:gdLst>
              <a:gd name="connsiteX0" fmla="*/ 133165 w 133165"/>
              <a:gd name="connsiteY0" fmla="*/ 1713390 h 1713390"/>
              <a:gd name="connsiteX1" fmla="*/ 0 w 133165"/>
              <a:gd name="connsiteY1" fmla="*/ 0 h 1713390"/>
              <a:gd name="connsiteX0" fmla="*/ 200898 w 200898"/>
              <a:gd name="connsiteY0" fmla="*/ 2433057 h 2433057"/>
              <a:gd name="connsiteX1" fmla="*/ 0 w 200898"/>
              <a:gd name="connsiteY1" fmla="*/ 0 h 2433057"/>
              <a:gd name="connsiteX0" fmla="*/ 78132 w 78132"/>
              <a:gd name="connsiteY0" fmla="*/ 3140023 h 3140023"/>
              <a:gd name="connsiteX1" fmla="*/ 0 w 78132"/>
              <a:gd name="connsiteY1" fmla="*/ 0 h 3140023"/>
              <a:gd name="connsiteX0" fmla="*/ 615048 w 615048"/>
              <a:gd name="connsiteY0" fmla="*/ 3140023 h 3140023"/>
              <a:gd name="connsiteX1" fmla="*/ 536916 w 615048"/>
              <a:gd name="connsiteY1" fmla="*/ 0 h 3140023"/>
              <a:gd name="connsiteX0" fmla="*/ 561363 w 561363"/>
              <a:gd name="connsiteY0" fmla="*/ 3156956 h 3156956"/>
              <a:gd name="connsiteX1" fmla="*/ 555198 w 561363"/>
              <a:gd name="connsiteY1" fmla="*/ 0 h 3156956"/>
              <a:gd name="connsiteX0" fmla="*/ 627850 w 627850"/>
              <a:gd name="connsiteY0" fmla="*/ 3144256 h 3144256"/>
              <a:gd name="connsiteX1" fmla="*/ 532785 w 627850"/>
              <a:gd name="connsiteY1" fmla="*/ 0 h 3144256"/>
              <a:gd name="connsiteX0" fmla="*/ 160321 w 789298"/>
              <a:gd name="connsiteY0" fmla="*/ 3896748 h 3896748"/>
              <a:gd name="connsiteX1" fmla="*/ 789298 w 789298"/>
              <a:gd name="connsiteY1" fmla="*/ 0 h 3896748"/>
              <a:gd name="connsiteX0" fmla="*/ 726 w 630597"/>
              <a:gd name="connsiteY0" fmla="*/ 3896748 h 3896748"/>
              <a:gd name="connsiteX1" fmla="*/ 629703 w 630597"/>
              <a:gd name="connsiteY1" fmla="*/ 0 h 3896748"/>
              <a:gd name="connsiteX0" fmla="*/ 8537 w 638327"/>
              <a:gd name="connsiteY0" fmla="*/ 3896748 h 3896748"/>
              <a:gd name="connsiteX1" fmla="*/ 637514 w 638327"/>
              <a:gd name="connsiteY1" fmla="*/ 0 h 3896748"/>
              <a:gd name="connsiteX0" fmla="*/ 2561 w 1345578"/>
              <a:gd name="connsiteY0" fmla="*/ 3896748 h 3896748"/>
              <a:gd name="connsiteX1" fmla="*/ 631538 w 1345578"/>
              <a:gd name="connsiteY1" fmla="*/ 0 h 3896748"/>
              <a:gd name="connsiteX0" fmla="*/ 2474 w 1386965"/>
              <a:gd name="connsiteY0" fmla="*/ 3896748 h 3896748"/>
              <a:gd name="connsiteX1" fmla="*/ 631451 w 1386965"/>
              <a:gd name="connsiteY1" fmla="*/ 0 h 3896748"/>
              <a:gd name="connsiteX0" fmla="*/ 17603 w 1375152"/>
              <a:gd name="connsiteY0" fmla="*/ 3896748 h 3896748"/>
              <a:gd name="connsiteX1" fmla="*/ 646580 w 1375152"/>
              <a:gd name="connsiteY1" fmla="*/ 0 h 3896748"/>
              <a:gd name="connsiteX0" fmla="*/ 16483 w 1464729"/>
              <a:gd name="connsiteY0" fmla="*/ 3896748 h 3896748"/>
              <a:gd name="connsiteX1" fmla="*/ 645460 w 1464729"/>
              <a:gd name="connsiteY1"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444533"/>
              <a:gd name="connsiteY0" fmla="*/ 3896748 h 3896748"/>
              <a:gd name="connsiteX1" fmla="*/ 385495 w 1444533"/>
              <a:gd name="connsiteY1" fmla="*/ 1849013 h 3896748"/>
              <a:gd name="connsiteX2" fmla="*/ 628977 w 1444533"/>
              <a:gd name="connsiteY2" fmla="*/ 0 h 3896748"/>
              <a:gd name="connsiteX0" fmla="*/ 0 w 1681562"/>
              <a:gd name="connsiteY0" fmla="*/ 3896748 h 3896748"/>
              <a:gd name="connsiteX1" fmla="*/ 385495 w 1681562"/>
              <a:gd name="connsiteY1" fmla="*/ 1849013 h 3896748"/>
              <a:gd name="connsiteX2" fmla="*/ 628977 w 1681562"/>
              <a:gd name="connsiteY2" fmla="*/ 0 h 3896748"/>
              <a:gd name="connsiteX0" fmla="*/ 17035 w 1698597"/>
              <a:gd name="connsiteY0" fmla="*/ 3896748 h 3896748"/>
              <a:gd name="connsiteX1" fmla="*/ 402530 w 1698597"/>
              <a:gd name="connsiteY1" fmla="*/ 1849013 h 3896748"/>
              <a:gd name="connsiteX2" fmla="*/ 646012 w 1698597"/>
              <a:gd name="connsiteY2" fmla="*/ 0 h 3896748"/>
              <a:gd name="connsiteX0" fmla="*/ 17035 w 1698597"/>
              <a:gd name="connsiteY0" fmla="*/ 3896748 h 3896748"/>
              <a:gd name="connsiteX1" fmla="*/ 402530 w 1698597"/>
              <a:gd name="connsiteY1" fmla="*/ 1837612 h 3896748"/>
              <a:gd name="connsiteX2" fmla="*/ 646012 w 1698597"/>
              <a:gd name="connsiteY2" fmla="*/ 0 h 3896748"/>
              <a:gd name="connsiteX0" fmla="*/ 17035 w 1431288"/>
              <a:gd name="connsiteY0" fmla="*/ 3896748 h 3896748"/>
              <a:gd name="connsiteX1" fmla="*/ 402530 w 1431288"/>
              <a:gd name="connsiteY1" fmla="*/ 1837612 h 3896748"/>
              <a:gd name="connsiteX2" fmla="*/ 646012 w 1431288"/>
              <a:gd name="connsiteY2" fmla="*/ 0 h 3896748"/>
              <a:gd name="connsiteX0" fmla="*/ 41200 w 1434293"/>
              <a:gd name="connsiteY0" fmla="*/ 3896748 h 3896748"/>
              <a:gd name="connsiteX1" fmla="*/ 349805 w 1434293"/>
              <a:gd name="connsiteY1" fmla="*/ 1906021 h 3896748"/>
              <a:gd name="connsiteX2" fmla="*/ 670177 w 1434293"/>
              <a:gd name="connsiteY2" fmla="*/ 0 h 3896748"/>
              <a:gd name="connsiteX0" fmla="*/ 0 w 628977"/>
              <a:gd name="connsiteY0" fmla="*/ 3896748 h 3896748"/>
              <a:gd name="connsiteX1" fmla="*/ 628977 w 628977"/>
              <a:gd name="connsiteY1" fmla="*/ 0 h 3896748"/>
              <a:gd name="connsiteX0" fmla="*/ 0 w 622570"/>
              <a:gd name="connsiteY0" fmla="*/ 2973237 h 2973237"/>
              <a:gd name="connsiteX1" fmla="*/ 622570 w 622570"/>
              <a:gd name="connsiteY1" fmla="*/ 0 h 2973237"/>
              <a:gd name="connsiteX0" fmla="*/ 0 w 622570"/>
              <a:gd name="connsiteY0" fmla="*/ 2973237 h 2976202"/>
              <a:gd name="connsiteX1" fmla="*/ 622570 w 622570"/>
              <a:gd name="connsiteY1" fmla="*/ 0 h 2976202"/>
              <a:gd name="connsiteX0" fmla="*/ 0 w 542330"/>
              <a:gd name="connsiteY0" fmla="*/ 3315278 h 3317836"/>
              <a:gd name="connsiteX1" fmla="*/ 481606 w 542330"/>
              <a:gd name="connsiteY1" fmla="*/ 0 h 3317836"/>
              <a:gd name="connsiteX0" fmla="*/ 0 w 866413"/>
              <a:gd name="connsiteY0" fmla="*/ 3315278 h 3318792"/>
              <a:gd name="connsiteX1" fmla="*/ 481606 w 866413"/>
              <a:gd name="connsiteY1" fmla="*/ 0 h 3318792"/>
              <a:gd name="connsiteX0" fmla="*/ 0 w 824658"/>
              <a:gd name="connsiteY0" fmla="*/ 3184796 h 3188581"/>
              <a:gd name="connsiteX1" fmla="*/ 414361 w 824658"/>
              <a:gd name="connsiteY1" fmla="*/ 0 h 3188581"/>
              <a:gd name="connsiteX0" fmla="*/ 0 w 909471"/>
              <a:gd name="connsiteY0" fmla="*/ 3005221 h 3009454"/>
              <a:gd name="connsiteX1" fmla="*/ 547806 w 909471"/>
              <a:gd name="connsiteY1" fmla="*/ 0 h 3009454"/>
              <a:gd name="connsiteX0" fmla="*/ 0 w 894794"/>
              <a:gd name="connsiteY0" fmla="*/ 3063318 h 3067395"/>
              <a:gd name="connsiteX1" fmla="*/ 525565 w 894794"/>
              <a:gd name="connsiteY1" fmla="*/ 0 h 3067395"/>
              <a:gd name="connsiteX0" fmla="*/ 0 w 883526"/>
              <a:gd name="connsiteY0" fmla="*/ 3036909 h 3041055"/>
              <a:gd name="connsiteX1" fmla="*/ 508267 w 883526"/>
              <a:gd name="connsiteY1" fmla="*/ 0 h 3041055"/>
              <a:gd name="connsiteX0" fmla="*/ 0 w 931709"/>
              <a:gd name="connsiteY0" fmla="*/ 3036909 h 3040561"/>
              <a:gd name="connsiteX1" fmla="*/ 508267 w 931709"/>
              <a:gd name="connsiteY1" fmla="*/ 0 h 3040561"/>
              <a:gd name="connsiteX0" fmla="*/ 1849272 w 2110960"/>
              <a:gd name="connsiteY0" fmla="*/ 4136230 h 4138472"/>
              <a:gd name="connsiteX1" fmla="*/ 0 w 2110960"/>
              <a:gd name="connsiteY1" fmla="*/ 0 h 4138472"/>
              <a:gd name="connsiteX0" fmla="*/ 0 w 981567"/>
              <a:gd name="connsiteY0" fmla="*/ 1169158 h 1233895"/>
              <a:gd name="connsiteX1" fmla="*/ 582404 w 981567"/>
              <a:gd name="connsiteY1" fmla="*/ 0 h 1233895"/>
              <a:gd name="connsiteX0" fmla="*/ 0 w 670939"/>
              <a:gd name="connsiteY0" fmla="*/ 1169158 h 1194339"/>
              <a:gd name="connsiteX1" fmla="*/ 582404 w 670939"/>
              <a:gd name="connsiteY1" fmla="*/ 0 h 1194339"/>
              <a:gd name="connsiteX0" fmla="*/ 0 w 703418"/>
              <a:gd name="connsiteY0" fmla="*/ 1251197 h 1271213"/>
              <a:gd name="connsiteX1" fmla="*/ 636770 w 703418"/>
              <a:gd name="connsiteY1" fmla="*/ 0 h 1271213"/>
              <a:gd name="connsiteX0" fmla="*/ 0 w 636858"/>
              <a:gd name="connsiteY0" fmla="*/ 1251197 h 1251197"/>
              <a:gd name="connsiteX1" fmla="*/ 636770 w 636858"/>
              <a:gd name="connsiteY1" fmla="*/ 0 h 1251197"/>
              <a:gd name="connsiteX0" fmla="*/ 0 w 587440"/>
              <a:gd name="connsiteY0" fmla="*/ 1415275 h 1415275"/>
              <a:gd name="connsiteX1" fmla="*/ 587345 w 587440"/>
              <a:gd name="connsiteY1" fmla="*/ 0 h 1415275"/>
              <a:gd name="connsiteX0" fmla="*/ 0 w 587345"/>
              <a:gd name="connsiteY0" fmla="*/ 1415275 h 1415275"/>
              <a:gd name="connsiteX1" fmla="*/ 587345 w 587345"/>
              <a:gd name="connsiteY1" fmla="*/ 0 h 1415275"/>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0 w 567575"/>
              <a:gd name="connsiteY0" fmla="*/ 1401601 h 1401601"/>
              <a:gd name="connsiteX1" fmla="*/ 567575 w 567575"/>
              <a:gd name="connsiteY1" fmla="*/ 0 h 1401601"/>
              <a:gd name="connsiteX0" fmla="*/ 959452 w 959622"/>
              <a:gd name="connsiteY0" fmla="*/ 2942373 h 2942373"/>
              <a:gd name="connsiteX1" fmla="*/ 60420 w 959622"/>
              <a:gd name="connsiteY1" fmla="*/ 0 h 2942373"/>
              <a:gd name="connsiteX0" fmla="*/ 997454 w 997454"/>
              <a:gd name="connsiteY0" fmla="*/ 2942373 h 2942373"/>
              <a:gd name="connsiteX1" fmla="*/ 98422 w 997454"/>
              <a:gd name="connsiteY1" fmla="*/ 0 h 2942373"/>
              <a:gd name="connsiteX0" fmla="*/ 535503 w 535503"/>
              <a:gd name="connsiteY0" fmla="*/ 1286760 h 1286760"/>
              <a:gd name="connsiteX1" fmla="*/ 211712 w 535503"/>
              <a:gd name="connsiteY1" fmla="*/ 0 h 1286760"/>
              <a:gd name="connsiteX0" fmla="*/ 438649 w 438649"/>
              <a:gd name="connsiteY0" fmla="*/ 1286760 h 1286760"/>
              <a:gd name="connsiteX1" fmla="*/ 114858 w 438649"/>
              <a:gd name="connsiteY1" fmla="*/ 0 h 1286760"/>
              <a:gd name="connsiteX0" fmla="*/ 369202 w 369202"/>
              <a:gd name="connsiteY0" fmla="*/ 1286760 h 1286760"/>
              <a:gd name="connsiteX1" fmla="*/ 45411 w 369202"/>
              <a:gd name="connsiteY1" fmla="*/ 0 h 1286760"/>
              <a:gd name="connsiteX0" fmla="*/ 425229 w 425229"/>
              <a:gd name="connsiteY0" fmla="*/ 1286760 h 1286760"/>
              <a:gd name="connsiteX1" fmla="*/ 101438 w 425229"/>
              <a:gd name="connsiteY1" fmla="*/ 0 h 1286760"/>
              <a:gd name="connsiteX0" fmla="*/ 229413 w 229413"/>
              <a:gd name="connsiteY0" fmla="*/ 1296161 h 1296161"/>
              <a:gd name="connsiteX1" fmla="*/ 201016 w 229413"/>
              <a:gd name="connsiteY1" fmla="*/ 0 h 1296161"/>
              <a:gd name="connsiteX0" fmla="*/ 352381 w 352381"/>
              <a:gd name="connsiteY0" fmla="*/ 1296161 h 1296161"/>
              <a:gd name="connsiteX1" fmla="*/ 323984 w 352381"/>
              <a:gd name="connsiteY1" fmla="*/ 0 h 1296161"/>
              <a:gd name="connsiteX0" fmla="*/ 414844 w 414844"/>
              <a:gd name="connsiteY0" fmla="*/ 1296161 h 1296161"/>
              <a:gd name="connsiteX1" fmla="*/ 386447 w 414844"/>
              <a:gd name="connsiteY1" fmla="*/ 0 h 1296161"/>
            </a:gdLst>
            <a:ahLst/>
            <a:cxnLst>
              <a:cxn ang="0">
                <a:pos x="connsiteX0" y="connsiteY0"/>
              </a:cxn>
              <a:cxn ang="0">
                <a:pos x="connsiteX1" y="connsiteY1"/>
              </a:cxn>
            </a:cxnLst>
            <a:rect l="l" t="t" r="r" b="b"/>
            <a:pathLst>
              <a:path w="414844" h="1296161">
                <a:moveTo>
                  <a:pt x="414844" y="1296161"/>
                </a:moveTo>
                <a:cubicBezTo>
                  <a:pt x="-96719" y="986195"/>
                  <a:pt x="-168053" y="442524"/>
                  <a:pt x="386447" y="0"/>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bwMode="gray">
          <a:xfrm>
            <a:off x="4798447" y="2012192"/>
            <a:ext cx="6824285" cy="3003899"/>
          </a:xfrm>
          <a:prstGeom prst="rect">
            <a:avLst/>
          </a:prstGeom>
        </p:spPr>
        <p:txBody>
          <a:bodyPr wrap="square">
            <a:spAutoFit/>
          </a:bodyPr>
          <a:lstStyle/>
          <a:p>
            <a:pPr marL="342900" indent="-342900" algn="just">
              <a:lnSpc>
                <a:spcPct val="140000"/>
              </a:lnSpc>
              <a:spcAft>
                <a:spcPts val="3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网络管理员在控制器上进行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ZTP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配置并选择邮件开局方式。</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ct val="140000"/>
              </a:lnSpc>
              <a:spcAft>
                <a:spcPts val="3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控制器将开局配置“打包”为一系列字符串，通过邮件发往管理员指定的邮箱。</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ct val="140000"/>
              </a:lnSpc>
              <a:spcAft>
                <a:spcPts val="3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站点开局人员在站点的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上登录邮箱，收取上述开局邮件。</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ct val="140000"/>
              </a:lnSpc>
              <a:spcAft>
                <a:spcPts val="3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开局人员将</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站点的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连接到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（可通过有线或无线方式），然后点击邮件正文中的超链接，此时</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会自动登录到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，并将超链接中的参数解析，得到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的开局配置，然后将配置写入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ct val="140000"/>
              </a:lnSpc>
              <a:spcAft>
                <a:spcPts val="300"/>
              </a:spcAft>
              <a:buFont typeface="+mj-lt"/>
              <a:buAutoNum type="arabicPeriod"/>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，自动向控制器发起注册申请。</a:t>
            </a:r>
          </a:p>
        </p:txBody>
      </p:sp>
      <p:grpSp>
        <p:nvGrpSpPr>
          <p:cNvPr id="55" name="组合 362"/>
          <p:cNvGrpSpPr>
            <a:grpSpLocks/>
          </p:cNvGrpSpPr>
          <p:nvPr/>
        </p:nvGrpSpPr>
        <p:grpSpPr bwMode="gray">
          <a:xfrm>
            <a:off x="1624858" y="5227582"/>
            <a:ext cx="390007" cy="390007"/>
            <a:chOff x="373063" y="2114551"/>
            <a:chExt cx="1114425" cy="1116013"/>
          </a:xfrm>
        </p:grpSpPr>
        <p:sp>
          <p:nvSpPr>
            <p:cNvPr id="56"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7" name="组合 341"/>
            <p:cNvGrpSpPr>
              <a:grpSpLocks/>
            </p:cNvGrpSpPr>
            <p:nvPr/>
          </p:nvGrpSpPr>
          <p:grpSpPr bwMode="gray">
            <a:xfrm>
              <a:off x="649288" y="2289176"/>
              <a:ext cx="561975" cy="769938"/>
              <a:chOff x="649288" y="2289176"/>
              <a:chExt cx="561975" cy="769938"/>
            </a:xfrm>
          </p:grpSpPr>
          <p:sp>
            <p:nvSpPr>
              <p:cNvPr id="58"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64" name="图片 6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672190" y="1628928"/>
            <a:ext cx="951607" cy="540946"/>
          </a:xfrm>
          <a:prstGeom prst="rect">
            <a:avLst/>
          </a:prstGeom>
        </p:spPr>
      </p:pic>
      <p:sp>
        <p:nvSpPr>
          <p:cNvPr id="65" name="文本框 64"/>
          <p:cNvSpPr txBox="1"/>
          <p:nvPr/>
        </p:nvSpPr>
        <p:spPr bwMode="gray">
          <a:xfrm>
            <a:off x="522268" y="3739933"/>
            <a:ext cx="800219"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65"/>
          <p:cNvSpPr>
            <a:spLocks noChangeAspect="1"/>
          </p:cNvSpPr>
          <p:nvPr/>
        </p:nvSpPr>
        <p:spPr bwMode="gray">
          <a:xfrm>
            <a:off x="2401390" y="4964449"/>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椭圆 66"/>
          <p:cNvSpPr>
            <a:spLocks noChangeAspect="1"/>
          </p:cNvSpPr>
          <p:nvPr/>
        </p:nvSpPr>
        <p:spPr bwMode="gray">
          <a:xfrm>
            <a:off x="3862402" y="2616480"/>
            <a:ext cx="232480" cy="232480"/>
          </a:xfrm>
          <a:prstGeom prst="ellipse">
            <a:avLst/>
          </a:prstGeom>
          <a:solidFill>
            <a:srgbClr val="30B5C5"/>
          </a:solidFill>
          <a:ln w="19050" cap="flat" cmpd="sng" algn="ctr">
            <a:noFill/>
            <a:prstDash val="solid"/>
            <a:miter lim="800000"/>
          </a:ln>
          <a:effectLst/>
        </p:spPr>
        <p:txBody>
          <a:bodyPr wrap="none" lIns="0" tIns="0" rIns="0" bIns="0" rtlCol="0" anchor="ctr"/>
          <a:lstStyle/>
          <a:p>
            <a:pPr algn="ctr"/>
            <a:r>
              <a:rPr lang="en-US" altLang="zh-CN" sz="15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350338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t>CloudCampus</a:t>
            </a:r>
            <a:r>
              <a:rPr lang="zh-CN" altLang="en-US" dirty="0" smtClean="0"/>
              <a:t>方案</a:t>
            </a:r>
            <a:r>
              <a:rPr lang="zh-CN" altLang="en-US" dirty="0"/>
              <a:t>关键技术 </a:t>
            </a:r>
            <a:r>
              <a:rPr lang="en-US" altLang="zh-CN" dirty="0" smtClean="0"/>
              <a:t>- </a:t>
            </a:r>
            <a:r>
              <a:rPr lang="zh-CN" altLang="en-US" dirty="0" smtClean="0"/>
              <a:t>云端管理</a:t>
            </a:r>
            <a:endParaRPr lang="zh-CN" altLang="en-US" dirty="0"/>
          </a:p>
        </p:txBody>
      </p:sp>
      <p:sp>
        <p:nvSpPr>
          <p:cNvPr id="4" name="TextBox 63">
            <a:extLst>
              <a:ext uri="{FF2B5EF4-FFF2-40B4-BE49-F238E27FC236}">
                <a16:creationId xmlns="" xmlns:a16="http://schemas.microsoft.com/office/drawing/2014/main" id="{A3633133-5D17-4CAF-A992-D2D720C50F05}"/>
              </a:ext>
            </a:extLst>
          </p:cNvPr>
          <p:cNvSpPr txBox="1"/>
          <p:nvPr/>
        </p:nvSpPr>
        <p:spPr bwMode="gray">
          <a:xfrm>
            <a:off x="2527246" y="1935770"/>
            <a:ext cx="543739" cy="307777"/>
          </a:xfrm>
          <a:prstGeom prst="rect">
            <a:avLst/>
          </a:prstGeom>
          <a:noFill/>
        </p:spPr>
        <p:txBody>
          <a:bodyPr wrap="none" rtlCol="0">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cs typeface="+mn-ea"/>
                <a:sym typeface="Huawei Sans" panose="020C0503030203020204" pitchFamily="34" charset="0"/>
              </a:rPr>
              <a:t>分析</a:t>
            </a:r>
            <a:endParaRPr kumimoji="0" lang="en-US" altLang="zh-CN" sz="1400" b="1" i="0" u="none" strike="noStrike" kern="0" cap="none" spc="0" normalizeH="0" baseline="0" noProof="0" dirty="0" smtClean="0">
              <a:ln>
                <a:noFill/>
              </a:ln>
              <a:solidFill>
                <a:prstClr val="black"/>
              </a:solidFill>
              <a:effectLst/>
              <a:uLnTx/>
              <a:uFillTx/>
              <a:cs typeface="+mn-ea"/>
              <a:sym typeface="Huawei Sans" panose="020C0503030203020204" pitchFamily="34" charset="0"/>
            </a:endParaRPr>
          </a:p>
        </p:txBody>
      </p:sp>
      <p:sp>
        <p:nvSpPr>
          <p:cNvPr id="5" name="TextBox 63">
            <a:extLst>
              <a:ext uri="{FF2B5EF4-FFF2-40B4-BE49-F238E27FC236}">
                <a16:creationId xmlns="" xmlns:a16="http://schemas.microsoft.com/office/drawing/2014/main" id="{E2E66BC2-70B0-46E4-A556-73B7B69FDD8F}"/>
              </a:ext>
            </a:extLst>
          </p:cNvPr>
          <p:cNvSpPr txBox="1"/>
          <p:nvPr/>
        </p:nvSpPr>
        <p:spPr bwMode="gray">
          <a:xfrm>
            <a:off x="2035836" y="2377335"/>
            <a:ext cx="543739" cy="307777"/>
          </a:xfrm>
          <a:prstGeom prst="rect">
            <a:avLst/>
          </a:prstGeom>
          <a:noFill/>
        </p:spPr>
        <p:txBody>
          <a:bodyPr wrap="none" rtlCol="0">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smtClean="0">
                <a:ln>
                  <a:noFill/>
                </a:ln>
                <a:solidFill>
                  <a:prstClr val="black"/>
                </a:solidFill>
                <a:effectLst/>
                <a:uLnTx/>
                <a:uFillTx/>
                <a:cs typeface="+mn-ea"/>
                <a:sym typeface="Huawei Sans" panose="020C0503030203020204" pitchFamily="34" charset="0"/>
              </a:rPr>
              <a:t>管理</a:t>
            </a:r>
            <a:endParaRPr kumimoji="0" lang="en-US" altLang="zh-CN" sz="1400" b="1" i="0" u="none" strike="noStrike" kern="0" cap="none" spc="0" normalizeH="0" baseline="0" noProof="0" dirty="0" smtClean="0">
              <a:ln>
                <a:noFill/>
              </a:ln>
              <a:solidFill>
                <a:prstClr val="black"/>
              </a:solidFill>
              <a:effectLst/>
              <a:uLnTx/>
              <a:uFillTx/>
              <a:cs typeface="+mn-ea"/>
              <a:sym typeface="Huawei Sans" panose="020C0503030203020204" pitchFamily="34" charset="0"/>
            </a:endParaRPr>
          </a:p>
        </p:txBody>
      </p:sp>
      <p:sp>
        <p:nvSpPr>
          <p:cNvPr id="6" name="TextBox 63">
            <a:extLst>
              <a:ext uri="{FF2B5EF4-FFF2-40B4-BE49-F238E27FC236}">
                <a16:creationId xmlns="" xmlns:a16="http://schemas.microsoft.com/office/drawing/2014/main" id="{7918EB6A-A629-41F6-8CF8-20C965F5093F}"/>
              </a:ext>
            </a:extLst>
          </p:cNvPr>
          <p:cNvSpPr txBox="1"/>
          <p:nvPr/>
        </p:nvSpPr>
        <p:spPr bwMode="gray">
          <a:xfrm>
            <a:off x="3018656" y="2377335"/>
            <a:ext cx="543739" cy="307777"/>
          </a:xfrm>
          <a:prstGeom prst="rect">
            <a:avLst/>
          </a:prstGeom>
          <a:noFill/>
        </p:spPr>
        <p:txBody>
          <a:bodyPr wrap="none" rtlCol="0">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smtClean="0">
                <a:ln>
                  <a:noFill/>
                </a:ln>
                <a:solidFill>
                  <a:prstClr val="black"/>
                </a:solidFill>
                <a:effectLst/>
                <a:uLnTx/>
                <a:uFillTx/>
                <a:cs typeface="+mn-ea"/>
                <a:sym typeface="Huawei Sans" panose="020C0503030203020204" pitchFamily="34" charset="0"/>
              </a:rPr>
              <a:t>控制</a:t>
            </a:r>
            <a:endParaRPr kumimoji="0" lang="en-US" altLang="zh-CN" sz="1400" b="1" i="0" u="none" strike="noStrike" kern="0" cap="none" spc="0" normalizeH="0" baseline="0" noProof="0" dirty="0" smtClean="0">
              <a:ln>
                <a:noFill/>
              </a:ln>
              <a:solidFill>
                <a:prstClr val="black"/>
              </a:solidFill>
              <a:effectLst/>
              <a:uLnTx/>
              <a:uFillTx/>
              <a:cs typeface="+mn-ea"/>
              <a:sym typeface="Huawei Sans" panose="020C0503030203020204" pitchFamily="34" charset="0"/>
            </a:endParaRPr>
          </a:p>
        </p:txBody>
      </p:sp>
      <p:sp>
        <p:nvSpPr>
          <p:cNvPr id="7" name="Freeform 159">
            <a:extLst>
              <a:ext uri="{FF2B5EF4-FFF2-40B4-BE49-F238E27FC236}">
                <a16:creationId xmlns="" xmlns:a16="http://schemas.microsoft.com/office/drawing/2014/main" id="{CB219C58-ADDC-4224-B49C-2A2A0B439E3B}"/>
              </a:ext>
            </a:extLst>
          </p:cNvPr>
          <p:cNvSpPr/>
          <p:nvPr/>
        </p:nvSpPr>
        <p:spPr bwMode="gray">
          <a:xfrm flipH="1">
            <a:off x="1544508" y="1335100"/>
            <a:ext cx="2971076" cy="155306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cap="flat" cmpd="sng" algn="ctr">
            <a:solidFill>
              <a:srgbClr val="56C4D2"/>
            </a:solidFill>
            <a:prstDash val="solid"/>
            <a:miter lim="800000"/>
          </a:ln>
          <a:effectLst/>
        </p:spPr>
        <p:txBody>
          <a:bodyPr wrap="square" tIns="108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smtClean="0">
              <a:ln>
                <a:noFill/>
              </a:ln>
              <a:solidFill>
                <a:prstClr val="white">
                  <a:lumMod val="50000"/>
                </a:prstClr>
              </a:solidFill>
              <a:effectLst/>
              <a:uLnTx/>
              <a:uFillTx/>
              <a:latin typeface="Huawei Sans"/>
              <a:ea typeface="方正兰亭黑简体"/>
              <a:cs typeface="+mn-cs"/>
            </a:endParaRPr>
          </a:p>
        </p:txBody>
      </p:sp>
      <p:sp>
        <p:nvSpPr>
          <p:cNvPr id="8" name="椭圆 7">
            <a:extLst>
              <a:ext uri="{FF2B5EF4-FFF2-40B4-BE49-F238E27FC236}">
                <a16:creationId xmlns="" xmlns:a16="http://schemas.microsoft.com/office/drawing/2014/main" id="{22CAA2B3-FE6F-4FAB-A8EF-8530147094C2}"/>
              </a:ext>
            </a:extLst>
          </p:cNvPr>
          <p:cNvSpPr/>
          <p:nvPr/>
        </p:nvSpPr>
        <p:spPr bwMode="gray">
          <a:xfrm>
            <a:off x="2634522" y="2338236"/>
            <a:ext cx="329184" cy="329184"/>
          </a:xfrm>
          <a:prstGeom prst="ellipse">
            <a:avLst/>
          </a:prstGeom>
          <a:noFill/>
          <a:ln w="28575"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endParaRPr>
          </a:p>
        </p:txBody>
      </p:sp>
      <p:sp>
        <p:nvSpPr>
          <p:cNvPr id="9" name="椭圆 8">
            <a:extLst>
              <a:ext uri="{FF2B5EF4-FFF2-40B4-BE49-F238E27FC236}">
                <a16:creationId xmlns="" xmlns:a16="http://schemas.microsoft.com/office/drawing/2014/main" id="{46D20AED-03FE-4B8D-8D4F-6939E0E5E6E3}"/>
              </a:ext>
            </a:extLst>
          </p:cNvPr>
          <p:cNvSpPr>
            <a:spLocks noChangeAspect="1"/>
          </p:cNvSpPr>
          <p:nvPr/>
        </p:nvSpPr>
        <p:spPr bwMode="gray">
          <a:xfrm>
            <a:off x="2737686" y="2273177"/>
            <a:ext cx="122854" cy="122854"/>
          </a:xfrm>
          <a:prstGeom prst="ellips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endParaRPr>
          </a:p>
        </p:txBody>
      </p:sp>
      <p:sp>
        <p:nvSpPr>
          <p:cNvPr id="10" name="椭圆 9">
            <a:extLst>
              <a:ext uri="{FF2B5EF4-FFF2-40B4-BE49-F238E27FC236}">
                <a16:creationId xmlns="" xmlns:a16="http://schemas.microsoft.com/office/drawing/2014/main" id="{EA642400-97E6-4892-BFD2-1B4F1F2BA5C3}"/>
              </a:ext>
            </a:extLst>
          </p:cNvPr>
          <p:cNvSpPr>
            <a:spLocks noChangeAspect="1"/>
          </p:cNvSpPr>
          <p:nvPr/>
        </p:nvSpPr>
        <p:spPr bwMode="gray">
          <a:xfrm>
            <a:off x="2573094" y="2441400"/>
            <a:ext cx="122854" cy="122854"/>
          </a:xfrm>
          <a:prstGeom prst="ellips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endParaRPr>
          </a:p>
        </p:txBody>
      </p:sp>
      <p:sp>
        <p:nvSpPr>
          <p:cNvPr id="11" name="椭圆 10">
            <a:extLst>
              <a:ext uri="{FF2B5EF4-FFF2-40B4-BE49-F238E27FC236}">
                <a16:creationId xmlns="" xmlns:a16="http://schemas.microsoft.com/office/drawing/2014/main" id="{FA4E89B1-24A4-4950-A88B-EFDA23933E12}"/>
              </a:ext>
            </a:extLst>
          </p:cNvPr>
          <p:cNvSpPr>
            <a:spLocks noChangeAspect="1"/>
          </p:cNvSpPr>
          <p:nvPr/>
        </p:nvSpPr>
        <p:spPr bwMode="gray">
          <a:xfrm>
            <a:off x="2902278" y="2441400"/>
            <a:ext cx="122854" cy="122854"/>
          </a:xfrm>
          <a:prstGeom prst="ellips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endParaRPr>
          </a:p>
        </p:txBody>
      </p:sp>
      <p:sp>
        <p:nvSpPr>
          <p:cNvPr id="17" name="圆角矩形 155">
            <a:extLst>
              <a:ext uri="{FF2B5EF4-FFF2-40B4-BE49-F238E27FC236}">
                <a16:creationId xmlns="" xmlns:a16="http://schemas.microsoft.com/office/drawing/2014/main" id="{3CD59E44-A3DF-4C08-B78C-8911DBFAF6F9}"/>
              </a:ext>
            </a:extLst>
          </p:cNvPr>
          <p:cNvSpPr/>
          <p:nvPr/>
        </p:nvSpPr>
        <p:spPr bwMode="gray">
          <a:xfrm>
            <a:off x="3556096" y="2425666"/>
            <a:ext cx="1103908" cy="211435"/>
          </a:xfrm>
          <a:prstGeom prst="roundRect">
            <a:avLst>
              <a:gd name="adj" fmla="val 50000"/>
            </a:avLst>
          </a:prstGeom>
          <a:solidFill>
            <a:srgbClr val="56C4D2"/>
          </a:solidFill>
          <a:ln w="9525" cap="flat" cmpd="sng" algn="ctr">
            <a:noFill/>
            <a:prstDash val="solid"/>
            <a:miter lim="800000"/>
          </a:ln>
          <a:effectLst/>
        </p:spPr>
        <p:txBody>
          <a:bodyPr wrap="none" anchor="ctr" anchorCtr="0">
            <a:noAutofit/>
          </a:bodyPr>
          <a:lstStyle/>
          <a:p>
            <a:pPr marL="0" marR="0" lvl="0" indent="0" algn="ctr" defTabSz="2436959" eaLnBrk="0"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prstClr val="white"/>
                </a:solidFill>
                <a:effectLst/>
                <a:uLnTx/>
                <a:uFillTx/>
                <a:latin typeface="Huawei Sans"/>
                <a:ea typeface="方正兰亭黑简体"/>
                <a:cs typeface="+mn-ea"/>
                <a:sym typeface="Huawei Sans" panose="020C0503030203020204" pitchFamily="34" charset="0"/>
              </a:rPr>
              <a:t>一站式管理平台</a:t>
            </a:r>
            <a:endParaRPr kumimoji="0" lang="en-US" altLang="zh-CN" sz="1200" b="0" i="0" u="none" strike="noStrike" kern="0" cap="none" spc="0" normalizeH="0" baseline="0" noProof="0" dirty="0" smtClean="0">
              <a:ln>
                <a:noFill/>
              </a:ln>
              <a:solidFill>
                <a:prstClr val="white"/>
              </a:solidFill>
              <a:effectLst/>
              <a:uLnTx/>
              <a:uFillTx/>
              <a:latin typeface="Huawei Sans"/>
              <a:ea typeface="方正兰亭黑简体"/>
              <a:cs typeface="+mn-ea"/>
              <a:sym typeface="Huawei Sans" panose="020C0503030203020204" pitchFamily="34" charset="0"/>
            </a:endParaRPr>
          </a:p>
        </p:txBody>
      </p:sp>
      <p:grpSp>
        <p:nvGrpSpPr>
          <p:cNvPr id="18" name="组合 17">
            <a:extLst>
              <a:ext uri="{FF2B5EF4-FFF2-40B4-BE49-F238E27FC236}">
                <a16:creationId xmlns="" xmlns:a16="http://schemas.microsoft.com/office/drawing/2014/main" id="{E65482E2-AC1C-4F9B-B26E-54DDDD286BF8}"/>
              </a:ext>
            </a:extLst>
          </p:cNvPr>
          <p:cNvGrpSpPr/>
          <p:nvPr/>
        </p:nvGrpSpPr>
        <p:grpSpPr bwMode="gray">
          <a:xfrm>
            <a:off x="2322775" y="2787478"/>
            <a:ext cx="1496420" cy="290930"/>
            <a:chOff x="1859158" y="3463346"/>
            <a:chExt cx="1496420" cy="290930"/>
          </a:xfrm>
        </p:grpSpPr>
        <p:sp>
          <p:nvSpPr>
            <p:cNvPr id="19" name="矩形 18">
              <a:extLst>
                <a:ext uri="{FF2B5EF4-FFF2-40B4-BE49-F238E27FC236}">
                  <a16:creationId xmlns="" xmlns:a16="http://schemas.microsoft.com/office/drawing/2014/main" id="{E564090B-958A-4874-A149-320EE880B2AF}"/>
                </a:ext>
              </a:extLst>
            </p:cNvPr>
            <p:cNvSpPr/>
            <p:nvPr/>
          </p:nvSpPr>
          <p:spPr bwMode="gray">
            <a:xfrm>
              <a:off x="1859158" y="3463346"/>
              <a:ext cx="1496420" cy="26939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endParaRPr>
            </a:p>
          </p:txBody>
        </p:sp>
        <p:pic>
          <p:nvPicPr>
            <p:cNvPr id="20" name="图片 19">
              <a:extLst>
                <a:ext uri="{FF2B5EF4-FFF2-40B4-BE49-F238E27FC236}">
                  <a16:creationId xmlns="" xmlns:a16="http://schemas.microsoft.com/office/drawing/2014/main" id="{E0DE72BF-7F28-4875-9FFD-72FB4782113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80571"/>
            <a:stretch/>
          </p:blipFill>
          <p:spPr bwMode="gray">
            <a:xfrm>
              <a:off x="1963145" y="3468480"/>
              <a:ext cx="1288446" cy="285796"/>
            </a:xfrm>
            <a:prstGeom prst="rect">
              <a:avLst/>
            </a:prstGeom>
          </p:spPr>
        </p:pic>
      </p:grpSp>
      <p:pic>
        <p:nvPicPr>
          <p:cNvPr id="21" name="Picture 3" descr="E:\01转移\PTT元素\射光-01.png">
            <a:extLst>
              <a:ext uri="{FF2B5EF4-FFF2-40B4-BE49-F238E27FC236}">
                <a16:creationId xmlns="" xmlns:a16="http://schemas.microsoft.com/office/drawing/2014/main" id="{60899438-4497-4850-95F8-3AC190E3528D}"/>
              </a:ext>
            </a:extLst>
          </p:cNvPr>
          <p:cNvPicPr>
            <a:picLocks noChangeAspect="1" noChangeArrowheads="1"/>
          </p:cNvPicPr>
          <p:nvPr/>
        </p:nvPicPr>
        <p:blipFill>
          <a:blip r:embed="rId4" cstate="print">
            <a:duotone>
              <a:prstClr val="black"/>
              <a:srgbClr val="F3FBFE">
                <a:tint val="45000"/>
                <a:satMod val="400000"/>
              </a:srgbClr>
            </a:duotone>
            <a:extLst>
              <a:ext uri="{28A0092B-C50C-407E-A947-70E740481C1C}">
                <a14:useLocalDpi xmlns:a14="http://schemas.microsoft.com/office/drawing/2010/main" val="0"/>
              </a:ext>
            </a:extLst>
          </a:blip>
          <a:srcRect/>
          <a:stretch>
            <a:fillRect/>
          </a:stretch>
        </p:blipFill>
        <p:spPr bwMode="gray">
          <a:xfrm rot="10800000">
            <a:off x="646082" y="3104284"/>
            <a:ext cx="4767929" cy="406785"/>
          </a:xfrm>
          <a:prstGeom prst="rect">
            <a:avLst/>
          </a:prstGeom>
          <a:noFill/>
          <a:extLst>
            <a:ext uri="{909E8E84-426E-40DD-AFC4-6F175D3DCCD1}">
              <a14:hiddenFill xmlns:a14="http://schemas.microsoft.com/office/drawing/2010/main">
                <a:solidFill>
                  <a:srgbClr val="FFFFFF"/>
                </a:solidFill>
              </a14:hiddenFill>
            </a:ext>
          </a:extLst>
        </p:spPr>
      </p:pic>
      <p:cxnSp>
        <p:nvCxnSpPr>
          <p:cNvPr id="117" name="Straight Connector 199"/>
          <p:cNvCxnSpPr/>
          <p:nvPr/>
        </p:nvCxnSpPr>
        <p:spPr bwMode="gray">
          <a:xfrm flipH="1">
            <a:off x="4356760" y="3707950"/>
            <a:ext cx="0" cy="8288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8" name="图片 11" descr="开放网络-蓝.png"/>
          <p:cNvPicPr>
            <a:picLocks noChangeAspect="1"/>
          </p:cNvPicPr>
          <p:nvPr/>
        </p:nvPicPr>
        <p:blipFill>
          <a:blip r:embed="rId5"/>
          <a:stretch>
            <a:fillRect/>
          </a:stretch>
        </p:blipFill>
        <p:spPr bwMode="gray">
          <a:xfrm>
            <a:off x="852247" y="5224075"/>
            <a:ext cx="335054" cy="257919"/>
          </a:xfrm>
          <a:prstGeom prst="rect">
            <a:avLst/>
          </a:prstGeom>
        </p:spPr>
      </p:pic>
      <p:pic>
        <p:nvPicPr>
          <p:cNvPr id="119" name="图片 158" descr="SAN网络-蓝.png"/>
          <p:cNvPicPr>
            <a:picLocks noChangeAspect="1"/>
          </p:cNvPicPr>
          <p:nvPr/>
        </p:nvPicPr>
        <p:blipFill>
          <a:blip r:embed="rId6"/>
          <a:stretch>
            <a:fillRect/>
          </a:stretch>
        </p:blipFill>
        <p:spPr bwMode="gray">
          <a:xfrm>
            <a:off x="1933402" y="5216956"/>
            <a:ext cx="166121" cy="272157"/>
          </a:xfrm>
          <a:prstGeom prst="rect">
            <a:avLst/>
          </a:prstGeom>
        </p:spPr>
      </p:pic>
      <p:pic>
        <p:nvPicPr>
          <p:cNvPr id="120" name="图片 157" descr="故障链路.png"/>
          <p:cNvPicPr>
            <a:picLocks noChangeAspect="1"/>
          </p:cNvPicPr>
          <p:nvPr/>
        </p:nvPicPr>
        <p:blipFill>
          <a:blip r:embed="rId7"/>
          <a:stretch>
            <a:fillRect/>
          </a:stretch>
        </p:blipFill>
        <p:spPr bwMode="gray">
          <a:xfrm>
            <a:off x="1407944" y="5239387"/>
            <a:ext cx="304815" cy="227295"/>
          </a:xfrm>
          <a:prstGeom prst="rect">
            <a:avLst/>
          </a:prstGeom>
        </p:spPr>
      </p:pic>
      <p:sp>
        <p:nvSpPr>
          <p:cNvPr id="121" name="圆角矩形 75"/>
          <p:cNvSpPr/>
          <p:nvPr/>
        </p:nvSpPr>
        <p:spPr bwMode="gray">
          <a:xfrm>
            <a:off x="507446" y="3707950"/>
            <a:ext cx="2056918" cy="2201748"/>
          </a:xfrm>
          <a:prstGeom prst="roundRect">
            <a:avLst>
              <a:gd name="adj" fmla="val 2686"/>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22" name="Straight Connector 156"/>
          <p:cNvCxnSpPr/>
          <p:nvPr/>
        </p:nvCxnSpPr>
        <p:spPr bwMode="gray">
          <a:xfrm flipH="1">
            <a:off x="1530628" y="3707950"/>
            <a:ext cx="0" cy="12819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3" name="Group 157"/>
          <p:cNvGrpSpPr/>
          <p:nvPr/>
        </p:nvGrpSpPr>
        <p:grpSpPr bwMode="gray">
          <a:xfrm rot="10800000">
            <a:off x="804143" y="4450885"/>
            <a:ext cx="1470074" cy="466334"/>
            <a:chOff x="-1233037" y="914446"/>
            <a:chExt cx="1573823" cy="778776"/>
          </a:xfrm>
        </p:grpSpPr>
        <p:cxnSp>
          <p:nvCxnSpPr>
            <p:cNvPr id="124" name="Straight Connector 158"/>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59"/>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26"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1362980" y="3871970"/>
            <a:ext cx="335297" cy="274335"/>
          </a:xfrm>
          <a:prstGeom prst="rect">
            <a:avLst/>
          </a:prstGeom>
        </p:spPr>
      </p:pic>
      <p:pic>
        <p:nvPicPr>
          <p:cNvPr id="127" name="图片 76" descr="接入交换机.png"/>
          <p:cNvPicPr>
            <a:picLocks noChangeAspect="1"/>
          </p:cNvPicPr>
          <p:nvPr/>
        </p:nvPicPr>
        <p:blipFill>
          <a:blip r:embed="rId9"/>
          <a:stretch>
            <a:fillRect/>
          </a:stretch>
        </p:blipFill>
        <p:spPr bwMode="gray">
          <a:xfrm>
            <a:off x="1362980" y="4316751"/>
            <a:ext cx="335297" cy="274335"/>
          </a:xfrm>
          <a:prstGeom prst="rect">
            <a:avLst/>
          </a:prstGeom>
        </p:spPr>
      </p:pic>
      <p:pic>
        <p:nvPicPr>
          <p:cNvPr id="128" name="图片 105" descr="AP.png"/>
          <p:cNvPicPr>
            <a:picLocks noChangeAspect="1"/>
          </p:cNvPicPr>
          <p:nvPr/>
        </p:nvPicPr>
        <p:blipFill>
          <a:blip r:embed="rId10"/>
          <a:stretch>
            <a:fillRect/>
          </a:stretch>
        </p:blipFill>
        <p:spPr bwMode="gray">
          <a:xfrm>
            <a:off x="646082" y="4799455"/>
            <a:ext cx="335297" cy="274335"/>
          </a:xfrm>
          <a:prstGeom prst="rect">
            <a:avLst/>
          </a:prstGeom>
        </p:spPr>
      </p:pic>
      <p:pic>
        <p:nvPicPr>
          <p:cNvPr id="129" name="图片 105" descr="AP.png"/>
          <p:cNvPicPr>
            <a:picLocks noChangeAspect="1"/>
          </p:cNvPicPr>
          <p:nvPr/>
        </p:nvPicPr>
        <p:blipFill>
          <a:blip r:embed="rId10"/>
          <a:stretch>
            <a:fillRect/>
          </a:stretch>
        </p:blipFill>
        <p:spPr bwMode="gray">
          <a:xfrm>
            <a:off x="2090430" y="4799455"/>
            <a:ext cx="335297" cy="274335"/>
          </a:xfrm>
          <a:prstGeom prst="rect">
            <a:avLst/>
          </a:prstGeom>
        </p:spPr>
      </p:pic>
      <p:pic>
        <p:nvPicPr>
          <p:cNvPr id="130" name="图片 105" descr="AP.png"/>
          <p:cNvPicPr>
            <a:picLocks noChangeAspect="1"/>
          </p:cNvPicPr>
          <p:nvPr/>
        </p:nvPicPr>
        <p:blipFill>
          <a:blip r:embed="rId10"/>
          <a:stretch>
            <a:fillRect/>
          </a:stretch>
        </p:blipFill>
        <p:spPr bwMode="gray">
          <a:xfrm>
            <a:off x="1368256" y="4799455"/>
            <a:ext cx="335297" cy="274335"/>
          </a:xfrm>
          <a:prstGeom prst="rect">
            <a:avLst/>
          </a:prstGeom>
        </p:spPr>
      </p:pic>
      <p:pic>
        <p:nvPicPr>
          <p:cNvPr id="131" name="图片 158" descr="SAN网络-蓝.png"/>
          <p:cNvPicPr>
            <a:picLocks noChangeAspect="1"/>
          </p:cNvPicPr>
          <p:nvPr/>
        </p:nvPicPr>
        <p:blipFill>
          <a:blip r:embed="rId6"/>
          <a:stretch>
            <a:fillRect/>
          </a:stretch>
        </p:blipFill>
        <p:spPr bwMode="gray">
          <a:xfrm>
            <a:off x="4508380" y="4943544"/>
            <a:ext cx="166121" cy="272157"/>
          </a:xfrm>
          <a:prstGeom prst="rect">
            <a:avLst/>
          </a:prstGeom>
        </p:spPr>
      </p:pic>
      <p:pic>
        <p:nvPicPr>
          <p:cNvPr id="132" name="图片 157" descr="故障链路.png"/>
          <p:cNvPicPr>
            <a:picLocks noChangeAspect="1"/>
          </p:cNvPicPr>
          <p:nvPr/>
        </p:nvPicPr>
        <p:blipFill>
          <a:blip r:embed="rId7"/>
          <a:stretch>
            <a:fillRect/>
          </a:stretch>
        </p:blipFill>
        <p:spPr bwMode="gray">
          <a:xfrm>
            <a:off x="3982922" y="4965975"/>
            <a:ext cx="304815" cy="227295"/>
          </a:xfrm>
          <a:prstGeom prst="rect">
            <a:avLst/>
          </a:prstGeom>
        </p:spPr>
      </p:pic>
      <p:sp>
        <p:nvSpPr>
          <p:cNvPr id="133" name="圆角矩形 75"/>
          <p:cNvSpPr/>
          <p:nvPr/>
        </p:nvSpPr>
        <p:spPr bwMode="gray">
          <a:xfrm>
            <a:off x="3569472" y="3707950"/>
            <a:ext cx="1526595" cy="2201748"/>
          </a:xfrm>
          <a:prstGeom prst="roundRect">
            <a:avLst>
              <a:gd name="adj" fmla="val 2874"/>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34" name="图片 105" descr="AP.png"/>
          <p:cNvPicPr>
            <a:picLocks noChangeAspect="1"/>
          </p:cNvPicPr>
          <p:nvPr/>
        </p:nvPicPr>
        <p:blipFill>
          <a:blip r:embed="rId10"/>
          <a:stretch>
            <a:fillRect/>
          </a:stretch>
        </p:blipFill>
        <p:spPr bwMode="gray">
          <a:xfrm>
            <a:off x="4181238" y="4316751"/>
            <a:ext cx="335297" cy="274335"/>
          </a:xfrm>
          <a:prstGeom prst="rect">
            <a:avLst/>
          </a:prstGeom>
        </p:spPr>
      </p:pic>
      <p:sp>
        <p:nvSpPr>
          <p:cNvPr id="152" name="TextBox 212"/>
          <p:cNvSpPr txBox="1"/>
          <p:nvPr/>
        </p:nvSpPr>
        <p:spPr bwMode="gray">
          <a:xfrm>
            <a:off x="954815" y="3886027"/>
            <a:ext cx="428322"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TextBox 213"/>
          <p:cNvSpPr txBox="1"/>
          <p:nvPr/>
        </p:nvSpPr>
        <p:spPr bwMode="gray">
          <a:xfrm>
            <a:off x="962143" y="4323700"/>
            <a:ext cx="429926"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TextBox 214"/>
          <p:cNvSpPr txBox="1"/>
          <p:nvPr/>
        </p:nvSpPr>
        <p:spPr bwMode="gray">
          <a:xfrm>
            <a:off x="624241" y="4556359"/>
            <a:ext cx="383439"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TextBox 215"/>
          <p:cNvSpPr txBox="1"/>
          <p:nvPr/>
        </p:nvSpPr>
        <p:spPr bwMode="gray">
          <a:xfrm>
            <a:off x="4151826" y="4580853"/>
            <a:ext cx="383439"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1"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774600" y="4316751"/>
            <a:ext cx="335297" cy="274335"/>
          </a:xfrm>
          <a:prstGeom prst="rect">
            <a:avLst/>
          </a:prstGeom>
        </p:spPr>
      </p:pic>
      <p:pic>
        <p:nvPicPr>
          <p:cNvPr id="162" name="Picture 2" descr="G:\做的项目\公共\扁平图标切换\更新2015_01_21\oss扁平图标库2015_01_21更新-04.png"/>
          <p:cNvPicPr>
            <a:picLocks noChangeAspect="1" noChangeArrowheads="1"/>
          </p:cNvPicPr>
          <p:nvPr/>
        </p:nvPicPr>
        <p:blipFill>
          <a:blip r:embed="rId11"/>
          <a:stretch>
            <a:fillRect/>
          </a:stretch>
        </p:blipFill>
        <p:spPr bwMode="gray">
          <a:xfrm>
            <a:off x="4586803" y="4318681"/>
            <a:ext cx="335386" cy="270474"/>
          </a:xfrm>
          <a:prstGeom prst="rect">
            <a:avLst/>
          </a:prstGeom>
          <a:noFill/>
        </p:spPr>
      </p:pic>
      <p:sp>
        <p:nvSpPr>
          <p:cNvPr id="163" name="TextBox 225"/>
          <p:cNvSpPr txBox="1"/>
          <p:nvPr/>
        </p:nvSpPr>
        <p:spPr bwMode="gray">
          <a:xfrm>
            <a:off x="3732151" y="4580853"/>
            <a:ext cx="428322"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TextBox 226"/>
          <p:cNvSpPr txBox="1"/>
          <p:nvPr/>
        </p:nvSpPr>
        <p:spPr bwMode="gray">
          <a:xfrm>
            <a:off x="4559570" y="4580853"/>
            <a:ext cx="389851"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2" name="Picture 2" descr="G:\做的项目\公共\扁平图标切换\更新2015_01_21\oss扁平图标库2015_01_21更新-04.png"/>
          <p:cNvPicPr>
            <a:picLocks noChangeAspect="1" noChangeArrowheads="1"/>
          </p:cNvPicPr>
          <p:nvPr/>
        </p:nvPicPr>
        <p:blipFill>
          <a:blip r:embed="rId11"/>
          <a:stretch>
            <a:fillRect/>
          </a:stretch>
        </p:blipFill>
        <p:spPr bwMode="gray">
          <a:xfrm>
            <a:off x="1767128" y="3870889"/>
            <a:ext cx="335386" cy="270474"/>
          </a:xfrm>
          <a:prstGeom prst="rect">
            <a:avLst/>
          </a:prstGeom>
          <a:noFill/>
        </p:spPr>
      </p:pic>
      <p:sp>
        <p:nvSpPr>
          <p:cNvPr id="193" name="TextBox 292"/>
          <p:cNvSpPr txBox="1"/>
          <p:nvPr/>
        </p:nvSpPr>
        <p:spPr bwMode="gray">
          <a:xfrm>
            <a:off x="2047771" y="3886027"/>
            <a:ext cx="389851"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TextBox 300"/>
          <p:cNvSpPr txBox="1"/>
          <p:nvPr/>
        </p:nvSpPr>
        <p:spPr bwMode="gray">
          <a:xfrm>
            <a:off x="5096067" y="3715066"/>
            <a:ext cx="999933" cy="2201748"/>
          </a:xfrm>
          <a:prstGeom prst="roundRect">
            <a:avLst>
              <a:gd name="adj" fmla="val 7589"/>
            </a:avLst>
          </a:prstGeom>
          <a:noFill/>
          <a:ln>
            <a:noFill/>
          </a:ln>
        </p:spPr>
        <p:txBody>
          <a:bodyPr wrap="square" rtlCol="0" anchor="ctr" anchorCtr="0">
            <a:noAutofit/>
          </a:bodyPr>
          <a:lstStyle>
            <a:defPPr>
              <a:defRPr lang="en-US"/>
            </a:defPPr>
            <a:lvl1pPr algn="ctr">
              <a:defRPr sz="1100" b="1">
                <a:solidFill>
                  <a:prstClr val="white"/>
                </a:solidFill>
              </a:defRPr>
            </a:lvl1pPr>
          </a:lstStyle>
          <a:p>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中小型园区网络</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5" name="Straight Connector 294"/>
          <p:cNvCxnSpPr/>
          <p:nvPr/>
        </p:nvCxnSpPr>
        <p:spPr bwMode="gray">
          <a:xfrm>
            <a:off x="498850" y="3601922"/>
            <a:ext cx="5537186"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02" name="任意多边形 201"/>
          <p:cNvSpPr>
            <a:spLocks noChangeAspect="1"/>
          </p:cNvSpPr>
          <p:nvPr/>
        </p:nvSpPr>
        <p:spPr bwMode="gray">
          <a:xfrm>
            <a:off x="1162688" y="3282444"/>
            <a:ext cx="720000" cy="48141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任意多边形 203"/>
          <p:cNvSpPr>
            <a:spLocks noChangeAspect="1"/>
          </p:cNvSpPr>
          <p:nvPr/>
        </p:nvSpPr>
        <p:spPr bwMode="gray">
          <a:xfrm>
            <a:off x="3978569" y="3282444"/>
            <a:ext cx="720000" cy="48141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椭圆 205">
            <a:extLst>
              <a:ext uri="{FF2B5EF4-FFF2-40B4-BE49-F238E27FC236}">
                <a16:creationId xmlns="" xmlns:a16="http://schemas.microsoft.com/office/drawing/2014/main" id="{C18BF2A6-AE29-462A-ADEF-0C57DE6990E0}"/>
              </a:ext>
            </a:extLst>
          </p:cNvPr>
          <p:cNvSpPr>
            <a:spLocks noChangeAspect="1"/>
          </p:cNvSpPr>
          <p:nvPr/>
        </p:nvSpPr>
        <p:spPr bwMode="gray">
          <a:xfrm>
            <a:off x="2754405" y="4774800"/>
            <a:ext cx="108000" cy="108000"/>
          </a:xfrm>
          <a:prstGeom prst="ellipse">
            <a:avLst/>
          </a:prstGeom>
          <a:solidFill>
            <a:srgbClr val="E5E6E6"/>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smtClean="0">
              <a:ln>
                <a:noFill/>
              </a:ln>
              <a:solidFill>
                <a:prstClr val="black"/>
              </a:solidFill>
              <a:effectLst/>
              <a:uLnTx/>
              <a:uFillTx/>
              <a:latin typeface="Huawei Sans"/>
              <a:ea typeface="方正兰亭黑简体"/>
              <a:cs typeface="+mn-cs"/>
            </a:endParaRPr>
          </a:p>
        </p:txBody>
      </p:sp>
      <p:sp>
        <p:nvSpPr>
          <p:cNvPr id="208" name="椭圆 207">
            <a:extLst>
              <a:ext uri="{FF2B5EF4-FFF2-40B4-BE49-F238E27FC236}">
                <a16:creationId xmlns="" xmlns:a16="http://schemas.microsoft.com/office/drawing/2014/main" id="{C18BF2A6-AE29-462A-ADEF-0C57DE6990E0}"/>
              </a:ext>
            </a:extLst>
          </p:cNvPr>
          <p:cNvSpPr>
            <a:spLocks noChangeAspect="1"/>
          </p:cNvSpPr>
          <p:nvPr/>
        </p:nvSpPr>
        <p:spPr bwMode="gray">
          <a:xfrm>
            <a:off x="3001101" y="4774800"/>
            <a:ext cx="108000" cy="108000"/>
          </a:xfrm>
          <a:prstGeom prst="ellipse">
            <a:avLst/>
          </a:prstGeom>
          <a:solidFill>
            <a:srgbClr val="E5E6E6"/>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smtClean="0">
              <a:ln>
                <a:noFill/>
              </a:ln>
              <a:solidFill>
                <a:prstClr val="black"/>
              </a:solidFill>
              <a:effectLst/>
              <a:uLnTx/>
              <a:uFillTx/>
              <a:latin typeface="Huawei Sans"/>
              <a:ea typeface="方正兰亭黑简体"/>
              <a:cs typeface="+mn-cs"/>
            </a:endParaRPr>
          </a:p>
        </p:txBody>
      </p:sp>
      <p:sp>
        <p:nvSpPr>
          <p:cNvPr id="209" name="椭圆 208">
            <a:extLst>
              <a:ext uri="{FF2B5EF4-FFF2-40B4-BE49-F238E27FC236}">
                <a16:creationId xmlns="" xmlns:a16="http://schemas.microsoft.com/office/drawing/2014/main" id="{C18BF2A6-AE29-462A-ADEF-0C57DE6990E0}"/>
              </a:ext>
            </a:extLst>
          </p:cNvPr>
          <p:cNvSpPr>
            <a:spLocks noChangeAspect="1"/>
          </p:cNvSpPr>
          <p:nvPr/>
        </p:nvSpPr>
        <p:spPr bwMode="gray">
          <a:xfrm>
            <a:off x="3247797" y="4774800"/>
            <a:ext cx="108000" cy="108000"/>
          </a:xfrm>
          <a:prstGeom prst="ellipse">
            <a:avLst/>
          </a:prstGeom>
          <a:solidFill>
            <a:srgbClr val="E5E6E6"/>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500" b="1" i="0" u="none" strike="noStrike" kern="0" cap="none" spc="0" normalizeH="0" baseline="0" noProof="0" smtClean="0">
              <a:ln>
                <a:noFill/>
              </a:ln>
              <a:solidFill>
                <a:prstClr val="black"/>
              </a:solidFill>
              <a:effectLst/>
              <a:uLnTx/>
              <a:uFillTx/>
              <a:latin typeface="Huawei Sans"/>
              <a:ea typeface="方正兰亭黑简体"/>
              <a:cs typeface="+mn-cs"/>
            </a:endParaRPr>
          </a:p>
        </p:txBody>
      </p:sp>
      <p:grpSp>
        <p:nvGrpSpPr>
          <p:cNvPr id="220" name="组合 219"/>
          <p:cNvGrpSpPr/>
          <p:nvPr/>
        </p:nvGrpSpPr>
        <p:grpSpPr bwMode="gray">
          <a:xfrm>
            <a:off x="1482044" y="1822116"/>
            <a:ext cx="792000" cy="500298"/>
            <a:chOff x="1482044" y="1830483"/>
            <a:chExt cx="792000" cy="500298"/>
          </a:xfrm>
        </p:grpSpPr>
        <p:sp>
          <p:nvSpPr>
            <p:cNvPr id="211" name="TextBox 179"/>
            <p:cNvSpPr txBox="1"/>
            <p:nvPr/>
          </p:nvSpPr>
          <p:spPr bwMode="gray">
            <a:xfrm>
              <a:off x="1482044" y="1830483"/>
              <a:ext cx="792000" cy="221182"/>
            </a:xfrm>
            <a:prstGeom prst="rect">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5" name="TextBox 179"/>
            <p:cNvSpPr txBox="1"/>
            <p:nvPr/>
          </p:nvSpPr>
          <p:spPr bwMode="gray">
            <a:xfrm>
              <a:off x="1482044" y="2109599"/>
              <a:ext cx="792000" cy="221182"/>
            </a:xfrm>
            <a:prstGeom prst="rect">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设备配置</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22" name="组合 221"/>
          <p:cNvGrpSpPr/>
          <p:nvPr/>
        </p:nvGrpSpPr>
        <p:grpSpPr bwMode="gray">
          <a:xfrm>
            <a:off x="3416204" y="1519815"/>
            <a:ext cx="1080000" cy="802599"/>
            <a:chOff x="3416204" y="1571892"/>
            <a:chExt cx="1080000" cy="802599"/>
          </a:xfrm>
        </p:grpSpPr>
        <p:sp>
          <p:nvSpPr>
            <p:cNvPr id="212" name="TextBox 179"/>
            <p:cNvSpPr txBox="1"/>
            <p:nvPr/>
          </p:nvSpPr>
          <p:spPr bwMode="gray">
            <a:xfrm>
              <a:off x="3416204" y="1571892"/>
              <a:ext cx="792000" cy="221182"/>
            </a:xfrm>
            <a:prstGeom prst="rect">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用户管理</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6" name="TextBox 179"/>
            <p:cNvSpPr txBox="1"/>
            <p:nvPr/>
          </p:nvSpPr>
          <p:spPr bwMode="gray">
            <a:xfrm>
              <a:off x="3416204" y="1851008"/>
              <a:ext cx="792000" cy="221182"/>
            </a:xfrm>
            <a:prstGeom prst="rect">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站点间</a:t>
              </a:r>
              <a:r>
                <a:rPr lang="en-US" altLang="zh-CN"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VPN</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7" name="TextBox 179"/>
            <p:cNvSpPr txBox="1"/>
            <p:nvPr/>
          </p:nvSpPr>
          <p:spPr bwMode="gray">
            <a:xfrm>
              <a:off x="3416204" y="2153309"/>
              <a:ext cx="1080000" cy="221182"/>
            </a:xfrm>
            <a:prstGeom prst="rect">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页面定制</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18" name="TextBox 179"/>
          <p:cNvSpPr txBox="1"/>
          <p:nvPr/>
        </p:nvSpPr>
        <p:spPr bwMode="gray">
          <a:xfrm>
            <a:off x="2437622" y="1310226"/>
            <a:ext cx="792000" cy="221182"/>
          </a:xfrm>
          <a:prstGeom prst="rect">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无线体验</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9" name="TextBox 179"/>
          <p:cNvSpPr txBox="1"/>
          <p:nvPr/>
        </p:nvSpPr>
        <p:spPr bwMode="gray">
          <a:xfrm>
            <a:off x="2437622" y="1589342"/>
            <a:ext cx="792000" cy="221182"/>
          </a:xfrm>
          <a:prstGeom prst="rect">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客流分析</a:t>
            </a:r>
            <a:endParaRPr lang="zh-CN" altLang="en-US"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3" name="圆角矩形 222"/>
          <p:cNvSpPr/>
          <p:nvPr/>
        </p:nvSpPr>
        <p:spPr bwMode="gray">
          <a:xfrm>
            <a:off x="6172201" y="1891448"/>
            <a:ext cx="5469936" cy="399600"/>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提高管理、运维效率</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4" name="圆角矩形 223"/>
          <p:cNvSpPr/>
          <p:nvPr/>
        </p:nvSpPr>
        <p:spPr bwMode="gray">
          <a:xfrm>
            <a:off x="6172200" y="2344348"/>
            <a:ext cx="5469938" cy="253926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marL="177800" indent="-177800" algn="just">
              <a:lnSpc>
                <a:spcPts val="2400"/>
              </a:lnSpc>
              <a:spcAft>
                <a:spcPts val="3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设备上线之后，所有配置、业务下发均可在</a:t>
            </a:r>
            <a:r>
              <a:rPr lang="en-US" altLang="zh-CN" sz="1400" dirty="0" err="1"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上完成，通过</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NETCONF</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协议将配置下发到分支站点设备，无需命令行操作，降低站点运维</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管理人员技术门槛。</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智能化分析并展示分支</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、站点运行状态，站点健康状态一览无余。</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运行</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状态监控、智能分析、远程运维，运维人员无需奔波于站点之间，提高运维效率、降低运维成本。</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400"/>
              </a:lnSpc>
              <a:spcAft>
                <a:spcPts val="3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5" name="矩形 224">
            <a:extLst>
              <a:ext uri="{FF2B5EF4-FFF2-40B4-BE49-F238E27FC236}">
                <a16:creationId xmlns="" xmlns:a16="http://schemas.microsoft.com/office/drawing/2014/main" id="{11022EDE-66FF-4E73-BF11-5BDB37C5F816}"/>
              </a:ext>
            </a:extLst>
          </p:cNvPr>
          <p:cNvSpPr/>
          <p:nvPr/>
        </p:nvSpPr>
        <p:spPr bwMode="gray">
          <a:xfrm>
            <a:off x="2314777" y="3141311"/>
            <a:ext cx="1407758" cy="276999"/>
          </a:xfrm>
          <a:prstGeom prst="rect">
            <a:avLst/>
          </a:prstGeom>
          <a:noFill/>
          <a:ln>
            <a:noFill/>
          </a:ln>
          <a:effectLst/>
        </p:spPr>
        <p:txBody>
          <a:bodyPr wrap="none">
            <a:spAutoFit/>
          </a:bodyPr>
          <a:lstStyle/>
          <a:p>
            <a:pPr algn="ctr"/>
            <a:r>
              <a:rPr lang="en-US" altLang="zh-CN" sz="1200" b="1" dirty="0" smtClean="0">
                <a:solidFill>
                  <a:prstClr val="white"/>
                </a:solidFill>
                <a:cs typeface="Arial" panose="020B0604020202020204" pitchFamily="34" charset="0"/>
              </a:rPr>
              <a:t>NETCONF/YANG</a:t>
            </a:r>
            <a:endParaRPr lang="en-US" altLang="zh-CN" sz="1200" b="1" dirty="0">
              <a:solidFill>
                <a:prstClr val="white"/>
              </a:solidFill>
              <a:cs typeface="Arial" panose="020B0604020202020204" pitchFamily="34" charset="0"/>
            </a:endParaRPr>
          </a:p>
        </p:txBody>
      </p:sp>
    </p:spTree>
    <p:extLst>
      <p:ext uri="{BB962C8B-B14F-4D97-AF65-F5344CB8AC3E}">
        <p14:creationId xmlns:p14="http://schemas.microsoft.com/office/powerpoint/2010/main" val="1935288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mtClean="0"/>
              <a:t>CloudCampus</a:t>
            </a:r>
            <a:r>
              <a:rPr lang="zh-CN" altLang="en-US" smtClean="0"/>
              <a:t>中小型云管理园区亮点功能</a:t>
            </a:r>
            <a:endParaRPr lang="zh-CN" altLang="en-US" dirty="0"/>
          </a:p>
        </p:txBody>
      </p:sp>
      <p:sp>
        <p:nvSpPr>
          <p:cNvPr id="3" name="文本占位符 2"/>
          <p:cNvSpPr>
            <a:spLocks noGrp="1"/>
          </p:cNvSpPr>
          <p:nvPr>
            <p:ph type="body" sz="quarter" idx="10"/>
          </p:nvPr>
        </p:nvSpPr>
        <p:spPr>
          <a:prstGeom prst="rect">
            <a:avLst/>
          </a:prstGeom>
        </p:spPr>
        <p:txBody>
          <a:bodyPr/>
          <a:lstStyle/>
          <a:p>
            <a:r>
              <a:rPr lang="zh-CN" altLang="en-US" sz="1800" b="1" dirty="0" smtClean="0"/>
              <a:t>自动部署</a:t>
            </a:r>
            <a:r>
              <a:rPr lang="zh-CN" altLang="en-US" sz="1800" dirty="0" smtClean="0"/>
              <a:t>，设备能够实现简单快捷的部署。</a:t>
            </a:r>
          </a:p>
          <a:p>
            <a:r>
              <a:rPr lang="zh-CN" altLang="en-US" sz="1800" b="1" dirty="0" smtClean="0"/>
              <a:t>云网规和移动化运维</a:t>
            </a:r>
            <a:r>
              <a:rPr lang="zh-CN" altLang="en-US" sz="1800" dirty="0" smtClean="0"/>
              <a:t>，简化</a:t>
            </a:r>
            <a:r>
              <a:rPr lang="en-US" altLang="zh-CN" sz="1800" dirty="0" smtClean="0"/>
              <a:t>WLAN</a:t>
            </a:r>
            <a:r>
              <a:rPr lang="zh-CN" altLang="en-US" sz="1800" dirty="0" smtClean="0"/>
              <a:t>网络设计和设备运维。</a:t>
            </a:r>
          </a:p>
          <a:p>
            <a:r>
              <a:rPr lang="zh-CN" altLang="en-US" sz="1800" b="1" dirty="0" smtClean="0"/>
              <a:t>丰富的产品组合</a:t>
            </a:r>
            <a:r>
              <a:rPr lang="zh-CN" altLang="en-US" sz="1800" dirty="0" smtClean="0"/>
              <a:t>，目前企业网络产品线的全系列网络设备（交换机、防火墙、</a:t>
            </a:r>
            <a:r>
              <a:rPr lang="en-US" altLang="zh-CN" sz="1800" dirty="0" smtClean="0"/>
              <a:t>AR</a:t>
            </a:r>
            <a:r>
              <a:rPr lang="zh-CN" altLang="en-US" sz="1800" dirty="0" smtClean="0"/>
              <a:t>、</a:t>
            </a:r>
            <a:r>
              <a:rPr lang="en-US" altLang="zh-CN" sz="1800" dirty="0" smtClean="0"/>
              <a:t>AP</a:t>
            </a:r>
            <a:r>
              <a:rPr lang="zh-CN" altLang="en-US" sz="1800" dirty="0" smtClean="0"/>
              <a:t>）都有款型进行配套，可以提供更为丰富的产品组合以便满足不同租户的网络使用。</a:t>
            </a:r>
          </a:p>
          <a:p>
            <a:r>
              <a:rPr lang="zh-CN" altLang="en-US" sz="1800" b="1" dirty="0" smtClean="0"/>
              <a:t>双栈平台</a:t>
            </a:r>
            <a:r>
              <a:rPr lang="zh-CN" altLang="en-US" sz="1800" dirty="0" smtClean="0"/>
              <a:t>，配套的网络设备都支持双栈，兼顾了云管理和传统模式，并可以支持租户对传统设备升级后进行云管理。</a:t>
            </a:r>
          </a:p>
          <a:p>
            <a:r>
              <a:rPr lang="zh-CN" altLang="en-US" sz="1800" b="1" dirty="0" smtClean="0"/>
              <a:t>增值业务</a:t>
            </a:r>
            <a:r>
              <a:rPr lang="zh-CN" altLang="en-US" sz="1800" dirty="0" smtClean="0"/>
              <a:t>，终端行为分析是</a:t>
            </a:r>
            <a:r>
              <a:rPr lang="en-US" altLang="zh-CN" sz="1800" dirty="0" err="1" smtClean="0"/>
              <a:t>iMaster</a:t>
            </a:r>
            <a:r>
              <a:rPr lang="en-US" altLang="zh-CN" sz="1800" dirty="0" smtClean="0"/>
              <a:t> NCE-Campus</a:t>
            </a:r>
            <a:r>
              <a:rPr lang="zh-CN" altLang="en-US" sz="1800" dirty="0" smtClean="0"/>
              <a:t>中的一种增值应用，可以在此基础上开展更丰富的增值业务。</a:t>
            </a:r>
          </a:p>
          <a:p>
            <a:endParaRPr lang="zh-CN" altLang="en-US" sz="1800" dirty="0"/>
          </a:p>
        </p:txBody>
      </p:sp>
    </p:spTree>
    <p:extLst>
      <p:ext uri="{BB962C8B-B14F-4D97-AF65-F5344CB8AC3E}">
        <p14:creationId xmlns:p14="http://schemas.microsoft.com/office/powerpoint/2010/main" val="41144434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pPr lvl="0"/>
            <a:r>
              <a:rPr lang="zh-CN" altLang="en-US" dirty="0" smtClean="0">
                <a:solidFill>
                  <a:schemeClr val="bg1">
                    <a:lumMod val="50000"/>
                  </a:schemeClr>
                </a:solidFill>
                <a:sym typeface="+mn-lt"/>
              </a:rPr>
              <a:t>中小型园区网络趋势与挑战</a:t>
            </a:r>
            <a:endParaRPr lang="en-US" altLang="zh-CN" dirty="0" smtClean="0">
              <a:solidFill>
                <a:schemeClr val="bg1">
                  <a:lumMod val="50000"/>
                </a:schemeClr>
              </a:solidFill>
              <a:sym typeface="+mn-lt"/>
            </a:endParaRPr>
          </a:p>
          <a:p>
            <a:r>
              <a:rPr lang="en-US" altLang="zh-CN" dirty="0" smtClean="0">
                <a:solidFill>
                  <a:schemeClr val="bg1">
                    <a:lumMod val="50000"/>
                  </a:schemeClr>
                </a:solidFill>
                <a:sym typeface="+mn-lt"/>
              </a:rPr>
              <a:t>CloudCampus</a:t>
            </a:r>
            <a:r>
              <a:rPr lang="zh-CN" altLang="en-US" dirty="0">
                <a:solidFill>
                  <a:schemeClr val="bg1">
                    <a:lumMod val="50000"/>
                  </a:schemeClr>
                </a:solidFill>
                <a:sym typeface="+mn-lt"/>
              </a:rPr>
              <a:t>中小型云管理园区方案</a:t>
            </a:r>
            <a:r>
              <a:rPr lang="zh-CN" altLang="en-US" dirty="0" smtClean="0">
                <a:solidFill>
                  <a:schemeClr val="bg1">
                    <a:lumMod val="50000"/>
                  </a:schemeClr>
                </a:solidFill>
                <a:sym typeface="+mn-lt"/>
              </a:rPr>
              <a:t>概述</a:t>
            </a:r>
          </a:p>
          <a:p>
            <a:r>
              <a:rPr lang="zh-CN" altLang="en-US" b="1" dirty="0" smtClean="0">
                <a:sym typeface="+mn-lt"/>
              </a:rPr>
              <a:t>中小型</a:t>
            </a:r>
            <a:r>
              <a:rPr lang="zh-CN" altLang="en-US" b="1" dirty="0">
                <a:sym typeface="+mn-lt"/>
              </a:rPr>
              <a:t>云管理园区网络设计</a:t>
            </a:r>
          </a:p>
          <a:p>
            <a:endParaRPr lang="zh-CN" altLang="en-US" b="1" dirty="0" smtClean="0">
              <a:sym typeface="+mn-lt"/>
            </a:endParaRPr>
          </a:p>
          <a:p>
            <a:endParaRPr lang="en-US" altLang="zh-CN" dirty="0" smtClean="0">
              <a:sym typeface="+mn-lt"/>
            </a:endParaRPr>
          </a:p>
        </p:txBody>
      </p:sp>
    </p:spTree>
    <p:extLst>
      <p:ext uri="{BB962C8B-B14F-4D97-AF65-F5344CB8AC3E}">
        <p14:creationId xmlns:p14="http://schemas.microsoft.com/office/powerpoint/2010/main" val="27846482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75000"/>
                  </a:schemeClr>
                </a:solidFill>
              </a:defRPr>
            </a:lvl1pPr>
          </a:lstStyle>
          <a:p>
            <a:r>
              <a:rPr lang="zh-CN" altLang="en-US">
                <a:solidFill>
                  <a:schemeClr val="bg1">
                    <a:lumMod val="50000"/>
                  </a:schemeClr>
                </a:solidFill>
                <a:cs typeface="+mn-ea"/>
                <a:sym typeface="+mn-lt"/>
              </a:rPr>
              <a:t>组网设计</a:t>
            </a:r>
          </a:p>
        </p:txBody>
      </p:sp>
      <p:sp>
        <p:nvSpPr>
          <p:cNvPr id="39" name="TextBox 303"/>
          <p:cNvSpPr txBox="1"/>
          <p:nvPr/>
        </p:nvSpPr>
        <p:spPr bwMode="gray">
          <a:xfrm>
            <a:off x="731838" y="4019456"/>
            <a:ext cx="912236" cy="1429126"/>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75000"/>
                  </a:schemeClr>
                </a:solidFill>
              </a:defRPr>
            </a:lvl1pPr>
          </a:lstStyle>
          <a:p>
            <a:r>
              <a:rPr lang="zh-CN" altLang="en-US">
                <a:solidFill>
                  <a:schemeClr val="bg1">
                    <a:lumMod val="50000"/>
                  </a:schemeClr>
                </a:solidFill>
                <a:cs typeface="+mn-ea"/>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White">
          <a:xfrm>
            <a:off x="2113280" y="1649828"/>
            <a:ext cx="3060000" cy="360000"/>
          </a:xfrm>
          <a:prstGeom prst="homePlate">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cs typeface="+mn-ea"/>
                <a:sym typeface="+mn-lt"/>
              </a:rPr>
              <a:t>网络管理模式设计</a:t>
            </a:r>
          </a:p>
        </p:txBody>
      </p:sp>
      <p:sp>
        <p:nvSpPr>
          <p:cNvPr id="46" name="燕尾形 45"/>
          <p:cNvSpPr/>
          <p:nvPr/>
        </p:nvSpPr>
        <p:spPr bwMode="grayWhite">
          <a:xfrm>
            <a:off x="5071983" y="1649828"/>
            <a:ext cx="3060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cs typeface="+mn-ea"/>
                <a:sym typeface="+mn-lt"/>
              </a:rPr>
              <a:t>网络运维模式设计</a:t>
            </a:r>
          </a:p>
        </p:txBody>
      </p:sp>
      <p:sp>
        <p:nvSpPr>
          <p:cNvPr id="47" name="燕尾形 46"/>
          <p:cNvSpPr/>
          <p:nvPr/>
        </p:nvSpPr>
        <p:spPr bwMode="grayWhite">
          <a:xfrm>
            <a:off x="8030686" y="1649828"/>
            <a:ext cx="3060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cs typeface="+mn-ea"/>
                <a:sym typeface="+mn-lt"/>
              </a:rPr>
              <a:t>License</a:t>
            </a:r>
            <a:r>
              <a:rPr lang="zh-CN" altLang="en-US" sz="1600">
                <a:solidFill>
                  <a:schemeClr val="tx1"/>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21" name="燕尾形 20"/>
          <p:cNvSpPr/>
          <p:nvPr/>
        </p:nvSpPr>
        <p:spPr bwMode="gray">
          <a:xfrm>
            <a:off x="8786686"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
        <p:nvSpPr>
          <p:cNvPr id="22" name="五边形 21"/>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23" name="燕尾形 22"/>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网络开局设计</a:t>
            </a:r>
          </a:p>
        </p:txBody>
      </p:sp>
      <p:sp>
        <p:nvSpPr>
          <p:cNvPr id="24" name="燕尾形 23"/>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25" name="燕尾形 24"/>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30" name="五边形 29"/>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Tree>
    <p:extLst>
      <p:ext uri="{BB962C8B-B14F-4D97-AF65-F5344CB8AC3E}">
        <p14:creationId xmlns:p14="http://schemas.microsoft.com/office/powerpoint/2010/main" val="950510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mn-lt"/>
              </a:rPr>
              <a:t>网络管理模式设计</a:t>
            </a:r>
            <a:endParaRPr lang="zh-CN" altLang="en-US">
              <a:sym typeface="+mn-lt"/>
            </a:endParaRPr>
          </a:p>
        </p:txBody>
      </p:sp>
      <p:sp>
        <p:nvSpPr>
          <p:cNvPr id="3" name="文本占位符 2"/>
          <p:cNvSpPr>
            <a:spLocks noGrp="1"/>
          </p:cNvSpPr>
          <p:nvPr>
            <p:ph type="body" sz="quarter" idx="10"/>
          </p:nvPr>
        </p:nvSpPr>
        <p:spPr>
          <a:xfrm>
            <a:off x="455612" y="1047750"/>
            <a:ext cx="11293475" cy="469855"/>
          </a:xfrm>
        </p:spPr>
        <p:txBody>
          <a:bodyPr/>
          <a:lstStyle/>
          <a:p>
            <a:r>
              <a:rPr lang="zh-CN" altLang="en-US" sz="1800" dirty="0" smtClean="0">
                <a:sym typeface="+mn-lt"/>
              </a:rPr>
              <a:t>设计要点：管理模式采用云管理模式还是本地部署模式？</a:t>
            </a:r>
            <a:endParaRPr lang="zh-CN" altLang="en-US" sz="1800" dirty="0">
              <a:sym typeface="+mn-lt"/>
            </a:endParaRPr>
          </a:p>
        </p:txBody>
      </p:sp>
      <p:sp>
        <p:nvSpPr>
          <p:cNvPr id="9" name="矩形 8"/>
          <p:cNvSpPr/>
          <p:nvPr/>
        </p:nvSpPr>
        <p:spPr bwMode="gray">
          <a:xfrm>
            <a:off x="831180" y="4722424"/>
            <a:ext cx="10628983" cy="612620"/>
          </a:xfrm>
          <a:prstGeom prst="rect">
            <a:avLst/>
          </a:prstGeom>
          <a:gradFill flip="none" rotWithShape="1">
            <a:gsLst>
              <a:gs pos="100000">
                <a:schemeClr val="bg1"/>
              </a:gs>
              <a:gs pos="0">
                <a:schemeClr val="bg1">
                  <a:lumMod val="95000"/>
                </a:schemeClr>
              </a:gs>
            </a:gsLst>
            <a:lin ang="0" scaled="1"/>
            <a:tileRect/>
          </a:gradFill>
          <a:ln w="9525">
            <a:gradFill flip="none" rotWithShape="1">
              <a:gsLst>
                <a:gs pos="32000">
                  <a:schemeClr val="bg1">
                    <a:lumMod val="65000"/>
                  </a:schemeClr>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cs typeface="+mn-ea"/>
              <a:sym typeface="+mn-lt"/>
            </a:endParaRPr>
          </a:p>
        </p:txBody>
      </p:sp>
      <p:sp>
        <p:nvSpPr>
          <p:cNvPr id="10" name="矩形 9"/>
          <p:cNvSpPr/>
          <p:nvPr/>
        </p:nvSpPr>
        <p:spPr bwMode="gray">
          <a:xfrm>
            <a:off x="831180" y="3009379"/>
            <a:ext cx="10628983" cy="1555673"/>
          </a:xfrm>
          <a:prstGeom prst="rect">
            <a:avLst/>
          </a:prstGeom>
          <a:gradFill flip="none" rotWithShape="1">
            <a:gsLst>
              <a:gs pos="100000">
                <a:schemeClr val="bg1"/>
              </a:gs>
              <a:gs pos="0">
                <a:schemeClr val="bg1">
                  <a:lumMod val="95000"/>
                </a:schemeClr>
              </a:gs>
            </a:gsLst>
            <a:lin ang="0" scaled="1"/>
            <a:tileRect/>
          </a:gradFill>
          <a:ln w="9525">
            <a:gradFill flip="none" rotWithShape="1">
              <a:gsLst>
                <a:gs pos="32000">
                  <a:schemeClr val="bg1">
                    <a:lumMod val="65000"/>
                  </a:schemeClr>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cs typeface="+mn-ea"/>
              <a:sym typeface="+mn-lt"/>
            </a:endParaRPr>
          </a:p>
        </p:txBody>
      </p:sp>
      <p:grpSp>
        <p:nvGrpSpPr>
          <p:cNvPr id="11" name="组合 10"/>
          <p:cNvGrpSpPr/>
          <p:nvPr/>
        </p:nvGrpSpPr>
        <p:grpSpPr bwMode="gray">
          <a:xfrm>
            <a:off x="3213960" y="1962943"/>
            <a:ext cx="6682612" cy="662720"/>
            <a:chOff x="3619759" y="1766954"/>
            <a:chExt cx="6685222" cy="662979"/>
          </a:xfrm>
        </p:grpSpPr>
        <p:cxnSp>
          <p:nvCxnSpPr>
            <p:cNvPr id="12" name="直接连接符 11"/>
            <p:cNvCxnSpPr/>
            <p:nvPr/>
          </p:nvCxnSpPr>
          <p:spPr bwMode="gray">
            <a:xfrm>
              <a:off x="3619759" y="1923182"/>
              <a:ext cx="0" cy="488347"/>
            </a:xfrm>
            <a:prstGeom prst="line">
              <a:avLst/>
            </a:prstGeom>
            <a:noFill/>
            <a:ln w="12700" cap="flat" cmpd="sng" algn="ctr">
              <a:solidFill>
                <a:srgbClr val="94DAE2"/>
              </a:solidFill>
              <a:prstDash val="solid"/>
              <a:miter lim="800000"/>
            </a:ln>
            <a:effectLst/>
          </p:spPr>
        </p:cxnSp>
        <p:cxnSp>
          <p:nvCxnSpPr>
            <p:cNvPr id="13" name="直接连接符 12"/>
            <p:cNvCxnSpPr/>
            <p:nvPr/>
          </p:nvCxnSpPr>
          <p:spPr bwMode="gray">
            <a:xfrm>
              <a:off x="10304981" y="1923182"/>
              <a:ext cx="0" cy="488347"/>
            </a:xfrm>
            <a:prstGeom prst="line">
              <a:avLst/>
            </a:prstGeom>
            <a:noFill/>
            <a:ln w="12700" cap="flat" cmpd="sng" algn="ctr">
              <a:solidFill>
                <a:srgbClr val="94DAE2"/>
              </a:solidFill>
              <a:prstDash val="solid"/>
              <a:miter lim="800000"/>
            </a:ln>
            <a:effectLst/>
          </p:spPr>
        </p:cxnSp>
        <p:cxnSp>
          <p:nvCxnSpPr>
            <p:cNvPr id="14" name="直接连接符 13"/>
            <p:cNvCxnSpPr/>
            <p:nvPr/>
          </p:nvCxnSpPr>
          <p:spPr bwMode="gray">
            <a:xfrm>
              <a:off x="6958024" y="1766954"/>
              <a:ext cx="0" cy="662979"/>
            </a:xfrm>
            <a:prstGeom prst="line">
              <a:avLst/>
            </a:prstGeom>
            <a:noFill/>
            <a:ln w="12700" cap="flat" cmpd="sng" algn="ctr">
              <a:solidFill>
                <a:srgbClr val="94DAE2"/>
              </a:solidFill>
              <a:prstDash val="solid"/>
              <a:miter lim="800000"/>
            </a:ln>
            <a:effectLst/>
          </p:spPr>
        </p:cxnSp>
        <p:cxnSp>
          <p:nvCxnSpPr>
            <p:cNvPr id="15" name="直接连接符 14"/>
            <p:cNvCxnSpPr/>
            <p:nvPr/>
          </p:nvCxnSpPr>
          <p:spPr bwMode="gray">
            <a:xfrm flipH="1">
              <a:off x="3619759" y="1930484"/>
              <a:ext cx="6685222" cy="0"/>
            </a:xfrm>
            <a:prstGeom prst="line">
              <a:avLst/>
            </a:prstGeom>
            <a:noFill/>
            <a:ln w="12700" cap="flat" cmpd="sng" algn="ctr">
              <a:solidFill>
                <a:srgbClr val="94DAE2"/>
              </a:solidFill>
              <a:prstDash val="solid"/>
              <a:miter lim="800000"/>
            </a:ln>
            <a:effectLst/>
          </p:spPr>
        </p:cxnSp>
      </p:grpSp>
      <p:sp>
        <p:nvSpPr>
          <p:cNvPr id="16" name="矩形 15"/>
          <p:cNvSpPr/>
          <p:nvPr/>
        </p:nvSpPr>
        <p:spPr bwMode="gray">
          <a:xfrm>
            <a:off x="1670609" y="2286834"/>
            <a:ext cx="3321069" cy="589741"/>
          </a:xfrm>
          <a:prstGeom prst="rect">
            <a:avLst/>
          </a:prstGeom>
          <a:solidFill>
            <a:srgbClr val="ECF9FA"/>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cs typeface="+mn-ea"/>
                <a:sym typeface="+mn-lt"/>
              </a:rPr>
              <a:t>本地部署</a:t>
            </a:r>
          </a:p>
          <a:p>
            <a:pPr algn="ctr"/>
            <a:r>
              <a:rPr lang="en-US" altLang="zh-CN" sz="1600">
                <a:solidFill>
                  <a:srgbClr val="30B5C5"/>
                </a:solidFill>
                <a:cs typeface="+mn-ea"/>
                <a:sym typeface="+mn-lt"/>
              </a:rPr>
              <a:t>On-Premise</a:t>
            </a:r>
          </a:p>
        </p:txBody>
      </p:sp>
      <p:sp>
        <p:nvSpPr>
          <p:cNvPr id="17" name="矩形 16"/>
          <p:cNvSpPr/>
          <p:nvPr/>
        </p:nvSpPr>
        <p:spPr bwMode="gray">
          <a:xfrm>
            <a:off x="8118858" y="2286834"/>
            <a:ext cx="3252580" cy="589741"/>
          </a:xfrm>
          <a:prstGeom prst="rect">
            <a:avLst/>
          </a:prstGeom>
          <a:solidFill>
            <a:srgbClr val="ECF9FA"/>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cs typeface="+mn-ea"/>
                <a:sym typeface="+mn-lt"/>
              </a:rPr>
              <a:t>MSP</a:t>
            </a:r>
            <a:r>
              <a:rPr lang="zh-CN" altLang="en-US" sz="1600">
                <a:solidFill>
                  <a:srgbClr val="30B5C5"/>
                </a:solidFill>
                <a:cs typeface="+mn-ea"/>
                <a:sym typeface="+mn-lt"/>
              </a:rPr>
              <a:t>自建云部署</a:t>
            </a:r>
          </a:p>
          <a:p>
            <a:pPr algn="ctr"/>
            <a:r>
              <a:rPr lang="en-US" altLang="zh-CN" sz="1600">
                <a:solidFill>
                  <a:srgbClr val="30B5C5"/>
                </a:solidFill>
                <a:cs typeface="+mn-ea"/>
                <a:sym typeface="+mn-lt"/>
              </a:rPr>
              <a:t>MSP-owned Cloud</a:t>
            </a:r>
          </a:p>
        </p:txBody>
      </p:sp>
      <p:sp>
        <p:nvSpPr>
          <p:cNvPr id="18" name="矩形 17"/>
          <p:cNvSpPr/>
          <p:nvPr/>
        </p:nvSpPr>
        <p:spPr bwMode="gray">
          <a:xfrm>
            <a:off x="831180" y="3438402"/>
            <a:ext cx="803917" cy="697627"/>
          </a:xfrm>
          <a:prstGeom prst="rect">
            <a:avLst/>
          </a:prstGeom>
        </p:spPr>
        <p:txBody>
          <a:bodyPr wrap="square" anchor="ctr" anchorCtr="0">
            <a:noAutofit/>
          </a:bodyPr>
          <a:lstStyle/>
          <a:p>
            <a:pPr algn="r">
              <a:tabLst>
                <a:tab pos="457006" algn="l"/>
              </a:tabLst>
            </a:pPr>
            <a:r>
              <a:rPr lang="zh-CN" altLang="en-US" sz="1400" dirty="0" smtClean="0">
                <a:cs typeface="+mn-ea"/>
                <a:sym typeface="+mn-lt"/>
              </a:rPr>
              <a:t>场景</a:t>
            </a:r>
            <a:endParaRPr lang="en-US" altLang="zh-CN" sz="1400" dirty="0" smtClean="0">
              <a:cs typeface="+mn-ea"/>
              <a:sym typeface="+mn-lt"/>
            </a:endParaRPr>
          </a:p>
          <a:p>
            <a:pPr algn="r">
              <a:tabLst>
                <a:tab pos="457006" algn="l"/>
              </a:tabLst>
            </a:pPr>
            <a:r>
              <a:rPr lang="zh-CN" altLang="en-US" sz="1400" dirty="0" smtClean="0">
                <a:cs typeface="+mn-ea"/>
                <a:sym typeface="+mn-lt"/>
              </a:rPr>
              <a:t>定义</a:t>
            </a:r>
            <a:endParaRPr lang="zh-CN" altLang="en-US" sz="1400" dirty="0">
              <a:cs typeface="+mn-ea"/>
              <a:sym typeface="+mn-lt"/>
            </a:endParaRPr>
          </a:p>
        </p:txBody>
      </p:sp>
      <p:sp>
        <p:nvSpPr>
          <p:cNvPr id="19" name="矩形 18"/>
          <p:cNvSpPr/>
          <p:nvPr/>
        </p:nvSpPr>
        <p:spPr bwMode="gray">
          <a:xfrm>
            <a:off x="831180" y="4679921"/>
            <a:ext cx="803917" cy="697627"/>
          </a:xfrm>
          <a:prstGeom prst="rect">
            <a:avLst/>
          </a:prstGeom>
        </p:spPr>
        <p:txBody>
          <a:bodyPr wrap="square" anchor="ctr" anchorCtr="0">
            <a:noAutofit/>
          </a:bodyPr>
          <a:lstStyle/>
          <a:p>
            <a:pPr algn="r">
              <a:tabLst>
                <a:tab pos="457006" algn="l"/>
              </a:tabLst>
            </a:pPr>
            <a:r>
              <a:rPr lang="zh-CN" altLang="en-US" sz="1400">
                <a:cs typeface="+mn-ea"/>
                <a:sym typeface="+mn-lt"/>
              </a:rPr>
              <a:t>推荐适用场景</a:t>
            </a:r>
          </a:p>
        </p:txBody>
      </p:sp>
      <p:sp>
        <p:nvSpPr>
          <p:cNvPr id="20" name="矩形 19"/>
          <p:cNvSpPr/>
          <p:nvPr/>
        </p:nvSpPr>
        <p:spPr bwMode="gray">
          <a:xfrm>
            <a:off x="5080404" y="2286834"/>
            <a:ext cx="2949728" cy="589741"/>
          </a:xfrm>
          <a:prstGeom prst="rect">
            <a:avLst/>
          </a:prstGeom>
          <a:solidFill>
            <a:srgbClr val="ECF9FA"/>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cs typeface="+mn-ea"/>
                <a:sym typeface="+mn-lt"/>
              </a:rPr>
              <a:t>华为公有云部署</a:t>
            </a:r>
          </a:p>
          <a:p>
            <a:pPr algn="ctr"/>
            <a:r>
              <a:rPr lang="en-US" altLang="zh-CN" sz="1600">
                <a:solidFill>
                  <a:srgbClr val="30B5C5"/>
                </a:solidFill>
                <a:cs typeface="+mn-ea"/>
                <a:sym typeface="+mn-lt"/>
              </a:rPr>
              <a:t>Huawei Public Cloud</a:t>
            </a:r>
          </a:p>
        </p:txBody>
      </p:sp>
      <p:sp>
        <p:nvSpPr>
          <p:cNvPr id="21" name="矩形 20"/>
          <p:cNvSpPr/>
          <p:nvPr/>
        </p:nvSpPr>
        <p:spPr bwMode="gray">
          <a:xfrm>
            <a:off x="1670609" y="3141169"/>
            <a:ext cx="3321069" cy="1292093"/>
          </a:xfrm>
          <a:prstGeom prst="rect">
            <a:avLst/>
          </a:prstGeom>
          <a:solidFill>
            <a:schemeClr val="bg1"/>
          </a:solidFill>
          <a:ln w="9525">
            <a:noFill/>
          </a:ln>
          <a:effectLst>
            <a:outerShdw blurRad="63500" algn="ctr" rotWithShape="0">
              <a:schemeClr val="bg1">
                <a:lumMod val="65000"/>
                <a:alpha val="40000"/>
              </a:schemeClr>
            </a:outerShdw>
          </a:effectLst>
        </p:spPr>
        <p:txBody>
          <a:bodyPr wrap="square" lIns="144000" tIns="144000" rIns="144000" bIns="144000" anchor="ctr" anchorCtr="0">
            <a:noAutofit/>
          </a:bodyPr>
          <a:lstStyle/>
          <a:p>
            <a:pPr algn="just" defTabSz="1219170" fontAlgn="ctr">
              <a:lnSpc>
                <a:spcPts val="2000"/>
              </a:lnSpc>
              <a:defRPr/>
            </a:pPr>
            <a:r>
              <a:rPr lang="zh-CN" altLang="en-US" sz="1400" kern="0" dirty="0">
                <a:cs typeface="+mn-ea"/>
                <a:sym typeface="+mn-lt"/>
              </a:rPr>
              <a:t>客户购买并拥有控制器、分析器等平台软件，部署在其数据中心或者公有云</a:t>
            </a:r>
            <a:r>
              <a:rPr lang="en-US" altLang="zh-CN" sz="1400" kern="0" dirty="0" err="1" smtClean="0">
                <a:cs typeface="+mn-ea"/>
                <a:sym typeface="+mn-lt"/>
              </a:rPr>
              <a:t>IaaS</a:t>
            </a:r>
            <a:r>
              <a:rPr lang="zh-CN" altLang="en-US" sz="1400" kern="0" dirty="0">
                <a:cs typeface="+mn-ea"/>
                <a:sym typeface="+mn-lt"/>
              </a:rPr>
              <a:t>平台上，管理自己的网络，不对外提供网络管理</a:t>
            </a:r>
            <a:r>
              <a:rPr lang="zh-CN" altLang="en-US" sz="1400" kern="0" dirty="0" smtClean="0">
                <a:cs typeface="+mn-ea"/>
                <a:sym typeface="+mn-lt"/>
              </a:rPr>
              <a:t>服务</a:t>
            </a:r>
            <a:r>
              <a:rPr lang="zh-CN" altLang="en-US" sz="1400" kern="0" dirty="0">
                <a:cs typeface="+mn-ea"/>
                <a:sym typeface="+mn-lt"/>
              </a:rPr>
              <a:t>。</a:t>
            </a:r>
          </a:p>
        </p:txBody>
      </p:sp>
      <p:sp>
        <p:nvSpPr>
          <p:cNvPr id="22" name="矩形 21"/>
          <p:cNvSpPr/>
          <p:nvPr/>
        </p:nvSpPr>
        <p:spPr bwMode="gray">
          <a:xfrm>
            <a:off x="8118858" y="3141169"/>
            <a:ext cx="3252580" cy="1292093"/>
          </a:xfrm>
          <a:prstGeom prst="rect">
            <a:avLst/>
          </a:prstGeom>
          <a:solidFill>
            <a:schemeClr val="bg1"/>
          </a:solidFill>
          <a:ln w="9525">
            <a:noFill/>
          </a:ln>
          <a:effectLst>
            <a:outerShdw blurRad="63500" algn="ctr" rotWithShape="0">
              <a:schemeClr val="bg1">
                <a:lumMod val="65000"/>
                <a:alpha val="40000"/>
              </a:schemeClr>
            </a:outerShdw>
          </a:effectLst>
        </p:spPr>
        <p:txBody>
          <a:bodyPr wrap="square" lIns="144000" tIns="144000" rIns="144000" bIns="144000" anchor="ctr" anchorCtr="0">
            <a:noAutofit/>
          </a:bodyPr>
          <a:lstStyle/>
          <a:p>
            <a:pPr algn="just" defTabSz="1219170" fontAlgn="ctr">
              <a:lnSpc>
                <a:spcPts val="2000"/>
              </a:lnSpc>
              <a:defRPr/>
            </a:pPr>
            <a:r>
              <a:rPr lang="en-US" altLang="zh-CN" sz="1400" kern="0" dirty="0">
                <a:cs typeface="+mn-ea"/>
                <a:sym typeface="+mn-lt"/>
              </a:rPr>
              <a:t>MSP</a:t>
            </a:r>
            <a:r>
              <a:rPr lang="zh-CN" altLang="en-US" sz="1400" kern="0" dirty="0">
                <a:cs typeface="+mn-ea"/>
                <a:sym typeface="+mn-lt"/>
              </a:rPr>
              <a:t>购买控制器、分析器等云管理平台软件，部署在其数据中心或者公有云</a:t>
            </a:r>
            <a:r>
              <a:rPr lang="en-US" altLang="zh-CN" sz="1400" kern="0" dirty="0" err="1" smtClean="0">
                <a:cs typeface="+mn-ea"/>
                <a:sym typeface="+mn-lt"/>
              </a:rPr>
              <a:t>IaaS</a:t>
            </a:r>
            <a:r>
              <a:rPr lang="zh-CN" altLang="en-US" sz="1400" kern="0" dirty="0">
                <a:cs typeface="+mn-ea"/>
                <a:sym typeface="+mn-lt"/>
              </a:rPr>
              <a:t>，对外提供网络管理</a:t>
            </a:r>
            <a:r>
              <a:rPr lang="zh-CN" altLang="en-US" sz="1400" kern="0" dirty="0" smtClean="0">
                <a:cs typeface="+mn-ea"/>
                <a:sym typeface="+mn-lt"/>
              </a:rPr>
              <a:t>服务。</a:t>
            </a:r>
            <a:endParaRPr lang="en-US" altLang="zh-CN" sz="1400" kern="0" dirty="0">
              <a:cs typeface="+mn-ea"/>
              <a:sym typeface="+mn-lt"/>
            </a:endParaRPr>
          </a:p>
        </p:txBody>
      </p:sp>
      <p:sp>
        <p:nvSpPr>
          <p:cNvPr id="23" name="矩形 22"/>
          <p:cNvSpPr/>
          <p:nvPr/>
        </p:nvSpPr>
        <p:spPr bwMode="gray">
          <a:xfrm>
            <a:off x="5080404" y="3141169"/>
            <a:ext cx="2949728" cy="1292093"/>
          </a:xfrm>
          <a:prstGeom prst="rect">
            <a:avLst/>
          </a:prstGeom>
          <a:solidFill>
            <a:schemeClr val="bg1"/>
          </a:solidFill>
          <a:ln w="9525">
            <a:noFill/>
          </a:ln>
          <a:effectLst>
            <a:outerShdw blurRad="63500" algn="ctr" rotWithShape="0">
              <a:schemeClr val="bg1">
                <a:lumMod val="65000"/>
                <a:alpha val="40000"/>
              </a:schemeClr>
            </a:outerShdw>
          </a:effectLst>
        </p:spPr>
        <p:txBody>
          <a:bodyPr wrap="square" lIns="144000" tIns="144000" rIns="144000" bIns="144000" anchor="ctr" anchorCtr="0">
            <a:noAutofit/>
          </a:bodyPr>
          <a:lstStyle/>
          <a:p>
            <a:pPr algn="just" defTabSz="1219170" fontAlgn="ctr">
              <a:lnSpc>
                <a:spcPts val="2000"/>
              </a:lnSpc>
              <a:defRPr/>
            </a:pPr>
            <a:r>
              <a:rPr lang="zh-CN" altLang="en-US" sz="1400" kern="0" dirty="0">
                <a:cs typeface="+mn-ea"/>
                <a:sym typeface="+mn-lt"/>
              </a:rPr>
              <a:t>客户通过购买华为的公有云云管理服务，使用部署在华为公有云平台上的云管理</a:t>
            </a:r>
            <a:r>
              <a:rPr lang="en-US" altLang="zh-CN" sz="1400" kern="0" dirty="0">
                <a:cs typeface="+mn-ea"/>
                <a:sym typeface="+mn-lt"/>
              </a:rPr>
              <a:t>SaaS</a:t>
            </a:r>
            <a:r>
              <a:rPr lang="zh-CN" altLang="en-US" sz="1400" kern="0" dirty="0">
                <a:cs typeface="+mn-ea"/>
                <a:sym typeface="+mn-lt"/>
              </a:rPr>
              <a:t>服务来管理其</a:t>
            </a:r>
            <a:r>
              <a:rPr lang="zh-CN" altLang="en-US" sz="1400" kern="0" dirty="0" smtClean="0">
                <a:cs typeface="+mn-ea"/>
                <a:sym typeface="+mn-lt"/>
              </a:rPr>
              <a:t>网络。</a:t>
            </a:r>
            <a:endParaRPr lang="en-US" altLang="zh-CN" sz="1400" kern="0" dirty="0">
              <a:cs typeface="+mn-ea"/>
              <a:sym typeface="+mn-lt"/>
            </a:endParaRPr>
          </a:p>
        </p:txBody>
      </p:sp>
      <p:sp>
        <p:nvSpPr>
          <p:cNvPr id="24" name="矩形 23"/>
          <p:cNvSpPr/>
          <p:nvPr/>
        </p:nvSpPr>
        <p:spPr bwMode="gray">
          <a:xfrm>
            <a:off x="1670609" y="4827332"/>
            <a:ext cx="3321069" cy="402805"/>
          </a:xfrm>
          <a:prstGeom prst="rect">
            <a:avLst/>
          </a:prstGeom>
          <a:solidFill>
            <a:schemeClr val="bg1"/>
          </a:solidFill>
          <a:ln w="9525">
            <a:noFill/>
          </a:ln>
          <a:effectLst>
            <a:outerShdw blurRad="63500" algn="ctr" rotWithShape="0">
              <a:schemeClr val="bg1">
                <a:lumMod val="65000"/>
                <a:alpha val="40000"/>
              </a:schemeClr>
            </a:outerShdw>
          </a:effectLst>
        </p:spPr>
        <p:txBody>
          <a:bodyPr wrap="square" lIns="144000" tIns="144000" rIns="144000" bIns="144000" anchor="ctr" anchorCtr="0">
            <a:noAutofit/>
          </a:bodyPr>
          <a:lstStyle/>
          <a:p>
            <a:pPr algn="just" defTabSz="1219170" fontAlgn="ctr">
              <a:lnSpc>
                <a:spcPts val="2000"/>
              </a:lnSpc>
              <a:defRPr/>
            </a:pPr>
            <a:r>
              <a:rPr lang="zh-CN" altLang="en-US" sz="1400" kern="0">
                <a:solidFill>
                  <a:prstClr val="black"/>
                </a:solidFill>
                <a:cs typeface="+mn-ea"/>
                <a:sym typeface="+mn-lt"/>
              </a:rPr>
              <a:t>大中型园区网络</a:t>
            </a:r>
          </a:p>
        </p:txBody>
      </p:sp>
      <p:sp>
        <p:nvSpPr>
          <p:cNvPr id="25" name="矩形 24"/>
          <p:cNvSpPr/>
          <p:nvPr/>
        </p:nvSpPr>
        <p:spPr bwMode="gray">
          <a:xfrm>
            <a:off x="8118858" y="4827332"/>
            <a:ext cx="3252580" cy="402805"/>
          </a:xfrm>
          <a:prstGeom prst="rect">
            <a:avLst/>
          </a:prstGeom>
          <a:solidFill>
            <a:schemeClr val="bg1"/>
          </a:solidFill>
          <a:ln w="9525">
            <a:noFill/>
          </a:ln>
          <a:effectLst>
            <a:outerShdw blurRad="63500" algn="ctr" rotWithShape="0">
              <a:schemeClr val="bg1">
                <a:lumMod val="65000"/>
                <a:alpha val="40000"/>
              </a:schemeClr>
            </a:outerShdw>
          </a:effectLst>
        </p:spPr>
        <p:txBody>
          <a:bodyPr wrap="square" lIns="144000" tIns="144000" rIns="144000" bIns="144000" anchor="ctr" anchorCtr="0">
            <a:noAutofit/>
          </a:bodyPr>
          <a:lstStyle/>
          <a:p>
            <a:pPr algn="just" defTabSz="1219170" fontAlgn="ctr">
              <a:lnSpc>
                <a:spcPts val="2000"/>
              </a:lnSpc>
              <a:defRPr/>
            </a:pPr>
            <a:r>
              <a:rPr lang="zh-CN" altLang="en-US" sz="1400" kern="0" dirty="0">
                <a:solidFill>
                  <a:prstClr val="black"/>
                </a:solidFill>
                <a:cs typeface="+mn-ea"/>
                <a:sym typeface="+mn-lt"/>
              </a:rPr>
              <a:t>中小型园区网络</a:t>
            </a:r>
          </a:p>
        </p:txBody>
      </p:sp>
      <p:sp>
        <p:nvSpPr>
          <p:cNvPr id="26" name="矩形 25"/>
          <p:cNvSpPr/>
          <p:nvPr/>
        </p:nvSpPr>
        <p:spPr bwMode="gray">
          <a:xfrm>
            <a:off x="5080404" y="4827332"/>
            <a:ext cx="2949728" cy="402805"/>
          </a:xfrm>
          <a:prstGeom prst="rect">
            <a:avLst/>
          </a:prstGeom>
          <a:solidFill>
            <a:schemeClr val="bg1"/>
          </a:solidFill>
          <a:ln w="9525">
            <a:noFill/>
          </a:ln>
          <a:effectLst>
            <a:outerShdw blurRad="63500" algn="ctr" rotWithShape="0">
              <a:schemeClr val="bg1">
                <a:lumMod val="65000"/>
                <a:alpha val="40000"/>
              </a:schemeClr>
            </a:outerShdw>
          </a:effectLst>
        </p:spPr>
        <p:txBody>
          <a:bodyPr wrap="square" lIns="144000" tIns="144000" rIns="144000" bIns="144000" anchor="ctr" anchorCtr="0">
            <a:noAutofit/>
          </a:bodyPr>
          <a:lstStyle/>
          <a:p>
            <a:pPr algn="just" defTabSz="1219170" fontAlgn="ctr">
              <a:lnSpc>
                <a:spcPts val="2000"/>
              </a:lnSpc>
              <a:defRPr/>
            </a:pPr>
            <a:r>
              <a:rPr lang="zh-CN" altLang="en-US" sz="1400" kern="0" dirty="0">
                <a:solidFill>
                  <a:prstClr val="black"/>
                </a:solidFill>
                <a:cs typeface="+mn-ea"/>
                <a:sym typeface="+mn-lt"/>
              </a:rPr>
              <a:t>中小型园区网络</a:t>
            </a:r>
          </a:p>
        </p:txBody>
      </p:sp>
      <p:sp>
        <p:nvSpPr>
          <p:cNvPr id="27" name="矩形 26"/>
          <p:cNvSpPr/>
          <p:nvPr/>
        </p:nvSpPr>
        <p:spPr bwMode="gray">
          <a:xfrm>
            <a:off x="4259446" y="1650409"/>
            <a:ext cx="4582950" cy="307776"/>
          </a:xfrm>
          <a:prstGeom prst="rect">
            <a:avLst/>
          </a:prstGeom>
          <a:solidFill>
            <a:srgbClr val="D7F2F5"/>
          </a:solid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dirty="0" smtClean="0">
                <a:solidFill>
                  <a:schemeClr val="tx1"/>
                </a:solidFill>
                <a:cs typeface="+mn-ea"/>
                <a:sym typeface="+mn-lt"/>
              </a:rPr>
              <a:t>云园区</a:t>
            </a:r>
            <a:r>
              <a:rPr lang="zh-CN" altLang="en-US" sz="1600" dirty="0">
                <a:solidFill>
                  <a:schemeClr val="tx1"/>
                </a:solidFill>
                <a:cs typeface="+mn-ea"/>
                <a:sym typeface="+mn-lt"/>
              </a:rPr>
              <a:t>网络 </a:t>
            </a:r>
            <a:r>
              <a:rPr lang="en-US" altLang="zh-CN" sz="1600" dirty="0">
                <a:solidFill>
                  <a:schemeClr val="tx1"/>
                </a:solidFill>
                <a:cs typeface="+mn-ea"/>
                <a:sym typeface="+mn-lt"/>
              </a:rPr>
              <a:t>CloudCampus</a:t>
            </a:r>
          </a:p>
        </p:txBody>
      </p:sp>
      <p:sp>
        <p:nvSpPr>
          <p:cNvPr id="33" name="Freeform 298"/>
          <p:cNvSpPr>
            <a:spLocks/>
          </p:cNvSpPr>
          <p:nvPr/>
        </p:nvSpPr>
        <p:spPr bwMode="gray">
          <a:xfrm>
            <a:off x="7665687" y="2223652"/>
            <a:ext cx="408808" cy="345018"/>
          </a:xfrm>
          <a:custGeom>
            <a:avLst/>
            <a:gdLst>
              <a:gd name="T0" fmla="*/ 0 w 648"/>
              <a:gd name="T1" fmla="*/ 2147483647 h 618"/>
              <a:gd name="T2" fmla="*/ 2147483647 w 648"/>
              <a:gd name="T3" fmla="*/ 2147483647 h 618"/>
              <a:gd name="T4" fmla="*/ 2147483647 w 648"/>
              <a:gd name="T5" fmla="*/ 2147483647 h 618"/>
              <a:gd name="T6" fmla="*/ 2147483647 w 648"/>
              <a:gd name="T7" fmla="*/ 2147483647 h 618"/>
              <a:gd name="T8" fmla="*/ 2147483647 w 648"/>
              <a:gd name="T9" fmla="*/ 2147483647 h 618"/>
              <a:gd name="T10" fmla="*/ 2147483647 w 648"/>
              <a:gd name="T11" fmla="*/ 2147483647 h 618"/>
              <a:gd name="T12" fmla="*/ 2147483647 w 648"/>
              <a:gd name="T13" fmla="*/ 2147483647 h 618"/>
              <a:gd name="T14" fmla="*/ 2147483647 w 648"/>
              <a:gd name="T15" fmla="*/ 0 h 618"/>
              <a:gd name="T16" fmla="*/ 2147483647 w 648"/>
              <a:gd name="T17" fmla="*/ 2147483647 h 618"/>
              <a:gd name="T18" fmla="*/ 2147483647 w 648"/>
              <a:gd name="T19" fmla="*/ 2147483647 h 618"/>
              <a:gd name="T20" fmla="*/ 2147483647 w 648"/>
              <a:gd name="T21" fmla="*/ 2147483647 h 618"/>
              <a:gd name="T22" fmla="*/ 2147483647 w 648"/>
              <a:gd name="T23" fmla="*/ 2147483647 h 618"/>
              <a:gd name="T24" fmla="*/ 2147483647 w 648"/>
              <a:gd name="T25" fmla="*/ 2147483647 h 618"/>
              <a:gd name="T26" fmla="*/ 2147483647 w 648"/>
              <a:gd name="T27" fmla="*/ 2147483647 h 618"/>
              <a:gd name="T28" fmla="*/ 2147483647 w 648"/>
              <a:gd name="T29" fmla="*/ 2147483647 h 618"/>
              <a:gd name="T30" fmla="*/ 2147483647 w 648"/>
              <a:gd name="T31" fmla="*/ 2147483647 h 618"/>
              <a:gd name="T32" fmla="*/ 0 w 648"/>
              <a:gd name="T33" fmla="*/ 2147483647 h 6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30B5C5"/>
          </a:solidFill>
          <a:ln>
            <a:noFill/>
          </a:ln>
          <a:effectLst/>
        </p:spPr>
        <p:txBody>
          <a:bodyPr wrap="none" lIns="92382" tIns="46191" rIns="92382" bIns="46191" anchor="ctr"/>
          <a:lstStyle/>
          <a:p>
            <a:endParaRPr lang="zh-CN" altLang="en-US">
              <a:cs typeface="+mn-ea"/>
              <a:sym typeface="+mn-lt"/>
            </a:endParaRPr>
          </a:p>
        </p:txBody>
      </p:sp>
      <p:sp>
        <p:nvSpPr>
          <p:cNvPr id="34" name="Freeform 298"/>
          <p:cNvSpPr>
            <a:spLocks/>
          </p:cNvSpPr>
          <p:nvPr/>
        </p:nvSpPr>
        <p:spPr bwMode="gray">
          <a:xfrm>
            <a:off x="10685977" y="2223652"/>
            <a:ext cx="408808" cy="345018"/>
          </a:xfrm>
          <a:custGeom>
            <a:avLst/>
            <a:gdLst>
              <a:gd name="T0" fmla="*/ 0 w 648"/>
              <a:gd name="T1" fmla="*/ 2147483647 h 618"/>
              <a:gd name="T2" fmla="*/ 2147483647 w 648"/>
              <a:gd name="T3" fmla="*/ 2147483647 h 618"/>
              <a:gd name="T4" fmla="*/ 2147483647 w 648"/>
              <a:gd name="T5" fmla="*/ 2147483647 h 618"/>
              <a:gd name="T6" fmla="*/ 2147483647 w 648"/>
              <a:gd name="T7" fmla="*/ 2147483647 h 618"/>
              <a:gd name="T8" fmla="*/ 2147483647 w 648"/>
              <a:gd name="T9" fmla="*/ 2147483647 h 618"/>
              <a:gd name="T10" fmla="*/ 2147483647 w 648"/>
              <a:gd name="T11" fmla="*/ 2147483647 h 618"/>
              <a:gd name="T12" fmla="*/ 2147483647 w 648"/>
              <a:gd name="T13" fmla="*/ 2147483647 h 618"/>
              <a:gd name="T14" fmla="*/ 2147483647 w 648"/>
              <a:gd name="T15" fmla="*/ 0 h 618"/>
              <a:gd name="T16" fmla="*/ 2147483647 w 648"/>
              <a:gd name="T17" fmla="*/ 2147483647 h 618"/>
              <a:gd name="T18" fmla="*/ 2147483647 w 648"/>
              <a:gd name="T19" fmla="*/ 2147483647 h 618"/>
              <a:gd name="T20" fmla="*/ 2147483647 w 648"/>
              <a:gd name="T21" fmla="*/ 2147483647 h 618"/>
              <a:gd name="T22" fmla="*/ 2147483647 w 648"/>
              <a:gd name="T23" fmla="*/ 2147483647 h 618"/>
              <a:gd name="T24" fmla="*/ 2147483647 w 648"/>
              <a:gd name="T25" fmla="*/ 2147483647 h 618"/>
              <a:gd name="T26" fmla="*/ 2147483647 w 648"/>
              <a:gd name="T27" fmla="*/ 2147483647 h 618"/>
              <a:gd name="T28" fmla="*/ 2147483647 w 648"/>
              <a:gd name="T29" fmla="*/ 2147483647 h 618"/>
              <a:gd name="T30" fmla="*/ 2147483647 w 648"/>
              <a:gd name="T31" fmla="*/ 2147483647 h 618"/>
              <a:gd name="T32" fmla="*/ 0 w 648"/>
              <a:gd name="T33" fmla="*/ 2147483647 h 6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30B5C5"/>
          </a:solidFill>
          <a:ln>
            <a:noFill/>
          </a:ln>
          <a:effectLst/>
        </p:spPr>
        <p:txBody>
          <a:bodyPr wrap="none" lIns="92382" tIns="46191" rIns="92382" bIns="46191" anchor="ctr"/>
          <a:lstStyle/>
          <a:p>
            <a:endParaRPr lang="zh-CN" altLang="en-US">
              <a:cs typeface="+mn-ea"/>
              <a:sym typeface="+mn-lt"/>
            </a:endParaRPr>
          </a:p>
        </p:txBody>
      </p:sp>
      <p:sp>
        <p:nvSpPr>
          <p:cNvPr id="36" name="矩形 35"/>
          <p:cNvSpPr/>
          <p:nvPr/>
        </p:nvSpPr>
        <p:spPr bwMode="gray">
          <a:xfrm>
            <a:off x="787940" y="5416394"/>
            <a:ext cx="10616120" cy="738664"/>
          </a:xfrm>
          <a:prstGeom prst="rect">
            <a:avLst/>
          </a:prstGeom>
        </p:spPr>
        <p:txBody>
          <a:bodyPr wrap="square">
            <a:spAutoFit/>
          </a:bodyPr>
          <a:lstStyle/>
          <a:p>
            <a:pPr>
              <a:lnSpc>
                <a:spcPct val="150000"/>
              </a:lnSpc>
            </a:pPr>
            <a:r>
              <a:rPr lang="zh-CN" altLang="en-US" sz="1400" dirty="0">
                <a:cs typeface="+mn-ea"/>
                <a:sym typeface="+mn-lt"/>
              </a:rPr>
              <a:t>中小型园区网络规模相对比较小，对</a:t>
            </a:r>
            <a:r>
              <a:rPr lang="en-US" altLang="zh-CN" sz="1400" dirty="0" smtClean="0">
                <a:cs typeface="+mn-ea"/>
                <a:sym typeface="+mn-lt"/>
              </a:rPr>
              <a:t>CAPEX</a:t>
            </a:r>
            <a:r>
              <a:rPr lang="zh-CN" altLang="en-US" sz="1400" dirty="0" smtClean="0">
                <a:cs typeface="+mn-ea"/>
                <a:sym typeface="+mn-lt"/>
              </a:rPr>
              <a:t>和</a:t>
            </a:r>
            <a:r>
              <a:rPr lang="en-US" altLang="zh-CN" sz="1400" dirty="0" smtClean="0">
                <a:cs typeface="+mn-ea"/>
                <a:sym typeface="+mn-lt"/>
              </a:rPr>
              <a:t>OPEX</a:t>
            </a:r>
            <a:r>
              <a:rPr lang="zh-CN" altLang="en-US" sz="1400" dirty="0" smtClean="0">
                <a:cs typeface="+mn-ea"/>
                <a:sym typeface="+mn-lt"/>
              </a:rPr>
              <a:t>比较</a:t>
            </a:r>
            <a:r>
              <a:rPr lang="zh-CN" altLang="en-US" sz="1400" dirty="0">
                <a:cs typeface="+mn-ea"/>
                <a:sym typeface="+mn-lt"/>
              </a:rPr>
              <a:t>敏感，因此，其网络管理模式推荐采用公有云云管理模式，通过华为或</a:t>
            </a:r>
            <a:r>
              <a:rPr lang="en-US" altLang="zh-CN" sz="1400" dirty="0">
                <a:cs typeface="+mn-ea"/>
                <a:sym typeface="+mn-lt"/>
              </a:rPr>
              <a:t>MSP</a:t>
            </a:r>
            <a:r>
              <a:rPr lang="zh-CN" altLang="en-US" sz="1400" dirty="0">
                <a:cs typeface="+mn-ea"/>
                <a:sym typeface="+mn-lt"/>
              </a:rPr>
              <a:t>对外提供的网络管理</a:t>
            </a:r>
            <a:r>
              <a:rPr lang="en-US" altLang="zh-CN" sz="1400" dirty="0">
                <a:cs typeface="+mn-ea"/>
                <a:sym typeface="+mn-lt"/>
              </a:rPr>
              <a:t>SaaS</a:t>
            </a:r>
            <a:r>
              <a:rPr lang="zh-CN" altLang="en-US" sz="1400" dirty="0">
                <a:cs typeface="+mn-ea"/>
                <a:sym typeface="+mn-lt"/>
              </a:rPr>
              <a:t>服务来管理其网络。</a:t>
            </a:r>
          </a:p>
        </p:txBody>
      </p:sp>
    </p:spTree>
    <p:extLst>
      <p:ext uri="{BB962C8B-B14F-4D97-AF65-F5344CB8AC3E}">
        <p14:creationId xmlns:p14="http://schemas.microsoft.com/office/powerpoint/2010/main" val="15860743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接连接符 47"/>
          <p:cNvCxnSpPr/>
          <p:nvPr/>
        </p:nvCxnSpPr>
        <p:spPr bwMode="gray">
          <a:xfrm flipH="1">
            <a:off x="9095836" y="5271824"/>
            <a:ext cx="0" cy="2450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bwMode="gray"/>
        <p:txBody>
          <a:bodyPr>
            <a:normAutofit/>
          </a:bodyPr>
          <a:lstStyle/>
          <a:p>
            <a:r>
              <a:rPr lang="zh-CN" altLang="en-US">
                <a:latin typeface="+mn-lt"/>
                <a:ea typeface="+mn-ea"/>
                <a:cs typeface="+mn-ea"/>
                <a:sym typeface="+mn-lt"/>
              </a:rPr>
              <a:t>网络运维模式选择</a:t>
            </a:r>
          </a:p>
        </p:txBody>
      </p:sp>
      <p:sp>
        <p:nvSpPr>
          <p:cNvPr id="5" name="文本占位符 4"/>
          <p:cNvSpPr>
            <a:spLocks noGrp="1"/>
          </p:cNvSpPr>
          <p:nvPr>
            <p:ph type="body" sz="quarter" idx="10"/>
          </p:nvPr>
        </p:nvSpPr>
        <p:spPr bwMode="gray">
          <a:xfrm>
            <a:off x="455612" y="1047751"/>
            <a:ext cx="11293475" cy="1680624"/>
          </a:xfrm>
          <a:prstGeom prst="rect">
            <a:avLst/>
          </a:prstGeom>
        </p:spPr>
        <p:txBody>
          <a:bodyPr/>
          <a:lstStyle/>
          <a:p>
            <a:r>
              <a:rPr lang="zh-CN" altLang="en-US" sz="1800" dirty="0">
                <a:latin typeface="+mn-lt"/>
                <a:ea typeface="+mn-ea"/>
                <a:cs typeface="+mn-ea"/>
                <a:sym typeface="+mn-lt"/>
              </a:rPr>
              <a:t>设计要点：运维模式采用自运维模式还是代运维模式</a:t>
            </a:r>
            <a:r>
              <a:rPr lang="zh-CN" altLang="en-US" sz="1800" dirty="0" smtClean="0">
                <a:latin typeface="+mn-lt"/>
                <a:ea typeface="+mn-ea"/>
                <a:cs typeface="+mn-ea"/>
                <a:sym typeface="+mn-lt"/>
              </a:rPr>
              <a:t>？</a:t>
            </a:r>
            <a:endParaRPr lang="en-US" altLang="zh-CN" sz="1800" dirty="0" smtClean="0">
              <a:latin typeface="+mn-lt"/>
              <a:ea typeface="+mn-ea"/>
              <a:cs typeface="+mn-ea"/>
              <a:sym typeface="+mn-lt"/>
            </a:endParaRPr>
          </a:p>
          <a:p>
            <a:pPr lvl="1"/>
            <a:r>
              <a:rPr lang="zh-CN" altLang="en-US" sz="1600" dirty="0">
                <a:latin typeface="+mn-lt"/>
                <a:ea typeface="+mn-ea"/>
                <a:cs typeface="+mn-ea"/>
                <a:sym typeface="+mn-lt"/>
              </a:rPr>
              <a:t>网络运维模式通常与网络管理方式紧密相关，如果企业自已管理网络，则运维也是企业来做，即</a:t>
            </a:r>
            <a:r>
              <a:rPr lang="zh-CN" altLang="en-US" sz="1600" dirty="0" smtClean="0">
                <a:latin typeface="+mn-lt"/>
                <a:ea typeface="+mn-ea"/>
                <a:cs typeface="+mn-ea"/>
                <a:sym typeface="+mn-lt"/>
              </a:rPr>
              <a:t>企业</a:t>
            </a:r>
            <a:r>
              <a:rPr lang="zh-CN" altLang="en-US" sz="1600" dirty="0">
                <a:latin typeface="+mn-lt"/>
                <a:ea typeface="+mn-ea"/>
                <a:cs typeface="+mn-ea"/>
                <a:sym typeface="+mn-lt"/>
              </a:rPr>
              <a:t>自建自维</a:t>
            </a:r>
            <a:r>
              <a:rPr lang="zh-CN" altLang="en-US" sz="1600" dirty="0" smtClean="0">
                <a:latin typeface="+mn-lt"/>
                <a:ea typeface="+mn-ea"/>
                <a:cs typeface="+mn-ea"/>
                <a:sym typeface="+mn-lt"/>
              </a:rPr>
              <a:t>；</a:t>
            </a:r>
            <a:r>
              <a:rPr lang="zh-CN" altLang="en-US" sz="1600" dirty="0">
                <a:latin typeface="+mn-lt"/>
                <a:ea typeface="+mn-ea"/>
                <a:cs typeface="+mn-ea"/>
                <a:sym typeface="+mn-lt"/>
              </a:rPr>
              <a:t>如果企业将网络管理工作外包</a:t>
            </a:r>
            <a:r>
              <a:rPr lang="zh-CN" altLang="en-US" sz="1600" dirty="0" smtClean="0">
                <a:latin typeface="+mn-lt"/>
                <a:ea typeface="+mn-ea"/>
                <a:cs typeface="+mn-ea"/>
                <a:sym typeface="+mn-lt"/>
              </a:rPr>
              <a:t>给</a:t>
            </a:r>
            <a:r>
              <a:rPr lang="en-US" altLang="zh-CN" sz="1600" dirty="0" smtClean="0">
                <a:latin typeface="+mn-lt"/>
                <a:ea typeface="+mn-ea"/>
                <a:cs typeface="+mn-ea"/>
                <a:sym typeface="+mn-lt"/>
              </a:rPr>
              <a:t>MSP</a:t>
            </a:r>
            <a:r>
              <a:rPr lang="zh-CN" altLang="en-US" sz="1600" dirty="0" smtClean="0">
                <a:latin typeface="+mn-lt"/>
                <a:ea typeface="+mn-ea"/>
                <a:cs typeface="+mn-ea"/>
                <a:sym typeface="+mn-lt"/>
              </a:rPr>
              <a:t>来</a:t>
            </a:r>
            <a:r>
              <a:rPr lang="zh-CN" altLang="en-US" sz="1600" dirty="0">
                <a:latin typeface="+mn-lt"/>
                <a:ea typeface="+mn-ea"/>
                <a:cs typeface="+mn-ea"/>
                <a:sym typeface="+mn-lt"/>
              </a:rPr>
              <a:t>做，</a:t>
            </a:r>
            <a:r>
              <a:rPr lang="zh-CN" altLang="en-US" sz="1600" dirty="0" smtClean="0">
                <a:latin typeface="+mn-lt"/>
                <a:ea typeface="+mn-ea"/>
                <a:cs typeface="+mn-ea"/>
                <a:sym typeface="+mn-lt"/>
              </a:rPr>
              <a:t>即</a:t>
            </a:r>
            <a:r>
              <a:rPr lang="en-US" altLang="zh-CN" sz="1600" dirty="0">
                <a:latin typeface="+mn-lt"/>
                <a:ea typeface="+mn-ea"/>
                <a:cs typeface="+mn-ea"/>
                <a:sym typeface="+mn-lt"/>
              </a:rPr>
              <a:t>MSP</a:t>
            </a:r>
            <a:r>
              <a:rPr lang="zh-CN" altLang="en-US" sz="1600" dirty="0">
                <a:latin typeface="+mn-lt"/>
                <a:ea typeface="+mn-ea"/>
                <a:cs typeface="+mn-ea"/>
                <a:sym typeface="+mn-lt"/>
              </a:rPr>
              <a:t>代建代维。</a:t>
            </a:r>
            <a:endParaRPr lang="en-US" altLang="zh-CN" sz="1600" dirty="0" smtClean="0">
              <a:latin typeface="+mn-lt"/>
              <a:ea typeface="+mn-ea"/>
              <a:cs typeface="+mn-ea"/>
              <a:sym typeface="+mn-lt"/>
            </a:endParaRPr>
          </a:p>
          <a:p>
            <a:pPr lvl="1"/>
            <a:r>
              <a:rPr lang="zh-CN" altLang="en-US" sz="1600" dirty="0" smtClean="0">
                <a:latin typeface="+mn-lt"/>
                <a:ea typeface="+mn-ea"/>
                <a:cs typeface="+mn-ea"/>
                <a:sym typeface="+mn-lt"/>
              </a:rPr>
              <a:t>云园区</a:t>
            </a:r>
            <a:r>
              <a:rPr lang="zh-CN" altLang="en-US" sz="1600" dirty="0">
                <a:latin typeface="+mn-lt"/>
                <a:ea typeface="+mn-ea"/>
                <a:cs typeface="+mn-ea"/>
                <a:sym typeface="+mn-lt"/>
              </a:rPr>
              <a:t>网络解决方案既支持企业自运维，也支持代运维，企业可以根据自身需求来选择</a:t>
            </a:r>
            <a:r>
              <a:rPr lang="zh-CN" altLang="en-US" sz="1600" dirty="0" smtClean="0">
                <a:latin typeface="+mn-lt"/>
                <a:ea typeface="+mn-ea"/>
                <a:cs typeface="+mn-ea"/>
                <a:sym typeface="+mn-lt"/>
              </a:rPr>
              <a:t>。</a:t>
            </a:r>
            <a:endParaRPr lang="zh-CN" altLang="en-US" sz="1600" dirty="0">
              <a:latin typeface="+mn-lt"/>
              <a:ea typeface="+mn-ea"/>
              <a:cs typeface="+mn-ea"/>
              <a:sym typeface="+mn-lt"/>
            </a:endParaRPr>
          </a:p>
        </p:txBody>
      </p:sp>
      <p:sp>
        <p:nvSpPr>
          <p:cNvPr id="6" name="矩形 5"/>
          <p:cNvSpPr/>
          <p:nvPr/>
        </p:nvSpPr>
        <p:spPr bwMode="gray">
          <a:xfrm>
            <a:off x="731838" y="3200648"/>
            <a:ext cx="1988502" cy="455391"/>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smtClean="0">
                <a:solidFill>
                  <a:schemeClr val="bg1">
                    <a:lumMod val="50000"/>
                  </a:schemeClr>
                </a:solidFill>
                <a:cs typeface="+mn-ea"/>
                <a:sym typeface="+mn-lt"/>
              </a:rPr>
              <a:t>企业自身有运维能力</a:t>
            </a:r>
            <a:endParaRPr lang="en-US" altLang="zh-CN" sz="1400" dirty="0">
              <a:solidFill>
                <a:schemeClr val="bg1">
                  <a:lumMod val="50000"/>
                </a:schemeClr>
              </a:solidFill>
              <a:cs typeface="+mn-ea"/>
              <a:sym typeface="+mn-lt"/>
            </a:endParaRPr>
          </a:p>
        </p:txBody>
      </p:sp>
      <p:sp>
        <p:nvSpPr>
          <p:cNvPr id="7" name="矩形 6"/>
          <p:cNvSpPr/>
          <p:nvPr/>
        </p:nvSpPr>
        <p:spPr bwMode="gray">
          <a:xfrm>
            <a:off x="731837" y="4021300"/>
            <a:ext cx="4945277" cy="307776"/>
          </a:xfrm>
          <a:prstGeom prst="rect">
            <a:avLst/>
          </a:prstGeom>
          <a:solidFill>
            <a:srgbClr val="D7F2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rgbClr val="30B5C5"/>
                </a:solidFill>
                <a:cs typeface="+mn-ea"/>
                <a:sym typeface="+mn-lt"/>
              </a:rPr>
              <a:t>企业自建自维</a:t>
            </a:r>
            <a:endParaRPr lang="en-US" altLang="zh-CN" sz="1400" dirty="0">
              <a:solidFill>
                <a:srgbClr val="30B5C5"/>
              </a:solidFill>
              <a:cs typeface="+mn-ea"/>
              <a:sym typeface="+mn-lt"/>
            </a:endParaRPr>
          </a:p>
        </p:txBody>
      </p:sp>
      <p:sp>
        <p:nvSpPr>
          <p:cNvPr id="8" name="矩形 7"/>
          <p:cNvSpPr/>
          <p:nvPr/>
        </p:nvSpPr>
        <p:spPr bwMode="gray">
          <a:xfrm>
            <a:off x="3670686" y="3200648"/>
            <a:ext cx="1988502" cy="455391"/>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bg1">
                    <a:lumMod val="50000"/>
                  </a:schemeClr>
                </a:solidFill>
                <a:cs typeface="+mn-ea"/>
                <a:sym typeface="+mn-lt"/>
              </a:rPr>
              <a:t>企业要求自己管理网络</a:t>
            </a:r>
            <a:endParaRPr lang="en-US" altLang="zh-CN" sz="1400">
              <a:solidFill>
                <a:schemeClr val="bg1">
                  <a:lumMod val="50000"/>
                </a:schemeClr>
              </a:solidFill>
              <a:cs typeface="+mn-ea"/>
              <a:sym typeface="+mn-lt"/>
            </a:endParaRPr>
          </a:p>
        </p:txBody>
      </p:sp>
      <p:sp>
        <p:nvSpPr>
          <p:cNvPr id="9" name="矩形 8"/>
          <p:cNvSpPr/>
          <p:nvPr/>
        </p:nvSpPr>
        <p:spPr bwMode="gray">
          <a:xfrm>
            <a:off x="731838" y="5032206"/>
            <a:ext cx="1988502" cy="455391"/>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a:solidFill>
                  <a:schemeClr val="bg1">
                    <a:lumMod val="50000"/>
                  </a:schemeClr>
                </a:solidFill>
                <a:cs typeface="+mn-ea"/>
                <a:sym typeface="+mn-lt"/>
              </a:rPr>
              <a:t>企业</a:t>
            </a:r>
            <a:r>
              <a:rPr lang="zh-CN" altLang="en-US" sz="1400" smtClean="0">
                <a:solidFill>
                  <a:schemeClr val="bg1">
                    <a:lumMod val="50000"/>
                  </a:schemeClr>
                </a:solidFill>
                <a:cs typeface="+mn-ea"/>
                <a:sym typeface="+mn-lt"/>
              </a:rPr>
              <a:t>自身不具备运</a:t>
            </a:r>
            <a:r>
              <a:rPr lang="zh-CN" altLang="en-US" sz="1400">
                <a:solidFill>
                  <a:schemeClr val="bg1">
                    <a:lumMod val="50000"/>
                  </a:schemeClr>
                </a:solidFill>
                <a:cs typeface="+mn-ea"/>
                <a:sym typeface="+mn-lt"/>
              </a:rPr>
              <a:t>维能力</a:t>
            </a:r>
            <a:endParaRPr lang="en-US" altLang="zh-CN" sz="1400">
              <a:solidFill>
                <a:schemeClr val="bg1">
                  <a:lumMod val="50000"/>
                </a:schemeClr>
              </a:solidFill>
              <a:cs typeface="+mn-ea"/>
              <a:sym typeface="+mn-lt"/>
            </a:endParaRPr>
          </a:p>
        </p:txBody>
      </p:sp>
      <p:sp>
        <p:nvSpPr>
          <p:cNvPr id="10" name="矩形 9"/>
          <p:cNvSpPr/>
          <p:nvPr/>
        </p:nvSpPr>
        <p:spPr bwMode="gray">
          <a:xfrm>
            <a:off x="3654702" y="5032206"/>
            <a:ext cx="1988502" cy="455391"/>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lumMod val="50000"/>
                  </a:schemeClr>
                </a:solidFill>
                <a:cs typeface="+mn-ea"/>
                <a:sym typeface="+mn-lt"/>
              </a:rPr>
              <a:t>企业存在海量分支</a:t>
            </a:r>
            <a:r>
              <a:rPr lang="zh-CN" altLang="en-US" sz="1400" dirty="0" smtClean="0">
                <a:solidFill>
                  <a:schemeClr val="bg1">
                    <a:lumMod val="50000"/>
                  </a:schemeClr>
                </a:solidFill>
                <a:cs typeface="+mn-ea"/>
                <a:sym typeface="+mn-lt"/>
              </a:rPr>
              <a:t>机构，委托</a:t>
            </a:r>
            <a:r>
              <a:rPr lang="en-US" altLang="zh-CN" sz="1400" dirty="0" smtClean="0">
                <a:solidFill>
                  <a:schemeClr val="bg1">
                    <a:lumMod val="50000"/>
                  </a:schemeClr>
                </a:solidFill>
                <a:cs typeface="+mn-ea"/>
                <a:sym typeface="+mn-lt"/>
              </a:rPr>
              <a:t>MSP</a:t>
            </a:r>
            <a:r>
              <a:rPr lang="zh-CN" altLang="en-US" sz="1400" dirty="0" smtClean="0">
                <a:solidFill>
                  <a:schemeClr val="bg1">
                    <a:lumMod val="50000"/>
                  </a:schemeClr>
                </a:solidFill>
                <a:cs typeface="+mn-ea"/>
                <a:sym typeface="+mn-lt"/>
              </a:rPr>
              <a:t>建设及维护</a:t>
            </a:r>
            <a:endParaRPr lang="en-US" altLang="zh-CN" sz="1400" dirty="0">
              <a:solidFill>
                <a:schemeClr val="bg1">
                  <a:lumMod val="50000"/>
                </a:schemeClr>
              </a:solidFill>
              <a:cs typeface="+mn-ea"/>
              <a:sym typeface="+mn-lt"/>
            </a:endParaRPr>
          </a:p>
        </p:txBody>
      </p:sp>
      <p:sp>
        <p:nvSpPr>
          <p:cNvPr id="11" name="矩形 10"/>
          <p:cNvSpPr/>
          <p:nvPr/>
        </p:nvSpPr>
        <p:spPr bwMode="gray">
          <a:xfrm>
            <a:off x="731838" y="5852858"/>
            <a:ext cx="4927350" cy="307776"/>
          </a:xfrm>
          <a:prstGeom prst="rect">
            <a:avLst/>
          </a:prstGeom>
          <a:solidFill>
            <a:srgbClr val="D7F2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a:solidFill>
                  <a:srgbClr val="30B5C5"/>
                </a:solidFill>
                <a:cs typeface="+mn-ea"/>
                <a:sym typeface="+mn-lt"/>
              </a:rPr>
              <a:t>MSP</a:t>
            </a:r>
            <a:r>
              <a:rPr lang="zh-CN" altLang="en-US" sz="1400">
                <a:solidFill>
                  <a:srgbClr val="30B5C5"/>
                </a:solidFill>
                <a:cs typeface="+mn-ea"/>
                <a:sym typeface="+mn-lt"/>
              </a:rPr>
              <a:t>代建代维</a:t>
            </a:r>
            <a:endParaRPr lang="en-US" altLang="zh-CN" sz="1400">
              <a:solidFill>
                <a:srgbClr val="30B5C5"/>
              </a:solidFill>
              <a:cs typeface="+mn-ea"/>
              <a:sym typeface="+mn-lt"/>
            </a:endParaRPr>
          </a:p>
        </p:txBody>
      </p:sp>
      <p:sp>
        <p:nvSpPr>
          <p:cNvPr id="12" name="文本框 11"/>
          <p:cNvSpPr txBox="1"/>
          <p:nvPr/>
        </p:nvSpPr>
        <p:spPr bwMode="gray">
          <a:xfrm>
            <a:off x="2981497" y="3289501"/>
            <a:ext cx="445956" cy="307777"/>
          </a:xfrm>
          <a:prstGeom prst="rect">
            <a:avLst/>
          </a:prstGeom>
          <a:noFill/>
        </p:spPr>
        <p:txBody>
          <a:bodyPr wrap="none" rtlCol="0">
            <a:spAutoFit/>
          </a:bodyPr>
          <a:lstStyle/>
          <a:p>
            <a:r>
              <a:rPr lang="en-US" altLang="zh-CN" sz="1400" b="1" smtClean="0">
                <a:solidFill>
                  <a:srgbClr val="30B5C5"/>
                </a:solidFill>
                <a:cs typeface="+mn-ea"/>
                <a:sym typeface="+mn-lt"/>
              </a:rPr>
              <a:t>OR</a:t>
            </a:r>
            <a:endParaRPr lang="zh-CN" altLang="en-US" sz="1400" b="1">
              <a:solidFill>
                <a:srgbClr val="30B5C5"/>
              </a:solidFill>
              <a:cs typeface="+mn-ea"/>
              <a:sym typeface="+mn-lt"/>
            </a:endParaRPr>
          </a:p>
        </p:txBody>
      </p:sp>
      <p:sp>
        <p:nvSpPr>
          <p:cNvPr id="13" name="文本框 12"/>
          <p:cNvSpPr txBox="1"/>
          <p:nvPr/>
        </p:nvSpPr>
        <p:spPr bwMode="gray">
          <a:xfrm>
            <a:off x="2981497" y="5106012"/>
            <a:ext cx="445956" cy="307777"/>
          </a:xfrm>
          <a:prstGeom prst="rect">
            <a:avLst/>
          </a:prstGeom>
          <a:noFill/>
        </p:spPr>
        <p:txBody>
          <a:bodyPr wrap="none" rtlCol="0">
            <a:spAutoFit/>
          </a:bodyPr>
          <a:lstStyle/>
          <a:p>
            <a:r>
              <a:rPr lang="en-US" altLang="zh-CN" sz="1400" b="1" dirty="0" smtClean="0">
                <a:solidFill>
                  <a:srgbClr val="30B5C5"/>
                </a:solidFill>
                <a:cs typeface="+mn-ea"/>
                <a:sym typeface="+mn-lt"/>
              </a:rPr>
              <a:t>OR</a:t>
            </a:r>
            <a:endParaRPr lang="zh-CN" altLang="en-US" sz="1400" b="1" dirty="0">
              <a:solidFill>
                <a:srgbClr val="30B5C5"/>
              </a:solidFill>
              <a:cs typeface="+mn-ea"/>
              <a:sym typeface="+mn-lt"/>
            </a:endParaRPr>
          </a:p>
        </p:txBody>
      </p:sp>
      <p:sp>
        <p:nvSpPr>
          <p:cNvPr id="14" name="Right Arrow 157"/>
          <p:cNvSpPr/>
          <p:nvPr/>
        </p:nvSpPr>
        <p:spPr bwMode="gray">
          <a:xfrm rot="5400000">
            <a:off x="1496187" y="3694143"/>
            <a:ext cx="459805" cy="31624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cs typeface="+mn-ea"/>
              <a:sym typeface="+mn-lt"/>
            </a:endParaRPr>
          </a:p>
        </p:txBody>
      </p:sp>
      <p:sp>
        <p:nvSpPr>
          <p:cNvPr id="15" name="Right Arrow 157"/>
          <p:cNvSpPr/>
          <p:nvPr/>
        </p:nvSpPr>
        <p:spPr bwMode="gray">
          <a:xfrm rot="5400000">
            <a:off x="4435035" y="3694143"/>
            <a:ext cx="459805" cy="31624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sp>
        <p:nvSpPr>
          <p:cNvPr id="16" name="Right Arrow 157"/>
          <p:cNvSpPr/>
          <p:nvPr/>
        </p:nvSpPr>
        <p:spPr bwMode="gray">
          <a:xfrm rot="5400000">
            <a:off x="1496187" y="5500050"/>
            <a:ext cx="459805" cy="31624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sp>
        <p:nvSpPr>
          <p:cNvPr id="17" name="Right Arrow 157"/>
          <p:cNvSpPr/>
          <p:nvPr/>
        </p:nvSpPr>
        <p:spPr bwMode="gray">
          <a:xfrm rot="5400000">
            <a:off x="4435035" y="5500050"/>
            <a:ext cx="459805" cy="31624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sp>
        <p:nvSpPr>
          <p:cNvPr id="18" name="圆角矩形 17"/>
          <p:cNvSpPr/>
          <p:nvPr/>
        </p:nvSpPr>
        <p:spPr bwMode="gray">
          <a:xfrm>
            <a:off x="6238557" y="3239611"/>
            <a:ext cx="4945277"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bg1"/>
                </a:solidFill>
                <a:cs typeface="+mn-ea"/>
                <a:sym typeface="+mn-lt"/>
              </a:rPr>
              <a:t>平台运营商</a:t>
            </a:r>
          </a:p>
        </p:txBody>
      </p:sp>
      <p:sp>
        <p:nvSpPr>
          <p:cNvPr id="19" name="圆角矩形 18"/>
          <p:cNvSpPr/>
          <p:nvPr/>
        </p:nvSpPr>
        <p:spPr bwMode="gray">
          <a:xfrm>
            <a:off x="6238557" y="4958547"/>
            <a:ext cx="1060798"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bg1"/>
                </a:solidFill>
                <a:cs typeface="+mn-ea"/>
                <a:sym typeface="+mn-lt"/>
              </a:rPr>
              <a:t>租户</a:t>
            </a:r>
            <a:r>
              <a:rPr lang="en-US" altLang="zh-CN" sz="1400" b="1">
                <a:solidFill>
                  <a:schemeClr val="bg1"/>
                </a:solidFill>
                <a:cs typeface="+mn-ea"/>
                <a:sym typeface="+mn-lt"/>
              </a:rPr>
              <a:t>1</a:t>
            </a:r>
          </a:p>
        </p:txBody>
      </p:sp>
      <p:sp>
        <p:nvSpPr>
          <p:cNvPr id="20" name="圆角矩形 19"/>
          <p:cNvSpPr/>
          <p:nvPr/>
        </p:nvSpPr>
        <p:spPr bwMode="gray">
          <a:xfrm>
            <a:off x="6238557" y="5818014"/>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cxnSp>
        <p:nvCxnSpPr>
          <p:cNvPr id="22" name="直接箭头连接符 21"/>
          <p:cNvCxnSpPr>
            <a:stCxn id="19" idx="2"/>
            <a:endCxn id="20" idx="0"/>
          </p:cNvCxnSpPr>
          <p:nvPr/>
        </p:nvCxnSpPr>
        <p:spPr bwMode="gray">
          <a:xfrm>
            <a:off x="6768956" y="5297101"/>
            <a:ext cx="0" cy="520913"/>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圆角矩形 24"/>
          <p:cNvSpPr/>
          <p:nvPr/>
        </p:nvSpPr>
        <p:spPr bwMode="gray">
          <a:xfrm>
            <a:off x="8554720" y="4099079"/>
            <a:ext cx="2629115"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smtClean="0">
                <a:solidFill>
                  <a:schemeClr val="bg1"/>
                </a:solidFill>
                <a:cs typeface="+mn-ea"/>
                <a:sym typeface="+mn-lt"/>
              </a:rPr>
              <a:t>MSP1</a:t>
            </a:r>
            <a:endParaRPr lang="en-US" altLang="zh-CN" sz="1400" b="1">
              <a:solidFill>
                <a:schemeClr val="bg1"/>
              </a:solidFill>
              <a:cs typeface="+mn-ea"/>
              <a:sym typeface="+mn-lt"/>
            </a:endParaRPr>
          </a:p>
        </p:txBody>
      </p:sp>
      <p:sp>
        <p:nvSpPr>
          <p:cNvPr id="27" name="圆角矩形 26"/>
          <p:cNvSpPr/>
          <p:nvPr/>
        </p:nvSpPr>
        <p:spPr bwMode="gray">
          <a:xfrm>
            <a:off x="8554720" y="4958547"/>
            <a:ext cx="1060798"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smtClean="0">
                <a:solidFill>
                  <a:schemeClr val="bg1"/>
                </a:solidFill>
                <a:cs typeface="+mn-ea"/>
                <a:sym typeface="+mn-lt"/>
              </a:rPr>
              <a:t>租户</a:t>
            </a:r>
            <a:r>
              <a:rPr lang="en-US" altLang="zh-CN" sz="1400" b="1" smtClean="0">
                <a:solidFill>
                  <a:schemeClr val="bg1"/>
                </a:solidFill>
                <a:cs typeface="+mn-ea"/>
                <a:sym typeface="+mn-lt"/>
              </a:rPr>
              <a:t>2</a:t>
            </a:r>
            <a:endParaRPr lang="en-US" altLang="zh-CN" sz="1400" b="1">
              <a:solidFill>
                <a:schemeClr val="bg1"/>
              </a:solidFill>
              <a:cs typeface="+mn-ea"/>
              <a:sym typeface="+mn-lt"/>
            </a:endParaRPr>
          </a:p>
        </p:txBody>
      </p:sp>
      <p:sp>
        <p:nvSpPr>
          <p:cNvPr id="29" name="圆角矩形 28"/>
          <p:cNvSpPr/>
          <p:nvPr/>
        </p:nvSpPr>
        <p:spPr bwMode="gray">
          <a:xfrm>
            <a:off x="10123036" y="4958547"/>
            <a:ext cx="1060798"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smtClean="0">
                <a:solidFill>
                  <a:schemeClr val="bg1"/>
                </a:solidFill>
                <a:cs typeface="+mn-ea"/>
                <a:sym typeface="+mn-lt"/>
              </a:rPr>
              <a:t>租户</a:t>
            </a:r>
            <a:r>
              <a:rPr lang="en-US" altLang="zh-CN" sz="1400" b="1" smtClean="0">
                <a:solidFill>
                  <a:schemeClr val="bg1"/>
                </a:solidFill>
                <a:cs typeface="+mn-ea"/>
                <a:sym typeface="+mn-lt"/>
              </a:rPr>
              <a:t>N</a:t>
            </a:r>
            <a:endParaRPr lang="en-US" altLang="zh-CN" sz="1400" b="1">
              <a:solidFill>
                <a:schemeClr val="bg1"/>
              </a:solidFill>
              <a:cs typeface="+mn-ea"/>
              <a:sym typeface="+mn-lt"/>
            </a:endParaRPr>
          </a:p>
        </p:txBody>
      </p:sp>
      <p:sp>
        <p:nvSpPr>
          <p:cNvPr id="31" name="圆角矩形 30"/>
          <p:cNvSpPr/>
          <p:nvPr/>
        </p:nvSpPr>
        <p:spPr bwMode="gray">
          <a:xfrm>
            <a:off x="7564554" y="5818014"/>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sp>
        <p:nvSpPr>
          <p:cNvPr id="32" name="圆角矩形 31"/>
          <p:cNvSpPr/>
          <p:nvPr/>
        </p:nvSpPr>
        <p:spPr bwMode="gray">
          <a:xfrm>
            <a:off x="8797038" y="5818014"/>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sp>
        <p:nvSpPr>
          <p:cNvPr id="33" name="圆角矩形 32"/>
          <p:cNvSpPr/>
          <p:nvPr/>
        </p:nvSpPr>
        <p:spPr bwMode="gray">
          <a:xfrm>
            <a:off x="10123036" y="5818014"/>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cxnSp>
        <p:nvCxnSpPr>
          <p:cNvPr id="35" name="直接连接符 34"/>
          <p:cNvCxnSpPr/>
          <p:nvPr/>
        </p:nvCxnSpPr>
        <p:spPr bwMode="gray">
          <a:xfrm flipH="1">
            <a:off x="8681720" y="3578165"/>
            <a:ext cx="0" cy="2450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gray">
          <a:xfrm>
            <a:off x="6768956" y="3823185"/>
            <a:ext cx="3088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bwMode="gray">
          <a:xfrm>
            <a:off x="6768956" y="3823185"/>
            <a:ext cx="0" cy="1135362"/>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bwMode="gray">
          <a:xfrm>
            <a:off x="9857836" y="3823185"/>
            <a:ext cx="0" cy="27589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bwMode="gray">
          <a:xfrm>
            <a:off x="9095836" y="4437633"/>
            <a:ext cx="0" cy="52091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bwMode="gray">
          <a:xfrm>
            <a:off x="10660476" y="4437633"/>
            <a:ext cx="0" cy="52091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gray">
          <a:xfrm>
            <a:off x="8064356" y="5516844"/>
            <a:ext cx="12750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bwMode="gray">
          <a:xfrm>
            <a:off x="8064356" y="5516844"/>
            <a:ext cx="0" cy="30117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bwMode="gray">
          <a:xfrm>
            <a:off x="9339436" y="5516844"/>
            <a:ext cx="0" cy="30117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bwMode="gray">
          <a:xfrm>
            <a:off x="10660476" y="5297101"/>
            <a:ext cx="0" cy="52091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任意多边形 58"/>
          <p:cNvSpPr/>
          <p:nvPr/>
        </p:nvSpPr>
        <p:spPr bwMode="gray">
          <a:xfrm>
            <a:off x="8321900" y="4266161"/>
            <a:ext cx="218596" cy="863600"/>
          </a:xfrm>
          <a:custGeom>
            <a:avLst/>
            <a:gdLst>
              <a:gd name="connsiteX0" fmla="*/ 0 w 30480"/>
              <a:gd name="connsiteY0" fmla="*/ 863600 h 863600"/>
              <a:gd name="connsiteX1" fmla="*/ 30480 w 30480"/>
              <a:gd name="connsiteY1" fmla="*/ 0 h 863600"/>
              <a:gd name="connsiteX0" fmla="*/ 42672 w 42672"/>
              <a:gd name="connsiteY0" fmla="*/ 869696 h 869696"/>
              <a:gd name="connsiteX1" fmla="*/ 0 w 42672"/>
              <a:gd name="connsiteY1" fmla="*/ 0 h 869696"/>
              <a:gd name="connsiteX0" fmla="*/ 147502 w 147502"/>
              <a:gd name="connsiteY0" fmla="*/ 869696 h 869696"/>
              <a:gd name="connsiteX1" fmla="*/ 104830 w 147502"/>
              <a:gd name="connsiteY1" fmla="*/ 0 h 869696"/>
              <a:gd name="connsiteX0" fmla="*/ 130150 w 154956"/>
              <a:gd name="connsiteY0" fmla="*/ 863600 h 863600"/>
              <a:gd name="connsiteX1" fmla="*/ 154534 w 154956"/>
              <a:gd name="connsiteY1" fmla="*/ 0 h 863600"/>
              <a:gd name="connsiteX0" fmla="*/ 194212 w 218596"/>
              <a:gd name="connsiteY0" fmla="*/ 863600 h 863600"/>
              <a:gd name="connsiteX1" fmla="*/ 218596 w 218596"/>
              <a:gd name="connsiteY1" fmla="*/ 0 h 863600"/>
            </a:gdLst>
            <a:ahLst/>
            <a:cxnLst>
              <a:cxn ang="0">
                <a:pos x="connsiteX0" y="connsiteY0"/>
              </a:cxn>
              <a:cxn ang="0">
                <a:pos x="connsiteX1" y="connsiteY1"/>
              </a:cxn>
            </a:cxnLst>
            <a:rect l="l" t="t" r="r" b="b"/>
            <a:pathLst>
              <a:path w="218596" h="863600">
                <a:moveTo>
                  <a:pt x="194212" y="863600"/>
                </a:moveTo>
                <a:cubicBezTo>
                  <a:pt x="-118716" y="585893"/>
                  <a:pt x="-11020" y="180171"/>
                  <a:pt x="218596" y="0"/>
                </a:cubicBezTo>
              </a:path>
            </a:pathLst>
          </a:custGeom>
          <a:ln w="19050">
            <a:solidFill>
              <a:schemeClr val="bg1">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62" name="矩形 61"/>
          <p:cNvSpPr/>
          <p:nvPr/>
        </p:nvSpPr>
        <p:spPr bwMode="gray">
          <a:xfrm>
            <a:off x="7564554" y="4518372"/>
            <a:ext cx="781266" cy="461665"/>
          </a:xfrm>
          <a:prstGeom prst="rect">
            <a:avLst/>
          </a:prstGeom>
        </p:spPr>
        <p:txBody>
          <a:bodyPr wrap="square">
            <a:spAutoFit/>
          </a:bodyPr>
          <a:lstStyle/>
          <a:p>
            <a:pPr algn="r"/>
            <a:r>
              <a:rPr lang="zh-CN" altLang="en-US" sz="1200">
                <a:cs typeface="+mn-ea"/>
                <a:sym typeface="+mn-lt"/>
              </a:rPr>
              <a:t>授权给</a:t>
            </a:r>
            <a:r>
              <a:rPr lang="en-US" altLang="zh-CN" sz="1200">
                <a:cs typeface="+mn-ea"/>
                <a:sym typeface="+mn-lt"/>
              </a:rPr>
              <a:t>MSP</a:t>
            </a:r>
          </a:p>
        </p:txBody>
      </p:sp>
      <p:sp>
        <p:nvSpPr>
          <p:cNvPr id="63" name="任意多边形 62"/>
          <p:cNvSpPr/>
          <p:nvPr/>
        </p:nvSpPr>
        <p:spPr bwMode="gray">
          <a:xfrm>
            <a:off x="9962200" y="4452665"/>
            <a:ext cx="164235" cy="648835"/>
          </a:xfrm>
          <a:custGeom>
            <a:avLst/>
            <a:gdLst>
              <a:gd name="connsiteX0" fmla="*/ 0 w 30480"/>
              <a:gd name="connsiteY0" fmla="*/ 863600 h 863600"/>
              <a:gd name="connsiteX1" fmla="*/ 30480 w 30480"/>
              <a:gd name="connsiteY1" fmla="*/ 0 h 863600"/>
              <a:gd name="connsiteX0" fmla="*/ 42672 w 42672"/>
              <a:gd name="connsiteY0" fmla="*/ 869696 h 869696"/>
              <a:gd name="connsiteX1" fmla="*/ 0 w 42672"/>
              <a:gd name="connsiteY1" fmla="*/ 0 h 869696"/>
              <a:gd name="connsiteX0" fmla="*/ 147502 w 147502"/>
              <a:gd name="connsiteY0" fmla="*/ 869696 h 869696"/>
              <a:gd name="connsiteX1" fmla="*/ 104830 w 147502"/>
              <a:gd name="connsiteY1" fmla="*/ 0 h 869696"/>
              <a:gd name="connsiteX0" fmla="*/ 130150 w 154956"/>
              <a:gd name="connsiteY0" fmla="*/ 863600 h 863600"/>
              <a:gd name="connsiteX1" fmla="*/ 154534 w 154956"/>
              <a:gd name="connsiteY1" fmla="*/ 0 h 863600"/>
              <a:gd name="connsiteX0" fmla="*/ 194212 w 218596"/>
              <a:gd name="connsiteY0" fmla="*/ 863600 h 863600"/>
              <a:gd name="connsiteX1" fmla="*/ 218596 w 218596"/>
              <a:gd name="connsiteY1" fmla="*/ 0 h 863600"/>
            </a:gdLst>
            <a:ahLst/>
            <a:cxnLst>
              <a:cxn ang="0">
                <a:pos x="connsiteX0" y="connsiteY0"/>
              </a:cxn>
              <a:cxn ang="0">
                <a:pos x="connsiteX1" y="connsiteY1"/>
              </a:cxn>
            </a:cxnLst>
            <a:rect l="l" t="t" r="r" b="b"/>
            <a:pathLst>
              <a:path w="218596" h="863600">
                <a:moveTo>
                  <a:pt x="194212" y="863600"/>
                </a:moveTo>
                <a:cubicBezTo>
                  <a:pt x="-118716" y="585893"/>
                  <a:pt x="-11020" y="180171"/>
                  <a:pt x="218596" y="0"/>
                </a:cubicBezTo>
              </a:path>
            </a:pathLst>
          </a:custGeom>
          <a:ln w="19050">
            <a:solidFill>
              <a:schemeClr val="bg1">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64" name="矩形 63"/>
          <p:cNvSpPr/>
          <p:nvPr/>
        </p:nvSpPr>
        <p:spPr bwMode="gray">
          <a:xfrm>
            <a:off x="9227211" y="4518372"/>
            <a:ext cx="781266" cy="461665"/>
          </a:xfrm>
          <a:prstGeom prst="rect">
            <a:avLst/>
          </a:prstGeom>
        </p:spPr>
        <p:txBody>
          <a:bodyPr wrap="square">
            <a:spAutoFit/>
          </a:bodyPr>
          <a:lstStyle/>
          <a:p>
            <a:pPr algn="r"/>
            <a:r>
              <a:rPr lang="zh-CN" altLang="en-US" sz="1200">
                <a:cs typeface="+mn-ea"/>
                <a:sym typeface="+mn-lt"/>
              </a:rPr>
              <a:t>授权给</a:t>
            </a:r>
            <a:r>
              <a:rPr lang="en-US" altLang="zh-CN" sz="1200">
                <a:cs typeface="+mn-ea"/>
                <a:sym typeface="+mn-lt"/>
              </a:rPr>
              <a:t>MSP</a:t>
            </a:r>
          </a:p>
        </p:txBody>
      </p:sp>
    </p:spTree>
    <p:extLst>
      <p:ext uri="{BB962C8B-B14F-4D97-AF65-F5344CB8AC3E}">
        <p14:creationId xmlns:p14="http://schemas.microsoft.com/office/powerpoint/2010/main" val="809727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a:latin typeface="+mn-lt"/>
                <a:ea typeface="+mn-ea"/>
                <a:cs typeface="+mn-ea"/>
                <a:sym typeface="+mn-lt"/>
              </a:rPr>
              <a:t>License</a:t>
            </a:r>
            <a:r>
              <a:rPr lang="zh-CN" altLang="en-US">
                <a:latin typeface="+mn-lt"/>
                <a:ea typeface="+mn-ea"/>
                <a:cs typeface="+mn-ea"/>
                <a:sym typeface="+mn-lt"/>
              </a:rPr>
              <a:t>交易</a:t>
            </a:r>
            <a:r>
              <a:rPr lang="en-US" altLang="zh-CN">
                <a:latin typeface="+mn-lt"/>
                <a:ea typeface="+mn-ea"/>
                <a:cs typeface="+mn-ea"/>
                <a:sym typeface="+mn-lt"/>
              </a:rPr>
              <a:t>/</a:t>
            </a:r>
            <a:r>
              <a:rPr lang="zh-CN" altLang="en-US">
                <a:latin typeface="+mn-lt"/>
                <a:ea typeface="+mn-ea"/>
                <a:cs typeface="+mn-ea"/>
                <a:sym typeface="+mn-lt"/>
              </a:rPr>
              <a:t>购买模式选择</a:t>
            </a:r>
          </a:p>
        </p:txBody>
      </p:sp>
      <p:sp>
        <p:nvSpPr>
          <p:cNvPr id="3" name="文本占位符 2"/>
          <p:cNvSpPr>
            <a:spLocks noGrp="1"/>
          </p:cNvSpPr>
          <p:nvPr>
            <p:ph type="body" sz="quarter" idx="10"/>
          </p:nvPr>
        </p:nvSpPr>
        <p:spPr bwMode="gray">
          <a:xfrm>
            <a:off x="455612" y="1047750"/>
            <a:ext cx="11293475" cy="552911"/>
          </a:xfrm>
          <a:prstGeom prst="rect">
            <a:avLst/>
          </a:prstGeom>
        </p:spPr>
        <p:txBody>
          <a:bodyPr/>
          <a:lstStyle/>
          <a:p>
            <a:r>
              <a:rPr lang="zh-CN" altLang="en-US" sz="1800" dirty="0" smtClean="0">
                <a:latin typeface="+mn-lt"/>
                <a:ea typeface="+mn-ea"/>
                <a:cs typeface="+mn-ea"/>
                <a:sym typeface="+mn-lt"/>
              </a:rPr>
              <a:t>选择</a:t>
            </a:r>
            <a:r>
              <a:rPr lang="zh-CN" altLang="en-US" sz="1800" dirty="0">
                <a:latin typeface="+mn-lt"/>
                <a:ea typeface="+mn-ea"/>
                <a:cs typeface="+mn-ea"/>
                <a:sym typeface="+mn-lt"/>
              </a:rPr>
              <a:t>云管理部署场景：华为公有云或</a:t>
            </a:r>
            <a:r>
              <a:rPr lang="en-US" altLang="zh-CN" sz="1800" dirty="0">
                <a:latin typeface="+mn-lt"/>
                <a:ea typeface="+mn-ea"/>
                <a:cs typeface="+mn-ea"/>
                <a:sym typeface="+mn-lt"/>
              </a:rPr>
              <a:t>MSP</a:t>
            </a:r>
            <a:r>
              <a:rPr lang="zh-CN" altLang="en-US" sz="1800" dirty="0">
                <a:latin typeface="+mn-lt"/>
                <a:ea typeface="+mn-ea"/>
                <a:cs typeface="+mn-ea"/>
                <a:sym typeface="+mn-lt"/>
              </a:rPr>
              <a:t>自建云</a:t>
            </a:r>
            <a:r>
              <a:rPr lang="zh-CN" altLang="en-US" sz="1800" dirty="0" smtClean="0">
                <a:latin typeface="+mn-lt"/>
                <a:ea typeface="+mn-ea"/>
                <a:cs typeface="+mn-ea"/>
                <a:sym typeface="+mn-lt"/>
              </a:rPr>
              <a:t>；根据</a:t>
            </a:r>
            <a:r>
              <a:rPr lang="zh-CN" altLang="en-US" sz="1800" dirty="0">
                <a:latin typeface="+mn-lt"/>
                <a:ea typeface="+mn-ea"/>
                <a:cs typeface="+mn-ea"/>
                <a:sym typeface="+mn-lt"/>
              </a:rPr>
              <a:t>部署场景，选择对应的</a:t>
            </a:r>
            <a:r>
              <a:rPr lang="en-US" altLang="zh-CN" sz="1800" dirty="0">
                <a:latin typeface="+mn-lt"/>
                <a:ea typeface="+mn-ea"/>
                <a:cs typeface="+mn-ea"/>
                <a:sym typeface="+mn-lt"/>
              </a:rPr>
              <a:t>License</a:t>
            </a:r>
            <a:r>
              <a:rPr lang="zh-CN" altLang="en-US" sz="1800" dirty="0">
                <a:latin typeface="+mn-lt"/>
                <a:ea typeface="+mn-ea"/>
                <a:cs typeface="+mn-ea"/>
                <a:sym typeface="+mn-lt"/>
              </a:rPr>
              <a:t>交易或购买方式。</a:t>
            </a:r>
          </a:p>
        </p:txBody>
      </p:sp>
      <p:sp>
        <p:nvSpPr>
          <p:cNvPr id="4" name="圆角矩形 3"/>
          <p:cNvSpPr/>
          <p:nvPr/>
        </p:nvSpPr>
        <p:spPr bwMode="gray">
          <a:xfrm>
            <a:off x="731837" y="2009019"/>
            <a:ext cx="5295417" cy="419175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285750" indent="-200025">
              <a:lnSpc>
                <a:spcPts val="2400"/>
              </a:lnSpc>
              <a:spcAft>
                <a:spcPts val="600"/>
              </a:spcAft>
              <a:buFont typeface="Arial" panose="020B0604020202020204" pitchFamily="34" charset="0"/>
              <a:buChar char="•"/>
            </a:pPr>
            <a:r>
              <a:rPr lang="en-US" altLang="zh-CN" sz="1400" dirty="0">
                <a:solidFill>
                  <a:schemeClr val="tx1"/>
                </a:solidFill>
                <a:cs typeface="+mn-ea"/>
                <a:sym typeface="+mn-lt"/>
              </a:rPr>
              <a:t>License</a:t>
            </a:r>
            <a:r>
              <a:rPr lang="zh-CN" altLang="en-US" sz="1400" dirty="0">
                <a:solidFill>
                  <a:schemeClr val="tx1"/>
                </a:solidFill>
                <a:cs typeface="+mn-ea"/>
                <a:sym typeface="+mn-lt"/>
              </a:rPr>
              <a:t>管控的是最终租户的可用</a:t>
            </a:r>
            <a:r>
              <a:rPr lang="zh-CN" altLang="en-US" sz="1400" dirty="0" smtClean="0">
                <a:solidFill>
                  <a:schemeClr val="tx1"/>
                </a:solidFill>
                <a:cs typeface="+mn-ea"/>
                <a:sym typeface="+mn-lt"/>
              </a:rPr>
              <a:t>资源。</a:t>
            </a:r>
            <a:endParaRPr lang="zh-CN" altLang="en-US" sz="1400" dirty="0">
              <a:solidFill>
                <a:schemeClr val="tx1"/>
              </a:solidFill>
              <a:cs typeface="+mn-ea"/>
              <a:sym typeface="+mn-lt"/>
            </a:endParaRPr>
          </a:p>
          <a:p>
            <a:pPr marL="285750" indent="-200025">
              <a:lnSpc>
                <a:spcPts val="2400"/>
              </a:lnSpc>
              <a:spcAft>
                <a:spcPts val="600"/>
              </a:spcAft>
              <a:buFont typeface="Arial" panose="020B0604020202020204" pitchFamily="34" charset="0"/>
              <a:buChar char="•"/>
            </a:pPr>
            <a:r>
              <a:rPr lang="zh-CN" altLang="en-US" sz="1400" dirty="0">
                <a:solidFill>
                  <a:schemeClr val="tx1"/>
                </a:solidFill>
                <a:cs typeface="+mn-ea"/>
                <a:sym typeface="+mn-lt"/>
              </a:rPr>
              <a:t>支持从华为公有云在线购买服务的线上交易模式，线上交易模式不支持池</a:t>
            </a:r>
            <a:r>
              <a:rPr lang="zh-CN" altLang="en-US" sz="1400" dirty="0" smtClean="0">
                <a:solidFill>
                  <a:schemeClr val="tx1"/>
                </a:solidFill>
                <a:cs typeface="+mn-ea"/>
                <a:sym typeface="+mn-lt"/>
              </a:rPr>
              <a:t>化。</a:t>
            </a:r>
            <a:endParaRPr lang="zh-CN" altLang="en-US" sz="1400" dirty="0">
              <a:solidFill>
                <a:schemeClr val="tx1"/>
              </a:solidFill>
              <a:cs typeface="+mn-ea"/>
              <a:sym typeface="+mn-lt"/>
            </a:endParaRPr>
          </a:p>
          <a:p>
            <a:pPr marL="285750" indent="-200025">
              <a:lnSpc>
                <a:spcPts val="2400"/>
              </a:lnSpc>
              <a:spcAft>
                <a:spcPts val="600"/>
              </a:spcAft>
              <a:buFont typeface="Arial" panose="020B0604020202020204" pitchFamily="34" charset="0"/>
              <a:buChar char="•"/>
            </a:pPr>
            <a:r>
              <a:rPr lang="zh-CN" altLang="en-US" sz="1400" dirty="0">
                <a:solidFill>
                  <a:schemeClr val="tx1"/>
                </a:solidFill>
                <a:cs typeface="+mn-ea"/>
                <a:sym typeface="+mn-lt"/>
              </a:rPr>
              <a:t>支持线下交易，需要</a:t>
            </a:r>
            <a:r>
              <a:rPr lang="zh-CN" altLang="en-US" sz="1400" dirty="0" smtClean="0">
                <a:solidFill>
                  <a:schemeClr val="tx1"/>
                </a:solidFill>
                <a:cs typeface="+mn-ea"/>
                <a:sym typeface="+mn-lt"/>
              </a:rPr>
              <a:t>在云</a:t>
            </a:r>
            <a:r>
              <a:rPr lang="zh-CN" altLang="en-US" sz="1400" dirty="0">
                <a:solidFill>
                  <a:schemeClr val="tx1"/>
                </a:solidFill>
                <a:cs typeface="+mn-ea"/>
                <a:sym typeface="+mn-lt"/>
              </a:rPr>
              <a:t>管理平台上加载激活码，并且支持池化，可统一</a:t>
            </a:r>
            <a:r>
              <a:rPr lang="zh-CN" altLang="en-US" sz="1400" dirty="0" smtClean="0">
                <a:solidFill>
                  <a:schemeClr val="tx1"/>
                </a:solidFill>
                <a:cs typeface="+mn-ea"/>
                <a:sym typeface="+mn-lt"/>
              </a:rPr>
              <a:t>到期。</a:t>
            </a:r>
            <a:endParaRPr lang="zh-CN" altLang="en-US" sz="1400" dirty="0">
              <a:solidFill>
                <a:schemeClr val="tx1"/>
              </a:solidFill>
              <a:cs typeface="+mn-ea"/>
              <a:sym typeface="+mn-lt"/>
            </a:endParaRPr>
          </a:p>
        </p:txBody>
      </p:sp>
      <p:sp>
        <p:nvSpPr>
          <p:cNvPr id="5" name="圆角矩形 4"/>
          <p:cNvSpPr/>
          <p:nvPr/>
        </p:nvSpPr>
        <p:spPr bwMode="gray">
          <a:xfrm>
            <a:off x="731837" y="1600662"/>
            <a:ext cx="5295417"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场景</a:t>
            </a:r>
            <a:r>
              <a:rPr lang="en-US" altLang="zh-CN" sz="1600">
                <a:solidFill>
                  <a:srgbClr val="30B5C5"/>
                </a:solidFill>
                <a:latin typeface="Huawei Sans" panose="020C0503030203020204" pitchFamily="34" charset="0"/>
                <a:ea typeface="方正兰亭黑简体" panose="02000000000000000000" pitchFamily="2" charset="-122"/>
                <a:sym typeface="+mn-lt"/>
              </a:rPr>
              <a:t>1</a:t>
            </a:r>
            <a:r>
              <a:rPr lang="zh-CN" altLang="en-US" sz="1600">
                <a:solidFill>
                  <a:srgbClr val="30B5C5"/>
                </a:solidFill>
                <a:latin typeface="Huawei Sans" panose="020C0503030203020204" pitchFamily="34" charset="0"/>
                <a:ea typeface="方正兰亭黑简体" panose="02000000000000000000" pitchFamily="2" charset="-122"/>
                <a:sym typeface="+mn-lt"/>
              </a:rPr>
              <a:t>：华为公有云场景</a:t>
            </a:r>
          </a:p>
        </p:txBody>
      </p:sp>
      <p:sp>
        <p:nvSpPr>
          <p:cNvPr id="6" name="圆角矩形 5"/>
          <p:cNvSpPr/>
          <p:nvPr/>
        </p:nvSpPr>
        <p:spPr bwMode="gray">
          <a:xfrm>
            <a:off x="6182139" y="2009019"/>
            <a:ext cx="5278024" cy="4191756"/>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285750" indent="-200025">
              <a:lnSpc>
                <a:spcPts val="2400"/>
              </a:lnSpc>
              <a:spcAft>
                <a:spcPts val="600"/>
              </a:spcAft>
              <a:buFont typeface="Arial" panose="020B0604020202020204" pitchFamily="34" charset="0"/>
              <a:buChar char="•"/>
            </a:pPr>
            <a:r>
              <a:rPr lang="en-US" altLang="zh-CN" sz="1400" dirty="0">
                <a:solidFill>
                  <a:schemeClr val="tx1"/>
                </a:solidFill>
                <a:cs typeface="+mn-ea"/>
                <a:sym typeface="+mn-lt"/>
              </a:rPr>
              <a:t>License</a:t>
            </a:r>
            <a:r>
              <a:rPr lang="zh-CN" altLang="en-US" sz="1400" dirty="0">
                <a:solidFill>
                  <a:schemeClr val="tx1"/>
                </a:solidFill>
                <a:cs typeface="+mn-ea"/>
                <a:sym typeface="+mn-lt"/>
              </a:rPr>
              <a:t>管控的</a:t>
            </a:r>
            <a:r>
              <a:rPr lang="zh-CN" altLang="en-US" sz="1400" dirty="0" smtClean="0">
                <a:solidFill>
                  <a:schemeClr val="tx1"/>
                </a:solidFill>
                <a:cs typeface="+mn-ea"/>
                <a:sym typeface="+mn-lt"/>
              </a:rPr>
              <a:t>是平台</a:t>
            </a:r>
            <a:r>
              <a:rPr lang="zh-CN" altLang="en-US" sz="1400" dirty="0">
                <a:solidFill>
                  <a:schemeClr val="tx1"/>
                </a:solidFill>
                <a:cs typeface="+mn-ea"/>
                <a:sym typeface="+mn-lt"/>
              </a:rPr>
              <a:t>可用资源，不管控租户的可用</a:t>
            </a:r>
            <a:r>
              <a:rPr lang="zh-CN" altLang="en-US" sz="1400" dirty="0" smtClean="0">
                <a:solidFill>
                  <a:schemeClr val="tx1"/>
                </a:solidFill>
                <a:cs typeface="+mn-ea"/>
                <a:sym typeface="+mn-lt"/>
              </a:rPr>
              <a:t>资源。</a:t>
            </a:r>
            <a:endParaRPr lang="en-US" altLang="zh-CN" sz="1400" dirty="0" smtClean="0">
              <a:solidFill>
                <a:schemeClr val="tx1"/>
              </a:solidFill>
              <a:cs typeface="+mn-ea"/>
              <a:sym typeface="+mn-lt"/>
            </a:endParaRPr>
          </a:p>
          <a:p>
            <a:pPr marL="285750" indent="-200025">
              <a:lnSpc>
                <a:spcPts val="2400"/>
              </a:lnSpc>
              <a:spcAft>
                <a:spcPts val="600"/>
              </a:spcAft>
              <a:buFont typeface="Arial" panose="020B0604020202020204" pitchFamily="34" charset="0"/>
              <a:buChar char="•"/>
            </a:pPr>
            <a:r>
              <a:rPr lang="zh-CN" altLang="en-US" sz="1400" dirty="0" smtClean="0">
                <a:solidFill>
                  <a:schemeClr val="tx1"/>
                </a:solidFill>
                <a:cs typeface="+mn-ea"/>
                <a:sym typeface="+mn-lt"/>
              </a:rPr>
              <a:t>仅</a:t>
            </a:r>
            <a:r>
              <a:rPr lang="zh-CN" altLang="en-US" sz="1400" dirty="0">
                <a:solidFill>
                  <a:schemeClr val="tx1"/>
                </a:solidFill>
                <a:cs typeface="+mn-ea"/>
                <a:sym typeface="+mn-lt"/>
              </a:rPr>
              <a:t>支持线下交易，需要</a:t>
            </a:r>
            <a:r>
              <a:rPr lang="zh-CN" altLang="en-US" sz="1400" dirty="0" smtClean="0">
                <a:solidFill>
                  <a:schemeClr val="tx1"/>
                </a:solidFill>
                <a:cs typeface="+mn-ea"/>
                <a:sym typeface="+mn-lt"/>
              </a:rPr>
              <a:t>在云</a:t>
            </a:r>
            <a:r>
              <a:rPr lang="zh-CN" altLang="en-US" sz="1400" dirty="0">
                <a:solidFill>
                  <a:schemeClr val="tx1"/>
                </a:solidFill>
                <a:cs typeface="+mn-ea"/>
                <a:sym typeface="+mn-lt"/>
              </a:rPr>
              <a:t>管理平台上加载</a:t>
            </a:r>
            <a:r>
              <a:rPr lang="en-US" altLang="zh-CN" sz="1400" dirty="0">
                <a:solidFill>
                  <a:schemeClr val="tx1"/>
                </a:solidFill>
                <a:cs typeface="+mn-ea"/>
                <a:sym typeface="+mn-lt"/>
              </a:rPr>
              <a:t>License</a:t>
            </a:r>
            <a:r>
              <a:rPr lang="zh-CN" altLang="en-US" sz="1400" dirty="0">
                <a:solidFill>
                  <a:schemeClr val="tx1"/>
                </a:solidFill>
                <a:cs typeface="+mn-ea"/>
                <a:sym typeface="+mn-lt"/>
              </a:rPr>
              <a:t>文件，并且支持池化，可统一到期</a:t>
            </a:r>
            <a:r>
              <a:rPr lang="zh-CN" altLang="en-US" sz="1400" dirty="0" smtClean="0">
                <a:solidFill>
                  <a:schemeClr val="tx1"/>
                </a:solidFill>
                <a:cs typeface="+mn-ea"/>
                <a:sym typeface="+mn-lt"/>
              </a:rPr>
              <a:t>。</a:t>
            </a:r>
            <a:endParaRPr lang="zh-CN" altLang="en-US" sz="1400" dirty="0">
              <a:solidFill>
                <a:schemeClr val="tx1"/>
              </a:solidFill>
              <a:cs typeface="+mn-ea"/>
              <a:sym typeface="+mn-lt"/>
            </a:endParaRPr>
          </a:p>
        </p:txBody>
      </p:sp>
      <p:sp>
        <p:nvSpPr>
          <p:cNvPr id="7" name="圆角矩形 6"/>
          <p:cNvSpPr/>
          <p:nvPr/>
        </p:nvSpPr>
        <p:spPr bwMode="gray">
          <a:xfrm>
            <a:off x="6182139" y="1600662"/>
            <a:ext cx="5278024"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场景</a:t>
            </a:r>
            <a:r>
              <a:rPr lang="en-US" altLang="zh-CN" sz="1600">
                <a:solidFill>
                  <a:srgbClr val="30B5C5"/>
                </a:solidFill>
                <a:latin typeface="Huawei Sans" panose="020C0503030203020204" pitchFamily="34" charset="0"/>
                <a:ea typeface="方正兰亭黑简体" panose="02000000000000000000" pitchFamily="2" charset="-122"/>
                <a:sym typeface="+mn-lt"/>
              </a:rPr>
              <a:t>2</a:t>
            </a:r>
            <a:r>
              <a:rPr lang="zh-CN" altLang="en-US" sz="1600">
                <a:solidFill>
                  <a:srgbClr val="30B5C5"/>
                </a:solidFill>
                <a:latin typeface="Huawei Sans" panose="020C0503030203020204" pitchFamily="34" charset="0"/>
                <a:ea typeface="方正兰亭黑简体" panose="02000000000000000000" pitchFamily="2" charset="-122"/>
                <a:sym typeface="+mn-lt"/>
              </a:rPr>
              <a:t>：</a:t>
            </a:r>
            <a:r>
              <a:rPr lang="en-US" altLang="zh-CN" sz="1600">
                <a:solidFill>
                  <a:srgbClr val="30B5C5"/>
                </a:solidFill>
                <a:latin typeface="Huawei Sans" panose="020C0503030203020204" pitchFamily="34" charset="0"/>
                <a:ea typeface="方正兰亭黑简体" panose="02000000000000000000" pitchFamily="2" charset="-122"/>
                <a:sym typeface="+mn-lt"/>
              </a:rPr>
              <a:t>MSP</a:t>
            </a:r>
            <a:r>
              <a:rPr lang="zh-CN" altLang="en-US" sz="1600">
                <a:solidFill>
                  <a:srgbClr val="30B5C5"/>
                </a:solidFill>
                <a:latin typeface="Huawei Sans" panose="020C0503030203020204" pitchFamily="34" charset="0"/>
                <a:ea typeface="方正兰亭黑简体" panose="02000000000000000000" pitchFamily="2" charset="-122"/>
                <a:sym typeface="+mn-lt"/>
              </a:rPr>
              <a:t>自建云场景</a:t>
            </a:r>
          </a:p>
        </p:txBody>
      </p:sp>
      <p:sp>
        <p:nvSpPr>
          <p:cNvPr id="8" name="矩形 7"/>
          <p:cNvSpPr/>
          <p:nvPr/>
        </p:nvSpPr>
        <p:spPr bwMode="gray">
          <a:xfrm>
            <a:off x="898936" y="4691821"/>
            <a:ext cx="4993271" cy="595596"/>
          </a:xfrm>
          <a:prstGeom prst="rect">
            <a:avLst/>
          </a:prstGeom>
          <a:solidFill>
            <a:srgbClr val="D7F2F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377" eaLnBrk="0" hangingPunct="0">
              <a:defRPr/>
            </a:pPr>
            <a:endParaRPr lang="zh-CN" altLang="en-US" sz="1200" kern="0">
              <a:solidFill>
                <a:prstClr val="black"/>
              </a:solidFill>
            </a:endParaRPr>
          </a:p>
        </p:txBody>
      </p:sp>
      <p:sp>
        <p:nvSpPr>
          <p:cNvPr id="9" name="矩形 8"/>
          <p:cNvSpPr/>
          <p:nvPr/>
        </p:nvSpPr>
        <p:spPr bwMode="gray">
          <a:xfrm>
            <a:off x="898936" y="3933077"/>
            <a:ext cx="4993271" cy="408336"/>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377" eaLnBrk="0" hangingPunct="0">
              <a:defRPr/>
            </a:pPr>
            <a:endParaRPr lang="zh-CN" altLang="en-US" sz="1200" kern="0">
              <a:solidFill>
                <a:prstClr val="black"/>
              </a:solidFill>
            </a:endParaRPr>
          </a:p>
        </p:txBody>
      </p:sp>
      <p:sp>
        <p:nvSpPr>
          <p:cNvPr id="10" name="文本框 9"/>
          <p:cNvSpPr txBox="1"/>
          <p:nvPr/>
        </p:nvSpPr>
        <p:spPr bwMode="gray">
          <a:xfrm>
            <a:off x="924595" y="4851120"/>
            <a:ext cx="1415772" cy="276999"/>
          </a:xfrm>
          <a:prstGeom prst="rect">
            <a:avLst/>
          </a:prstGeom>
          <a:noFill/>
          <a:ln>
            <a:noFill/>
          </a:ln>
        </p:spPr>
        <p:txBody>
          <a:bodyPr wrap="none" rtlCol="0">
            <a:spAutoFit/>
          </a:bodyPr>
          <a:lstStyle/>
          <a:p>
            <a:pPr defTabSz="1219242">
              <a:defRPr/>
            </a:pPr>
            <a:r>
              <a:rPr lang="zh-CN" altLang="en-US" sz="1200" b="1" kern="0"/>
              <a:t>华</a:t>
            </a:r>
            <a:r>
              <a:rPr lang="zh-CN" altLang="en-US" sz="1200" b="1" kern="0" smtClean="0"/>
              <a:t>为客户（</a:t>
            </a:r>
            <a:r>
              <a:rPr lang="zh-CN" altLang="en-US" sz="1200" b="1" kern="0" dirty="0"/>
              <a:t>租户）</a:t>
            </a:r>
          </a:p>
        </p:txBody>
      </p:sp>
      <p:sp>
        <p:nvSpPr>
          <p:cNvPr id="11" name="圆角矩形 10"/>
          <p:cNvSpPr/>
          <p:nvPr/>
        </p:nvSpPr>
        <p:spPr bwMode="gray">
          <a:xfrm>
            <a:off x="3480259" y="4853649"/>
            <a:ext cx="515098" cy="271938"/>
          </a:xfrm>
          <a:prstGeom prst="roundRect">
            <a:avLst/>
          </a:prstGeom>
          <a:solidFill>
            <a:srgbClr val="94DAE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r>
              <a:rPr lang="zh-CN" altLang="en-US" sz="1200" kern="0" dirty="0"/>
              <a:t>渠道</a:t>
            </a:r>
          </a:p>
        </p:txBody>
      </p:sp>
      <p:sp>
        <p:nvSpPr>
          <p:cNvPr id="12" name="圆角矩形 11"/>
          <p:cNvSpPr/>
          <p:nvPr/>
        </p:nvSpPr>
        <p:spPr bwMode="gray">
          <a:xfrm>
            <a:off x="2524016" y="4853649"/>
            <a:ext cx="801358" cy="271938"/>
          </a:xfrm>
          <a:prstGeom prst="roundRect">
            <a:avLst/>
          </a:prstGeom>
          <a:solidFill>
            <a:srgbClr val="94DAE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r>
              <a:rPr lang="en-US" altLang="zh-CN" sz="1200" kern="0" dirty="0"/>
              <a:t>NA/</a:t>
            </a:r>
            <a:r>
              <a:rPr lang="zh-CN" altLang="en-US" sz="1200" kern="0" dirty="0"/>
              <a:t>战核</a:t>
            </a:r>
          </a:p>
        </p:txBody>
      </p:sp>
      <p:sp>
        <p:nvSpPr>
          <p:cNvPr id="13" name="圆角矩形 12"/>
          <p:cNvSpPr/>
          <p:nvPr/>
        </p:nvSpPr>
        <p:spPr bwMode="gray">
          <a:xfrm>
            <a:off x="5004115" y="4853649"/>
            <a:ext cx="756901" cy="271938"/>
          </a:xfrm>
          <a:prstGeom prst="roundRect">
            <a:avLst/>
          </a:prstGeom>
          <a:solidFill>
            <a:srgbClr val="94DAE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r>
              <a:rPr lang="zh-CN" altLang="en-US" sz="1200" kern="0" dirty="0"/>
              <a:t>零售客户</a:t>
            </a:r>
          </a:p>
        </p:txBody>
      </p:sp>
      <p:sp>
        <p:nvSpPr>
          <p:cNvPr id="14" name="文本框 13"/>
          <p:cNvSpPr txBox="1"/>
          <p:nvPr/>
        </p:nvSpPr>
        <p:spPr bwMode="gray">
          <a:xfrm>
            <a:off x="924595" y="3998746"/>
            <a:ext cx="1338828" cy="276999"/>
          </a:xfrm>
          <a:prstGeom prst="rect">
            <a:avLst/>
          </a:prstGeom>
          <a:noFill/>
          <a:ln>
            <a:noFill/>
          </a:ln>
        </p:spPr>
        <p:txBody>
          <a:bodyPr wrap="none" rtlCol="0">
            <a:spAutoFit/>
          </a:bodyPr>
          <a:lstStyle/>
          <a:p>
            <a:pPr defTabSz="1219242">
              <a:defRPr/>
            </a:pPr>
            <a:r>
              <a:rPr lang="en-US" altLang="zh-CN" sz="1200" b="1" kern="0" dirty="0"/>
              <a:t>License</a:t>
            </a:r>
            <a:r>
              <a:rPr lang="zh-CN" altLang="en-US" sz="1200" b="1" kern="0" dirty="0"/>
              <a:t>交易方式</a:t>
            </a:r>
          </a:p>
        </p:txBody>
      </p:sp>
      <p:sp>
        <p:nvSpPr>
          <p:cNvPr id="15" name="圆角矩形 14"/>
          <p:cNvSpPr/>
          <p:nvPr/>
        </p:nvSpPr>
        <p:spPr bwMode="gray">
          <a:xfrm>
            <a:off x="2837713" y="4001276"/>
            <a:ext cx="843072" cy="271938"/>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defRPr/>
            </a:pPr>
            <a:r>
              <a:rPr lang="zh-CN" altLang="en-US" sz="1200" kern="0" dirty="0"/>
              <a:t>线下交易</a:t>
            </a:r>
          </a:p>
        </p:txBody>
      </p:sp>
      <p:sp>
        <p:nvSpPr>
          <p:cNvPr id="16" name="圆角矩形 15"/>
          <p:cNvSpPr/>
          <p:nvPr/>
        </p:nvSpPr>
        <p:spPr bwMode="gray">
          <a:xfrm>
            <a:off x="4134508" y="4001276"/>
            <a:ext cx="1447644" cy="271938"/>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defRPr/>
            </a:pPr>
            <a:r>
              <a:rPr lang="zh-CN" altLang="en-US" sz="1200" kern="0" dirty="0"/>
              <a:t>华为云线上交易</a:t>
            </a:r>
          </a:p>
        </p:txBody>
      </p:sp>
      <p:cxnSp>
        <p:nvCxnSpPr>
          <p:cNvPr id="17" name="直接箭头连接符 16"/>
          <p:cNvCxnSpPr/>
          <p:nvPr/>
        </p:nvCxnSpPr>
        <p:spPr bwMode="gray">
          <a:xfrm flipH="1">
            <a:off x="4012867" y="4989619"/>
            <a:ext cx="985853" cy="0"/>
          </a:xfrm>
          <a:prstGeom prst="straightConnector1">
            <a:avLst/>
          </a:prstGeom>
          <a:noFill/>
          <a:ln w="3175">
            <a:solidFill>
              <a:srgbClr val="30B5C5"/>
            </a:solidFill>
            <a:prstDash val="sysDash"/>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p:nvPr/>
        </p:nvSpPr>
        <p:spPr bwMode="gray">
          <a:xfrm>
            <a:off x="4216011" y="4712620"/>
            <a:ext cx="800219" cy="276999"/>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algn="ctr" defTabSz="914377" eaLnBrk="0" hangingPunct="0">
              <a:defRPr/>
            </a:pPr>
            <a:r>
              <a:rPr lang="zh-CN" altLang="en-US" sz="1200" kern="0" dirty="0" smtClean="0"/>
              <a:t>线下购买</a:t>
            </a:r>
            <a:endParaRPr lang="zh-CN" altLang="en-US" sz="1200" kern="0" dirty="0"/>
          </a:p>
        </p:txBody>
      </p:sp>
      <p:cxnSp>
        <p:nvCxnSpPr>
          <p:cNvPr id="20" name="直接箭头连接符 19"/>
          <p:cNvCxnSpPr>
            <a:stCxn id="12" idx="0"/>
            <a:endCxn id="15" idx="2"/>
          </p:cNvCxnSpPr>
          <p:nvPr/>
        </p:nvCxnSpPr>
        <p:spPr bwMode="gray">
          <a:xfrm flipV="1">
            <a:off x="2924695" y="4273214"/>
            <a:ext cx="334554" cy="580435"/>
          </a:xfrm>
          <a:prstGeom prst="straightConnector1">
            <a:avLst/>
          </a:prstGeom>
          <a:noFill/>
          <a:ln w="12700">
            <a:solidFill>
              <a:srgbClr val="30B5C5"/>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箭头连接符 22"/>
          <p:cNvCxnSpPr>
            <a:stCxn id="12" idx="0"/>
            <a:endCxn id="16" idx="2"/>
          </p:cNvCxnSpPr>
          <p:nvPr/>
        </p:nvCxnSpPr>
        <p:spPr bwMode="gray">
          <a:xfrm flipV="1">
            <a:off x="2924695" y="4273214"/>
            <a:ext cx="1933635" cy="580435"/>
          </a:xfrm>
          <a:prstGeom prst="straightConnector1">
            <a:avLst/>
          </a:prstGeom>
          <a:noFill/>
          <a:ln w="12700">
            <a:solidFill>
              <a:srgbClr val="30B5C5"/>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箭头连接符 25"/>
          <p:cNvCxnSpPr>
            <a:stCxn id="11" idx="0"/>
            <a:endCxn id="15" idx="2"/>
          </p:cNvCxnSpPr>
          <p:nvPr/>
        </p:nvCxnSpPr>
        <p:spPr bwMode="gray">
          <a:xfrm flipH="1" flipV="1">
            <a:off x="3259249" y="4273214"/>
            <a:ext cx="478559" cy="580435"/>
          </a:xfrm>
          <a:prstGeom prst="straightConnector1">
            <a:avLst/>
          </a:prstGeom>
          <a:noFill/>
          <a:ln w="12700">
            <a:solidFill>
              <a:srgbClr val="30B5C5"/>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箭头连接符 28"/>
          <p:cNvCxnSpPr>
            <a:stCxn id="13" idx="0"/>
            <a:endCxn id="16" idx="2"/>
          </p:cNvCxnSpPr>
          <p:nvPr/>
        </p:nvCxnSpPr>
        <p:spPr bwMode="gray">
          <a:xfrm flipH="1" flipV="1">
            <a:off x="4858330" y="4273214"/>
            <a:ext cx="524236" cy="580435"/>
          </a:xfrm>
          <a:prstGeom prst="straightConnector1">
            <a:avLst/>
          </a:prstGeom>
          <a:noFill/>
          <a:ln w="12700">
            <a:solidFill>
              <a:srgbClr val="30B5C5"/>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Right Arrow 157"/>
          <p:cNvSpPr/>
          <p:nvPr/>
        </p:nvSpPr>
        <p:spPr bwMode="gray">
          <a:xfrm rot="5400000">
            <a:off x="3205568" y="5324726"/>
            <a:ext cx="380005" cy="28749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sp>
        <p:nvSpPr>
          <p:cNvPr id="34" name="矩形 33"/>
          <p:cNvSpPr/>
          <p:nvPr/>
        </p:nvSpPr>
        <p:spPr bwMode="gray">
          <a:xfrm>
            <a:off x="898936" y="5716540"/>
            <a:ext cx="4993271" cy="33619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77" eaLnBrk="0" hangingPunct="0">
              <a:defRPr/>
            </a:pPr>
            <a:r>
              <a:rPr lang="zh-CN" altLang="en-US" sz="1200" kern="0" dirty="0" smtClean="0">
                <a:solidFill>
                  <a:prstClr val="black"/>
                </a:solidFill>
              </a:rPr>
              <a:t>云</a:t>
            </a:r>
            <a:r>
              <a:rPr lang="zh-CN" altLang="en-US" sz="1200" kern="0" dirty="0">
                <a:solidFill>
                  <a:prstClr val="black"/>
                </a:solidFill>
              </a:rPr>
              <a:t>管理平台</a:t>
            </a:r>
          </a:p>
        </p:txBody>
      </p:sp>
      <p:sp>
        <p:nvSpPr>
          <p:cNvPr id="35" name="矩形 34"/>
          <p:cNvSpPr/>
          <p:nvPr/>
        </p:nvSpPr>
        <p:spPr bwMode="gray">
          <a:xfrm>
            <a:off x="6288907" y="4121069"/>
            <a:ext cx="4993271" cy="447480"/>
          </a:xfrm>
          <a:prstGeom prst="rect">
            <a:avLst/>
          </a:prstGeom>
          <a:solidFill>
            <a:srgbClr val="D7F2F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377" eaLnBrk="0" hangingPunct="0">
              <a:defRPr/>
            </a:pPr>
            <a:endParaRPr lang="zh-CN" altLang="en-US" sz="1200" kern="0">
              <a:solidFill>
                <a:prstClr val="black"/>
              </a:solidFill>
            </a:endParaRPr>
          </a:p>
        </p:txBody>
      </p:sp>
      <p:sp>
        <p:nvSpPr>
          <p:cNvPr id="36" name="矩形 35"/>
          <p:cNvSpPr/>
          <p:nvPr/>
        </p:nvSpPr>
        <p:spPr bwMode="gray">
          <a:xfrm>
            <a:off x="6288907" y="3590409"/>
            <a:ext cx="4993271" cy="408336"/>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377" eaLnBrk="0" hangingPunct="0">
              <a:defRPr/>
            </a:pPr>
            <a:endParaRPr lang="zh-CN" altLang="en-US" sz="1200" kern="0">
              <a:solidFill>
                <a:prstClr val="black"/>
              </a:solidFill>
            </a:endParaRPr>
          </a:p>
        </p:txBody>
      </p:sp>
      <p:sp>
        <p:nvSpPr>
          <p:cNvPr id="37" name="文本框 36"/>
          <p:cNvSpPr txBox="1"/>
          <p:nvPr/>
        </p:nvSpPr>
        <p:spPr bwMode="gray">
          <a:xfrm>
            <a:off x="6314566" y="4206310"/>
            <a:ext cx="1433406" cy="276999"/>
          </a:xfrm>
          <a:prstGeom prst="rect">
            <a:avLst/>
          </a:prstGeom>
          <a:noFill/>
          <a:ln>
            <a:noFill/>
          </a:ln>
        </p:spPr>
        <p:txBody>
          <a:bodyPr wrap="none" rtlCol="0">
            <a:spAutoFit/>
          </a:bodyPr>
          <a:lstStyle/>
          <a:p>
            <a:pPr defTabSz="1219242">
              <a:defRPr/>
            </a:pPr>
            <a:r>
              <a:rPr lang="zh-CN" altLang="en-US" sz="1200" b="1" kern="0"/>
              <a:t>华</a:t>
            </a:r>
            <a:r>
              <a:rPr lang="zh-CN" altLang="en-US" sz="1200" b="1" kern="0" smtClean="0"/>
              <a:t>为客户（</a:t>
            </a:r>
            <a:r>
              <a:rPr lang="en-US" altLang="zh-CN" sz="1200" b="1" kern="0" smtClean="0"/>
              <a:t>MSP</a:t>
            </a:r>
            <a:r>
              <a:rPr lang="zh-CN" altLang="en-US" sz="1200" b="1" kern="0" smtClean="0"/>
              <a:t>）</a:t>
            </a:r>
            <a:endParaRPr lang="zh-CN" altLang="en-US" sz="1200" b="1" kern="0" dirty="0"/>
          </a:p>
        </p:txBody>
      </p:sp>
      <p:sp>
        <p:nvSpPr>
          <p:cNvPr id="39" name="圆角矩形 38"/>
          <p:cNvSpPr/>
          <p:nvPr/>
        </p:nvSpPr>
        <p:spPr bwMode="gray">
          <a:xfrm>
            <a:off x="8140245" y="4208839"/>
            <a:ext cx="1290595" cy="271938"/>
          </a:xfrm>
          <a:prstGeom prst="roundRect">
            <a:avLst/>
          </a:prstGeom>
          <a:solidFill>
            <a:srgbClr val="94DAE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r>
              <a:rPr lang="en-US" altLang="zh-CN" sz="1200" kern="0"/>
              <a:t>MSP/</a:t>
            </a:r>
            <a:r>
              <a:rPr lang="zh-CN" altLang="en-US" sz="1200" kern="0"/>
              <a:t>运营商</a:t>
            </a:r>
          </a:p>
        </p:txBody>
      </p:sp>
      <p:sp>
        <p:nvSpPr>
          <p:cNvPr id="41" name="文本框 40"/>
          <p:cNvSpPr txBox="1"/>
          <p:nvPr/>
        </p:nvSpPr>
        <p:spPr bwMode="gray">
          <a:xfrm>
            <a:off x="6314566" y="3656078"/>
            <a:ext cx="1338828" cy="276999"/>
          </a:xfrm>
          <a:prstGeom prst="rect">
            <a:avLst/>
          </a:prstGeom>
          <a:noFill/>
          <a:ln>
            <a:noFill/>
          </a:ln>
        </p:spPr>
        <p:txBody>
          <a:bodyPr wrap="none" rtlCol="0">
            <a:spAutoFit/>
          </a:bodyPr>
          <a:lstStyle/>
          <a:p>
            <a:pPr defTabSz="1219242">
              <a:defRPr/>
            </a:pPr>
            <a:r>
              <a:rPr lang="en-US" altLang="zh-CN" sz="1200" b="1" kern="0" dirty="0"/>
              <a:t>License</a:t>
            </a:r>
            <a:r>
              <a:rPr lang="zh-CN" altLang="en-US" sz="1200" b="1" kern="0" dirty="0"/>
              <a:t>交易方式</a:t>
            </a:r>
          </a:p>
        </p:txBody>
      </p:sp>
      <p:sp>
        <p:nvSpPr>
          <p:cNvPr id="42" name="圆角矩形 41"/>
          <p:cNvSpPr/>
          <p:nvPr/>
        </p:nvSpPr>
        <p:spPr bwMode="gray">
          <a:xfrm>
            <a:off x="8106654" y="3658608"/>
            <a:ext cx="1357776" cy="271938"/>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defRPr/>
            </a:pPr>
            <a:r>
              <a:rPr lang="zh-CN" altLang="en-US" sz="1200" kern="0" dirty="0"/>
              <a:t>线下交易</a:t>
            </a:r>
          </a:p>
        </p:txBody>
      </p:sp>
      <p:cxnSp>
        <p:nvCxnSpPr>
          <p:cNvPr id="46" name="直接箭头连接符 45"/>
          <p:cNvCxnSpPr>
            <a:stCxn id="39" idx="0"/>
            <a:endCxn id="42" idx="2"/>
          </p:cNvCxnSpPr>
          <p:nvPr/>
        </p:nvCxnSpPr>
        <p:spPr bwMode="gray">
          <a:xfrm flipH="1" flipV="1">
            <a:off x="8785542" y="3930546"/>
            <a:ext cx="1" cy="278293"/>
          </a:xfrm>
          <a:prstGeom prst="straightConnector1">
            <a:avLst/>
          </a:prstGeom>
          <a:noFill/>
          <a:ln w="12700">
            <a:solidFill>
              <a:srgbClr val="30B5C5"/>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Right Arrow 157"/>
          <p:cNvSpPr/>
          <p:nvPr/>
        </p:nvSpPr>
        <p:spPr bwMode="gray">
          <a:xfrm rot="5400000">
            <a:off x="8595540" y="4575389"/>
            <a:ext cx="380005" cy="28749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sp>
        <p:nvSpPr>
          <p:cNvPr id="51" name="矩形 50"/>
          <p:cNvSpPr/>
          <p:nvPr/>
        </p:nvSpPr>
        <p:spPr bwMode="gray">
          <a:xfrm>
            <a:off x="6288907" y="4937167"/>
            <a:ext cx="4993271" cy="33619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77" eaLnBrk="0" hangingPunct="0">
              <a:defRPr/>
            </a:pPr>
            <a:r>
              <a:rPr lang="zh-CN" altLang="en-US" sz="1200" kern="0" dirty="0" smtClean="0">
                <a:solidFill>
                  <a:prstClr val="black"/>
                </a:solidFill>
              </a:rPr>
              <a:t>云</a:t>
            </a:r>
            <a:r>
              <a:rPr lang="zh-CN" altLang="en-US" sz="1200" kern="0" dirty="0">
                <a:solidFill>
                  <a:prstClr val="black"/>
                </a:solidFill>
              </a:rPr>
              <a:t>管理平台</a:t>
            </a:r>
          </a:p>
        </p:txBody>
      </p:sp>
      <p:sp>
        <p:nvSpPr>
          <p:cNvPr id="53" name="矩形 52"/>
          <p:cNvSpPr/>
          <p:nvPr/>
        </p:nvSpPr>
        <p:spPr bwMode="gray">
          <a:xfrm>
            <a:off x="6288907" y="5633814"/>
            <a:ext cx="4993271" cy="447480"/>
          </a:xfrm>
          <a:prstGeom prst="rect">
            <a:avLst/>
          </a:prstGeom>
          <a:solidFill>
            <a:srgbClr val="D7F2F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377" eaLnBrk="0" hangingPunct="0">
              <a:defRPr/>
            </a:pPr>
            <a:endParaRPr lang="zh-CN" altLang="en-US" sz="1200" kern="0">
              <a:solidFill>
                <a:prstClr val="black"/>
              </a:solidFill>
            </a:endParaRPr>
          </a:p>
        </p:txBody>
      </p:sp>
      <p:sp>
        <p:nvSpPr>
          <p:cNvPr id="57" name="文本框 56"/>
          <p:cNvSpPr txBox="1"/>
          <p:nvPr/>
        </p:nvSpPr>
        <p:spPr bwMode="gray">
          <a:xfrm>
            <a:off x="6314566" y="5719055"/>
            <a:ext cx="1587294" cy="276999"/>
          </a:xfrm>
          <a:prstGeom prst="rect">
            <a:avLst/>
          </a:prstGeom>
          <a:noFill/>
          <a:ln>
            <a:noFill/>
          </a:ln>
        </p:spPr>
        <p:txBody>
          <a:bodyPr wrap="none" rtlCol="0">
            <a:spAutoFit/>
          </a:bodyPr>
          <a:lstStyle/>
          <a:p>
            <a:pPr defTabSz="1219242">
              <a:defRPr/>
            </a:pPr>
            <a:r>
              <a:rPr lang="en-US" altLang="zh-CN" sz="1200" b="1" kern="0" smtClean="0"/>
              <a:t>MSP</a:t>
            </a:r>
            <a:r>
              <a:rPr lang="zh-CN" altLang="en-US" sz="1200" b="1" kern="0" smtClean="0"/>
              <a:t>的客户（租户）</a:t>
            </a:r>
            <a:endParaRPr lang="zh-CN" altLang="en-US" sz="1200" b="1" kern="0" dirty="0"/>
          </a:p>
        </p:txBody>
      </p:sp>
      <p:sp>
        <p:nvSpPr>
          <p:cNvPr id="59" name="圆角矩形 58"/>
          <p:cNvSpPr/>
          <p:nvPr/>
        </p:nvSpPr>
        <p:spPr bwMode="gray">
          <a:xfrm>
            <a:off x="8008628" y="5721585"/>
            <a:ext cx="756901" cy="271938"/>
          </a:xfrm>
          <a:prstGeom prst="roundRect">
            <a:avLst/>
          </a:prstGeom>
          <a:solidFill>
            <a:srgbClr val="94DAE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r>
              <a:rPr lang="zh-CN" altLang="en-US" sz="1200" kern="0" dirty="0" smtClean="0"/>
              <a:t>租户</a:t>
            </a:r>
            <a:r>
              <a:rPr lang="en-US" altLang="zh-CN" sz="1200" kern="0" dirty="0" smtClean="0"/>
              <a:t>1</a:t>
            </a:r>
            <a:endParaRPr lang="zh-CN" altLang="en-US" sz="1200" kern="0" dirty="0"/>
          </a:p>
        </p:txBody>
      </p:sp>
      <p:sp>
        <p:nvSpPr>
          <p:cNvPr id="60" name="圆角矩形 59"/>
          <p:cNvSpPr/>
          <p:nvPr/>
        </p:nvSpPr>
        <p:spPr bwMode="gray">
          <a:xfrm>
            <a:off x="9339588" y="5721585"/>
            <a:ext cx="756901" cy="271938"/>
          </a:xfrm>
          <a:prstGeom prst="roundRect">
            <a:avLst/>
          </a:prstGeom>
          <a:solidFill>
            <a:srgbClr val="94DAE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algn="ctr" defTabSz="914377" eaLnBrk="0" hangingPunct="0"/>
            <a:r>
              <a:rPr lang="zh-CN" altLang="en-US" sz="1200" kern="0" smtClean="0"/>
              <a:t>租户</a:t>
            </a:r>
            <a:r>
              <a:rPr lang="en-US" altLang="zh-CN" sz="1200" kern="0"/>
              <a:t>N</a:t>
            </a:r>
            <a:endParaRPr lang="zh-CN" altLang="en-US" sz="1200" kern="0" dirty="0"/>
          </a:p>
        </p:txBody>
      </p:sp>
      <p:sp>
        <p:nvSpPr>
          <p:cNvPr id="61" name="Right Arrow 157"/>
          <p:cNvSpPr/>
          <p:nvPr/>
        </p:nvSpPr>
        <p:spPr bwMode="gray">
          <a:xfrm rot="16200000">
            <a:off x="8595541" y="5343948"/>
            <a:ext cx="380005" cy="28749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grpSp>
        <p:nvGrpSpPr>
          <p:cNvPr id="62" name="Group 3"/>
          <p:cNvGrpSpPr/>
          <p:nvPr/>
        </p:nvGrpSpPr>
        <p:grpSpPr bwMode="gray">
          <a:xfrm>
            <a:off x="8899638" y="5857554"/>
            <a:ext cx="261965" cy="61979"/>
            <a:chOff x="559282" y="6488261"/>
            <a:chExt cx="261965" cy="61979"/>
          </a:xfrm>
          <a:solidFill>
            <a:schemeClr val="bg1">
              <a:lumMod val="50000"/>
            </a:schemeClr>
          </a:solidFill>
        </p:grpSpPr>
        <p:sp>
          <p:nvSpPr>
            <p:cNvPr id="63"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137574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a:latin typeface="+mn-lt"/>
                <a:ea typeface="+mn-ea"/>
                <a:cs typeface="+mn-ea"/>
                <a:sym typeface="+mn-lt"/>
              </a:rPr>
              <a:t>License</a:t>
            </a:r>
            <a:r>
              <a:rPr lang="zh-CN" altLang="en-US">
                <a:latin typeface="+mn-lt"/>
                <a:ea typeface="+mn-ea"/>
                <a:cs typeface="+mn-ea"/>
                <a:sym typeface="+mn-lt"/>
              </a:rPr>
              <a:t>消费</a:t>
            </a:r>
            <a:r>
              <a:rPr lang="en-US" altLang="zh-CN">
                <a:latin typeface="+mn-lt"/>
                <a:ea typeface="+mn-ea"/>
                <a:cs typeface="+mn-ea"/>
                <a:sym typeface="+mn-lt"/>
              </a:rPr>
              <a:t>/</a:t>
            </a:r>
            <a:r>
              <a:rPr lang="zh-CN" altLang="en-US">
                <a:latin typeface="+mn-lt"/>
                <a:ea typeface="+mn-ea"/>
                <a:cs typeface="+mn-ea"/>
                <a:sym typeface="+mn-lt"/>
              </a:rPr>
              <a:t>到期模式选择</a:t>
            </a:r>
          </a:p>
        </p:txBody>
      </p:sp>
      <p:sp>
        <p:nvSpPr>
          <p:cNvPr id="3" name="文本占位符 2"/>
          <p:cNvSpPr>
            <a:spLocks noGrp="1"/>
          </p:cNvSpPr>
          <p:nvPr>
            <p:ph type="body" sz="quarter" idx="10"/>
          </p:nvPr>
        </p:nvSpPr>
        <p:spPr bwMode="gray">
          <a:xfrm>
            <a:off x="455612" y="1047750"/>
            <a:ext cx="11293475" cy="561975"/>
          </a:xfrm>
          <a:prstGeom prst="rect">
            <a:avLst/>
          </a:prstGeom>
        </p:spPr>
        <p:txBody>
          <a:bodyPr/>
          <a:lstStyle/>
          <a:p>
            <a:r>
              <a:rPr lang="zh-CN" altLang="en-US" sz="1800" dirty="0">
                <a:latin typeface="+mn-lt"/>
                <a:ea typeface="+mn-ea"/>
                <a:cs typeface="+mn-ea"/>
                <a:sym typeface="+mn-lt"/>
              </a:rPr>
              <a:t>华为公有云</a:t>
            </a:r>
            <a:r>
              <a:rPr lang="en-US" altLang="zh-CN" sz="1800" dirty="0">
                <a:latin typeface="+mn-lt"/>
                <a:ea typeface="+mn-ea"/>
                <a:cs typeface="+mn-ea"/>
                <a:sym typeface="+mn-lt"/>
              </a:rPr>
              <a:t>License</a:t>
            </a:r>
            <a:r>
              <a:rPr lang="zh-CN" altLang="en-US" sz="1800" dirty="0">
                <a:latin typeface="+mn-lt"/>
                <a:ea typeface="+mn-ea"/>
                <a:cs typeface="+mn-ea"/>
                <a:sym typeface="+mn-lt"/>
              </a:rPr>
              <a:t>分配支持统一过期时间方案和非统一过期时间方案两种形式。</a:t>
            </a:r>
          </a:p>
        </p:txBody>
      </p:sp>
      <p:sp>
        <p:nvSpPr>
          <p:cNvPr id="4" name="圆角矩形 3"/>
          <p:cNvSpPr/>
          <p:nvPr/>
        </p:nvSpPr>
        <p:spPr bwMode="gray">
          <a:xfrm>
            <a:off x="731839" y="1876611"/>
            <a:ext cx="5262561" cy="1853918"/>
          </a:xfrm>
          <a:prstGeom prst="roundRect">
            <a:avLst>
              <a:gd name="adj" fmla="val 0"/>
            </a:avLst>
          </a:prstGeom>
          <a:solidFill>
            <a:srgbClr val="ECF9FA"/>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lnSpc>
                <a:spcPts val="2400"/>
              </a:lnSpc>
              <a:spcAft>
                <a:spcPts val="600"/>
              </a:spcAft>
            </a:pPr>
            <a:r>
              <a:rPr lang="zh-CN" altLang="en-US" sz="1600" b="1" dirty="0">
                <a:solidFill>
                  <a:srgbClr val="30B5C5"/>
                </a:solidFill>
                <a:cs typeface="+mn-ea"/>
                <a:sym typeface="+mn-lt"/>
              </a:rPr>
              <a:t>统一过期时间方案</a:t>
            </a:r>
            <a:endParaRPr lang="en-US" altLang="zh-CN" sz="1600" b="1" dirty="0">
              <a:solidFill>
                <a:srgbClr val="30B5C5"/>
              </a:solidFill>
              <a:cs typeface="+mn-ea"/>
              <a:sym typeface="+mn-lt"/>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cs typeface="+mn-ea"/>
                <a:sym typeface="+mn-lt"/>
              </a:rPr>
              <a:t>即</a:t>
            </a:r>
            <a:r>
              <a:rPr lang="en-US" altLang="zh-CN" sz="1400" dirty="0">
                <a:solidFill>
                  <a:schemeClr val="tx1"/>
                </a:solidFill>
                <a:cs typeface="+mn-ea"/>
                <a:sym typeface="+mn-lt"/>
              </a:rPr>
              <a:t>License</a:t>
            </a:r>
            <a:r>
              <a:rPr lang="zh-CN" altLang="en-US" sz="1400" dirty="0">
                <a:solidFill>
                  <a:schemeClr val="tx1"/>
                </a:solidFill>
                <a:cs typeface="+mn-ea"/>
                <a:sym typeface="+mn-lt"/>
              </a:rPr>
              <a:t>池化共享方案，所有设备的</a:t>
            </a:r>
            <a:r>
              <a:rPr lang="en-US" altLang="zh-CN" sz="1400" dirty="0">
                <a:solidFill>
                  <a:schemeClr val="tx1"/>
                </a:solidFill>
                <a:cs typeface="+mn-ea"/>
                <a:sym typeface="+mn-lt"/>
              </a:rPr>
              <a:t>License</a:t>
            </a:r>
            <a:r>
              <a:rPr lang="zh-CN" altLang="en-US" sz="1400" dirty="0">
                <a:solidFill>
                  <a:schemeClr val="tx1"/>
                </a:solidFill>
                <a:cs typeface="+mn-ea"/>
                <a:sym typeface="+mn-lt"/>
              </a:rPr>
              <a:t>共享，因此，支持设备统一到期。</a:t>
            </a:r>
            <a:endParaRPr lang="en-US" altLang="zh-CN" sz="1400" dirty="0">
              <a:solidFill>
                <a:schemeClr val="tx1"/>
              </a:solidFill>
              <a:cs typeface="+mn-ea"/>
              <a:sym typeface="+mn-lt"/>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cs typeface="+mn-ea"/>
                <a:sym typeface="+mn-lt"/>
              </a:rPr>
              <a:t>由于“统一过期时间”的操作是不可回退的，需要从设计时就确定好并谨慎操作。</a:t>
            </a:r>
          </a:p>
        </p:txBody>
      </p:sp>
      <p:sp>
        <p:nvSpPr>
          <p:cNvPr id="5" name="圆角矩形 4"/>
          <p:cNvSpPr/>
          <p:nvPr/>
        </p:nvSpPr>
        <p:spPr bwMode="gray">
          <a:xfrm>
            <a:off x="6197603" y="1876611"/>
            <a:ext cx="5262561" cy="1853918"/>
          </a:xfrm>
          <a:prstGeom prst="roundRect">
            <a:avLst>
              <a:gd name="adj" fmla="val 0"/>
            </a:avLst>
          </a:prstGeom>
          <a:solidFill>
            <a:srgbClr val="ECF9FA"/>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lnSpc>
                <a:spcPts val="2400"/>
              </a:lnSpc>
              <a:spcAft>
                <a:spcPts val="600"/>
              </a:spcAft>
            </a:pPr>
            <a:r>
              <a:rPr lang="zh-CN" altLang="en-US" sz="1600" b="1" dirty="0">
                <a:solidFill>
                  <a:srgbClr val="30B5C5"/>
                </a:solidFill>
                <a:cs typeface="+mn-ea"/>
                <a:sym typeface="+mn-lt"/>
              </a:rPr>
              <a:t>非统一过期时间</a:t>
            </a:r>
            <a:r>
              <a:rPr lang="zh-CN" altLang="en-US" sz="1600" b="1" dirty="0" smtClean="0">
                <a:solidFill>
                  <a:srgbClr val="30B5C5"/>
                </a:solidFill>
                <a:cs typeface="+mn-ea"/>
                <a:sym typeface="+mn-lt"/>
              </a:rPr>
              <a:t>方案</a:t>
            </a:r>
            <a:endParaRPr lang="en-US" altLang="zh-CN" sz="1600" b="1" dirty="0" smtClean="0">
              <a:solidFill>
                <a:srgbClr val="30B5C5"/>
              </a:solidFill>
              <a:cs typeface="+mn-ea"/>
              <a:sym typeface="+mn-lt"/>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cs typeface="+mn-ea"/>
                <a:sym typeface="+mn-lt"/>
              </a:rPr>
              <a:t>按</a:t>
            </a:r>
            <a:r>
              <a:rPr lang="zh-CN" altLang="en-US" sz="1400" dirty="0">
                <a:solidFill>
                  <a:schemeClr val="tx1"/>
                </a:solidFill>
                <a:cs typeface="+mn-ea"/>
                <a:sym typeface="+mn-lt"/>
              </a:rPr>
              <a:t>设备类型进行</a:t>
            </a:r>
            <a:r>
              <a:rPr lang="en-US" altLang="zh-CN" sz="1400" dirty="0">
                <a:solidFill>
                  <a:schemeClr val="tx1"/>
                </a:solidFill>
                <a:cs typeface="+mn-ea"/>
                <a:sym typeface="+mn-lt"/>
              </a:rPr>
              <a:t>License</a:t>
            </a:r>
            <a:r>
              <a:rPr lang="zh-CN" altLang="en-US" sz="1400" dirty="0">
                <a:solidFill>
                  <a:schemeClr val="tx1"/>
                </a:solidFill>
                <a:cs typeface="+mn-ea"/>
                <a:sym typeface="+mn-lt"/>
              </a:rPr>
              <a:t>池化分配，设备分为多种类型，每类设备使用独立的</a:t>
            </a:r>
            <a:r>
              <a:rPr lang="en-US" altLang="zh-CN" sz="1400" dirty="0">
                <a:solidFill>
                  <a:schemeClr val="tx1"/>
                </a:solidFill>
                <a:cs typeface="+mn-ea"/>
                <a:sym typeface="+mn-lt"/>
              </a:rPr>
              <a:t>License</a:t>
            </a:r>
            <a:r>
              <a:rPr lang="zh-CN" altLang="en-US" sz="1400" dirty="0">
                <a:solidFill>
                  <a:schemeClr val="tx1"/>
                </a:solidFill>
                <a:cs typeface="+mn-ea"/>
                <a:sym typeface="+mn-lt"/>
              </a:rPr>
              <a:t>资源，不与其它类</a:t>
            </a:r>
            <a:r>
              <a:rPr lang="zh-CN" altLang="en-US" sz="1400" dirty="0" smtClean="0">
                <a:solidFill>
                  <a:schemeClr val="tx1"/>
                </a:solidFill>
                <a:cs typeface="+mn-ea"/>
                <a:sym typeface="+mn-lt"/>
              </a:rPr>
              <a:t>设备共享。</a:t>
            </a:r>
            <a:endParaRPr lang="en-US" altLang="zh-CN" sz="1400" dirty="0" smtClean="0">
              <a:solidFill>
                <a:schemeClr val="tx1"/>
              </a:solidFill>
              <a:cs typeface="+mn-ea"/>
              <a:sym typeface="+mn-lt"/>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cs typeface="+mn-ea"/>
                <a:sym typeface="+mn-lt"/>
              </a:rPr>
              <a:t>不</a:t>
            </a:r>
            <a:r>
              <a:rPr lang="zh-CN" altLang="en-US" sz="1400" dirty="0">
                <a:solidFill>
                  <a:schemeClr val="tx1"/>
                </a:solidFill>
                <a:cs typeface="+mn-ea"/>
                <a:sym typeface="+mn-lt"/>
              </a:rPr>
              <a:t>同类设备之间的到期时间独立，支持不同类型的设备不统一到期，同一类型的设备同时到期。</a:t>
            </a:r>
          </a:p>
        </p:txBody>
      </p:sp>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r="45091" b="17766"/>
          <a:stretch/>
        </p:blipFill>
        <p:spPr bwMode="gray">
          <a:xfrm>
            <a:off x="918452" y="4304515"/>
            <a:ext cx="4887707" cy="1896260"/>
          </a:xfrm>
          <a:prstGeom prst="rect">
            <a:avLst/>
          </a:prstGeom>
          <a:solidFill>
            <a:srgbClr val="F9F9F9"/>
          </a:solidFill>
          <a:ln w="12700">
            <a:solidFill>
              <a:schemeClr val="bg1">
                <a:lumMod val="85000"/>
              </a:schemeClr>
            </a:solidFill>
          </a:ln>
        </p:spPr>
      </p:pic>
      <p:pic>
        <p:nvPicPr>
          <p:cNvPr id="8" name="图片 7"/>
          <p:cNvPicPr>
            <a:picLocks noChangeAspect="1"/>
          </p:cNvPicPr>
          <p:nvPr/>
        </p:nvPicPr>
        <p:blipFill rotWithShape="1">
          <a:blip r:embed="rId4"/>
          <a:srcRect r="1763"/>
          <a:stretch/>
        </p:blipFill>
        <p:spPr bwMode="gray">
          <a:xfrm>
            <a:off x="6197603" y="4304516"/>
            <a:ext cx="5367380" cy="1482239"/>
          </a:xfrm>
          <a:prstGeom prst="rect">
            <a:avLst/>
          </a:prstGeom>
          <a:solidFill>
            <a:srgbClr val="F9F9F9"/>
          </a:solidFill>
          <a:ln w="12700">
            <a:solidFill>
              <a:schemeClr val="bg1">
                <a:lumMod val="85000"/>
              </a:schemeClr>
            </a:solidFill>
          </a:ln>
        </p:spPr>
      </p:pic>
      <p:sp>
        <p:nvSpPr>
          <p:cNvPr id="9" name="Right Arrow 157"/>
          <p:cNvSpPr/>
          <p:nvPr/>
        </p:nvSpPr>
        <p:spPr bwMode="gray">
          <a:xfrm rot="5400000">
            <a:off x="3133216" y="3827743"/>
            <a:ext cx="459805" cy="31624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sp>
        <p:nvSpPr>
          <p:cNvPr id="10" name="Right Arrow 157"/>
          <p:cNvSpPr/>
          <p:nvPr/>
        </p:nvSpPr>
        <p:spPr bwMode="gray">
          <a:xfrm rot="5400000">
            <a:off x="8598981" y="3827744"/>
            <a:ext cx="459805" cy="316246"/>
          </a:xfrm>
          <a:prstGeom prst="rightArrow">
            <a:avLst>
              <a:gd name="adj1" fmla="val 69596"/>
              <a:gd name="adj2" fmla="val 50000"/>
            </a:avLst>
          </a:pr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sym typeface="+mn-lt"/>
            </a:endParaRPr>
          </a:p>
        </p:txBody>
      </p:sp>
    </p:spTree>
    <p:extLst>
      <p:ext uri="{BB962C8B-B14F-4D97-AF65-F5344CB8AC3E}">
        <p14:creationId xmlns:p14="http://schemas.microsoft.com/office/powerpoint/2010/main" val="3376709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组网设计</a:t>
            </a:r>
          </a:p>
        </p:txBody>
      </p:sp>
      <p:sp>
        <p:nvSpPr>
          <p:cNvPr id="39" name="TextBox 303"/>
          <p:cNvSpPr txBox="1"/>
          <p:nvPr/>
        </p:nvSpPr>
        <p:spPr bwMode="gray">
          <a:xfrm>
            <a:off x="731838" y="4019456"/>
            <a:ext cx="912236" cy="1429126"/>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75000"/>
                  </a:schemeClr>
                </a:solidFill>
              </a:defRPr>
            </a:lvl1pPr>
          </a:lstStyle>
          <a:p>
            <a:r>
              <a:rPr lang="zh-CN" altLang="en-US">
                <a:solidFill>
                  <a:schemeClr val="bg1">
                    <a:lumMod val="50000"/>
                  </a:schemeClr>
                </a:solidFill>
                <a:cs typeface="+mn-ea"/>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White">
          <a:xfrm>
            <a:off x="2113280" y="3052471"/>
            <a:ext cx="2304000" cy="360000"/>
          </a:xfrm>
          <a:prstGeom prst="homePlate">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21" name="燕尾形 20"/>
          <p:cNvSpPr/>
          <p:nvPr/>
        </p:nvSpPr>
        <p:spPr bwMode="gray">
          <a:xfrm>
            <a:off x="8786686" y="3056569"/>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
        <p:nvSpPr>
          <p:cNvPr id="22" name="五边形 21"/>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23" name="燕尾形 22"/>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网络开局设计</a:t>
            </a:r>
          </a:p>
        </p:txBody>
      </p:sp>
      <p:sp>
        <p:nvSpPr>
          <p:cNvPr id="24" name="燕尾形 23"/>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25" name="燕尾形 24"/>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30" name="五边形 29"/>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Tree>
    <p:extLst>
      <p:ext uri="{BB962C8B-B14F-4D97-AF65-F5344CB8AC3E}">
        <p14:creationId xmlns:p14="http://schemas.microsoft.com/office/powerpoint/2010/main" val="3503665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4457220" y="3352801"/>
            <a:ext cx="3264380" cy="2204720"/>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grpSp>
        <p:nvGrpSpPr>
          <p:cNvPr id="97" name="Group 161"/>
          <p:cNvGrpSpPr/>
          <p:nvPr/>
        </p:nvGrpSpPr>
        <p:grpSpPr>
          <a:xfrm rot="10800000">
            <a:off x="5469738" y="3867183"/>
            <a:ext cx="1560982" cy="594957"/>
            <a:chOff x="-1233037" y="914446"/>
            <a:chExt cx="1573823" cy="778776"/>
          </a:xfrm>
        </p:grpSpPr>
        <p:cxnSp>
          <p:nvCxnSpPr>
            <p:cNvPr id="99" name="Straight Connector 163"/>
            <p:cNvCxnSpPr/>
            <p:nvPr/>
          </p:nvCxnSpPr>
          <p:spPr>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p:txBody>
          <a:bodyPr>
            <a:normAutofit/>
          </a:bodyPr>
          <a:lstStyle/>
          <a:p>
            <a:r>
              <a:rPr lang="zh-CN" altLang="en-US" dirty="0">
                <a:latin typeface="+mn-lt"/>
                <a:ea typeface="+mn-ea"/>
                <a:cs typeface="+mn-ea"/>
                <a:sym typeface="+mn-lt"/>
              </a:rPr>
              <a:t>网络架构</a:t>
            </a:r>
            <a:r>
              <a:rPr lang="zh-CN" altLang="en-US" dirty="0" smtClean="0">
                <a:latin typeface="+mn-lt"/>
                <a:ea typeface="+mn-ea"/>
                <a:cs typeface="+mn-ea"/>
                <a:sym typeface="+mn-lt"/>
              </a:rPr>
              <a:t>设计概览：内网架构 </a:t>
            </a:r>
            <a:r>
              <a:rPr lang="en-US" altLang="zh-CN" dirty="0" smtClean="0">
                <a:latin typeface="+mn-lt"/>
                <a:ea typeface="+mn-ea"/>
                <a:cs typeface="+mn-ea"/>
                <a:sym typeface="+mn-lt"/>
              </a:rPr>
              <a:t>(1)</a:t>
            </a:r>
            <a:endParaRPr lang="zh-CN" altLang="en-US" dirty="0">
              <a:latin typeface="+mn-lt"/>
              <a:ea typeface="+mn-ea"/>
              <a:cs typeface="+mn-ea"/>
              <a:sym typeface="+mn-lt"/>
            </a:endParaRPr>
          </a:p>
        </p:txBody>
      </p:sp>
      <p:sp>
        <p:nvSpPr>
          <p:cNvPr id="10" name="圆角矩形 9"/>
          <p:cNvSpPr/>
          <p:nvPr/>
        </p:nvSpPr>
        <p:spPr>
          <a:xfrm>
            <a:off x="1028582" y="4060168"/>
            <a:ext cx="993121" cy="1530111"/>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11" name="直接连接符 10"/>
          <p:cNvCxnSpPr/>
          <p:nvPr/>
        </p:nvCxnSpPr>
        <p:spPr>
          <a:xfrm>
            <a:off x="1525077" y="3352801"/>
            <a:ext cx="0" cy="13890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任意多边形 14"/>
          <p:cNvSpPr/>
          <p:nvPr/>
        </p:nvSpPr>
        <p:spPr>
          <a:xfrm>
            <a:off x="1082335" y="3110607"/>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19" name="文本框 18"/>
          <p:cNvSpPr txBox="1"/>
          <p:nvPr/>
        </p:nvSpPr>
        <p:spPr>
          <a:xfrm>
            <a:off x="1310845" y="4905880"/>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pic>
        <p:nvPicPr>
          <p:cNvPr id="20" name="图片 19" descr="云AP蓝.png"/>
          <p:cNvPicPr>
            <a:picLocks noChangeAspect="1"/>
          </p:cNvPicPr>
          <p:nvPr/>
        </p:nvPicPr>
        <p:blipFill>
          <a:blip r:embed="rId3" cstate="print"/>
          <a:stretch>
            <a:fillRect/>
          </a:stretch>
        </p:blipFill>
        <p:spPr>
          <a:xfrm>
            <a:off x="1279603" y="4422489"/>
            <a:ext cx="490541" cy="401352"/>
          </a:xfrm>
          <a:prstGeom prst="rect">
            <a:avLst/>
          </a:prstGeom>
        </p:spPr>
      </p:pic>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6019" y="2364714"/>
            <a:ext cx="951607" cy="540946"/>
          </a:xfrm>
          <a:prstGeom prst="rect">
            <a:avLst/>
          </a:prstGeom>
        </p:spPr>
      </p:pic>
      <p:sp>
        <p:nvSpPr>
          <p:cNvPr id="30" name="圆角矩形 29"/>
          <p:cNvSpPr/>
          <p:nvPr/>
        </p:nvSpPr>
        <p:spPr>
          <a:xfrm>
            <a:off x="2124214" y="4060168"/>
            <a:ext cx="993121" cy="1530111"/>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31" name="直接连接符 30"/>
          <p:cNvCxnSpPr/>
          <p:nvPr/>
        </p:nvCxnSpPr>
        <p:spPr>
          <a:xfrm>
            <a:off x="2620709" y="3151352"/>
            <a:ext cx="0" cy="15904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任意多边形 31"/>
          <p:cNvSpPr/>
          <p:nvPr/>
        </p:nvSpPr>
        <p:spPr>
          <a:xfrm>
            <a:off x="2177967" y="3110607"/>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33" name="文本框 32"/>
          <p:cNvSpPr txBox="1"/>
          <p:nvPr/>
        </p:nvSpPr>
        <p:spPr>
          <a:xfrm>
            <a:off x="2406477" y="4905880"/>
            <a:ext cx="410690" cy="307777"/>
          </a:xfrm>
          <a:prstGeom prst="rect">
            <a:avLst/>
          </a:prstGeom>
          <a:noFill/>
        </p:spPr>
        <p:txBody>
          <a:bodyPr wrap="none" rtlCol="0">
            <a:spAutoFit/>
          </a:bodyPr>
          <a:lstStyle/>
          <a:p>
            <a:r>
              <a:rPr lang="en-US" altLang="zh-CN" sz="1400" smtClean="0">
                <a:cs typeface="+mn-ea"/>
                <a:sym typeface="+mn-lt"/>
              </a:rPr>
              <a:t>AR</a:t>
            </a:r>
            <a:endParaRPr lang="zh-CN" altLang="en-US" sz="1400">
              <a:cs typeface="+mn-ea"/>
              <a:sym typeface="+mn-lt"/>
            </a:endParaRPr>
          </a:p>
        </p:txBody>
      </p:sp>
      <p:sp>
        <p:nvSpPr>
          <p:cNvPr id="36" name="圆角矩形 35"/>
          <p:cNvSpPr/>
          <p:nvPr/>
        </p:nvSpPr>
        <p:spPr>
          <a:xfrm>
            <a:off x="3205249" y="4060168"/>
            <a:ext cx="993121" cy="1530111"/>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37" name="直接连接符 36"/>
          <p:cNvCxnSpPr/>
          <p:nvPr/>
        </p:nvCxnSpPr>
        <p:spPr>
          <a:xfrm>
            <a:off x="3701744" y="3166649"/>
            <a:ext cx="0" cy="15751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任意多边形 37"/>
          <p:cNvSpPr/>
          <p:nvPr/>
        </p:nvSpPr>
        <p:spPr>
          <a:xfrm>
            <a:off x="3259002" y="3110607"/>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39" name="文本框 38"/>
          <p:cNvSpPr txBox="1"/>
          <p:nvPr/>
        </p:nvSpPr>
        <p:spPr>
          <a:xfrm>
            <a:off x="3487512" y="4905880"/>
            <a:ext cx="453970" cy="307777"/>
          </a:xfrm>
          <a:prstGeom prst="rect">
            <a:avLst/>
          </a:prstGeom>
          <a:noFill/>
        </p:spPr>
        <p:txBody>
          <a:bodyPr wrap="none" rtlCol="0">
            <a:spAutoFit/>
          </a:bodyPr>
          <a:lstStyle/>
          <a:p>
            <a:r>
              <a:rPr lang="en-US" altLang="zh-CN" sz="1400" smtClean="0">
                <a:cs typeface="+mn-ea"/>
                <a:sym typeface="+mn-lt"/>
              </a:rPr>
              <a:t>FW</a:t>
            </a:r>
            <a:endParaRPr lang="zh-CN" altLang="en-US" sz="1400">
              <a:cs typeface="+mn-ea"/>
              <a:sym typeface="+mn-lt"/>
            </a:endParaRPr>
          </a:p>
        </p:txBody>
      </p:sp>
      <p:pic>
        <p:nvPicPr>
          <p:cNvPr id="82"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auto">
          <a:xfrm>
            <a:off x="2375254" y="4422339"/>
            <a:ext cx="490909" cy="401652"/>
          </a:xfrm>
          <a:prstGeom prst="rect">
            <a:avLst/>
          </a:prstGeom>
          <a:noFill/>
        </p:spPr>
      </p:pic>
      <p:pic>
        <p:nvPicPr>
          <p:cNvPr id="84"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54615" y="4422339"/>
            <a:ext cx="490909" cy="401653"/>
          </a:xfrm>
          <a:prstGeom prst="rect">
            <a:avLst/>
          </a:prstGeom>
        </p:spPr>
      </p:pic>
      <p:sp>
        <p:nvSpPr>
          <p:cNvPr id="86" name="矩形 85"/>
          <p:cNvSpPr/>
          <p:nvPr/>
        </p:nvSpPr>
        <p:spPr>
          <a:xfrm>
            <a:off x="1743890" y="5837326"/>
            <a:ext cx="1620957" cy="338554"/>
          </a:xfrm>
          <a:prstGeom prst="rect">
            <a:avLst/>
          </a:prstGeom>
        </p:spPr>
        <p:txBody>
          <a:bodyPr wrap="none">
            <a:spAutoFit/>
          </a:bodyPr>
          <a:lstStyle/>
          <a:p>
            <a:pPr algn="ctr"/>
            <a:r>
              <a:rPr lang="zh-CN" altLang="en-US" sz="1600" dirty="0">
                <a:cs typeface="+mn-ea"/>
                <a:sym typeface="+mn-lt"/>
              </a:rPr>
              <a:t>单设备组网架构</a:t>
            </a:r>
          </a:p>
        </p:txBody>
      </p:sp>
      <p:cxnSp>
        <p:nvCxnSpPr>
          <p:cNvPr id="88" name="直接连接符 87"/>
          <p:cNvCxnSpPr/>
          <p:nvPr/>
        </p:nvCxnSpPr>
        <p:spPr>
          <a:xfrm>
            <a:off x="6251904" y="2858719"/>
            <a:ext cx="0" cy="1883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任意多边形 88"/>
          <p:cNvSpPr/>
          <p:nvPr/>
        </p:nvSpPr>
        <p:spPr>
          <a:xfrm>
            <a:off x="5809162" y="2574499"/>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90" name="文本框 89"/>
          <p:cNvSpPr txBox="1"/>
          <p:nvPr/>
        </p:nvSpPr>
        <p:spPr>
          <a:xfrm>
            <a:off x="6473187" y="3512468"/>
            <a:ext cx="859531" cy="307777"/>
          </a:xfrm>
          <a:prstGeom prst="rect">
            <a:avLst/>
          </a:prstGeom>
          <a:noFill/>
        </p:spPr>
        <p:txBody>
          <a:bodyPr wrap="none" rtlCol="0">
            <a:spAutoFit/>
          </a:bodyPr>
          <a:lstStyle/>
          <a:p>
            <a:r>
              <a:rPr lang="en-US" altLang="zh-CN" sz="1400" smtClean="0">
                <a:cs typeface="+mn-ea"/>
                <a:sym typeface="+mn-lt"/>
              </a:rPr>
              <a:t>FW</a:t>
            </a:r>
            <a:r>
              <a:rPr lang="zh-CN" altLang="en-US" sz="1400" smtClean="0">
                <a:cs typeface="+mn-ea"/>
                <a:sym typeface="+mn-lt"/>
              </a:rPr>
              <a:t>或</a:t>
            </a:r>
            <a:r>
              <a:rPr lang="en-US" altLang="zh-CN" sz="1400" smtClean="0">
                <a:cs typeface="+mn-ea"/>
                <a:sym typeface="+mn-lt"/>
              </a:rPr>
              <a:t>AR</a:t>
            </a:r>
            <a:endParaRPr lang="zh-CN" altLang="en-US" sz="1400">
              <a:cs typeface="+mn-ea"/>
              <a:sym typeface="+mn-lt"/>
            </a:endParaRPr>
          </a:p>
        </p:txBody>
      </p:sp>
      <p:pic>
        <p:nvPicPr>
          <p:cNvPr id="91" name="图片 9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76101" y="1785654"/>
            <a:ext cx="951607" cy="540946"/>
          </a:xfrm>
          <a:prstGeom prst="rect">
            <a:avLst/>
          </a:prstGeom>
        </p:spPr>
      </p:pic>
      <p:pic>
        <p:nvPicPr>
          <p:cNvPr id="94"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04775" y="3465531"/>
            <a:ext cx="490909" cy="401653"/>
          </a:xfrm>
          <a:prstGeom prst="rect">
            <a:avLst/>
          </a:prstGeom>
        </p:spPr>
      </p:pic>
      <p:pic>
        <p:nvPicPr>
          <p:cNvPr id="96" name="图片 76" descr="接入交换机.png"/>
          <p:cNvPicPr>
            <a:picLocks noChangeAspect="1"/>
          </p:cNvPicPr>
          <p:nvPr/>
        </p:nvPicPr>
        <p:blipFill>
          <a:blip r:embed="rId7" cstate="print"/>
          <a:stretch>
            <a:fillRect/>
          </a:stretch>
        </p:blipFill>
        <p:spPr>
          <a:xfrm>
            <a:off x="6008629" y="4422188"/>
            <a:ext cx="490909" cy="401653"/>
          </a:xfrm>
          <a:prstGeom prst="rect">
            <a:avLst/>
          </a:prstGeom>
        </p:spPr>
      </p:pic>
      <p:pic>
        <p:nvPicPr>
          <p:cNvPr id="101" name="图片 100" descr="云AP蓝.png"/>
          <p:cNvPicPr>
            <a:picLocks noChangeAspect="1"/>
          </p:cNvPicPr>
          <p:nvPr/>
        </p:nvPicPr>
        <p:blipFill>
          <a:blip r:embed="rId3" cstate="print"/>
          <a:stretch>
            <a:fillRect/>
          </a:stretch>
        </p:blipFill>
        <p:spPr>
          <a:xfrm>
            <a:off x="5232951" y="4422489"/>
            <a:ext cx="490541" cy="401352"/>
          </a:xfrm>
          <a:prstGeom prst="rect">
            <a:avLst/>
          </a:prstGeom>
        </p:spPr>
      </p:pic>
      <p:pic>
        <p:nvPicPr>
          <p:cNvPr id="102" name="图片 101" descr="云AP蓝.png"/>
          <p:cNvPicPr>
            <a:picLocks noChangeAspect="1"/>
          </p:cNvPicPr>
          <p:nvPr/>
        </p:nvPicPr>
        <p:blipFill>
          <a:blip r:embed="rId3" cstate="print"/>
          <a:stretch>
            <a:fillRect/>
          </a:stretch>
        </p:blipFill>
        <p:spPr>
          <a:xfrm>
            <a:off x="6784676" y="4422489"/>
            <a:ext cx="490541" cy="401352"/>
          </a:xfrm>
          <a:prstGeom prst="rect">
            <a:avLst/>
          </a:prstGeom>
        </p:spPr>
      </p:pic>
      <p:sp>
        <p:nvSpPr>
          <p:cNvPr id="103" name="文本框 102"/>
          <p:cNvSpPr txBox="1"/>
          <p:nvPr/>
        </p:nvSpPr>
        <p:spPr>
          <a:xfrm>
            <a:off x="5265663" y="4905880"/>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04" name="文本框 103"/>
          <p:cNvSpPr txBox="1"/>
          <p:nvPr/>
        </p:nvSpPr>
        <p:spPr>
          <a:xfrm>
            <a:off x="6006756" y="4905880"/>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105" name="文本框 104"/>
          <p:cNvSpPr txBox="1"/>
          <p:nvPr/>
        </p:nvSpPr>
        <p:spPr>
          <a:xfrm>
            <a:off x="6798838" y="4905880"/>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06" name="矩形 105"/>
          <p:cNvSpPr/>
          <p:nvPr/>
        </p:nvSpPr>
        <p:spPr>
          <a:xfrm>
            <a:off x="5347237" y="5837326"/>
            <a:ext cx="1415772" cy="338554"/>
          </a:xfrm>
          <a:prstGeom prst="rect">
            <a:avLst/>
          </a:prstGeom>
        </p:spPr>
        <p:txBody>
          <a:bodyPr wrap="none">
            <a:spAutoFit/>
          </a:bodyPr>
          <a:lstStyle/>
          <a:p>
            <a:pPr algn="ctr"/>
            <a:r>
              <a:rPr lang="zh-CN" altLang="en-US" sz="1600" dirty="0">
                <a:cs typeface="+mn-ea"/>
                <a:sym typeface="+mn-lt"/>
              </a:rPr>
              <a:t>单</a:t>
            </a:r>
            <a:r>
              <a:rPr lang="zh-CN" altLang="en-US" sz="1600" dirty="0" smtClean="0">
                <a:cs typeface="+mn-ea"/>
                <a:sym typeface="+mn-lt"/>
              </a:rPr>
              <a:t>层组</a:t>
            </a:r>
            <a:r>
              <a:rPr lang="zh-CN" altLang="en-US" sz="1600" dirty="0">
                <a:cs typeface="+mn-ea"/>
                <a:sym typeface="+mn-lt"/>
              </a:rPr>
              <a:t>网架构</a:t>
            </a:r>
          </a:p>
        </p:txBody>
      </p:sp>
      <p:sp>
        <p:nvSpPr>
          <p:cNvPr id="107" name="圆角矩形 106"/>
          <p:cNvSpPr/>
          <p:nvPr/>
        </p:nvSpPr>
        <p:spPr>
          <a:xfrm>
            <a:off x="7999425" y="2663711"/>
            <a:ext cx="3264380" cy="2893810"/>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grpSp>
        <p:nvGrpSpPr>
          <p:cNvPr id="108" name="Group 161"/>
          <p:cNvGrpSpPr/>
          <p:nvPr/>
        </p:nvGrpSpPr>
        <p:grpSpPr>
          <a:xfrm rot="10800000">
            <a:off x="9093223" y="3867183"/>
            <a:ext cx="1560982" cy="594957"/>
            <a:chOff x="-1233037" y="914446"/>
            <a:chExt cx="1573823" cy="778776"/>
          </a:xfrm>
        </p:grpSpPr>
        <p:cxnSp>
          <p:nvCxnSpPr>
            <p:cNvPr id="109" name="Straight Connector 163"/>
            <p:cNvCxnSpPr/>
            <p:nvPr/>
          </p:nvCxnSpPr>
          <p:spPr>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 name="直接连接符 110"/>
          <p:cNvCxnSpPr/>
          <p:nvPr/>
        </p:nvCxnSpPr>
        <p:spPr>
          <a:xfrm>
            <a:off x="9875389" y="2092960"/>
            <a:ext cx="0" cy="26488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任意多边形 111"/>
          <p:cNvSpPr/>
          <p:nvPr/>
        </p:nvSpPr>
        <p:spPr>
          <a:xfrm>
            <a:off x="9432647" y="1922689"/>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113" name="文本框 112"/>
          <p:cNvSpPr txBox="1"/>
          <p:nvPr/>
        </p:nvSpPr>
        <p:spPr>
          <a:xfrm>
            <a:off x="10116992" y="2843575"/>
            <a:ext cx="859531" cy="307777"/>
          </a:xfrm>
          <a:prstGeom prst="rect">
            <a:avLst/>
          </a:prstGeom>
          <a:noFill/>
        </p:spPr>
        <p:txBody>
          <a:bodyPr wrap="none" rtlCol="0">
            <a:spAutoFit/>
          </a:bodyPr>
          <a:lstStyle/>
          <a:p>
            <a:r>
              <a:rPr lang="en-US" altLang="zh-CN" sz="1400" smtClean="0">
                <a:cs typeface="+mn-ea"/>
                <a:sym typeface="+mn-lt"/>
              </a:rPr>
              <a:t>FW</a:t>
            </a:r>
            <a:r>
              <a:rPr lang="zh-CN" altLang="en-US" sz="1400" smtClean="0">
                <a:cs typeface="+mn-ea"/>
                <a:sym typeface="+mn-lt"/>
              </a:rPr>
              <a:t>或</a:t>
            </a:r>
            <a:r>
              <a:rPr lang="en-US" altLang="zh-CN" sz="1400" smtClean="0">
                <a:cs typeface="+mn-ea"/>
                <a:sym typeface="+mn-lt"/>
              </a:rPr>
              <a:t>AR</a:t>
            </a:r>
            <a:endParaRPr lang="zh-CN" altLang="en-US" sz="1400">
              <a:cs typeface="+mn-ea"/>
              <a:sym typeface="+mn-lt"/>
            </a:endParaRPr>
          </a:p>
        </p:txBody>
      </p:sp>
      <p:pic>
        <p:nvPicPr>
          <p:cNvPr id="114" name="图片 1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99586" y="1186774"/>
            <a:ext cx="951607" cy="540946"/>
          </a:xfrm>
          <a:prstGeom prst="rect">
            <a:avLst/>
          </a:prstGeom>
        </p:spPr>
      </p:pic>
      <p:pic>
        <p:nvPicPr>
          <p:cNvPr id="116" name="图片 76" descr="接入交换机.png"/>
          <p:cNvPicPr>
            <a:picLocks noChangeAspect="1"/>
          </p:cNvPicPr>
          <p:nvPr/>
        </p:nvPicPr>
        <p:blipFill>
          <a:blip r:embed="rId7" cstate="print"/>
          <a:stretch>
            <a:fillRect/>
          </a:stretch>
        </p:blipFill>
        <p:spPr>
          <a:xfrm>
            <a:off x="9632114" y="4422188"/>
            <a:ext cx="490909" cy="401653"/>
          </a:xfrm>
          <a:prstGeom prst="rect">
            <a:avLst/>
          </a:prstGeom>
        </p:spPr>
      </p:pic>
      <p:pic>
        <p:nvPicPr>
          <p:cNvPr id="117" name="图片 116" descr="云AP蓝.png"/>
          <p:cNvPicPr>
            <a:picLocks noChangeAspect="1"/>
          </p:cNvPicPr>
          <p:nvPr/>
        </p:nvPicPr>
        <p:blipFill>
          <a:blip r:embed="rId3" cstate="print"/>
          <a:stretch>
            <a:fillRect/>
          </a:stretch>
        </p:blipFill>
        <p:spPr>
          <a:xfrm>
            <a:off x="8856436" y="4422489"/>
            <a:ext cx="490541" cy="401352"/>
          </a:xfrm>
          <a:prstGeom prst="rect">
            <a:avLst/>
          </a:prstGeom>
        </p:spPr>
      </p:pic>
      <p:pic>
        <p:nvPicPr>
          <p:cNvPr id="118" name="图片 117" descr="云AP蓝.png"/>
          <p:cNvPicPr>
            <a:picLocks noChangeAspect="1"/>
          </p:cNvPicPr>
          <p:nvPr/>
        </p:nvPicPr>
        <p:blipFill>
          <a:blip r:embed="rId3" cstate="print"/>
          <a:stretch>
            <a:fillRect/>
          </a:stretch>
        </p:blipFill>
        <p:spPr>
          <a:xfrm>
            <a:off x="10408161" y="4422489"/>
            <a:ext cx="490541" cy="401352"/>
          </a:xfrm>
          <a:prstGeom prst="rect">
            <a:avLst/>
          </a:prstGeom>
        </p:spPr>
      </p:pic>
      <p:sp>
        <p:nvSpPr>
          <p:cNvPr id="119" name="文本框 118"/>
          <p:cNvSpPr txBox="1"/>
          <p:nvPr/>
        </p:nvSpPr>
        <p:spPr>
          <a:xfrm>
            <a:off x="8889148" y="4905880"/>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20" name="文本框 119"/>
          <p:cNvSpPr txBox="1"/>
          <p:nvPr/>
        </p:nvSpPr>
        <p:spPr>
          <a:xfrm>
            <a:off x="9630241" y="4905880"/>
            <a:ext cx="455574" cy="307777"/>
          </a:xfrm>
          <a:prstGeom prst="rect">
            <a:avLst/>
          </a:prstGeom>
          <a:noFill/>
        </p:spPr>
        <p:txBody>
          <a:bodyPr wrap="none" rtlCol="0">
            <a:spAutoFit/>
          </a:bodyPr>
          <a:lstStyle/>
          <a:p>
            <a:r>
              <a:rPr lang="en-US" altLang="zh-CN" sz="1400" dirty="0" smtClean="0">
                <a:cs typeface="+mn-ea"/>
                <a:sym typeface="+mn-lt"/>
              </a:rPr>
              <a:t>SW</a:t>
            </a:r>
            <a:endParaRPr lang="zh-CN" altLang="en-US" sz="1400" dirty="0">
              <a:cs typeface="+mn-ea"/>
              <a:sym typeface="+mn-lt"/>
            </a:endParaRPr>
          </a:p>
        </p:txBody>
      </p:sp>
      <p:sp>
        <p:nvSpPr>
          <p:cNvPr id="121" name="文本框 120"/>
          <p:cNvSpPr txBox="1"/>
          <p:nvPr/>
        </p:nvSpPr>
        <p:spPr>
          <a:xfrm>
            <a:off x="10422323" y="4905880"/>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22" name="矩形 121"/>
          <p:cNvSpPr/>
          <p:nvPr/>
        </p:nvSpPr>
        <p:spPr>
          <a:xfrm>
            <a:off x="8889442" y="5837326"/>
            <a:ext cx="1415772" cy="338554"/>
          </a:xfrm>
          <a:prstGeom prst="rect">
            <a:avLst/>
          </a:prstGeom>
        </p:spPr>
        <p:txBody>
          <a:bodyPr wrap="none">
            <a:spAutoFit/>
          </a:bodyPr>
          <a:lstStyle/>
          <a:p>
            <a:pPr algn="ctr"/>
            <a:r>
              <a:rPr lang="zh-CN" altLang="en-US" sz="1600" smtClean="0">
                <a:cs typeface="+mn-ea"/>
                <a:sym typeface="+mn-lt"/>
              </a:rPr>
              <a:t>两层组</a:t>
            </a:r>
            <a:r>
              <a:rPr lang="zh-CN" altLang="en-US" sz="1600">
                <a:cs typeface="+mn-ea"/>
                <a:sym typeface="+mn-lt"/>
              </a:rPr>
              <a:t>网架构</a:t>
            </a:r>
          </a:p>
        </p:txBody>
      </p:sp>
      <p:pic>
        <p:nvPicPr>
          <p:cNvPr id="125"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628260" y="2776318"/>
            <a:ext cx="490909" cy="401653"/>
          </a:xfrm>
          <a:prstGeom prst="rect">
            <a:avLst/>
          </a:prstGeom>
        </p:spPr>
      </p:pic>
      <p:pic>
        <p:nvPicPr>
          <p:cNvPr id="127" name="图片 87" descr="汇聚交换机.png"/>
          <p:cNvPicPr>
            <a:picLocks noChangeAspect="1"/>
          </p:cNvPicPr>
          <p:nvPr/>
        </p:nvPicPr>
        <p:blipFill>
          <a:blip r:embed="rId8" cstate="print"/>
          <a:stretch>
            <a:fillRect/>
          </a:stretch>
        </p:blipFill>
        <p:spPr>
          <a:xfrm>
            <a:off x="9628259" y="3459999"/>
            <a:ext cx="490909" cy="401653"/>
          </a:xfrm>
          <a:prstGeom prst="rect">
            <a:avLst/>
          </a:prstGeom>
        </p:spPr>
      </p:pic>
      <p:sp>
        <p:nvSpPr>
          <p:cNvPr id="128" name="文本框 127"/>
          <p:cNvSpPr txBox="1"/>
          <p:nvPr/>
        </p:nvSpPr>
        <p:spPr>
          <a:xfrm>
            <a:off x="10116992" y="3513285"/>
            <a:ext cx="455574" cy="307777"/>
          </a:xfrm>
          <a:prstGeom prst="rect">
            <a:avLst/>
          </a:prstGeom>
          <a:noFill/>
        </p:spPr>
        <p:txBody>
          <a:bodyPr wrap="none" rtlCol="0">
            <a:spAutoFit/>
          </a:bodyPr>
          <a:lstStyle/>
          <a:p>
            <a:r>
              <a:rPr lang="en-US" altLang="zh-CN" sz="1400" dirty="0" smtClean="0">
                <a:cs typeface="+mn-ea"/>
                <a:sym typeface="+mn-lt"/>
              </a:rPr>
              <a:t>SW</a:t>
            </a:r>
            <a:endParaRPr lang="zh-CN" altLang="en-US" sz="1400" dirty="0">
              <a:cs typeface="+mn-ea"/>
              <a:sym typeface="+mn-lt"/>
            </a:endParaRPr>
          </a:p>
        </p:txBody>
      </p:sp>
      <p:sp>
        <p:nvSpPr>
          <p:cNvPr id="129" name="矩形 128"/>
          <p:cNvSpPr/>
          <p:nvPr/>
        </p:nvSpPr>
        <p:spPr>
          <a:xfrm>
            <a:off x="4475096" y="4453737"/>
            <a:ext cx="723275" cy="307777"/>
          </a:xfrm>
          <a:prstGeom prst="rect">
            <a:avLst/>
          </a:prstGeom>
        </p:spPr>
        <p:txBody>
          <a:bodyPr wrap="none">
            <a:spAutoFit/>
          </a:bodyPr>
          <a:lstStyle/>
          <a:p>
            <a:pPr algn="ctr"/>
            <a:r>
              <a:rPr lang="zh-CN" altLang="en-US" sz="1400" dirty="0" smtClean="0">
                <a:cs typeface="+mn-ea"/>
                <a:sym typeface="+mn-lt"/>
              </a:rPr>
              <a:t>接入层</a:t>
            </a:r>
            <a:endParaRPr lang="zh-CN" altLang="en-US" sz="1400" dirty="0">
              <a:cs typeface="+mn-ea"/>
              <a:sym typeface="+mn-lt"/>
            </a:endParaRPr>
          </a:p>
        </p:txBody>
      </p:sp>
      <p:sp>
        <p:nvSpPr>
          <p:cNvPr id="130" name="矩形 129"/>
          <p:cNvSpPr/>
          <p:nvPr/>
        </p:nvSpPr>
        <p:spPr>
          <a:xfrm>
            <a:off x="8082030" y="4453737"/>
            <a:ext cx="723275" cy="307777"/>
          </a:xfrm>
          <a:prstGeom prst="rect">
            <a:avLst/>
          </a:prstGeom>
        </p:spPr>
        <p:txBody>
          <a:bodyPr wrap="none">
            <a:spAutoFit/>
          </a:bodyPr>
          <a:lstStyle/>
          <a:p>
            <a:pPr algn="ctr"/>
            <a:r>
              <a:rPr lang="zh-CN" altLang="en-US" sz="1400" smtClean="0">
                <a:cs typeface="+mn-ea"/>
                <a:sym typeface="+mn-lt"/>
              </a:rPr>
              <a:t>接入层</a:t>
            </a:r>
            <a:endParaRPr lang="zh-CN" altLang="en-US" sz="1400">
              <a:cs typeface="+mn-ea"/>
              <a:sym typeface="+mn-lt"/>
            </a:endParaRPr>
          </a:p>
        </p:txBody>
      </p:sp>
      <p:sp>
        <p:nvSpPr>
          <p:cNvPr id="131" name="矩形 130"/>
          <p:cNvSpPr/>
          <p:nvPr/>
        </p:nvSpPr>
        <p:spPr>
          <a:xfrm>
            <a:off x="8082030" y="3508821"/>
            <a:ext cx="723275" cy="307777"/>
          </a:xfrm>
          <a:prstGeom prst="rect">
            <a:avLst/>
          </a:prstGeom>
        </p:spPr>
        <p:txBody>
          <a:bodyPr wrap="none">
            <a:spAutoFit/>
          </a:bodyPr>
          <a:lstStyle/>
          <a:p>
            <a:pPr algn="ctr"/>
            <a:r>
              <a:rPr lang="zh-CN" altLang="en-US" sz="1400" smtClean="0">
                <a:cs typeface="+mn-ea"/>
                <a:sym typeface="+mn-lt"/>
              </a:rPr>
              <a:t>汇聚层</a:t>
            </a:r>
            <a:endParaRPr lang="zh-CN" altLang="en-US" sz="1400">
              <a:cs typeface="+mn-ea"/>
              <a:sym typeface="+mn-lt"/>
            </a:endParaRPr>
          </a:p>
        </p:txBody>
      </p:sp>
    </p:spTree>
    <p:extLst>
      <p:ext uri="{BB962C8B-B14F-4D97-AF65-F5344CB8AC3E}">
        <p14:creationId xmlns:p14="http://schemas.microsoft.com/office/powerpoint/2010/main" val="1156905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圆角矩形 62"/>
          <p:cNvSpPr/>
          <p:nvPr/>
        </p:nvSpPr>
        <p:spPr>
          <a:xfrm>
            <a:off x="5638670" y="2663711"/>
            <a:ext cx="5628770" cy="2893810"/>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135" name="直接连接符 134"/>
          <p:cNvCxnSpPr/>
          <p:nvPr/>
        </p:nvCxnSpPr>
        <p:spPr>
          <a:xfrm>
            <a:off x="8656505" y="2114550"/>
            <a:ext cx="0" cy="21067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2" name="Group 161"/>
          <p:cNvGrpSpPr/>
          <p:nvPr/>
        </p:nvGrpSpPr>
        <p:grpSpPr>
          <a:xfrm rot="10800000" flipV="1">
            <a:off x="7598024" y="4227603"/>
            <a:ext cx="1149736" cy="616934"/>
            <a:chOff x="-1233037" y="914446"/>
            <a:chExt cx="1573823" cy="778776"/>
          </a:xfrm>
        </p:grpSpPr>
        <p:cxnSp>
          <p:nvCxnSpPr>
            <p:cNvPr id="133" name="Straight Connector 163"/>
            <p:cNvCxnSpPr/>
            <p:nvPr/>
          </p:nvCxnSpPr>
          <p:spPr>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3" name="Group 161"/>
          <p:cNvGrpSpPr/>
          <p:nvPr/>
        </p:nvGrpSpPr>
        <p:grpSpPr>
          <a:xfrm rot="10800000">
            <a:off x="7439757" y="4221281"/>
            <a:ext cx="1472461" cy="594957"/>
            <a:chOff x="-3661019" y="914446"/>
            <a:chExt cx="4001805" cy="778776"/>
          </a:xfrm>
        </p:grpSpPr>
        <p:cxnSp>
          <p:nvCxnSpPr>
            <p:cNvPr id="124" name="Straight Connector 163"/>
            <p:cNvCxnSpPr/>
            <p:nvPr/>
          </p:nvCxnSpPr>
          <p:spPr>
            <a:xfrm flipH="1" flipV="1">
              <a:off x="-3661019" y="914446"/>
              <a:ext cx="786913"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p:txBody>
          <a:bodyPr>
            <a:normAutofit/>
          </a:bodyPr>
          <a:lstStyle/>
          <a:p>
            <a:r>
              <a:rPr lang="zh-CN" altLang="en-US" dirty="0">
                <a:latin typeface="+mn-lt"/>
                <a:ea typeface="+mn-ea"/>
                <a:cs typeface="+mn-ea"/>
                <a:sym typeface="+mn-lt"/>
              </a:rPr>
              <a:t>网络架构</a:t>
            </a:r>
            <a:r>
              <a:rPr lang="zh-CN" altLang="en-US" dirty="0" smtClean="0">
                <a:latin typeface="+mn-lt"/>
                <a:ea typeface="+mn-ea"/>
                <a:cs typeface="+mn-ea"/>
                <a:sym typeface="+mn-lt"/>
              </a:rPr>
              <a:t>设计概览：内网架构 </a:t>
            </a:r>
            <a:r>
              <a:rPr lang="en-US" altLang="zh-CN" dirty="0" smtClean="0">
                <a:cs typeface="+mn-ea"/>
                <a:sym typeface="+mn-lt"/>
              </a:rPr>
              <a:t>(</a:t>
            </a:r>
            <a:r>
              <a:rPr lang="en-US" altLang="zh-CN" dirty="0">
                <a:cs typeface="+mn-ea"/>
                <a:sym typeface="+mn-lt"/>
              </a:rPr>
              <a:t>2</a:t>
            </a:r>
            <a:r>
              <a:rPr lang="en-US" altLang="zh-CN" dirty="0" smtClean="0">
                <a:cs typeface="+mn-ea"/>
                <a:sym typeface="+mn-lt"/>
              </a:rPr>
              <a:t>)</a:t>
            </a:r>
            <a:endParaRPr lang="zh-CN" altLang="en-US" dirty="0">
              <a:latin typeface="+mn-lt"/>
              <a:ea typeface="+mn-ea"/>
              <a:cs typeface="+mn-ea"/>
              <a:sym typeface="+mn-lt"/>
            </a:endParaRPr>
          </a:p>
        </p:txBody>
      </p:sp>
      <p:sp>
        <p:nvSpPr>
          <p:cNvPr id="107" name="圆角矩形 106"/>
          <p:cNvSpPr/>
          <p:nvPr/>
        </p:nvSpPr>
        <p:spPr>
          <a:xfrm>
            <a:off x="1303985" y="2663711"/>
            <a:ext cx="3264380" cy="2893810"/>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grpSp>
        <p:nvGrpSpPr>
          <p:cNvPr id="108" name="Group 161"/>
          <p:cNvGrpSpPr/>
          <p:nvPr/>
        </p:nvGrpSpPr>
        <p:grpSpPr>
          <a:xfrm rot="10800000">
            <a:off x="2397783" y="4221282"/>
            <a:ext cx="1560982" cy="594957"/>
            <a:chOff x="-1233037" y="914446"/>
            <a:chExt cx="1573823" cy="778776"/>
          </a:xfrm>
        </p:grpSpPr>
        <p:cxnSp>
          <p:nvCxnSpPr>
            <p:cNvPr id="109" name="Straight Connector 163"/>
            <p:cNvCxnSpPr/>
            <p:nvPr/>
          </p:nvCxnSpPr>
          <p:spPr>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 name="直接连接符 110"/>
          <p:cNvCxnSpPr/>
          <p:nvPr/>
        </p:nvCxnSpPr>
        <p:spPr>
          <a:xfrm>
            <a:off x="3179949" y="2038350"/>
            <a:ext cx="0" cy="29156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任意多边形 111"/>
          <p:cNvSpPr/>
          <p:nvPr/>
        </p:nvSpPr>
        <p:spPr>
          <a:xfrm>
            <a:off x="2737207" y="1922689"/>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113" name="文本框 112"/>
          <p:cNvSpPr txBox="1"/>
          <p:nvPr/>
        </p:nvSpPr>
        <p:spPr>
          <a:xfrm>
            <a:off x="3421552" y="2843575"/>
            <a:ext cx="859531" cy="307777"/>
          </a:xfrm>
          <a:prstGeom prst="rect">
            <a:avLst/>
          </a:prstGeom>
          <a:noFill/>
        </p:spPr>
        <p:txBody>
          <a:bodyPr wrap="none" rtlCol="0">
            <a:spAutoFit/>
          </a:bodyPr>
          <a:lstStyle/>
          <a:p>
            <a:r>
              <a:rPr lang="en-US" altLang="zh-CN" sz="1400" smtClean="0">
                <a:cs typeface="+mn-ea"/>
                <a:sym typeface="+mn-lt"/>
              </a:rPr>
              <a:t>FW</a:t>
            </a:r>
            <a:r>
              <a:rPr lang="zh-CN" altLang="en-US" sz="1400" smtClean="0">
                <a:cs typeface="+mn-ea"/>
                <a:sym typeface="+mn-lt"/>
              </a:rPr>
              <a:t>或</a:t>
            </a:r>
            <a:r>
              <a:rPr lang="en-US" altLang="zh-CN" sz="1400" smtClean="0">
                <a:cs typeface="+mn-ea"/>
                <a:sym typeface="+mn-lt"/>
              </a:rPr>
              <a:t>AR</a:t>
            </a:r>
            <a:endParaRPr lang="zh-CN" altLang="en-US" sz="1400">
              <a:cs typeface="+mn-ea"/>
              <a:sym typeface="+mn-lt"/>
            </a:endParaRPr>
          </a:p>
        </p:txBody>
      </p:sp>
      <p:pic>
        <p:nvPicPr>
          <p:cNvPr id="114" name="图片 1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4146" y="1217254"/>
            <a:ext cx="951607" cy="540946"/>
          </a:xfrm>
          <a:prstGeom prst="rect">
            <a:avLst/>
          </a:prstGeom>
        </p:spPr>
      </p:pic>
      <p:pic>
        <p:nvPicPr>
          <p:cNvPr id="116" name="图片 76" descr="接入交换机.png"/>
          <p:cNvPicPr>
            <a:picLocks noChangeAspect="1"/>
          </p:cNvPicPr>
          <p:nvPr/>
        </p:nvPicPr>
        <p:blipFill>
          <a:blip r:embed="rId4" cstate="print"/>
          <a:stretch>
            <a:fillRect/>
          </a:stretch>
        </p:blipFill>
        <p:spPr>
          <a:xfrm>
            <a:off x="2979273" y="4803449"/>
            <a:ext cx="405710" cy="331945"/>
          </a:xfrm>
          <a:prstGeom prst="rect">
            <a:avLst/>
          </a:prstGeom>
        </p:spPr>
      </p:pic>
      <p:pic>
        <p:nvPicPr>
          <p:cNvPr id="117" name="图片 116" descr="云AP蓝.png"/>
          <p:cNvPicPr>
            <a:picLocks noChangeAspect="1"/>
          </p:cNvPicPr>
          <p:nvPr/>
        </p:nvPicPr>
        <p:blipFill>
          <a:blip r:embed="rId5" cstate="print"/>
          <a:stretch>
            <a:fillRect/>
          </a:stretch>
        </p:blipFill>
        <p:spPr>
          <a:xfrm>
            <a:off x="2203564" y="4803725"/>
            <a:ext cx="405405" cy="331695"/>
          </a:xfrm>
          <a:prstGeom prst="rect">
            <a:avLst/>
          </a:prstGeom>
        </p:spPr>
      </p:pic>
      <p:pic>
        <p:nvPicPr>
          <p:cNvPr id="118" name="图片 117" descr="云AP蓝.png"/>
          <p:cNvPicPr>
            <a:picLocks noChangeAspect="1"/>
          </p:cNvPicPr>
          <p:nvPr/>
        </p:nvPicPr>
        <p:blipFill>
          <a:blip r:embed="rId5" cstate="print"/>
          <a:stretch>
            <a:fillRect/>
          </a:stretch>
        </p:blipFill>
        <p:spPr>
          <a:xfrm>
            <a:off x="3755289" y="4803725"/>
            <a:ext cx="405405" cy="331695"/>
          </a:xfrm>
          <a:prstGeom prst="rect">
            <a:avLst/>
          </a:prstGeom>
        </p:spPr>
      </p:pic>
      <p:sp>
        <p:nvSpPr>
          <p:cNvPr id="119" name="文本框 118"/>
          <p:cNvSpPr txBox="1"/>
          <p:nvPr/>
        </p:nvSpPr>
        <p:spPr>
          <a:xfrm>
            <a:off x="2193708" y="5177971"/>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20" name="文本框 119"/>
          <p:cNvSpPr txBox="1"/>
          <p:nvPr/>
        </p:nvSpPr>
        <p:spPr>
          <a:xfrm>
            <a:off x="2934801" y="5177971"/>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121" name="文本框 120"/>
          <p:cNvSpPr txBox="1"/>
          <p:nvPr/>
        </p:nvSpPr>
        <p:spPr>
          <a:xfrm>
            <a:off x="3726883" y="5177971"/>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22" name="矩形 121"/>
          <p:cNvSpPr/>
          <p:nvPr/>
        </p:nvSpPr>
        <p:spPr>
          <a:xfrm>
            <a:off x="2194002" y="5837326"/>
            <a:ext cx="1415772" cy="338554"/>
          </a:xfrm>
          <a:prstGeom prst="rect">
            <a:avLst/>
          </a:prstGeom>
        </p:spPr>
        <p:txBody>
          <a:bodyPr wrap="none">
            <a:spAutoFit/>
          </a:bodyPr>
          <a:lstStyle/>
          <a:p>
            <a:pPr algn="ctr"/>
            <a:r>
              <a:rPr lang="zh-CN" altLang="en-US" sz="1600" smtClean="0">
                <a:cs typeface="+mn-ea"/>
                <a:sym typeface="+mn-lt"/>
              </a:rPr>
              <a:t>三层组</a:t>
            </a:r>
            <a:r>
              <a:rPr lang="zh-CN" altLang="en-US" sz="1600">
                <a:cs typeface="+mn-ea"/>
                <a:sym typeface="+mn-lt"/>
              </a:rPr>
              <a:t>网架构</a:t>
            </a:r>
          </a:p>
        </p:txBody>
      </p:sp>
      <p:pic>
        <p:nvPicPr>
          <p:cNvPr id="125"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75419" y="2811172"/>
            <a:ext cx="405710" cy="331945"/>
          </a:xfrm>
          <a:prstGeom prst="rect">
            <a:avLst/>
          </a:prstGeom>
        </p:spPr>
      </p:pic>
      <p:pic>
        <p:nvPicPr>
          <p:cNvPr id="127" name="图片 87" descr="汇聚交换机.png"/>
          <p:cNvPicPr>
            <a:picLocks noChangeAspect="1"/>
          </p:cNvPicPr>
          <p:nvPr/>
        </p:nvPicPr>
        <p:blipFill>
          <a:blip r:embed="rId7" cstate="print"/>
          <a:stretch>
            <a:fillRect/>
          </a:stretch>
        </p:blipFill>
        <p:spPr>
          <a:xfrm>
            <a:off x="2975418" y="4028799"/>
            <a:ext cx="405710" cy="331945"/>
          </a:xfrm>
          <a:prstGeom prst="rect">
            <a:avLst/>
          </a:prstGeom>
        </p:spPr>
      </p:pic>
      <p:sp>
        <p:nvSpPr>
          <p:cNvPr id="128" name="文本框 127"/>
          <p:cNvSpPr txBox="1"/>
          <p:nvPr/>
        </p:nvSpPr>
        <p:spPr>
          <a:xfrm>
            <a:off x="3421552" y="4047231"/>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130" name="矩形 129"/>
          <p:cNvSpPr/>
          <p:nvPr/>
        </p:nvSpPr>
        <p:spPr>
          <a:xfrm>
            <a:off x="1386590" y="4800144"/>
            <a:ext cx="723275" cy="307777"/>
          </a:xfrm>
          <a:prstGeom prst="rect">
            <a:avLst/>
          </a:prstGeom>
        </p:spPr>
        <p:txBody>
          <a:bodyPr wrap="none">
            <a:spAutoFit/>
          </a:bodyPr>
          <a:lstStyle/>
          <a:p>
            <a:pPr algn="ctr"/>
            <a:r>
              <a:rPr lang="zh-CN" altLang="en-US" sz="1400" smtClean="0">
                <a:cs typeface="+mn-ea"/>
                <a:sym typeface="+mn-lt"/>
              </a:rPr>
              <a:t>接入层</a:t>
            </a:r>
            <a:endParaRPr lang="zh-CN" altLang="en-US" sz="1400">
              <a:cs typeface="+mn-ea"/>
              <a:sym typeface="+mn-lt"/>
            </a:endParaRPr>
          </a:p>
        </p:txBody>
      </p:sp>
      <p:sp>
        <p:nvSpPr>
          <p:cNvPr id="131" name="矩形 130"/>
          <p:cNvSpPr/>
          <p:nvPr/>
        </p:nvSpPr>
        <p:spPr>
          <a:xfrm>
            <a:off x="1386590" y="4042767"/>
            <a:ext cx="723275" cy="307777"/>
          </a:xfrm>
          <a:prstGeom prst="rect">
            <a:avLst/>
          </a:prstGeom>
        </p:spPr>
        <p:txBody>
          <a:bodyPr wrap="none">
            <a:spAutoFit/>
          </a:bodyPr>
          <a:lstStyle/>
          <a:p>
            <a:pPr algn="ctr"/>
            <a:r>
              <a:rPr lang="zh-CN" altLang="en-US" sz="1400" dirty="0" smtClean="0">
                <a:cs typeface="+mn-ea"/>
                <a:sym typeface="+mn-lt"/>
              </a:rPr>
              <a:t>汇聚层</a:t>
            </a:r>
            <a:endParaRPr lang="zh-CN" altLang="en-US" sz="1400" dirty="0">
              <a:cs typeface="+mn-ea"/>
              <a:sym typeface="+mn-lt"/>
            </a:endParaRPr>
          </a:p>
        </p:txBody>
      </p:sp>
      <p:pic>
        <p:nvPicPr>
          <p:cNvPr id="60" name="图片 86" descr="核心交换机.png"/>
          <p:cNvPicPr>
            <a:picLocks noChangeAspect="1"/>
          </p:cNvPicPr>
          <p:nvPr/>
        </p:nvPicPr>
        <p:blipFill>
          <a:blip r:embed="rId8" cstate="print"/>
          <a:stretch>
            <a:fillRect/>
          </a:stretch>
        </p:blipFill>
        <p:spPr>
          <a:xfrm>
            <a:off x="2975418" y="3437307"/>
            <a:ext cx="405710" cy="331945"/>
          </a:xfrm>
          <a:prstGeom prst="rect">
            <a:avLst/>
          </a:prstGeom>
        </p:spPr>
      </p:pic>
      <p:sp>
        <p:nvSpPr>
          <p:cNvPr id="61" name="文本框 60"/>
          <p:cNvSpPr txBox="1"/>
          <p:nvPr/>
        </p:nvSpPr>
        <p:spPr>
          <a:xfrm>
            <a:off x="3421552" y="3437307"/>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62" name="矩形 61"/>
          <p:cNvSpPr/>
          <p:nvPr/>
        </p:nvSpPr>
        <p:spPr>
          <a:xfrm>
            <a:off x="1386589" y="3437306"/>
            <a:ext cx="723276" cy="307777"/>
          </a:xfrm>
          <a:prstGeom prst="rect">
            <a:avLst/>
          </a:prstGeom>
        </p:spPr>
        <p:txBody>
          <a:bodyPr wrap="none">
            <a:spAutoFit/>
          </a:bodyPr>
          <a:lstStyle/>
          <a:p>
            <a:pPr algn="ctr"/>
            <a:r>
              <a:rPr lang="zh-CN" altLang="en-US" sz="1400" dirty="0" smtClean="0">
                <a:cs typeface="+mn-ea"/>
                <a:sym typeface="+mn-lt"/>
              </a:rPr>
              <a:t>核心层</a:t>
            </a:r>
            <a:endParaRPr lang="zh-CN" altLang="en-US" sz="1400" dirty="0">
              <a:cs typeface="+mn-ea"/>
              <a:sym typeface="+mn-lt"/>
            </a:endParaRPr>
          </a:p>
        </p:txBody>
      </p:sp>
      <p:cxnSp>
        <p:nvCxnSpPr>
          <p:cNvPr id="67" name="直接连接符 66"/>
          <p:cNvCxnSpPr/>
          <p:nvPr/>
        </p:nvCxnSpPr>
        <p:spPr>
          <a:xfrm>
            <a:off x="7682977" y="2218764"/>
            <a:ext cx="0" cy="20025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任意多边形 67"/>
          <p:cNvSpPr/>
          <p:nvPr/>
        </p:nvSpPr>
        <p:spPr>
          <a:xfrm>
            <a:off x="7240235" y="1922689"/>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69" name="文本框 68"/>
          <p:cNvSpPr txBox="1"/>
          <p:nvPr/>
        </p:nvSpPr>
        <p:spPr bwMode="auto">
          <a:xfrm>
            <a:off x="9294166" y="2843575"/>
            <a:ext cx="859531" cy="307777"/>
          </a:xfrm>
          <a:prstGeom prst="rect">
            <a:avLst/>
          </a:prstGeom>
          <a:noFill/>
        </p:spPr>
        <p:txBody>
          <a:bodyPr wrap="none" rtlCol="0">
            <a:spAutoFit/>
          </a:bodyPr>
          <a:lstStyle/>
          <a:p>
            <a:r>
              <a:rPr lang="en-US" altLang="zh-CN" sz="1400" dirty="0" smtClean="0">
                <a:cs typeface="+mn-ea"/>
                <a:sym typeface="+mn-lt"/>
              </a:rPr>
              <a:t>FW</a:t>
            </a:r>
            <a:r>
              <a:rPr lang="zh-CN" altLang="en-US" sz="1400" dirty="0" smtClean="0">
                <a:cs typeface="+mn-ea"/>
                <a:sym typeface="+mn-lt"/>
              </a:rPr>
              <a:t>或</a:t>
            </a:r>
            <a:r>
              <a:rPr lang="en-US" altLang="zh-CN" sz="1400" dirty="0" smtClean="0">
                <a:cs typeface="+mn-ea"/>
                <a:sym typeface="+mn-lt"/>
              </a:rPr>
              <a:t>AR</a:t>
            </a:r>
            <a:endParaRPr lang="zh-CN" altLang="en-US" sz="1400" dirty="0">
              <a:cs typeface="+mn-ea"/>
              <a:sym typeface="+mn-lt"/>
            </a:endParaRPr>
          </a:p>
        </p:txBody>
      </p:sp>
      <p:pic>
        <p:nvPicPr>
          <p:cNvPr id="70" name="图片 6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7089" y="1217254"/>
            <a:ext cx="951607" cy="540946"/>
          </a:xfrm>
          <a:prstGeom prst="rect">
            <a:avLst/>
          </a:prstGeom>
        </p:spPr>
      </p:pic>
      <p:pic>
        <p:nvPicPr>
          <p:cNvPr id="71" name="图片 76" descr="接入交换机.png"/>
          <p:cNvPicPr>
            <a:picLocks noChangeAspect="1"/>
          </p:cNvPicPr>
          <p:nvPr/>
        </p:nvPicPr>
        <p:blipFill>
          <a:blip r:embed="rId4" cstate="print"/>
          <a:stretch>
            <a:fillRect/>
          </a:stretch>
        </p:blipFill>
        <p:spPr>
          <a:xfrm>
            <a:off x="7966048" y="4803449"/>
            <a:ext cx="405710" cy="331945"/>
          </a:xfrm>
          <a:prstGeom prst="rect">
            <a:avLst/>
          </a:prstGeom>
        </p:spPr>
      </p:pic>
      <p:pic>
        <p:nvPicPr>
          <p:cNvPr id="72" name="图片 71" descr="云AP蓝.png"/>
          <p:cNvPicPr>
            <a:picLocks noChangeAspect="1"/>
          </p:cNvPicPr>
          <p:nvPr/>
        </p:nvPicPr>
        <p:blipFill>
          <a:blip r:embed="rId5" cstate="print"/>
          <a:stretch>
            <a:fillRect/>
          </a:stretch>
        </p:blipFill>
        <p:spPr>
          <a:xfrm>
            <a:off x="7213868" y="4803725"/>
            <a:ext cx="405405" cy="331695"/>
          </a:xfrm>
          <a:prstGeom prst="rect">
            <a:avLst/>
          </a:prstGeom>
        </p:spPr>
      </p:pic>
      <p:pic>
        <p:nvPicPr>
          <p:cNvPr id="73" name="图片 72" descr="云AP蓝.png"/>
          <p:cNvPicPr>
            <a:picLocks noChangeAspect="1"/>
          </p:cNvPicPr>
          <p:nvPr/>
        </p:nvPicPr>
        <p:blipFill>
          <a:blip r:embed="rId5" cstate="print"/>
          <a:stretch>
            <a:fillRect/>
          </a:stretch>
        </p:blipFill>
        <p:spPr>
          <a:xfrm>
            <a:off x="8765593" y="4803725"/>
            <a:ext cx="405405" cy="331695"/>
          </a:xfrm>
          <a:prstGeom prst="rect">
            <a:avLst/>
          </a:prstGeom>
        </p:spPr>
      </p:pic>
      <p:sp>
        <p:nvSpPr>
          <p:cNvPr id="74" name="文本框 73"/>
          <p:cNvSpPr txBox="1"/>
          <p:nvPr/>
        </p:nvSpPr>
        <p:spPr>
          <a:xfrm>
            <a:off x="7204012" y="5177971"/>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75" name="文本框 74"/>
          <p:cNvSpPr txBox="1"/>
          <p:nvPr/>
        </p:nvSpPr>
        <p:spPr>
          <a:xfrm>
            <a:off x="7916184" y="5177971"/>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76" name="文本框 75"/>
          <p:cNvSpPr txBox="1"/>
          <p:nvPr/>
        </p:nvSpPr>
        <p:spPr>
          <a:xfrm>
            <a:off x="8737187" y="5177971"/>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77" name="矩形 76"/>
          <p:cNvSpPr/>
          <p:nvPr/>
        </p:nvSpPr>
        <p:spPr>
          <a:xfrm>
            <a:off x="7608290" y="5837326"/>
            <a:ext cx="1620957" cy="338554"/>
          </a:xfrm>
          <a:prstGeom prst="rect">
            <a:avLst/>
          </a:prstGeom>
        </p:spPr>
        <p:txBody>
          <a:bodyPr wrap="none">
            <a:spAutoFit/>
          </a:bodyPr>
          <a:lstStyle/>
          <a:p>
            <a:pPr algn="ctr"/>
            <a:r>
              <a:rPr lang="zh-CN" altLang="en-US" sz="1600">
                <a:cs typeface="+mn-ea"/>
                <a:sym typeface="+mn-lt"/>
              </a:rPr>
              <a:t>高可靠组网架构</a:t>
            </a:r>
          </a:p>
        </p:txBody>
      </p:sp>
      <p:pic>
        <p:nvPicPr>
          <p:cNvPr id="78"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a:off x="7478447" y="2811172"/>
            <a:ext cx="405710" cy="331945"/>
          </a:xfrm>
          <a:prstGeom prst="rect">
            <a:avLst/>
          </a:prstGeom>
        </p:spPr>
      </p:pic>
      <p:pic>
        <p:nvPicPr>
          <p:cNvPr id="79" name="图片 87" descr="汇聚交换机.png"/>
          <p:cNvPicPr>
            <a:picLocks noChangeAspect="1"/>
          </p:cNvPicPr>
          <p:nvPr/>
        </p:nvPicPr>
        <p:blipFill>
          <a:blip r:embed="rId7" cstate="print"/>
          <a:stretch>
            <a:fillRect/>
          </a:stretch>
        </p:blipFill>
        <p:spPr>
          <a:xfrm>
            <a:off x="7478446" y="4028799"/>
            <a:ext cx="405710" cy="331945"/>
          </a:xfrm>
          <a:prstGeom prst="rect">
            <a:avLst/>
          </a:prstGeom>
        </p:spPr>
      </p:pic>
      <p:sp>
        <p:nvSpPr>
          <p:cNvPr id="80" name="文本框 79"/>
          <p:cNvSpPr txBox="1"/>
          <p:nvPr/>
        </p:nvSpPr>
        <p:spPr>
          <a:xfrm>
            <a:off x="9294166" y="4047231"/>
            <a:ext cx="455574" cy="307777"/>
          </a:xfrm>
          <a:prstGeom prst="rect">
            <a:avLst/>
          </a:prstGeom>
          <a:noFill/>
        </p:spPr>
        <p:txBody>
          <a:bodyPr wrap="none" rtlCol="0">
            <a:spAutoFit/>
          </a:bodyPr>
          <a:lstStyle/>
          <a:p>
            <a:r>
              <a:rPr lang="en-US" altLang="zh-CN" sz="1400" dirty="0" smtClean="0">
                <a:cs typeface="+mn-ea"/>
                <a:sym typeface="+mn-lt"/>
              </a:rPr>
              <a:t>SW</a:t>
            </a:r>
            <a:endParaRPr lang="zh-CN" altLang="en-US" sz="1400" dirty="0">
              <a:cs typeface="+mn-ea"/>
              <a:sym typeface="+mn-lt"/>
            </a:endParaRPr>
          </a:p>
        </p:txBody>
      </p:sp>
      <p:sp>
        <p:nvSpPr>
          <p:cNvPr id="81" name="矩形 80"/>
          <p:cNvSpPr/>
          <p:nvPr/>
        </p:nvSpPr>
        <p:spPr>
          <a:xfrm>
            <a:off x="5889618" y="4800144"/>
            <a:ext cx="723275" cy="307777"/>
          </a:xfrm>
          <a:prstGeom prst="rect">
            <a:avLst/>
          </a:prstGeom>
        </p:spPr>
        <p:txBody>
          <a:bodyPr wrap="none">
            <a:spAutoFit/>
          </a:bodyPr>
          <a:lstStyle/>
          <a:p>
            <a:pPr algn="ctr"/>
            <a:r>
              <a:rPr lang="zh-CN" altLang="en-US" sz="1400" dirty="0" smtClean="0">
                <a:cs typeface="+mn-ea"/>
                <a:sym typeface="+mn-lt"/>
              </a:rPr>
              <a:t>接入层</a:t>
            </a:r>
            <a:endParaRPr lang="zh-CN" altLang="en-US" sz="1400" dirty="0">
              <a:cs typeface="+mn-ea"/>
              <a:sym typeface="+mn-lt"/>
            </a:endParaRPr>
          </a:p>
        </p:txBody>
      </p:sp>
      <p:sp>
        <p:nvSpPr>
          <p:cNvPr id="83" name="矩形 82"/>
          <p:cNvSpPr/>
          <p:nvPr/>
        </p:nvSpPr>
        <p:spPr>
          <a:xfrm>
            <a:off x="5889618" y="4042767"/>
            <a:ext cx="723275" cy="307777"/>
          </a:xfrm>
          <a:prstGeom prst="rect">
            <a:avLst/>
          </a:prstGeom>
        </p:spPr>
        <p:txBody>
          <a:bodyPr wrap="none">
            <a:spAutoFit/>
          </a:bodyPr>
          <a:lstStyle/>
          <a:p>
            <a:pPr algn="ctr"/>
            <a:r>
              <a:rPr lang="zh-CN" altLang="en-US" sz="1400" dirty="0" smtClean="0">
                <a:cs typeface="+mn-ea"/>
                <a:sym typeface="+mn-lt"/>
              </a:rPr>
              <a:t>汇聚层</a:t>
            </a:r>
            <a:endParaRPr lang="zh-CN" altLang="en-US" sz="1400" dirty="0">
              <a:cs typeface="+mn-ea"/>
              <a:sym typeface="+mn-lt"/>
            </a:endParaRPr>
          </a:p>
        </p:txBody>
      </p:sp>
      <p:pic>
        <p:nvPicPr>
          <p:cNvPr id="85" name="图片 86" descr="核心交换机.png"/>
          <p:cNvPicPr>
            <a:picLocks noChangeAspect="1"/>
          </p:cNvPicPr>
          <p:nvPr/>
        </p:nvPicPr>
        <p:blipFill>
          <a:blip r:embed="rId8" cstate="print"/>
          <a:stretch>
            <a:fillRect/>
          </a:stretch>
        </p:blipFill>
        <p:spPr>
          <a:xfrm>
            <a:off x="7478446" y="3437307"/>
            <a:ext cx="405710" cy="331945"/>
          </a:xfrm>
          <a:prstGeom prst="rect">
            <a:avLst/>
          </a:prstGeom>
        </p:spPr>
      </p:pic>
      <p:sp>
        <p:nvSpPr>
          <p:cNvPr id="92" name="文本框 91"/>
          <p:cNvSpPr txBox="1"/>
          <p:nvPr/>
        </p:nvSpPr>
        <p:spPr>
          <a:xfrm>
            <a:off x="9294166" y="3437307"/>
            <a:ext cx="455574" cy="307777"/>
          </a:xfrm>
          <a:prstGeom prst="rect">
            <a:avLst/>
          </a:prstGeom>
          <a:noFill/>
        </p:spPr>
        <p:txBody>
          <a:bodyPr wrap="none" rtlCol="0">
            <a:spAutoFit/>
          </a:bodyPr>
          <a:lstStyle/>
          <a:p>
            <a:r>
              <a:rPr lang="en-US" altLang="zh-CN" sz="1400" dirty="0" smtClean="0">
                <a:cs typeface="+mn-ea"/>
                <a:sym typeface="+mn-lt"/>
              </a:rPr>
              <a:t>SW</a:t>
            </a:r>
            <a:endParaRPr lang="zh-CN" altLang="en-US" sz="1400" dirty="0">
              <a:cs typeface="+mn-ea"/>
              <a:sym typeface="+mn-lt"/>
            </a:endParaRPr>
          </a:p>
        </p:txBody>
      </p:sp>
      <p:sp>
        <p:nvSpPr>
          <p:cNvPr id="93" name="矩形 92"/>
          <p:cNvSpPr/>
          <p:nvPr/>
        </p:nvSpPr>
        <p:spPr>
          <a:xfrm>
            <a:off x="5889617" y="3437306"/>
            <a:ext cx="723276" cy="307777"/>
          </a:xfrm>
          <a:prstGeom prst="rect">
            <a:avLst/>
          </a:prstGeom>
        </p:spPr>
        <p:txBody>
          <a:bodyPr wrap="none">
            <a:spAutoFit/>
          </a:bodyPr>
          <a:lstStyle/>
          <a:p>
            <a:pPr algn="ctr"/>
            <a:r>
              <a:rPr lang="zh-CN" altLang="en-US" sz="1400" dirty="0" smtClean="0">
                <a:cs typeface="+mn-ea"/>
                <a:sym typeface="+mn-lt"/>
              </a:rPr>
              <a:t>核心层</a:t>
            </a:r>
            <a:endParaRPr lang="zh-CN" altLang="en-US" sz="1400" dirty="0">
              <a:cs typeface="+mn-ea"/>
              <a:sym typeface="+mn-lt"/>
            </a:endParaRPr>
          </a:p>
        </p:txBody>
      </p:sp>
      <p:pic>
        <p:nvPicPr>
          <p:cNvPr id="95"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a:off x="8453651" y="2811172"/>
            <a:ext cx="405710" cy="331945"/>
          </a:xfrm>
          <a:prstGeom prst="rect">
            <a:avLst/>
          </a:prstGeom>
        </p:spPr>
      </p:pic>
      <p:pic>
        <p:nvPicPr>
          <p:cNvPr id="98" name="图片 87" descr="汇聚交换机.png"/>
          <p:cNvPicPr>
            <a:picLocks noChangeAspect="1"/>
          </p:cNvPicPr>
          <p:nvPr/>
        </p:nvPicPr>
        <p:blipFill>
          <a:blip r:embed="rId7" cstate="print"/>
          <a:stretch>
            <a:fillRect/>
          </a:stretch>
        </p:blipFill>
        <p:spPr>
          <a:xfrm>
            <a:off x="8453650" y="4028799"/>
            <a:ext cx="405710" cy="331945"/>
          </a:xfrm>
          <a:prstGeom prst="rect">
            <a:avLst/>
          </a:prstGeom>
        </p:spPr>
      </p:pic>
      <p:pic>
        <p:nvPicPr>
          <p:cNvPr id="115" name="图片 86" descr="核心交换机.png"/>
          <p:cNvPicPr>
            <a:picLocks noChangeAspect="1"/>
          </p:cNvPicPr>
          <p:nvPr/>
        </p:nvPicPr>
        <p:blipFill>
          <a:blip r:embed="rId8" cstate="print"/>
          <a:stretch>
            <a:fillRect/>
          </a:stretch>
        </p:blipFill>
        <p:spPr>
          <a:xfrm>
            <a:off x="8453650" y="3437307"/>
            <a:ext cx="405710" cy="331945"/>
          </a:xfrm>
          <a:prstGeom prst="rect">
            <a:avLst/>
          </a:prstGeom>
        </p:spPr>
      </p:pic>
      <p:sp>
        <p:nvSpPr>
          <p:cNvPr id="5" name="椭圆 4"/>
          <p:cNvSpPr/>
          <p:nvPr/>
        </p:nvSpPr>
        <p:spPr>
          <a:xfrm>
            <a:off x="7947554" y="4639970"/>
            <a:ext cx="450675" cy="86530"/>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36" name="任意多边形 135"/>
          <p:cNvSpPr/>
          <p:nvPr/>
        </p:nvSpPr>
        <p:spPr>
          <a:xfrm>
            <a:off x="8217973" y="1922689"/>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cxnSp>
        <p:nvCxnSpPr>
          <p:cNvPr id="137" name="直接连接符 136"/>
          <p:cNvCxnSpPr/>
          <p:nvPr/>
        </p:nvCxnSpPr>
        <p:spPr bwMode="auto">
          <a:xfrm>
            <a:off x="7884157" y="2941585"/>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bwMode="auto">
          <a:xfrm>
            <a:off x="7884157" y="3002545"/>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椭圆 138"/>
          <p:cNvSpPr/>
          <p:nvPr/>
        </p:nvSpPr>
        <p:spPr bwMode="auto">
          <a:xfrm>
            <a:off x="8123851" y="2901692"/>
            <a:ext cx="98080" cy="139357"/>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140" name="直接连接符 139"/>
          <p:cNvCxnSpPr/>
          <p:nvPr/>
        </p:nvCxnSpPr>
        <p:spPr bwMode="grayWhite">
          <a:xfrm>
            <a:off x="7884157" y="3581506"/>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bwMode="grayWhite">
          <a:xfrm>
            <a:off x="7884157" y="3642466"/>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42" name="椭圆 141"/>
          <p:cNvSpPr/>
          <p:nvPr/>
        </p:nvSpPr>
        <p:spPr bwMode="grayWhite">
          <a:xfrm>
            <a:off x="8123851" y="3541613"/>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143" name="直接连接符 142"/>
          <p:cNvCxnSpPr/>
          <p:nvPr/>
        </p:nvCxnSpPr>
        <p:spPr bwMode="grayWhite">
          <a:xfrm>
            <a:off x="7884157" y="4173027"/>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grayWhite">
          <a:xfrm>
            <a:off x="7884157" y="4233987"/>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45" name="椭圆 144"/>
          <p:cNvSpPr/>
          <p:nvPr/>
        </p:nvSpPr>
        <p:spPr bwMode="grayWhite">
          <a:xfrm>
            <a:off x="8123851" y="4133134"/>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46" name="椭圆 145"/>
          <p:cNvSpPr/>
          <p:nvPr/>
        </p:nvSpPr>
        <p:spPr>
          <a:xfrm>
            <a:off x="7529976" y="3855788"/>
            <a:ext cx="1285830" cy="86530"/>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82" name="直接连接符 81"/>
          <p:cNvCxnSpPr/>
          <p:nvPr/>
        </p:nvCxnSpPr>
        <p:spPr bwMode="grayWhite">
          <a:xfrm>
            <a:off x="9576229" y="1599582"/>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bwMode="grayWhite">
          <a:xfrm>
            <a:off x="9576229" y="1660542"/>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86" name="椭圆 85"/>
          <p:cNvSpPr/>
          <p:nvPr/>
        </p:nvSpPr>
        <p:spPr bwMode="grayWhite">
          <a:xfrm>
            <a:off x="9815923" y="1559689"/>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87" name="文本框 86"/>
          <p:cNvSpPr txBox="1"/>
          <p:nvPr/>
        </p:nvSpPr>
        <p:spPr>
          <a:xfrm>
            <a:off x="10153698" y="1475478"/>
            <a:ext cx="1306466" cy="861774"/>
          </a:xfrm>
          <a:prstGeom prst="rect">
            <a:avLst/>
          </a:prstGeom>
          <a:noFill/>
        </p:spPr>
        <p:txBody>
          <a:bodyPr wrap="square" rtlCol="0">
            <a:spAutoFit/>
          </a:bodyPr>
          <a:lstStyle/>
          <a:p>
            <a:r>
              <a:rPr lang="zh-CN" altLang="en-US" sz="1200" dirty="0" smtClean="0">
                <a:cs typeface="+mn-ea"/>
                <a:sym typeface="+mn-lt"/>
              </a:rPr>
              <a:t>堆叠链路</a:t>
            </a:r>
            <a:endParaRPr lang="en-US" altLang="zh-CN" sz="1200" dirty="0" smtClean="0">
              <a:cs typeface="+mn-ea"/>
              <a:sym typeface="+mn-lt"/>
            </a:endParaRPr>
          </a:p>
          <a:p>
            <a:r>
              <a:rPr lang="zh-CN" altLang="en-US" sz="1200" dirty="0" smtClean="0">
                <a:cs typeface="+mn-ea"/>
                <a:sym typeface="+mn-lt"/>
              </a:rPr>
              <a:t>（注：本文如无特殊说明，此符号均代表堆叠</a:t>
            </a:r>
            <a:r>
              <a:rPr lang="zh-CN" altLang="en-US" sz="1200" dirty="0">
                <a:cs typeface="+mn-ea"/>
                <a:sym typeface="+mn-lt"/>
              </a:rPr>
              <a:t>。</a:t>
            </a:r>
            <a:r>
              <a:rPr lang="zh-CN" altLang="en-US" sz="1200" dirty="0" smtClean="0">
                <a:cs typeface="+mn-ea"/>
                <a:sym typeface="+mn-lt"/>
              </a:rPr>
              <a:t>）</a:t>
            </a:r>
            <a:endParaRPr lang="zh-CN" altLang="en-US" sz="1200" dirty="0">
              <a:cs typeface="+mn-ea"/>
              <a:sym typeface="+mn-lt"/>
            </a:endParaRPr>
          </a:p>
        </p:txBody>
      </p:sp>
      <p:cxnSp>
        <p:nvCxnSpPr>
          <p:cNvPr id="88" name="直接连接符 87"/>
          <p:cNvCxnSpPr/>
          <p:nvPr/>
        </p:nvCxnSpPr>
        <p:spPr>
          <a:xfrm>
            <a:off x="9576229" y="1227150"/>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9576229" y="1288110"/>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椭圆 89"/>
          <p:cNvSpPr/>
          <p:nvPr/>
        </p:nvSpPr>
        <p:spPr>
          <a:xfrm>
            <a:off x="9815923" y="1187257"/>
            <a:ext cx="98080" cy="139357"/>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91" name="文本框 90"/>
          <p:cNvSpPr txBox="1"/>
          <p:nvPr/>
        </p:nvSpPr>
        <p:spPr>
          <a:xfrm>
            <a:off x="10153697" y="1110344"/>
            <a:ext cx="800219" cy="276999"/>
          </a:xfrm>
          <a:prstGeom prst="rect">
            <a:avLst/>
          </a:prstGeom>
          <a:noFill/>
        </p:spPr>
        <p:txBody>
          <a:bodyPr wrap="none" rtlCol="0">
            <a:spAutoFit/>
          </a:bodyPr>
          <a:lstStyle/>
          <a:p>
            <a:r>
              <a:rPr lang="zh-CN" altLang="en-US" sz="1200" dirty="0" smtClean="0">
                <a:cs typeface="+mn-ea"/>
                <a:sym typeface="+mn-lt"/>
              </a:rPr>
              <a:t>链路聚合</a:t>
            </a:r>
            <a:endParaRPr lang="zh-CN" altLang="en-US" sz="1200" dirty="0">
              <a:cs typeface="+mn-ea"/>
              <a:sym typeface="+mn-lt"/>
            </a:endParaRPr>
          </a:p>
        </p:txBody>
      </p:sp>
    </p:spTree>
    <p:extLst>
      <p:ext uri="{BB962C8B-B14F-4D97-AF65-F5344CB8AC3E}">
        <p14:creationId xmlns:p14="http://schemas.microsoft.com/office/powerpoint/2010/main" val="1879844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latin typeface="+mn-lt"/>
                <a:ea typeface="+mn-ea"/>
                <a:cs typeface="+mn-ea"/>
                <a:sym typeface="+mn-lt"/>
              </a:rPr>
              <a:t>网络架构设计概览</a:t>
            </a:r>
            <a:r>
              <a:rPr lang="zh-CN" altLang="en-US" dirty="0" smtClean="0">
                <a:latin typeface="+mn-lt"/>
                <a:ea typeface="+mn-ea"/>
                <a:cs typeface="+mn-ea"/>
                <a:sym typeface="+mn-lt"/>
              </a:rPr>
              <a:t>：广域互联模型</a:t>
            </a:r>
            <a:endParaRPr lang="zh-CN" altLang="en-US" dirty="0">
              <a:latin typeface="+mn-lt"/>
              <a:ea typeface="+mn-ea"/>
              <a:cs typeface="+mn-ea"/>
              <a:sym typeface="+mn-lt"/>
            </a:endParaRPr>
          </a:p>
        </p:txBody>
      </p:sp>
      <p:grpSp>
        <p:nvGrpSpPr>
          <p:cNvPr id="3" name="组合 2"/>
          <p:cNvGrpSpPr/>
          <p:nvPr/>
        </p:nvGrpSpPr>
        <p:grpSpPr bwMode="gray">
          <a:xfrm>
            <a:off x="1331589" y="3507960"/>
            <a:ext cx="2082514" cy="764405"/>
            <a:chOff x="6600056" y="4353447"/>
            <a:chExt cx="1296144" cy="833967"/>
          </a:xfrm>
        </p:grpSpPr>
        <p:cxnSp>
          <p:nvCxnSpPr>
            <p:cNvPr id="4" name="直接连接符 3"/>
            <p:cNvCxnSpPr/>
            <p:nvPr/>
          </p:nvCxnSpPr>
          <p:spPr bwMode="gray">
            <a:xfrm flipH="1">
              <a:off x="6600056" y="4353447"/>
              <a:ext cx="648072" cy="83396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bwMode="gray">
            <a:xfrm>
              <a:off x="7248128" y="4353447"/>
              <a:ext cx="648072" cy="83396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bwMode="gray">
          <a:xfrm>
            <a:off x="2355287" y="2644607"/>
            <a:ext cx="0" cy="169994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任意多边形 11"/>
          <p:cNvSpPr/>
          <p:nvPr/>
        </p:nvSpPr>
        <p:spPr bwMode="gray">
          <a:xfrm>
            <a:off x="1669566" y="3170794"/>
            <a:ext cx="1371444" cy="91698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zh-CN" altLang="en-US" sz="1400" b="1">
              <a:cs typeface="+mn-ea"/>
              <a:sym typeface="+mn-lt"/>
            </a:endParaRPr>
          </a:p>
        </p:txBody>
      </p:sp>
      <p:sp>
        <p:nvSpPr>
          <p:cNvPr id="13" name="文本框 12"/>
          <p:cNvSpPr txBox="1"/>
          <p:nvPr/>
        </p:nvSpPr>
        <p:spPr bwMode="gray">
          <a:xfrm>
            <a:off x="2079838" y="1704331"/>
            <a:ext cx="545342" cy="523220"/>
          </a:xfrm>
          <a:prstGeom prst="rect">
            <a:avLst/>
          </a:prstGeom>
          <a:noFill/>
        </p:spPr>
        <p:txBody>
          <a:bodyPr wrap="none" rtlCol="0">
            <a:spAutoFit/>
          </a:bodyPr>
          <a:lstStyle/>
          <a:p>
            <a:pPr algn="ctr"/>
            <a:r>
              <a:rPr lang="en-US" altLang="zh-CN" sz="1400" b="1" dirty="0" smtClean="0">
                <a:solidFill>
                  <a:srgbClr val="30B5C5"/>
                </a:solidFill>
                <a:cs typeface="+mn-ea"/>
                <a:sym typeface="+mn-lt"/>
              </a:rPr>
              <a:t>Hub</a:t>
            </a:r>
          </a:p>
          <a:p>
            <a:pPr algn="ctr"/>
            <a:r>
              <a:rPr lang="en-US" altLang="zh-CN" sz="1400" b="1" dirty="0" smtClean="0">
                <a:cs typeface="+mn-ea"/>
                <a:sym typeface="+mn-lt"/>
              </a:rPr>
              <a:t>HQ</a:t>
            </a:r>
            <a:endParaRPr lang="zh-CN" altLang="en-US" sz="1400" b="1" dirty="0">
              <a:cs typeface="+mn-ea"/>
              <a:sym typeface="+mn-lt"/>
            </a:endParaRPr>
          </a:p>
        </p:txBody>
      </p:sp>
      <p:sp>
        <p:nvSpPr>
          <p:cNvPr id="14" name="文本框 13"/>
          <p:cNvSpPr txBox="1"/>
          <p:nvPr/>
        </p:nvSpPr>
        <p:spPr bwMode="gray">
          <a:xfrm>
            <a:off x="682441" y="4624993"/>
            <a:ext cx="889987" cy="523220"/>
          </a:xfrm>
          <a:prstGeom prst="rect">
            <a:avLst/>
          </a:prstGeom>
          <a:noFill/>
        </p:spPr>
        <p:txBody>
          <a:bodyPr wrap="none" rtlCol="0">
            <a:spAutoFit/>
          </a:bodyPr>
          <a:lstStyle/>
          <a:p>
            <a:pPr algn="ctr"/>
            <a:r>
              <a:rPr lang="en-US" altLang="zh-CN" sz="1400" b="1" dirty="0" smtClean="0">
                <a:cs typeface="+mn-ea"/>
                <a:sym typeface="+mn-lt"/>
              </a:rPr>
              <a:t>Branch1</a:t>
            </a:r>
          </a:p>
          <a:p>
            <a:pPr algn="ctr"/>
            <a:r>
              <a:rPr lang="en-US" altLang="zh-CN" sz="1400" b="1" dirty="0">
                <a:solidFill>
                  <a:srgbClr val="30B5C5"/>
                </a:solidFill>
                <a:cs typeface="+mn-ea"/>
                <a:sym typeface="+mn-lt"/>
              </a:rPr>
              <a:t>Spoke</a:t>
            </a:r>
            <a:endParaRPr lang="zh-CN" altLang="en-US" sz="1400" b="1" dirty="0">
              <a:solidFill>
                <a:srgbClr val="30B5C5"/>
              </a:solidFill>
              <a:cs typeface="+mn-ea"/>
              <a:sym typeface="+mn-lt"/>
            </a:endParaRPr>
          </a:p>
        </p:txBody>
      </p:sp>
      <p:sp>
        <p:nvSpPr>
          <p:cNvPr id="17" name="任意多边形 16"/>
          <p:cNvSpPr/>
          <p:nvPr/>
        </p:nvSpPr>
        <p:spPr bwMode="gray">
          <a:xfrm flipH="1" flipV="1">
            <a:off x="1199770" y="2691934"/>
            <a:ext cx="1058789" cy="1496081"/>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8" name="直接连接符 17"/>
          <p:cNvCxnSpPr/>
          <p:nvPr/>
        </p:nvCxnSpPr>
        <p:spPr bwMode="gray">
          <a:xfrm>
            <a:off x="2354818" y="2674405"/>
            <a:ext cx="0" cy="1545407"/>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pic>
        <p:nvPicPr>
          <p:cNvPr id="2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903041" y="4251370"/>
            <a:ext cx="446281" cy="365138"/>
          </a:xfrm>
          <a:prstGeom prst="rect">
            <a:avLst/>
          </a:prstGeom>
          <a:noFill/>
        </p:spPr>
      </p:pic>
      <p:pic>
        <p:nvPicPr>
          <p:cNvPr id="2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132146" y="4251370"/>
            <a:ext cx="446281" cy="365138"/>
          </a:xfrm>
          <a:prstGeom prst="rect">
            <a:avLst/>
          </a:prstGeom>
          <a:noFill/>
        </p:spPr>
      </p:pic>
      <p:pic>
        <p:nvPicPr>
          <p:cNvPr id="2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361251" y="4251370"/>
            <a:ext cx="446281" cy="365138"/>
          </a:xfrm>
          <a:prstGeom prst="rect">
            <a:avLst/>
          </a:prstGeom>
          <a:noFill/>
        </p:spPr>
      </p:pic>
      <p:pic>
        <p:nvPicPr>
          <p:cNvPr id="2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132146" y="2281048"/>
            <a:ext cx="446281" cy="365138"/>
          </a:xfrm>
          <a:prstGeom prst="rect">
            <a:avLst/>
          </a:prstGeom>
          <a:noFill/>
        </p:spPr>
      </p:pic>
      <p:sp>
        <p:nvSpPr>
          <p:cNvPr id="25" name="文本框 24"/>
          <p:cNvSpPr txBox="1"/>
          <p:nvPr/>
        </p:nvSpPr>
        <p:spPr bwMode="gray">
          <a:xfrm>
            <a:off x="1906014" y="4624993"/>
            <a:ext cx="889987" cy="523220"/>
          </a:xfrm>
          <a:prstGeom prst="rect">
            <a:avLst/>
          </a:prstGeom>
          <a:noFill/>
        </p:spPr>
        <p:txBody>
          <a:bodyPr wrap="none" rtlCol="0">
            <a:spAutoFit/>
          </a:bodyPr>
          <a:lstStyle/>
          <a:p>
            <a:pPr algn="ctr"/>
            <a:r>
              <a:rPr lang="en-US" altLang="zh-CN" sz="1400" b="1" dirty="0" smtClean="0">
                <a:cs typeface="+mn-ea"/>
                <a:sym typeface="+mn-lt"/>
              </a:rPr>
              <a:t>Branch2</a:t>
            </a:r>
          </a:p>
          <a:p>
            <a:pPr algn="ctr"/>
            <a:r>
              <a:rPr lang="en-US" altLang="zh-CN" sz="1400" b="1" dirty="0">
                <a:solidFill>
                  <a:srgbClr val="30B5C5"/>
                </a:solidFill>
                <a:cs typeface="+mn-ea"/>
                <a:sym typeface="+mn-lt"/>
              </a:rPr>
              <a:t>Spoke</a:t>
            </a:r>
            <a:endParaRPr lang="zh-CN" altLang="en-US" sz="1400" b="1" dirty="0">
              <a:solidFill>
                <a:srgbClr val="30B5C5"/>
              </a:solidFill>
              <a:cs typeface="+mn-ea"/>
              <a:sym typeface="+mn-lt"/>
            </a:endParaRPr>
          </a:p>
        </p:txBody>
      </p:sp>
      <p:sp>
        <p:nvSpPr>
          <p:cNvPr id="26" name="文本框 25"/>
          <p:cNvSpPr txBox="1"/>
          <p:nvPr/>
        </p:nvSpPr>
        <p:spPr bwMode="gray">
          <a:xfrm>
            <a:off x="3139397" y="4624993"/>
            <a:ext cx="889987" cy="523220"/>
          </a:xfrm>
          <a:prstGeom prst="rect">
            <a:avLst/>
          </a:prstGeom>
          <a:noFill/>
        </p:spPr>
        <p:txBody>
          <a:bodyPr wrap="none" rtlCol="0">
            <a:spAutoFit/>
          </a:bodyPr>
          <a:lstStyle/>
          <a:p>
            <a:pPr algn="ctr"/>
            <a:r>
              <a:rPr lang="en-US" altLang="zh-CN" sz="1400" b="1" dirty="0" smtClean="0">
                <a:cs typeface="+mn-ea"/>
                <a:sym typeface="+mn-lt"/>
              </a:rPr>
              <a:t>Branch3</a:t>
            </a:r>
          </a:p>
          <a:p>
            <a:pPr algn="ctr"/>
            <a:r>
              <a:rPr lang="en-US" altLang="zh-CN" sz="1400" b="1" dirty="0">
                <a:solidFill>
                  <a:srgbClr val="30B5C5"/>
                </a:solidFill>
                <a:cs typeface="+mn-ea"/>
                <a:sym typeface="+mn-lt"/>
              </a:rPr>
              <a:t>Spoke</a:t>
            </a:r>
            <a:endParaRPr lang="zh-CN" altLang="en-US" sz="1400" b="1" dirty="0">
              <a:solidFill>
                <a:srgbClr val="30B5C5"/>
              </a:solidFill>
              <a:cs typeface="+mn-ea"/>
              <a:sym typeface="+mn-lt"/>
            </a:endParaRPr>
          </a:p>
        </p:txBody>
      </p:sp>
      <p:sp>
        <p:nvSpPr>
          <p:cNvPr id="28" name="任意多边形 27"/>
          <p:cNvSpPr/>
          <p:nvPr/>
        </p:nvSpPr>
        <p:spPr bwMode="gray">
          <a:xfrm flipV="1">
            <a:off x="2469105" y="2691934"/>
            <a:ext cx="1058789" cy="1496081"/>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8" name="组合 47"/>
          <p:cNvGrpSpPr/>
          <p:nvPr/>
        </p:nvGrpSpPr>
        <p:grpSpPr bwMode="gray">
          <a:xfrm>
            <a:off x="4959866" y="3507960"/>
            <a:ext cx="2082514" cy="764405"/>
            <a:chOff x="6600056" y="4353447"/>
            <a:chExt cx="1296144" cy="833967"/>
          </a:xfrm>
        </p:grpSpPr>
        <p:cxnSp>
          <p:nvCxnSpPr>
            <p:cNvPr id="49" name="直接连接符 48"/>
            <p:cNvCxnSpPr/>
            <p:nvPr/>
          </p:nvCxnSpPr>
          <p:spPr bwMode="gray">
            <a:xfrm flipH="1">
              <a:off x="6600056" y="4353447"/>
              <a:ext cx="648072" cy="83396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gray">
            <a:xfrm>
              <a:off x="7248128" y="4353447"/>
              <a:ext cx="648072" cy="83396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cxnSp>
        <p:nvCxnSpPr>
          <p:cNvPr id="51" name="直接连接符 50"/>
          <p:cNvCxnSpPr/>
          <p:nvPr/>
        </p:nvCxnSpPr>
        <p:spPr bwMode="gray">
          <a:xfrm>
            <a:off x="5983564" y="2644607"/>
            <a:ext cx="0" cy="169994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2" name="任意多边形 51"/>
          <p:cNvSpPr/>
          <p:nvPr/>
        </p:nvSpPr>
        <p:spPr bwMode="gray">
          <a:xfrm>
            <a:off x="5297843" y="3170794"/>
            <a:ext cx="1371444" cy="91698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zh-CN" altLang="en-US" sz="1400" b="1">
              <a:cs typeface="+mn-ea"/>
              <a:sym typeface="+mn-lt"/>
            </a:endParaRPr>
          </a:p>
        </p:txBody>
      </p:sp>
      <p:sp>
        <p:nvSpPr>
          <p:cNvPr id="53" name="文本框 52"/>
          <p:cNvSpPr txBox="1"/>
          <p:nvPr/>
        </p:nvSpPr>
        <p:spPr bwMode="gray">
          <a:xfrm>
            <a:off x="5746587" y="1919774"/>
            <a:ext cx="468397" cy="307777"/>
          </a:xfrm>
          <a:prstGeom prst="rect">
            <a:avLst/>
          </a:prstGeom>
          <a:noFill/>
        </p:spPr>
        <p:txBody>
          <a:bodyPr wrap="none" rtlCol="0">
            <a:spAutoFit/>
          </a:bodyPr>
          <a:lstStyle/>
          <a:p>
            <a:pPr algn="ctr"/>
            <a:r>
              <a:rPr lang="en-US" altLang="zh-CN" sz="1400" b="1" smtClean="0">
                <a:cs typeface="+mn-ea"/>
                <a:sym typeface="+mn-lt"/>
              </a:rPr>
              <a:t>HQ</a:t>
            </a:r>
            <a:endParaRPr lang="zh-CN" altLang="en-US" sz="1400" b="1">
              <a:cs typeface="+mn-ea"/>
              <a:sym typeface="+mn-lt"/>
            </a:endParaRPr>
          </a:p>
        </p:txBody>
      </p:sp>
      <p:sp>
        <p:nvSpPr>
          <p:cNvPr id="54" name="文本框 53"/>
          <p:cNvSpPr txBox="1"/>
          <p:nvPr/>
        </p:nvSpPr>
        <p:spPr bwMode="gray">
          <a:xfrm>
            <a:off x="4310718" y="4624993"/>
            <a:ext cx="889987" cy="523220"/>
          </a:xfrm>
          <a:prstGeom prst="rect">
            <a:avLst/>
          </a:prstGeom>
          <a:noFill/>
        </p:spPr>
        <p:txBody>
          <a:bodyPr wrap="none" rtlCol="0">
            <a:spAutoFit/>
          </a:bodyPr>
          <a:lstStyle/>
          <a:p>
            <a:pPr algn="ctr"/>
            <a:r>
              <a:rPr lang="en-US" altLang="zh-CN" sz="1400" b="1" smtClean="0">
                <a:cs typeface="+mn-ea"/>
                <a:sym typeface="+mn-lt"/>
              </a:rPr>
              <a:t>Branch1</a:t>
            </a:r>
          </a:p>
          <a:p>
            <a:pPr algn="ctr"/>
            <a:endParaRPr lang="zh-CN" altLang="en-US" sz="1400" b="1">
              <a:solidFill>
                <a:srgbClr val="ED6D00"/>
              </a:solidFill>
              <a:cs typeface="+mn-ea"/>
              <a:sym typeface="+mn-lt"/>
            </a:endParaRPr>
          </a:p>
        </p:txBody>
      </p:sp>
      <p:sp>
        <p:nvSpPr>
          <p:cNvPr id="55" name="任意多边形 54"/>
          <p:cNvSpPr/>
          <p:nvPr/>
        </p:nvSpPr>
        <p:spPr bwMode="gray">
          <a:xfrm flipH="1" flipV="1">
            <a:off x="4828047" y="2691934"/>
            <a:ext cx="1058789" cy="1496081"/>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6" name="直接连接符 55"/>
          <p:cNvCxnSpPr/>
          <p:nvPr/>
        </p:nvCxnSpPr>
        <p:spPr bwMode="gray">
          <a:xfrm>
            <a:off x="5983095" y="2674405"/>
            <a:ext cx="0" cy="1545407"/>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pic>
        <p:nvPicPr>
          <p:cNvPr id="5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4531318" y="4251370"/>
            <a:ext cx="446281" cy="365138"/>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760423" y="4251370"/>
            <a:ext cx="446281" cy="365138"/>
          </a:xfrm>
          <a:prstGeom prst="rect">
            <a:avLst/>
          </a:prstGeom>
          <a:noFill/>
        </p:spPr>
      </p:pic>
      <p:pic>
        <p:nvPicPr>
          <p:cNvPr id="5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6989528" y="4251370"/>
            <a:ext cx="446281" cy="365138"/>
          </a:xfrm>
          <a:prstGeom prst="rect">
            <a:avLst/>
          </a:prstGeom>
          <a:noFill/>
        </p:spPr>
      </p:pic>
      <p:pic>
        <p:nvPicPr>
          <p:cNvPr id="6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760423" y="2281048"/>
            <a:ext cx="446281" cy="365138"/>
          </a:xfrm>
          <a:prstGeom prst="rect">
            <a:avLst/>
          </a:prstGeom>
          <a:noFill/>
        </p:spPr>
      </p:pic>
      <p:sp>
        <p:nvSpPr>
          <p:cNvPr id="61" name="文本框 60"/>
          <p:cNvSpPr txBox="1"/>
          <p:nvPr/>
        </p:nvSpPr>
        <p:spPr bwMode="gray">
          <a:xfrm>
            <a:off x="5534291" y="4624993"/>
            <a:ext cx="889987" cy="523220"/>
          </a:xfrm>
          <a:prstGeom prst="rect">
            <a:avLst/>
          </a:prstGeom>
          <a:noFill/>
        </p:spPr>
        <p:txBody>
          <a:bodyPr wrap="none" rtlCol="0">
            <a:spAutoFit/>
          </a:bodyPr>
          <a:lstStyle/>
          <a:p>
            <a:pPr algn="ctr"/>
            <a:r>
              <a:rPr lang="en-US" altLang="zh-CN" sz="1400" b="1" smtClean="0">
                <a:cs typeface="+mn-ea"/>
                <a:sym typeface="+mn-lt"/>
              </a:rPr>
              <a:t>Branch2</a:t>
            </a:r>
          </a:p>
          <a:p>
            <a:pPr algn="ctr"/>
            <a:endParaRPr lang="zh-CN" altLang="en-US" sz="1400" b="1">
              <a:solidFill>
                <a:srgbClr val="ED6D00"/>
              </a:solidFill>
              <a:cs typeface="+mn-ea"/>
              <a:sym typeface="+mn-lt"/>
            </a:endParaRPr>
          </a:p>
        </p:txBody>
      </p:sp>
      <p:sp>
        <p:nvSpPr>
          <p:cNvPr id="62" name="文本框 61"/>
          <p:cNvSpPr txBox="1"/>
          <p:nvPr/>
        </p:nvSpPr>
        <p:spPr bwMode="gray">
          <a:xfrm>
            <a:off x="6767674" y="4624993"/>
            <a:ext cx="889987" cy="307777"/>
          </a:xfrm>
          <a:prstGeom prst="rect">
            <a:avLst/>
          </a:prstGeom>
          <a:noFill/>
        </p:spPr>
        <p:txBody>
          <a:bodyPr wrap="none" rtlCol="0">
            <a:spAutoFit/>
          </a:bodyPr>
          <a:lstStyle/>
          <a:p>
            <a:pPr algn="ctr"/>
            <a:r>
              <a:rPr lang="en-US" altLang="zh-CN" sz="1400" b="1" smtClean="0">
                <a:cs typeface="+mn-ea"/>
                <a:sym typeface="+mn-lt"/>
              </a:rPr>
              <a:t>Branch3</a:t>
            </a:r>
          </a:p>
        </p:txBody>
      </p:sp>
      <p:sp>
        <p:nvSpPr>
          <p:cNvPr id="63" name="任意多边形 62"/>
          <p:cNvSpPr/>
          <p:nvPr/>
        </p:nvSpPr>
        <p:spPr bwMode="gray">
          <a:xfrm flipV="1">
            <a:off x="6097382" y="2691934"/>
            <a:ext cx="1058789" cy="1496081"/>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4" name="任意多边形 63"/>
          <p:cNvSpPr/>
          <p:nvPr/>
        </p:nvSpPr>
        <p:spPr bwMode="gray">
          <a:xfrm flipV="1">
            <a:off x="5019066" y="3961550"/>
            <a:ext cx="904302" cy="349137"/>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519755 w 4106290"/>
              <a:gd name="connsiteY0" fmla="*/ 0 h 707298"/>
              <a:gd name="connsiteX1" fmla="*/ 4085210 w 4106290"/>
              <a:gd name="connsiteY1" fmla="*/ 707298 h 707298"/>
              <a:gd name="connsiteX0" fmla="*/ 1 w 3642122"/>
              <a:gd name="connsiteY0" fmla="*/ 0 h 707298"/>
              <a:gd name="connsiteX1" fmla="*/ 3565456 w 3642122"/>
              <a:gd name="connsiteY1" fmla="*/ 707298 h 707298"/>
              <a:gd name="connsiteX0" fmla="*/ 0 w 3895581"/>
              <a:gd name="connsiteY0" fmla="*/ 0 h 692782"/>
              <a:gd name="connsiteX1" fmla="*/ 3828117 w 3895581"/>
              <a:gd name="connsiteY1" fmla="*/ 692782 h 692782"/>
              <a:gd name="connsiteX0" fmla="*/ 0 w 4169601"/>
              <a:gd name="connsiteY0" fmla="*/ 66438 h 398395"/>
              <a:gd name="connsiteX1" fmla="*/ 4109929 w 4169601"/>
              <a:gd name="connsiteY1" fmla="*/ 398396 h 398395"/>
              <a:gd name="connsiteX0" fmla="*/ 0 w 4109930"/>
              <a:gd name="connsiteY0" fmla="*/ 0 h 511565"/>
              <a:gd name="connsiteX1" fmla="*/ 4109929 w 4109930"/>
              <a:gd name="connsiteY1" fmla="*/ 331958 h 511565"/>
              <a:gd name="connsiteX0" fmla="*/ 0 w 3053130"/>
              <a:gd name="connsiteY0" fmla="*/ 0 h 365530"/>
              <a:gd name="connsiteX1" fmla="*/ 3053130 w 3053130"/>
              <a:gd name="connsiteY1" fmla="*/ 124290 h 365530"/>
              <a:gd name="connsiteX0" fmla="*/ 0 w 3053130"/>
              <a:gd name="connsiteY0" fmla="*/ 0 h 445020"/>
              <a:gd name="connsiteX1" fmla="*/ 3053130 w 3053130"/>
              <a:gd name="connsiteY1" fmla="*/ 124290 h 445020"/>
              <a:gd name="connsiteX0" fmla="*/ 0 w 3053130"/>
              <a:gd name="connsiteY0" fmla="*/ 0 h 439270"/>
              <a:gd name="connsiteX1" fmla="*/ 3053130 w 3053130"/>
              <a:gd name="connsiteY1" fmla="*/ 124290 h 439270"/>
              <a:gd name="connsiteX0" fmla="*/ 0 w 3162724"/>
              <a:gd name="connsiteY0" fmla="*/ 0 h 395511"/>
              <a:gd name="connsiteX1" fmla="*/ 3162724 w 3162724"/>
              <a:gd name="connsiteY1" fmla="*/ 56797 h 395511"/>
              <a:gd name="connsiteX0" fmla="*/ 0 w 3162724"/>
              <a:gd name="connsiteY0" fmla="*/ 0 h 412009"/>
              <a:gd name="connsiteX1" fmla="*/ 3162724 w 3162724"/>
              <a:gd name="connsiteY1" fmla="*/ 82756 h 412009"/>
              <a:gd name="connsiteX0" fmla="*/ 0 w 3162724"/>
              <a:gd name="connsiteY0" fmla="*/ 0 h 406029"/>
              <a:gd name="connsiteX1" fmla="*/ 3162724 w 3162724"/>
              <a:gd name="connsiteY1" fmla="*/ 82756 h 406029"/>
              <a:gd name="connsiteX0" fmla="*/ 0 w 3162724"/>
              <a:gd name="connsiteY0" fmla="*/ 0 h 403084"/>
              <a:gd name="connsiteX1" fmla="*/ 3162724 w 3162724"/>
              <a:gd name="connsiteY1" fmla="*/ 82756 h 403084"/>
              <a:gd name="connsiteX0" fmla="*/ 0 w 2204559"/>
              <a:gd name="connsiteY0" fmla="*/ 0 h 412692"/>
              <a:gd name="connsiteX1" fmla="*/ 2204559 w 2204559"/>
              <a:gd name="connsiteY1" fmla="*/ 97293 h 412692"/>
              <a:gd name="connsiteX0" fmla="*/ 0 w 2204559"/>
              <a:gd name="connsiteY0" fmla="*/ 0 h 304467"/>
              <a:gd name="connsiteX1" fmla="*/ 2204559 w 2204559"/>
              <a:gd name="connsiteY1" fmla="*/ 97293 h 304467"/>
              <a:gd name="connsiteX0" fmla="*/ 0 w 2304759"/>
              <a:gd name="connsiteY0" fmla="*/ 0 h 301926"/>
              <a:gd name="connsiteX1" fmla="*/ 2304759 w 2304759"/>
              <a:gd name="connsiteY1" fmla="*/ 93140 h 301926"/>
              <a:gd name="connsiteX0" fmla="*/ 0 w 2229609"/>
              <a:gd name="connsiteY0" fmla="*/ 0 h 289484"/>
              <a:gd name="connsiteX1" fmla="*/ 2229609 w 2229609"/>
              <a:gd name="connsiteY1" fmla="*/ 72373 h 289484"/>
              <a:gd name="connsiteX0" fmla="*/ 0 w 2229609"/>
              <a:gd name="connsiteY0" fmla="*/ 0 h 285452"/>
              <a:gd name="connsiteX1" fmla="*/ 2229609 w 2229609"/>
              <a:gd name="connsiteY1" fmla="*/ 72373 h 285452"/>
            </a:gdLst>
            <a:ahLst/>
            <a:cxnLst>
              <a:cxn ang="0">
                <a:pos x="connsiteX0" y="connsiteY0"/>
              </a:cxn>
              <a:cxn ang="0">
                <a:pos x="connsiteX1" y="connsiteY1"/>
              </a:cxn>
            </a:cxnLst>
            <a:rect l="l" t="t" r="r" b="b"/>
            <a:pathLst>
              <a:path w="2229609" h="285452">
                <a:moveTo>
                  <a:pt x="0" y="0"/>
                </a:moveTo>
                <a:cubicBezTo>
                  <a:pt x="1330997" y="312840"/>
                  <a:pt x="1814747" y="413020"/>
                  <a:pt x="2229609" y="72373"/>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6" name="任意多边形 65"/>
          <p:cNvSpPr/>
          <p:nvPr/>
        </p:nvSpPr>
        <p:spPr bwMode="gray">
          <a:xfrm flipH="1" flipV="1">
            <a:off x="6060323" y="3961550"/>
            <a:ext cx="904302" cy="349137"/>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519755 w 4106290"/>
              <a:gd name="connsiteY0" fmla="*/ 0 h 707298"/>
              <a:gd name="connsiteX1" fmla="*/ 4085210 w 4106290"/>
              <a:gd name="connsiteY1" fmla="*/ 707298 h 707298"/>
              <a:gd name="connsiteX0" fmla="*/ 1 w 3642122"/>
              <a:gd name="connsiteY0" fmla="*/ 0 h 707298"/>
              <a:gd name="connsiteX1" fmla="*/ 3565456 w 3642122"/>
              <a:gd name="connsiteY1" fmla="*/ 707298 h 707298"/>
              <a:gd name="connsiteX0" fmla="*/ 0 w 3895581"/>
              <a:gd name="connsiteY0" fmla="*/ 0 h 692782"/>
              <a:gd name="connsiteX1" fmla="*/ 3828117 w 3895581"/>
              <a:gd name="connsiteY1" fmla="*/ 692782 h 692782"/>
              <a:gd name="connsiteX0" fmla="*/ 0 w 4169601"/>
              <a:gd name="connsiteY0" fmla="*/ 66438 h 398395"/>
              <a:gd name="connsiteX1" fmla="*/ 4109929 w 4169601"/>
              <a:gd name="connsiteY1" fmla="*/ 398396 h 398395"/>
              <a:gd name="connsiteX0" fmla="*/ 0 w 4109930"/>
              <a:gd name="connsiteY0" fmla="*/ 0 h 511565"/>
              <a:gd name="connsiteX1" fmla="*/ 4109929 w 4109930"/>
              <a:gd name="connsiteY1" fmla="*/ 331958 h 511565"/>
              <a:gd name="connsiteX0" fmla="*/ 0 w 3053130"/>
              <a:gd name="connsiteY0" fmla="*/ 0 h 365530"/>
              <a:gd name="connsiteX1" fmla="*/ 3053130 w 3053130"/>
              <a:gd name="connsiteY1" fmla="*/ 124290 h 365530"/>
              <a:gd name="connsiteX0" fmla="*/ 0 w 3053130"/>
              <a:gd name="connsiteY0" fmla="*/ 0 h 445020"/>
              <a:gd name="connsiteX1" fmla="*/ 3053130 w 3053130"/>
              <a:gd name="connsiteY1" fmla="*/ 124290 h 445020"/>
              <a:gd name="connsiteX0" fmla="*/ 0 w 3053130"/>
              <a:gd name="connsiteY0" fmla="*/ 0 h 439270"/>
              <a:gd name="connsiteX1" fmla="*/ 3053130 w 3053130"/>
              <a:gd name="connsiteY1" fmla="*/ 124290 h 439270"/>
              <a:gd name="connsiteX0" fmla="*/ 0 w 3162724"/>
              <a:gd name="connsiteY0" fmla="*/ 0 h 395511"/>
              <a:gd name="connsiteX1" fmla="*/ 3162724 w 3162724"/>
              <a:gd name="connsiteY1" fmla="*/ 56797 h 395511"/>
              <a:gd name="connsiteX0" fmla="*/ 0 w 3162724"/>
              <a:gd name="connsiteY0" fmla="*/ 0 h 412009"/>
              <a:gd name="connsiteX1" fmla="*/ 3162724 w 3162724"/>
              <a:gd name="connsiteY1" fmla="*/ 82756 h 412009"/>
              <a:gd name="connsiteX0" fmla="*/ 0 w 3162724"/>
              <a:gd name="connsiteY0" fmla="*/ 0 h 406029"/>
              <a:gd name="connsiteX1" fmla="*/ 3162724 w 3162724"/>
              <a:gd name="connsiteY1" fmla="*/ 82756 h 406029"/>
              <a:gd name="connsiteX0" fmla="*/ 0 w 3162724"/>
              <a:gd name="connsiteY0" fmla="*/ 0 h 403084"/>
              <a:gd name="connsiteX1" fmla="*/ 3162724 w 3162724"/>
              <a:gd name="connsiteY1" fmla="*/ 82756 h 403084"/>
              <a:gd name="connsiteX0" fmla="*/ 0 w 2204559"/>
              <a:gd name="connsiteY0" fmla="*/ 0 h 412692"/>
              <a:gd name="connsiteX1" fmla="*/ 2204559 w 2204559"/>
              <a:gd name="connsiteY1" fmla="*/ 97293 h 412692"/>
              <a:gd name="connsiteX0" fmla="*/ 0 w 2204559"/>
              <a:gd name="connsiteY0" fmla="*/ 0 h 304467"/>
              <a:gd name="connsiteX1" fmla="*/ 2204559 w 2204559"/>
              <a:gd name="connsiteY1" fmla="*/ 97293 h 304467"/>
              <a:gd name="connsiteX0" fmla="*/ 0 w 2304759"/>
              <a:gd name="connsiteY0" fmla="*/ 0 h 301926"/>
              <a:gd name="connsiteX1" fmla="*/ 2304759 w 2304759"/>
              <a:gd name="connsiteY1" fmla="*/ 93140 h 301926"/>
              <a:gd name="connsiteX0" fmla="*/ 0 w 2229609"/>
              <a:gd name="connsiteY0" fmla="*/ 0 h 289484"/>
              <a:gd name="connsiteX1" fmla="*/ 2229609 w 2229609"/>
              <a:gd name="connsiteY1" fmla="*/ 72373 h 289484"/>
              <a:gd name="connsiteX0" fmla="*/ 0 w 2229609"/>
              <a:gd name="connsiteY0" fmla="*/ 0 h 285452"/>
              <a:gd name="connsiteX1" fmla="*/ 2229609 w 2229609"/>
              <a:gd name="connsiteY1" fmla="*/ 72373 h 285452"/>
            </a:gdLst>
            <a:ahLst/>
            <a:cxnLst>
              <a:cxn ang="0">
                <a:pos x="connsiteX0" y="connsiteY0"/>
              </a:cxn>
              <a:cxn ang="0">
                <a:pos x="connsiteX1" y="connsiteY1"/>
              </a:cxn>
            </a:cxnLst>
            <a:rect l="l" t="t" r="r" b="b"/>
            <a:pathLst>
              <a:path w="2229609" h="285452">
                <a:moveTo>
                  <a:pt x="0" y="0"/>
                </a:moveTo>
                <a:cubicBezTo>
                  <a:pt x="1330997" y="312840"/>
                  <a:pt x="1814747" y="413020"/>
                  <a:pt x="2229609" y="72373"/>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7" name="任意多边形 66"/>
          <p:cNvSpPr/>
          <p:nvPr/>
        </p:nvSpPr>
        <p:spPr bwMode="gray">
          <a:xfrm flipH="1" flipV="1">
            <a:off x="4959866" y="3689595"/>
            <a:ext cx="2082514" cy="527979"/>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519755 w 4106290"/>
              <a:gd name="connsiteY0" fmla="*/ 0 h 707298"/>
              <a:gd name="connsiteX1" fmla="*/ 4085210 w 4106290"/>
              <a:gd name="connsiteY1" fmla="*/ 707298 h 707298"/>
              <a:gd name="connsiteX0" fmla="*/ 1 w 3642122"/>
              <a:gd name="connsiteY0" fmla="*/ 0 h 707298"/>
              <a:gd name="connsiteX1" fmla="*/ 3565456 w 3642122"/>
              <a:gd name="connsiteY1" fmla="*/ 707298 h 707298"/>
              <a:gd name="connsiteX0" fmla="*/ 0 w 3895581"/>
              <a:gd name="connsiteY0" fmla="*/ 0 h 692782"/>
              <a:gd name="connsiteX1" fmla="*/ 3828117 w 3895581"/>
              <a:gd name="connsiteY1" fmla="*/ 692782 h 692782"/>
              <a:gd name="connsiteX0" fmla="*/ 0 w 4169601"/>
              <a:gd name="connsiteY0" fmla="*/ 66438 h 398395"/>
              <a:gd name="connsiteX1" fmla="*/ 4109929 w 4169601"/>
              <a:gd name="connsiteY1" fmla="*/ 398396 h 398395"/>
              <a:gd name="connsiteX0" fmla="*/ 0 w 4109930"/>
              <a:gd name="connsiteY0" fmla="*/ 0 h 511565"/>
              <a:gd name="connsiteX1" fmla="*/ 4109929 w 4109930"/>
              <a:gd name="connsiteY1" fmla="*/ 331958 h 511565"/>
              <a:gd name="connsiteX0" fmla="*/ 0 w 3053130"/>
              <a:gd name="connsiteY0" fmla="*/ 0 h 365530"/>
              <a:gd name="connsiteX1" fmla="*/ 3053130 w 3053130"/>
              <a:gd name="connsiteY1" fmla="*/ 124290 h 365530"/>
              <a:gd name="connsiteX0" fmla="*/ 0 w 3053130"/>
              <a:gd name="connsiteY0" fmla="*/ 0 h 445020"/>
              <a:gd name="connsiteX1" fmla="*/ 3053130 w 3053130"/>
              <a:gd name="connsiteY1" fmla="*/ 124290 h 445020"/>
              <a:gd name="connsiteX0" fmla="*/ 0 w 3053130"/>
              <a:gd name="connsiteY0" fmla="*/ 0 h 439270"/>
              <a:gd name="connsiteX1" fmla="*/ 3053130 w 3053130"/>
              <a:gd name="connsiteY1" fmla="*/ 124290 h 439270"/>
              <a:gd name="connsiteX0" fmla="*/ 0 w 3162724"/>
              <a:gd name="connsiteY0" fmla="*/ 0 h 395511"/>
              <a:gd name="connsiteX1" fmla="*/ 3162724 w 3162724"/>
              <a:gd name="connsiteY1" fmla="*/ 56797 h 395511"/>
              <a:gd name="connsiteX0" fmla="*/ 0 w 3162724"/>
              <a:gd name="connsiteY0" fmla="*/ 0 h 412009"/>
              <a:gd name="connsiteX1" fmla="*/ 3162724 w 3162724"/>
              <a:gd name="connsiteY1" fmla="*/ 82756 h 412009"/>
              <a:gd name="connsiteX0" fmla="*/ 0 w 3162724"/>
              <a:gd name="connsiteY0" fmla="*/ 0 h 406029"/>
              <a:gd name="connsiteX1" fmla="*/ 3162724 w 3162724"/>
              <a:gd name="connsiteY1" fmla="*/ 82756 h 406029"/>
              <a:gd name="connsiteX0" fmla="*/ 0 w 3186202"/>
              <a:gd name="connsiteY0" fmla="*/ 0 h 423166"/>
              <a:gd name="connsiteX1" fmla="*/ 3186202 w 3186202"/>
              <a:gd name="connsiteY1" fmla="*/ 108715 h 423166"/>
              <a:gd name="connsiteX0" fmla="*/ 0 w 3186202"/>
              <a:gd name="connsiteY0" fmla="*/ 0 h 589726"/>
              <a:gd name="connsiteX1" fmla="*/ 3186202 w 3186202"/>
              <a:gd name="connsiteY1" fmla="*/ 108715 h 589726"/>
              <a:gd name="connsiteX0" fmla="*/ 0 w 3176140"/>
              <a:gd name="connsiteY0" fmla="*/ 2907 h 517190"/>
              <a:gd name="connsiteX1" fmla="*/ 3176140 w 3176140"/>
              <a:gd name="connsiteY1" fmla="*/ 0 h 517190"/>
              <a:gd name="connsiteX0" fmla="*/ 0 w 3176140"/>
              <a:gd name="connsiteY0" fmla="*/ 2907 h 622764"/>
              <a:gd name="connsiteX1" fmla="*/ 3176140 w 3176140"/>
              <a:gd name="connsiteY1" fmla="*/ 0 h 622764"/>
              <a:gd name="connsiteX0" fmla="*/ 0 w 3176140"/>
              <a:gd name="connsiteY0" fmla="*/ 2907 h 624530"/>
              <a:gd name="connsiteX1" fmla="*/ 3176140 w 3176140"/>
              <a:gd name="connsiteY1" fmla="*/ 0 h 624530"/>
              <a:gd name="connsiteX0" fmla="*/ 0 w 3196264"/>
              <a:gd name="connsiteY0" fmla="*/ 5503 h 625664"/>
              <a:gd name="connsiteX1" fmla="*/ 3196264 w 3196264"/>
              <a:gd name="connsiteY1" fmla="*/ 0 h 625664"/>
              <a:gd name="connsiteX0" fmla="*/ 0 w 3196264"/>
              <a:gd name="connsiteY0" fmla="*/ 5503 h 622525"/>
              <a:gd name="connsiteX1" fmla="*/ 3196264 w 3196264"/>
              <a:gd name="connsiteY1" fmla="*/ 0 h 622525"/>
              <a:gd name="connsiteX0" fmla="*/ 0 w 3206326"/>
              <a:gd name="connsiteY0" fmla="*/ 10695 h 624809"/>
              <a:gd name="connsiteX1" fmla="*/ 3206326 w 3206326"/>
              <a:gd name="connsiteY1" fmla="*/ 0 h 624809"/>
              <a:gd name="connsiteX0" fmla="*/ 0 w 3206326"/>
              <a:gd name="connsiteY0" fmla="*/ 10695 h 660271"/>
              <a:gd name="connsiteX1" fmla="*/ 3206326 w 3206326"/>
              <a:gd name="connsiteY1" fmla="*/ 0 h 660271"/>
            </a:gdLst>
            <a:ahLst/>
            <a:cxnLst>
              <a:cxn ang="0">
                <a:pos x="connsiteX0" y="connsiteY0"/>
              </a:cxn>
              <a:cxn ang="0">
                <a:pos x="connsiteX1" y="connsiteY1"/>
              </a:cxn>
            </a:cxnLst>
            <a:rect l="l" t="t" r="r" b="b"/>
            <a:pathLst>
              <a:path w="3206326" h="660271">
                <a:moveTo>
                  <a:pt x="0" y="10695"/>
                </a:moveTo>
                <a:cubicBezTo>
                  <a:pt x="1429314" y="790270"/>
                  <a:pt x="1573926" y="963134"/>
                  <a:pt x="3206326" y="0"/>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9" name="组合 68"/>
          <p:cNvGrpSpPr/>
          <p:nvPr/>
        </p:nvGrpSpPr>
        <p:grpSpPr bwMode="gray">
          <a:xfrm>
            <a:off x="8883053" y="3507960"/>
            <a:ext cx="2082514" cy="764405"/>
            <a:chOff x="6600056" y="4353447"/>
            <a:chExt cx="1296144" cy="833967"/>
          </a:xfrm>
        </p:grpSpPr>
        <p:cxnSp>
          <p:nvCxnSpPr>
            <p:cNvPr id="70" name="直接连接符 69"/>
            <p:cNvCxnSpPr/>
            <p:nvPr/>
          </p:nvCxnSpPr>
          <p:spPr bwMode="gray">
            <a:xfrm flipH="1">
              <a:off x="6600056" y="4353447"/>
              <a:ext cx="648072" cy="83396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bwMode="gray">
            <a:xfrm>
              <a:off x="7248128" y="4353447"/>
              <a:ext cx="648072" cy="83396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cxnSp>
        <p:nvCxnSpPr>
          <p:cNvPr id="72" name="直接连接符 71"/>
          <p:cNvCxnSpPr/>
          <p:nvPr/>
        </p:nvCxnSpPr>
        <p:spPr bwMode="gray">
          <a:xfrm>
            <a:off x="9906751" y="2644607"/>
            <a:ext cx="0" cy="169994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3" name="任意多边形 72"/>
          <p:cNvSpPr/>
          <p:nvPr/>
        </p:nvSpPr>
        <p:spPr bwMode="gray">
          <a:xfrm>
            <a:off x="9221030" y="3170794"/>
            <a:ext cx="1371444" cy="91698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zh-CN" altLang="en-US" sz="1400" b="1">
              <a:cs typeface="+mn-ea"/>
              <a:sym typeface="+mn-lt"/>
            </a:endParaRPr>
          </a:p>
        </p:txBody>
      </p:sp>
      <p:sp>
        <p:nvSpPr>
          <p:cNvPr id="74" name="文本框 73"/>
          <p:cNvSpPr txBox="1"/>
          <p:nvPr/>
        </p:nvSpPr>
        <p:spPr bwMode="gray">
          <a:xfrm>
            <a:off x="9669774" y="1919774"/>
            <a:ext cx="468397" cy="307777"/>
          </a:xfrm>
          <a:prstGeom prst="rect">
            <a:avLst/>
          </a:prstGeom>
          <a:noFill/>
        </p:spPr>
        <p:txBody>
          <a:bodyPr wrap="none" rtlCol="0">
            <a:spAutoFit/>
          </a:bodyPr>
          <a:lstStyle/>
          <a:p>
            <a:pPr algn="ctr"/>
            <a:r>
              <a:rPr lang="en-US" altLang="zh-CN" sz="1400" b="1" smtClean="0">
                <a:cs typeface="+mn-ea"/>
                <a:sym typeface="+mn-lt"/>
              </a:rPr>
              <a:t>HQ</a:t>
            </a:r>
            <a:endParaRPr lang="zh-CN" altLang="en-US" sz="1400" b="1">
              <a:cs typeface="+mn-ea"/>
              <a:sym typeface="+mn-lt"/>
            </a:endParaRPr>
          </a:p>
        </p:txBody>
      </p:sp>
      <p:sp>
        <p:nvSpPr>
          <p:cNvPr id="75" name="文本框 74"/>
          <p:cNvSpPr txBox="1"/>
          <p:nvPr/>
        </p:nvSpPr>
        <p:spPr bwMode="gray">
          <a:xfrm>
            <a:off x="8233905" y="4624993"/>
            <a:ext cx="889987" cy="307777"/>
          </a:xfrm>
          <a:prstGeom prst="rect">
            <a:avLst/>
          </a:prstGeom>
          <a:noFill/>
        </p:spPr>
        <p:txBody>
          <a:bodyPr wrap="none" rtlCol="0">
            <a:spAutoFit/>
          </a:bodyPr>
          <a:lstStyle/>
          <a:p>
            <a:pPr algn="ctr"/>
            <a:r>
              <a:rPr lang="en-US" altLang="zh-CN" sz="1400" b="1" smtClean="0">
                <a:cs typeface="+mn-ea"/>
                <a:sym typeface="+mn-lt"/>
              </a:rPr>
              <a:t>Branch1</a:t>
            </a:r>
          </a:p>
        </p:txBody>
      </p:sp>
      <p:sp>
        <p:nvSpPr>
          <p:cNvPr id="76" name="任意多边形 75"/>
          <p:cNvSpPr/>
          <p:nvPr/>
        </p:nvSpPr>
        <p:spPr bwMode="gray">
          <a:xfrm flipH="1" flipV="1">
            <a:off x="8751234" y="2691934"/>
            <a:ext cx="1058789" cy="1496081"/>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77" name="直接连接符 76"/>
          <p:cNvCxnSpPr/>
          <p:nvPr/>
        </p:nvCxnSpPr>
        <p:spPr bwMode="gray">
          <a:xfrm>
            <a:off x="9906282" y="2674405"/>
            <a:ext cx="0" cy="1545407"/>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pic>
        <p:nvPicPr>
          <p:cNvPr id="7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8454505" y="4251370"/>
            <a:ext cx="446281" cy="365138"/>
          </a:xfrm>
          <a:prstGeom prst="rect">
            <a:avLst/>
          </a:prstGeom>
          <a:noFill/>
        </p:spPr>
      </p:pic>
      <p:pic>
        <p:nvPicPr>
          <p:cNvPr id="7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9683610" y="4251370"/>
            <a:ext cx="446281" cy="365138"/>
          </a:xfrm>
          <a:prstGeom prst="rect">
            <a:avLst/>
          </a:prstGeom>
          <a:noFill/>
        </p:spPr>
      </p:pic>
      <p:pic>
        <p:nvPicPr>
          <p:cNvPr id="8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0912715" y="4251370"/>
            <a:ext cx="446281" cy="365138"/>
          </a:xfrm>
          <a:prstGeom prst="rect">
            <a:avLst/>
          </a:prstGeom>
          <a:noFill/>
        </p:spPr>
      </p:pic>
      <p:pic>
        <p:nvPicPr>
          <p:cNvPr id="8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9683610" y="2281048"/>
            <a:ext cx="446281" cy="365138"/>
          </a:xfrm>
          <a:prstGeom prst="rect">
            <a:avLst/>
          </a:prstGeom>
          <a:noFill/>
        </p:spPr>
      </p:pic>
      <p:sp>
        <p:nvSpPr>
          <p:cNvPr id="82" name="文本框 81"/>
          <p:cNvSpPr txBox="1"/>
          <p:nvPr/>
        </p:nvSpPr>
        <p:spPr bwMode="gray">
          <a:xfrm>
            <a:off x="9457478" y="4624993"/>
            <a:ext cx="889987" cy="307777"/>
          </a:xfrm>
          <a:prstGeom prst="rect">
            <a:avLst/>
          </a:prstGeom>
          <a:noFill/>
        </p:spPr>
        <p:txBody>
          <a:bodyPr wrap="none" rtlCol="0">
            <a:spAutoFit/>
          </a:bodyPr>
          <a:lstStyle/>
          <a:p>
            <a:pPr algn="ctr"/>
            <a:r>
              <a:rPr lang="en-US" altLang="zh-CN" sz="1400" b="1" smtClean="0">
                <a:cs typeface="+mn-ea"/>
                <a:sym typeface="+mn-lt"/>
              </a:rPr>
              <a:t>Branch2</a:t>
            </a:r>
          </a:p>
        </p:txBody>
      </p:sp>
      <p:sp>
        <p:nvSpPr>
          <p:cNvPr id="83" name="文本框 82"/>
          <p:cNvSpPr txBox="1"/>
          <p:nvPr/>
        </p:nvSpPr>
        <p:spPr bwMode="gray">
          <a:xfrm>
            <a:off x="10690861" y="4624993"/>
            <a:ext cx="889987" cy="307777"/>
          </a:xfrm>
          <a:prstGeom prst="rect">
            <a:avLst/>
          </a:prstGeom>
          <a:noFill/>
        </p:spPr>
        <p:txBody>
          <a:bodyPr wrap="none" rtlCol="0">
            <a:spAutoFit/>
          </a:bodyPr>
          <a:lstStyle/>
          <a:p>
            <a:pPr algn="ctr"/>
            <a:r>
              <a:rPr lang="en-US" altLang="zh-CN" sz="1400" b="1" smtClean="0">
                <a:cs typeface="+mn-ea"/>
                <a:sym typeface="+mn-lt"/>
              </a:rPr>
              <a:t>Branch3</a:t>
            </a:r>
          </a:p>
        </p:txBody>
      </p:sp>
      <p:sp>
        <p:nvSpPr>
          <p:cNvPr id="84" name="任意多边形 83"/>
          <p:cNvSpPr/>
          <p:nvPr/>
        </p:nvSpPr>
        <p:spPr bwMode="gray">
          <a:xfrm flipV="1">
            <a:off x="10020569" y="2691934"/>
            <a:ext cx="1058789" cy="1496081"/>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5" name="任意多边形 84"/>
          <p:cNvSpPr/>
          <p:nvPr/>
        </p:nvSpPr>
        <p:spPr bwMode="gray">
          <a:xfrm flipV="1">
            <a:off x="8942253" y="3961550"/>
            <a:ext cx="904302" cy="349137"/>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519755 w 4106290"/>
              <a:gd name="connsiteY0" fmla="*/ 0 h 707298"/>
              <a:gd name="connsiteX1" fmla="*/ 4085210 w 4106290"/>
              <a:gd name="connsiteY1" fmla="*/ 707298 h 707298"/>
              <a:gd name="connsiteX0" fmla="*/ 1 w 3642122"/>
              <a:gd name="connsiteY0" fmla="*/ 0 h 707298"/>
              <a:gd name="connsiteX1" fmla="*/ 3565456 w 3642122"/>
              <a:gd name="connsiteY1" fmla="*/ 707298 h 707298"/>
              <a:gd name="connsiteX0" fmla="*/ 0 w 3895581"/>
              <a:gd name="connsiteY0" fmla="*/ 0 h 692782"/>
              <a:gd name="connsiteX1" fmla="*/ 3828117 w 3895581"/>
              <a:gd name="connsiteY1" fmla="*/ 692782 h 692782"/>
              <a:gd name="connsiteX0" fmla="*/ 0 w 4169601"/>
              <a:gd name="connsiteY0" fmla="*/ 66438 h 398395"/>
              <a:gd name="connsiteX1" fmla="*/ 4109929 w 4169601"/>
              <a:gd name="connsiteY1" fmla="*/ 398396 h 398395"/>
              <a:gd name="connsiteX0" fmla="*/ 0 w 4109930"/>
              <a:gd name="connsiteY0" fmla="*/ 0 h 511565"/>
              <a:gd name="connsiteX1" fmla="*/ 4109929 w 4109930"/>
              <a:gd name="connsiteY1" fmla="*/ 331958 h 511565"/>
              <a:gd name="connsiteX0" fmla="*/ 0 w 3053130"/>
              <a:gd name="connsiteY0" fmla="*/ 0 h 365530"/>
              <a:gd name="connsiteX1" fmla="*/ 3053130 w 3053130"/>
              <a:gd name="connsiteY1" fmla="*/ 124290 h 365530"/>
              <a:gd name="connsiteX0" fmla="*/ 0 w 3053130"/>
              <a:gd name="connsiteY0" fmla="*/ 0 h 445020"/>
              <a:gd name="connsiteX1" fmla="*/ 3053130 w 3053130"/>
              <a:gd name="connsiteY1" fmla="*/ 124290 h 445020"/>
              <a:gd name="connsiteX0" fmla="*/ 0 w 3053130"/>
              <a:gd name="connsiteY0" fmla="*/ 0 h 439270"/>
              <a:gd name="connsiteX1" fmla="*/ 3053130 w 3053130"/>
              <a:gd name="connsiteY1" fmla="*/ 124290 h 439270"/>
              <a:gd name="connsiteX0" fmla="*/ 0 w 3162724"/>
              <a:gd name="connsiteY0" fmla="*/ 0 h 395511"/>
              <a:gd name="connsiteX1" fmla="*/ 3162724 w 3162724"/>
              <a:gd name="connsiteY1" fmla="*/ 56797 h 395511"/>
              <a:gd name="connsiteX0" fmla="*/ 0 w 3162724"/>
              <a:gd name="connsiteY0" fmla="*/ 0 h 412009"/>
              <a:gd name="connsiteX1" fmla="*/ 3162724 w 3162724"/>
              <a:gd name="connsiteY1" fmla="*/ 82756 h 412009"/>
              <a:gd name="connsiteX0" fmla="*/ 0 w 3162724"/>
              <a:gd name="connsiteY0" fmla="*/ 0 h 406029"/>
              <a:gd name="connsiteX1" fmla="*/ 3162724 w 3162724"/>
              <a:gd name="connsiteY1" fmla="*/ 82756 h 406029"/>
              <a:gd name="connsiteX0" fmla="*/ 0 w 3162724"/>
              <a:gd name="connsiteY0" fmla="*/ 0 h 403084"/>
              <a:gd name="connsiteX1" fmla="*/ 3162724 w 3162724"/>
              <a:gd name="connsiteY1" fmla="*/ 82756 h 403084"/>
              <a:gd name="connsiteX0" fmla="*/ 0 w 2204559"/>
              <a:gd name="connsiteY0" fmla="*/ 0 h 412692"/>
              <a:gd name="connsiteX1" fmla="*/ 2204559 w 2204559"/>
              <a:gd name="connsiteY1" fmla="*/ 97293 h 412692"/>
              <a:gd name="connsiteX0" fmla="*/ 0 w 2204559"/>
              <a:gd name="connsiteY0" fmla="*/ 0 h 304467"/>
              <a:gd name="connsiteX1" fmla="*/ 2204559 w 2204559"/>
              <a:gd name="connsiteY1" fmla="*/ 97293 h 304467"/>
              <a:gd name="connsiteX0" fmla="*/ 0 w 2304759"/>
              <a:gd name="connsiteY0" fmla="*/ 0 h 301926"/>
              <a:gd name="connsiteX1" fmla="*/ 2304759 w 2304759"/>
              <a:gd name="connsiteY1" fmla="*/ 93140 h 301926"/>
              <a:gd name="connsiteX0" fmla="*/ 0 w 2229609"/>
              <a:gd name="connsiteY0" fmla="*/ 0 h 289484"/>
              <a:gd name="connsiteX1" fmla="*/ 2229609 w 2229609"/>
              <a:gd name="connsiteY1" fmla="*/ 72373 h 289484"/>
              <a:gd name="connsiteX0" fmla="*/ 0 w 2229609"/>
              <a:gd name="connsiteY0" fmla="*/ 0 h 285452"/>
              <a:gd name="connsiteX1" fmla="*/ 2229609 w 2229609"/>
              <a:gd name="connsiteY1" fmla="*/ 72373 h 285452"/>
            </a:gdLst>
            <a:ahLst/>
            <a:cxnLst>
              <a:cxn ang="0">
                <a:pos x="connsiteX0" y="connsiteY0"/>
              </a:cxn>
              <a:cxn ang="0">
                <a:pos x="connsiteX1" y="connsiteY1"/>
              </a:cxn>
            </a:cxnLst>
            <a:rect l="l" t="t" r="r" b="b"/>
            <a:pathLst>
              <a:path w="2229609" h="285452">
                <a:moveTo>
                  <a:pt x="0" y="0"/>
                </a:moveTo>
                <a:cubicBezTo>
                  <a:pt x="1330997" y="312840"/>
                  <a:pt x="1814747" y="413020"/>
                  <a:pt x="2229609" y="72373"/>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6" name="任意多边形 85"/>
          <p:cNvSpPr/>
          <p:nvPr/>
        </p:nvSpPr>
        <p:spPr bwMode="gray">
          <a:xfrm flipH="1" flipV="1">
            <a:off x="9983510" y="3961550"/>
            <a:ext cx="904302" cy="349137"/>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519755 w 4106290"/>
              <a:gd name="connsiteY0" fmla="*/ 0 h 707298"/>
              <a:gd name="connsiteX1" fmla="*/ 4085210 w 4106290"/>
              <a:gd name="connsiteY1" fmla="*/ 707298 h 707298"/>
              <a:gd name="connsiteX0" fmla="*/ 1 w 3642122"/>
              <a:gd name="connsiteY0" fmla="*/ 0 h 707298"/>
              <a:gd name="connsiteX1" fmla="*/ 3565456 w 3642122"/>
              <a:gd name="connsiteY1" fmla="*/ 707298 h 707298"/>
              <a:gd name="connsiteX0" fmla="*/ 0 w 3895581"/>
              <a:gd name="connsiteY0" fmla="*/ 0 h 692782"/>
              <a:gd name="connsiteX1" fmla="*/ 3828117 w 3895581"/>
              <a:gd name="connsiteY1" fmla="*/ 692782 h 692782"/>
              <a:gd name="connsiteX0" fmla="*/ 0 w 4169601"/>
              <a:gd name="connsiteY0" fmla="*/ 66438 h 398395"/>
              <a:gd name="connsiteX1" fmla="*/ 4109929 w 4169601"/>
              <a:gd name="connsiteY1" fmla="*/ 398396 h 398395"/>
              <a:gd name="connsiteX0" fmla="*/ 0 w 4109930"/>
              <a:gd name="connsiteY0" fmla="*/ 0 h 511565"/>
              <a:gd name="connsiteX1" fmla="*/ 4109929 w 4109930"/>
              <a:gd name="connsiteY1" fmla="*/ 331958 h 511565"/>
              <a:gd name="connsiteX0" fmla="*/ 0 w 3053130"/>
              <a:gd name="connsiteY0" fmla="*/ 0 h 365530"/>
              <a:gd name="connsiteX1" fmla="*/ 3053130 w 3053130"/>
              <a:gd name="connsiteY1" fmla="*/ 124290 h 365530"/>
              <a:gd name="connsiteX0" fmla="*/ 0 w 3053130"/>
              <a:gd name="connsiteY0" fmla="*/ 0 h 445020"/>
              <a:gd name="connsiteX1" fmla="*/ 3053130 w 3053130"/>
              <a:gd name="connsiteY1" fmla="*/ 124290 h 445020"/>
              <a:gd name="connsiteX0" fmla="*/ 0 w 3053130"/>
              <a:gd name="connsiteY0" fmla="*/ 0 h 439270"/>
              <a:gd name="connsiteX1" fmla="*/ 3053130 w 3053130"/>
              <a:gd name="connsiteY1" fmla="*/ 124290 h 439270"/>
              <a:gd name="connsiteX0" fmla="*/ 0 w 3162724"/>
              <a:gd name="connsiteY0" fmla="*/ 0 h 395511"/>
              <a:gd name="connsiteX1" fmla="*/ 3162724 w 3162724"/>
              <a:gd name="connsiteY1" fmla="*/ 56797 h 395511"/>
              <a:gd name="connsiteX0" fmla="*/ 0 w 3162724"/>
              <a:gd name="connsiteY0" fmla="*/ 0 h 412009"/>
              <a:gd name="connsiteX1" fmla="*/ 3162724 w 3162724"/>
              <a:gd name="connsiteY1" fmla="*/ 82756 h 412009"/>
              <a:gd name="connsiteX0" fmla="*/ 0 w 3162724"/>
              <a:gd name="connsiteY0" fmla="*/ 0 h 406029"/>
              <a:gd name="connsiteX1" fmla="*/ 3162724 w 3162724"/>
              <a:gd name="connsiteY1" fmla="*/ 82756 h 406029"/>
              <a:gd name="connsiteX0" fmla="*/ 0 w 3162724"/>
              <a:gd name="connsiteY0" fmla="*/ 0 h 403084"/>
              <a:gd name="connsiteX1" fmla="*/ 3162724 w 3162724"/>
              <a:gd name="connsiteY1" fmla="*/ 82756 h 403084"/>
              <a:gd name="connsiteX0" fmla="*/ 0 w 2204559"/>
              <a:gd name="connsiteY0" fmla="*/ 0 h 412692"/>
              <a:gd name="connsiteX1" fmla="*/ 2204559 w 2204559"/>
              <a:gd name="connsiteY1" fmla="*/ 97293 h 412692"/>
              <a:gd name="connsiteX0" fmla="*/ 0 w 2204559"/>
              <a:gd name="connsiteY0" fmla="*/ 0 h 304467"/>
              <a:gd name="connsiteX1" fmla="*/ 2204559 w 2204559"/>
              <a:gd name="connsiteY1" fmla="*/ 97293 h 304467"/>
              <a:gd name="connsiteX0" fmla="*/ 0 w 2304759"/>
              <a:gd name="connsiteY0" fmla="*/ 0 h 301926"/>
              <a:gd name="connsiteX1" fmla="*/ 2304759 w 2304759"/>
              <a:gd name="connsiteY1" fmla="*/ 93140 h 301926"/>
              <a:gd name="connsiteX0" fmla="*/ 0 w 2229609"/>
              <a:gd name="connsiteY0" fmla="*/ 0 h 289484"/>
              <a:gd name="connsiteX1" fmla="*/ 2229609 w 2229609"/>
              <a:gd name="connsiteY1" fmla="*/ 72373 h 289484"/>
              <a:gd name="connsiteX0" fmla="*/ 0 w 2229609"/>
              <a:gd name="connsiteY0" fmla="*/ 0 h 285452"/>
              <a:gd name="connsiteX1" fmla="*/ 2229609 w 2229609"/>
              <a:gd name="connsiteY1" fmla="*/ 72373 h 285452"/>
            </a:gdLst>
            <a:ahLst/>
            <a:cxnLst>
              <a:cxn ang="0">
                <a:pos x="connsiteX0" y="connsiteY0"/>
              </a:cxn>
              <a:cxn ang="0">
                <a:pos x="connsiteX1" y="connsiteY1"/>
              </a:cxn>
            </a:cxnLst>
            <a:rect l="l" t="t" r="r" b="b"/>
            <a:pathLst>
              <a:path w="2229609" h="285452">
                <a:moveTo>
                  <a:pt x="0" y="0"/>
                </a:moveTo>
                <a:cubicBezTo>
                  <a:pt x="1330997" y="312840"/>
                  <a:pt x="1814747" y="413020"/>
                  <a:pt x="2229609" y="72373"/>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8" name="文本框 87"/>
          <p:cNvSpPr txBox="1"/>
          <p:nvPr/>
        </p:nvSpPr>
        <p:spPr bwMode="gray">
          <a:xfrm>
            <a:off x="1606055" y="5346952"/>
            <a:ext cx="1497526" cy="307777"/>
          </a:xfrm>
          <a:prstGeom prst="rect">
            <a:avLst/>
          </a:prstGeom>
          <a:noFill/>
        </p:spPr>
        <p:txBody>
          <a:bodyPr wrap="none" rtlCol="0">
            <a:spAutoFit/>
          </a:bodyPr>
          <a:lstStyle/>
          <a:p>
            <a:pPr algn="ctr"/>
            <a:r>
              <a:rPr lang="en-US" altLang="zh-CN" sz="1400" b="1">
                <a:cs typeface="+mn-ea"/>
                <a:sym typeface="+mn-lt"/>
              </a:rPr>
              <a:t>Hub-Spoke</a:t>
            </a:r>
            <a:r>
              <a:rPr lang="zh-CN" altLang="en-US" sz="1400" b="1">
                <a:cs typeface="+mn-ea"/>
                <a:sym typeface="+mn-lt"/>
              </a:rPr>
              <a:t>组网</a:t>
            </a:r>
          </a:p>
        </p:txBody>
      </p:sp>
      <p:sp>
        <p:nvSpPr>
          <p:cNvPr id="89" name="文本框 88"/>
          <p:cNvSpPr txBox="1"/>
          <p:nvPr/>
        </p:nvSpPr>
        <p:spPr bwMode="gray">
          <a:xfrm>
            <a:off x="4808538" y="5346952"/>
            <a:ext cx="2302233" cy="307777"/>
          </a:xfrm>
          <a:prstGeom prst="rect">
            <a:avLst/>
          </a:prstGeom>
          <a:noFill/>
        </p:spPr>
        <p:txBody>
          <a:bodyPr wrap="none" rtlCol="0">
            <a:spAutoFit/>
          </a:bodyPr>
          <a:lstStyle/>
          <a:p>
            <a:pPr algn="ctr"/>
            <a:r>
              <a:rPr lang="en-US" altLang="zh-CN" sz="1400" b="1" dirty="0" smtClean="0">
                <a:cs typeface="+mn-ea"/>
                <a:sym typeface="+mn-lt"/>
              </a:rPr>
              <a:t>Full-Mesh</a:t>
            </a:r>
            <a:r>
              <a:rPr lang="zh-CN" altLang="en-US" sz="1400" b="1" dirty="0">
                <a:cs typeface="+mn-ea"/>
                <a:sym typeface="+mn-lt"/>
              </a:rPr>
              <a:t>（全互联）组网</a:t>
            </a:r>
          </a:p>
        </p:txBody>
      </p:sp>
      <p:sp>
        <p:nvSpPr>
          <p:cNvPr id="90" name="文本框 89"/>
          <p:cNvSpPr txBox="1"/>
          <p:nvPr/>
        </p:nvSpPr>
        <p:spPr bwMode="gray">
          <a:xfrm>
            <a:off x="8569549" y="5346952"/>
            <a:ext cx="2730236" cy="307777"/>
          </a:xfrm>
          <a:prstGeom prst="rect">
            <a:avLst/>
          </a:prstGeom>
          <a:noFill/>
        </p:spPr>
        <p:txBody>
          <a:bodyPr wrap="none" rtlCol="0">
            <a:spAutoFit/>
          </a:bodyPr>
          <a:lstStyle/>
          <a:p>
            <a:pPr algn="ctr"/>
            <a:r>
              <a:rPr lang="en-US" altLang="zh-CN" sz="1400" b="1" dirty="0" smtClean="0">
                <a:cs typeface="+mn-ea"/>
                <a:sym typeface="+mn-lt"/>
              </a:rPr>
              <a:t>Partial-Mesh</a:t>
            </a:r>
            <a:r>
              <a:rPr lang="zh-CN" altLang="en-US" sz="1400" b="1" dirty="0" smtClean="0">
                <a:cs typeface="+mn-ea"/>
                <a:sym typeface="+mn-lt"/>
              </a:rPr>
              <a:t>（部分互联）组网</a:t>
            </a:r>
            <a:endParaRPr lang="zh-CN" altLang="en-US" sz="1400" b="1" dirty="0">
              <a:cs typeface="+mn-ea"/>
              <a:sym typeface="+mn-lt"/>
            </a:endParaRPr>
          </a:p>
        </p:txBody>
      </p:sp>
    </p:spTree>
    <p:extLst>
      <p:ext uri="{BB962C8B-B14F-4D97-AF65-F5344CB8AC3E}">
        <p14:creationId xmlns:p14="http://schemas.microsoft.com/office/powerpoint/2010/main" val="1934825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latin typeface="+mn-lt"/>
                <a:ea typeface="+mn-ea"/>
                <a:cs typeface="+mn-ea"/>
                <a:sym typeface="+mn-lt"/>
              </a:rPr>
              <a:t>网络架构</a:t>
            </a:r>
            <a:r>
              <a:rPr lang="zh-CN" altLang="en-US" smtClean="0">
                <a:latin typeface="+mn-lt"/>
                <a:ea typeface="+mn-ea"/>
                <a:cs typeface="+mn-ea"/>
                <a:sym typeface="+mn-lt"/>
              </a:rPr>
              <a:t>设计要点</a:t>
            </a:r>
            <a:endParaRPr lang="zh-CN" altLang="en-US">
              <a:latin typeface="+mn-lt"/>
              <a:ea typeface="+mn-ea"/>
              <a:cs typeface="+mn-ea"/>
              <a:sym typeface="+mn-lt"/>
            </a:endParaRPr>
          </a:p>
        </p:txBody>
      </p:sp>
      <p:sp>
        <p:nvSpPr>
          <p:cNvPr id="3" name="TextBox 303"/>
          <p:cNvSpPr txBox="1"/>
          <p:nvPr/>
        </p:nvSpPr>
        <p:spPr>
          <a:xfrm>
            <a:off x="731838" y="1210685"/>
            <a:ext cx="912236" cy="2336079"/>
          </a:xfrm>
          <a:prstGeom prst="rect">
            <a:avLst/>
          </a:prstGeom>
          <a:solidFill>
            <a:srgbClr val="D7F2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defRPr>
            </a:lvl1pPr>
          </a:lstStyle>
          <a:p>
            <a:r>
              <a:rPr lang="zh-CN" altLang="en-US" dirty="0">
                <a:solidFill>
                  <a:srgbClr val="30B5C5"/>
                </a:solidFill>
                <a:cs typeface="+mn-ea"/>
                <a:sym typeface="+mn-lt"/>
              </a:rPr>
              <a:t>确定</a:t>
            </a:r>
            <a:endParaRPr lang="en-US" altLang="zh-CN" dirty="0">
              <a:solidFill>
                <a:srgbClr val="30B5C5"/>
              </a:solidFill>
              <a:cs typeface="+mn-ea"/>
              <a:sym typeface="+mn-lt"/>
            </a:endParaRPr>
          </a:p>
          <a:p>
            <a:r>
              <a:rPr lang="zh-CN" altLang="en-US" dirty="0">
                <a:solidFill>
                  <a:srgbClr val="30B5C5"/>
                </a:solidFill>
                <a:cs typeface="+mn-ea"/>
                <a:sym typeface="+mn-lt"/>
              </a:rPr>
              <a:t>内网架构</a:t>
            </a:r>
          </a:p>
        </p:txBody>
      </p:sp>
      <p:sp>
        <p:nvSpPr>
          <p:cNvPr id="4" name="TextBox 303"/>
          <p:cNvSpPr txBox="1"/>
          <p:nvPr/>
        </p:nvSpPr>
        <p:spPr>
          <a:xfrm>
            <a:off x="731838" y="3655865"/>
            <a:ext cx="912236" cy="2366243"/>
          </a:xfrm>
          <a:prstGeom prst="rect">
            <a:avLst/>
          </a:prstGeom>
          <a:solidFill>
            <a:srgbClr val="D7F2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defRPr>
            </a:lvl1pPr>
          </a:lstStyle>
          <a:p>
            <a:r>
              <a:rPr lang="zh-CN" altLang="en-US">
                <a:solidFill>
                  <a:srgbClr val="30B5C5"/>
                </a:solidFill>
                <a:cs typeface="+mn-ea"/>
                <a:sym typeface="+mn-lt"/>
              </a:rPr>
              <a:t>确定</a:t>
            </a:r>
            <a:endParaRPr lang="en-US" altLang="zh-CN">
              <a:solidFill>
                <a:srgbClr val="30B5C5"/>
              </a:solidFill>
              <a:cs typeface="+mn-ea"/>
              <a:sym typeface="+mn-lt"/>
            </a:endParaRPr>
          </a:p>
          <a:p>
            <a:r>
              <a:rPr lang="zh-CN" altLang="en-US">
                <a:solidFill>
                  <a:srgbClr val="30B5C5"/>
                </a:solidFill>
                <a:cs typeface="+mn-ea"/>
                <a:sym typeface="+mn-lt"/>
              </a:rPr>
              <a:t>广域互联模型</a:t>
            </a:r>
            <a:endParaRPr lang="en-US" altLang="zh-CN">
              <a:solidFill>
                <a:srgbClr val="30B5C5"/>
              </a:solidFill>
              <a:cs typeface="+mn-ea"/>
              <a:sym typeface="+mn-lt"/>
            </a:endParaRPr>
          </a:p>
          <a:p>
            <a:r>
              <a:rPr lang="zh-CN" altLang="en-US">
                <a:solidFill>
                  <a:srgbClr val="30B5C5"/>
                </a:solidFill>
                <a:cs typeface="+mn-ea"/>
                <a:sym typeface="+mn-lt"/>
              </a:rPr>
              <a:t>（可选）</a:t>
            </a:r>
          </a:p>
        </p:txBody>
      </p:sp>
      <p:sp>
        <p:nvSpPr>
          <p:cNvPr id="5" name="TextBox 303"/>
          <p:cNvSpPr txBox="1"/>
          <p:nvPr/>
        </p:nvSpPr>
        <p:spPr>
          <a:xfrm>
            <a:off x="6428510" y="1221558"/>
            <a:ext cx="912236" cy="4800549"/>
          </a:xfrm>
          <a:prstGeom prst="rect">
            <a:avLst/>
          </a:prstGeom>
          <a:solidFill>
            <a:srgbClr val="D7F2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defRPr>
            </a:lvl1pPr>
          </a:lstStyle>
          <a:p>
            <a:r>
              <a:rPr lang="zh-CN" altLang="en-US" dirty="0">
                <a:solidFill>
                  <a:srgbClr val="30B5C5"/>
                </a:solidFill>
                <a:cs typeface="+mn-ea"/>
                <a:sym typeface="+mn-lt"/>
              </a:rPr>
              <a:t>确定可靠性要求</a:t>
            </a:r>
            <a:endParaRPr lang="en-US" altLang="zh-CN" dirty="0">
              <a:solidFill>
                <a:srgbClr val="30B5C5"/>
              </a:solidFill>
              <a:cs typeface="+mn-ea"/>
              <a:sym typeface="+mn-lt"/>
            </a:endParaRPr>
          </a:p>
          <a:p>
            <a:r>
              <a:rPr lang="zh-CN" altLang="en-US" dirty="0">
                <a:solidFill>
                  <a:srgbClr val="30B5C5"/>
                </a:solidFill>
                <a:cs typeface="+mn-ea"/>
                <a:sym typeface="+mn-lt"/>
              </a:rPr>
              <a:t>（可选）</a:t>
            </a:r>
          </a:p>
        </p:txBody>
      </p:sp>
      <p:sp>
        <p:nvSpPr>
          <p:cNvPr id="8" name="TextBox 303"/>
          <p:cNvSpPr txBox="1"/>
          <p:nvPr/>
        </p:nvSpPr>
        <p:spPr>
          <a:xfrm>
            <a:off x="1727201" y="1210685"/>
            <a:ext cx="4618182" cy="2336079"/>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ts val="2000"/>
              </a:lnSpc>
              <a:spcAft>
                <a:spcPts val="600"/>
              </a:spcAft>
            </a:pPr>
            <a:r>
              <a:rPr lang="zh-CN" altLang="en-US" sz="1400" dirty="0">
                <a:solidFill>
                  <a:schemeClr val="tx1"/>
                </a:solidFill>
                <a:cs typeface="+mn-ea"/>
                <a:sym typeface="+mn-lt"/>
              </a:rPr>
              <a:t>根据接入终端的规模，或者设备能力，确定网络架构层次；确定每个层次的设备选型及上下层设备之间的匹配</a:t>
            </a:r>
            <a:r>
              <a:rPr lang="zh-CN" altLang="en-US" sz="1400" dirty="0" smtClean="0">
                <a:solidFill>
                  <a:schemeClr val="tx1"/>
                </a:solidFill>
                <a:cs typeface="+mn-ea"/>
                <a:sym typeface="+mn-lt"/>
              </a:rPr>
              <a:t>关系。</a:t>
            </a:r>
            <a:endParaRPr lang="zh-CN" altLang="en-US" sz="1400" dirty="0">
              <a:solidFill>
                <a:schemeClr val="tx1"/>
              </a:solidFill>
              <a:cs typeface="+mn-ea"/>
              <a:sym typeface="+mn-lt"/>
            </a:endParaRPr>
          </a:p>
          <a:p>
            <a:pPr marL="285750" indent="-285750" algn="l">
              <a:lnSpc>
                <a:spcPts val="2000"/>
              </a:lnSpc>
              <a:spcAft>
                <a:spcPts val="600"/>
              </a:spcAft>
              <a:buFont typeface="Arial" panose="020B0604020202020204" pitchFamily="34" charset="0"/>
              <a:buChar char="•"/>
            </a:pPr>
            <a:r>
              <a:rPr lang="zh-CN" altLang="en-US" sz="1400" dirty="0">
                <a:solidFill>
                  <a:schemeClr val="tx1"/>
                </a:solidFill>
                <a:cs typeface="+mn-ea"/>
                <a:sym typeface="+mn-lt"/>
              </a:rPr>
              <a:t>单设备组网架构</a:t>
            </a:r>
            <a:endParaRPr lang="en-US" altLang="zh-CN" sz="1400" dirty="0">
              <a:solidFill>
                <a:schemeClr val="tx1"/>
              </a:solidFill>
              <a:cs typeface="+mn-ea"/>
              <a:sym typeface="+mn-lt"/>
            </a:endParaRPr>
          </a:p>
          <a:p>
            <a:pPr marL="285750" indent="-285750" algn="l">
              <a:lnSpc>
                <a:spcPts val="2000"/>
              </a:lnSpc>
              <a:spcAft>
                <a:spcPts val="600"/>
              </a:spcAft>
              <a:buFont typeface="Arial" panose="020B0604020202020204" pitchFamily="34" charset="0"/>
              <a:buChar char="•"/>
            </a:pPr>
            <a:r>
              <a:rPr lang="zh-CN" altLang="en-US" sz="1400" dirty="0">
                <a:solidFill>
                  <a:schemeClr val="tx1"/>
                </a:solidFill>
                <a:cs typeface="+mn-ea"/>
                <a:sym typeface="+mn-lt"/>
              </a:rPr>
              <a:t>单层组网架构</a:t>
            </a:r>
          </a:p>
          <a:p>
            <a:pPr marL="285750" indent="-285750" algn="l">
              <a:lnSpc>
                <a:spcPts val="2000"/>
              </a:lnSpc>
              <a:spcAft>
                <a:spcPts val="600"/>
              </a:spcAft>
              <a:buFont typeface="Arial" panose="020B0604020202020204" pitchFamily="34" charset="0"/>
              <a:buChar char="•"/>
            </a:pPr>
            <a:r>
              <a:rPr lang="zh-CN" altLang="en-US" sz="1400" dirty="0">
                <a:solidFill>
                  <a:schemeClr val="tx1"/>
                </a:solidFill>
                <a:cs typeface="+mn-ea"/>
                <a:sym typeface="+mn-lt"/>
              </a:rPr>
              <a:t>两层组网架构</a:t>
            </a:r>
          </a:p>
          <a:p>
            <a:pPr marL="285750" indent="-285750" algn="l">
              <a:lnSpc>
                <a:spcPts val="2000"/>
              </a:lnSpc>
              <a:spcAft>
                <a:spcPts val="600"/>
              </a:spcAft>
              <a:buFont typeface="Arial" panose="020B0604020202020204" pitchFamily="34" charset="0"/>
              <a:buChar char="•"/>
            </a:pPr>
            <a:r>
              <a:rPr lang="zh-CN" altLang="en-US" sz="1400" dirty="0">
                <a:solidFill>
                  <a:schemeClr val="tx1"/>
                </a:solidFill>
                <a:cs typeface="+mn-ea"/>
                <a:sym typeface="+mn-lt"/>
              </a:rPr>
              <a:t>三层组网</a:t>
            </a:r>
            <a:r>
              <a:rPr lang="zh-CN" altLang="en-US" sz="1400" dirty="0" smtClean="0">
                <a:solidFill>
                  <a:schemeClr val="tx1"/>
                </a:solidFill>
                <a:cs typeface="+mn-ea"/>
                <a:sym typeface="+mn-lt"/>
              </a:rPr>
              <a:t>架构</a:t>
            </a:r>
            <a:endParaRPr lang="zh-CN" altLang="en-US" sz="1400" dirty="0">
              <a:solidFill>
                <a:schemeClr val="tx1"/>
              </a:solidFill>
              <a:cs typeface="+mn-ea"/>
              <a:sym typeface="+mn-lt"/>
            </a:endParaRPr>
          </a:p>
        </p:txBody>
      </p:sp>
      <p:sp>
        <p:nvSpPr>
          <p:cNvPr id="9" name="TextBox 303"/>
          <p:cNvSpPr txBox="1"/>
          <p:nvPr/>
        </p:nvSpPr>
        <p:spPr>
          <a:xfrm>
            <a:off x="1727201" y="3655865"/>
            <a:ext cx="4618182" cy="2366243"/>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defPPr>
              <a:defRPr lang="en-US"/>
            </a:defPPr>
            <a:lvl1pPr>
              <a:lnSpc>
                <a:spcPts val="2000"/>
              </a:lnSpc>
              <a:spcAft>
                <a:spcPts val="600"/>
              </a:spcAft>
              <a:defRPr sz="1400">
                <a:solidFill>
                  <a:schemeClr val="tx1"/>
                </a:solidFill>
              </a:defRPr>
            </a:lvl1pPr>
          </a:lstStyle>
          <a:p>
            <a:r>
              <a:rPr lang="zh-CN" altLang="en-US" dirty="0">
                <a:cs typeface="+mn-ea"/>
                <a:sym typeface="+mn-lt"/>
              </a:rPr>
              <a:t>根据站点之间的互访需求确定广域互联模型。</a:t>
            </a:r>
          </a:p>
          <a:p>
            <a:pPr marL="285750" indent="-285750">
              <a:buFont typeface="Arial" panose="020B0604020202020204" pitchFamily="34" charset="0"/>
              <a:buChar char="•"/>
            </a:pPr>
            <a:r>
              <a:rPr lang="en-US" altLang="zh-CN" dirty="0">
                <a:cs typeface="+mn-ea"/>
                <a:sym typeface="+mn-lt"/>
              </a:rPr>
              <a:t>Hub-Spoke</a:t>
            </a:r>
            <a:r>
              <a:rPr lang="zh-CN" altLang="en-US" dirty="0">
                <a:cs typeface="+mn-ea"/>
                <a:sym typeface="+mn-lt"/>
              </a:rPr>
              <a:t>组网</a:t>
            </a:r>
          </a:p>
          <a:p>
            <a:pPr marL="285750" indent="-285750">
              <a:buFont typeface="Arial" panose="020B0604020202020204" pitchFamily="34" charset="0"/>
              <a:buChar char="•"/>
            </a:pPr>
            <a:r>
              <a:rPr lang="en-US" altLang="zh-CN" dirty="0" smtClean="0">
                <a:cs typeface="+mn-ea"/>
                <a:sym typeface="+mn-lt"/>
              </a:rPr>
              <a:t>Full-Mesh</a:t>
            </a:r>
            <a:r>
              <a:rPr lang="zh-CN" altLang="en-US" dirty="0" smtClean="0">
                <a:cs typeface="+mn-ea"/>
                <a:sym typeface="+mn-lt"/>
              </a:rPr>
              <a:t>组</a:t>
            </a:r>
            <a:r>
              <a:rPr lang="zh-CN" altLang="en-US" dirty="0">
                <a:cs typeface="+mn-ea"/>
                <a:sym typeface="+mn-lt"/>
              </a:rPr>
              <a:t>网</a:t>
            </a:r>
          </a:p>
          <a:p>
            <a:pPr marL="285750" indent="-285750">
              <a:buFont typeface="Arial" panose="020B0604020202020204" pitchFamily="34" charset="0"/>
              <a:buChar char="•"/>
            </a:pPr>
            <a:r>
              <a:rPr lang="en-US" altLang="zh-CN" dirty="0" smtClean="0">
                <a:cs typeface="+mn-ea"/>
                <a:sym typeface="+mn-lt"/>
              </a:rPr>
              <a:t>Partial-Mesh</a:t>
            </a:r>
            <a:r>
              <a:rPr lang="zh-CN" altLang="en-US" dirty="0" smtClean="0">
                <a:cs typeface="+mn-ea"/>
                <a:sym typeface="+mn-lt"/>
              </a:rPr>
              <a:t>组</a:t>
            </a:r>
            <a:r>
              <a:rPr lang="zh-CN" altLang="en-US" dirty="0">
                <a:cs typeface="+mn-ea"/>
                <a:sym typeface="+mn-lt"/>
              </a:rPr>
              <a:t>网</a:t>
            </a:r>
          </a:p>
        </p:txBody>
      </p:sp>
      <p:sp>
        <p:nvSpPr>
          <p:cNvPr id="10" name="TextBox 303"/>
          <p:cNvSpPr txBox="1"/>
          <p:nvPr/>
        </p:nvSpPr>
        <p:spPr>
          <a:xfrm>
            <a:off x="7423872" y="1210685"/>
            <a:ext cx="4036291" cy="4824478"/>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defPPr>
              <a:defRPr lang="en-US"/>
            </a:defPPr>
            <a:lvl1pPr>
              <a:lnSpc>
                <a:spcPts val="2000"/>
              </a:lnSpc>
              <a:spcAft>
                <a:spcPts val="600"/>
              </a:spcAft>
              <a:defRPr sz="1400">
                <a:solidFill>
                  <a:schemeClr val="tx1"/>
                </a:solidFill>
              </a:defRPr>
            </a:lvl1pPr>
          </a:lstStyle>
          <a:p>
            <a:r>
              <a:rPr lang="zh-CN" altLang="en-US" dirty="0">
                <a:cs typeface="+mn-ea"/>
                <a:sym typeface="+mn-lt"/>
              </a:rPr>
              <a:t>根据设备类型及其能力确定高可靠性组网模型</a:t>
            </a:r>
          </a:p>
          <a:p>
            <a:pPr marL="285750" indent="-285750">
              <a:buFont typeface="Arial" panose="020B0604020202020204" pitchFamily="34" charset="0"/>
              <a:buChar char="•"/>
            </a:pPr>
            <a:r>
              <a:rPr lang="zh-CN" altLang="en-US" dirty="0" smtClean="0">
                <a:cs typeface="+mn-ea"/>
                <a:sym typeface="+mn-lt"/>
              </a:rPr>
              <a:t>防火墙双机组网，部署双机热备</a:t>
            </a:r>
            <a:endParaRPr lang="en-US" altLang="zh-CN" dirty="0" smtClean="0">
              <a:cs typeface="+mn-ea"/>
              <a:sym typeface="+mn-lt"/>
            </a:endParaRPr>
          </a:p>
          <a:p>
            <a:pPr marL="285750" indent="-285750">
              <a:buFont typeface="Arial" panose="020B0604020202020204" pitchFamily="34" charset="0"/>
              <a:buChar char="•"/>
            </a:pPr>
            <a:r>
              <a:rPr lang="zh-CN" altLang="en-US" dirty="0" smtClean="0">
                <a:cs typeface="+mn-ea"/>
                <a:sym typeface="+mn-lt"/>
              </a:rPr>
              <a:t>交换机堆叠</a:t>
            </a:r>
            <a:endParaRPr lang="en-US" altLang="zh-CN" dirty="0" smtClean="0">
              <a:cs typeface="+mn-ea"/>
              <a:sym typeface="+mn-lt"/>
            </a:endParaRPr>
          </a:p>
          <a:p>
            <a:pPr marL="285750" indent="-285750">
              <a:buFont typeface="Arial" panose="020B0604020202020204" pitchFamily="34" charset="0"/>
              <a:buChar char="•"/>
            </a:pPr>
            <a:r>
              <a:rPr lang="en-US" altLang="zh-CN" dirty="0" smtClean="0">
                <a:cs typeface="+mn-ea"/>
                <a:sym typeface="+mn-lt"/>
              </a:rPr>
              <a:t>Eth-Trunk</a:t>
            </a:r>
            <a:endParaRPr lang="zh-CN" altLang="en-US" dirty="0" smtClean="0">
              <a:cs typeface="+mn-ea"/>
              <a:sym typeface="+mn-lt"/>
            </a:endParaRPr>
          </a:p>
          <a:p>
            <a:pPr marL="285750" indent="-285750">
              <a:buFont typeface="Arial" panose="020B0604020202020204" pitchFamily="34" charset="0"/>
              <a:buChar char="•"/>
            </a:pPr>
            <a:endParaRPr lang="zh-CN" altLang="en-US" dirty="0">
              <a:cs typeface="+mn-ea"/>
              <a:sym typeface="+mn-lt"/>
            </a:endParaRPr>
          </a:p>
        </p:txBody>
      </p:sp>
      <p:sp>
        <p:nvSpPr>
          <p:cNvPr id="11" name="椭圆 10"/>
          <p:cNvSpPr>
            <a:spLocks noChangeAspect="1"/>
          </p:cNvSpPr>
          <p:nvPr/>
        </p:nvSpPr>
        <p:spPr>
          <a:xfrm>
            <a:off x="1061956" y="1638788"/>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smtClean="0">
                <a:ln>
                  <a:noFill/>
                </a:ln>
                <a:solidFill>
                  <a:prstClr val="white"/>
                </a:solidFill>
                <a:effectLst/>
                <a:uLnTx/>
                <a:uFillTx/>
                <a:cs typeface="+mn-ea"/>
                <a:sym typeface="+mn-lt"/>
              </a:rPr>
              <a:t>1</a:t>
            </a:r>
            <a:endParaRPr kumimoji="0" lang="zh-CN" altLang="en-US" sz="1400" b="1" i="0" u="none" strike="noStrike" kern="0" cap="none" spc="0" normalizeH="0" baseline="0" noProof="0" dirty="0" smtClean="0">
              <a:ln>
                <a:noFill/>
              </a:ln>
              <a:solidFill>
                <a:prstClr val="white"/>
              </a:solidFill>
              <a:effectLst/>
              <a:uLnTx/>
              <a:uFillTx/>
              <a:cs typeface="+mn-ea"/>
              <a:sym typeface="+mn-lt"/>
            </a:endParaRPr>
          </a:p>
        </p:txBody>
      </p:sp>
      <p:sp>
        <p:nvSpPr>
          <p:cNvPr id="12" name="椭圆 11"/>
          <p:cNvSpPr>
            <a:spLocks noChangeAspect="1"/>
          </p:cNvSpPr>
          <p:nvPr/>
        </p:nvSpPr>
        <p:spPr>
          <a:xfrm>
            <a:off x="1061956" y="4013222"/>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smtClean="0">
                <a:ln>
                  <a:noFill/>
                </a:ln>
                <a:solidFill>
                  <a:prstClr val="white"/>
                </a:solidFill>
                <a:effectLst/>
                <a:uLnTx/>
                <a:uFillTx/>
                <a:cs typeface="+mn-ea"/>
                <a:sym typeface="+mn-lt"/>
              </a:rPr>
              <a:t>2</a:t>
            </a:r>
            <a:endParaRPr kumimoji="0" lang="zh-CN" altLang="en-US" sz="1400" b="1" i="0" u="none" strike="noStrike" kern="0" cap="none" spc="0" normalizeH="0" baseline="0" noProof="0" dirty="0" smtClean="0">
              <a:ln>
                <a:noFill/>
              </a:ln>
              <a:solidFill>
                <a:prstClr val="white"/>
              </a:solidFill>
              <a:effectLst/>
              <a:uLnTx/>
              <a:uFillTx/>
              <a:cs typeface="+mn-ea"/>
              <a:sym typeface="+mn-lt"/>
            </a:endParaRPr>
          </a:p>
        </p:txBody>
      </p:sp>
      <p:sp>
        <p:nvSpPr>
          <p:cNvPr id="13" name="椭圆 12"/>
          <p:cNvSpPr>
            <a:spLocks noChangeAspect="1"/>
          </p:cNvSpPr>
          <p:nvPr/>
        </p:nvSpPr>
        <p:spPr>
          <a:xfrm>
            <a:off x="6758627" y="2904858"/>
            <a:ext cx="252000" cy="252000"/>
          </a:xfrm>
          <a:prstGeom prst="ellipse">
            <a:avLst/>
          </a:prstGeom>
          <a:solidFill>
            <a:srgbClr val="30B5C5"/>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smtClean="0">
                <a:ln>
                  <a:noFill/>
                </a:ln>
                <a:solidFill>
                  <a:prstClr val="white"/>
                </a:solidFill>
                <a:effectLst/>
                <a:uLnTx/>
                <a:uFillTx/>
                <a:cs typeface="+mn-ea"/>
                <a:sym typeface="+mn-lt"/>
              </a:rPr>
              <a:t>3</a:t>
            </a:r>
            <a:endParaRPr kumimoji="0" lang="zh-CN" altLang="en-US" sz="1400" b="1" i="0" u="none" strike="noStrike" kern="0" cap="none" spc="0" normalizeH="0" baseline="0" noProof="0" dirty="0" smtClean="0">
              <a:ln>
                <a:noFill/>
              </a:ln>
              <a:solidFill>
                <a:prstClr val="white"/>
              </a:solidFill>
              <a:effectLst/>
              <a:uLnTx/>
              <a:uFillTx/>
              <a:cs typeface="+mn-ea"/>
              <a:sym typeface="+mn-lt"/>
            </a:endParaRPr>
          </a:p>
        </p:txBody>
      </p:sp>
    </p:spTree>
    <p:extLst>
      <p:ext uri="{BB962C8B-B14F-4D97-AF65-F5344CB8AC3E}">
        <p14:creationId xmlns:p14="http://schemas.microsoft.com/office/powerpoint/2010/main" val="26984902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组网设计</a:t>
            </a:r>
          </a:p>
        </p:txBody>
      </p:sp>
      <p:sp>
        <p:nvSpPr>
          <p:cNvPr id="39" name="TextBox 303"/>
          <p:cNvSpPr txBox="1"/>
          <p:nvPr/>
        </p:nvSpPr>
        <p:spPr bwMode="gray">
          <a:xfrm>
            <a:off x="731838" y="4019456"/>
            <a:ext cx="912236" cy="1429126"/>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75000"/>
                  </a:schemeClr>
                </a:solidFill>
              </a:defRPr>
            </a:lvl1pPr>
          </a:lstStyle>
          <a:p>
            <a:r>
              <a:rPr lang="zh-CN" altLang="en-US">
                <a:solidFill>
                  <a:schemeClr val="bg1">
                    <a:lumMod val="50000"/>
                  </a:schemeClr>
                </a:solidFill>
                <a:cs typeface="+mn-ea"/>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White">
          <a:xfrm>
            <a:off x="4337749" y="3052471"/>
            <a:ext cx="2304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21" name="燕尾形 20"/>
          <p:cNvSpPr/>
          <p:nvPr/>
        </p:nvSpPr>
        <p:spPr bwMode="gray">
          <a:xfrm>
            <a:off x="8786686"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
        <p:nvSpPr>
          <p:cNvPr id="22" name="五边形 21"/>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23" name="燕尾形 22"/>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网络开局设计</a:t>
            </a:r>
          </a:p>
        </p:txBody>
      </p:sp>
      <p:sp>
        <p:nvSpPr>
          <p:cNvPr id="24" name="燕尾形 23"/>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25" name="燕尾形 24"/>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30" name="五边形 29"/>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Tree>
    <p:extLst>
      <p:ext uri="{BB962C8B-B14F-4D97-AF65-F5344CB8AC3E}">
        <p14:creationId xmlns:p14="http://schemas.microsoft.com/office/powerpoint/2010/main" val="2576355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bwMode="gray">
          <a:xfrm>
            <a:off x="731838" y="1919926"/>
            <a:ext cx="5090464" cy="441720"/>
          </a:xfrm>
          <a:prstGeom prst="roundRect">
            <a:avLst>
              <a:gd name="adj" fmla="val 0"/>
            </a:avLst>
          </a:prstGeom>
          <a:solidFill>
            <a:schemeClr val="bg1">
              <a:lumMod val="8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3" name="圆角矩形 2"/>
          <p:cNvSpPr/>
          <p:nvPr/>
        </p:nvSpPr>
        <p:spPr bwMode="gray">
          <a:xfrm>
            <a:off x="731838" y="2313155"/>
            <a:ext cx="5090464" cy="3248146"/>
          </a:xfrm>
          <a:prstGeom prst="roundRect">
            <a:avLst>
              <a:gd name="adj" fmla="val 0"/>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21" name="直接连接符 20"/>
          <p:cNvCxnSpPr/>
          <p:nvPr/>
        </p:nvCxnSpPr>
        <p:spPr bwMode="gray">
          <a:xfrm>
            <a:off x="3512998" y="3831821"/>
            <a:ext cx="0" cy="91794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gray">
          <a:xfrm>
            <a:off x="4913063" y="3831821"/>
            <a:ext cx="0" cy="91794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smtClean="0">
                <a:sym typeface="+mn-lt"/>
              </a:rPr>
              <a:t>典型组网方案：单设备组网</a:t>
            </a:r>
            <a:endParaRPr lang="zh-CN" altLang="en-US">
              <a:sym typeface="+mn-lt"/>
            </a:endParaRPr>
          </a:p>
        </p:txBody>
      </p:sp>
      <p:sp>
        <p:nvSpPr>
          <p:cNvPr id="8" name="文本占位符 7"/>
          <p:cNvSpPr>
            <a:spLocks noGrp="1"/>
          </p:cNvSpPr>
          <p:nvPr>
            <p:ph type="body" sz="quarter" idx="10"/>
          </p:nvPr>
        </p:nvSpPr>
        <p:spPr bwMode="gray">
          <a:xfrm>
            <a:off x="6095999" y="951556"/>
            <a:ext cx="5642051" cy="5249219"/>
          </a:xfrm>
        </p:spPr>
        <p:txBody>
          <a:bodyPr/>
          <a:lstStyle/>
          <a:p>
            <a:r>
              <a:rPr lang="zh-CN" altLang="en-US" sz="1400" dirty="0" smtClean="0">
                <a:sym typeface="+mn-lt"/>
              </a:rPr>
              <a:t>方案概述</a:t>
            </a:r>
            <a:endParaRPr lang="en-US" altLang="zh-CN" sz="1400" dirty="0" smtClean="0">
              <a:sym typeface="+mn-lt"/>
            </a:endParaRPr>
          </a:p>
          <a:p>
            <a:pPr lvl="1"/>
            <a:r>
              <a:rPr lang="zh-CN" altLang="en-US" sz="1200" dirty="0" smtClean="0">
                <a:sym typeface="+mn-lt"/>
              </a:rPr>
              <a:t>适应于单门店、小型门店（如中介门店、加油站）；</a:t>
            </a:r>
            <a:endParaRPr lang="en-US" altLang="zh-CN" sz="1200" dirty="0" smtClean="0">
              <a:sym typeface="+mn-lt"/>
            </a:endParaRPr>
          </a:p>
          <a:p>
            <a:pPr lvl="1"/>
            <a:r>
              <a:rPr lang="zh-CN" altLang="en-US" sz="1200" dirty="0" smtClean="0">
                <a:sym typeface="+mn-lt"/>
              </a:rPr>
              <a:t>单设备提供网关特性，如</a:t>
            </a:r>
            <a:r>
              <a:rPr lang="en-US" altLang="zh-CN" sz="1200" dirty="0" err="1" smtClean="0">
                <a:sym typeface="+mn-lt"/>
              </a:rPr>
              <a:t>PPPoE</a:t>
            </a:r>
            <a:r>
              <a:rPr lang="zh-CN" altLang="en-US" sz="1200" dirty="0" smtClean="0">
                <a:sym typeface="+mn-lt"/>
              </a:rPr>
              <a:t>拨号、</a:t>
            </a:r>
            <a:r>
              <a:rPr lang="en-US" altLang="zh-CN" sz="1200" dirty="0" smtClean="0">
                <a:sym typeface="+mn-lt"/>
              </a:rPr>
              <a:t>DHCP</a:t>
            </a:r>
            <a:r>
              <a:rPr lang="zh-CN" altLang="en-US" sz="1200" dirty="0" smtClean="0">
                <a:sym typeface="+mn-lt"/>
              </a:rPr>
              <a:t>、</a:t>
            </a:r>
            <a:r>
              <a:rPr lang="en-US" altLang="zh-CN" sz="1200" dirty="0" smtClean="0">
                <a:sym typeface="+mn-lt"/>
              </a:rPr>
              <a:t>NAT</a:t>
            </a:r>
            <a:r>
              <a:rPr lang="zh-CN" altLang="en-US" sz="1200" dirty="0" smtClean="0">
                <a:sym typeface="+mn-lt"/>
              </a:rPr>
              <a:t>等特性；</a:t>
            </a:r>
            <a:endParaRPr lang="en-US" altLang="zh-CN" sz="1200" dirty="0" smtClean="0">
              <a:sym typeface="+mn-lt"/>
            </a:endParaRPr>
          </a:p>
          <a:p>
            <a:pPr lvl="1"/>
            <a:r>
              <a:rPr lang="zh-CN" altLang="en-US" sz="1200" dirty="0" smtClean="0">
                <a:sym typeface="+mn-lt"/>
              </a:rPr>
              <a:t>部署</a:t>
            </a:r>
            <a:r>
              <a:rPr lang="en-US" altLang="zh-CN" sz="1200" dirty="0" smtClean="0">
                <a:sym typeface="+mn-lt"/>
              </a:rPr>
              <a:t>AP</a:t>
            </a:r>
            <a:r>
              <a:rPr lang="zh-CN" altLang="en-US" sz="1200" dirty="0" smtClean="0">
                <a:sym typeface="+mn-lt"/>
              </a:rPr>
              <a:t>：</a:t>
            </a:r>
            <a:r>
              <a:rPr lang="zh-CN" altLang="zh-CN" sz="1200" dirty="0" smtClean="0">
                <a:sym typeface="+mn-lt"/>
              </a:rPr>
              <a:t>仅需要支持无线用户接入，只需要一个有线的</a:t>
            </a:r>
            <a:r>
              <a:rPr lang="en-US" altLang="zh-CN" sz="1200" dirty="0" smtClean="0">
                <a:sym typeface="+mn-lt"/>
              </a:rPr>
              <a:t>Internet</a:t>
            </a:r>
            <a:r>
              <a:rPr lang="zh-CN" altLang="zh-CN" sz="1200" dirty="0" smtClean="0">
                <a:sym typeface="+mn-lt"/>
              </a:rPr>
              <a:t>链路出口</a:t>
            </a:r>
            <a:r>
              <a:rPr lang="zh-CN" altLang="en-US" sz="1200" dirty="0" smtClean="0">
                <a:sym typeface="+mn-lt"/>
              </a:rPr>
              <a:t>；</a:t>
            </a:r>
            <a:endParaRPr lang="en-US" altLang="zh-CN" sz="1200" dirty="0" smtClean="0">
              <a:sym typeface="+mn-lt"/>
            </a:endParaRPr>
          </a:p>
          <a:p>
            <a:pPr lvl="1"/>
            <a:r>
              <a:rPr lang="zh-CN" altLang="en-US" sz="1200" dirty="0" smtClean="0">
                <a:sym typeface="+mn-lt"/>
              </a:rPr>
              <a:t>部署</a:t>
            </a:r>
            <a:r>
              <a:rPr lang="en-US" altLang="zh-CN" sz="1200" dirty="0" smtClean="0">
                <a:sym typeface="+mn-lt"/>
              </a:rPr>
              <a:t>AR</a:t>
            </a:r>
            <a:r>
              <a:rPr lang="zh-CN" altLang="en-US" sz="1200" dirty="0" smtClean="0">
                <a:sym typeface="+mn-lt"/>
              </a:rPr>
              <a:t>：</a:t>
            </a:r>
            <a:r>
              <a:rPr lang="zh-CN" altLang="zh-CN" sz="1200" dirty="0" smtClean="0">
                <a:sym typeface="+mn-lt"/>
              </a:rPr>
              <a:t>需要支持有线终端接入，需要支持多链路上行，特别是需要</a:t>
            </a:r>
            <a:r>
              <a:rPr lang="en-US" altLang="zh-CN" sz="1200" dirty="0" smtClean="0">
                <a:sym typeface="+mn-lt"/>
              </a:rPr>
              <a:t>3G/4G</a:t>
            </a:r>
            <a:r>
              <a:rPr lang="zh-CN" altLang="zh-CN" sz="1200" dirty="0" smtClean="0">
                <a:sym typeface="+mn-lt"/>
              </a:rPr>
              <a:t>备份上行</a:t>
            </a:r>
            <a:r>
              <a:rPr lang="zh-CN" altLang="en-US" sz="1200" dirty="0" smtClean="0">
                <a:sym typeface="+mn-lt"/>
              </a:rPr>
              <a:t>；</a:t>
            </a:r>
            <a:endParaRPr lang="en-US" altLang="zh-CN" sz="1200" dirty="0" smtClean="0">
              <a:sym typeface="+mn-lt"/>
            </a:endParaRPr>
          </a:p>
          <a:p>
            <a:pPr lvl="1"/>
            <a:r>
              <a:rPr lang="zh-CN" altLang="en-US" sz="1200" dirty="0" smtClean="0">
                <a:sym typeface="+mn-lt"/>
              </a:rPr>
              <a:t>部署</a:t>
            </a:r>
            <a:r>
              <a:rPr lang="en-US" altLang="zh-CN" sz="1200" dirty="0" smtClean="0">
                <a:sym typeface="+mn-lt"/>
              </a:rPr>
              <a:t>FW</a:t>
            </a:r>
            <a:r>
              <a:rPr lang="zh-CN" altLang="en-US" sz="1200" dirty="0" smtClean="0">
                <a:sym typeface="+mn-lt"/>
              </a:rPr>
              <a:t>：小型物流、办公、金融等高安全门店，</a:t>
            </a:r>
            <a:r>
              <a:rPr lang="zh-CN" altLang="zh-CN" sz="1200" dirty="0" smtClean="0">
                <a:sym typeface="+mn-lt"/>
              </a:rPr>
              <a:t>需要支持</a:t>
            </a:r>
            <a:r>
              <a:rPr lang="en-US" altLang="zh-CN" sz="1200" dirty="0" smtClean="0">
                <a:sym typeface="+mn-lt"/>
              </a:rPr>
              <a:t>URL</a:t>
            </a:r>
            <a:r>
              <a:rPr lang="zh-CN" altLang="zh-CN" sz="1200" dirty="0" smtClean="0">
                <a:sym typeface="+mn-lt"/>
              </a:rPr>
              <a:t>过滤、安全防御、反病毒等高级安全</a:t>
            </a:r>
            <a:r>
              <a:rPr lang="zh-CN" altLang="en-US" sz="1200" dirty="0" smtClean="0">
                <a:sym typeface="+mn-lt"/>
              </a:rPr>
              <a:t>。</a:t>
            </a:r>
            <a:endParaRPr lang="en-US" altLang="zh-CN" sz="1200" dirty="0" smtClean="0">
              <a:sym typeface="+mn-lt"/>
            </a:endParaRPr>
          </a:p>
          <a:p>
            <a:r>
              <a:rPr lang="zh-CN" altLang="en-US" sz="1400" dirty="0" smtClean="0">
                <a:sym typeface="+mn-lt"/>
              </a:rPr>
              <a:t>方案约束</a:t>
            </a:r>
            <a:endParaRPr lang="en-US" altLang="zh-CN" sz="1400" dirty="0" smtClean="0">
              <a:sym typeface="+mn-lt"/>
            </a:endParaRPr>
          </a:p>
          <a:p>
            <a:pPr lvl="1"/>
            <a:r>
              <a:rPr lang="zh-CN" altLang="en-US" sz="1200" dirty="0" smtClean="0">
                <a:sym typeface="+mn-lt"/>
              </a:rPr>
              <a:t>不支持漫游、负载均衡等无线特性；</a:t>
            </a:r>
            <a:endParaRPr lang="en-US" altLang="zh-CN" sz="1200" dirty="0" smtClean="0">
              <a:sym typeface="+mn-lt"/>
            </a:endParaRPr>
          </a:p>
          <a:p>
            <a:pPr lvl="1"/>
            <a:r>
              <a:rPr lang="en-US" altLang="zh-CN" sz="1200" dirty="0" smtClean="0">
                <a:sym typeface="+mn-lt"/>
              </a:rPr>
              <a:t>AP</a:t>
            </a:r>
            <a:r>
              <a:rPr lang="zh-CN" altLang="en-US" sz="1200" dirty="0" smtClean="0">
                <a:sym typeface="+mn-lt"/>
              </a:rPr>
              <a:t>仅支持一个</a:t>
            </a:r>
            <a:r>
              <a:rPr lang="en-US" altLang="zh-CN" sz="1200" dirty="0" smtClean="0">
                <a:sym typeface="+mn-lt"/>
              </a:rPr>
              <a:t>Internet</a:t>
            </a:r>
            <a:r>
              <a:rPr lang="zh-CN" altLang="en-US" sz="1200" dirty="0" smtClean="0">
                <a:sym typeface="+mn-lt"/>
              </a:rPr>
              <a:t>链路接入；</a:t>
            </a:r>
            <a:endParaRPr lang="en-US" altLang="zh-CN" sz="1200" dirty="0" smtClean="0">
              <a:sym typeface="+mn-lt"/>
            </a:endParaRPr>
          </a:p>
          <a:p>
            <a:pPr lvl="1"/>
            <a:r>
              <a:rPr lang="en-US" altLang="zh-CN" sz="1200" dirty="0" smtClean="0">
                <a:sym typeface="+mn-lt"/>
              </a:rPr>
              <a:t>AP</a:t>
            </a:r>
            <a:r>
              <a:rPr lang="zh-CN" altLang="en-US" sz="1200" dirty="0" smtClean="0">
                <a:sym typeface="+mn-lt"/>
              </a:rPr>
              <a:t>、</a:t>
            </a:r>
            <a:r>
              <a:rPr lang="en-US" altLang="zh-CN" sz="1200" dirty="0" smtClean="0">
                <a:sym typeface="+mn-lt"/>
              </a:rPr>
              <a:t>AR</a:t>
            </a:r>
            <a:r>
              <a:rPr lang="zh-CN" altLang="en-US" sz="1200" dirty="0" smtClean="0">
                <a:sym typeface="+mn-lt"/>
              </a:rPr>
              <a:t>只能提供有线用户接入，不支持有线用户认证；</a:t>
            </a:r>
            <a:endParaRPr lang="en-US" altLang="zh-CN" sz="1200" dirty="0" smtClean="0">
              <a:sym typeface="+mn-lt"/>
            </a:endParaRPr>
          </a:p>
          <a:p>
            <a:pPr lvl="1"/>
            <a:r>
              <a:rPr lang="en-US" altLang="zh-CN" sz="1200" dirty="0" smtClean="0">
                <a:sym typeface="+mn-lt"/>
              </a:rPr>
              <a:t>AR</a:t>
            </a:r>
            <a:r>
              <a:rPr lang="zh-CN" altLang="en-US" sz="1200" dirty="0" smtClean="0">
                <a:sym typeface="+mn-lt"/>
              </a:rPr>
              <a:t>的无线认证仅支持</a:t>
            </a:r>
            <a:r>
              <a:rPr lang="en-US" altLang="zh-CN" sz="1200" dirty="0" smtClean="0">
                <a:sym typeface="+mn-lt"/>
              </a:rPr>
              <a:t>Open/PSK/Portal</a:t>
            </a:r>
            <a:r>
              <a:rPr lang="zh-CN" altLang="en-US" sz="1200" dirty="0" smtClean="0">
                <a:sym typeface="+mn-lt"/>
              </a:rPr>
              <a:t>认证，不支持</a:t>
            </a:r>
            <a:r>
              <a:rPr lang="en-US" altLang="zh-CN" sz="1200" dirty="0" smtClean="0">
                <a:sym typeface="+mn-lt"/>
              </a:rPr>
              <a:t>802.1X</a:t>
            </a:r>
            <a:r>
              <a:rPr lang="zh-CN" altLang="en-US" sz="1200" dirty="0" smtClean="0">
                <a:sym typeface="+mn-lt"/>
              </a:rPr>
              <a:t>、</a:t>
            </a:r>
            <a:r>
              <a:rPr lang="en-US" altLang="zh-CN" sz="1200" dirty="0" smtClean="0">
                <a:sym typeface="+mn-lt"/>
              </a:rPr>
              <a:t>MAC</a:t>
            </a:r>
            <a:r>
              <a:rPr lang="zh-CN" altLang="en-US" sz="1200" dirty="0" smtClean="0">
                <a:sym typeface="+mn-lt"/>
              </a:rPr>
              <a:t>认证；</a:t>
            </a:r>
            <a:r>
              <a:rPr lang="en-US" altLang="zh-CN" sz="1200" dirty="0" smtClean="0">
                <a:sym typeface="+mn-lt"/>
              </a:rPr>
              <a:t>FW</a:t>
            </a:r>
            <a:r>
              <a:rPr lang="zh-CN" altLang="en-US" sz="1200" dirty="0" smtClean="0">
                <a:sym typeface="+mn-lt"/>
              </a:rPr>
              <a:t>提供</a:t>
            </a:r>
            <a:r>
              <a:rPr lang="zh-CN" altLang="zh-CN" sz="1200" dirty="0" smtClean="0">
                <a:sym typeface="+mn-lt"/>
              </a:rPr>
              <a:t>有线用户认证</a:t>
            </a:r>
            <a:r>
              <a:rPr lang="zh-CN" altLang="en-US" sz="1200" dirty="0" smtClean="0">
                <a:sym typeface="+mn-lt"/>
              </a:rPr>
              <a:t>，</a:t>
            </a:r>
            <a:r>
              <a:rPr lang="zh-CN" altLang="zh-CN" sz="1200" dirty="0" smtClean="0">
                <a:sym typeface="+mn-lt"/>
              </a:rPr>
              <a:t>只支持</a:t>
            </a:r>
            <a:r>
              <a:rPr lang="en-US" altLang="zh-CN" sz="1200" dirty="0" smtClean="0">
                <a:sym typeface="+mn-lt"/>
              </a:rPr>
              <a:t>Portal</a:t>
            </a:r>
            <a:r>
              <a:rPr lang="zh-CN" altLang="zh-CN" sz="1200" dirty="0" smtClean="0">
                <a:sym typeface="+mn-lt"/>
              </a:rPr>
              <a:t>认证</a:t>
            </a:r>
            <a:r>
              <a:rPr lang="zh-CN" altLang="en-US" sz="1200" dirty="0" smtClean="0">
                <a:sym typeface="+mn-lt"/>
              </a:rPr>
              <a:t>；</a:t>
            </a:r>
            <a:endParaRPr lang="en-US" altLang="zh-CN" sz="1200" dirty="0" smtClean="0">
              <a:sym typeface="+mn-lt"/>
            </a:endParaRPr>
          </a:p>
          <a:p>
            <a:pPr lvl="1"/>
            <a:r>
              <a:rPr lang="zh-CN" altLang="en-US" sz="1200" dirty="0" smtClean="0">
                <a:sym typeface="+mn-lt"/>
              </a:rPr>
              <a:t>目前</a:t>
            </a:r>
            <a:r>
              <a:rPr lang="en-US" altLang="zh-CN" sz="1200" dirty="0" smtClean="0">
                <a:sym typeface="+mn-lt"/>
              </a:rPr>
              <a:t>FW</a:t>
            </a:r>
            <a:r>
              <a:rPr lang="zh-CN" altLang="en-US" sz="1200" dirty="0" smtClean="0">
                <a:sym typeface="+mn-lt"/>
              </a:rPr>
              <a:t>无款型支持</a:t>
            </a:r>
            <a:r>
              <a:rPr lang="en-US" altLang="zh-CN" sz="1200" dirty="0" smtClean="0">
                <a:sym typeface="+mn-lt"/>
              </a:rPr>
              <a:t>Wi-Fi</a:t>
            </a:r>
            <a:r>
              <a:rPr lang="zh-CN" altLang="en-US" sz="1200" dirty="0" smtClean="0">
                <a:sym typeface="+mn-lt"/>
              </a:rPr>
              <a:t>、</a:t>
            </a:r>
            <a:r>
              <a:rPr lang="en-US" altLang="zh-CN" sz="1200" dirty="0" smtClean="0">
                <a:sym typeface="+mn-lt"/>
              </a:rPr>
              <a:t>LTE</a:t>
            </a:r>
            <a:r>
              <a:rPr lang="zh-CN" altLang="en-US" sz="1200" dirty="0" smtClean="0">
                <a:sym typeface="+mn-lt"/>
              </a:rPr>
              <a:t>，实际部署时不推荐用。</a:t>
            </a:r>
            <a:endParaRPr lang="en-US" altLang="zh-CN" sz="1200" dirty="0" smtClean="0">
              <a:sym typeface="+mn-lt"/>
            </a:endParaRPr>
          </a:p>
        </p:txBody>
      </p:sp>
      <p:cxnSp>
        <p:nvCxnSpPr>
          <p:cNvPr id="4" name="直接连接符 3"/>
          <p:cNvCxnSpPr/>
          <p:nvPr/>
        </p:nvCxnSpPr>
        <p:spPr bwMode="gray">
          <a:xfrm>
            <a:off x="2313914" y="3831821"/>
            <a:ext cx="0" cy="91794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任意多边形 4"/>
          <p:cNvSpPr/>
          <p:nvPr/>
        </p:nvSpPr>
        <p:spPr bwMode="gray">
          <a:xfrm>
            <a:off x="1948023" y="3469942"/>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dirty="0" smtClean="0">
                <a:solidFill>
                  <a:schemeClr val="bg1">
                    <a:lumMod val="50000"/>
                  </a:schemeClr>
                </a:solidFill>
                <a:cs typeface="+mn-ea"/>
                <a:sym typeface="+mn-lt"/>
              </a:rPr>
              <a:t>Internet</a:t>
            </a:r>
            <a:endParaRPr lang="zh-CN" altLang="en-US" sz="1200" dirty="0">
              <a:solidFill>
                <a:schemeClr val="bg1">
                  <a:lumMod val="50000"/>
                </a:schemeClr>
              </a:solidFill>
              <a:cs typeface="+mn-ea"/>
              <a:sym typeface="+mn-lt"/>
            </a:endParaRPr>
          </a:p>
        </p:txBody>
      </p:sp>
      <p:sp>
        <p:nvSpPr>
          <p:cNvPr id="6" name="文本框 5"/>
          <p:cNvSpPr txBox="1"/>
          <p:nvPr/>
        </p:nvSpPr>
        <p:spPr bwMode="gray">
          <a:xfrm>
            <a:off x="2099682" y="2992827"/>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pic>
        <p:nvPicPr>
          <p:cNvPr id="7" name="图片 6" descr="云AP蓝.png"/>
          <p:cNvPicPr>
            <a:picLocks noChangeAspect="1"/>
          </p:cNvPicPr>
          <p:nvPr/>
        </p:nvPicPr>
        <p:blipFill>
          <a:blip r:embed="rId3" cstate="print"/>
          <a:stretch>
            <a:fillRect/>
          </a:stretch>
        </p:blipFill>
        <p:spPr bwMode="gray">
          <a:xfrm>
            <a:off x="2068440" y="4430455"/>
            <a:ext cx="490541" cy="401352"/>
          </a:xfrm>
          <a:prstGeom prst="rect">
            <a:avLst/>
          </a:prstGeom>
        </p:spPr>
      </p:pic>
      <p:sp>
        <p:nvSpPr>
          <p:cNvPr id="11" name="任意多边形 10"/>
          <p:cNvSpPr/>
          <p:nvPr/>
        </p:nvSpPr>
        <p:spPr bwMode="gray">
          <a:xfrm>
            <a:off x="3152849" y="3469942"/>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sp>
        <p:nvSpPr>
          <p:cNvPr id="12" name="文本框 11"/>
          <p:cNvSpPr txBox="1"/>
          <p:nvPr/>
        </p:nvSpPr>
        <p:spPr bwMode="gray">
          <a:xfrm>
            <a:off x="3304508" y="2992827"/>
            <a:ext cx="410690" cy="307777"/>
          </a:xfrm>
          <a:prstGeom prst="rect">
            <a:avLst/>
          </a:prstGeom>
          <a:noFill/>
        </p:spPr>
        <p:txBody>
          <a:bodyPr wrap="none" rtlCol="0">
            <a:spAutoFit/>
          </a:bodyPr>
          <a:lstStyle/>
          <a:p>
            <a:r>
              <a:rPr lang="en-US" altLang="zh-CN" sz="1400" smtClean="0">
                <a:cs typeface="+mn-ea"/>
                <a:sym typeface="+mn-lt"/>
              </a:rPr>
              <a:t>AR</a:t>
            </a:r>
            <a:endParaRPr lang="zh-CN" altLang="en-US" sz="1400">
              <a:cs typeface="+mn-ea"/>
              <a:sym typeface="+mn-lt"/>
            </a:endParaRPr>
          </a:p>
        </p:txBody>
      </p:sp>
      <p:sp>
        <p:nvSpPr>
          <p:cNvPr id="15" name="任意多边形 14"/>
          <p:cNvSpPr/>
          <p:nvPr/>
        </p:nvSpPr>
        <p:spPr bwMode="gray">
          <a:xfrm>
            <a:off x="4562528" y="3469942"/>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sp>
        <p:nvSpPr>
          <p:cNvPr id="16" name="文本框 15"/>
          <p:cNvSpPr txBox="1"/>
          <p:nvPr/>
        </p:nvSpPr>
        <p:spPr bwMode="gray">
          <a:xfrm>
            <a:off x="4714187" y="2992827"/>
            <a:ext cx="453970" cy="307777"/>
          </a:xfrm>
          <a:prstGeom prst="rect">
            <a:avLst/>
          </a:prstGeom>
          <a:noFill/>
        </p:spPr>
        <p:txBody>
          <a:bodyPr wrap="none" rtlCol="0">
            <a:spAutoFit/>
          </a:bodyPr>
          <a:lstStyle/>
          <a:p>
            <a:r>
              <a:rPr lang="en-US" altLang="zh-CN" sz="1400" smtClean="0">
                <a:cs typeface="+mn-ea"/>
                <a:sym typeface="+mn-lt"/>
              </a:rPr>
              <a:t>FW</a:t>
            </a:r>
            <a:endParaRPr lang="zh-CN" altLang="en-US" sz="1400">
              <a:cs typeface="+mn-ea"/>
              <a:sym typeface="+mn-lt"/>
            </a:endParaRPr>
          </a:p>
        </p:txBody>
      </p:sp>
      <p:pic>
        <p:nvPicPr>
          <p:cNvPr id="1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3273285" y="4430305"/>
            <a:ext cx="490909" cy="401652"/>
          </a:xfrm>
          <a:prstGeom prst="rect">
            <a:avLst/>
          </a:prstGeom>
          <a:noFill/>
        </p:spPr>
      </p:pic>
      <p:pic>
        <p:nvPicPr>
          <p:cNvPr id="18"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681290" y="4430305"/>
            <a:ext cx="490909" cy="401653"/>
          </a:xfrm>
          <a:prstGeom prst="rect">
            <a:avLst/>
          </a:prstGeom>
        </p:spPr>
      </p:pic>
      <p:sp>
        <p:nvSpPr>
          <p:cNvPr id="27" name="文本框 26"/>
          <p:cNvSpPr txBox="1"/>
          <p:nvPr/>
        </p:nvSpPr>
        <p:spPr bwMode="gray">
          <a:xfrm>
            <a:off x="696112" y="1977670"/>
            <a:ext cx="902812" cy="307777"/>
          </a:xfrm>
          <a:prstGeom prst="rect">
            <a:avLst/>
          </a:prstGeom>
          <a:noFill/>
        </p:spPr>
        <p:txBody>
          <a:bodyPr wrap="none" rtlCol="0">
            <a:spAutoFit/>
          </a:bodyPr>
          <a:lstStyle/>
          <a:p>
            <a:pPr algn="r"/>
            <a:r>
              <a:rPr lang="zh-CN" altLang="en-US" sz="1400" smtClean="0">
                <a:cs typeface="+mn-ea"/>
                <a:sym typeface="+mn-lt"/>
              </a:rPr>
              <a:t>网络规模</a:t>
            </a:r>
            <a:endParaRPr lang="zh-CN" altLang="en-US" sz="1400">
              <a:cs typeface="+mn-ea"/>
              <a:sym typeface="+mn-lt"/>
            </a:endParaRPr>
          </a:p>
        </p:txBody>
      </p:sp>
      <p:sp>
        <p:nvSpPr>
          <p:cNvPr id="28" name="文本框 27"/>
          <p:cNvSpPr txBox="1"/>
          <p:nvPr/>
        </p:nvSpPr>
        <p:spPr bwMode="gray">
          <a:xfrm>
            <a:off x="696112" y="2992827"/>
            <a:ext cx="902812" cy="307777"/>
          </a:xfrm>
          <a:prstGeom prst="rect">
            <a:avLst/>
          </a:prstGeom>
          <a:noFill/>
        </p:spPr>
        <p:txBody>
          <a:bodyPr wrap="none" rtlCol="0">
            <a:spAutoFit/>
          </a:bodyPr>
          <a:lstStyle/>
          <a:p>
            <a:pPr algn="r"/>
            <a:r>
              <a:rPr lang="zh-CN" altLang="en-US" sz="1400">
                <a:cs typeface="+mn-ea"/>
                <a:sym typeface="+mn-lt"/>
              </a:rPr>
              <a:t>组网类型</a:t>
            </a:r>
          </a:p>
        </p:txBody>
      </p:sp>
      <p:sp>
        <p:nvSpPr>
          <p:cNvPr id="30" name="文本框 29"/>
          <p:cNvSpPr txBox="1"/>
          <p:nvPr/>
        </p:nvSpPr>
        <p:spPr bwMode="gray">
          <a:xfrm>
            <a:off x="2664443" y="1977670"/>
            <a:ext cx="2233305" cy="307777"/>
          </a:xfrm>
          <a:prstGeom prst="rect">
            <a:avLst/>
          </a:prstGeom>
          <a:noFill/>
        </p:spPr>
        <p:txBody>
          <a:bodyPr wrap="none" rtlCol="0">
            <a:spAutoFit/>
          </a:bodyPr>
          <a:lstStyle/>
          <a:p>
            <a:r>
              <a:rPr lang="zh-CN" altLang="en-US" sz="1400" dirty="0">
                <a:cs typeface="+mn-ea"/>
                <a:sym typeface="+mn-lt"/>
              </a:rPr>
              <a:t>终端</a:t>
            </a:r>
            <a:r>
              <a:rPr lang="en-US" altLang="zh-CN" sz="1400" dirty="0">
                <a:cs typeface="+mn-ea"/>
                <a:sym typeface="+mn-lt"/>
              </a:rPr>
              <a:t>&lt;</a:t>
            </a:r>
            <a:r>
              <a:rPr lang="en-US" altLang="zh-CN" sz="1400" dirty="0" smtClean="0">
                <a:cs typeface="+mn-ea"/>
                <a:sym typeface="+mn-lt"/>
              </a:rPr>
              <a:t>50</a:t>
            </a:r>
            <a:r>
              <a:rPr lang="zh-CN" altLang="en-US" sz="1400" dirty="0" smtClean="0">
                <a:cs typeface="+mn-ea"/>
                <a:sym typeface="+mn-lt"/>
              </a:rPr>
              <a:t>，面积</a:t>
            </a:r>
            <a:r>
              <a:rPr lang="en-US" altLang="zh-CN" sz="1400" dirty="0">
                <a:cs typeface="+mn-ea"/>
                <a:sym typeface="+mn-lt"/>
              </a:rPr>
              <a:t>&lt;50</a:t>
            </a:r>
            <a:r>
              <a:rPr lang="zh-CN" altLang="en-US" sz="1400" dirty="0">
                <a:cs typeface="+mn-ea"/>
                <a:sym typeface="+mn-lt"/>
              </a:rPr>
              <a:t>平方米</a:t>
            </a:r>
          </a:p>
        </p:txBody>
      </p:sp>
      <p:sp>
        <p:nvSpPr>
          <p:cNvPr id="31" name="Freeform 72"/>
          <p:cNvSpPr>
            <a:spLocks/>
          </p:cNvSpPr>
          <p:nvPr/>
        </p:nvSpPr>
        <p:spPr bwMode="gray">
          <a:xfrm rot="4483926">
            <a:off x="3797971" y="4014690"/>
            <a:ext cx="239764" cy="43800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358"/>
                </a:moveTo>
                <a:lnTo>
                  <a:pt x="52" y="126"/>
                </a:lnTo>
                <a:lnTo>
                  <a:pt x="145" y="139"/>
                </a:lnTo>
                <a:lnTo>
                  <a:pt x="0" y="0"/>
                </a:lnTo>
                <a:lnTo>
                  <a:pt x="283" y="192"/>
                </a:lnTo>
                <a:lnTo>
                  <a:pt x="164" y="172"/>
                </a:lnTo>
                <a:lnTo>
                  <a:pt x="336" y="358"/>
                </a:lnTo>
                <a:close/>
              </a:path>
            </a:pathLst>
          </a:custGeom>
          <a:solidFill>
            <a:schemeClr val="bg1">
              <a:lumMod val="65000"/>
            </a:schemeClr>
          </a:solidFill>
          <a:ln w="9525">
            <a:solidFill>
              <a:schemeClr val="bg1">
                <a:lumMod val="65000"/>
              </a:schemeClr>
            </a:solidFill>
            <a:round/>
            <a:headEnd/>
            <a:tailEnd/>
          </a:ln>
        </p:spPr>
        <p:txBody>
          <a:bodyPr lIns="45667" tIns="22832" rIns="45667" bIns="22832"/>
          <a:lstStyle/>
          <a:p>
            <a:pPr algn="ctr"/>
            <a:endParaRPr lang="zh-CN" altLang="en-US" sz="2000" dirty="0">
              <a:cs typeface="+mn-ea"/>
              <a:sym typeface="+mn-lt"/>
            </a:endParaRPr>
          </a:p>
        </p:txBody>
      </p:sp>
      <p:sp>
        <p:nvSpPr>
          <p:cNvPr id="32" name="文本框 31"/>
          <p:cNvSpPr txBox="1"/>
          <p:nvPr/>
        </p:nvSpPr>
        <p:spPr bwMode="gray">
          <a:xfrm>
            <a:off x="3752712" y="4277952"/>
            <a:ext cx="635110" cy="276999"/>
          </a:xfrm>
          <a:prstGeom prst="rect">
            <a:avLst/>
          </a:prstGeom>
          <a:noFill/>
        </p:spPr>
        <p:txBody>
          <a:bodyPr wrap="none" rtlCol="0">
            <a:spAutoFit/>
          </a:bodyPr>
          <a:lstStyle/>
          <a:p>
            <a:r>
              <a:rPr lang="en-US" altLang="zh-CN" sz="1200" dirty="0" smtClean="0">
                <a:cs typeface="+mn-ea"/>
                <a:sym typeface="+mn-lt"/>
              </a:rPr>
              <a:t>3G/4G</a:t>
            </a:r>
            <a:endParaRPr lang="zh-CN" altLang="en-US" sz="1200" dirty="0">
              <a:cs typeface="+mn-ea"/>
              <a:sym typeface="+mn-lt"/>
            </a:endParaRPr>
          </a:p>
        </p:txBody>
      </p:sp>
    </p:spTree>
    <p:extLst>
      <p:ext uri="{BB962C8B-B14F-4D97-AF65-F5344CB8AC3E}">
        <p14:creationId xmlns:p14="http://schemas.microsoft.com/office/powerpoint/2010/main" val="1869885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gray">
          <a:xfrm>
            <a:off x="575345" y="1872942"/>
            <a:ext cx="5420064" cy="4055156"/>
          </a:xfrm>
          <a:prstGeom prst="roundRect">
            <a:avLst>
              <a:gd name="adj" fmla="val 0"/>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grpSp>
        <p:nvGrpSpPr>
          <p:cNvPr id="39" name="Group 161"/>
          <p:cNvGrpSpPr/>
          <p:nvPr/>
        </p:nvGrpSpPr>
        <p:grpSpPr bwMode="gray">
          <a:xfrm rot="10800000">
            <a:off x="1398737" y="3643031"/>
            <a:ext cx="1560982" cy="865959"/>
            <a:chOff x="-1233037" y="914446"/>
            <a:chExt cx="1573823" cy="778776"/>
          </a:xfrm>
        </p:grpSpPr>
        <p:cxnSp>
          <p:nvCxnSpPr>
            <p:cNvPr id="40"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圆角矩形 25"/>
          <p:cNvSpPr/>
          <p:nvPr/>
        </p:nvSpPr>
        <p:spPr bwMode="gray">
          <a:xfrm>
            <a:off x="568878" y="1449677"/>
            <a:ext cx="5420064" cy="441720"/>
          </a:xfrm>
          <a:prstGeom prst="roundRect">
            <a:avLst>
              <a:gd name="adj" fmla="val 0"/>
            </a:avLst>
          </a:prstGeom>
          <a:solidFill>
            <a:schemeClr val="bg1">
              <a:lumMod val="8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2" name="标题 1"/>
          <p:cNvSpPr>
            <a:spLocks noGrp="1"/>
          </p:cNvSpPr>
          <p:nvPr>
            <p:ph type="title"/>
          </p:nvPr>
        </p:nvSpPr>
        <p:spPr bwMode="gray"/>
        <p:txBody>
          <a:bodyPr/>
          <a:lstStyle/>
          <a:p>
            <a:r>
              <a:rPr lang="zh-CN" altLang="en-US" smtClean="0">
                <a:sym typeface="+mn-lt"/>
              </a:rPr>
              <a:t>典型组网方案：出口网关</a:t>
            </a:r>
            <a:r>
              <a:rPr lang="en-US" altLang="zh-CN" smtClean="0">
                <a:sym typeface="+mn-lt"/>
              </a:rPr>
              <a:t>+AP</a:t>
            </a:r>
            <a:r>
              <a:rPr lang="zh-CN" altLang="en-US" smtClean="0">
                <a:sym typeface="+mn-lt"/>
              </a:rPr>
              <a:t>组网</a:t>
            </a:r>
            <a:endParaRPr lang="zh-CN" altLang="en-US">
              <a:sym typeface="+mn-lt"/>
            </a:endParaRPr>
          </a:p>
        </p:txBody>
      </p:sp>
      <p:sp>
        <p:nvSpPr>
          <p:cNvPr id="4" name="文本占位符 3"/>
          <p:cNvSpPr>
            <a:spLocks noGrp="1"/>
          </p:cNvSpPr>
          <p:nvPr>
            <p:ph type="body" sz="quarter" idx="10"/>
          </p:nvPr>
        </p:nvSpPr>
        <p:spPr bwMode="gray">
          <a:xfrm>
            <a:off x="6095999" y="1285592"/>
            <a:ext cx="5653087" cy="4641963"/>
          </a:xfrm>
        </p:spPr>
        <p:txBody>
          <a:bodyPr/>
          <a:lstStyle/>
          <a:p>
            <a:r>
              <a:rPr lang="zh-CN" altLang="en-US" sz="1400" dirty="0" smtClean="0">
                <a:sym typeface="+mn-lt"/>
              </a:rPr>
              <a:t>方案概述</a:t>
            </a:r>
          </a:p>
          <a:p>
            <a:pPr lvl="1"/>
            <a:r>
              <a:rPr lang="zh-CN" altLang="en-US" sz="1200" dirty="0" smtClean="0">
                <a:sym typeface="+mn-lt"/>
              </a:rPr>
              <a:t>适用于中小型的服装门店、商超等；</a:t>
            </a:r>
          </a:p>
          <a:p>
            <a:pPr lvl="1"/>
            <a:r>
              <a:rPr lang="zh-CN" altLang="en-US" sz="1200" dirty="0" smtClean="0">
                <a:sym typeface="+mn-lt"/>
              </a:rPr>
              <a:t>出口网关提供</a:t>
            </a:r>
            <a:r>
              <a:rPr lang="en-US" altLang="zh-CN" sz="1200" dirty="0" err="1" smtClean="0">
                <a:sym typeface="+mn-lt"/>
              </a:rPr>
              <a:t>PPPoE</a:t>
            </a:r>
            <a:r>
              <a:rPr lang="zh-CN" altLang="en-US" sz="1200" dirty="0" smtClean="0">
                <a:sym typeface="+mn-lt"/>
              </a:rPr>
              <a:t>、</a:t>
            </a:r>
            <a:r>
              <a:rPr lang="en-US" altLang="zh-CN" sz="1200" dirty="0" smtClean="0">
                <a:sym typeface="+mn-lt"/>
              </a:rPr>
              <a:t>DHCP</a:t>
            </a:r>
            <a:r>
              <a:rPr lang="zh-CN" altLang="en-US" sz="1200" dirty="0" smtClean="0">
                <a:sym typeface="+mn-lt"/>
              </a:rPr>
              <a:t>、</a:t>
            </a:r>
            <a:r>
              <a:rPr lang="en-US" altLang="zh-CN" sz="1200" dirty="0" smtClean="0">
                <a:sym typeface="+mn-lt"/>
              </a:rPr>
              <a:t>NAT</a:t>
            </a:r>
            <a:r>
              <a:rPr lang="zh-CN" altLang="en-US" sz="1200" dirty="0" smtClean="0">
                <a:sym typeface="+mn-lt"/>
              </a:rPr>
              <a:t>、</a:t>
            </a:r>
            <a:r>
              <a:rPr lang="en-US" altLang="zh-CN" sz="1200" dirty="0" smtClean="0">
                <a:sym typeface="+mn-lt"/>
              </a:rPr>
              <a:t>LTE</a:t>
            </a:r>
            <a:r>
              <a:rPr lang="zh-CN" altLang="en-US" sz="1200" dirty="0" smtClean="0">
                <a:sym typeface="+mn-lt"/>
              </a:rPr>
              <a:t>等出口特性；</a:t>
            </a:r>
          </a:p>
          <a:p>
            <a:pPr lvl="1"/>
            <a:r>
              <a:rPr lang="zh-CN" altLang="en-US" sz="1200" dirty="0" smtClean="0">
                <a:sym typeface="+mn-lt"/>
              </a:rPr>
              <a:t>支持多</a:t>
            </a:r>
            <a:r>
              <a:rPr lang="en-US" altLang="zh-CN" sz="1200" dirty="0" smtClean="0">
                <a:sym typeface="+mn-lt"/>
              </a:rPr>
              <a:t>AP</a:t>
            </a:r>
            <a:r>
              <a:rPr lang="zh-CN" altLang="en-US" sz="1200" dirty="0" smtClean="0">
                <a:sym typeface="+mn-lt"/>
              </a:rPr>
              <a:t>连续覆盖，支持多链路上行，需要</a:t>
            </a:r>
            <a:r>
              <a:rPr lang="en-US" altLang="zh-CN" sz="1200" dirty="0" smtClean="0">
                <a:sym typeface="+mn-lt"/>
              </a:rPr>
              <a:t>3G/4G</a:t>
            </a:r>
            <a:r>
              <a:rPr lang="zh-CN" altLang="en-US" sz="1200" dirty="0" smtClean="0">
                <a:sym typeface="+mn-lt"/>
              </a:rPr>
              <a:t>备份上行；</a:t>
            </a:r>
          </a:p>
          <a:p>
            <a:pPr lvl="1"/>
            <a:r>
              <a:rPr lang="en-US" altLang="zh-CN" sz="1200" dirty="0" smtClean="0">
                <a:sym typeface="+mn-lt"/>
              </a:rPr>
              <a:t>AP</a:t>
            </a:r>
            <a:r>
              <a:rPr lang="zh-CN" altLang="en-US" sz="1200" dirty="0" smtClean="0">
                <a:sym typeface="+mn-lt"/>
              </a:rPr>
              <a:t>支持</a:t>
            </a:r>
            <a:r>
              <a:rPr lang="en-US" altLang="zh-CN" sz="1200" dirty="0" smtClean="0">
                <a:sym typeface="+mn-lt"/>
              </a:rPr>
              <a:t>Mesh</a:t>
            </a:r>
            <a:r>
              <a:rPr lang="zh-CN" altLang="en-US" sz="1200" dirty="0" smtClean="0">
                <a:sym typeface="+mn-lt"/>
              </a:rPr>
              <a:t>互联；</a:t>
            </a:r>
          </a:p>
          <a:p>
            <a:pPr lvl="1"/>
            <a:r>
              <a:rPr lang="zh-CN" altLang="en-US" sz="1200" dirty="0" smtClean="0">
                <a:sym typeface="+mn-lt"/>
              </a:rPr>
              <a:t>高安全场景，需要部署</a:t>
            </a:r>
            <a:r>
              <a:rPr lang="en-US" altLang="zh-CN" sz="1200" dirty="0" smtClean="0">
                <a:sym typeface="+mn-lt"/>
              </a:rPr>
              <a:t>URL</a:t>
            </a:r>
            <a:r>
              <a:rPr lang="zh-CN" altLang="en-US" sz="1200" dirty="0" smtClean="0">
                <a:sym typeface="+mn-lt"/>
              </a:rPr>
              <a:t>过滤、安全防御、</a:t>
            </a:r>
            <a:r>
              <a:rPr lang="en-US" altLang="zh-CN" sz="1200" dirty="0" smtClean="0">
                <a:sym typeface="+mn-lt"/>
              </a:rPr>
              <a:t>AV</a:t>
            </a:r>
            <a:r>
              <a:rPr lang="zh-CN" altLang="en-US" sz="1200" dirty="0" smtClean="0">
                <a:sym typeface="+mn-lt"/>
              </a:rPr>
              <a:t>反病毒等高级特性，出口需要部署</a:t>
            </a:r>
            <a:r>
              <a:rPr lang="en-US" altLang="zh-CN" sz="1200" dirty="0" smtClean="0">
                <a:sym typeface="+mn-lt"/>
              </a:rPr>
              <a:t>FW</a:t>
            </a:r>
            <a:r>
              <a:rPr lang="zh-CN" altLang="en-US" sz="1200" dirty="0" smtClean="0">
                <a:sym typeface="+mn-lt"/>
              </a:rPr>
              <a:t>设备。</a:t>
            </a:r>
          </a:p>
          <a:p>
            <a:r>
              <a:rPr lang="zh-CN" altLang="en-US" sz="1400" dirty="0" smtClean="0">
                <a:sym typeface="+mn-lt"/>
              </a:rPr>
              <a:t>方案约束</a:t>
            </a:r>
          </a:p>
          <a:p>
            <a:pPr lvl="1"/>
            <a:r>
              <a:rPr lang="en-US" altLang="zh-CN" sz="1200" dirty="0" smtClean="0">
                <a:sym typeface="+mn-lt"/>
              </a:rPr>
              <a:t>AP</a:t>
            </a:r>
            <a:r>
              <a:rPr lang="zh-CN" altLang="en-US" sz="1200" dirty="0" smtClean="0">
                <a:sym typeface="+mn-lt"/>
              </a:rPr>
              <a:t>、</a:t>
            </a:r>
            <a:r>
              <a:rPr lang="en-US" altLang="zh-CN" sz="1200" dirty="0" smtClean="0">
                <a:sym typeface="+mn-lt"/>
              </a:rPr>
              <a:t>AR</a:t>
            </a:r>
            <a:r>
              <a:rPr lang="zh-CN" altLang="en-US" sz="1200" dirty="0" smtClean="0">
                <a:sym typeface="+mn-lt"/>
              </a:rPr>
              <a:t>只能提供有线用户接入，不支持有线用户认证；</a:t>
            </a:r>
          </a:p>
          <a:p>
            <a:pPr lvl="1"/>
            <a:r>
              <a:rPr lang="en-US" altLang="zh-CN" sz="1200" dirty="0" smtClean="0">
                <a:sym typeface="+mn-lt"/>
              </a:rPr>
              <a:t>FW</a:t>
            </a:r>
            <a:r>
              <a:rPr lang="zh-CN" altLang="en-US" sz="1200" dirty="0" smtClean="0">
                <a:sym typeface="+mn-lt"/>
              </a:rPr>
              <a:t>提供有线用户认证，只支持</a:t>
            </a:r>
            <a:r>
              <a:rPr lang="en-US" altLang="zh-CN" sz="1200" dirty="0" smtClean="0">
                <a:sym typeface="+mn-lt"/>
              </a:rPr>
              <a:t>Portal</a:t>
            </a:r>
            <a:r>
              <a:rPr lang="zh-CN" altLang="en-US" sz="1200" dirty="0" smtClean="0">
                <a:sym typeface="+mn-lt"/>
              </a:rPr>
              <a:t>认证；</a:t>
            </a:r>
          </a:p>
          <a:p>
            <a:pPr lvl="1"/>
            <a:r>
              <a:rPr lang="zh-CN" altLang="en-US" sz="1200" dirty="0" smtClean="0">
                <a:sym typeface="+mn-lt"/>
              </a:rPr>
              <a:t>如果</a:t>
            </a:r>
            <a:r>
              <a:rPr lang="en-US" altLang="zh-CN" sz="1200" dirty="0" smtClean="0">
                <a:sym typeface="+mn-lt"/>
              </a:rPr>
              <a:t>AR/FW</a:t>
            </a:r>
            <a:r>
              <a:rPr lang="zh-CN" altLang="en-US" sz="1200" dirty="0" smtClean="0">
                <a:sym typeface="+mn-lt"/>
              </a:rPr>
              <a:t>不支持</a:t>
            </a:r>
            <a:r>
              <a:rPr lang="en-US" altLang="zh-CN" sz="1200" dirty="0" err="1" smtClean="0">
                <a:sym typeface="+mn-lt"/>
              </a:rPr>
              <a:t>PoE</a:t>
            </a:r>
            <a:r>
              <a:rPr lang="zh-CN" altLang="en-US" sz="1200" dirty="0" smtClean="0">
                <a:sym typeface="+mn-lt"/>
              </a:rPr>
              <a:t>供电，则</a:t>
            </a:r>
            <a:r>
              <a:rPr lang="en-US" altLang="zh-CN" sz="1200" dirty="0" smtClean="0">
                <a:sym typeface="+mn-lt"/>
              </a:rPr>
              <a:t>AP</a:t>
            </a:r>
            <a:r>
              <a:rPr lang="zh-CN" altLang="en-US" sz="1200" dirty="0" smtClean="0">
                <a:sym typeface="+mn-lt"/>
              </a:rPr>
              <a:t>可以使用外置的</a:t>
            </a:r>
            <a:r>
              <a:rPr lang="en-US" altLang="zh-CN" sz="1200" dirty="0" err="1" smtClean="0">
                <a:sym typeface="+mn-lt"/>
              </a:rPr>
              <a:t>PoE</a:t>
            </a:r>
            <a:r>
              <a:rPr lang="zh-CN" altLang="en-US" sz="1200" dirty="0" smtClean="0">
                <a:sym typeface="+mn-lt"/>
              </a:rPr>
              <a:t>电源适配器。</a:t>
            </a:r>
          </a:p>
          <a:p>
            <a:endParaRPr lang="zh-CN" altLang="en-US" sz="1400" dirty="0"/>
          </a:p>
        </p:txBody>
      </p:sp>
      <p:sp>
        <p:nvSpPr>
          <p:cNvPr id="6" name="文本框 5"/>
          <p:cNvSpPr txBox="1"/>
          <p:nvPr/>
        </p:nvSpPr>
        <p:spPr bwMode="gray">
          <a:xfrm>
            <a:off x="1808680" y="2054538"/>
            <a:ext cx="734496" cy="307777"/>
          </a:xfrm>
          <a:prstGeom prst="rect">
            <a:avLst/>
          </a:prstGeom>
          <a:noFill/>
        </p:spPr>
        <p:txBody>
          <a:bodyPr wrap="none" rtlCol="0">
            <a:spAutoFit/>
          </a:bodyPr>
          <a:lstStyle/>
          <a:p>
            <a:r>
              <a:rPr lang="en-US" altLang="zh-CN" sz="1400" dirty="0">
                <a:cs typeface="+mn-ea"/>
                <a:sym typeface="+mn-lt"/>
              </a:rPr>
              <a:t>AR+AP</a:t>
            </a:r>
            <a:endParaRPr lang="zh-CN" altLang="en-US" sz="1400" dirty="0">
              <a:cs typeface="+mn-ea"/>
              <a:sym typeface="+mn-lt"/>
            </a:endParaRPr>
          </a:p>
        </p:txBody>
      </p:sp>
      <p:sp>
        <p:nvSpPr>
          <p:cNvPr id="16" name="文本框 15"/>
          <p:cNvSpPr txBox="1"/>
          <p:nvPr/>
        </p:nvSpPr>
        <p:spPr bwMode="gray">
          <a:xfrm>
            <a:off x="4329107" y="2054538"/>
            <a:ext cx="777777" cy="307777"/>
          </a:xfrm>
          <a:prstGeom prst="rect">
            <a:avLst/>
          </a:prstGeom>
          <a:noFill/>
        </p:spPr>
        <p:txBody>
          <a:bodyPr wrap="none" rtlCol="0">
            <a:spAutoFit/>
          </a:bodyPr>
          <a:lstStyle/>
          <a:p>
            <a:r>
              <a:rPr lang="en-US" altLang="zh-CN" sz="1400">
                <a:cs typeface="+mn-ea"/>
                <a:sym typeface="+mn-lt"/>
              </a:rPr>
              <a:t>FW+AP</a:t>
            </a:r>
          </a:p>
        </p:txBody>
      </p:sp>
      <p:sp>
        <p:nvSpPr>
          <p:cNvPr id="27" name="文本框 26"/>
          <p:cNvSpPr txBox="1"/>
          <p:nvPr/>
        </p:nvSpPr>
        <p:spPr bwMode="gray">
          <a:xfrm>
            <a:off x="541446" y="1507421"/>
            <a:ext cx="902812" cy="307777"/>
          </a:xfrm>
          <a:prstGeom prst="rect">
            <a:avLst/>
          </a:prstGeom>
          <a:noFill/>
        </p:spPr>
        <p:txBody>
          <a:bodyPr wrap="none" rtlCol="0">
            <a:spAutoFit/>
          </a:bodyPr>
          <a:lstStyle/>
          <a:p>
            <a:pPr algn="r"/>
            <a:r>
              <a:rPr lang="zh-CN" altLang="en-US" sz="1400">
                <a:cs typeface="+mn-ea"/>
                <a:sym typeface="+mn-lt"/>
              </a:rPr>
              <a:t>网络规模</a:t>
            </a:r>
          </a:p>
        </p:txBody>
      </p:sp>
      <p:sp>
        <p:nvSpPr>
          <p:cNvPr id="28" name="文本框 27"/>
          <p:cNvSpPr txBox="1"/>
          <p:nvPr/>
        </p:nvSpPr>
        <p:spPr bwMode="gray">
          <a:xfrm>
            <a:off x="541446" y="2054538"/>
            <a:ext cx="902812" cy="307777"/>
          </a:xfrm>
          <a:prstGeom prst="rect">
            <a:avLst/>
          </a:prstGeom>
          <a:noFill/>
        </p:spPr>
        <p:txBody>
          <a:bodyPr wrap="none" rtlCol="0">
            <a:spAutoFit/>
          </a:bodyPr>
          <a:lstStyle/>
          <a:p>
            <a:pPr algn="r"/>
            <a:r>
              <a:rPr lang="zh-CN" altLang="en-US" sz="1400">
                <a:cs typeface="+mn-ea"/>
                <a:sym typeface="+mn-lt"/>
              </a:rPr>
              <a:t>组网类型</a:t>
            </a:r>
          </a:p>
        </p:txBody>
      </p:sp>
      <p:sp>
        <p:nvSpPr>
          <p:cNvPr id="30" name="文本框 29"/>
          <p:cNvSpPr txBox="1"/>
          <p:nvPr/>
        </p:nvSpPr>
        <p:spPr bwMode="gray">
          <a:xfrm>
            <a:off x="2501483" y="1507421"/>
            <a:ext cx="2435282" cy="307777"/>
          </a:xfrm>
          <a:prstGeom prst="rect">
            <a:avLst/>
          </a:prstGeom>
          <a:noFill/>
        </p:spPr>
        <p:txBody>
          <a:bodyPr wrap="none" rtlCol="0">
            <a:spAutoFit/>
          </a:bodyPr>
          <a:lstStyle/>
          <a:p>
            <a:r>
              <a:rPr lang="zh-CN" altLang="en-US" sz="1400">
                <a:cs typeface="+mn-ea"/>
                <a:sym typeface="+mn-lt"/>
              </a:rPr>
              <a:t>终端</a:t>
            </a:r>
            <a:r>
              <a:rPr lang="en-US" altLang="zh-CN" sz="1400">
                <a:cs typeface="+mn-ea"/>
                <a:sym typeface="+mn-lt"/>
              </a:rPr>
              <a:t>&lt;</a:t>
            </a:r>
            <a:r>
              <a:rPr lang="en-US" altLang="zh-CN" sz="1400" smtClean="0">
                <a:cs typeface="+mn-ea"/>
                <a:sym typeface="+mn-lt"/>
              </a:rPr>
              <a:t>200</a:t>
            </a:r>
            <a:r>
              <a:rPr lang="zh-CN" altLang="en-US" sz="1400" smtClean="0">
                <a:cs typeface="+mn-ea"/>
                <a:sym typeface="+mn-lt"/>
              </a:rPr>
              <a:t>，面积</a:t>
            </a:r>
            <a:r>
              <a:rPr lang="en-US" altLang="zh-CN" sz="1400">
                <a:cs typeface="+mn-ea"/>
                <a:sym typeface="+mn-lt"/>
              </a:rPr>
              <a:t>&lt;300</a:t>
            </a:r>
            <a:r>
              <a:rPr lang="zh-CN" altLang="en-US" sz="1400">
                <a:cs typeface="+mn-ea"/>
                <a:sym typeface="+mn-lt"/>
              </a:rPr>
              <a:t>平方米</a:t>
            </a:r>
          </a:p>
        </p:txBody>
      </p:sp>
      <p:cxnSp>
        <p:nvCxnSpPr>
          <p:cNvPr id="23" name="直接连接符 22"/>
          <p:cNvCxnSpPr/>
          <p:nvPr/>
        </p:nvCxnSpPr>
        <p:spPr bwMode="gray">
          <a:xfrm>
            <a:off x="2179228" y="2887335"/>
            <a:ext cx="0" cy="1547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任意多边形 23"/>
          <p:cNvSpPr/>
          <p:nvPr/>
        </p:nvSpPr>
        <p:spPr bwMode="gray">
          <a:xfrm>
            <a:off x="1819079" y="2525456"/>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961829" y="3504076"/>
            <a:ext cx="446281" cy="365138"/>
          </a:xfrm>
          <a:prstGeom prst="rect">
            <a:avLst/>
          </a:prstGeom>
          <a:noFill/>
        </p:spPr>
      </p:pic>
      <p:sp>
        <p:nvSpPr>
          <p:cNvPr id="34" name="Freeform 72"/>
          <p:cNvSpPr>
            <a:spLocks/>
          </p:cNvSpPr>
          <p:nvPr/>
        </p:nvSpPr>
        <p:spPr bwMode="gray">
          <a:xfrm rot="4483926">
            <a:off x="2464201" y="3070204"/>
            <a:ext cx="239764" cy="43800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358"/>
                </a:moveTo>
                <a:lnTo>
                  <a:pt x="52" y="126"/>
                </a:lnTo>
                <a:lnTo>
                  <a:pt x="145" y="139"/>
                </a:lnTo>
                <a:lnTo>
                  <a:pt x="0" y="0"/>
                </a:lnTo>
                <a:lnTo>
                  <a:pt x="283" y="192"/>
                </a:lnTo>
                <a:lnTo>
                  <a:pt x="164" y="172"/>
                </a:lnTo>
                <a:lnTo>
                  <a:pt x="336" y="358"/>
                </a:lnTo>
                <a:close/>
              </a:path>
            </a:pathLst>
          </a:custGeom>
          <a:solidFill>
            <a:schemeClr val="bg1">
              <a:lumMod val="65000"/>
            </a:schemeClr>
          </a:solidFill>
          <a:ln w="9525">
            <a:solidFill>
              <a:schemeClr val="bg1">
                <a:lumMod val="65000"/>
              </a:schemeClr>
            </a:solidFill>
            <a:round/>
            <a:headEnd/>
            <a:tailEnd/>
          </a:ln>
        </p:spPr>
        <p:txBody>
          <a:bodyPr lIns="45667" tIns="22832" rIns="45667" bIns="22832"/>
          <a:lstStyle/>
          <a:p>
            <a:pPr algn="ctr"/>
            <a:endParaRPr lang="zh-CN" altLang="en-US" sz="2000" dirty="0">
              <a:cs typeface="+mn-ea"/>
              <a:sym typeface="+mn-lt"/>
            </a:endParaRPr>
          </a:p>
        </p:txBody>
      </p:sp>
      <p:sp>
        <p:nvSpPr>
          <p:cNvPr id="35" name="文本框 34"/>
          <p:cNvSpPr txBox="1"/>
          <p:nvPr/>
        </p:nvSpPr>
        <p:spPr bwMode="gray">
          <a:xfrm>
            <a:off x="2418942" y="3333466"/>
            <a:ext cx="635110" cy="276999"/>
          </a:xfrm>
          <a:prstGeom prst="rect">
            <a:avLst/>
          </a:prstGeom>
          <a:noFill/>
        </p:spPr>
        <p:txBody>
          <a:bodyPr wrap="none" rtlCol="0">
            <a:spAutoFit/>
          </a:bodyPr>
          <a:lstStyle/>
          <a:p>
            <a:r>
              <a:rPr lang="en-US" altLang="zh-CN" sz="1200" dirty="0" smtClean="0">
                <a:cs typeface="+mn-ea"/>
                <a:sym typeface="+mn-lt"/>
              </a:rPr>
              <a:t>3G/4G</a:t>
            </a:r>
            <a:endParaRPr lang="zh-CN" altLang="en-US" sz="1200" dirty="0">
              <a:cs typeface="+mn-ea"/>
              <a:sym typeface="+mn-lt"/>
            </a:endParaRPr>
          </a:p>
        </p:txBody>
      </p:sp>
      <p:pic>
        <p:nvPicPr>
          <p:cNvPr id="36" name="图片 158" descr="SAN网络-蓝.png"/>
          <p:cNvPicPr>
            <a:picLocks noChangeAspect="1"/>
          </p:cNvPicPr>
          <p:nvPr/>
        </p:nvPicPr>
        <p:blipFill>
          <a:blip r:embed="rId4" cstate="print"/>
          <a:stretch>
            <a:fillRect/>
          </a:stretch>
        </p:blipFill>
        <p:spPr bwMode="gray">
          <a:xfrm>
            <a:off x="2897390" y="5082040"/>
            <a:ext cx="243218" cy="398465"/>
          </a:xfrm>
          <a:prstGeom prst="rect">
            <a:avLst/>
          </a:prstGeom>
        </p:spPr>
      </p:pic>
      <p:pic>
        <p:nvPicPr>
          <p:cNvPr id="37" name="图片 157" descr="故障链路.png"/>
          <p:cNvPicPr>
            <a:picLocks noChangeAspect="1"/>
          </p:cNvPicPr>
          <p:nvPr/>
        </p:nvPicPr>
        <p:blipFill>
          <a:blip r:embed="rId5" cstate="print"/>
          <a:stretch>
            <a:fillRect/>
          </a:stretch>
        </p:blipFill>
        <p:spPr bwMode="gray">
          <a:xfrm>
            <a:off x="2007198" y="5114881"/>
            <a:ext cx="446281" cy="332783"/>
          </a:xfrm>
          <a:prstGeom prst="rect">
            <a:avLst/>
          </a:prstGeom>
        </p:spPr>
      </p:pic>
      <p:pic>
        <p:nvPicPr>
          <p:cNvPr id="38"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219166" y="4348000"/>
            <a:ext cx="445506" cy="342149"/>
          </a:xfrm>
          <a:prstGeom prst="rect">
            <a:avLst/>
          </a:prstGeom>
        </p:spPr>
      </p:pic>
      <p:pic>
        <p:nvPicPr>
          <p:cNvPr id="43" name="图片 42" descr="云AP蓝.png"/>
          <p:cNvPicPr>
            <a:picLocks noChangeAspect="1"/>
          </p:cNvPicPr>
          <p:nvPr/>
        </p:nvPicPr>
        <p:blipFill>
          <a:blip r:embed="rId7" cstate="print"/>
          <a:stretch>
            <a:fillRect/>
          </a:stretch>
        </p:blipFill>
        <p:spPr bwMode="gray">
          <a:xfrm>
            <a:off x="1988272" y="4358454"/>
            <a:ext cx="405405" cy="331695"/>
          </a:xfrm>
          <a:prstGeom prst="rect">
            <a:avLst/>
          </a:prstGeom>
        </p:spPr>
      </p:pic>
      <p:pic>
        <p:nvPicPr>
          <p:cNvPr id="44" name="图片 43" descr="云AP蓝.png"/>
          <p:cNvPicPr>
            <a:picLocks noChangeAspect="1"/>
          </p:cNvPicPr>
          <p:nvPr/>
        </p:nvPicPr>
        <p:blipFill>
          <a:blip r:embed="rId7" cstate="print"/>
          <a:stretch>
            <a:fillRect/>
          </a:stretch>
        </p:blipFill>
        <p:spPr bwMode="gray">
          <a:xfrm>
            <a:off x="2816297" y="4358454"/>
            <a:ext cx="405405" cy="331695"/>
          </a:xfrm>
          <a:prstGeom prst="rect">
            <a:avLst/>
          </a:prstGeom>
        </p:spPr>
      </p:pic>
      <p:grpSp>
        <p:nvGrpSpPr>
          <p:cNvPr id="45" name="组合 758"/>
          <p:cNvGrpSpPr/>
          <p:nvPr/>
        </p:nvGrpSpPr>
        <p:grpSpPr bwMode="gray">
          <a:xfrm flipV="1">
            <a:off x="2061120" y="4779941"/>
            <a:ext cx="236214" cy="200032"/>
            <a:chOff x="7440613" y="4868863"/>
            <a:chExt cx="1019175" cy="828675"/>
          </a:xfrm>
          <a:solidFill>
            <a:schemeClr val="bg1">
              <a:lumMod val="50000"/>
            </a:schemeClr>
          </a:solidFill>
        </p:grpSpPr>
        <p:sp>
          <p:nvSpPr>
            <p:cNvPr id="4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4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grpSp>
        <p:nvGrpSpPr>
          <p:cNvPr id="48" name="组合 758"/>
          <p:cNvGrpSpPr/>
          <p:nvPr/>
        </p:nvGrpSpPr>
        <p:grpSpPr bwMode="gray">
          <a:xfrm flipV="1">
            <a:off x="2890746" y="4779941"/>
            <a:ext cx="236214" cy="200032"/>
            <a:chOff x="7440613" y="4868863"/>
            <a:chExt cx="1019175" cy="828675"/>
          </a:xfrm>
          <a:solidFill>
            <a:schemeClr val="bg1">
              <a:lumMod val="50000"/>
            </a:schemeClr>
          </a:solidFill>
        </p:grpSpPr>
        <p:sp>
          <p:nvSpPr>
            <p:cNvPr id="4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5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grpSp>
        <p:nvGrpSpPr>
          <p:cNvPr id="51" name="Group 161"/>
          <p:cNvGrpSpPr/>
          <p:nvPr/>
        </p:nvGrpSpPr>
        <p:grpSpPr bwMode="gray">
          <a:xfrm rot="10800000">
            <a:off x="3916442" y="3643031"/>
            <a:ext cx="1560982" cy="865959"/>
            <a:chOff x="-1233037" y="914446"/>
            <a:chExt cx="1573823" cy="778776"/>
          </a:xfrm>
        </p:grpSpPr>
        <p:cxnSp>
          <p:nvCxnSpPr>
            <p:cNvPr id="52"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直接连接符 53"/>
          <p:cNvCxnSpPr/>
          <p:nvPr/>
        </p:nvCxnSpPr>
        <p:spPr bwMode="gray">
          <a:xfrm>
            <a:off x="4696933" y="2887335"/>
            <a:ext cx="0" cy="15476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任意多边形 54"/>
          <p:cNvSpPr/>
          <p:nvPr/>
        </p:nvSpPr>
        <p:spPr bwMode="gray">
          <a:xfrm>
            <a:off x="4336784" y="2525456"/>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pic>
        <p:nvPicPr>
          <p:cNvPr id="59" name="图片 158" descr="SAN网络-蓝.png"/>
          <p:cNvPicPr>
            <a:picLocks noChangeAspect="1"/>
          </p:cNvPicPr>
          <p:nvPr/>
        </p:nvPicPr>
        <p:blipFill>
          <a:blip r:embed="rId4" cstate="print"/>
          <a:stretch>
            <a:fillRect/>
          </a:stretch>
        </p:blipFill>
        <p:spPr bwMode="gray">
          <a:xfrm>
            <a:off x="5415095" y="5082040"/>
            <a:ext cx="243218" cy="398465"/>
          </a:xfrm>
          <a:prstGeom prst="rect">
            <a:avLst/>
          </a:prstGeom>
        </p:spPr>
      </p:pic>
      <p:pic>
        <p:nvPicPr>
          <p:cNvPr id="60" name="图片 157" descr="故障链路.png"/>
          <p:cNvPicPr>
            <a:picLocks noChangeAspect="1"/>
          </p:cNvPicPr>
          <p:nvPr/>
        </p:nvPicPr>
        <p:blipFill>
          <a:blip r:embed="rId5" cstate="print"/>
          <a:stretch>
            <a:fillRect/>
          </a:stretch>
        </p:blipFill>
        <p:spPr bwMode="gray">
          <a:xfrm>
            <a:off x="4524903" y="5114881"/>
            <a:ext cx="446281" cy="332783"/>
          </a:xfrm>
          <a:prstGeom prst="rect">
            <a:avLst/>
          </a:prstGeom>
        </p:spPr>
      </p:pic>
      <p:pic>
        <p:nvPicPr>
          <p:cNvPr id="61"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736871" y="4348000"/>
            <a:ext cx="445506" cy="342149"/>
          </a:xfrm>
          <a:prstGeom prst="rect">
            <a:avLst/>
          </a:prstGeom>
        </p:spPr>
      </p:pic>
      <p:pic>
        <p:nvPicPr>
          <p:cNvPr id="62" name="图片 61" descr="云AP蓝.png"/>
          <p:cNvPicPr>
            <a:picLocks noChangeAspect="1"/>
          </p:cNvPicPr>
          <p:nvPr/>
        </p:nvPicPr>
        <p:blipFill>
          <a:blip r:embed="rId7" cstate="print"/>
          <a:stretch>
            <a:fillRect/>
          </a:stretch>
        </p:blipFill>
        <p:spPr bwMode="gray">
          <a:xfrm>
            <a:off x="4505977" y="4358454"/>
            <a:ext cx="405405" cy="331695"/>
          </a:xfrm>
          <a:prstGeom prst="rect">
            <a:avLst/>
          </a:prstGeom>
        </p:spPr>
      </p:pic>
      <p:pic>
        <p:nvPicPr>
          <p:cNvPr id="63" name="图片 62" descr="云AP蓝.png"/>
          <p:cNvPicPr>
            <a:picLocks noChangeAspect="1"/>
          </p:cNvPicPr>
          <p:nvPr/>
        </p:nvPicPr>
        <p:blipFill>
          <a:blip r:embed="rId7" cstate="print"/>
          <a:stretch>
            <a:fillRect/>
          </a:stretch>
        </p:blipFill>
        <p:spPr bwMode="gray">
          <a:xfrm>
            <a:off x="5334002" y="4358454"/>
            <a:ext cx="405405" cy="331695"/>
          </a:xfrm>
          <a:prstGeom prst="rect">
            <a:avLst/>
          </a:prstGeom>
        </p:spPr>
      </p:pic>
      <p:grpSp>
        <p:nvGrpSpPr>
          <p:cNvPr id="64" name="组合 758"/>
          <p:cNvGrpSpPr/>
          <p:nvPr/>
        </p:nvGrpSpPr>
        <p:grpSpPr bwMode="gray">
          <a:xfrm flipV="1">
            <a:off x="4578825" y="4779941"/>
            <a:ext cx="236214" cy="200032"/>
            <a:chOff x="7440613" y="4868863"/>
            <a:chExt cx="1019175" cy="828675"/>
          </a:xfrm>
          <a:solidFill>
            <a:schemeClr val="bg1">
              <a:lumMod val="50000"/>
            </a:schemeClr>
          </a:solidFill>
        </p:grpSpPr>
        <p:sp>
          <p:nvSpPr>
            <p:cNvPr id="65"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66"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grpSp>
        <p:nvGrpSpPr>
          <p:cNvPr id="67" name="组合 758"/>
          <p:cNvGrpSpPr/>
          <p:nvPr/>
        </p:nvGrpSpPr>
        <p:grpSpPr bwMode="gray">
          <a:xfrm flipV="1">
            <a:off x="5408451" y="4779941"/>
            <a:ext cx="236214" cy="200032"/>
            <a:chOff x="7440613" y="4868863"/>
            <a:chExt cx="1019175" cy="828675"/>
          </a:xfrm>
          <a:solidFill>
            <a:schemeClr val="bg1">
              <a:lumMod val="50000"/>
            </a:schemeClr>
          </a:solidFill>
        </p:grpSpPr>
        <p:sp>
          <p:nvSpPr>
            <p:cNvPr id="68"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69"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pic>
        <p:nvPicPr>
          <p:cNvPr id="71"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4473792" y="3497539"/>
            <a:ext cx="446281" cy="365139"/>
          </a:xfrm>
          <a:prstGeom prst="rect">
            <a:avLst/>
          </a:prstGeom>
        </p:spPr>
      </p:pic>
    </p:spTree>
    <p:extLst>
      <p:ext uri="{BB962C8B-B14F-4D97-AF65-F5344CB8AC3E}">
        <p14:creationId xmlns:p14="http://schemas.microsoft.com/office/powerpoint/2010/main" val="428939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gray">
          <a:xfrm>
            <a:off x="589588" y="1491761"/>
            <a:ext cx="5413598" cy="4606781"/>
          </a:xfrm>
          <a:prstGeom prst="roundRect">
            <a:avLst>
              <a:gd name="adj" fmla="val 0"/>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grpSp>
        <p:nvGrpSpPr>
          <p:cNvPr id="58" name="Group 161"/>
          <p:cNvGrpSpPr/>
          <p:nvPr/>
        </p:nvGrpSpPr>
        <p:grpSpPr bwMode="gray">
          <a:xfrm rot="10800000">
            <a:off x="1412981" y="4053842"/>
            <a:ext cx="1560982" cy="865959"/>
            <a:chOff x="-1233037" y="914446"/>
            <a:chExt cx="1573823" cy="778776"/>
          </a:xfrm>
        </p:grpSpPr>
        <p:cxnSp>
          <p:nvCxnSpPr>
            <p:cNvPr id="70"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圆角矩形 25"/>
          <p:cNvSpPr/>
          <p:nvPr/>
        </p:nvSpPr>
        <p:spPr bwMode="gray">
          <a:xfrm>
            <a:off x="583121" y="1068497"/>
            <a:ext cx="5413598" cy="441720"/>
          </a:xfrm>
          <a:prstGeom prst="roundRect">
            <a:avLst>
              <a:gd name="adj" fmla="val 0"/>
            </a:avLst>
          </a:prstGeom>
          <a:solidFill>
            <a:schemeClr val="bg1">
              <a:lumMod val="8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2" name="标题 1"/>
          <p:cNvSpPr>
            <a:spLocks noGrp="1"/>
          </p:cNvSpPr>
          <p:nvPr>
            <p:ph type="title"/>
          </p:nvPr>
        </p:nvSpPr>
        <p:spPr bwMode="gray"/>
        <p:txBody>
          <a:bodyPr/>
          <a:lstStyle/>
          <a:p>
            <a:r>
              <a:rPr lang="zh-CN" altLang="en-US" smtClean="0">
                <a:sym typeface="+mn-lt"/>
              </a:rPr>
              <a:t>典型组网方案：出口网关</a:t>
            </a:r>
            <a:r>
              <a:rPr lang="en-US" altLang="zh-CN" smtClean="0">
                <a:sym typeface="+mn-lt"/>
              </a:rPr>
              <a:t>+L2SW+AP</a:t>
            </a:r>
            <a:r>
              <a:rPr lang="zh-CN" altLang="en-US" smtClean="0">
                <a:sym typeface="+mn-lt"/>
              </a:rPr>
              <a:t>组网</a:t>
            </a:r>
            <a:endParaRPr lang="zh-CN" altLang="en-US">
              <a:sym typeface="+mn-lt"/>
            </a:endParaRPr>
          </a:p>
        </p:txBody>
      </p:sp>
      <p:sp>
        <p:nvSpPr>
          <p:cNvPr id="4" name="文本占位符 3"/>
          <p:cNvSpPr>
            <a:spLocks noGrp="1"/>
          </p:cNvSpPr>
          <p:nvPr>
            <p:ph type="body" sz="quarter" idx="10"/>
          </p:nvPr>
        </p:nvSpPr>
        <p:spPr bwMode="gray">
          <a:xfrm>
            <a:off x="6090049" y="1047750"/>
            <a:ext cx="5659038" cy="4879805"/>
          </a:xfrm>
        </p:spPr>
        <p:txBody>
          <a:bodyPr/>
          <a:lstStyle/>
          <a:p>
            <a:r>
              <a:rPr lang="zh-CN" altLang="en-US" sz="1400" dirty="0" smtClean="0">
                <a:sym typeface="+mn-lt"/>
              </a:rPr>
              <a:t>方案概述</a:t>
            </a:r>
          </a:p>
          <a:p>
            <a:pPr lvl="1"/>
            <a:r>
              <a:rPr lang="zh-CN" altLang="en-US" sz="1200" dirty="0" smtClean="0">
                <a:sym typeface="+mn-lt"/>
              </a:rPr>
              <a:t>适用于中小型的服装门店、零售商店等；</a:t>
            </a:r>
          </a:p>
          <a:p>
            <a:pPr lvl="1"/>
            <a:r>
              <a:rPr lang="zh-CN" altLang="en-US" sz="1200" dirty="0" smtClean="0">
                <a:sym typeface="+mn-lt"/>
              </a:rPr>
              <a:t>出口网关设备提供出口特性，如</a:t>
            </a:r>
            <a:r>
              <a:rPr lang="en-US" altLang="zh-CN" sz="1200" dirty="0" smtClean="0">
                <a:sym typeface="+mn-lt"/>
              </a:rPr>
              <a:t>WAN</a:t>
            </a:r>
            <a:r>
              <a:rPr lang="zh-CN" altLang="en-US" sz="1200" dirty="0" smtClean="0">
                <a:sym typeface="+mn-lt"/>
              </a:rPr>
              <a:t>接入、</a:t>
            </a:r>
            <a:r>
              <a:rPr lang="en-US" altLang="zh-CN" sz="1200" dirty="0" smtClean="0">
                <a:sym typeface="+mn-lt"/>
              </a:rPr>
              <a:t>DHCP</a:t>
            </a:r>
            <a:r>
              <a:rPr lang="zh-CN" altLang="en-US" sz="1200" dirty="0" smtClean="0">
                <a:sym typeface="+mn-lt"/>
              </a:rPr>
              <a:t>、</a:t>
            </a:r>
            <a:r>
              <a:rPr lang="en-US" altLang="zh-CN" sz="1200" dirty="0" smtClean="0">
                <a:sym typeface="+mn-lt"/>
              </a:rPr>
              <a:t>NAT</a:t>
            </a:r>
            <a:r>
              <a:rPr lang="zh-CN" altLang="en-US" sz="1200" dirty="0" smtClean="0">
                <a:sym typeface="+mn-lt"/>
              </a:rPr>
              <a:t>等；</a:t>
            </a:r>
          </a:p>
          <a:p>
            <a:pPr lvl="1"/>
            <a:r>
              <a:rPr lang="en-US" altLang="zh-CN" sz="1200" dirty="0" smtClean="0">
                <a:sym typeface="+mn-lt"/>
              </a:rPr>
              <a:t>L2SW</a:t>
            </a:r>
            <a:r>
              <a:rPr lang="zh-CN" altLang="en-US" sz="1200" dirty="0" smtClean="0">
                <a:sym typeface="+mn-lt"/>
              </a:rPr>
              <a:t>提供</a:t>
            </a:r>
            <a:r>
              <a:rPr lang="en-US" altLang="zh-CN" sz="1200" dirty="0" err="1" smtClean="0">
                <a:sym typeface="+mn-lt"/>
              </a:rPr>
              <a:t>PoE</a:t>
            </a:r>
            <a:r>
              <a:rPr lang="zh-CN" altLang="en-US" sz="1200" dirty="0" smtClean="0">
                <a:sym typeface="+mn-lt"/>
              </a:rPr>
              <a:t>扩展接入和有线终端接入功能；</a:t>
            </a:r>
          </a:p>
          <a:p>
            <a:pPr lvl="1"/>
            <a:r>
              <a:rPr lang="en-US" altLang="zh-CN" sz="1200" dirty="0" smtClean="0">
                <a:sym typeface="+mn-lt"/>
              </a:rPr>
              <a:t>AP</a:t>
            </a:r>
            <a:r>
              <a:rPr lang="zh-CN" altLang="en-US" sz="1200" dirty="0" smtClean="0">
                <a:sym typeface="+mn-lt"/>
              </a:rPr>
              <a:t>提供站点里的无线终端接入；</a:t>
            </a:r>
          </a:p>
          <a:p>
            <a:pPr lvl="1"/>
            <a:r>
              <a:rPr lang="en-US" altLang="zh-CN" sz="1200" dirty="0" smtClean="0">
                <a:sym typeface="+mn-lt"/>
              </a:rPr>
              <a:t>AP</a:t>
            </a:r>
            <a:r>
              <a:rPr lang="zh-CN" altLang="en-US" sz="1200" dirty="0" smtClean="0">
                <a:sym typeface="+mn-lt"/>
              </a:rPr>
              <a:t>支持</a:t>
            </a:r>
            <a:r>
              <a:rPr lang="en-US" altLang="zh-CN" sz="1200" dirty="0" smtClean="0">
                <a:sym typeface="+mn-lt"/>
              </a:rPr>
              <a:t>Mesh</a:t>
            </a:r>
            <a:r>
              <a:rPr lang="zh-CN" altLang="en-US" sz="1200" dirty="0" smtClean="0">
                <a:sym typeface="+mn-lt"/>
              </a:rPr>
              <a:t>互联；</a:t>
            </a:r>
          </a:p>
          <a:p>
            <a:pPr lvl="1"/>
            <a:r>
              <a:rPr lang="zh-CN" altLang="en-US" sz="1200" dirty="0" smtClean="0">
                <a:sym typeface="+mn-lt"/>
              </a:rPr>
              <a:t>高安全场景，需要部署</a:t>
            </a:r>
            <a:r>
              <a:rPr lang="en-US" altLang="zh-CN" sz="1200" dirty="0" smtClean="0">
                <a:sym typeface="+mn-lt"/>
              </a:rPr>
              <a:t>URL</a:t>
            </a:r>
            <a:r>
              <a:rPr lang="zh-CN" altLang="en-US" sz="1200" dirty="0" smtClean="0">
                <a:sym typeface="+mn-lt"/>
              </a:rPr>
              <a:t>过滤、安全防御、</a:t>
            </a:r>
            <a:r>
              <a:rPr lang="en-US" altLang="zh-CN" sz="1200" dirty="0" smtClean="0">
                <a:sym typeface="+mn-lt"/>
              </a:rPr>
              <a:t>AV</a:t>
            </a:r>
            <a:r>
              <a:rPr lang="zh-CN" altLang="en-US" sz="1200" dirty="0" smtClean="0">
                <a:sym typeface="+mn-lt"/>
              </a:rPr>
              <a:t>反病毒等高级特性，出口需要部署</a:t>
            </a:r>
            <a:r>
              <a:rPr lang="en-US" altLang="zh-CN" sz="1200" dirty="0" smtClean="0">
                <a:sym typeface="+mn-lt"/>
              </a:rPr>
              <a:t>FW</a:t>
            </a:r>
            <a:r>
              <a:rPr lang="zh-CN" altLang="en-US" sz="1200" dirty="0" smtClean="0">
                <a:sym typeface="+mn-lt"/>
              </a:rPr>
              <a:t>设备。</a:t>
            </a:r>
          </a:p>
          <a:p>
            <a:r>
              <a:rPr lang="zh-CN" altLang="en-US" sz="1400" dirty="0" smtClean="0">
                <a:sym typeface="+mn-lt"/>
              </a:rPr>
              <a:t>方案约束</a:t>
            </a:r>
          </a:p>
          <a:p>
            <a:pPr lvl="1"/>
            <a:r>
              <a:rPr lang="zh-CN" altLang="en-US" sz="1200" dirty="0">
                <a:sym typeface="+mn-lt"/>
              </a:rPr>
              <a:t>当前</a:t>
            </a:r>
            <a:r>
              <a:rPr lang="en-US" altLang="zh-CN" sz="1200" dirty="0" smtClean="0">
                <a:sym typeface="+mn-lt"/>
              </a:rPr>
              <a:t>AR/FW</a:t>
            </a:r>
            <a:r>
              <a:rPr lang="zh-CN" altLang="en-US" sz="1200" dirty="0" smtClean="0">
                <a:sym typeface="+mn-lt"/>
              </a:rPr>
              <a:t>在云管理模式下不支持</a:t>
            </a:r>
            <a:r>
              <a:rPr lang="en-US" altLang="zh-CN" sz="1200" dirty="0" smtClean="0">
                <a:sym typeface="+mn-lt"/>
              </a:rPr>
              <a:t>Eth-Trunk</a:t>
            </a:r>
            <a:r>
              <a:rPr lang="zh-CN" altLang="en-US" sz="1200" dirty="0" smtClean="0">
                <a:sym typeface="+mn-lt"/>
              </a:rPr>
              <a:t>，不支持和</a:t>
            </a:r>
            <a:r>
              <a:rPr lang="en-US" altLang="zh-CN" sz="1200" dirty="0" smtClean="0">
                <a:sym typeface="+mn-lt"/>
              </a:rPr>
              <a:t>LSW</a:t>
            </a:r>
            <a:r>
              <a:rPr lang="zh-CN" altLang="en-US" sz="1200" dirty="0" smtClean="0">
                <a:sym typeface="+mn-lt"/>
              </a:rPr>
              <a:t>通过</a:t>
            </a:r>
            <a:r>
              <a:rPr lang="en-US" altLang="zh-CN" sz="1200" dirty="0" smtClean="0">
                <a:sym typeface="+mn-lt"/>
              </a:rPr>
              <a:t>Eth-Trunk</a:t>
            </a:r>
            <a:r>
              <a:rPr lang="zh-CN" altLang="en-US" sz="1200" dirty="0" smtClean="0">
                <a:sym typeface="+mn-lt"/>
              </a:rPr>
              <a:t>互联；</a:t>
            </a:r>
          </a:p>
          <a:p>
            <a:pPr lvl="1"/>
            <a:r>
              <a:rPr lang="zh-CN" altLang="en-US" sz="1200" dirty="0" smtClean="0">
                <a:sym typeface="+mn-lt"/>
              </a:rPr>
              <a:t>如果需要部署</a:t>
            </a:r>
            <a:r>
              <a:rPr lang="en-US" altLang="zh-CN" sz="1200" dirty="0" smtClean="0">
                <a:sym typeface="+mn-lt"/>
              </a:rPr>
              <a:t>LSW</a:t>
            </a:r>
            <a:r>
              <a:rPr lang="zh-CN" altLang="en-US" sz="1200" dirty="0" smtClean="0">
                <a:sym typeface="+mn-lt"/>
              </a:rPr>
              <a:t>堆叠，推荐部署多层</a:t>
            </a:r>
            <a:r>
              <a:rPr lang="en-US" altLang="zh-CN" sz="1200" dirty="0" smtClean="0">
                <a:sym typeface="+mn-lt"/>
              </a:rPr>
              <a:t>LSW</a:t>
            </a:r>
            <a:r>
              <a:rPr lang="zh-CN" altLang="en-US" sz="1200" dirty="0" smtClean="0">
                <a:sym typeface="+mn-lt"/>
              </a:rPr>
              <a:t>；</a:t>
            </a:r>
          </a:p>
          <a:p>
            <a:pPr lvl="1"/>
            <a:r>
              <a:rPr lang="en-US" altLang="zh-CN" sz="1200" dirty="0" smtClean="0">
                <a:sym typeface="+mn-lt"/>
              </a:rPr>
              <a:t>AR</a:t>
            </a:r>
            <a:r>
              <a:rPr lang="zh-CN" altLang="en-US" sz="1200" dirty="0" smtClean="0">
                <a:sym typeface="+mn-lt"/>
              </a:rPr>
              <a:t>仅支持单机部署。</a:t>
            </a:r>
          </a:p>
          <a:p>
            <a:endParaRPr lang="zh-CN" altLang="en-US" sz="1400" dirty="0"/>
          </a:p>
        </p:txBody>
      </p:sp>
      <p:sp>
        <p:nvSpPr>
          <p:cNvPr id="6" name="文本框 5"/>
          <p:cNvSpPr txBox="1"/>
          <p:nvPr/>
        </p:nvSpPr>
        <p:spPr bwMode="gray">
          <a:xfrm>
            <a:off x="1587232" y="1773646"/>
            <a:ext cx="1301959" cy="307777"/>
          </a:xfrm>
          <a:prstGeom prst="rect">
            <a:avLst/>
          </a:prstGeom>
          <a:noFill/>
        </p:spPr>
        <p:txBody>
          <a:bodyPr wrap="none" rtlCol="0">
            <a:spAutoFit/>
          </a:bodyPr>
          <a:lstStyle/>
          <a:p>
            <a:r>
              <a:rPr lang="en-US" altLang="zh-CN" sz="1400">
                <a:cs typeface="+mn-ea"/>
                <a:sym typeface="+mn-lt"/>
              </a:rPr>
              <a:t>AR+L2SW+AP</a:t>
            </a:r>
          </a:p>
        </p:txBody>
      </p:sp>
      <p:sp>
        <p:nvSpPr>
          <p:cNvPr id="27" name="文本框 26"/>
          <p:cNvSpPr txBox="1"/>
          <p:nvPr/>
        </p:nvSpPr>
        <p:spPr bwMode="gray">
          <a:xfrm>
            <a:off x="555690" y="1126241"/>
            <a:ext cx="902812" cy="307777"/>
          </a:xfrm>
          <a:prstGeom prst="rect">
            <a:avLst/>
          </a:prstGeom>
          <a:noFill/>
        </p:spPr>
        <p:txBody>
          <a:bodyPr wrap="none" rtlCol="0">
            <a:spAutoFit/>
          </a:bodyPr>
          <a:lstStyle/>
          <a:p>
            <a:pPr algn="r"/>
            <a:r>
              <a:rPr lang="zh-CN" altLang="en-US" sz="1400">
                <a:cs typeface="+mn-ea"/>
                <a:sym typeface="+mn-lt"/>
              </a:rPr>
              <a:t>网络规模</a:t>
            </a:r>
          </a:p>
        </p:txBody>
      </p:sp>
      <p:sp>
        <p:nvSpPr>
          <p:cNvPr id="28" name="文本框 27"/>
          <p:cNvSpPr txBox="1"/>
          <p:nvPr/>
        </p:nvSpPr>
        <p:spPr bwMode="gray">
          <a:xfrm>
            <a:off x="555690" y="1673358"/>
            <a:ext cx="902812" cy="307777"/>
          </a:xfrm>
          <a:prstGeom prst="rect">
            <a:avLst/>
          </a:prstGeom>
          <a:noFill/>
        </p:spPr>
        <p:txBody>
          <a:bodyPr wrap="none" rtlCol="0">
            <a:spAutoFit/>
          </a:bodyPr>
          <a:lstStyle/>
          <a:p>
            <a:pPr algn="r"/>
            <a:r>
              <a:rPr lang="zh-CN" altLang="en-US" sz="1400">
                <a:cs typeface="+mn-ea"/>
                <a:sym typeface="+mn-lt"/>
              </a:rPr>
              <a:t>组网类型</a:t>
            </a:r>
          </a:p>
        </p:txBody>
      </p:sp>
      <p:sp>
        <p:nvSpPr>
          <p:cNvPr id="30" name="文本框 29"/>
          <p:cNvSpPr txBox="1"/>
          <p:nvPr/>
        </p:nvSpPr>
        <p:spPr bwMode="gray">
          <a:xfrm>
            <a:off x="2515727" y="1126241"/>
            <a:ext cx="2637260" cy="307777"/>
          </a:xfrm>
          <a:prstGeom prst="rect">
            <a:avLst/>
          </a:prstGeom>
          <a:noFill/>
        </p:spPr>
        <p:txBody>
          <a:bodyPr wrap="none" rtlCol="0">
            <a:spAutoFit/>
          </a:bodyPr>
          <a:lstStyle/>
          <a:p>
            <a:r>
              <a:rPr lang="zh-CN" altLang="en-US" sz="1400">
                <a:cs typeface="+mn-ea"/>
                <a:sym typeface="+mn-lt"/>
              </a:rPr>
              <a:t>终端</a:t>
            </a:r>
            <a:r>
              <a:rPr lang="en-US" altLang="zh-CN" sz="1400">
                <a:cs typeface="+mn-ea"/>
                <a:sym typeface="+mn-lt"/>
              </a:rPr>
              <a:t>&lt;</a:t>
            </a:r>
            <a:r>
              <a:rPr lang="en-US" altLang="zh-CN" sz="1400" smtClean="0">
                <a:cs typeface="+mn-ea"/>
                <a:sym typeface="+mn-lt"/>
              </a:rPr>
              <a:t>2000</a:t>
            </a:r>
            <a:r>
              <a:rPr lang="zh-CN" altLang="en-US" sz="1400" smtClean="0">
                <a:cs typeface="+mn-ea"/>
                <a:sym typeface="+mn-lt"/>
              </a:rPr>
              <a:t>，面积</a:t>
            </a:r>
            <a:r>
              <a:rPr lang="en-US" altLang="zh-CN" sz="1400">
                <a:cs typeface="+mn-ea"/>
                <a:sym typeface="+mn-lt"/>
              </a:rPr>
              <a:t>&lt;3000</a:t>
            </a:r>
            <a:r>
              <a:rPr lang="zh-CN" altLang="en-US" sz="1400">
                <a:cs typeface="+mn-ea"/>
                <a:sym typeface="+mn-lt"/>
              </a:rPr>
              <a:t>平方米</a:t>
            </a:r>
          </a:p>
        </p:txBody>
      </p:sp>
      <p:cxnSp>
        <p:nvCxnSpPr>
          <p:cNvPr id="23" name="直接连接符 22"/>
          <p:cNvCxnSpPr/>
          <p:nvPr/>
        </p:nvCxnSpPr>
        <p:spPr bwMode="gray">
          <a:xfrm>
            <a:off x="2193472" y="2506155"/>
            <a:ext cx="0" cy="25188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任意多边形 23"/>
          <p:cNvSpPr/>
          <p:nvPr/>
        </p:nvSpPr>
        <p:spPr bwMode="gray">
          <a:xfrm>
            <a:off x="1833323" y="2144276"/>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976073" y="3122896"/>
            <a:ext cx="446281" cy="365138"/>
          </a:xfrm>
          <a:prstGeom prst="rect">
            <a:avLst/>
          </a:prstGeom>
          <a:noFill/>
        </p:spPr>
      </p:pic>
      <p:sp>
        <p:nvSpPr>
          <p:cNvPr id="34" name="Freeform 72"/>
          <p:cNvSpPr>
            <a:spLocks/>
          </p:cNvSpPr>
          <p:nvPr/>
        </p:nvSpPr>
        <p:spPr bwMode="gray">
          <a:xfrm rot="4483926">
            <a:off x="2478445" y="2689024"/>
            <a:ext cx="239764" cy="43800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358"/>
                </a:moveTo>
                <a:lnTo>
                  <a:pt x="52" y="126"/>
                </a:lnTo>
                <a:lnTo>
                  <a:pt x="145" y="139"/>
                </a:lnTo>
                <a:lnTo>
                  <a:pt x="0" y="0"/>
                </a:lnTo>
                <a:lnTo>
                  <a:pt x="283" y="192"/>
                </a:lnTo>
                <a:lnTo>
                  <a:pt x="164" y="172"/>
                </a:lnTo>
                <a:lnTo>
                  <a:pt x="336" y="358"/>
                </a:lnTo>
                <a:close/>
              </a:path>
            </a:pathLst>
          </a:custGeom>
          <a:solidFill>
            <a:schemeClr val="bg1">
              <a:lumMod val="65000"/>
            </a:schemeClr>
          </a:solidFill>
          <a:ln w="9525">
            <a:solidFill>
              <a:schemeClr val="bg1">
                <a:lumMod val="65000"/>
              </a:schemeClr>
            </a:solidFill>
            <a:round/>
            <a:headEnd/>
            <a:tailEnd/>
          </a:ln>
        </p:spPr>
        <p:txBody>
          <a:bodyPr lIns="45667" tIns="22832" rIns="45667" bIns="22832"/>
          <a:lstStyle/>
          <a:p>
            <a:pPr algn="ctr"/>
            <a:endParaRPr lang="zh-CN" altLang="en-US" sz="2000" dirty="0">
              <a:cs typeface="+mn-ea"/>
              <a:sym typeface="+mn-lt"/>
            </a:endParaRPr>
          </a:p>
        </p:txBody>
      </p:sp>
      <p:sp>
        <p:nvSpPr>
          <p:cNvPr id="35" name="文本框 34"/>
          <p:cNvSpPr txBox="1"/>
          <p:nvPr/>
        </p:nvSpPr>
        <p:spPr bwMode="gray">
          <a:xfrm>
            <a:off x="2433186" y="2952286"/>
            <a:ext cx="635110" cy="276999"/>
          </a:xfrm>
          <a:prstGeom prst="rect">
            <a:avLst/>
          </a:prstGeom>
          <a:noFill/>
        </p:spPr>
        <p:txBody>
          <a:bodyPr wrap="none" rtlCol="0">
            <a:spAutoFit/>
          </a:bodyPr>
          <a:lstStyle/>
          <a:p>
            <a:r>
              <a:rPr lang="en-US" altLang="zh-CN" sz="1200" dirty="0" smtClean="0">
                <a:cs typeface="+mn-ea"/>
                <a:sym typeface="+mn-lt"/>
              </a:rPr>
              <a:t>3G/4G</a:t>
            </a:r>
            <a:endParaRPr lang="zh-CN" altLang="en-US" sz="1200" dirty="0">
              <a:cs typeface="+mn-ea"/>
              <a:sym typeface="+mn-lt"/>
            </a:endParaRPr>
          </a:p>
        </p:txBody>
      </p:sp>
      <p:pic>
        <p:nvPicPr>
          <p:cNvPr id="36" name="图片 158" descr="SAN网络-蓝.png"/>
          <p:cNvPicPr>
            <a:picLocks noChangeAspect="1"/>
          </p:cNvPicPr>
          <p:nvPr/>
        </p:nvPicPr>
        <p:blipFill>
          <a:blip r:embed="rId4" cstate="print"/>
          <a:stretch>
            <a:fillRect/>
          </a:stretch>
        </p:blipFill>
        <p:spPr bwMode="gray">
          <a:xfrm>
            <a:off x="2911634" y="5587958"/>
            <a:ext cx="243218" cy="398465"/>
          </a:xfrm>
          <a:prstGeom prst="rect">
            <a:avLst/>
          </a:prstGeom>
        </p:spPr>
      </p:pic>
      <p:pic>
        <p:nvPicPr>
          <p:cNvPr id="37" name="图片 157" descr="故障链路.png"/>
          <p:cNvPicPr>
            <a:picLocks noChangeAspect="1"/>
          </p:cNvPicPr>
          <p:nvPr/>
        </p:nvPicPr>
        <p:blipFill>
          <a:blip r:embed="rId5" cstate="print"/>
          <a:stretch>
            <a:fillRect/>
          </a:stretch>
        </p:blipFill>
        <p:spPr bwMode="gray">
          <a:xfrm>
            <a:off x="2021442" y="5620799"/>
            <a:ext cx="446281" cy="332783"/>
          </a:xfrm>
          <a:prstGeom prst="rect">
            <a:avLst/>
          </a:prstGeom>
        </p:spPr>
      </p:pic>
      <p:pic>
        <p:nvPicPr>
          <p:cNvPr id="38"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233410" y="4853918"/>
            <a:ext cx="445506" cy="342149"/>
          </a:xfrm>
          <a:prstGeom prst="rect">
            <a:avLst/>
          </a:prstGeom>
        </p:spPr>
      </p:pic>
      <p:pic>
        <p:nvPicPr>
          <p:cNvPr id="43" name="图片 42" descr="云AP蓝.png"/>
          <p:cNvPicPr>
            <a:picLocks noChangeAspect="1"/>
          </p:cNvPicPr>
          <p:nvPr/>
        </p:nvPicPr>
        <p:blipFill>
          <a:blip r:embed="rId7" cstate="print"/>
          <a:stretch>
            <a:fillRect/>
          </a:stretch>
        </p:blipFill>
        <p:spPr bwMode="gray">
          <a:xfrm>
            <a:off x="2002516" y="4864372"/>
            <a:ext cx="405405" cy="331695"/>
          </a:xfrm>
          <a:prstGeom prst="rect">
            <a:avLst/>
          </a:prstGeom>
        </p:spPr>
      </p:pic>
      <p:pic>
        <p:nvPicPr>
          <p:cNvPr id="44" name="图片 43" descr="云AP蓝.png"/>
          <p:cNvPicPr>
            <a:picLocks noChangeAspect="1"/>
          </p:cNvPicPr>
          <p:nvPr/>
        </p:nvPicPr>
        <p:blipFill>
          <a:blip r:embed="rId7" cstate="print"/>
          <a:stretch>
            <a:fillRect/>
          </a:stretch>
        </p:blipFill>
        <p:spPr bwMode="gray">
          <a:xfrm>
            <a:off x="2830541" y="4864372"/>
            <a:ext cx="405405" cy="331695"/>
          </a:xfrm>
          <a:prstGeom prst="rect">
            <a:avLst/>
          </a:prstGeom>
        </p:spPr>
      </p:pic>
      <p:grpSp>
        <p:nvGrpSpPr>
          <p:cNvPr id="45" name="组合 758"/>
          <p:cNvGrpSpPr/>
          <p:nvPr/>
        </p:nvGrpSpPr>
        <p:grpSpPr bwMode="gray">
          <a:xfrm flipV="1">
            <a:off x="2075364" y="5285859"/>
            <a:ext cx="236214" cy="200032"/>
            <a:chOff x="7440613" y="4868863"/>
            <a:chExt cx="1019175" cy="828675"/>
          </a:xfrm>
          <a:solidFill>
            <a:schemeClr val="bg1">
              <a:lumMod val="50000"/>
            </a:schemeClr>
          </a:solidFill>
        </p:grpSpPr>
        <p:sp>
          <p:nvSpPr>
            <p:cNvPr id="4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sp>
          <p:nvSpPr>
            <p:cNvPr id="4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grpSp>
      <p:grpSp>
        <p:nvGrpSpPr>
          <p:cNvPr id="48" name="组合 758"/>
          <p:cNvGrpSpPr/>
          <p:nvPr/>
        </p:nvGrpSpPr>
        <p:grpSpPr bwMode="gray">
          <a:xfrm flipV="1">
            <a:off x="2904990" y="5285859"/>
            <a:ext cx="236214" cy="200032"/>
            <a:chOff x="7440613" y="4868863"/>
            <a:chExt cx="1019175" cy="828675"/>
          </a:xfrm>
          <a:solidFill>
            <a:schemeClr val="bg1">
              <a:lumMod val="50000"/>
            </a:schemeClr>
          </a:solidFill>
        </p:grpSpPr>
        <p:sp>
          <p:nvSpPr>
            <p:cNvPr id="4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sp>
          <p:nvSpPr>
            <p:cNvPr id="5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grpSp>
      <p:pic>
        <p:nvPicPr>
          <p:cNvPr id="56" name="图片 76" descr="接入交换机.png"/>
          <p:cNvPicPr>
            <a:picLocks noChangeAspect="1"/>
          </p:cNvPicPr>
          <p:nvPr/>
        </p:nvPicPr>
        <p:blipFill>
          <a:blip r:embed="rId8" cstate="print"/>
          <a:stretch>
            <a:fillRect/>
          </a:stretch>
        </p:blipFill>
        <p:spPr bwMode="gray">
          <a:xfrm>
            <a:off x="1987383" y="3927125"/>
            <a:ext cx="405710" cy="331945"/>
          </a:xfrm>
          <a:prstGeom prst="rect">
            <a:avLst/>
          </a:prstGeom>
        </p:spPr>
      </p:pic>
      <p:grpSp>
        <p:nvGrpSpPr>
          <p:cNvPr id="73" name="Group 161"/>
          <p:cNvGrpSpPr/>
          <p:nvPr/>
        </p:nvGrpSpPr>
        <p:grpSpPr bwMode="gray">
          <a:xfrm rot="10800000">
            <a:off x="3993961" y="4053842"/>
            <a:ext cx="1560982" cy="865959"/>
            <a:chOff x="-1233037" y="914446"/>
            <a:chExt cx="1573823" cy="778776"/>
          </a:xfrm>
        </p:grpSpPr>
        <p:cxnSp>
          <p:nvCxnSpPr>
            <p:cNvPr id="74"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6" name="文本框 75"/>
          <p:cNvSpPr txBox="1"/>
          <p:nvPr/>
        </p:nvSpPr>
        <p:spPr bwMode="gray">
          <a:xfrm>
            <a:off x="4204788" y="1773646"/>
            <a:ext cx="1345240" cy="307777"/>
          </a:xfrm>
          <a:prstGeom prst="rect">
            <a:avLst/>
          </a:prstGeom>
          <a:noFill/>
        </p:spPr>
        <p:txBody>
          <a:bodyPr wrap="none" rtlCol="0">
            <a:spAutoFit/>
          </a:bodyPr>
          <a:lstStyle/>
          <a:p>
            <a:r>
              <a:rPr lang="en-US" altLang="zh-CN" sz="1400">
                <a:cs typeface="+mn-ea"/>
                <a:sym typeface="+mn-lt"/>
              </a:rPr>
              <a:t>FW+L2SW+AP</a:t>
            </a:r>
          </a:p>
        </p:txBody>
      </p:sp>
      <p:cxnSp>
        <p:nvCxnSpPr>
          <p:cNvPr id="77" name="直接连接符 76"/>
          <p:cNvCxnSpPr/>
          <p:nvPr/>
        </p:nvCxnSpPr>
        <p:spPr bwMode="gray">
          <a:xfrm>
            <a:off x="4774452" y="2506155"/>
            <a:ext cx="0" cy="25188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任意多边形 77"/>
          <p:cNvSpPr/>
          <p:nvPr/>
        </p:nvSpPr>
        <p:spPr bwMode="gray">
          <a:xfrm>
            <a:off x="4414303" y="2144276"/>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pic>
        <p:nvPicPr>
          <p:cNvPr id="82" name="图片 158" descr="SAN网络-蓝.png"/>
          <p:cNvPicPr>
            <a:picLocks noChangeAspect="1"/>
          </p:cNvPicPr>
          <p:nvPr/>
        </p:nvPicPr>
        <p:blipFill>
          <a:blip r:embed="rId4" cstate="print"/>
          <a:stretch>
            <a:fillRect/>
          </a:stretch>
        </p:blipFill>
        <p:spPr bwMode="gray">
          <a:xfrm>
            <a:off x="5492614" y="5587958"/>
            <a:ext cx="243218" cy="398465"/>
          </a:xfrm>
          <a:prstGeom prst="rect">
            <a:avLst/>
          </a:prstGeom>
        </p:spPr>
      </p:pic>
      <p:pic>
        <p:nvPicPr>
          <p:cNvPr id="83" name="图片 157" descr="故障链路.png"/>
          <p:cNvPicPr>
            <a:picLocks noChangeAspect="1"/>
          </p:cNvPicPr>
          <p:nvPr/>
        </p:nvPicPr>
        <p:blipFill>
          <a:blip r:embed="rId5" cstate="print"/>
          <a:stretch>
            <a:fillRect/>
          </a:stretch>
        </p:blipFill>
        <p:spPr bwMode="gray">
          <a:xfrm>
            <a:off x="4602422" y="5620799"/>
            <a:ext cx="446281" cy="332783"/>
          </a:xfrm>
          <a:prstGeom prst="rect">
            <a:avLst/>
          </a:prstGeom>
        </p:spPr>
      </p:pic>
      <p:pic>
        <p:nvPicPr>
          <p:cNvPr id="84"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814390" y="4853918"/>
            <a:ext cx="445506" cy="342149"/>
          </a:xfrm>
          <a:prstGeom prst="rect">
            <a:avLst/>
          </a:prstGeom>
        </p:spPr>
      </p:pic>
      <p:pic>
        <p:nvPicPr>
          <p:cNvPr id="85" name="图片 84" descr="云AP蓝.png"/>
          <p:cNvPicPr>
            <a:picLocks noChangeAspect="1"/>
          </p:cNvPicPr>
          <p:nvPr/>
        </p:nvPicPr>
        <p:blipFill>
          <a:blip r:embed="rId7" cstate="print"/>
          <a:stretch>
            <a:fillRect/>
          </a:stretch>
        </p:blipFill>
        <p:spPr bwMode="gray">
          <a:xfrm>
            <a:off x="4583496" y="4864372"/>
            <a:ext cx="405405" cy="331695"/>
          </a:xfrm>
          <a:prstGeom prst="rect">
            <a:avLst/>
          </a:prstGeom>
        </p:spPr>
      </p:pic>
      <p:pic>
        <p:nvPicPr>
          <p:cNvPr id="86" name="图片 85" descr="云AP蓝.png"/>
          <p:cNvPicPr>
            <a:picLocks noChangeAspect="1"/>
          </p:cNvPicPr>
          <p:nvPr/>
        </p:nvPicPr>
        <p:blipFill>
          <a:blip r:embed="rId7" cstate="print"/>
          <a:stretch>
            <a:fillRect/>
          </a:stretch>
        </p:blipFill>
        <p:spPr bwMode="gray">
          <a:xfrm>
            <a:off x="5411521" y="4864372"/>
            <a:ext cx="405405" cy="331695"/>
          </a:xfrm>
          <a:prstGeom prst="rect">
            <a:avLst/>
          </a:prstGeom>
        </p:spPr>
      </p:pic>
      <p:grpSp>
        <p:nvGrpSpPr>
          <p:cNvPr id="87" name="组合 758"/>
          <p:cNvGrpSpPr/>
          <p:nvPr/>
        </p:nvGrpSpPr>
        <p:grpSpPr bwMode="gray">
          <a:xfrm flipV="1">
            <a:off x="4656344" y="5285859"/>
            <a:ext cx="236214" cy="200032"/>
            <a:chOff x="7440613" y="4868863"/>
            <a:chExt cx="1019175" cy="828675"/>
          </a:xfrm>
          <a:solidFill>
            <a:schemeClr val="bg1">
              <a:lumMod val="50000"/>
            </a:schemeClr>
          </a:solidFill>
        </p:grpSpPr>
        <p:sp>
          <p:nvSpPr>
            <p:cNvPr id="88"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sp>
          <p:nvSpPr>
            <p:cNvPr id="89"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grpSp>
      <p:grpSp>
        <p:nvGrpSpPr>
          <p:cNvPr id="90" name="组合 758"/>
          <p:cNvGrpSpPr/>
          <p:nvPr/>
        </p:nvGrpSpPr>
        <p:grpSpPr bwMode="gray">
          <a:xfrm flipV="1">
            <a:off x="5485970" y="5285859"/>
            <a:ext cx="236214" cy="200032"/>
            <a:chOff x="7440613" y="4868863"/>
            <a:chExt cx="1019175" cy="828675"/>
          </a:xfrm>
          <a:solidFill>
            <a:schemeClr val="bg1">
              <a:lumMod val="50000"/>
            </a:schemeClr>
          </a:solidFill>
        </p:grpSpPr>
        <p:sp>
          <p:nvSpPr>
            <p:cNvPr id="9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sp>
          <p:nvSpPr>
            <p:cNvPr id="92"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grpSp>
      <p:pic>
        <p:nvPicPr>
          <p:cNvPr id="93" name="图片 76" descr="接入交换机.png"/>
          <p:cNvPicPr>
            <a:picLocks noChangeAspect="1"/>
          </p:cNvPicPr>
          <p:nvPr/>
        </p:nvPicPr>
        <p:blipFill>
          <a:blip r:embed="rId8" cstate="print"/>
          <a:stretch>
            <a:fillRect/>
          </a:stretch>
        </p:blipFill>
        <p:spPr bwMode="gray">
          <a:xfrm>
            <a:off x="4568363" y="3927125"/>
            <a:ext cx="405710" cy="331945"/>
          </a:xfrm>
          <a:prstGeom prst="rect">
            <a:avLst/>
          </a:prstGeom>
        </p:spPr>
      </p:pic>
      <p:pic>
        <p:nvPicPr>
          <p:cNvPr id="95"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4562641" y="3123670"/>
            <a:ext cx="446281" cy="365139"/>
          </a:xfrm>
          <a:prstGeom prst="rect">
            <a:avLst/>
          </a:prstGeom>
        </p:spPr>
      </p:pic>
    </p:spTree>
    <p:extLst>
      <p:ext uri="{BB962C8B-B14F-4D97-AF65-F5344CB8AC3E}">
        <p14:creationId xmlns:p14="http://schemas.microsoft.com/office/powerpoint/2010/main" val="2868806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gray">
          <a:xfrm>
            <a:off x="555882" y="1517794"/>
            <a:ext cx="5413598" cy="4606781"/>
          </a:xfrm>
          <a:prstGeom prst="roundRect">
            <a:avLst>
              <a:gd name="adj" fmla="val 0"/>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61" name="直接连接符 60"/>
          <p:cNvCxnSpPr/>
          <p:nvPr/>
        </p:nvCxnSpPr>
        <p:spPr bwMode="gray">
          <a:xfrm>
            <a:off x="1410883" y="4448751"/>
            <a:ext cx="0" cy="1157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2916435" y="4448751"/>
            <a:ext cx="0" cy="56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gray">
          <a:xfrm>
            <a:off x="2159766" y="4448751"/>
            <a:ext cx="0" cy="56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 name="Group 161"/>
          <p:cNvGrpSpPr/>
          <p:nvPr/>
        </p:nvGrpSpPr>
        <p:grpSpPr bwMode="gray">
          <a:xfrm rot="10800000">
            <a:off x="1379275" y="3542308"/>
            <a:ext cx="1560982" cy="865959"/>
            <a:chOff x="-1233037" y="914446"/>
            <a:chExt cx="1573823" cy="778776"/>
          </a:xfrm>
        </p:grpSpPr>
        <p:cxnSp>
          <p:nvCxnSpPr>
            <p:cNvPr id="70"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圆角矩形 25"/>
          <p:cNvSpPr/>
          <p:nvPr/>
        </p:nvSpPr>
        <p:spPr bwMode="gray">
          <a:xfrm>
            <a:off x="549415" y="1094530"/>
            <a:ext cx="5413598" cy="441720"/>
          </a:xfrm>
          <a:prstGeom prst="roundRect">
            <a:avLst>
              <a:gd name="adj" fmla="val 0"/>
            </a:avLst>
          </a:prstGeom>
          <a:solidFill>
            <a:schemeClr val="bg1">
              <a:lumMod val="8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2" name="标题 1"/>
          <p:cNvSpPr>
            <a:spLocks noGrp="1"/>
          </p:cNvSpPr>
          <p:nvPr>
            <p:ph type="title"/>
          </p:nvPr>
        </p:nvSpPr>
        <p:spPr bwMode="gray"/>
        <p:txBody>
          <a:bodyPr/>
          <a:lstStyle/>
          <a:p>
            <a:r>
              <a:rPr lang="zh-CN" altLang="en-US" smtClean="0">
                <a:sym typeface="+mn-lt"/>
              </a:rPr>
              <a:t>典型组网方案：出口网关</a:t>
            </a:r>
            <a:r>
              <a:rPr lang="en-US" altLang="zh-CN" smtClean="0">
                <a:sym typeface="+mn-lt"/>
              </a:rPr>
              <a:t>+L2SW+</a:t>
            </a:r>
            <a:r>
              <a:rPr lang="zh-CN" altLang="en-US" smtClean="0">
                <a:sym typeface="+mn-lt"/>
              </a:rPr>
              <a:t>分布式</a:t>
            </a:r>
            <a:r>
              <a:rPr lang="en-US" altLang="zh-CN" smtClean="0">
                <a:sym typeface="+mn-lt"/>
              </a:rPr>
              <a:t>AP</a:t>
            </a:r>
            <a:r>
              <a:rPr lang="zh-CN" altLang="en-US" smtClean="0">
                <a:sym typeface="+mn-lt"/>
              </a:rPr>
              <a:t>组网</a:t>
            </a:r>
            <a:endParaRPr lang="zh-CN" altLang="en-US">
              <a:sym typeface="+mn-lt"/>
            </a:endParaRPr>
          </a:p>
        </p:txBody>
      </p:sp>
      <p:sp>
        <p:nvSpPr>
          <p:cNvPr id="4" name="文本占位符 3"/>
          <p:cNvSpPr>
            <a:spLocks noGrp="1"/>
          </p:cNvSpPr>
          <p:nvPr>
            <p:ph type="body" sz="quarter" idx="10"/>
          </p:nvPr>
        </p:nvSpPr>
        <p:spPr bwMode="gray">
          <a:xfrm>
            <a:off x="6105047" y="1047750"/>
            <a:ext cx="5644040" cy="4879805"/>
          </a:xfrm>
        </p:spPr>
        <p:txBody>
          <a:bodyPr/>
          <a:lstStyle/>
          <a:p>
            <a:r>
              <a:rPr lang="zh-CN" altLang="en-US" sz="1400" dirty="0" smtClean="0">
                <a:sym typeface="+mn-lt"/>
              </a:rPr>
              <a:t>方案概述</a:t>
            </a:r>
          </a:p>
          <a:p>
            <a:pPr lvl="1"/>
            <a:r>
              <a:rPr lang="zh-CN" altLang="en-US" sz="1200" dirty="0" smtClean="0">
                <a:sym typeface="+mn-lt"/>
              </a:rPr>
              <a:t>多房间建筑模式的场景，比如：宿舍、酒店等，可以免网规，每个房间独立信号；</a:t>
            </a:r>
          </a:p>
          <a:p>
            <a:pPr lvl="1"/>
            <a:r>
              <a:rPr lang="zh-CN" altLang="en-US" sz="1200" dirty="0" smtClean="0">
                <a:sym typeface="+mn-lt"/>
              </a:rPr>
              <a:t>出口网关</a:t>
            </a:r>
            <a:r>
              <a:rPr lang="en-US" altLang="zh-CN" sz="1200" dirty="0" smtClean="0">
                <a:sym typeface="+mn-lt"/>
              </a:rPr>
              <a:t>AR</a:t>
            </a:r>
            <a:r>
              <a:rPr lang="zh-CN" altLang="en-US" sz="1200" dirty="0" smtClean="0">
                <a:sym typeface="+mn-lt"/>
              </a:rPr>
              <a:t>设备提供出口特性，比如：</a:t>
            </a:r>
            <a:r>
              <a:rPr lang="en-US" altLang="zh-CN" sz="1200" dirty="0" smtClean="0">
                <a:sym typeface="+mn-lt"/>
              </a:rPr>
              <a:t>WAN</a:t>
            </a:r>
            <a:r>
              <a:rPr lang="zh-CN" altLang="en-US" sz="1200" dirty="0" smtClean="0">
                <a:sym typeface="+mn-lt"/>
              </a:rPr>
              <a:t>接入、</a:t>
            </a:r>
            <a:r>
              <a:rPr lang="en-US" altLang="zh-CN" sz="1200" dirty="0" smtClean="0">
                <a:sym typeface="+mn-lt"/>
              </a:rPr>
              <a:t>DHCP</a:t>
            </a:r>
            <a:r>
              <a:rPr lang="zh-CN" altLang="en-US" sz="1200" dirty="0" smtClean="0">
                <a:sym typeface="+mn-lt"/>
              </a:rPr>
              <a:t>、</a:t>
            </a:r>
            <a:r>
              <a:rPr lang="en-US" altLang="zh-CN" sz="1200" dirty="0" smtClean="0">
                <a:sym typeface="+mn-lt"/>
              </a:rPr>
              <a:t>NAT</a:t>
            </a:r>
            <a:r>
              <a:rPr lang="zh-CN" altLang="en-US" sz="1200" dirty="0" smtClean="0">
                <a:sym typeface="+mn-lt"/>
              </a:rPr>
              <a:t>等；</a:t>
            </a:r>
          </a:p>
          <a:p>
            <a:pPr lvl="1"/>
            <a:r>
              <a:rPr lang="en-US" altLang="zh-CN" sz="1200" dirty="0" smtClean="0">
                <a:sym typeface="+mn-lt"/>
              </a:rPr>
              <a:t>L2SW</a:t>
            </a:r>
            <a:r>
              <a:rPr lang="zh-CN" altLang="en-US" sz="1200" dirty="0" smtClean="0">
                <a:sym typeface="+mn-lt"/>
              </a:rPr>
              <a:t>提供</a:t>
            </a:r>
            <a:r>
              <a:rPr lang="en-US" altLang="zh-CN" sz="1200" dirty="0" err="1" smtClean="0">
                <a:sym typeface="+mn-lt"/>
              </a:rPr>
              <a:t>PoE</a:t>
            </a:r>
            <a:r>
              <a:rPr lang="zh-CN" altLang="en-US" sz="1200" dirty="0" smtClean="0">
                <a:sym typeface="+mn-lt"/>
              </a:rPr>
              <a:t>扩展接入和有线终端接入功能；</a:t>
            </a:r>
          </a:p>
          <a:p>
            <a:pPr lvl="1"/>
            <a:r>
              <a:rPr lang="en-US" altLang="zh-CN" sz="1200" dirty="0" smtClean="0">
                <a:sym typeface="+mn-lt"/>
              </a:rPr>
              <a:t>AP</a:t>
            </a:r>
            <a:r>
              <a:rPr lang="zh-CN" altLang="en-US" sz="1200" dirty="0" smtClean="0">
                <a:sym typeface="+mn-lt"/>
              </a:rPr>
              <a:t>提供站点里的无线终端接入；</a:t>
            </a:r>
          </a:p>
          <a:p>
            <a:pPr lvl="1"/>
            <a:r>
              <a:rPr lang="en-US" altLang="zh-CN" sz="1200" dirty="0" smtClean="0">
                <a:sym typeface="+mn-lt"/>
              </a:rPr>
              <a:t>AP</a:t>
            </a:r>
            <a:r>
              <a:rPr lang="zh-CN" altLang="en-US" sz="1200" dirty="0" smtClean="0">
                <a:sym typeface="+mn-lt"/>
              </a:rPr>
              <a:t>支持</a:t>
            </a:r>
            <a:r>
              <a:rPr lang="en-US" altLang="zh-CN" sz="1200" dirty="0" smtClean="0">
                <a:sym typeface="+mn-lt"/>
              </a:rPr>
              <a:t>Mesh</a:t>
            </a:r>
            <a:r>
              <a:rPr lang="zh-CN" altLang="en-US" sz="1200" dirty="0" smtClean="0">
                <a:sym typeface="+mn-lt"/>
              </a:rPr>
              <a:t>互联；</a:t>
            </a:r>
          </a:p>
          <a:p>
            <a:pPr lvl="1"/>
            <a:r>
              <a:rPr lang="zh-CN" altLang="en-US" sz="1200" dirty="0" smtClean="0">
                <a:sym typeface="+mn-lt"/>
              </a:rPr>
              <a:t>高安全场景，需要部署</a:t>
            </a:r>
            <a:r>
              <a:rPr lang="en-US" altLang="zh-CN" sz="1200" dirty="0" smtClean="0">
                <a:sym typeface="+mn-lt"/>
              </a:rPr>
              <a:t>URL</a:t>
            </a:r>
            <a:r>
              <a:rPr lang="zh-CN" altLang="en-US" sz="1200" dirty="0" smtClean="0">
                <a:sym typeface="+mn-lt"/>
              </a:rPr>
              <a:t>过滤、安全防御、</a:t>
            </a:r>
            <a:r>
              <a:rPr lang="en-US" altLang="zh-CN" sz="1200" dirty="0" smtClean="0">
                <a:sym typeface="+mn-lt"/>
              </a:rPr>
              <a:t>AV</a:t>
            </a:r>
            <a:r>
              <a:rPr lang="zh-CN" altLang="en-US" sz="1200" dirty="0" smtClean="0">
                <a:sym typeface="+mn-lt"/>
              </a:rPr>
              <a:t>反病毒等高级特性，出口需要部署</a:t>
            </a:r>
            <a:r>
              <a:rPr lang="en-US" altLang="zh-CN" sz="1200" dirty="0" smtClean="0">
                <a:sym typeface="+mn-lt"/>
              </a:rPr>
              <a:t>FW</a:t>
            </a:r>
            <a:r>
              <a:rPr lang="zh-CN" altLang="en-US" sz="1200" dirty="0" smtClean="0">
                <a:sym typeface="+mn-lt"/>
              </a:rPr>
              <a:t>设备。</a:t>
            </a:r>
            <a:endParaRPr lang="en-US" altLang="zh-CN" sz="1200" dirty="0" smtClean="0">
              <a:sym typeface="+mn-lt"/>
            </a:endParaRPr>
          </a:p>
          <a:p>
            <a:r>
              <a:rPr lang="zh-CN" altLang="en-US" sz="1400" dirty="0" smtClean="0">
                <a:sym typeface="+mn-lt"/>
              </a:rPr>
              <a:t>方案约束</a:t>
            </a:r>
          </a:p>
          <a:p>
            <a:pPr lvl="1"/>
            <a:r>
              <a:rPr lang="en-US" altLang="zh-CN" sz="1200" dirty="0" smtClean="0">
                <a:sym typeface="+mn-lt"/>
              </a:rPr>
              <a:t>AR/FW</a:t>
            </a:r>
            <a:r>
              <a:rPr lang="zh-CN" altLang="en-US" sz="1200" dirty="0" smtClean="0">
                <a:sym typeface="+mn-lt"/>
              </a:rPr>
              <a:t>在云管理模式下当前不支持</a:t>
            </a:r>
            <a:r>
              <a:rPr lang="en-US" altLang="zh-CN" sz="1200" dirty="0" smtClean="0">
                <a:sym typeface="+mn-lt"/>
              </a:rPr>
              <a:t>Eth-Trunk</a:t>
            </a:r>
            <a:r>
              <a:rPr lang="zh-CN" altLang="en-US" sz="1200" dirty="0" smtClean="0">
                <a:sym typeface="+mn-lt"/>
              </a:rPr>
              <a:t>，不支持和</a:t>
            </a:r>
            <a:r>
              <a:rPr lang="en-US" altLang="zh-CN" sz="1200" dirty="0" smtClean="0">
                <a:sym typeface="+mn-lt"/>
              </a:rPr>
              <a:t>LSW</a:t>
            </a:r>
            <a:r>
              <a:rPr lang="zh-CN" altLang="en-US" sz="1200" dirty="0" smtClean="0">
                <a:sym typeface="+mn-lt"/>
              </a:rPr>
              <a:t>通过</a:t>
            </a:r>
            <a:r>
              <a:rPr lang="en-US" altLang="zh-CN" sz="1200" dirty="0" smtClean="0">
                <a:sym typeface="+mn-lt"/>
              </a:rPr>
              <a:t>Eth-Trunk</a:t>
            </a:r>
            <a:r>
              <a:rPr lang="zh-CN" altLang="en-US" sz="1200" dirty="0" smtClean="0">
                <a:sym typeface="+mn-lt"/>
              </a:rPr>
              <a:t>互联；</a:t>
            </a:r>
          </a:p>
          <a:p>
            <a:pPr lvl="1"/>
            <a:r>
              <a:rPr lang="zh-CN" altLang="en-US" sz="1200" dirty="0" smtClean="0">
                <a:sym typeface="+mn-lt"/>
              </a:rPr>
              <a:t>如果需要部署</a:t>
            </a:r>
            <a:r>
              <a:rPr lang="en-US" altLang="zh-CN" sz="1200" dirty="0" smtClean="0">
                <a:sym typeface="+mn-lt"/>
              </a:rPr>
              <a:t>LSW</a:t>
            </a:r>
            <a:r>
              <a:rPr lang="zh-CN" altLang="en-US" sz="1200" dirty="0" smtClean="0">
                <a:sym typeface="+mn-lt"/>
              </a:rPr>
              <a:t>堆叠，推荐部署多层</a:t>
            </a:r>
            <a:r>
              <a:rPr lang="en-US" altLang="zh-CN" sz="1200" dirty="0" smtClean="0">
                <a:sym typeface="+mn-lt"/>
              </a:rPr>
              <a:t>LSW</a:t>
            </a:r>
            <a:r>
              <a:rPr lang="zh-CN" altLang="en-US" sz="1200" dirty="0" smtClean="0">
                <a:sym typeface="+mn-lt"/>
              </a:rPr>
              <a:t>；</a:t>
            </a:r>
          </a:p>
          <a:p>
            <a:pPr lvl="1"/>
            <a:r>
              <a:rPr lang="en-US" altLang="zh-CN" sz="1200" dirty="0" smtClean="0">
                <a:sym typeface="+mn-lt"/>
              </a:rPr>
              <a:t>AR</a:t>
            </a:r>
            <a:r>
              <a:rPr lang="zh-CN" altLang="en-US" sz="1200" dirty="0" smtClean="0">
                <a:sym typeface="+mn-lt"/>
              </a:rPr>
              <a:t>仅支持单机部署。</a:t>
            </a:r>
          </a:p>
          <a:p>
            <a:endParaRPr lang="zh-CN" altLang="en-US" sz="1400" dirty="0"/>
          </a:p>
        </p:txBody>
      </p:sp>
      <p:sp>
        <p:nvSpPr>
          <p:cNvPr id="6" name="文本框 5"/>
          <p:cNvSpPr txBox="1"/>
          <p:nvPr/>
        </p:nvSpPr>
        <p:spPr bwMode="gray">
          <a:xfrm>
            <a:off x="1316880" y="1959514"/>
            <a:ext cx="1840568" cy="307777"/>
          </a:xfrm>
          <a:prstGeom prst="rect">
            <a:avLst/>
          </a:prstGeom>
          <a:noFill/>
        </p:spPr>
        <p:txBody>
          <a:bodyPr wrap="none" rtlCol="0">
            <a:spAutoFit/>
          </a:bodyPr>
          <a:lstStyle/>
          <a:p>
            <a:r>
              <a:rPr lang="en-US" altLang="zh-CN" sz="1400" dirty="0">
                <a:cs typeface="+mn-ea"/>
                <a:sym typeface="+mn-lt"/>
              </a:rPr>
              <a:t>AR+L2SW+</a:t>
            </a:r>
            <a:r>
              <a:rPr lang="zh-CN" altLang="en-US" sz="1400" dirty="0">
                <a:cs typeface="+mn-ea"/>
                <a:sym typeface="+mn-lt"/>
              </a:rPr>
              <a:t>分布式</a:t>
            </a:r>
            <a:r>
              <a:rPr lang="en-US" altLang="zh-CN" sz="1400" dirty="0">
                <a:cs typeface="+mn-ea"/>
                <a:sym typeface="+mn-lt"/>
              </a:rPr>
              <a:t>AP</a:t>
            </a:r>
          </a:p>
        </p:txBody>
      </p:sp>
      <p:sp>
        <p:nvSpPr>
          <p:cNvPr id="27" name="文本框 26"/>
          <p:cNvSpPr txBox="1"/>
          <p:nvPr/>
        </p:nvSpPr>
        <p:spPr bwMode="gray">
          <a:xfrm>
            <a:off x="521984" y="1152274"/>
            <a:ext cx="902812" cy="307777"/>
          </a:xfrm>
          <a:prstGeom prst="rect">
            <a:avLst/>
          </a:prstGeom>
          <a:noFill/>
        </p:spPr>
        <p:txBody>
          <a:bodyPr wrap="none" rtlCol="0">
            <a:spAutoFit/>
          </a:bodyPr>
          <a:lstStyle/>
          <a:p>
            <a:pPr algn="r"/>
            <a:r>
              <a:rPr lang="zh-CN" altLang="en-US" sz="1400">
                <a:cs typeface="+mn-ea"/>
                <a:sym typeface="+mn-lt"/>
              </a:rPr>
              <a:t>网络规模</a:t>
            </a:r>
          </a:p>
        </p:txBody>
      </p:sp>
      <p:sp>
        <p:nvSpPr>
          <p:cNvPr id="28" name="文本框 27"/>
          <p:cNvSpPr txBox="1"/>
          <p:nvPr/>
        </p:nvSpPr>
        <p:spPr bwMode="gray">
          <a:xfrm>
            <a:off x="521984" y="1699391"/>
            <a:ext cx="902812" cy="307777"/>
          </a:xfrm>
          <a:prstGeom prst="rect">
            <a:avLst/>
          </a:prstGeom>
          <a:noFill/>
        </p:spPr>
        <p:txBody>
          <a:bodyPr wrap="none" rtlCol="0">
            <a:spAutoFit/>
          </a:bodyPr>
          <a:lstStyle/>
          <a:p>
            <a:pPr algn="r"/>
            <a:r>
              <a:rPr lang="zh-CN" altLang="en-US" sz="1400">
                <a:cs typeface="+mn-ea"/>
                <a:sym typeface="+mn-lt"/>
              </a:rPr>
              <a:t>组网类型</a:t>
            </a:r>
          </a:p>
        </p:txBody>
      </p:sp>
      <p:sp>
        <p:nvSpPr>
          <p:cNvPr id="30" name="文本框 29"/>
          <p:cNvSpPr txBox="1"/>
          <p:nvPr/>
        </p:nvSpPr>
        <p:spPr bwMode="gray">
          <a:xfrm>
            <a:off x="2482021" y="1152274"/>
            <a:ext cx="2637260" cy="307777"/>
          </a:xfrm>
          <a:prstGeom prst="rect">
            <a:avLst/>
          </a:prstGeom>
          <a:noFill/>
        </p:spPr>
        <p:txBody>
          <a:bodyPr wrap="none" rtlCol="0">
            <a:spAutoFit/>
          </a:bodyPr>
          <a:lstStyle/>
          <a:p>
            <a:r>
              <a:rPr lang="zh-CN" altLang="en-US" sz="1400" dirty="0">
                <a:cs typeface="+mn-ea"/>
                <a:sym typeface="+mn-lt"/>
              </a:rPr>
              <a:t>终端</a:t>
            </a:r>
            <a:r>
              <a:rPr lang="en-US" altLang="zh-CN" sz="1400" dirty="0">
                <a:cs typeface="+mn-ea"/>
                <a:sym typeface="+mn-lt"/>
              </a:rPr>
              <a:t>&lt;</a:t>
            </a:r>
            <a:r>
              <a:rPr lang="en-US" altLang="zh-CN" sz="1400" dirty="0" smtClean="0">
                <a:cs typeface="+mn-ea"/>
                <a:sym typeface="+mn-lt"/>
              </a:rPr>
              <a:t>2000</a:t>
            </a:r>
            <a:r>
              <a:rPr lang="zh-CN" altLang="en-US" sz="1400" dirty="0" smtClean="0">
                <a:cs typeface="+mn-ea"/>
                <a:sym typeface="+mn-lt"/>
              </a:rPr>
              <a:t>，面积</a:t>
            </a:r>
            <a:r>
              <a:rPr lang="en-US" altLang="zh-CN" sz="1400" dirty="0">
                <a:cs typeface="+mn-ea"/>
                <a:sym typeface="+mn-lt"/>
              </a:rPr>
              <a:t>&lt;3000</a:t>
            </a:r>
            <a:r>
              <a:rPr lang="zh-CN" altLang="en-US" sz="1400" dirty="0">
                <a:cs typeface="+mn-ea"/>
                <a:sym typeface="+mn-lt"/>
              </a:rPr>
              <a:t>平方米</a:t>
            </a:r>
          </a:p>
        </p:txBody>
      </p:sp>
      <p:cxnSp>
        <p:nvCxnSpPr>
          <p:cNvPr id="23" name="直接连接符 22"/>
          <p:cNvCxnSpPr/>
          <p:nvPr/>
        </p:nvCxnSpPr>
        <p:spPr bwMode="gray">
          <a:xfrm>
            <a:off x="2159766" y="2792311"/>
            <a:ext cx="0" cy="16159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任意多边形 23"/>
          <p:cNvSpPr/>
          <p:nvPr/>
        </p:nvSpPr>
        <p:spPr bwMode="gray">
          <a:xfrm>
            <a:off x="1799617" y="2430432"/>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pic>
        <p:nvPicPr>
          <p:cNvPr id="3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942367" y="3409052"/>
            <a:ext cx="446281" cy="365138"/>
          </a:xfrm>
          <a:prstGeom prst="rect">
            <a:avLst/>
          </a:prstGeom>
          <a:noFill/>
        </p:spPr>
      </p:pic>
      <p:sp>
        <p:nvSpPr>
          <p:cNvPr id="34" name="Freeform 72"/>
          <p:cNvSpPr>
            <a:spLocks/>
          </p:cNvSpPr>
          <p:nvPr/>
        </p:nvSpPr>
        <p:spPr bwMode="gray">
          <a:xfrm rot="4483926">
            <a:off x="2444739" y="2975180"/>
            <a:ext cx="239764" cy="43800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358"/>
                </a:moveTo>
                <a:lnTo>
                  <a:pt x="52" y="126"/>
                </a:lnTo>
                <a:lnTo>
                  <a:pt x="145" y="139"/>
                </a:lnTo>
                <a:lnTo>
                  <a:pt x="0" y="0"/>
                </a:lnTo>
                <a:lnTo>
                  <a:pt x="283" y="192"/>
                </a:lnTo>
                <a:lnTo>
                  <a:pt x="164" y="172"/>
                </a:lnTo>
                <a:lnTo>
                  <a:pt x="336" y="358"/>
                </a:lnTo>
                <a:close/>
              </a:path>
            </a:pathLst>
          </a:custGeom>
          <a:solidFill>
            <a:schemeClr val="bg1">
              <a:lumMod val="65000"/>
            </a:schemeClr>
          </a:solidFill>
          <a:ln w="9525">
            <a:solidFill>
              <a:schemeClr val="bg1">
                <a:lumMod val="65000"/>
              </a:schemeClr>
            </a:solidFill>
            <a:round/>
            <a:headEnd/>
            <a:tailEnd/>
          </a:ln>
        </p:spPr>
        <p:txBody>
          <a:bodyPr lIns="45667" tIns="22832" rIns="45667" bIns="22832"/>
          <a:lstStyle/>
          <a:p>
            <a:pPr algn="ctr"/>
            <a:endParaRPr lang="zh-CN" altLang="en-US" sz="2000" dirty="0">
              <a:cs typeface="+mn-ea"/>
              <a:sym typeface="+mn-lt"/>
            </a:endParaRPr>
          </a:p>
        </p:txBody>
      </p:sp>
      <p:sp>
        <p:nvSpPr>
          <p:cNvPr id="35" name="文本框 34"/>
          <p:cNvSpPr txBox="1"/>
          <p:nvPr/>
        </p:nvSpPr>
        <p:spPr bwMode="gray">
          <a:xfrm>
            <a:off x="2399480" y="3238442"/>
            <a:ext cx="635110" cy="276999"/>
          </a:xfrm>
          <a:prstGeom prst="rect">
            <a:avLst/>
          </a:prstGeom>
          <a:noFill/>
        </p:spPr>
        <p:txBody>
          <a:bodyPr wrap="none" rtlCol="0">
            <a:spAutoFit/>
          </a:bodyPr>
          <a:lstStyle/>
          <a:p>
            <a:r>
              <a:rPr lang="en-US" altLang="zh-CN" sz="1200" dirty="0" smtClean="0">
                <a:cs typeface="+mn-ea"/>
                <a:sym typeface="+mn-lt"/>
              </a:rPr>
              <a:t>3G/4G</a:t>
            </a:r>
            <a:endParaRPr lang="zh-CN" altLang="en-US" sz="1200" dirty="0">
              <a:cs typeface="+mn-ea"/>
              <a:sym typeface="+mn-lt"/>
            </a:endParaRPr>
          </a:p>
        </p:txBody>
      </p:sp>
      <p:pic>
        <p:nvPicPr>
          <p:cNvPr id="36" name="图片 158" descr="SAN网络-蓝.png"/>
          <p:cNvPicPr>
            <a:picLocks noChangeAspect="1"/>
          </p:cNvPicPr>
          <p:nvPr/>
        </p:nvPicPr>
        <p:blipFill>
          <a:blip r:embed="rId4" cstate="print"/>
          <a:stretch>
            <a:fillRect/>
          </a:stretch>
        </p:blipFill>
        <p:spPr bwMode="gray">
          <a:xfrm>
            <a:off x="2834799" y="5550692"/>
            <a:ext cx="243218" cy="398465"/>
          </a:xfrm>
          <a:prstGeom prst="rect">
            <a:avLst/>
          </a:prstGeom>
        </p:spPr>
      </p:pic>
      <p:pic>
        <p:nvPicPr>
          <p:cNvPr id="37" name="图片 157" descr="故障链路.png"/>
          <p:cNvPicPr>
            <a:picLocks noChangeAspect="1"/>
          </p:cNvPicPr>
          <p:nvPr/>
        </p:nvPicPr>
        <p:blipFill>
          <a:blip r:embed="rId5" cstate="print"/>
          <a:stretch>
            <a:fillRect/>
          </a:stretch>
        </p:blipFill>
        <p:spPr bwMode="gray">
          <a:xfrm>
            <a:off x="1952629" y="5583533"/>
            <a:ext cx="446281" cy="332783"/>
          </a:xfrm>
          <a:prstGeom prst="rect">
            <a:avLst/>
          </a:prstGeom>
        </p:spPr>
      </p:pic>
      <p:pic>
        <p:nvPicPr>
          <p:cNvPr id="38"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199704" y="5550692"/>
            <a:ext cx="445506" cy="342149"/>
          </a:xfrm>
          <a:prstGeom prst="rect">
            <a:avLst/>
          </a:prstGeom>
        </p:spPr>
      </p:pic>
      <p:grpSp>
        <p:nvGrpSpPr>
          <p:cNvPr id="45" name="组合 758"/>
          <p:cNvGrpSpPr/>
          <p:nvPr/>
        </p:nvGrpSpPr>
        <p:grpSpPr bwMode="gray">
          <a:xfrm flipV="1">
            <a:off x="2041658" y="5269947"/>
            <a:ext cx="236214" cy="200032"/>
            <a:chOff x="7440613" y="4868863"/>
            <a:chExt cx="1019175" cy="828675"/>
          </a:xfrm>
          <a:solidFill>
            <a:schemeClr val="bg1">
              <a:lumMod val="50000"/>
            </a:schemeClr>
          </a:solidFill>
        </p:grpSpPr>
        <p:sp>
          <p:nvSpPr>
            <p:cNvPr id="4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4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grpSp>
        <p:nvGrpSpPr>
          <p:cNvPr id="48" name="组合 758"/>
          <p:cNvGrpSpPr/>
          <p:nvPr/>
        </p:nvGrpSpPr>
        <p:grpSpPr bwMode="gray">
          <a:xfrm flipV="1">
            <a:off x="2798376" y="5269947"/>
            <a:ext cx="236214" cy="200032"/>
            <a:chOff x="7440613" y="4868863"/>
            <a:chExt cx="1019175" cy="828675"/>
          </a:xfrm>
          <a:solidFill>
            <a:schemeClr val="bg1">
              <a:lumMod val="50000"/>
            </a:schemeClr>
          </a:solidFill>
        </p:grpSpPr>
        <p:sp>
          <p:nvSpPr>
            <p:cNvPr id="4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5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pic>
        <p:nvPicPr>
          <p:cNvPr id="56" name="图片 76" descr="接入交换机.png"/>
          <p:cNvPicPr>
            <a:picLocks noChangeAspect="1"/>
          </p:cNvPicPr>
          <p:nvPr/>
        </p:nvPicPr>
        <p:blipFill>
          <a:blip r:embed="rId7" cstate="print"/>
          <a:stretch>
            <a:fillRect/>
          </a:stretch>
        </p:blipFill>
        <p:spPr bwMode="gray">
          <a:xfrm>
            <a:off x="1215484" y="4214566"/>
            <a:ext cx="405710" cy="331945"/>
          </a:xfrm>
          <a:prstGeom prst="rect">
            <a:avLst/>
          </a:prstGeom>
        </p:spPr>
      </p:pic>
      <p:pic>
        <p:nvPicPr>
          <p:cNvPr id="51" name="图片 50" descr="云中心AP蓝.png"/>
          <p:cNvPicPr>
            <a:picLocks noChangeAspect="1"/>
          </p:cNvPicPr>
          <p:nvPr/>
        </p:nvPicPr>
        <p:blipFill>
          <a:blip r:embed="rId8" cstate="print"/>
          <a:stretch>
            <a:fillRect/>
          </a:stretch>
        </p:blipFill>
        <p:spPr bwMode="gray">
          <a:xfrm>
            <a:off x="1964065" y="4214566"/>
            <a:ext cx="405710" cy="331945"/>
          </a:xfrm>
          <a:prstGeom prst="rect">
            <a:avLst/>
          </a:prstGeom>
        </p:spPr>
      </p:pic>
      <p:pic>
        <p:nvPicPr>
          <p:cNvPr id="52" name="图片 51" descr="RRU蓝.png"/>
          <p:cNvPicPr>
            <a:picLocks noChangeAspect="1"/>
          </p:cNvPicPr>
          <p:nvPr/>
        </p:nvPicPr>
        <p:blipFill>
          <a:blip r:embed="rId9" cstate="print"/>
          <a:stretch>
            <a:fillRect/>
          </a:stretch>
        </p:blipFill>
        <p:spPr bwMode="gray">
          <a:xfrm>
            <a:off x="1975353" y="4864250"/>
            <a:ext cx="368827" cy="301768"/>
          </a:xfrm>
          <a:prstGeom prst="rect">
            <a:avLst/>
          </a:prstGeom>
        </p:spPr>
      </p:pic>
      <p:pic>
        <p:nvPicPr>
          <p:cNvPr id="53" name="图片 52" descr="云中心AP蓝.png"/>
          <p:cNvPicPr>
            <a:picLocks noChangeAspect="1"/>
          </p:cNvPicPr>
          <p:nvPr/>
        </p:nvPicPr>
        <p:blipFill>
          <a:blip r:embed="rId8" cstate="print"/>
          <a:stretch>
            <a:fillRect/>
          </a:stretch>
        </p:blipFill>
        <p:spPr bwMode="gray">
          <a:xfrm>
            <a:off x="2712646" y="4214566"/>
            <a:ext cx="405710" cy="331945"/>
          </a:xfrm>
          <a:prstGeom prst="rect">
            <a:avLst/>
          </a:prstGeom>
        </p:spPr>
      </p:pic>
      <p:pic>
        <p:nvPicPr>
          <p:cNvPr id="54" name="图片 53" descr="RRU蓝.png"/>
          <p:cNvPicPr>
            <a:picLocks noChangeAspect="1"/>
          </p:cNvPicPr>
          <p:nvPr/>
        </p:nvPicPr>
        <p:blipFill>
          <a:blip r:embed="rId9" cstate="print"/>
          <a:stretch>
            <a:fillRect/>
          </a:stretch>
        </p:blipFill>
        <p:spPr bwMode="gray">
          <a:xfrm>
            <a:off x="2726944" y="4864250"/>
            <a:ext cx="368827" cy="301768"/>
          </a:xfrm>
          <a:prstGeom prst="rect">
            <a:avLst/>
          </a:prstGeom>
        </p:spPr>
      </p:pic>
      <p:grpSp>
        <p:nvGrpSpPr>
          <p:cNvPr id="62" name="Group 3"/>
          <p:cNvGrpSpPr/>
          <p:nvPr/>
        </p:nvGrpSpPr>
        <p:grpSpPr bwMode="gray">
          <a:xfrm>
            <a:off x="2375626" y="5005343"/>
            <a:ext cx="183641" cy="42333"/>
            <a:chOff x="569105" y="6498084"/>
            <a:chExt cx="183641" cy="42333"/>
          </a:xfrm>
          <a:solidFill>
            <a:schemeClr val="bg1">
              <a:lumMod val="50000"/>
            </a:schemeClr>
          </a:solidFill>
        </p:grpSpPr>
        <p:sp>
          <p:nvSpPr>
            <p:cNvPr id="63" name="Oval 1"/>
            <p:cNvSpPr>
              <a:spLocks noChangeAspect="1"/>
            </p:cNvSpPr>
            <p:nvPr/>
          </p:nvSpPr>
          <p:spPr bwMode="gray">
            <a:xfrm>
              <a:off x="710413"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4" name="Oval 174"/>
            <p:cNvSpPr>
              <a:spLocks noChangeAspect="1"/>
            </p:cNvSpPr>
            <p:nvPr/>
          </p:nvSpPr>
          <p:spPr bwMode="gray">
            <a:xfrm>
              <a:off x="569105"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Oval 175"/>
            <p:cNvSpPr>
              <a:spLocks noChangeAspect="1"/>
            </p:cNvSpPr>
            <p:nvPr/>
          </p:nvSpPr>
          <p:spPr bwMode="gray">
            <a:xfrm>
              <a:off x="639759"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6" name="Group 3"/>
          <p:cNvGrpSpPr/>
          <p:nvPr/>
        </p:nvGrpSpPr>
        <p:grpSpPr bwMode="gray">
          <a:xfrm>
            <a:off x="3115115" y="5005343"/>
            <a:ext cx="183641" cy="42333"/>
            <a:chOff x="569105" y="6498084"/>
            <a:chExt cx="183641" cy="42333"/>
          </a:xfrm>
          <a:solidFill>
            <a:schemeClr val="bg1">
              <a:lumMod val="50000"/>
            </a:schemeClr>
          </a:solidFill>
        </p:grpSpPr>
        <p:sp>
          <p:nvSpPr>
            <p:cNvPr id="67" name="Oval 1"/>
            <p:cNvSpPr>
              <a:spLocks noChangeAspect="1"/>
            </p:cNvSpPr>
            <p:nvPr/>
          </p:nvSpPr>
          <p:spPr bwMode="gray">
            <a:xfrm>
              <a:off x="710413"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8" name="Oval 174"/>
            <p:cNvSpPr>
              <a:spLocks noChangeAspect="1"/>
            </p:cNvSpPr>
            <p:nvPr/>
          </p:nvSpPr>
          <p:spPr bwMode="gray">
            <a:xfrm>
              <a:off x="569105"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9" name="Oval 175"/>
            <p:cNvSpPr>
              <a:spLocks noChangeAspect="1"/>
            </p:cNvSpPr>
            <p:nvPr/>
          </p:nvSpPr>
          <p:spPr bwMode="gray">
            <a:xfrm>
              <a:off x="639759"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cxnSp>
        <p:nvCxnSpPr>
          <p:cNvPr id="71" name="直接连接符 70"/>
          <p:cNvCxnSpPr/>
          <p:nvPr/>
        </p:nvCxnSpPr>
        <p:spPr bwMode="gray">
          <a:xfrm>
            <a:off x="3935051" y="4448751"/>
            <a:ext cx="0" cy="1157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bwMode="gray">
          <a:xfrm>
            <a:off x="5440603" y="4448751"/>
            <a:ext cx="0" cy="56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bwMode="gray">
          <a:xfrm>
            <a:off x="4683934" y="4448751"/>
            <a:ext cx="0" cy="56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1" name="Group 161"/>
          <p:cNvGrpSpPr/>
          <p:nvPr/>
        </p:nvGrpSpPr>
        <p:grpSpPr bwMode="gray">
          <a:xfrm rot="10800000">
            <a:off x="3903443" y="3542308"/>
            <a:ext cx="1560982" cy="865959"/>
            <a:chOff x="-1233037" y="914446"/>
            <a:chExt cx="1573823" cy="778776"/>
          </a:xfrm>
        </p:grpSpPr>
        <p:cxnSp>
          <p:nvCxnSpPr>
            <p:cNvPr id="94"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文本框 96"/>
          <p:cNvSpPr txBox="1"/>
          <p:nvPr/>
        </p:nvSpPr>
        <p:spPr bwMode="gray">
          <a:xfrm>
            <a:off x="3841048" y="1959514"/>
            <a:ext cx="1883849" cy="307777"/>
          </a:xfrm>
          <a:prstGeom prst="rect">
            <a:avLst/>
          </a:prstGeom>
          <a:noFill/>
        </p:spPr>
        <p:txBody>
          <a:bodyPr wrap="none" rtlCol="0">
            <a:spAutoFit/>
          </a:bodyPr>
          <a:lstStyle/>
          <a:p>
            <a:r>
              <a:rPr lang="en-US" altLang="zh-CN" sz="1400">
                <a:cs typeface="+mn-ea"/>
                <a:sym typeface="+mn-lt"/>
              </a:rPr>
              <a:t>FW+L2SW+</a:t>
            </a:r>
            <a:r>
              <a:rPr lang="zh-CN" altLang="en-US" sz="1400">
                <a:cs typeface="+mn-ea"/>
                <a:sym typeface="+mn-lt"/>
              </a:rPr>
              <a:t>分布式</a:t>
            </a:r>
            <a:r>
              <a:rPr lang="en-US" altLang="zh-CN" sz="1400">
                <a:cs typeface="+mn-ea"/>
                <a:sym typeface="+mn-lt"/>
              </a:rPr>
              <a:t>AP</a:t>
            </a:r>
          </a:p>
        </p:txBody>
      </p:sp>
      <p:cxnSp>
        <p:nvCxnSpPr>
          <p:cNvPr id="98" name="直接连接符 97"/>
          <p:cNvCxnSpPr/>
          <p:nvPr/>
        </p:nvCxnSpPr>
        <p:spPr bwMode="gray">
          <a:xfrm>
            <a:off x="4683934" y="2792311"/>
            <a:ext cx="0" cy="16159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任意多边形 98"/>
          <p:cNvSpPr/>
          <p:nvPr/>
        </p:nvSpPr>
        <p:spPr bwMode="gray">
          <a:xfrm>
            <a:off x="4323785" y="2430432"/>
            <a:ext cx="731913" cy="48938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schemeClr val="bg1">
                    <a:lumMod val="50000"/>
                  </a:schemeClr>
                </a:solidFill>
                <a:cs typeface="+mn-ea"/>
                <a:sym typeface="+mn-lt"/>
              </a:rPr>
              <a:t>Internet</a:t>
            </a:r>
            <a:endParaRPr lang="zh-CN" altLang="en-US" sz="1200">
              <a:solidFill>
                <a:schemeClr val="bg1">
                  <a:lumMod val="50000"/>
                </a:schemeClr>
              </a:solidFill>
              <a:cs typeface="+mn-ea"/>
              <a:sym typeface="+mn-lt"/>
            </a:endParaRPr>
          </a:p>
        </p:txBody>
      </p:sp>
      <p:pic>
        <p:nvPicPr>
          <p:cNvPr id="103" name="图片 158" descr="SAN网络-蓝.png"/>
          <p:cNvPicPr>
            <a:picLocks noChangeAspect="1"/>
          </p:cNvPicPr>
          <p:nvPr/>
        </p:nvPicPr>
        <p:blipFill>
          <a:blip r:embed="rId4" cstate="print"/>
          <a:stretch>
            <a:fillRect/>
          </a:stretch>
        </p:blipFill>
        <p:spPr bwMode="gray">
          <a:xfrm>
            <a:off x="5358967" y="5550692"/>
            <a:ext cx="243218" cy="398465"/>
          </a:xfrm>
          <a:prstGeom prst="rect">
            <a:avLst/>
          </a:prstGeom>
        </p:spPr>
      </p:pic>
      <p:pic>
        <p:nvPicPr>
          <p:cNvPr id="104" name="图片 157" descr="故障链路.png"/>
          <p:cNvPicPr>
            <a:picLocks noChangeAspect="1"/>
          </p:cNvPicPr>
          <p:nvPr/>
        </p:nvPicPr>
        <p:blipFill>
          <a:blip r:embed="rId5" cstate="print"/>
          <a:stretch>
            <a:fillRect/>
          </a:stretch>
        </p:blipFill>
        <p:spPr bwMode="gray">
          <a:xfrm>
            <a:off x="4476797" y="5583533"/>
            <a:ext cx="446281" cy="332783"/>
          </a:xfrm>
          <a:prstGeom prst="rect">
            <a:avLst/>
          </a:prstGeom>
        </p:spPr>
      </p:pic>
      <p:pic>
        <p:nvPicPr>
          <p:cNvPr id="105"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723872" y="5550692"/>
            <a:ext cx="445506" cy="342149"/>
          </a:xfrm>
          <a:prstGeom prst="rect">
            <a:avLst/>
          </a:prstGeom>
        </p:spPr>
      </p:pic>
      <p:grpSp>
        <p:nvGrpSpPr>
          <p:cNvPr id="106" name="组合 758"/>
          <p:cNvGrpSpPr/>
          <p:nvPr/>
        </p:nvGrpSpPr>
        <p:grpSpPr bwMode="gray">
          <a:xfrm flipV="1">
            <a:off x="4565826" y="5269947"/>
            <a:ext cx="236214" cy="200032"/>
            <a:chOff x="7440613" y="4868863"/>
            <a:chExt cx="1019175" cy="828675"/>
          </a:xfrm>
          <a:solidFill>
            <a:schemeClr val="bg1">
              <a:lumMod val="50000"/>
            </a:schemeClr>
          </a:solidFill>
        </p:grpSpPr>
        <p:sp>
          <p:nvSpPr>
            <p:cNvPr id="107"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108"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grpSp>
        <p:nvGrpSpPr>
          <p:cNvPr id="109" name="组合 758"/>
          <p:cNvGrpSpPr/>
          <p:nvPr/>
        </p:nvGrpSpPr>
        <p:grpSpPr bwMode="gray">
          <a:xfrm flipV="1">
            <a:off x="5322544" y="5269947"/>
            <a:ext cx="236214" cy="200032"/>
            <a:chOff x="7440613" y="4868863"/>
            <a:chExt cx="1019175" cy="828675"/>
          </a:xfrm>
          <a:solidFill>
            <a:schemeClr val="bg1">
              <a:lumMod val="50000"/>
            </a:schemeClr>
          </a:solidFill>
        </p:grpSpPr>
        <p:sp>
          <p:nvSpPr>
            <p:cNvPr id="110"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sp>
          <p:nvSpPr>
            <p:cNvPr id="111"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cs typeface="+mn-ea"/>
                <a:sym typeface="+mn-lt"/>
              </a:endParaRPr>
            </a:p>
          </p:txBody>
        </p:sp>
      </p:grpSp>
      <p:pic>
        <p:nvPicPr>
          <p:cNvPr id="112" name="图片 76" descr="接入交换机.png"/>
          <p:cNvPicPr>
            <a:picLocks noChangeAspect="1"/>
          </p:cNvPicPr>
          <p:nvPr/>
        </p:nvPicPr>
        <p:blipFill>
          <a:blip r:embed="rId7" cstate="print"/>
          <a:stretch>
            <a:fillRect/>
          </a:stretch>
        </p:blipFill>
        <p:spPr bwMode="gray">
          <a:xfrm>
            <a:off x="3739652" y="4214566"/>
            <a:ext cx="405710" cy="331945"/>
          </a:xfrm>
          <a:prstGeom prst="rect">
            <a:avLst/>
          </a:prstGeom>
        </p:spPr>
      </p:pic>
      <p:pic>
        <p:nvPicPr>
          <p:cNvPr id="113" name="图片 112" descr="云中心AP蓝.png"/>
          <p:cNvPicPr>
            <a:picLocks noChangeAspect="1"/>
          </p:cNvPicPr>
          <p:nvPr/>
        </p:nvPicPr>
        <p:blipFill>
          <a:blip r:embed="rId8" cstate="print"/>
          <a:stretch>
            <a:fillRect/>
          </a:stretch>
        </p:blipFill>
        <p:spPr bwMode="gray">
          <a:xfrm>
            <a:off x="4488233" y="4214566"/>
            <a:ext cx="405710" cy="331945"/>
          </a:xfrm>
          <a:prstGeom prst="rect">
            <a:avLst/>
          </a:prstGeom>
        </p:spPr>
      </p:pic>
      <p:pic>
        <p:nvPicPr>
          <p:cNvPr id="114" name="图片 113" descr="RRU蓝.png"/>
          <p:cNvPicPr>
            <a:picLocks noChangeAspect="1"/>
          </p:cNvPicPr>
          <p:nvPr/>
        </p:nvPicPr>
        <p:blipFill>
          <a:blip r:embed="rId9" cstate="print"/>
          <a:stretch>
            <a:fillRect/>
          </a:stretch>
        </p:blipFill>
        <p:spPr bwMode="gray">
          <a:xfrm>
            <a:off x="4499521" y="4864250"/>
            <a:ext cx="368827" cy="301768"/>
          </a:xfrm>
          <a:prstGeom prst="rect">
            <a:avLst/>
          </a:prstGeom>
        </p:spPr>
      </p:pic>
      <p:pic>
        <p:nvPicPr>
          <p:cNvPr id="115" name="图片 114" descr="云中心AP蓝.png"/>
          <p:cNvPicPr>
            <a:picLocks noChangeAspect="1"/>
          </p:cNvPicPr>
          <p:nvPr/>
        </p:nvPicPr>
        <p:blipFill>
          <a:blip r:embed="rId8" cstate="print"/>
          <a:stretch>
            <a:fillRect/>
          </a:stretch>
        </p:blipFill>
        <p:spPr bwMode="gray">
          <a:xfrm>
            <a:off x="5236814" y="4214566"/>
            <a:ext cx="405710" cy="331945"/>
          </a:xfrm>
          <a:prstGeom prst="rect">
            <a:avLst/>
          </a:prstGeom>
        </p:spPr>
      </p:pic>
      <p:pic>
        <p:nvPicPr>
          <p:cNvPr id="116" name="图片 115" descr="RRU蓝.png"/>
          <p:cNvPicPr>
            <a:picLocks noChangeAspect="1"/>
          </p:cNvPicPr>
          <p:nvPr/>
        </p:nvPicPr>
        <p:blipFill>
          <a:blip r:embed="rId9" cstate="print"/>
          <a:stretch>
            <a:fillRect/>
          </a:stretch>
        </p:blipFill>
        <p:spPr bwMode="gray">
          <a:xfrm>
            <a:off x="5251112" y="4864250"/>
            <a:ext cx="368827" cy="301768"/>
          </a:xfrm>
          <a:prstGeom prst="rect">
            <a:avLst/>
          </a:prstGeom>
        </p:spPr>
      </p:pic>
      <p:grpSp>
        <p:nvGrpSpPr>
          <p:cNvPr id="117" name="Group 3"/>
          <p:cNvGrpSpPr/>
          <p:nvPr/>
        </p:nvGrpSpPr>
        <p:grpSpPr bwMode="gray">
          <a:xfrm>
            <a:off x="4899794" y="5005343"/>
            <a:ext cx="183641" cy="42333"/>
            <a:chOff x="569105" y="6498084"/>
            <a:chExt cx="183641" cy="42333"/>
          </a:xfrm>
          <a:solidFill>
            <a:schemeClr val="bg1">
              <a:lumMod val="50000"/>
            </a:schemeClr>
          </a:solidFill>
        </p:grpSpPr>
        <p:sp>
          <p:nvSpPr>
            <p:cNvPr id="118" name="Oval 1"/>
            <p:cNvSpPr>
              <a:spLocks noChangeAspect="1"/>
            </p:cNvSpPr>
            <p:nvPr/>
          </p:nvSpPr>
          <p:spPr bwMode="gray">
            <a:xfrm>
              <a:off x="710413"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9" name="Oval 174"/>
            <p:cNvSpPr>
              <a:spLocks noChangeAspect="1"/>
            </p:cNvSpPr>
            <p:nvPr/>
          </p:nvSpPr>
          <p:spPr bwMode="gray">
            <a:xfrm>
              <a:off x="569105"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0" name="Oval 175"/>
            <p:cNvSpPr>
              <a:spLocks noChangeAspect="1"/>
            </p:cNvSpPr>
            <p:nvPr/>
          </p:nvSpPr>
          <p:spPr bwMode="gray">
            <a:xfrm>
              <a:off x="639759"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21" name="Group 3"/>
          <p:cNvGrpSpPr/>
          <p:nvPr/>
        </p:nvGrpSpPr>
        <p:grpSpPr bwMode="gray">
          <a:xfrm>
            <a:off x="5639283" y="5005343"/>
            <a:ext cx="183641" cy="42333"/>
            <a:chOff x="569105" y="6498084"/>
            <a:chExt cx="183641" cy="42333"/>
          </a:xfrm>
          <a:solidFill>
            <a:schemeClr val="bg1">
              <a:lumMod val="50000"/>
            </a:schemeClr>
          </a:solidFill>
        </p:grpSpPr>
        <p:sp>
          <p:nvSpPr>
            <p:cNvPr id="122" name="Oval 1"/>
            <p:cNvSpPr>
              <a:spLocks noChangeAspect="1"/>
            </p:cNvSpPr>
            <p:nvPr/>
          </p:nvSpPr>
          <p:spPr bwMode="gray">
            <a:xfrm>
              <a:off x="710413"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3" name="Oval 174"/>
            <p:cNvSpPr>
              <a:spLocks noChangeAspect="1"/>
            </p:cNvSpPr>
            <p:nvPr/>
          </p:nvSpPr>
          <p:spPr bwMode="gray">
            <a:xfrm>
              <a:off x="569105"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4" name="Oval 175"/>
            <p:cNvSpPr>
              <a:spLocks noChangeAspect="1"/>
            </p:cNvSpPr>
            <p:nvPr/>
          </p:nvSpPr>
          <p:spPr bwMode="gray">
            <a:xfrm>
              <a:off x="639759" y="6498084"/>
              <a:ext cx="42333" cy="4233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126" name="图片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4455703" y="3406127"/>
            <a:ext cx="446281" cy="365139"/>
          </a:xfrm>
          <a:prstGeom prst="rect">
            <a:avLst/>
          </a:prstGeom>
        </p:spPr>
      </p:pic>
    </p:spTree>
    <p:extLst>
      <p:ext uri="{BB962C8B-B14F-4D97-AF65-F5344CB8AC3E}">
        <p14:creationId xmlns:p14="http://schemas.microsoft.com/office/powerpoint/2010/main" val="3566511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latin typeface="+mn-lt"/>
                <a:ea typeface="+mn-ea"/>
                <a:cs typeface="+mn-ea"/>
                <a:sym typeface="+mn-lt"/>
              </a:rPr>
              <a:t>典型组网</a:t>
            </a:r>
            <a:r>
              <a:rPr lang="zh-CN" altLang="en-US" smtClean="0">
                <a:latin typeface="+mn-lt"/>
                <a:ea typeface="+mn-ea"/>
                <a:cs typeface="+mn-ea"/>
                <a:sym typeface="+mn-lt"/>
              </a:rPr>
              <a:t>方案小结</a:t>
            </a:r>
            <a:endParaRPr lang="zh-CN" altLang="en-US">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536958915"/>
              </p:ext>
            </p:extLst>
          </p:nvPr>
        </p:nvGraphicFramePr>
        <p:xfrm>
          <a:off x="615541" y="1192958"/>
          <a:ext cx="10960917" cy="4657680"/>
        </p:xfrm>
        <a:graphic>
          <a:graphicData uri="http://schemas.openxmlformats.org/drawingml/2006/table">
            <a:tbl>
              <a:tblPr firstRow="1" bandRow="1">
                <a:tableStyleId>{5C22544A-7EE6-4342-B048-85BDC9FD1C3A}</a:tableStyleId>
              </a:tblPr>
              <a:tblGrid>
                <a:gridCol w="1271530"/>
                <a:gridCol w="1239135"/>
                <a:gridCol w="4032000"/>
                <a:gridCol w="1280569"/>
                <a:gridCol w="1412564"/>
                <a:gridCol w="1725119"/>
              </a:tblGrid>
              <a:tr h="360000">
                <a:tc>
                  <a:txBody>
                    <a:bodyPr/>
                    <a:lstStyle/>
                    <a:p>
                      <a:pPr algn="ctr"/>
                      <a:r>
                        <a:rPr lang="zh-CN" altLang="en-US" sz="1200" dirty="0" smtClean="0">
                          <a:solidFill>
                            <a:srgbClr val="151515"/>
                          </a:solidFill>
                          <a:latin typeface="+mn-lt"/>
                          <a:ea typeface="+mn-ea"/>
                          <a:cs typeface="+mn-ea"/>
                          <a:sym typeface="+mn-lt"/>
                        </a:rPr>
                        <a:t>部署场景</a:t>
                      </a:r>
                      <a:endParaRPr lang="zh-CN" altLang="en-US" sz="1200" dirty="0">
                        <a:solidFill>
                          <a:srgbClr val="151515"/>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dirty="0" smtClean="0">
                          <a:solidFill>
                            <a:srgbClr val="151515"/>
                          </a:solidFill>
                          <a:latin typeface="+mn-lt"/>
                          <a:ea typeface="+mn-ea"/>
                          <a:cs typeface="+mn-ea"/>
                          <a:sym typeface="+mn-lt"/>
                        </a:rPr>
                        <a:t>网络规模</a:t>
                      </a:r>
                      <a:endParaRPr lang="zh-CN" altLang="en-US" sz="1200" dirty="0">
                        <a:solidFill>
                          <a:srgbClr val="151515"/>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dirty="0" smtClean="0">
                          <a:solidFill>
                            <a:srgbClr val="151515"/>
                          </a:solidFill>
                          <a:latin typeface="+mn-lt"/>
                          <a:ea typeface="+mn-ea"/>
                          <a:cs typeface="+mn-ea"/>
                          <a:sym typeface="+mn-lt"/>
                        </a:rPr>
                        <a:t>组网关键需求</a:t>
                      </a:r>
                      <a:endParaRPr lang="zh-CN" altLang="en-US" sz="1200" dirty="0">
                        <a:solidFill>
                          <a:srgbClr val="151515"/>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a:r>
                        <a:rPr lang="zh-CN" altLang="en-US" sz="1200" dirty="0" smtClean="0">
                          <a:solidFill>
                            <a:srgbClr val="151515"/>
                          </a:solidFill>
                          <a:latin typeface="+mn-lt"/>
                          <a:ea typeface="+mn-ea"/>
                          <a:cs typeface="+mn-ea"/>
                          <a:sym typeface="+mn-lt"/>
                        </a:rPr>
                        <a:t>             网络组网模型</a:t>
                      </a:r>
                      <a:endParaRPr lang="zh-CN" altLang="en-US" sz="1200" dirty="0">
                        <a:solidFill>
                          <a:srgbClr val="151515"/>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sz="1200" dirty="0"/>
                    </a:p>
                  </a:txBody>
                  <a:tcPr/>
                </a:tc>
                <a:tc>
                  <a:txBody>
                    <a:bodyPr/>
                    <a:lstStyle/>
                    <a:p>
                      <a:pPr algn="ctr"/>
                      <a:r>
                        <a:rPr lang="zh-CN" altLang="en-US" sz="1200" dirty="0" smtClean="0">
                          <a:solidFill>
                            <a:srgbClr val="151515"/>
                          </a:solidFill>
                          <a:latin typeface="+mn-lt"/>
                          <a:ea typeface="+mn-ea"/>
                          <a:cs typeface="+mn-ea"/>
                          <a:sym typeface="+mn-lt"/>
                        </a:rPr>
                        <a:t>备注</a:t>
                      </a:r>
                      <a:endParaRPr lang="zh-CN" altLang="en-US" sz="1200" dirty="0">
                        <a:solidFill>
                          <a:srgbClr val="151515"/>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0">
                <a:tc rowSpan="9">
                  <a:txBody>
                    <a:bodyPr/>
                    <a:lstStyle/>
                    <a:p>
                      <a:r>
                        <a:rPr lang="zh-CN" altLang="en-US" sz="1200" dirty="0" smtClean="0">
                          <a:solidFill>
                            <a:srgbClr val="000000"/>
                          </a:solidFill>
                          <a:latin typeface="+mn-lt"/>
                          <a:ea typeface="+mn-ea"/>
                          <a:cs typeface="+mn-ea"/>
                          <a:sym typeface="+mn-lt"/>
                        </a:rPr>
                        <a:t>多分支，分支间无互联诉求</a:t>
                      </a:r>
                      <a:endParaRPr lang="zh-CN" altLang="en-US" sz="1200" dirty="0">
                        <a:solidFill>
                          <a:srgbClr val="000000"/>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终端</a:t>
                      </a:r>
                      <a:r>
                        <a:rPr lang="en-US" altLang="zh-CN" sz="1200" u="none" strike="noStrike" dirty="0" smtClean="0">
                          <a:solidFill>
                            <a:srgbClr val="000000"/>
                          </a:solidFill>
                          <a:effectLst/>
                          <a:latin typeface="+mn-lt"/>
                          <a:ea typeface="+mn-ea"/>
                          <a:cs typeface="+mn-ea"/>
                          <a:sym typeface="+mn-lt"/>
                        </a:rPr>
                        <a:t>&lt;50</a:t>
                      </a:r>
                      <a:r>
                        <a:rPr lang="zh-CN" altLang="en-US" sz="1200" u="none" strike="noStrike" dirty="0" smtClean="0">
                          <a:solidFill>
                            <a:srgbClr val="000000"/>
                          </a:solidFill>
                          <a:effectLst/>
                          <a:latin typeface="+mn-lt"/>
                          <a:ea typeface="+mn-ea"/>
                          <a:cs typeface="+mn-ea"/>
                          <a:sym typeface="+mn-lt"/>
                        </a:rPr>
                        <a:t>，面积</a:t>
                      </a:r>
                      <a:r>
                        <a:rPr lang="en-US" altLang="zh-CN" sz="1200" u="none" strike="noStrike" dirty="0" smtClean="0">
                          <a:solidFill>
                            <a:srgbClr val="000000"/>
                          </a:solidFill>
                          <a:effectLst/>
                          <a:latin typeface="+mn-lt"/>
                          <a:ea typeface="+mn-ea"/>
                          <a:cs typeface="+mn-ea"/>
                          <a:sym typeface="+mn-lt"/>
                        </a:rPr>
                        <a:t>&lt;50</a:t>
                      </a:r>
                      <a:r>
                        <a:rPr lang="zh-CN" altLang="en-US" sz="1200" u="none" strike="noStrike" dirty="0" smtClean="0">
                          <a:solidFill>
                            <a:srgbClr val="000000"/>
                          </a:solidFill>
                          <a:effectLst/>
                          <a:latin typeface="+mn-lt"/>
                          <a:ea typeface="+mn-ea"/>
                          <a:cs typeface="+mn-ea"/>
                          <a:sym typeface="+mn-lt"/>
                        </a:rPr>
                        <a:t>平方米</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zh-CN" sz="1200" kern="1200" dirty="0" smtClean="0">
                          <a:solidFill>
                            <a:srgbClr val="000000"/>
                          </a:solidFill>
                          <a:effectLst/>
                          <a:latin typeface="+mn-lt"/>
                          <a:ea typeface="+mn-ea"/>
                          <a:cs typeface="+mn-ea"/>
                          <a:sym typeface="+mn-lt"/>
                        </a:rPr>
                        <a:t>单门店，仅提供无线接入，单</a:t>
                      </a:r>
                      <a:r>
                        <a:rPr lang="en-US" altLang="zh-CN" sz="1200" kern="1200" dirty="0" smtClean="0">
                          <a:solidFill>
                            <a:srgbClr val="000000"/>
                          </a:solidFill>
                          <a:effectLst/>
                          <a:latin typeface="+mn-lt"/>
                          <a:ea typeface="+mn-ea"/>
                          <a:cs typeface="+mn-ea"/>
                          <a:sym typeface="+mn-lt"/>
                        </a:rPr>
                        <a:t>Internet</a:t>
                      </a:r>
                      <a:r>
                        <a:rPr lang="zh-CN" altLang="zh-CN" sz="1200" kern="1200" dirty="0" smtClean="0">
                          <a:solidFill>
                            <a:srgbClr val="000000"/>
                          </a:solidFill>
                          <a:effectLst/>
                          <a:latin typeface="+mn-lt"/>
                          <a:ea typeface="+mn-ea"/>
                          <a:cs typeface="+mn-ea"/>
                          <a:sym typeface="+mn-lt"/>
                        </a:rPr>
                        <a:t>出口</a:t>
                      </a:r>
                      <a:r>
                        <a:rPr lang="zh-CN" altLang="en-US" sz="1200" kern="1200" dirty="0" smtClean="0">
                          <a:solidFill>
                            <a:srgbClr val="000000"/>
                          </a:solidFill>
                          <a:effectLst/>
                          <a:latin typeface="+mn-lt"/>
                          <a:ea typeface="+mn-ea"/>
                          <a:cs typeface="+mn-ea"/>
                          <a:sym typeface="+mn-lt"/>
                        </a:rPr>
                        <a:t>。</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r>
                        <a:rPr lang="zh-CN" altLang="en-US" sz="1200" dirty="0" smtClean="0">
                          <a:solidFill>
                            <a:srgbClr val="000000"/>
                          </a:solidFill>
                          <a:latin typeface="+mn-lt"/>
                          <a:ea typeface="+mn-ea"/>
                          <a:cs typeface="+mn-ea"/>
                          <a:sym typeface="+mn-lt"/>
                        </a:rPr>
                        <a:t>单设备组网</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solidFill>
                            <a:srgbClr val="000000"/>
                          </a:solidFill>
                          <a:latin typeface="+mn-lt"/>
                          <a:ea typeface="+mn-ea"/>
                          <a:cs typeface="+mn-ea"/>
                          <a:sym typeface="+mn-lt"/>
                        </a:rPr>
                        <a:t>AP</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endParaRPr lang="zh-CN" altLang="en-US" sz="1000"/>
                    </a:p>
                  </a:txBody>
                  <a:tcPr/>
                </a:tc>
                <a:tc vMerge="1">
                  <a:txBody>
                    <a:bodyPr/>
                    <a:lstStyle/>
                    <a:p>
                      <a:endParaRPr lang="zh-CN" altLang="en-US"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单门店，主要提供无线接入，需要以太上行或者</a:t>
                      </a:r>
                      <a:r>
                        <a:rPr lang="en-US" altLang="zh-CN" sz="1200" u="none" strike="noStrike" dirty="0" smtClean="0">
                          <a:solidFill>
                            <a:srgbClr val="000000"/>
                          </a:solidFill>
                          <a:effectLst/>
                          <a:latin typeface="+mn-lt"/>
                          <a:ea typeface="+mn-ea"/>
                          <a:cs typeface="+mn-ea"/>
                          <a:sym typeface="+mn-lt"/>
                        </a:rPr>
                        <a:t>LTE</a:t>
                      </a:r>
                      <a:r>
                        <a:rPr lang="zh-CN" altLang="en-US" sz="1200" u="none" strike="noStrike" dirty="0" smtClean="0">
                          <a:solidFill>
                            <a:srgbClr val="000000"/>
                          </a:solidFill>
                          <a:effectLst/>
                          <a:latin typeface="+mn-lt"/>
                          <a:ea typeface="+mn-ea"/>
                          <a:cs typeface="+mn-ea"/>
                          <a:sym typeface="+mn-lt"/>
                        </a:rPr>
                        <a:t>上行。</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sz="1000"/>
                    </a:p>
                  </a:txBody>
                  <a:tcPr/>
                </a:tc>
                <a:tc>
                  <a:txBody>
                    <a:bodyPr/>
                    <a:lstStyle/>
                    <a:p>
                      <a:pPr algn="ctr"/>
                      <a:r>
                        <a:rPr lang="en-US" altLang="zh-CN" sz="1200" dirty="0" smtClean="0">
                          <a:solidFill>
                            <a:srgbClr val="000000"/>
                          </a:solidFill>
                          <a:latin typeface="+mn-lt"/>
                          <a:ea typeface="+mn-ea"/>
                          <a:cs typeface="+mn-ea"/>
                          <a:sym typeface="+mn-lt"/>
                        </a:rPr>
                        <a:t>AR</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endParaRPr lang="zh-CN" altLang="en-US" sz="1000"/>
                    </a:p>
                  </a:txBody>
                  <a:tcPr/>
                </a:tc>
                <a:tc vMerge="1">
                  <a:txBody>
                    <a:bodyPr/>
                    <a:lstStyle/>
                    <a:p>
                      <a:endParaRPr lang="zh-CN" altLang="en-US"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单门店，需要有线、无线认证接入，多</a:t>
                      </a:r>
                      <a:r>
                        <a:rPr lang="en-US" altLang="zh-CN" sz="1200" u="none" strike="noStrike" dirty="0" smtClean="0">
                          <a:solidFill>
                            <a:srgbClr val="000000"/>
                          </a:solidFill>
                          <a:effectLst/>
                          <a:latin typeface="+mn-lt"/>
                          <a:ea typeface="+mn-ea"/>
                          <a:cs typeface="+mn-ea"/>
                          <a:sym typeface="+mn-lt"/>
                        </a:rPr>
                        <a:t>Internet</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LTE</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URL</a:t>
                      </a:r>
                      <a:r>
                        <a:rPr lang="zh-CN" altLang="en-US" sz="1200" u="none" strike="noStrike" dirty="0" smtClean="0">
                          <a:solidFill>
                            <a:srgbClr val="000000"/>
                          </a:solidFill>
                          <a:effectLst/>
                          <a:latin typeface="+mn-lt"/>
                          <a:ea typeface="+mn-ea"/>
                          <a:cs typeface="+mn-ea"/>
                          <a:sym typeface="+mn-lt"/>
                        </a:rPr>
                        <a:t>过滤</a:t>
                      </a:r>
                      <a:r>
                        <a:rPr lang="en-US" altLang="zh-CN" sz="1200" u="none" strike="noStrike" dirty="0" smtClean="0">
                          <a:solidFill>
                            <a:srgbClr val="000000"/>
                          </a:solidFill>
                          <a:effectLst/>
                          <a:latin typeface="+mn-lt"/>
                          <a:ea typeface="+mn-ea"/>
                          <a:cs typeface="+mn-ea"/>
                          <a:sym typeface="+mn-lt"/>
                        </a:rPr>
                        <a:t>/IPS/</a:t>
                      </a:r>
                      <a:r>
                        <a:rPr lang="zh-CN" altLang="en-US" sz="1200" u="none" strike="noStrike" dirty="0" smtClean="0">
                          <a:solidFill>
                            <a:srgbClr val="000000"/>
                          </a:solidFill>
                          <a:effectLst/>
                          <a:latin typeface="+mn-lt"/>
                          <a:ea typeface="+mn-ea"/>
                          <a:cs typeface="+mn-ea"/>
                          <a:sym typeface="+mn-lt"/>
                        </a:rPr>
                        <a:t>安全防御</a:t>
                      </a:r>
                      <a:r>
                        <a:rPr lang="en-US" altLang="zh-CN" sz="1200" u="none" strike="noStrike" dirty="0" smtClean="0">
                          <a:solidFill>
                            <a:srgbClr val="000000"/>
                          </a:solidFill>
                          <a:effectLst/>
                          <a:latin typeface="+mn-lt"/>
                          <a:ea typeface="+mn-ea"/>
                          <a:cs typeface="+mn-ea"/>
                          <a:sym typeface="+mn-lt"/>
                        </a:rPr>
                        <a:t>/AV</a:t>
                      </a:r>
                      <a:r>
                        <a:rPr lang="zh-CN" altLang="en-US" sz="1200" u="none" strike="noStrike" dirty="0" smtClean="0">
                          <a:solidFill>
                            <a:srgbClr val="000000"/>
                          </a:solidFill>
                          <a:effectLst/>
                          <a:latin typeface="+mn-lt"/>
                          <a:ea typeface="+mn-ea"/>
                          <a:cs typeface="+mn-ea"/>
                          <a:sym typeface="+mn-lt"/>
                        </a:rPr>
                        <a:t>反病毒等高安全诉求。</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sz="1000"/>
                    </a:p>
                  </a:txBody>
                  <a:tcPr/>
                </a:tc>
                <a:tc>
                  <a:txBody>
                    <a:bodyPr/>
                    <a:lstStyle/>
                    <a:p>
                      <a:pPr algn="ctr"/>
                      <a:r>
                        <a:rPr lang="en-US" altLang="zh-CN" sz="1200" dirty="0" smtClean="0">
                          <a:solidFill>
                            <a:srgbClr val="000000"/>
                          </a:solidFill>
                          <a:latin typeface="+mn-lt"/>
                          <a:ea typeface="+mn-ea"/>
                          <a:cs typeface="+mn-ea"/>
                          <a:sym typeface="+mn-lt"/>
                        </a:rPr>
                        <a:t>FW</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200" dirty="0" smtClean="0">
                          <a:solidFill>
                            <a:srgbClr val="000000"/>
                          </a:solidFill>
                          <a:latin typeface="+mn-lt"/>
                          <a:ea typeface="+mn-ea"/>
                          <a:cs typeface="+mn-ea"/>
                          <a:sym typeface="+mn-lt"/>
                        </a:rPr>
                        <a:t>目前无</a:t>
                      </a:r>
                      <a:r>
                        <a:rPr lang="en-US" altLang="zh-CN" sz="1200" dirty="0" smtClean="0">
                          <a:solidFill>
                            <a:srgbClr val="000000"/>
                          </a:solidFill>
                          <a:latin typeface="+mn-lt"/>
                          <a:ea typeface="+mn-ea"/>
                          <a:cs typeface="+mn-ea"/>
                          <a:sym typeface="+mn-lt"/>
                        </a:rPr>
                        <a:t>Wi-Fi/LTE</a:t>
                      </a:r>
                      <a:r>
                        <a:rPr lang="zh-CN" altLang="en-US" sz="1200" dirty="0" smtClean="0">
                          <a:solidFill>
                            <a:srgbClr val="000000"/>
                          </a:solidFill>
                          <a:latin typeface="+mn-lt"/>
                          <a:ea typeface="+mn-ea"/>
                          <a:cs typeface="+mn-ea"/>
                          <a:sym typeface="+mn-lt"/>
                        </a:rPr>
                        <a:t>款型。</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endParaRPr lang="zh-CN" altLang="en-US" sz="100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终端</a:t>
                      </a:r>
                      <a:r>
                        <a:rPr lang="en-US" altLang="zh-CN" sz="1200" u="none" strike="noStrike" dirty="0" smtClean="0">
                          <a:solidFill>
                            <a:srgbClr val="000000"/>
                          </a:solidFill>
                          <a:effectLst/>
                          <a:latin typeface="+mn-lt"/>
                          <a:ea typeface="+mn-ea"/>
                          <a:cs typeface="+mn-ea"/>
                          <a:sym typeface="+mn-lt"/>
                        </a:rPr>
                        <a:t>&lt;200</a:t>
                      </a:r>
                      <a:r>
                        <a:rPr lang="zh-CN" altLang="en-US" sz="1200" u="none" strike="noStrike" dirty="0" smtClean="0">
                          <a:solidFill>
                            <a:srgbClr val="000000"/>
                          </a:solidFill>
                          <a:effectLst/>
                          <a:latin typeface="+mn-lt"/>
                          <a:ea typeface="+mn-ea"/>
                          <a:cs typeface="+mn-ea"/>
                          <a:sym typeface="+mn-lt"/>
                        </a:rPr>
                        <a:t>，面积</a:t>
                      </a:r>
                      <a:r>
                        <a:rPr lang="en-US" altLang="zh-CN" sz="1200" u="none" strike="noStrike" dirty="0" smtClean="0">
                          <a:solidFill>
                            <a:srgbClr val="000000"/>
                          </a:solidFill>
                          <a:effectLst/>
                          <a:latin typeface="+mn-lt"/>
                          <a:ea typeface="+mn-ea"/>
                          <a:cs typeface="+mn-ea"/>
                          <a:sym typeface="+mn-lt"/>
                        </a:rPr>
                        <a:t>&lt;300</a:t>
                      </a:r>
                      <a:r>
                        <a:rPr lang="zh-CN" altLang="en-US" sz="1200" u="none" strike="noStrike" dirty="0" smtClean="0">
                          <a:solidFill>
                            <a:srgbClr val="000000"/>
                          </a:solidFill>
                          <a:effectLst/>
                          <a:latin typeface="+mn-lt"/>
                          <a:ea typeface="+mn-ea"/>
                          <a:cs typeface="+mn-ea"/>
                          <a:sym typeface="+mn-lt"/>
                        </a:rPr>
                        <a:t>平方米</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仅提供无线接入，需要多</a:t>
                      </a:r>
                      <a:r>
                        <a:rPr lang="en-US" altLang="zh-CN" sz="1200" u="none" strike="noStrike" dirty="0" smtClean="0">
                          <a:solidFill>
                            <a:srgbClr val="000000"/>
                          </a:solidFill>
                          <a:effectLst/>
                          <a:latin typeface="+mn-lt"/>
                          <a:ea typeface="+mn-ea"/>
                          <a:cs typeface="+mn-ea"/>
                          <a:sym typeface="+mn-lt"/>
                        </a:rPr>
                        <a:t>Internet</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LTE</a:t>
                      </a:r>
                      <a:r>
                        <a:rPr lang="zh-CN" altLang="en-US" sz="1200" u="none" strike="noStrike" dirty="0" smtClean="0">
                          <a:solidFill>
                            <a:srgbClr val="000000"/>
                          </a:solidFill>
                          <a:effectLst/>
                          <a:latin typeface="+mn-lt"/>
                          <a:ea typeface="+mn-ea"/>
                          <a:cs typeface="+mn-ea"/>
                          <a:sym typeface="+mn-lt"/>
                        </a:rPr>
                        <a:t>上行。</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zh-CN" altLang="en-US" sz="1200" dirty="0" smtClean="0">
                          <a:solidFill>
                            <a:srgbClr val="000000"/>
                          </a:solidFill>
                          <a:latin typeface="+mn-lt"/>
                          <a:ea typeface="+mn-ea"/>
                          <a:cs typeface="+mn-ea"/>
                          <a:sym typeface="+mn-lt"/>
                        </a:rPr>
                        <a:t>出口网关</a:t>
                      </a:r>
                      <a:r>
                        <a:rPr lang="en-US" altLang="zh-CN" sz="1200" dirty="0" smtClean="0">
                          <a:solidFill>
                            <a:srgbClr val="000000"/>
                          </a:solidFill>
                          <a:latin typeface="+mn-lt"/>
                          <a:ea typeface="+mn-ea"/>
                          <a:cs typeface="+mn-ea"/>
                          <a:sym typeface="+mn-lt"/>
                        </a:rPr>
                        <a:t>+AP</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solidFill>
                            <a:srgbClr val="000000"/>
                          </a:solidFill>
                          <a:latin typeface="+mn-lt"/>
                          <a:ea typeface="+mn-ea"/>
                          <a:cs typeface="+mn-ea"/>
                          <a:sym typeface="+mn-lt"/>
                        </a:rPr>
                        <a:t>AR+AP</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200" dirty="0" smtClean="0">
                          <a:solidFill>
                            <a:srgbClr val="000000"/>
                          </a:solidFill>
                          <a:latin typeface="+mn-lt"/>
                          <a:ea typeface="+mn-ea"/>
                          <a:cs typeface="+mn-ea"/>
                          <a:sym typeface="+mn-lt"/>
                        </a:rPr>
                        <a:t>目前</a:t>
                      </a:r>
                      <a:r>
                        <a:rPr lang="en-US" altLang="zh-CN" sz="1200" dirty="0" smtClean="0">
                          <a:solidFill>
                            <a:srgbClr val="000000"/>
                          </a:solidFill>
                          <a:latin typeface="+mn-lt"/>
                          <a:ea typeface="+mn-ea"/>
                          <a:cs typeface="+mn-ea"/>
                          <a:sym typeface="+mn-lt"/>
                        </a:rPr>
                        <a:t>AR/FW</a:t>
                      </a:r>
                      <a:r>
                        <a:rPr lang="zh-CN" altLang="en-US" sz="1200" dirty="0" smtClean="0">
                          <a:solidFill>
                            <a:srgbClr val="000000"/>
                          </a:solidFill>
                          <a:latin typeface="+mn-lt"/>
                          <a:ea typeface="+mn-ea"/>
                          <a:cs typeface="+mn-ea"/>
                          <a:sym typeface="+mn-lt"/>
                        </a:rPr>
                        <a:t>无</a:t>
                      </a:r>
                      <a:r>
                        <a:rPr lang="en-US" altLang="zh-CN" sz="1200" dirty="0" smtClean="0">
                          <a:solidFill>
                            <a:srgbClr val="000000"/>
                          </a:solidFill>
                          <a:latin typeface="+mn-lt"/>
                          <a:ea typeface="+mn-ea"/>
                          <a:cs typeface="+mn-ea"/>
                          <a:sym typeface="+mn-lt"/>
                        </a:rPr>
                        <a:t>POE</a:t>
                      </a:r>
                      <a:r>
                        <a:rPr lang="zh-CN" altLang="en-US" sz="1200" dirty="0" smtClean="0">
                          <a:solidFill>
                            <a:srgbClr val="000000"/>
                          </a:solidFill>
                          <a:latin typeface="+mn-lt"/>
                          <a:ea typeface="+mn-ea"/>
                          <a:cs typeface="+mn-ea"/>
                          <a:sym typeface="+mn-lt"/>
                        </a:rPr>
                        <a:t>款型设备，</a:t>
                      </a:r>
                      <a:r>
                        <a:rPr lang="en-US" altLang="zh-CN" sz="1200" dirty="0" smtClean="0">
                          <a:solidFill>
                            <a:srgbClr val="000000"/>
                          </a:solidFill>
                          <a:latin typeface="+mn-lt"/>
                          <a:ea typeface="+mn-ea"/>
                          <a:cs typeface="+mn-ea"/>
                          <a:sym typeface="+mn-lt"/>
                        </a:rPr>
                        <a:t>AP</a:t>
                      </a:r>
                      <a:r>
                        <a:rPr lang="zh-CN" altLang="en-US" sz="1200" dirty="0" smtClean="0">
                          <a:solidFill>
                            <a:srgbClr val="000000"/>
                          </a:solidFill>
                          <a:latin typeface="+mn-lt"/>
                          <a:ea typeface="+mn-ea"/>
                          <a:cs typeface="+mn-ea"/>
                          <a:sym typeface="+mn-lt"/>
                        </a:rPr>
                        <a:t>需外接电源。</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endParaRPr lang="en-US" altLang="zh-CN" sz="1000" smtClean="0"/>
                    </a:p>
                  </a:txBody>
                  <a:tcPr/>
                </a:tc>
                <a:tc vMerge="1">
                  <a:txBody>
                    <a:bodyPr/>
                    <a:lstStyle/>
                    <a:p>
                      <a:endParaRPr lang="zh-CN" altLang="en-US"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需要有线、无线认证接入，多</a:t>
                      </a:r>
                      <a:r>
                        <a:rPr lang="en-US" altLang="zh-CN" sz="1200" u="none" strike="noStrike" dirty="0" smtClean="0">
                          <a:solidFill>
                            <a:srgbClr val="000000"/>
                          </a:solidFill>
                          <a:effectLst/>
                          <a:latin typeface="+mn-lt"/>
                          <a:ea typeface="+mn-ea"/>
                          <a:cs typeface="+mn-ea"/>
                          <a:sym typeface="+mn-lt"/>
                        </a:rPr>
                        <a:t>Internet</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URL</a:t>
                      </a:r>
                      <a:r>
                        <a:rPr lang="zh-CN" altLang="en-US" sz="1200" u="none" strike="noStrike" dirty="0" smtClean="0">
                          <a:solidFill>
                            <a:srgbClr val="000000"/>
                          </a:solidFill>
                          <a:effectLst/>
                          <a:latin typeface="+mn-lt"/>
                          <a:ea typeface="+mn-ea"/>
                          <a:cs typeface="+mn-ea"/>
                          <a:sym typeface="+mn-lt"/>
                        </a:rPr>
                        <a:t>过滤</a:t>
                      </a:r>
                      <a:r>
                        <a:rPr lang="en-US" altLang="zh-CN" sz="1200" u="none" strike="noStrike" dirty="0" smtClean="0">
                          <a:solidFill>
                            <a:srgbClr val="000000"/>
                          </a:solidFill>
                          <a:effectLst/>
                          <a:latin typeface="+mn-lt"/>
                          <a:ea typeface="+mn-ea"/>
                          <a:cs typeface="+mn-ea"/>
                          <a:sym typeface="+mn-lt"/>
                        </a:rPr>
                        <a:t>/IPS/</a:t>
                      </a:r>
                      <a:r>
                        <a:rPr lang="zh-CN" altLang="en-US" sz="1200" u="none" strike="noStrike" dirty="0" smtClean="0">
                          <a:solidFill>
                            <a:srgbClr val="000000"/>
                          </a:solidFill>
                          <a:effectLst/>
                          <a:latin typeface="+mn-lt"/>
                          <a:ea typeface="+mn-ea"/>
                          <a:cs typeface="+mn-ea"/>
                          <a:sym typeface="+mn-lt"/>
                        </a:rPr>
                        <a:t>安全防御</a:t>
                      </a:r>
                      <a:r>
                        <a:rPr lang="en-US" altLang="zh-CN" sz="1200" u="none" strike="noStrike" dirty="0" smtClean="0">
                          <a:solidFill>
                            <a:srgbClr val="000000"/>
                          </a:solidFill>
                          <a:effectLst/>
                          <a:latin typeface="+mn-lt"/>
                          <a:ea typeface="+mn-ea"/>
                          <a:cs typeface="+mn-ea"/>
                          <a:sym typeface="+mn-lt"/>
                        </a:rPr>
                        <a:t>/AV</a:t>
                      </a:r>
                      <a:r>
                        <a:rPr lang="zh-CN" altLang="en-US" sz="1200" u="none" strike="noStrike" dirty="0" smtClean="0">
                          <a:solidFill>
                            <a:srgbClr val="000000"/>
                          </a:solidFill>
                          <a:effectLst/>
                          <a:latin typeface="+mn-lt"/>
                          <a:ea typeface="+mn-ea"/>
                          <a:cs typeface="+mn-ea"/>
                          <a:sym typeface="+mn-lt"/>
                        </a:rPr>
                        <a:t>反病毒等高安全诉求。</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sz="1000"/>
                    </a:p>
                  </a:txBody>
                  <a:tcPr/>
                </a:tc>
                <a:tc>
                  <a:txBody>
                    <a:bodyPr/>
                    <a:lstStyle/>
                    <a:p>
                      <a:pPr algn="ctr"/>
                      <a:r>
                        <a:rPr lang="en-US" altLang="zh-CN" sz="1200" dirty="0" smtClean="0">
                          <a:solidFill>
                            <a:srgbClr val="000000"/>
                          </a:solidFill>
                          <a:latin typeface="+mn-lt"/>
                          <a:ea typeface="+mn-ea"/>
                          <a:cs typeface="+mn-ea"/>
                          <a:sym typeface="+mn-lt"/>
                        </a:rPr>
                        <a:t>FW+AP</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sz="1200" dirty="0">
                        <a:solidFill>
                          <a:srgbClr val="000000"/>
                        </a:solidFill>
                      </a:endParaRPr>
                    </a:p>
                  </a:txBody>
                  <a:tcPr/>
                </a:tc>
              </a:tr>
              <a:tr h="0">
                <a:tc vMerge="1">
                  <a:txBody>
                    <a:bodyPr/>
                    <a:lstStyle/>
                    <a:p>
                      <a:endParaRPr lang="zh-CN" altLang="en-US" sz="100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终端</a:t>
                      </a:r>
                      <a:r>
                        <a:rPr lang="en-US" altLang="zh-CN" sz="1200" u="none" strike="noStrike" dirty="0" smtClean="0">
                          <a:solidFill>
                            <a:srgbClr val="000000"/>
                          </a:solidFill>
                          <a:effectLst/>
                          <a:latin typeface="+mn-lt"/>
                          <a:ea typeface="+mn-ea"/>
                          <a:cs typeface="+mn-ea"/>
                          <a:sym typeface="+mn-lt"/>
                        </a:rPr>
                        <a:t>&lt;2000</a:t>
                      </a:r>
                      <a:r>
                        <a:rPr lang="zh-CN" altLang="en-US" sz="1200" u="none" strike="noStrike" dirty="0" smtClean="0">
                          <a:solidFill>
                            <a:srgbClr val="000000"/>
                          </a:solidFill>
                          <a:effectLst/>
                          <a:latin typeface="+mn-lt"/>
                          <a:ea typeface="+mn-ea"/>
                          <a:cs typeface="+mn-ea"/>
                          <a:sym typeface="+mn-lt"/>
                        </a:rPr>
                        <a:t>，面积</a:t>
                      </a:r>
                      <a:r>
                        <a:rPr lang="en-US" altLang="zh-CN" sz="1200" u="none" strike="noStrike" dirty="0" smtClean="0">
                          <a:solidFill>
                            <a:srgbClr val="000000"/>
                          </a:solidFill>
                          <a:effectLst/>
                          <a:latin typeface="+mn-lt"/>
                          <a:ea typeface="+mn-ea"/>
                          <a:cs typeface="+mn-ea"/>
                          <a:sym typeface="+mn-lt"/>
                        </a:rPr>
                        <a:t>&lt;3000</a:t>
                      </a:r>
                      <a:r>
                        <a:rPr lang="zh-CN" altLang="en-US" sz="1200" u="none" strike="noStrike" dirty="0" smtClean="0">
                          <a:solidFill>
                            <a:srgbClr val="000000"/>
                          </a:solidFill>
                          <a:effectLst/>
                          <a:latin typeface="+mn-lt"/>
                          <a:ea typeface="+mn-ea"/>
                          <a:cs typeface="+mn-ea"/>
                          <a:sym typeface="+mn-lt"/>
                        </a:rPr>
                        <a:t>平方米</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有线无线接入，需要多</a:t>
                      </a:r>
                      <a:r>
                        <a:rPr lang="en-US" altLang="zh-CN" sz="1200" u="none" strike="noStrike" dirty="0" smtClean="0">
                          <a:solidFill>
                            <a:srgbClr val="000000"/>
                          </a:solidFill>
                          <a:effectLst/>
                          <a:latin typeface="+mn-lt"/>
                          <a:ea typeface="+mn-ea"/>
                          <a:cs typeface="+mn-ea"/>
                          <a:sym typeface="+mn-lt"/>
                        </a:rPr>
                        <a:t>Internet</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LTE</a:t>
                      </a:r>
                      <a:r>
                        <a:rPr lang="zh-CN" altLang="en-US" sz="1200" u="none" strike="noStrike" dirty="0" smtClean="0">
                          <a:solidFill>
                            <a:srgbClr val="000000"/>
                          </a:solidFill>
                          <a:effectLst/>
                          <a:latin typeface="+mn-lt"/>
                          <a:ea typeface="+mn-ea"/>
                          <a:cs typeface="+mn-ea"/>
                          <a:sym typeface="+mn-lt"/>
                        </a:rPr>
                        <a:t>上行。</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zh-CN" altLang="en-US" sz="1200" smtClean="0">
                          <a:solidFill>
                            <a:srgbClr val="000000"/>
                          </a:solidFill>
                          <a:latin typeface="+mn-lt"/>
                          <a:ea typeface="+mn-ea"/>
                          <a:cs typeface="+mn-ea"/>
                          <a:sym typeface="+mn-lt"/>
                        </a:rPr>
                        <a:t>出口网关</a:t>
                      </a:r>
                      <a:r>
                        <a:rPr lang="en-US" altLang="zh-CN" sz="1200" smtClean="0">
                          <a:solidFill>
                            <a:srgbClr val="000000"/>
                          </a:solidFill>
                          <a:latin typeface="+mn-lt"/>
                          <a:ea typeface="+mn-ea"/>
                          <a:cs typeface="+mn-ea"/>
                          <a:sym typeface="+mn-lt"/>
                        </a:rPr>
                        <a:t>+L2SW+AP</a:t>
                      </a:r>
                      <a:endParaRPr lang="zh-CN" altLang="en-US" sz="120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solidFill>
                            <a:srgbClr val="000000"/>
                          </a:solidFill>
                          <a:latin typeface="+mn-lt"/>
                          <a:ea typeface="+mn-ea"/>
                          <a:cs typeface="+mn-ea"/>
                          <a:sym typeface="+mn-lt"/>
                        </a:rPr>
                        <a:t>AR+L2SW+AP</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endParaRPr lang="zh-CN" altLang="en-US" sz="1000"/>
                    </a:p>
                  </a:txBody>
                  <a:tcPr/>
                </a:tc>
                <a:tc vMerge="1">
                  <a:txBody>
                    <a:bodyPr/>
                    <a:lstStyle/>
                    <a:p>
                      <a:endParaRPr lang="zh-CN" altLang="en-US"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需要有线、无线认证接入，多</a:t>
                      </a:r>
                      <a:r>
                        <a:rPr lang="en-US" altLang="zh-CN" sz="1200" u="none" strike="noStrike" dirty="0" smtClean="0">
                          <a:solidFill>
                            <a:srgbClr val="000000"/>
                          </a:solidFill>
                          <a:effectLst/>
                          <a:latin typeface="+mn-lt"/>
                          <a:ea typeface="+mn-ea"/>
                          <a:cs typeface="+mn-ea"/>
                          <a:sym typeface="+mn-lt"/>
                        </a:rPr>
                        <a:t>Internet</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URL</a:t>
                      </a:r>
                      <a:r>
                        <a:rPr lang="zh-CN" altLang="en-US" sz="1200" u="none" strike="noStrike" dirty="0" smtClean="0">
                          <a:solidFill>
                            <a:srgbClr val="000000"/>
                          </a:solidFill>
                          <a:effectLst/>
                          <a:latin typeface="+mn-lt"/>
                          <a:ea typeface="+mn-ea"/>
                          <a:cs typeface="+mn-ea"/>
                          <a:sym typeface="+mn-lt"/>
                        </a:rPr>
                        <a:t>过滤</a:t>
                      </a:r>
                      <a:r>
                        <a:rPr lang="en-US" altLang="zh-CN" sz="1200" u="none" strike="noStrike" dirty="0" smtClean="0">
                          <a:solidFill>
                            <a:srgbClr val="000000"/>
                          </a:solidFill>
                          <a:effectLst/>
                          <a:latin typeface="+mn-lt"/>
                          <a:ea typeface="+mn-ea"/>
                          <a:cs typeface="+mn-ea"/>
                          <a:sym typeface="+mn-lt"/>
                        </a:rPr>
                        <a:t>/IPS/</a:t>
                      </a:r>
                      <a:r>
                        <a:rPr lang="zh-CN" altLang="en-US" sz="1200" u="none" strike="noStrike" dirty="0" smtClean="0">
                          <a:solidFill>
                            <a:srgbClr val="000000"/>
                          </a:solidFill>
                          <a:effectLst/>
                          <a:latin typeface="+mn-lt"/>
                          <a:ea typeface="+mn-ea"/>
                          <a:cs typeface="+mn-ea"/>
                          <a:sym typeface="+mn-lt"/>
                        </a:rPr>
                        <a:t>安全防御</a:t>
                      </a:r>
                      <a:r>
                        <a:rPr lang="en-US" altLang="zh-CN" sz="1200" u="none" strike="noStrike" dirty="0" smtClean="0">
                          <a:solidFill>
                            <a:srgbClr val="000000"/>
                          </a:solidFill>
                          <a:effectLst/>
                          <a:latin typeface="+mn-lt"/>
                          <a:ea typeface="+mn-ea"/>
                          <a:cs typeface="+mn-ea"/>
                          <a:sym typeface="+mn-lt"/>
                        </a:rPr>
                        <a:t>/AV</a:t>
                      </a:r>
                      <a:r>
                        <a:rPr lang="zh-CN" altLang="en-US" sz="1200" u="none" strike="noStrike" dirty="0" smtClean="0">
                          <a:solidFill>
                            <a:srgbClr val="000000"/>
                          </a:solidFill>
                          <a:effectLst/>
                          <a:latin typeface="+mn-lt"/>
                          <a:ea typeface="+mn-ea"/>
                          <a:cs typeface="+mn-ea"/>
                          <a:sym typeface="+mn-lt"/>
                        </a:rPr>
                        <a:t>反病毒等高安全诉求。</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sz="1000"/>
                    </a:p>
                  </a:txBody>
                  <a:tcPr/>
                </a:tc>
                <a:tc>
                  <a:txBody>
                    <a:bodyPr/>
                    <a:lstStyle/>
                    <a:p>
                      <a:pPr algn="ctr"/>
                      <a:r>
                        <a:rPr lang="en-US" altLang="zh-CN" sz="1200" dirty="0" smtClean="0">
                          <a:solidFill>
                            <a:srgbClr val="000000"/>
                          </a:solidFill>
                          <a:latin typeface="+mn-lt"/>
                          <a:ea typeface="+mn-ea"/>
                          <a:cs typeface="+mn-ea"/>
                          <a:sym typeface="+mn-lt"/>
                        </a:rPr>
                        <a:t>FW+L2SW+AP</a:t>
                      </a:r>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endParaRPr lang="zh-CN" altLang="en-US" sz="100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终端</a:t>
                      </a:r>
                      <a:r>
                        <a:rPr lang="en-US" altLang="zh-CN" sz="1200" u="none" strike="noStrike" dirty="0" smtClean="0">
                          <a:solidFill>
                            <a:srgbClr val="000000"/>
                          </a:solidFill>
                          <a:effectLst/>
                          <a:latin typeface="+mn-lt"/>
                          <a:ea typeface="+mn-ea"/>
                          <a:cs typeface="+mn-ea"/>
                          <a:sym typeface="+mn-lt"/>
                        </a:rPr>
                        <a:t>&lt;2000</a:t>
                      </a:r>
                      <a:r>
                        <a:rPr lang="zh-CN" altLang="en-US" sz="1200" u="none" strike="noStrike" dirty="0" smtClean="0">
                          <a:solidFill>
                            <a:srgbClr val="000000"/>
                          </a:solidFill>
                          <a:effectLst/>
                          <a:latin typeface="+mn-lt"/>
                          <a:ea typeface="+mn-ea"/>
                          <a:cs typeface="+mn-ea"/>
                          <a:sym typeface="+mn-lt"/>
                        </a:rPr>
                        <a:t>，面积</a:t>
                      </a:r>
                      <a:r>
                        <a:rPr lang="en-US" altLang="zh-CN" sz="1200" u="none" strike="noStrike" dirty="0" smtClean="0">
                          <a:solidFill>
                            <a:srgbClr val="000000"/>
                          </a:solidFill>
                          <a:effectLst/>
                          <a:latin typeface="+mn-lt"/>
                          <a:ea typeface="+mn-ea"/>
                          <a:cs typeface="+mn-ea"/>
                          <a:sym typeface="+mn-lt"/>
                        </a:rPr>
                        <a:t>&lt;3000</a:t>
                      </a:r>
                      <a:r>
                        <a:rPr lang="zh-CN" altLang="en-US" sz="1200" u="none" strike="noStrike" dirty="0" smtClean="0">
                          <a:solidFill>
                            <a:srgbClr val="000000"/>
                          </a:solidFill>
                          <a:effectLst/>
                          <a:latin typeface="+mn-lt"/>
                          <a:ea typeface="+mn-ea"/>
                          <a:cs typeface="+mn-ea"/>
                          <a:sym typeface="+mn-lt"/>
                        </a:rPr>
                        <a:t>平方米</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适用酒店、宿舍等房间密集型场景，有线无线接入，多</a:t>
                      </a:r>
                      <a:r>
                        <a:rPr lang="en-US" altLang="zh-CN" sz="1200" u="none" strike="noStrike" dirty="0" smtClean="0">
                          <a:solidFill>
                            <a:srgbClr val="000000"/>
                          </a:solidFill>
                          <a:effectLst/>
                          <a:latin typeface="+mn-lt"/>
                          <a:ea typeface="+mn-ea"/>
                          <a:cs typeface="+mn-ea"/>
                          <a:sym typeface="+mn-lt"/>
                        </a:rPr>
                        <a:t>Internet</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LTE</a:t>
                      </a:r>
                      <a:r>
                        <a:rPr lang="zh-CN" altLang="en-US" sz="1200" u="none" strike="noStrike" dirty="0" smtClean="0">
                          <a:solidFill>
                            <a:srgbClr val="000000"/>
                          </a:solidFill>
                          <a:effectLst/>
                          <a:latin typeface="+mn-lt"/>
                          <a:ea typeface="+mn-ea"/>
                          <a:cs typeface="+mn-ea"/>
                          <a:sym typeface="+mn-lt"/>
                        </a:rPr>
                        <a:t>上行。</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solidFill>
                            <a:srgbClr val="000000"/>
                          </a:solidFill>
                          <a:latin typeface="+mn-lt"/>
                          <a:ea typeface="+mn-ea"/>
                          <a:cs typeface="+mn-ea"/>
                          <a:sym typeface="+mn-lt"/>
                        </a:rPr>
                        <a:t>出口网关</a:t>
                      </a:r>
                      <a:r>
                        <a:rPr lang="en-US" altLang="zh-CN" sz="1200" dirty="0" smtClean="0">
                          <a:solidFill>
                            <a:srgbClr val="000000"/>
                          </a:solidFill>
                          <a:latin typeface="+mn-lt"/>
                          <a:ea typeface="+mn-ea"/>
                          <a:cs typeface="+mn-ea"/>
                          <a:sym typeface="+mn-lt"/>
                        </a:rPr>
                        <a:t>+L2SW+</a:t>
                      </a:r>
                      <a:r>
                        <a:rPr lang="zh-CN" altLang="en-US" sz="1200" dirty="0" smtClean="0">
                          <a:solidFill>
                            <a:srgbClr val="000000"/>
                          </a:solidFill>
                          <a:latin typeface="+mn-lt"/>
                          <a:ea typeface="+mn-ea"/>
                          <a:cs typeface="+mn-ea"/>
                          <a:sym typeface="+mn-lt"/>
                        </a:rPr>
                        <a:t>分布式</a:t>
                      </a:r>
                      <a:r>
                        <a:rPr lang="en-US" altLang="zh-CN" sz="1200" dirty="0" smtClean="0">
                          <a:solidFill>
                            <a:srgbClr val="000000"/>
                          </a:solidFill>
                          <a:latin typeface="+mn-lt"/>
                          <a:ea typeface="+mn-ea"/>
                          <a:cs typeface="+mn-ea"/>
                          <a:sym typeface="+mn-lt"/>
                        </a:rPr>
                        <a:t>AP</a:t>
                      </a:r>
                      <a:endParaRPr lang="zh-CN" altLang="en-US" sz="1200" dirty="0" smtClean="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rgbClr val="000000"/>
                          </a:solidFill>
                          <a:latin typeface="+mn-lt"/>
                          <a:ea typeface="+mn-ea"/>
                          <a:cs typeface="+mn-ea"/>
                          <a:sym typeface="+mn-lt"/>
                        </a:rPr>
                        <a:t>AR+L2SW+</a:t>
                      </a:r>
                      <a:r>
                        <a:rPr lang="zh-CN" altLang="en-US" sz="1200" dirty="0" smtClean="0">
                          <a:solidFill>
                            <a:srgbClr val="000000"/>
                          </a:solidFill>
                          <a:latin typeface="+mn-lt"/>
                          <a:ea typeface="+mn-ea"/>
                          <a:cs typeface="+mn-ea"/>
                          <a:sym typeface="+mn-lt"/>
                        </a:rPr>
                        <a:t>中心</a:t>
                      </a:r>
                      <a:r>
                        <a:rPr lang="en-US" altLang="zh-CN" sz="1200" dirty="0" smtClean="0">
                          <a:solidFill>
                            <a:srgbClr val="000000"/>
                          </a:solidFill>
                          <a:latin typeface="+mn-lt"/>
                          <a:ea typeface="+mn-ea"/>
                          <a:cs typeface="+mn-ea"/>
                          <a:sym typeface="+mn-lt"/>
                        </a:rPr>
                        <a:t>AP+RU</a:t>
                      </a:r>
                      <a:endParaRPr lang="zh-CN" altLang="en-US" sz="1200" dirty="0" smtClean="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endParaRPr lang="zh-CN" altLang="en-US" sz="1000"/>
                    </a:p>
                  </a:txBody>
                  <a:tcPr/>
                </a:tc>
                <a:tc vMerge="1">
                  <a:txBody>
                    <a:bodyPr/>
                    <a:lstStyle/>
                    <a:p>
                      <a:endParaRPr lang="zh-CN" altLang="en-US"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dirty="0" smtClean="0">
                          <a:solidFill>
                            <a:srgbClr val="000000"/>
                          </a:solidFill>
                          <a:effectLst/>
                          <a:latin typeface="+mn-lt"/>
                          <a:ea typeface="+mn-ea"/>
                          <a:cs typeface="+mn-ea"/>
                          <a:sym typeface="+mn-lt"/>
                        </a:rPr>
                        <a:t>适用酒店、宿舍等房间密集型场景，有线无线接入，多</a:t>
                      </a:r>
                      <a:r>
                        <a:rPr lang="en-US" altLang="zh-CN" sz="1200" u="none" strike="noStrike" dirty="0" smtClean="0">
                          <a:solidFill>
                            <a:srgbClr val="000000"/>
                          </a:solidFill>
                          <a:effectLst/>
                          <a:latin typeface="+mn-lt"/>
                          <a:ea typeface="+mn-ea"/>
                          <a:cs typeface="+mn-ea"/>
                          <a:sym typeface="+mn-lt"/>
                        </a:rPr>
                        <a:t>Internet</a:t>
                      </a:r>
                      <a:r>
                        <a:rPr lang="zh-CN" altLang="en-US" sz="1200" u="none" strike="noStrike" dirty="0" smtClean="0">
                          <a:solidFill>
                            <a:srgbClr val="000000"/>
                          </a:solidFill>
                          <a:effectLst/>
                          <a:latin typeface="+mn-lt"/>
                          <a:ea typeface="+mn-ea"/>
                          <a:cs typeface="+mn-ea"/>
                          <a:sym typeface="+mn-lt"/>
                        </a:rPr>
                        <a:t>上行，</a:t>
                      </a:r>
                      <a:r>
                        <a:rPr lang="en-US" altLang="zh-CN" sz="1200" u="none" strike="noStrike" dirty="0" smtClean="0">
                          <a:solidFill>
                            <a:srgbClr val="000000"/>
                          </a:solidFill>
                          <a:effectLst/>
                          <a:latin typeface="+mn-lt"/>
                          <a:ea typeface="+mn-ea"/>
                          <a:cs typeface="+mn-ea"/>
                          <a:sym typeface="+mn-lt"/>
                        </a:rPr>
                        <a:t>URL</a:t>
                      </a:r>
                      <a:r>
                        <a:rPr lang="zh-CN" altLang="en-US" sz="1200" u="none" strike="noStrike" dirty="0" smtClean="0">
                          <a:solidFill>
                            <a:srgbClr val="000000"/>
                          </a:solidFill>
                          <a:effectLst/>
                          <a:latin typeface="+mn-lt"/>
                          <a:ea typeface="+mn-ea"/>
                          <a:cs typeface="+mn-ea"/>
                          <a:sym typeface="+mn-lt"/>
                        </a:rPr>
                        <a:t>过滤</a:t>
                      </a:r>
                      <a:r>
                        <a:rPr lang="en-US" altLang="zh-CN" sz="1200" u="none" strike="noStrike" dirty="0" smtClean="0">
                          <a:solidFill>
                            <a:srgbClr val="000000"/>
                          </a:solidFill>
                          <a:effectLst/>
                          <a:latin typeface="+mn-lt"/>
                          <a:ea typeface="+mn-ea"/>
                          <a:cs typeface="+mn-ea"/>
                          <a:sym typeface="+mn-lt"/>
                        </a:rPr>
                        <a:t>/IPS/</a:t>
                      </a:r>
                      <a:r>
                        <a:rPr lang="zh-CN" altLang="en-US" sz="1200" u="none" strike="noStrike" dirty="0" smtClean="0">
                          <a:solidFill>
                            <a:srgbClr val="000000"/>
                          </a:solidFill>
                          <a:effectLst/>
                          <a:latin typeface="+mn-lt"/>
                          <a:ea typeface="+mn-ea"/>
                          <a:cs typeface="+mn-ea"/>
                          <a:sym typeface="+mn-lt"/>
                        </a:rPr>
                        <a:t>安全防御</a:t>
                      </a:r>
                      <a:r>
                        <a:rPr lang="en-US" altLang="zh-CN" sz="1200" u="none" strike="noStrike" dirty="0" smtClean="0">
                          <a:solidFill>
                            <a:srgbClr val="000000"/>
                          </a:solidFill>
                          <a:effectLst/>
                          <a:latin typeface="+mn-lt"/>
                          <a:ea typeface="+mn-ea"/>
                          <a:cs typeface="+mn-ea"/>
                          <a:sym typeface="+mn-lt"/>
                        </a:rPr>
                        <a:t>/AV</a:t>
                      </a:r>
                      <a:r>
                        <a:rPr lang="zh-CN" altLang="en-US" sz="1200" u="none" strike="noStrike" dirty="0" smtClean="0">
                          <a:solidFill>
                            <a:srgbClr val="000000"/>
                          </a:solidFill>
                          <a:effectLst/>
                          <a:latin typeface="+mn-lt"/>
                          <a:ea typeface="+mn-ea"/>
                          <a:cs typeface="+mn-ea"/>
                          <a:sym typeface="+mn-lt"/>
                        </a:rPr>
                        <a:t>反病毒等高安全诉求。</a:t>
                      </a:r>
                      <a:endParaRPr lang="zh-CN" altLang="en-US" sz="1200" b="0" i="0" u="none" strike="noStrike" dirty="0" smtClean="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sz="10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rgbClr val="000000"/>
                          </a:solidFill>
                          <a:latin typeface="+mn-lt"/>
                          <a:ea typeface="+mn-ea"/>
                          <a:cs typeface="+mn-ea"/>
                          <a:sym typeface="+mn-lt"/>
                        </a:rPr>
                        <a:t>FW+L2SW+</a:t>
                      </a:r>
                      <a:r>
                        <a:rPr lang="zh-CN" altLang="en-US" sz="1200" dirty="0" smtClean="0">
                          <a:solidFill>
                            <a:srgbClr val="000000"/>
                          </a:solidFill>
                          <a:latin typeface="+mn-lt"/>
                          <a:ea typeface="+mn-ea"/>
                          <a:cs typeface="+mn-ea"/>
                          <a:sym typeface="+mn-lt"/>
                        </a:rPr>
                        <a:t>中心</a:t>
                      </a:r>
                      <a:r>
                        <a:rPr lang="en-US" altLang="zh-CN" sz="1200" dirty="0" smtClean="0">
                          <a:solidFill>
                            <a:srgbClr val="000000"/>
                          </a:solidFill>
                          <a:latin typeface="+mn-lt"/>
                          <a:ea typeface="+mn-ea"/>
                          <a:cs typeface="+mn-ea"/>
                          <a:sym typeface="+mn-lt"/>
                        </a:rPr>
                        <a:t>AP+RU</a:t>
                      </a:r>
                      <a:endParaRPr lang="zh-CN" altLang="en-US" sz="1200" dirty="0" smtClean="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a:solidFill>
                          <a:srgbClr val="000000"/>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kern="1200" dirty="0" smtClean="0">
                          <a:solidFill>
                            <a:srgbClr val="000000"/>
                          </a:solidFill>
                          <a:effectLst/>
                          <a:latin typeface="+mn-lt"/>
                          <a:ea typeface="+mn-ea"/>
                          <a:cs typeface="+mn-ea"/>
                          <a:sym typeface="+mn-lt"/>
                        </a:rPr>
                        <a:t>多分支，且分支与总部需互通</a:t>
                      </a:r>
                      <a:endParaRPr lang="en-US" altLang="zh-CN" sz="1200" u="none" strike="noStrike" kern="1200" dirty="0" smtClean="0">
                        <a:solidFill>
                          <a:srgbClr val="000000"/>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kern="1200" dirty="0" smtClean="0">
                          <a:solidFill>
                            <a:srgbClr val="000000"/>
                          </a:solidFill>
                          <a:effectLst/>
                          <a:latin typeface="+mn-lt"/>
                          <a:ea typeface="+mn-ea"/>
                          <a:cs typeface="+mn-ea"/>
                          <a:sym typeface="+mn-lt"/>
                        </a:rPr>
                        <a:t>分支内网络规模同上</a:t>
                      </a:r>
                      <a:endParaRPr lang="zh-CN" altLang="en-US" sz="1200" u="none" strike="noStrike"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kern="1200" dirty="0" smtClean="0">
                          <a:solidFill>
                            <a:srgbClr val="000000"/>
                          </a:solidFill>
                          <a:effectLst/>
                          <a:latin typeface="+mn-lt"/>
                          <a:ea typeface="+mn-ea"/>
                          <a:cs typeface="+mn-ea"/>
                          <a:sym typeface="+mn-lt"/>
                        </a:rPr>
                        <a:t>仅需基础的分支、总部互通，总部可能部署第三方的</a:t>
                      </a:r>
                      <a:r>
                        <a:rPr lang="en-US" altLang="zh-CN" sz="1200" u="none" strike="noStrike" kern="1200" dirty="0" smtClean="0">
                          <a:solidFill>
                            <a:srgbClr val="000000"/>
                          </a:solidFill>
                          <a:effectLst/>
                          <a:latin typeface="+mn-lt"/>
                          <a:ea typeface="+mn-ea"/>
                          <a:cs typeface="+mn-ea"/>
                          <a:sym typeface="+mn-lt"/>
                        </a:rPr>
                        <a:t>VPN</a:t>
                      </a:r>
                      <a:r>
                        <a:rPr lang="zh-CN" altLang="en-US" sz="1200" u="none" strike="noStrike" kern="1200" dirty="0" smtClean="0">
                          <a:solidFill>
                            <a:srgbClr val="000000"/>
                          </a:solidFill>
                          <a:effectLst/>
                          <a:latin typeface="+mn-lt"/>
                          <a:ea typeface="+mn-ea"/>
                          <a:cs typeface="+mn-ea"/>
                          <a:sym typeface="+mn-lt"/>
                        </a:rPr>
                        <a:t>网关。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u="none" strike="noStrike" kern="1200" dirty="0" smtClean="0">
                          <a:solidFill>
                            <a:srgbClr val="000000"/>
                          </a:solidFill>
                          <a:effectLst/>
                          <a:latin typeface="+mn-lt"/>
                          <a:ea typeface="+mn-ea"/>
                          <a:cs typeface="+mn-ea"/>
                          <a:sym typeface="+mn-lt"/>
                        </a:rPr>
                        <a:t>IPsec VPN</a:t>
                      </a:r>
                      <a:r>
                        <a:rPr lang="zh-CN" altLang="en-US" sz="1200" u="none" strike="noStrike" kern="1200" dirty="0" smtClean="0">
                          <a:solidFill>
                            <a:srgbClr val="000000"/>
                          </a:solidFill>
                          <a:effectLst/>
                          <a:latin typeface="+mn-lt"/>
                          <a:ea typeface="+mn-ea"/>
                          <a:cs typeface="+mn-ea"/>
                          <a:sym typeface="+mn-lt"/>
                        </a:rPr>
                        <a:t>互联</a:t>
                      </a:r>
                      <a:endParaRPr lang="zh-CN" altLang="en-US" sz="1200" u="none" strike="noStrike"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u="none" strike="noStrike" kern="1200" dirty="0" smtClean="0">
                          <a:solidFill>
                            <a:srgbClr val="000000"/>
                          </a:solidFill>
                          <a:effectLst/>
                          <a:latin typeface="+mn-lt"/>
                          <a:ea typeface="+mn-ea"/>
                          <a:cs typeface="+mn-ea"/>
                          <a:sym typeface="+mn-lt"/>
                        </a:rPr>
                        <a:t>AP/AR/FW</a:t>
                      </a:r>
                      <a:r>
                        <a:rPr lang="zh-CN" altLang="en-US" sz="1200" u="none" strike="noStrike" kern="1200" dirty="0" smtClean="0">
                          <a:solidFill>
                            <a:srgbClr val="000000"/>
                          </a:solidFill>
                          <a:effectLst/>
                          <a:latin typeface="+mn-lt"/>
                          <a:ea typeface="+mn-ea"/>
                          <a:cs typeface="+mn-ea"/>
                          <a:sym typeface="+mn-lt"/>
                        </a:rPr>
                        <a:t>做出口网关</a:t>
                      </a:r>
                      <a:endParaRPr lang="zh-CN" altLang="en-US" sz="1200" u="none" strike="noStrike"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u="none" strike="noStrike"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000" u="none" strike="noStrike" kern="1200">
                        <a:solidFill>
                          <a:schemeClr val="dk1"/>
                        </a:solidFill>
                        <a:effectLst/>
                        <a:latin typeface="+mn-lt"/>
                        <a:ea typeface="+mn-ea"/>
                        <a:cs typeface="+mn-cs"/>
                      </a:endParaRP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000" u="none" strike="noStrike" kern="120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none" strike="noStrike" kern="1200" dirty="0" smtClean="0">
                          <a:solidFill>
                            <a:srgbClr val="000000"/>
                          </a:solidFill>
                          <a:effectLst/>
                          <a:latin typeface="+mn-lt"/>
                          <a:ea typeface="+mn-ea"/>
                          <a:cs typeface="+mn-ea"/>
                          <a:sym typeface="+mn-lt"/>
                        </a:rPr>
                        <a:t>分支、总部部署多链路，需要智能选路。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u="none" strike="noStrike" kern="1200" dirty="0" smtClean="0">
                          <a:solidFill>
                            <a:srgbClr val="000000"/>
                          </a:solidFill>
                          <a:effectLst/>
                          <a:latin typeface="+mn-lt"/>
                          <a:ea typeface="+mn-ea"/>
                          <a:cs typeface="+mn-ea"/>
                          <a:sym typeface="+mn-lt"/>
                        </a:rPr>
                        <a:t>SD-WAN</a:t>
                      </a:r>
                      <a:r>
                        <a:rPr lang="zh-CN" altLang="en-US" sz="1200" u="none" strike="noStrike" kern="1200" baseline="0" dirty="0" smtClean="0">
                          <a:solidFill>
                            <a:srgbClr val="000000"/>
                          </a:solidFill>
                          <a:effectLst/>
                          <a:latin typeface="+mn-lt"/>
                          <a:ea typeface="+mn-ea"/>
                          <a:cs typeface="+mn-ea"/>
                          <a:sym typeface="+mn-lt"/>
                        </a:rPr>
                        <a:t>互联</a:t>
                      </a:r>
                      <a:endParaRPr lang="zh-CN" altLang="en-US" sz="1200" u="none" strike="noStrike"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u="none" strike="noStrike" kern="1200" dirty="0" smtClean="0">
                          <a:solidFill>
                            <a:srgbClr val="000000"/>
                          </a:solidFill>
                          <a:effectLst/>
                          <a:latin typeface="+mn-lt"/>
                          <a:ea typeface="+mn-ea"/>
                          <a:cs typeface="+mn-ea"/>
                          <a:sym typeface="+mn-lt"/>
                        </a:rPr>
                        <a:t>AR</a:t>
                      </a:r>
                      <a:r>
                        <a:rPr lang="zh-CN" altLang="en-US" sz="1200" u="none" strike="noStrike" kern="1200" baseline="0" dirty="0" smtClean="0">
                          <a:solidFill>
                            <a:srgbClr val="000000"/>
                          </a:solidFill>
                          <a:effectLst/>
                          <a:latin typeface="+mn-lt"/>
                          <a:ea typeface="+mn-ea"/>
                          <a:cs typeface="+mn-ea"/>
                          <a:sym typeface="+mn-lt"/>
                        </a:rPr>
                        <a:t>做出口网关</a:t>
                      </a:r>
                      <a:endParaRPr lang="zh-CN" altLang="en-US" sz="1200" u="none" strike="noStrike"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u="none" strike="noStrike"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569776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组网设计</a:t>
            </a:r>
          </a:p>
        </p:txBody>
      </p:sp>
      <p:sp>
        <p:nvSpPr>
          <p:cNvPr id="39" name="TextBox 303"/>
          <p:cNvSpPr txBox="1"/>
          <p:nvPr/>
        </p:nvSpPr>
        <p:spPr bwMode="gray">
          <a:xfrm>
            <a:off x="731838" y="4019456"/>
            <a:ext cx="912236" cy="1429126"/>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75000"/>
                  </a:schemeClr>
                </a:solidFill>
              </a:defRPr>
            </a:lvl1pPr>
          </a:lstStyle>
          <a:p>
            <a:r>
              <a:rPr lang="zh-CN" altLang="en-US">
                <a:solidFill>
                  <a:schemeClr val="bg1">
                    <a:lumMod val="50000"/>
                  </a:schemeClr>
                </a:solidFill>
                <a:cs typeface="+mn-ea"/>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White">
          <a:xfrm>
            <a:off x="6562218" y="3052471"/>
            <a:ext cx="2304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cs typeface="+mn-ea"/>
                <a:sym typeface="+mn-lt"/>
              </a:rPr>
              <a:t>可靠性设计</a:t>
            </a:r>
          </a:p>
        </p:txBody>
      </p:sp>
      <p:sp>
        <p:nvSpPr>
          <p:cNvPr id="21" name="燕尾形 20"/>
          <p:cNvSpPr/>
          <p:nvPr/>
        </p:nvSpPr>
        <p:spPr bwMode="gray">
          <a:xfrm>
            <a:off x="8786686"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
        <p:nvSpPr>
          <p:cNvPr id="22" name="五边形 21"/>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23" name="燕尾形 22"/>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网络开局设计</a:t>
            </a:r>
          </a:p>
        </p:txBody>
      </p:sp>
      <p:sp>
        <p:nvSpPr>
          <p:cNvPr id="24" name="燕尾形 23"/>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25" name="燕尾形 24"/>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30" name="五边形 29"/>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Tree>
    <p:extLst>
      <p:ext uri="{BB962C8B-B14F-4D97-AF65-F5344CB8AC3E}">
        <p14:creationId xmlns:p14="http://schemas.microsoft.com/office/powerpoint/2010/main" val="24439404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mn-lt"/>
              </a:rPr>
              <a:t>网络可靠性总体设计</a:t>
            </a:r>
            <a:endParaRPr lang="zh-CN" altLang="en-US">
              <a:sym typeface="+mn-lt"/>
            </a:endParaRPr>
          </a:p>
        </p:txBody>
      </p:sp>
      <p:sp>
        <p:nvSpPr>
          <p:cNvPr id="46" name="文本占位符 45"/>
          <p:cNvSpPr>
            <a:spLocks noGrp="1"/>
          </p:cNvSpPr>
          <p:nvPr>
            <p:ph type="body" sz="quarter" idx="10"/>
          </p:nvPr>
        </p:nvSpPr>
        <p:spPr>
          <a:xfrm>
            <a:off x="6095999" y="2663711"/>
            <a:ext cx="5653087" cy="2822037"/>
          </a:xfrm>
        </p:spPr>
        <p:txBody>
          <a:bodyPr/>
          <a:lstStyle/>
          <a:p>
            <a:r>
              <a:rPr lang="zh-CN" altLang="en-US" sz="1600" dirty="0" smtClean="0">
                <a:sym typeface="+mn-lt"/>
              </a:rPr>
              <a:t>组网可靠性是指租户网络的可靠性设计，为保证网络可靠性，可在任意的典型组网方案中通过添加设备或链路的形式实现可靠性，根据涉及的范围，可分为三个层次：</a:t>
            </a:r>
          </a:p>
          <a:p>
            <a:pPr lvl="1"/>
            <a:r>
              <a:rPr lang="zh-CN" altLang="en-US" sz="1400" dirty="0" smtClean="0">
                <a:sym typeface="+mn-lt"/>
              </a:rPr>
              <a:t>链路层可靠性设计，即针对链路进行可靠性设计；</a:t>
            </a:r>
          </a:p>
          <a:p>
            <a:pPr lvl="1"/>
            <a:r>
              <a:rPr lang="zh-CN" altLang="en-US" sz="1400" dirty="0" smtClean="0">
                <a:sym typeface="+mn-lt"/>
              </a:rPr>
              <a:t>设备层可靠性设计，即针对设备进行可靠性设计；</a:t>
            </a:r>
          </a:p>
          <a:p>
            <a:pPr lvl="1"/>
            <a:r>
              <a:rPr lang="zh-CN" altLang="en-US" sz="1400" dirty="0" smtClean="0">
                <a:sym typeface="+mn-lt"/>
              </a:rPr>
              <a:t>全网可靠性设计，即将链路可靠性与设备可靠性的有机组合，形成全网可靠性。</a:t>
            </a:r>
            <a:endParaRPr lang="zh-CN" altLang="en-US" sz="1600" dirty="0"/>
          </a:p>
        </p:txBody>
      </p:sp>
      <p:sp>
        <p:nvSpPr>
          <p:cNvPr id="3" name="圆角矩形 2"/>
          <p:cNvSpPr/>
          <p:nvPr/>
        </p:nvSpPr>
        <p:spPr>
          <a:xfrm>
            <a:off x="731838" y="2663711"/>
            <a:ext cx="4612322" cy="2893810"/>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4" name="直接连接符 3"/>
          <p:cNvCxnSpPr/>
          <p:nvPr/>
        </p:nvCxnSpPr>
        <p:spPr>
          <a:xfrm>
            <a:off x="3749673" y="2114550"/>
            <a:ext cx="0" cy="21067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161"/>
          <p:cNvGrpSpPr/>
          <p:nvPr/>
        </p:nvGrpSpPr>
        <p:grpSpPr>
          <a:xfrm rot="10800000" flipV="1">
            <a:off x="2691192" y="4227603"/>
            <a:ext cx="1149736" cy="616934"/>
            <a:chOff x="-1233037" y="914446"/>
            <a:chExt cx="1573823" cy="778776"/>
          </a:xfrm>
        </p:grpSpPr>
        <p:cxnSp>
          <p:nvCxnSpPr>
            <p:cNvPr id="6" name="Straight Connector 163"/>
            <p:cNvCxnSpPr/>
            <p:nvPr/>
          </p:nvCxnSpPr>
          <p:spPr>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161"/>
          <p:cNvGrpSpPr/>
          <p:nvPr/>
        </p:nvGrpSpPr>
        <p:grpSpPr>
          <a:xfrm rot="10800000">
            <a:off x="2532925" y="4221281"/>
            <a:ext cx="1472461" cy="594957"/>
            <a:chOff x="-3661019" y="914446"/>
            <a:chExt cx="4001805" cy="778776"/>
          </a:xfrm>
        </p:grpSpPr>
        <p:cxnSp>
          <p:nvCxnSpPr>
            <p:cNvPr id="9" name="Straight Connector 163"/>
            <p:cNvCxnSpPr/>
            <p:nvPr/>
          </p:nvCxnSpPr>
          <p:spPr>
            <a:xfrm flipH="1" flipV="1">
              <a:off x="-3661019" y="914446"/>
              <a:ext cx="786913"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p:cNvCxnSpPr/>
          <p:nvPr/>
        </p:nvCxnSpPr>
        <p:spPr>
          <a:xfrm>
            <a:off x="2776145" y="2218764"/>
            <a:ext cx="0" cy="20025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任意多边形 11"/>
          <p:cNvSpPr/>
          <p:nvPr/>
        </p:nvSpPr>
        <p:spPr>
          <a:xfrm>
            <a:off x="2333403" y="1922689"/>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13" name="文本框 12"/>
          <p:cNvSpPr txBox="1"/>
          <p:nvPr/>
        </p:nvSpPr>
        <p:spPr>
          <a:xfrm>
            <a:off x="4009864" y="2843575"/>
            <a:ext cx="859531" cy="307777"/>
          </a:xfrm>
          <a:prstGeom prst="rect">
            <a:avLst/>
          </a:prstGeom>
          <a:noFill/>
        </p:spPr>
        <p:txBody>
          <a:bodyPr wrap="none" rtlCol="0">
            <a:spAutoFit/>
          </a:bodyPr>
          <a:lstStyle/>
          <a:p>
            <a:r>
              <a:rPr lang="en-US" altLang="zh-CN" sz="1400" smtClean="0">
                <a:cs typeface="+mn-ea"/>
                <a:sym typeface="+mn-lt"/>
              </a:rPr>
              <a:t>FW</a:t>
            </a:r>
            <a:r>
              <a:rPr lang="zh-CN" altLang="en-US" sz="1400" smtClean="0">
                <a:cs typeface="+mn-ea"/>
                <a:sym typeface="+mn-lt"/>
              </a:rPr>
              <a:t>或</a:t>
            </a:r>
            <a:r>
              <a:rPr lang="en-US" altLang="zh-CN" sz="1400" smtClean="0">
                <a:cs typeface="+mn-ea"/>
                <a:sym typeface="+mn-lt"/>
              </a:rPr>
              <a:t>AR</a:t>
            </a:r>
            <a:endParaRPr lang="zh-CN" altLang="en-US" sz="1400">
              <a:cs typeface="+mn-ea"/>
              <a:sym typeface="+mn-lt"/>
            </a:endParaRPr>
          </a:p>
        </p:txBody>
      </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90257" y="1217254"/>
            <a:ext cx="951607" cy="540946"/>
          </a:xfrm>
          <a:prstGeom prst="rect">
            <a:avLst/>
          </a:prstGeom>
        </p:spPr>
      </p:pic>
      <p:pic>
        <p:nvPicPr>
          <p:cNvPr id="15" name="图片 76" descr="接入交换机.png"/>
          <p:cNvPicPr>
            <a:picLocks noChangeAspect="1"/>
          </p:cNvPicPr>
          <p:nvPr/>
        </p:nvPicPr>
        <p:blipFill>
          <a:blip r:embed="rId4" cstate="print"/>
          <a:stretch>
            <a:fillRect/>
          </a:stretch>
        </p:blipFill>
        <p:spPr>
          <a:xfrm>
            <a:off x="3059216" y="4803449"/>
            <a:ext cx="405710" cy="331945"/>
          </a:xfrm>
          <a:prstGeom prst="rect">
            <a:avLst/>
          </a:prstGeom>
        </p:spPr>
      </p:pic>
      <p:pic>
        <p:nvPicPr>
          <p:cNvPr id="16" name="图片 15" descr="云AP蓝.png"/>
          <p:cNvPicPr>
            <a:picLocks noChangeAspect="1"/>
          </p:cNvPicPr>
          <p:nvPr/>
        </p:nvPicPr>
        <p:blipFill>
          <a:blip r:embed="rId5" cstate="print"/>
          <a:stretch>
            <a:fillRect/>
          </a:stretch>
        </p:blipFill>
        <p:spPr>
          <a:xfrm>
            <a:off x="2307036" y="4803725"/>
            <a:ext cx="405405" cy="331695"/>
          </a:xfrm>
          <a:prstGeom prst="rect">
            <a:avLst/>
          </a:prstGeom>
        </p:spPr>
      </p:pic>
      <p:pic>
        <p:nvPicPr>
          <p:cNvPr id="17" name="图片 16" descr="云AP蓝.png"/>
          <p:cNvPicPr>
            <a:picLocks noChangeAspect="1"/>
          </p:cNvPicPr>
          <p:nvPr/>
        </p:nvPicPr>
        <p:blipFill>
          <a:blip r:embed="rId5" cstate="print"/>
          <a:stretch>
            <a:fillRect/>
          </a:stretch>
        </p:blipFill>
        <p:spPr>
          <a:xfrm>
            <a:off x="3858761" y="4803725"/>
            <a:ext cx="405405" cy="331695"/>
          </a:xfrm>
          <a:prstGeom prst="rect">
            <a:avLst/>
          </a:prstGeom>
        </p:spPr>
      </p:pic>
      <p:sp>
        <p:nvSpPr>
          <p:cNvPr id="18" name="文本框 17"/>
          <p:cNvSpPr txBox="1"/>
          <p:nvPr/>
        </p:nvSpPr>
        <p:spPr>
          <a:xfrm>
            <a:off x="2297180" y="5177971"/>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9" name="文本框 18"/>
          <p:cNvSpPr txBox="1"/>
          <p:nvPr/>
        </p:nvSpPr>
        <p:spPr>
          <a:xfrm>
            <a:off x="3009352" y="5177971"/>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20" name="文本框 19"/>
          <p:cNvSpPr txBox="1"/>
          <p:nvPr/>
        </p:nvSpPr>
        <p:spPr>
          <a:xfrm>
            <a:off x="3830355" y="5177971"/>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21" name="矩形 20"/>
          <p:cNvSpPr/>
          <p:nvPr/>
        </p:nvSpPr>
        <p:spPr>
          <a:xfrm>
            <a:off x="2198873" y="5702526"/>
            <a:ext cx="1620957" cy="338554"/>
          </a:xfrm>
          <a:prstGeom prst="rect">
            <a:avLst/>
          </a:prstGeom>
        </p:spPr>
        <p:txBody>
          <a:bodyPr wrap="none">
            <a:spAutoFit/>
          </a:bodyPr>
          <a:lstStyle/>
          <a:p>
            <a:pPr algn="ctr"/>
            <a:r>
              <a:rPr lang="zh-CN" altLang="en-US" sz="1600">
                <a:cs typeface="+mn-ea"/>
                <a:sym typeface="+mn-lt"/>
              </a:rPr>
              <a:t>高可靠组网架构</a:t>
            </a:r>
          </a:p>
        </p:txBody>
      </p:sp>
      <p:pic>
        <p:nvPicPr>
          <p:cNvPr id="22"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71615" y="2811172"/>
            <a:ext cx="405710" cy="331945"/>
          </a:xfrm>
          <a:prstGeom prst="rect">
            <a:avLst/>
          </a:prstGeom>
        </p:spPr>
      </p:pic>
      <p:pic>
        <p:nvPicPr>
          <p:cNvPr id="23" name="图片 87" descr="汇聚交换机.png"/>
          <p:cNvPicPr>
            <a:picLocks noChangeAspect="1"/>
          </p:cNvPicPr>
          <p:nvPr/>
        </p:nvPicPr>
        <p:blipFill>
          <a:blip r:embed="rId7" cstate="print"/>
          <a:stretch>
            <a:fillRect/>
          </a:stretch>
        </p:blipFill>
        <p:spPr>
          <a:xfrm>
            <a:off x="2571614" y="4028799"/>
            <a:ext cx="405710" cy="331945"/>
          </a:xfrm>
          <a:prstGeom prst="rect">
            <a:avLst/>
          </a:prstGeom>
        </p:spPr>
      </p:pic>
      <p:sp>
        <p:nvSpPr>
          <p:cNvPr id="24" name="文本框 23"/>
          <p:cNvSpPr txBox="1"/>
          <p:nvPr/>
        </p:nvSpPr>
        <p:spPr>
          <a:xfrm>
            <a:off x="4009864" y="4047231"/>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25" name="矩形 24"/>
          <p:cNvSpPr/>
          <p:nvPr/>
        </p:nvSpPr>
        <p:spPr>
          <a:xfrm>
            <a:off x="982786" y="4800144"/>
            <a:ext cx="723275" cy="307777"/>
          </a:xfrm>
          <a:prstGeom prst="rect">
            <a:avLst/>
          </a:prstGeom>
        </p:spPr>
        <p:txBody>
          <a:bodyPr wrap="none">
            <a:spAutoFit/>
          </a:bodyPr>
          <a:lstStyle/>
          <a:p>
            <a:pPr algn="ctr"/>
            <a:r>
              <a:rPr lang="zh-CN" altLang="en-US" sz="1400" smtClean="0">
                <a:cs typeface="+mn-ea"/>
                <a:sym typeface="+mn-lt"/>
              </a:rPr>
              <a:t>接入层</a:t>
            </a:r>
            <a:endParaRPr lang="zh-CN" altLang="en-US" sz="1400">
              <a:cs typeface="+mn-ea"/>
              <a:sym typeface="+mn-lt"/>
            </a:endParaRPr>
          </a:p>
        </p:txBody>
      </p:sp>
      <p:sp>
        <p:nvSpPr>
          <p:cNvPr id="26" name="矩形 25"/>
          <p:cNvSpPr/>
          <p:nvPr/>
        </p:nvSpPr>
        <p:spPr>
          <a:xfrm>
            <a:off x="982786" y="4042767"/>
            <a:ext cx="723275" cy="307777"/>
          </a:xfrm>
          <a:prstGeom prst="rect">
            <a:avLst/>
          </a:prstGeom>
        </p:spPr>
        <p:txBody>
          <a:bodyPr wrap="none">
            <a:spAutoFit/>
          </a:bodyPr>
          <a:lstStyle/>
          <a:p>
            <a:pPr algn="ctr"/>
            <a:r>
              <a:rPr lang="zh-CN" altLang="en-US" sz="1400" smtClean="0">
                <a:cs typeface="+mn-ea"/>
                <a:sym typeface="+mn-lt"/>
              </a:rPr>
              <a:t>汇聚层</a:t>
            </a:r>
            <a:endParaRPr lang="zh-CN" altLang="en-US" sz="1400">
              <a:cs typeface="+mn-ea"/>
              <a:sym typeface="+mn-lt"/>
            </a:endParaRPr>
          </a:p>
        </p:txBody>
      </p:sp>
      <p:pic>
        <p:nvPicPr>
          <p:cNvPr id="27" name="图片 86" descr="核心交换机.png"/>
          <p:cNvPicPr>
            <a:picLocks noChangeAspect="1"/>
          </p:cNvPicPr>
          <p:nvPr/>
        </p:nvPicPr>
        <p:blipFill>
          <a:blip r:embed="rId8" cstate="print"/>
          <a:stretch>
            <a:fillRect/>
          </a:stretch>
        </p:blipFill>
        <p:spPr>
          <a:xfrm>
            <a:off x="2571614" y="3437307"/>
            <a:ext cx="405710" cy="331945"/>
          </a:xfrm>
          <a:prstGeom prst="rect">
            <a:avLst/>
          </a:prstGeom>
        </p:spPr>
      </p:pic>
      <p:sp>
        <p:nvSpPr>
          <p:cNvPr id="28" name="文本框 27"/>
          <p:cNvSpPr txBox="1"/>
          <p:nvPr/>
        </p:nvSpPr>
        <p:spPr>
          <a:xfrm>
            <a:off x="4009864" y="3437307"/>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29" name="矩形 28"/>
          <p:cNvSpPr/>
          <p:nvPr/>
        </p:nvSpPr>
        <p:spPr>
          <a:xfrm>
            <a:off x="982785" y="3437306"/>
            <a:ext cx="723276" cy="307777"/>
          </a:xfrm>
          <a:prstGeom prst="rect">
            <a:avLst/>
          </a:prstGeom>
        </p:spPr>
        <p:txBody>
          <a:bodyPr wrap="none">
            <a:spAutoFit/>
          </a:bodyPr>
          <a:lstStyle/>
          <a:p>
            <a:pPr algn="ctr"/>
            <a:r>
              <a:rPr lang="zh-CN" altLang="en-US" sz="1400" smtClean="0">
                <a:cs typeface="+mn-ea"/>
                <a:sym typeface="+mn-lt"/>
              </a:rPr>
              <a:t>核心层</a:t>
            </a:r>
            <a:endParaRPr lang="zh-CN" altLang="en-US" sz="1400">
              <a:cs typeface="+mn-ea"/>
              <a:sym typeface="+mn-lt"/>
            </a:endParaRPr>
          </a:p>
        </p:txBody>
      </p:sp>
      <p:pic>
        <p:nvPicPr>
          <p:cNvPr id="3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46819" y="2811172"/>
            <a:ext cx="405710" cy="331945"/>
          </a:xfrm>
          <a:prstGeom prst="rect">
            <a:avLst/>
          </a:prstGeom>
        </p:spPr>
      </p:pic>
      <p:pic>
        <p:nvPicPr>
          <p:cNvPr id="31" name="图片 87" descr="汇聚交换机.png"/>
          <p:cNvPicPr>
            <a:picLocks noChangeAspect="1"/>
          </p:cNvPicPr>
          <p:nvPr/>
        </p:nvPicPr>
        <p:blipFill>
          <a:blip r:embed="rId7" cstate="print"/>
          <a:stretch>
            <a:fillRect/>
          </a:stretch>
        </p:blipFill>
        <p:spPr>
          <a:xfrm>
            <a:off x="3546818" y="4028799"/>
            <a:ext cx="405710" cy="331945"/>
          </a:xfrm>
          <a:prstGeom prst="rect">
            <a:avLst/>
          </a:prstGeom>
        </p:spPr>
      </p:pic>
      <p:pic>
        <p:nvPicPr>
          <p:cNvPr id="32" name="图片 86" descr="核心交换机.png"/>
          <p:cNvPicPr>
            <a:picLocks noChangeAspect="1"/>
          </p:cNvPicPr>
          <p:nvPr/>
        </p:nvPicPr>
        <p:blipFill>
          <a:blip r:embed="rId8" cstate="print"/>
          <a:stretch>
            <a:fillRect/>
          </a:stretch>
        </p:blipFill>
        <p:spPr>
          <a:xfrm>
            <a:off x="3546818" y="3437307"/>
            <a:ext cx="405710" cy="331945"/>
          </a:xfrm>
          <a:prstGeom prst="rect">
            <a:avLst/>
          </a:prstGeom>
        </p:spPr>
      </p:pic>
      <p:sp>
        <p:nvSpPr>
          <p:cNvPr id="33" name="椭圆 32"/>
          <p:cNvSpPr/>
          <p:nvPr/>
        </p:nvSpPr>
        <p:spPr>
          <a:xfrm>
            <a:off x="3040722" y="4639970"/>
            <a:ext cx="450675" cy="86530"/>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34" name="任意多边形 33"/>
          <p:cNvSpPr/>
          <p:nvPr/>
        </p:nvSpPr>
        <p:spPr>
          <a:xfrm>
            <a:off x="3311141" y="1922689"/>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cxnSp>
        <p:nvCxnSpPr>
          <p:cNvPr id="35" name="直接连接符 34"/>
          <p:cNvCxnSpPr/>
          <p:nvPr/>
        </p:nvCxnSpPr>
        <p:spPr bwMode="grayWhite">
          <a:xfrm>
            <a:off x="2977325" y="2941585"/>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grayWhite">
          <a:xfrm>
            <a:off x="2977325" y="3002545"/>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37" name="椭圆 36"/>
          <p:cNvSpPr/>
          <p:nvPr/>
        </p:nvSpPr>
        <p:spPr bwMode="grayWhite">
          <a:xfrm>
            <a:off x="3217019" y="2901692"/>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38" name="直接连接符 37"/>
          <p:cNvCxnSpPr/>
          <p:nvPr/>
        </p:nvCxnSpPr>
        <p:spPr bwMode="grayWhite">
          <a:xfrm>
            <a:off x="2977325" y="3581506"/>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grayWhite">
          <a:xfrm>
            <a:off x="2977325" y="3642466"/>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bwMode="grayWhite">
          <a:xfrm>
            <a:off x="3217019" y="3541613"/>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41" name="直接连接符 40"/>
          <p:cNvCxnSpPr/>
          <p:nvPr/>
        </p:nvCxnSpPr>
        <p:spPr bwMode="grayWhite">
          <a:xfrm>
            <a:off x="2977325" y="4173027"/>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grayWhite">
          <a:xfrm>
            <a:off x="2977325" y="4233987"/>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bwMode="grayWhite">
          <a:xfrm>
            <a:off x="3217019" y="4133134"/>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44" name="椭圆 43"/>
          <p:cNvSpPr/>
          <p:nvPr/>
        </p:nvSpPr>
        <p:spPr>
          <a:xfrm>
            <a:off x="2623144" y="3855788"/>
            <a:ext cx="1285830" cy="86530"/>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49" name="直接连接符 48"/>
          <p:cNvCxnSpPr/>
          <p:nvPr/>
        </p:nvCxnSpPr>
        <p:spPr bwMode="grayWhite">
          <a:xfrm>
            <a:off x="5518531" y="5958443"/>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grayWhite">
          <a:xfrm>
            <a:off x="5518531" y="6019403"/>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51" name="椭圆 50"/>
          <p:cNvSpPr/>
          <p:nvPr/>
        </p:nvSpPr>
        <p:spPr bwMode="grayWhite">
          <a:xfrm>
            <a:off x="5758225" y="5918550"/>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52" name="文本框 51"/>
          <p:cNvSpPr txBox="1"/>
          <p:nvPr/>
        </p:nvSpPr>
        <p:spPr>
          <a:xfrm>
            <a:off x="6096000" y="5834339"/>
            <a:ext cx="1306466" cy="276999"/>
          </a:xfrm>
          <a:prstGeom prst="rect">
            <a:avLst/>
          </a:prstGeom>
          <a:noFill/>
        </p:spPr>
        <p:txBody>
          <a:bodyPr wrap="square" rtlCol="0">
            <a:spAutoFit/>
          </a:bodyPr>
          <a:lstStyle/>
          <a:p>
            <a:r>
              <a:rPr lang="zh-CN" altLang="en-US" sz="1200" dirty="0" smtClean="0">
                <a:cs typeface="+mn-ea"/>
                <a:sym typeface="+mn-lt"/>
              </a:rPr>
              <a:t>堆叠链路</a:t>
            </a:r>
            <a:endParaRPr lang="en-US" altLang="zh-CN" sz="1200" dirty="0" smtClean="0">
              <a:cs typeface="+mn-ea"/>
              <a:sym typeface="+mn-lt"/>
            </a:endParaRPr>
          </a:p>
        </p:txBody>
      </p:sp>
      <p:cxnSp>
        <p:nvCxnSpPr>
          <p:cNvPr id="53" name="直接连接符 52"/>
          <p:cNvCxnSpPr/>
          <p:nvPr/>
        </p:nvCxnSpPr>
        <p:spPr>
          <a:xfrm>
            <a:off x="5518531" y="5586011"/>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5518531" y="5646971"/>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a:off x="5758225" y="5546118"/>
            <a:ext cx="98080" cy="139357"/>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56" name="文本框 55"/>
          <p:cNvSpPr txBox="1"/>
          <p:nvPr/>
        </p:nvSpPr>
        <p:spPr>
          <a:xfrm>
            <a:off x="6095999" y="5469205"/>
            <a:ext cx="800219" cy="276999"/>
          </a:xfrm>
          <a:prstGeom prst="rect">
            <a:avLst/>
          </a:prstGeom>
          <a:noFill/>
        </p:spPr>
        <p:txBody>
          <a:bodyPr wrap="none" rtlCol="0">
            <a:spAutoFit/>
          </a:bodyPr>
          <a:lstStyle/>
          <a:p>
            <a:r>
              <a:rPr lang="zh-CN" altLang="en-US" sz="1200" dirty="0" smtClean="0">
                <a:cs typeface="+mn-ea"/>
                <a:sym typeface="+mn-lt"/>
              </a:rPr>
              <a:t>链路聚合</a:t>
            </a:r>
            <a:endParaRPr lang="zh-CN" altLang="en-US" sz="1200" dirty="0">
              <a:cs typeface="+mn-ea"/>
              <a:sym typeface="+mn-lt"/>
            </a:endParaRPr>
          </a:p>
        </p:txBody>
      </p:sp>
    </p:spTree>
    <p:extLst>
      <p:ext uri="{BB962C8B-B14F-4D97-AF65-F5344CB8AC3E}">
        <p14:creationId xmlns:p14="http://schemas.microsoft.com/office/powerpoint/2010/main" val="2144022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bwMode="gray">
          <a:xfrm>
            <a:off x="5181987" y="4455943"/>
            <a:ext cx="1880657" cy="632665"/>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cxnSp>
        <p:nvCxnSpPr>
          <p:cNvPr id="55" name="直接连接符 54"/>
          <p:cNvCxnSpPr/>
          <p:nvPr/>
        </p:nvCxnSpPr>
        <p:spPr bwMode="gray">
          <a:xfrm>
            <a:off x="5798945" y="4697309"/>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a:off x="5798945" y="4773509"/>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7" name="椭圆 56"/>
          <p:cNvSpPr/>
          <p:nvPr/>
        </p:nvSpPr>
        <p:spPr bwMode="gray">
          <a:xfrm>
            <a:off x="6088505" y="4639198"/>
            <a:ext cx="121920" cy="190500"/>
          </a:xfrm>
          <a:prstGeom prst="ellips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35" name="圆角矩形 34"/>
          <p:cNvSpPr/>
          <p:nvPr/>
        </p:nvSpPr>
        <p:spPr bwMode="gray">
          <a:xfrm>
            <a:off x="1266798" y="3259308"/>
            <a:ext cx="1880657" cy="632665"/>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cxnSp>
        <p:nvCxnSpPr>
          <p:cNvPr id="12" name="直接连接符 11"/>
          <p:cNvCxnSpPr/>
          <p:nvPr/>
        </p:nvCxnSpPr>
        <p:spPr bwMode="gray">
          <a:xfrm>
            <a:off x="1856606" y="3588487"/>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a:off x="1856606" y="3664687"/>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4" name="椭圆 13"/>
          <p:cNvSpPr/>
          <p:nvPr/>
        </p:nvSpPr>
        <p:spPr bwMode="gray">
          <a:xfrm>
            <a:off x="2146166" y="3530376"/>
            <a:ext cx="121920" cy="190500"/>
          </a:xfrm>
          <a:prstGeom prst="ellips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bwMode="gray"/>
        <p:txBody>
          <a:bodyPr>
            <a:normAutofit/>
          </a:bodyPr>
          <a:lstStyle/>
          <a:p>
            <a:r>
              <a:rPr lang="zh-CN" altLang="en-US" dirty="0">
                <a:latin typeface="+mn-lt"/>
                <a:ea typeface="+mn-ea"/>
                <a:cs typeface="+mn-ea"/>
                <a:sym typeface="+mn-lt"/>
              </a:rPr>
              <a:t>链路</a:t>
            </a:r>
            <a:r>
              <a:rPr lang="zh-CN" altLang="en-US" dirty="0" smtClean="0">
                <a:latin typeface="+mn-lt"/>
                <a:ea typeface="+mn-ea"/>
                <a:cs typeface="+mn-ea"/>
                <a:sym typeface="+mn-lt"/>
              </a:rPr>
              <a:t>可靠性设计 </a:t>
            </a:r>
            <a:r>
              <a:rPr lang="en-US" altLang="zh-CN" dirty="0" smtClean="0">
                <a:latin typeface="+mn-lt"/>
                <a:ea typeface="+mn-ea"/>
                <a:cs typeface="+mn-ea"/>
                <a:sym typeface="+mn-lt"/>
              </a:rPr>
              <a:t>(1)</a:t>
            </a:r>
            <a:endParaRPr lang="zh-CN" altLang="en-US" dirty="0">
              <a:latin typeface="+mn-lt"/>
              <a:ea typeface="+mn-ea"/>
              <a:cs typeface="+mn-ea"/>
              <a:sym typeface="+mn-lt"/>
            </a:endParaRPr>
          </a:p>
        </p:txBody>
      </p:sp>
      <p:sp>
        <p:nvSpPr>
          <p:cNvPr id="3" name="圆角矩形 75"/>
          <p:cNvSpPr/>
          <p:nvPr/>
        </p:nvSpPr>
        <p:spPr bwMode="gray">
          <a:xfrm>
            <a:off x="738231" y="1361245"/>
            <a:ext cx="10721932"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mn-lt"/>
              </a:rPr>
              <a:t>内网链路可靠性</a:t>
            </a:r>
          </a:p>
        </p:txBody>
      </p:sp>
      <p:sp>
        <p:nvSpPr>
          <p:cNvPr id="4" name="圆角矩形 75"/>
          <p:cNvSpPr/>
          <p:nvPr/>
        </p:nvSpPr>
        <p:spPr bwMode="gray">
          <a:xfrm>
            <a:off x="738231" y="1765203"/>
            <a:ext cx="10721932" cy="4310477"/>
          </a:xfrm>
          <a:prstGeom prst="roundRect">
            <a:avLst>
              <a:gd name="adj" fmla="val 1025"/>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77800" indent="-177800" algn="just">
              <a:lnSpc>
                <a:spcPct val="140000"/>
              </a:lnSpc>
              <a:spcBef>
                <a:spcPct val="0"/>
              </a:spcBef>
              <a:spcAft>
                <a:spcPts val="300"/>
              </a:spcAft>
              <a:buSzPct val="100000"/>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交换机之间可通过部署多条链路并进行捆绑（</a:t>
            </a:r>
            <a:r>
              <a:rPr lang="en-US" altLang="zh-CN" sz="1400" dirty="0" smtClean="0">
                <a:solidFill>
                  <a:prstClr val="black"/>
                </a:solidFill>
                <a:latin typeface="Huawei Sans" panose="020C0503030203020204" pitchFamily="34" charset="0"/>
                <a:ea typeface="方正兰亭黑简体" panose="02000000000000000000" pitchFamily="2" charset="-122"/>
                <a:sym typeface="+mn-lt"/>
              </a:rPr>
              <a:t>Eth-Trunk</a:t>
            </a:r>
            <a:r>
              <a:rPr lang="zh-CN" altLang="en-US" sz="1400" dirty="0">
                <a:solidFill>
                  <a:prstClr val="black"/>
                </a:solidFill>
                <a:latin typeface="Huawei Sans" panose="020C0503030203020204" pitchFamily="34" charset="0"/>
                <a:ea typeface="方正兰亭黑简体" panose="02000000000000000000" pitchFamily="2" charset="-122"/>
                <a:sym typeface="+mn-lt"/>
              </a:rPr>
              <a:t>）提高链路可靠性。</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77800" indent="-177800" algn="just">
              <a:lnSpc>
                <a:spcPct val="140000"/>
              </a:lnSpc>
              <a:spcBef>
                <a:spcPct val="0"/>
              </a:spcBef>
              <a:spcAft>
                <a:spcPts val="300"/>
              </a:spcAft>
              <a:buSzPct val="100000"/>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建议交换机堆叠组网时采用跨设备的</a:t>
            </a:r>
            <a:r>
              <a:rPr lang="en-US" altLang="zh-CN" sz="1400" dirty="0">
                <a:solidFill>
                  <a:prstClr val="black"/>
                </a:solidFill>
                <a:latin typeface="Huawei Sans" panose="020C0503030203020204" pitchFamily="34" charset="0"/>
                <a:ea typeface="方正兰亭黑简体" panose="02000000000000000000" pitchFamily="2" charset="-122"/>
                <a:sym typeface="+mn-lt"/>
              </a:rPr>
              <a:t>Eth-Trunk</a:t>
            </a:r>
            <a:r>
              <a:rPr lang="zh-CN" altLang="en-US" sz="1400" dirty="0">
                <a:solidFill>
                  <a:prstClr val="black"/>
                </a:solidFill>
                <a:latin typeface="Huawei Sans" panose="020C0503030203020204" pitchFamily="34" charset="0"/>
                <a:ea typeface="方正兰亭黑简体" panose="02000000000000000000" pitchFamily="2" charset="-122"/>
                <a:sym typeface="+mn-lt"/>
              </a:rPr>
              <a:t>来保证链路可靠性。</a:t>
            </a:r>
          </a:p>
        </p:txBody>
      </p:sp>
      <p:pic>
        <p:nvPicPr>
          <p:cNvPr id="7" name="图片 76" descr="接入交换机.png"/>
          <p:cNvPicPr>
            <a:picLocks noChangeAspect="1"/>
          </p:cNvPicPr>
          <p:nvPr/>
        </p:nvPicPr>
        <p:blipFill>
          <a:blip r:embed="rId3" cstate="print"/>
          <a:stretch>
            <a:fillRect/>
          </a:stretch>
        </p:blipFill>
        <p:spPr bwMode="gray">
          <a:xfrm>
            <a:off x="1501351" y="4563688"/>
            <a:ext cx="405710" cy="331945"/>
          </a:xfrm>
          <a:prstGeom prst="rect">
            <a:avLst/>
          </a:prstGeom>
        </p:spPr>
      </p:pic>
      <p:pic>
        <p:nvPicPr>
          <p:cNvPr id="8" name="图片 87" descr="汇聚交换机.png"/>
          <p:cNvPicPr>
            <a:picLocks noChangeAspect="1"/>
          </p:cNvPicPr>
          <p:nvPr/>
        </p:nvPicPr>
        <p:blipFill>
          <a:blip r:embed="rId4" cstate="print"/>
          <a:stretch>
            <a:fillRect/>
          </a:stretch>
        </p:blipFill>
        <p:spPr bwMode="gray">
          <a:xfrm>
            <a:off x="1501351" y="3472751"/>
            <a:ext cx="405710" cy="331945"/>
          </a:xfrm>
          <a:prstGeom prst="rect">
            <a:avLst/>
          </a:prstGeom>
        </p:spPr>
      </p:pic>
      <p:pic>
        <p:nvPicPr>
          <p:cNvPr id="9" name="图片 76" descr="接入交换机.png"/>
          <p:cNvPicPr>
            <a:picLocks noChangeAspect="1"/>
          </p:cNvPicPr>
          <p:nvPr/>
        </p:nvPicPr>
        <p:blipFill>
          <a:blip r:embed="rId3" cstate="print"/>
          <a:stretch>
            <a:fillRect/>
          </a:stretch>
        </p:blipFill>
        <p:spPr bwMode="gray">
          <a:xfrm>
            <a:off x="2507191" y="4563688"/>
            <a:ext cx="405710" cy="331945"/>
          </a:xfrm>
          <a:prstGeom prst="rect">
            <a:avLst/>
          </a:prstGeom>
        </p:spPr>
      </p:pic>
      <p:pic>
        <p:nvPicPr>
          <p:cNvPr id="10" name="图片 87" descr="汇聚交换机.png"/>
          <p:cNvPicPr>
            <a:picLocks noChangeAspect="1"/>
          </p:cNvPicPr>
          <p:nvPr/>
        </p:nvPicPr>
        <p:blipFill>
          <a:blip r:embed="rId4" cstate="print"/>
          <a:stretch>
            <a:fillRect/>
          </a:stretch>
        </p:blipFill>
        <p:spPr bwMode="gray">
          <a:xfrm>
            <a:off x="2507191" y="3472751"/>
            <a:ext cx="405710" cy="331945"/>
          </a:xfrm>
          <a:prstGeom prst="rect">
            <a:avLst/>
          </a:prstGeom>
        </p:spPr>
      </p:pic>
      <p:cxnSp>
        <p:nvCxnSpPr>
          <p:cNvPr id="15" name="直接连接符 14"/>
          <p:cNvCxnSpPr>
            <a:stCxn id="7" idx="0"/>
            <a:endCxn id="10" idx="2"/>
          </p:cNvCxnSpPr>
          <p:nvPr/>
        </p:nvCxnSpPr>
        <p:spPr bwMode="gray">
          <a:xfrm flipV="1">
            <a:off x="1704206" y="3804696"/>
            <a:ext cx="100584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7" idx="0"/>
            <a:endCxn id="8" idx="2"/>
          </p:cNvCxnSpPr>
          <p:nvPr/>
        </p:nvCxnSpPr>
        <p:spPr bwMode="gray">
          <a:xfrm flipV="1">
            <a:off x="1704206" y="3804696"/>
            <a:ext cx="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0"/>
            <a:endCxn id="10" idx="2"/>
          </p:cNvCxnSpPr>
          <p:nvPr/>
        </p:nvCxnSpPr>
        <p:spPr bwMode="gray">
          <a:xfrm flipV="1">
            <a:off x="2710046" y="3804696"/>
            <a:ext cx="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9" idx="0"/>
            <a:endCxn id="8" idx="2"/>
          </p:cNvCxnSpPr>
          <p:nvPr/>
        </p:nvCxnSpPr>
        <p:spPr bwMode="gray">
          <a:xfrm flipH="1" flipV="1">
            <a:off x="1704206" y="3804696"/>
            <a:ext cx="100584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椭圆 28"/>
          <p:cNvSpPr/>
          <p:nvPr/>
        </p:nvSpPr>
        <p:spPr bwMode="gray">
          <a:xfrm rot="1126692">
            <a:off x="1645588" y="4425158"/>
            <a:ext cx="258560" cy="60852"/>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30" name="椭圆 29"/>
          <p:cNvSpPr/>
          <p:nvPr/>
        </p:nvSpPr>
        <p:spPr bwMode="gray">
          <a:xfrm rot="20681184">
            <a:off x="2524293" y="4427201"/>
            <a:ext cx="258560" cy="60852"/>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37" name="文本框 36"/>
          <p:cNvSpPr txBox="1"/>
          <p:nvPr/>
        </p:nvSpPr>
        <p:spPr bwMode="gray">
          <a:xfrm>
            <a:off x="1958868" y="3259308"/>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sp>
        <p:nvSpPr>
          <p:cNvPr id="38" name="圆角矩形 37"/>
          <p:cNvSpPr/>
          <p:nvPr/>
        </p:nvSpPr>
        <p:spPr bwMode="gray">
          <a:xfrm>
            <a:off x="5181987" y="3259308"/>
            <a:ext cx="1880657" cy="632665"/>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cxnSp>
        <p:nvCxnSpPr>
          <p:cNvPr id="39" name="直接连接符 38"/>
          <p:cNvCxnSpPr/>
          <p:nvPr/>
        </p:nvCxnSpPr>
        <p:spPr bwMode="gray">
          <a:xfrm>
            <a:off x="5798945" y="3588487"/>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gray">
          <a:xfrm>
            <a:off x="5798945" y="3664687"/>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1" name="椭圆 40"/>
          <p:cNvSpPr/>
          <p:nvPr/>
        </p:nvSpPr>
        <p:spPr bwMode="gray">
          <a:xfrm>
            <a:off x="6061355" y="3530376"/>
            <a:ext cx="121920" cy="190500"/>
          </a:xfrm>
          <a:prstGeom prst="ellips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pic>
        <p:nvPicPr>
          <p:cNvPr id="42" name="图片 76" descr="接入交换机.png"/>
          <p:cNvPicPr>
            <a:picLocks noChangeAspect="1"/>
          </p:cNvPicPr>
          <p:nvPr/>
        </p:nvPicPr>
        <p:blipFill>
          <a:blip r:embed="rId3" cstate="print"/>
          <a:stretch>
            <a:fillRect/>
          </a:stretch>
        </p:blipFill>
        <p:spPr bwMode="gray">
          <a:xfrm>
            <a:off x="5416540" y="4563688"/>
            <a:ext cx="405710" cy="331945"/>
          </a:xfrm>
          <a:prstGeom prst="rect">
            <a:avLst/>
          </a:prstGeom>
        </p:spPr>
      </p:pic>
      <p:pic>
        <p:nvPicPr>
          <p:cNvPr id="43" name="图片 87" descr="汇聚交换机.png"/>
          <p:cNvPicPr>
            <a:picLocks noChangeAspect="1"/>
          </p:cNvPicPr>
          <p:nvPr/>
        </p:nvPicPr>
        <p:blipFill>
          <a:blip r:embed="rId4" cstate="print"/>
          <a:stretch>
            <a:fillRect/>
          </a:stretch>
        </p:blipFill>
        <p:spPr bwMode="gray">
          <a:xfrm>
            <a:off x="5416540" y="3472751"/>
            <a:ext cx="405710" cy="331945"/>
          </a:xfrm>
          <a:prstGeom prst="rect">
            <a:avLst/>
          </a:prstGeom>
        </p:spPr>
      </p:pic>
      <p:pic>
        <p:nvPicPr>
          <p:cNvPr id="44" name="图片 76" descr="接入交换机.png"/>
          <p:cNvPicPr>
            <a:picLocks noChangeAspect="1"/>
          </p:cNvPicPr>
          <p:nvPr/>
        </p:nvPicPr>
        <p:blipFill>
          <a:blip r:embed="rId3" cstate="print"/>
          <a:stretch>
            <a:fillRect/>
          </a:stretch>
        </p:blipFill>
        <p:spPr bwMode="gray">
          <a:xfrm>
            <a:off x="6422380" y="4563688"/>
            <a:ext cx="405710" cy="331945"/>
          </a:xfrm>
          <a:prstGeom prst="rect">
            <a:avLst/>
          </a:prstGeom>
        </p:spPr>
      </p:pic>
      <p:pic>
        <p:nvPicPr>
          <p:cNvPr id="45" name="图片 87" descr="汇聚交换机.png"/>
          <p:cNvPicPr>
            <a:picLocks noChangeAspect="1"/>
          </p:cNvPicPr>
          <p:nvPr/>
        </p:nvPicPr>
        <p:blipFill>
          <a:blip r:embed="rId4" cstate="print"/>
          <a:stretch>
            <a:fillRect/>
          </a:stretch>
        </p:blipFill>
        <p:spPr bwMode="gray">
          <a:xfrm>
            <a:off x="6422380" y="3472751"/>
            <a:ext cx="405710" cy="331945"/>
          </a:xfrm>
          <a:prstGeom prst="rect">
            <a:avLst/>
          </a:prstGeom>
        </p:spPr>
      </p:pic>
      <p:cxnSp>
        <p:nvCxnSpPr>
          <p:cNvPr id="47" name="直接连接符 46"/>
          <p:cNvCxnSpPr>
            <a:stCxn id="42" idx="0"/>
            <a:endCxn id="43" idx="2"/>
          </p:cNvCxnSpPr>
          <p:nvPr/>
        </p:nvCxnSpPr>
        <p:spPr bwMode="gray">
          <a:xfrm flipV="1">
            <a:off x="5619395" y="3804696"/>
            <a:ext cx="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4" idx="0"/>
            <a:endCxn id="45" idx="2"/>
          </p:cNvCxnSpPr>
          <p:nvPr/>
        </p:nvCxnSpPr>
        <p:spPr bwMode="gray">
          <a:xfrm flipV="1">
            <a:off x="6625235" y="3804696"/>
            <a:ext cx="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bwMode="gray">
          <a:xfrm>
            <a:off x="5874057" y="3259308"/>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sp>
        <p:nvSpPr>
          <p:cNvPr id="54" name="文本框 53"/>
          <p:cNvSpPr txBox="1"/>
          <p:nvPr/>
        </p:nvSpPr>
        <p:spPr bwMode="gray">
          <a:xfrm>
            <a:off x="5874057" y="4842737"/>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sp>
        <p:nvSpPr>
          <p:cNvPr id="58" name="椭圆 57"/>
          <p:cNvSpPr/>
          <p:nvPr/>
        </p:nvSpPr>
        <p:spPr bwMode="gray">
          <a:xfrm>
            <a:off x="5461831" y="4116155"/>
            <a:ext cx="1320968" cy="13011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59" name="圆角矩形 58"/>
          <p:cNvSpPr/>
          <p:nvPr/>
        </p:nvSpPr>
        <p:spPr bwMode="gray">
          <a:xfrm>
            <a:off x="9173430" y="4455943"/>
            <a:ext cx="1880657" cy="632665"/>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cxnSp>
        <p:nvCxnSpPr>
          <p:cNvPr id="60" name="直接连接符 59"/>
          <p:cNvCxnSpPr/>
          <p:nvPr/>
        </p:nvCxnSpPr>
        <p:spPr bwMode="gray">
          <a:xfrm>
            <a:off x="9763238" y="4697309"/>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gray">
          <a:xfrm>
            <a:off x="9763238" y="4773509"/>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2" name="椭圆 61"/>
          <p:cNvSpPr/>
          <p:nvPr/>
        </p:nvSpPr>
        <p:spPr bwMode="gray">
          <a:xfrm>
            <a:off x="10052798" y="4639198"/>
            <a:ext cx="121920" cy="190500"/>
          </a:xfrm>
          <a:prstGeom prst="ellips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63" name="圆角矩形 62"/>
          <p:cNvSpPr/>
          <p:nvPr/>
        </p:nvSpPr>
        <p:spPr bwMode="gray">
          <a:xfrm>
            <a:off x="9173430" y="3259308"/>
            <a:ext cx="1880657" cy="632665"/>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cxnSp>
        <p:nvCxnSpPr>
          <p:cNvPr id="64" name="直接连接符 63"/>
          <p:cNvCxnSpPr/>
          <p:nvPr/>
        </p:nvCxnSpPr>
        <p:spPr bwMode="gray">
          <a:xfrm>
            <a:off x="9763238" y="3588487"/>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bwMode="gray">
          <a:xfrm>
            <a:off x="9763238" y="3664687"/>
            <a:ext cx="70104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6" name="椭圆 65"/>
          <p:cNvSpPr/>
          <p:nvPr/>
        </p:nvSpPr>
        <p:spPr bwMode="gray">
          <a:xfrm>
            <a:off x="10052798" y="3530376"/>
            <a:ext cx="121920" cy="190500"/>
          </a:xfrm>
          <a:prstGeom prst="ellips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pic>
        <p:nvPicPr>
          <p:cNvPr id="67" name="图片 76" descr="接入交换机.png"/>
          <p:cNvPicPr>
            <a:picLocks noChangeAspect="1"/>
          </p:cNvPicPr>
          <p:nvPr/>
        </p:nvPicPr>
        <p:blipFill>
          <a:blip r:embed="rId3" cstate="print"/>
          <a:stretch>
            <a:fillRect/>
          </a:stretch>
        </p:blipFill>
        <p:spPr bwMode="gray">
          <a:xfrm>
            <a:off x="9407983" y="4563688"/>
            <a:ext cx="405710" cy="331945"/>
          </a:xfrm>
          <a:prstGeom prst="rect">
            <a:avLst/>
          </a:prstGeom>
        </p:spPr>
      </p:pic>
      <p:pic>
        <p:nvPicPr>
          <p:cNvPr id="68" name="图片 87" descr="汇聚交换机.png"/>
          <p:cNvPicPr>
            <a:picLocks noChangeAspect="1"/>
          </p:cNvPicPr>
          <p:nvPr/>
        </p:nvPicPr>
        <p:blipFill>
          <a:blip r:embed="rId4" cstate="print"/>
          <a:stretch>
            <a:fillRect/>
          </a:stretch>
        </p:blipFill>
        <p:spPr bwMode="gray">
          <a:xfrm>
            <a:off x="9407983" y="3472751"/>
            <a:ext cx="405710" cy="331945"/>
          </a:xfrm>
          <a:prstGeom prst="rect">
            <a:avLst/>
          </a:prstGeom>
        </p:spPr>
      </p:pic>
      <p:pic>
        <p:nvPicPr>
          <p:cNvPr id="69" name="图片 76" descr="接入交换机.png"/>
          <p:cNvPicPr>
            <a:picLocks noChangeAspect="1"/>
          </p:cNvPicPr>
          <p:nvPr/>
        </p:nvPicPr>
        <p:blipFill>
          <a:blip r:embed="rId3" cstate="print"/>
          <a:stretch>
            <a:fillRect/>
          </a:stretch>
        </p:blipFill>
        <p:spPr bwMode="gray">
          <a:xfrm>
            <a:off x="10413823" y="4563688"/>
            <a:ext cx="405710" cy="331945"/>
          </a:xfrm>
          <a:prstGeom prst="rect">
            <a:avLst/>
          </a:prstGeom>
        </p:spPr>
      </p:pic>
      <p:pic>
        <p:nvPicPr>
          <p:cNvPr id="70" name="图片 87" descr="汇聚交换机.png"/>
          <p:cNvPicPr>
            <a:picLocks noChangeAspect="1"/>
          </p:cNvPicPr>
          <p:nvPr/>
        </p:nvPicPr>
        <p:blipFill>
          <a:blip r:embed="rId4" cstate="print"/>
          <a:stretch>
            <a:fillRect/>
          </a:stretch>
        </p:blipFill>
        <p:spPr bwMode="gray">
          <a:xfrm>
            <a:off x="10413823" y="3472751"/>
            <a:ext cx="405710" cy="331945"/>
          </a:xfrm>
          <a:prstGeom prst="rect">
            <a:avLst/>
          </a:prstGeom>
        </p:spPr>
      </p:pic>
      <p:cxnSp>
        <p:nvCxnSpPr>
          <p:cNvPr id="71" name="直接连接符 70"/>
          <p:cNvCxnSpPr>
            <a:stCxn id="67" idx="0"/>
            <a:endCxn id="68" idx="2"/>
          </p:cNvCxnSpPr>
          <p:nvPr/>
        </p:nvCxnSpPr>
        <p:spPr bwMode="gray">
          <a:xfrm flipV="1">
            <a:off x="9610838" y="3804696"/>
            <a:ext cx="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69" idx="0"/>
            <a:endCxn id="70" idx="2"/>
          </p:cNvCxnSpPr>
          <p:nvPr/>
        </p:nvCxnSpPr>
        <p:spPr bwMode="gray">
          <a:xfrm flipV="1">
            <a:off x="10616678" y="3804696"/>
            <a:ext cx="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bwMode="gray">
          <a:xfrm>
            <a:off x="9865500" y="3259308"/>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sp>
        <p:nvSpPr>
          <p:cNvPr id="74" name="文本框 73"/>
          <p:cNvSpPr txBox="1"/>
          <p:nvPr/>
        </p:nvSpPr>
        <p:spPr bwMode="gray">
          <a:xfrm>
            <a:off x="9865500" y="4842737"/>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sp>
        <p:nvSpPr>
          <p:cNvPr id="75" name="椭圆 74"/>
          <p:cNvSpPr/>
          <p:nvPr/>
        </p:nvSpPr>
        <p:spPr bwMode="gray">
          <a:xfrm>
            <a:off x="9453274" y="4116155"/>
            <a:ext cx="1320968" cy="13011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76" name="直接连接符 75"/>
          <p:cNvCxnSpPr>
            <a:stCxn id="69" idx="0"/>
            <a:endCxn id="68" idx="2"/>
          </p:cNvCxnSpPr>
          <p:nvPr/>
        </p:nvCxnSpPr>
        <p:spPr bwMode="gray">
          <a:xfrm flipH="1" flipV="1">
            <a:off x="9610838" y="3804696"/>
            <a:ext cx="100584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0" idx="2"/>
            <a:endCxn id="67" idx="0"/>
          </p:cNvCxnSpPr>
          <p:nvPr/>
        </p:nvCxnSpPr>
        <p:spPr bwMode="gray">
          <a:xfrm flipH="1">
            <a:off x="9610838" y="3804696"/>
            <a:ext cx="1005840" cy="758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White">
          <a:xfrm>
            <a:off x="9909433" y="5897480"/>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bwMode="grayWhite">
          <a:xfrm>
            <a:off x="9909433" y="5958440"/>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79" name="椭圆 78"/>
          <p:cNvSpPr/>
          <p:nvPr/>
        </p:nvSpPr>
        <p:spPr bwMode="grayWhite">
          <a:xfrm>
            <a:off x="10149127" y="5857587"/>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81" name="文本框 80"/>
          <p:cNvSpPr txBox="1"/>
          <p:nvPr/>
        </p:nvSpPr>
        <p:spPr>
          <a:xfrm>
            <a:off x="10486902" y="5773376"/>
            <a:ext cx="800218" cy="276999"/>
          </a:xfrm>
          <a:prstGeom prst="rect">
            <a:avLst/>
          </a:prstGeom>
          <a:noFill/>
        </p:spPr>
        <p:txBody>
          <a:bodyPr wrap="square" rtlCol="0">
            <a:spAutoFit/>
          </a:bodyPr>
          <a:lstStyle/>
          <a:p>
            <a:r>
              <a:rPr lang="zh-CN" altLang="en-US" sz="1200" dirty="0" smtClean="0">
                <a:cs typeface="+mn-ea"/>
                <a:sym typeface="+mn-lt"/>
              </a:rPr>
              <a:t>堆叠链路</a:t>
            </a:r>
            <a:endParaRPr lang="en-US" altLang="zh-CN" sz="1200" dirty="0" smtClean="0">
              <a:cs typeface="+mn-ea"/>
              <a:sym typeface="+mn-lt"/>
            </a:endParaRPr>
          </a:p>
        </p:txBody>
      </p:sp>
      <p:cxnSp>
        <p:nvCxnSpPr>
          <p:cNvPr id="82" name="直接连接符 81"/>
          <p:cNvCxnSpPr/>
          <p:nvPr/>
        </p:nvCxnSpPr>
        <p:spPr>
          <a:xfrm>
            <a:off x="9909433" y="5525048"/>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9909433" y="5586008"/>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10149127" y="5485155"/>
            <a:ext cx="98080" cy="139357"/>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85" name="文本框 84"/>
          <p:cNvSpPr txBox="1"/>
          <p:nvPr/>
        </p:nvSpPr>
        <p:spPr>
          <a:xfrm>
            <a:off x="10486901" y="5408242"/>
            <a:ext cx="800219" cy="276999"/>
          </a:xfrm>
          <a:prstGeom prst="rect">
            <a:avLst/>
          </a:prstGeom>
          <a:noFill/>
        </p:spPr>
        <p:txBody>
          <a:bodyPr wrap="none" rtlCol="0">
            <a:spAutoFit/>
          </a:bodyPr>
          <a:lstStyle/>
          <a:p>
            <a:r>
              <a:rPr lang="zh-CN" altLang="en-US" sz="1200" dirty="0" smtClean="0">
                <a:cs typeface="+mn-ea"/>
                <a:sym typeface="+mn-lt"/>
              </a:rPr>
              <a:t>链路聚合</a:t>
            </a:r>
            <a:endParaRPr lang="zh-CN" altLang="en-US" sz="1200" dirty="0">
              <a:cs typeface="+mn-ea"/>
              <a:sym typeface="+mn-lt"/>
            </a:endParaRPr>
          </a:p>
        </p:txBody>
      </p:sp>
    </p:spTree>
    <p:extLst>
      <p:ext uri="{BB962C8B-B14F-4D97-AF65-F5344CB8AC3E}">
        <p14:creationId xmlns:p14="http://schemas.microsoft.com/office/powerpoint/2010/main" val="4114735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6" name="直接连接符 115"/>
          <p:cNvCxnSpPr/>
          <p:nvPr/>
        </p:nvCxnSpPr>
        <p:spPr bwMode="gray">
          <a:xfrm flipV="1">
            <a:off x="6509833" y="4937562"/>
            <a:ext cx="73653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bwMode="gray">
          <a:xfrm flipV="1">
            <a:off x="7434035" y="4389606"/>
            <a:ext cx="0" cy="6219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bwMode="gray">
          <a:xfrm flipV="1">
            <a:off x="6322162" y="4389606"/>
            <a:ext cx="0" cy="6219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normAutofit/>
          </a:bodyPr>
          <a:lstStyle/>
          <a:p>
            <a:r>
              <a:rPr lang="zh-CN" altLang="en-US" dirty="0">
                <a:latin typeface="+mn-lt"/>
                <a:ea typeface="+mn-ea"/>
                <a:cs typeface="+mn-ea"/>
                <a:sym typeface="+mn-lt"/>
              </a:rPr>
              <a:t>链路</a:t>
            </a:r>
            <a:r>
              <a:rPr lang="zh-CN" altLang="en-US" dirty="0" smtClean="0">
                <a:latin typeface="+mn-lt"/>
                <a:ea typeface="+mn-ea"/>
                <a:cs typeface="+mn-ea"/>
                <a:sym typeface="+mn-lt"/>
              </a:rPr>
              <a:t>可靠性设计 </a:t>
            </a:r>
            <a:r>
              <a:rPr lang="en-US" altLang="zh-CN" dirty="0" smtClean="0">
                <a:cs typeface="+mn-ea"/>
                <a:sym typeface="+mn-lt"/>
              </a:rPr>
              <a:t>(2)</a:t>
            </a:r>
            <a:endParaRPr lang="zh-CN" altLang="en-US" dirty="0">
              <a:latin typeface="+mn-lt"/>
              <a:ea typeface="+mn-ea"/>
              <a:cs typeface="+mn-ea"/>
              <a:sym typeface="+mn-lt"/>
            </a:endParaRPr>
          </a:p>
        </p:txBody>
      </p:sp>
      <p:sp>
        <p:nvSpPr>
          <p:cNvPr id="5" name="圆角矩形 75"/>
          <p:cNvSpPr/>
          <p:nvPr/>
        </p:nvSpPr>
        <p:spPr bwMode="gray">
          <a:xfrm>
            <a:off x="731839" y="1361245"/>
            <a:ext cx="1072669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出口链路可靠性</a:t>
            </a:r>
          </a:p>
        </p:txBody>
      </p:sp>
      <p:sp>
        <p:nvSpPr>
          <p:cNvPr id="6" name="圆角矩形 75"/>
          <p:cNvSpPr/>
          <p:nvPr/>
        </p:nvSpPr>
        <p:spPr bwMode="gray">
          <a:xfrm>
            <a:off x="731839" y="1765203"/>
            <a:ext cx="10726694" cy="4310477"/>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400"/>
              </a:lnSpc>
              <a:spcAft>
                <a:spcPts val="600"/>
              </a:spcAft>
            </a:pPr>
            <a:r>
              <a:rPr lang="zh-CN" altLang="en-US" sz="1400" dirty="0">
                <a:solidFill>
                  <a:schemeClr val="tx1"/>
                </a:solidFill>
                <a:cs typeface="+mn-ea"/>
                <a:sym typeface="+mn-lt"/>
              </a:rPr>
              <a:t>园区出口部署多条链路，对链路进行主备配置，组网方案包括：</a:t>
            </a:r>
          </a:p>
          <a:p>
            <a:pPr marL="177800" indent="-177800" algn="just">
              <a:lnSpc>
                <a:spcPct val="140000"/>
              </a:lnSpc>
              <a:spcBef>
                <a:spcPct val="0"/>
              </a:spcBef>
              <a:spcAft>
                <a:spcPts val="300"/>
              </a:spcAft>
              <a:buSzPct val="100000"/>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可以采用单设备多出口链路，或多设备、每设备至少一条出口链路方案，推荐采用后者。</a:t>
            </a:r>
          </a:p>
          <a:p>
            <a:pPr marL="177800" indent="-177800" algn="just">
              <a:lnSpc>
                <a:spcPct val="140000"/>
              </a:lnSpc>
              <a:spcBef>
                <a:spcPct val="0"/>
              </a:spcBef>
              <a:spcAft>
                <a:spcPts val="300"/>
              </a:spcAft>
              <a:buSzPct val="100000"/>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同时，为进一步提高可靠性，推荐不同的出口链路接入不同的运营商网络。</a:t>
            </a:r>
          </a:p>
          <a:p>
            <a:pPr marL="182563" indent="-182563">
              <a:lnSpc>
                <a:spcPts val="2400"/>
              </a:lnSpc>
              <a:spcAft>
                <a:spcPts val="600"/>
              </a:spcAft>
              <a:buFont typeface="+mj-lt"/>
              <a:buAutoNum type="arabicPeriod"/>
            </a:pPr>
            <a:endParaRPr lang="zh-CN" altLang="en-US" sz="1400" dirty="0">
              <a:solidFill>
                <a:schemeClr val="tx1">
                  <a:lumMod val="65000"/>
                  <a:lumOff val="35000"/>
                </a:schemeClr>
              </a:solidFill>
              <a:cs typeface="+mn-ea"/>
              <a:sym typeface="+mn-lt"/>
            </a:endParaRPr>
          </a:p>
        </p:txBody>
      </p:sp>
      <p:grpSp>
        <p:nvGrpSpPr>
          <p:cNvPr id="87" name="组合 86"/>
          <p:cNvGrpSpPr/>
          <p:nvPr/>
        </p:nvGrpSpPr>
        <p:grpSpPr bwMode="gray">
          <a:xfrm rot="10800000">
            <a:off x="1513601" y="4312531"/>
            <a:ext cx="987586" cy="776061"/>
            <a:chOff x="6600056" y="4353447"/>
            <a:chExt cx="1296144" cy="833967"/>
          </a:xfrm>
        </p:grpSpPr>
        <p:cxnSp>
          <p:nvCxnSpPr>
            <p:cNvPr id="93" name="直接连接符 92"/>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1" name="任意多边形 90"/>
          <p:cNvSpPr/>
          <p:nvPr/>
        </p:nvSpPr>
        <p:spPr bwMode="gray">
          <a:xfrm>
            <a:off x="1124577" y="403695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ISP1</a:t>
            </a:r>
            <a:endParaRPr lang="zh-CN" altLang="en-US" sz="1200" b="1">
              <a:cs typeface="+mn-ea"/>
              <a:sym typeface="+mn-lt"/>
            </a:endParaRPr>
          </a:p>
        </p:txBody>
      </p:sp>
      <p:pic>
        <p:nvPicPr>
          <p:cNvPr id="104"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782811" y="4754993"/>
            <a:ext cx="446281" cy="365138"/>
          </a:xfrm>
          <a:prstGeom prst="rect">
            <a:avLst/>
          </a:prstGeom>
          <a:noFill/>
        </p:spPr>
      </p:pic>
      <p:sp>
        <p:nvSpPr>
          <p:cNvPr id="105" name="任意多边形 104"/>
          <p:cNvSpPr/>
          <p:nvPr/>
        </p:nvSpPr>
        <p:spPr bwMode="gray">
          <a:xfrm>
            <a:off x="2236450" y="403695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ISP2</a:t>
            </a:r>
            <a:endParaRPr lang="zh-CN" altLang="en-US" sz="1200" b="1">
              <a:cs typeface="+mn-ea"/>
              <a:sym typeface="+mn-lt"/>
            </a:endParaRPr>
          </a:p>
        </p:txBody>
      </p:sp>
      <p:sp>
        <p:nvSpPr>
          <p:cNvPr id="109" name="任意多边形 108"/>
          <p:cNvSpPr/>
          <p:nvPr/>
        </p:nvSpPr>
        <p:spPr bwMode="gray">
          <a:xfrm>
            <a:off x="6005636" y="403695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ISP1</a:t>
            </a:r>
            <a:endParaRPr lang="zh-CN" altLang="en-US" sz="1200" b="1">
              <a:cs typeface="+mn-ea"/>
              <a:sym typeface="+mn-lt"/>
            </a:endParaRPr>
          </a:p>
        </p:txBody>
      </p:sp>
      <p:pic>
        <p:nvPicPr>
          <p:cNvPr id="11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6099022" y="4754993"/>
            <a:ext cx="446281" cy="365138"/>
          </a:xfrm>
          <a:prstGeom prst="rect">
            <a:avLst/>
          </a:prstGeom>
          <a:noFill/>
        </p:spPr>
      </p:pic>
      <p:sp>
        <p:nvSpPr>
          <p:cNvPr id="111" name="任意多边形 110"/>
          <p:cNvSpPr/>
          <p:nvPr/>
        </p:nvSpPr>
        <p:spPr bwMode="gray">
          <a:xfrm>
            <a:off x="7117509" y="403695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ISP2</a:t>
            </a:r>
            <a:endParaRPr lang="zh-CN" altLang="en-US" sz="1200" b="1">
              <a:cs typeface="+mn-ea"/>
              <a:sym typeface="+mn-lt"/>
            </a:endParaRPr>
          </a:p>
        </p:txBody>
      </p:sp>
      <p:pic>
        <p:nvPicPr>
          <p:cNvPr id="11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7210895" y="4754993"/>
            <a:ext cx="446281" cy="365138"/>
          </a:xfrm>
          <a:prstGeom prst="rect">
            <a:avLst/>
          </a:prstGeom>
          <a:noFill/>
        </p:spPr>
      </p:pic>
      <p:sp>
        <p:nvSpPr>
          <p:cNvPr id="118" name="文本框 117"/>
          <p:cNvSpPr txBox="1"/>
          <p:nvPr/>
        </p:nvSpPr>
        <p:spPr bwMode="gray">
          <a:xfrm>
            <a:off x="7694578" y="5358944"/>
            <a:ext cx="1620957" cy="307777"/>
          </a:xfrm>
          <a:prstGeom prst="rect">
            <a:avLst/>
          </a:prstGeom>
          <a:noFill/>
        </p:spPr>
        <p:txBody>
          <a:bodyPr wrap="none" rtlCol="0">
            <a:spAutoFit/>
          </a:bodyPr>
          <a:lstStyle/>
          <a:p>
            <a:r>
              <a:rPr lang="zh-CN" altLang="en-US" sz="1400" dirty="0" smtClean="0">
                <a:cs typeface="+mn-ea"/>
                <a:sym typeface="+mn-lt"/>
              </a:rPr>
              <a:t>双设备双链路出口</a:t>
            </a:r>
            <a:endParaRPr lang="zh-CN" altLang="en-US" sz="1400" dirty="0">
              <a:cs typeface="+mn-ea"/>
              <a:sym typeface="+mn-lt"/>
            </a:endParaRPr>
          </a:p>
        </p:txBody>
      </p:sp>
      <p:sp>
        <p:nvSpPr>
          <p:cNvPr id="119" name="文本框 118"/>
          <p:cNvSpPr txBox="1"/>
          <p:nvPr/>
        </p:nvSpPr>
        <p:spPr bwMode="gray">
          <a:xfrm>
            <a:off x="2242121" y="5352323"/>
            <a:ext cx="1620957" cy="307777"/>
          </a:xfrm>
          <a:prstGeom prst="rect">
            <a:avLst/>
          </a:prstGeom>
          <a:noFill/>
        </p:spPr>
        <p:txBody>
          <a:bodyPr wrap="none" rtlCol="0">
            <a:spAutoFit/>
          </a:bodyPr>
          <a:lstStyle/>
          <a:p>
            <a:r>
              <a:rPr lang="zh-CN" altLang="en-US" sz="1400" dirty="0" smtClean="0">
                <a:cs typeface="+mn-ea"/>
                <a:sym typeface="+mn-lt"/>
              </a:rPr>
              <a:t>单设备双链路出口</a:t>
            </a:r>
            <a:endParaRPr lang="zh-CN" altLang="en-US" sz="1400" dirty="0">
              <a:cs typeface="+mn-ea"/>
              <a:sym typeface="+mn-lt"/>
            </a:endParaRPr>
          </a:p>
        </p:txBody>
      </p:sp>
      <p:grpSp>
        <p:nvGrpSpPr>
          <p:cNvPr id="120" name="组合 119"/>
          <p:cNvGrpSpPr/>
          <p:nvPr/>
        </p:nvGrpSpPr>
        <p:grpSpPr bwMode="gray">
          <a:xfrm rot="10800000">
            <a:off x="3605782" y="4312531"/>
            <a:ext cx="987586" cy="776061"/>
            <a:chOff x="6600056" y="4353447"/>
            <a:chExt cx="1296144" cy="833967"/>
          </a:xfrm>
        </p:grpSpPr>
        <p:cxnSp>
          <p:nvCxnSpPr>
            <p:cNvPr id="121" name="直接连接符 120"/>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3" name="任意多边形 122"/>
          <p:cNvSpPr/>
          <p:nvPr/>
        </p:nvSpPr>
        <p:spPr bwMode="gray">
          <a:xfrm>
            <a:off x="3216758" y="403695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ISP1</a:t>
            </a:r>
            <a:endParaRPr lang="zh-CN" altLang="en-US" sz="1200" b="1">
              <a:cs typeface="+mn-ea"/>
              <a:sym typeface="+mn-lt"/>
            </a:endParaRPr>
          </a:p>
        </p:txBody>
      </p:sp>
      <p:sp>
        <p:nvSpPr>
          <p:cNvPr id="125" name="任意多边形 124"/>
          <p:cNvSpPr/>
          <p:nvPr/>
        </p:nvSpPr>
        <p:spPr bwMode="gray">
          <a:xfrm>
            <a:off x="4328631" y="403695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ISP2</a:t>
            </a:r>
            <a:endParaRPr lang="zh-CN" altLang="en-US" sz="1200" b="1">
              <a:cs typeface="+mn-ea"/>
              <a:sym typeface="+mn-lt"/>
            </a:endParaRPr>
          </a:p>
        </p:txBody>
      </p:sp>
      <p:pic>
        <p:nvPicPr>
          <p:cNvPr id="127"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881266" y="4754991"/>
            <a:ext cx="446281" cy="365140"/>
          </a:xfrm>
          <a:prstGeom prst="rect">
            <a:avLst/>
          </a:prstGeom>
        </p:spPr>
      </p:pic>
      <p:sp>
        <p:nvSpPr>
          <p:cNvPr id="140" name="圆角矩形 75"/>
          <p:cNvSpPr/>
          <p:nvPr/>
        </p:nvSpPr>
        <p:spPr bwMode="gray">
          <a:xfrm>
            <a:off x="932706" y="3409474"/>
            <a:ext cx="4186858" cy="2254463"/>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82563" indent="-182563">
              <a:lnSpc>
                <a:spcPts val="2400"/>
              </a:lnSpc>
              <a:spcAft>
                <a:spcPts val="600"/>
              </a:spcAft>
              <a:buFont typeface="+mj-lt"/>
              <a:buAutoNum type="arabicPeriod"/>
            </a:pPr>
            <a:endParaRPr lang="zh-CN" altLang="en-US" sz="1400">
              <a:solidFill>
                <a:schemeClr val="tx1">
                  <a:lumMod val="65000"/>
                  <a:lumOff val="35000"/>
                </a:schemeClr>
              </a:solidFill>
              <a:cs typeface="+mn-ea"/>
              <a:sym typeface="+mn-lt"/>
            </a:endParaRPr>
          </a:p>
        </p:txBody>
      </p:sp>
      <p:sp>
        <p:nvSpPr>
          <p:cNvPr id="141" name="圆角矩形 75"/>
          <p:cNvSpPr/>
          <p:nvPr/>
        </p:nvSpPr>
        <p:spPr bwMode="gray">
          <a:xfrm>
            <a:off x="5340606" y="3409474"/>
            <a:ext cx="5926834" cy="2254463"/>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82563" indent="-182563">
              <a:lnSpc>
                <a:spcPts val="2400"/>
              </a:lnSpc>
              <a:spcAft>
                <a:spcPts val="600"/>
              </a:spcAft>
              <a:buFont typeface="+mj-lt"/>
              <a:buAutoNum type="arabicPeriod"/>
            </a:pPr>
            <a:endParaRPr lang="zh-CN" altLang="en-US" sz="1400">
              <a:solidFill>
                <a:schemeClr val="tx1">
                  <a:lumMod val="65000"/>
                  <a:lumOff val="35000"/>
                </a:schemeClr>
              </a:solidFill>
              <a:cs typeface="+mn-ea"/>
              <a:sym typeface="+mn-lt"/>
            </a:endParaRPr>
          </a:p>
        </p:txBody>
      </p:sp>
      <p:cxnSp>
        <p:nvCxnSpPr>
          <p:cNvPr id="51" name="直接连接符 50"/>
          <p:cNvCxnSpPr>
            <a:stCxn id="56" idx="2"/>
            <a:endCxn id="58" idx="0"/>
          </p:cNvCxnSpPr>
          <p:nvPr/>
        </p:nvCxnSpPr>
        <p:spPr bwMode="gray">
          <a:xfrm>
            <a:off x="9408315" y="4606522"/>
            <a:ext cx="1114441" cy="408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54" idx="0"/>
          </p:cNvCxnSpPr>
          <p:nvPr/>
        </p:nvCxnSpPr>
        <p:spPr bwMode="gray">
          <a:xfrm flipV="1">
            <a:off x="9410884" y="3789060"/>
            <a:ext cx="4028" cy="12261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flipV="1">
            <a:off x="9598554" y="5197747"/>
            <a:ext cx="736531" cy="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54"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187743" y="5015176"/>
            <a:ext cx="446281" cy="365140"/>
          </a:xfrm>
          <a:prstGeom prst="rect">
            <a:avLst/>
          </a:prstGeom>
        </p:spPr>
      </p:pic>
      <p:sp>
        <p:nvSpPr>
          <p:cNvPr id="55" name="文本框 54"/>
          <p:cNvSpPr txBox="1"/>
          <p:nvPr/>
        </p:nvSpPr>
        <p:spPr bwMode="gray">
          <a:xfrm>
            <a:off x="9634024" y="4872337"/>
            <a:ext cx="646331" cy="276999"/>
          </a:xfrm>
          <a:prstGeom prst="rect">
            <a:avLst/>
          </a:prstGeom>
          <a:noFill/>
        </p:spPr>
        <p:txBody>
          <a:bodyPr wrap="none" rtlCol="0">
            <a:spAutoFit/>
          </a:bodyPr>
          <a:lstStyle/>
          <a:p>
            <a:pPr algn="ctr"/>
            <a:r>
              <a:rPr lang="zh-CN" altLang="en-US" sz="1200" smtClean="0">
                <a:cs typeface="+mn-ea"/>
                <a:sym typeface="+mn-lt"/>
              </a:rPr>
              <a:t>心跳线</a:t>
            </a:r>
            <a:endParaRPr lang="zh-CN" altLang="en-US" sz="1200" dirty="0">
              <a:cs typeface="+mn-ea"/>
              <a:sym typeface="+mn-lt"/>
            </a:endParaRPr>
          </a:p>
        </p:txBody>
      </p:sp>
      <p:pic>
        <p:nvPicPr>
          <p:cNvPr id="56" name="图片 76" descr="接入交换机.png"/>
          <p:cNvPicPr>
            <a:picLocks noChangeAspect="1"/>
          </p:cNvPicPr>
          <p:nvPr/>
        </p:nvPicPr>
        <p:blipFill>
          <a:blip r:embed="rId5" cstate="print"/>
          <a:stretch>
            <a:fillRect/>
          </a:stretch>
        </p:blipFill>
        <p:spPr bwMode="gray">
          <a:xfrm>
            <a:off x="9205460" y="4274577"/>
            <a:ext cx="405710" cy="331945"/>
          </a:xfrm>
          <a:prstGeom prst="rect">
            <a:avLst/>
          </a:prstGeom>
        </p:spPr>
      </p:pic>
      <p:cxnSp>
        <p:nvCxnSpPr>
          <p:cNvPr id="57" name="直接连接符 56"/>
          <p:cNvCxnSpPr>
            <a:stCxn id="58" idx="0"/>
          </p:cNvCxnSpPr>
          <p:nvPr/>
        </p:nvCxnSpPr>
        <p:spPr bwMode="gray">
          <a:xfrm flipH="1" flipV="1">
            <a:off x="10512192" y="3789060"/>
            <a:ext cx="10564" cy="12261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299615" y="5015176"/>
            <a:ext cx="446281" cy="365140"/>
          </a:xfrm>
          <a:prstGeom prst="rect">
            <a:avLst/>
          </a:prstGeom>
        </p:spPr>
      </p:pic>
      <p:sp>
        <p:nvSpPr>
          <p:cNvPr id="59" name="任意多边形 58"/>
          <p:cNvSpPr/>
          <p:nvPr/>
        </p:nvSpPr>
        <p:spPr bwMode="gray">
          <a:xfrm>
            <a:off x="9094357" y="3523656"/>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ISP1</a:t>
            </a:r>
            <a:endParaRPr lang="zh-CN" altLang="en-US" sz="1200" b="1">
              <a:cs typeface="+mn-ea"/>
              <a:sym typeface="+mn-lt"/>
            </a:endParaRPr>
          </a:p>
        </p:txBody>
      </p:sp>
      <p:sp>
        <p:nvSpPr>
          <p:cNvPr id="60" name="任意多边形 59"/>
          <p:cNvSpPr/>
          <p:nvPr/>
        </p:nvSpPr>
        <p:spPr bwMode="gray">
          <a:xfrm>
            <a:off x="10206230" y="3523656"/>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ISP2</a:t>
            </a:r>
            <a:endParaRPr lang="zh-CN" altLang="en-US" sz="1200" b="1">
              <a:cs typeface="+mn-ea"/>
              <a:sym typeface="+mn-lt"/>
            </a:endParaRPr>
          </a:p>
        </p:txBody>
      </p:sp>
      <p:pic>
        <p:nvPicPr>
          <p:cNvPr id="61" name="图片 76" descr="接入交换机.png"/>
          <p:cNvPicPr>
            <a:picLocks noChangeAspect="1"/>
          </p:cNvPicPr>
          <p:nvPr/>
        </p:nvPicPr>
        <p:blipFill>
          <a:blip r:embed="rId5" cstate="print"/>
          <a:stretch>
            <a:fillRect/>
          </a:stretch>
        </p:blipFill>
        <p:spPr bwMode="gray">
          <a:xfrm>
            <a:off x="10322063" y="4274577"/>
            <a:ext cx="405710" cy="331945"/>
          </a:xfrm>
          <a:prstGeom prst="rect">
            <a:avLst/>
          </a:prstGeom>
        </p:spPr>
      </p:pic>
      <p:cxnSp>
        <p:nvCxnSpPr>
          <p:cNvPr id="62" name="直接连接符 61"/>
          <p:cNvCxnSpPr>
            <a:stCxn id="54" idx="0"/>
            <a:endCxn id="61" idx="2"/>
          </p:cNvCxnSpPr>
          <p:nvPr/>
        </p:nvCxnSpPr>
        <p:spPr bwMode="gray">
          <a:xfrm flipV="1">
            <a:off x="9410884" y="4606522"/>
            <a:ext cx="1114034" cy="408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68805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2" name="直接连接符 151"/>
          <p:cNvCxnSpPr>
            <a:stCxn id="17" idx="2"/>
            <a:endCxn id="89" idx="0"/>
          </p:cNvCxnSpPr>
          <p:nvPr/>
        </p:nvCxnSpPr>
        <p:spPr bwMode="gray">
          <a:xfrm>
            <a:off x="1839830" y="3292550"/>
            <a:ext cx="1114441" cy="408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圆角矩形 111"/>
          <p:cNvSpPr/>
          <p:nvPr/>
        </p:nvSpPr>
        <p:spPr bwMode="gray">
          <a:xfrm>
            <a:off x="8407631" y="3600873"/>
            <a:ext cx="2680676" cy="575150"/>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sp>
        <p:nvSpPr>
          <p:cNvPr id="113" name="圆角矩形 112"/>
          <p:cNvSpPr/>
          <p:nvPr/>
        </p:nvSpPr>
        <p:spPr bwMode="gray">
          <a:xfrm>
            <a:off x="8407631" y="2420963"/>
            <a:ext cx="2680676" cy="575150"/>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cxnSp>
        <p:nvCxnSpPr>
          <p:cNvPr id="150" name="直接连接符 149"/>
          <p:cNvCxnSpPr/>
          <p:nvPr/>
        </p:nvCxnSpPr>
        <p:spPr bwMode="gray">
          <a:xfrm flipV="1">
            <a:off x="10258316" y="2671278"/>
            <a:ext cx="0" cy="13331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bwMode="gray">
          <a:xfrm flipV="1">
            <a:off x="9238498" y="2671278"/>
            <a:ext cx="0" cy="13331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gray">
          <a:xfrm flipV="1">
            <a:off x="1846427" y="2475088"/>
            <a:ext cx="0" cy="23617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normAutofit/>
          </a:bodyPr>
          <a:lstStyle/>
          <a:p>
            <a:r>
              <a:rPr lang="zh-CN" altLang="en-US">
                <a:latin typeface="+mn-lt"/>
                <a:ea typeface="+mn-ea"/>
                <a:cs typeface="+mn-ea"/>
                <a:sym typeface="+mn-lt"/>
              </a:rPr>
              <a:t>设备可靠性设计</a:t>
            </a:r>
          </a:p>
        </p:txBody>
      </p:sp>
      <p:sp>
        <p:nvSpPr>
          <p:cNvPr id="3" name="圆角矩形 75"/>
          <p:cNvSpPr/>
          <p:nvPr/>
        </p:nvSpPr>
        <p:spPr bwMode="gray">
          <a:xfrm>
            <a:off x="731839" y="1361245"/>
            <a:ext cx="340328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出口防火墙双机热备</a:t>
            </a:r>
          </a:p>
        </p:txBody>
      </p:sp>
      <p:sp>
        <p:nvSpPr>
          <p:cNvPr id="4" name="圆角矩形 75"/>
          <p:cNvSpPr/>
          <p:nvPr/>
        </p:nvSpPr>
        <p:spPr bwMode="gray">
          <a:xfrm>
            <a:off x="731839" y="1765203"/>
            <a:ext cx="3403281" cy="4310477"/>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82563" indent="-182563">
              <a:lnSpc>
                <a:spcPts val="2400"/>
              </a:lnSpc>
              <a:spcAft>
                <a:spcPts val="600"/>
              </a:spcAft>
              <a:buFont typeface="+mj-lt"/>
              <a:buAutoNum type="arabicPeriod"/>
            </a:pPr>
            <a:endParaRPr lang="zh-CN" altLang="en-US" sz="1400">
              <a:solidFill>
                <a:schemeClr val="tx1">
                  <a:lumMod val="65000"/>
                  <a:lumOff val="35000"/>
                </a:schemeClr>
              </a:solidFill>
              <a:cs typeface="+mn-ea"/>
              <a:sym typeface="+mn-lt"/>
            </a:endParaRPr>
          </a:p>
        </p:txBody>
      </p:sp>
      <p:cxnSp>
        <p:nvCxnSpPr>
          <p:cNvPr id="11" name="直接连接符 10"/>
          <p:cNvCxnSpPr/>
          <p:nvPr/>
        </p:nvCxnSpPr>
        <p:spPr bwMode="gray">
          <a:xfrm flipV="1">
            <a:off x="2030069" y="3883775"/>
            <a:ext cx="736531" cy="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19258" y="3701204"/>
            <a:ext cx="446281" cy="365140"/>
          </a:xfrm>
          <a:prstGeom prst="rect">
            <a:avLst/>
          </a:prstGeom>
        </p:spPr>
      </p:pic>
      <p:sp>
        <p:nvSpPr>
          <p:cNvPr id="16" name="文本框 15"/>
          <p:cNvSpPr txBox="1"/>
          <p:nvPr/>
        </p:nvSpPr>
        <p:spPr bwMode="gray">
          <a:xfrm>
            <a:off x="2065539" y="3860514"/>
            <a:ext cx="646331" cy="276999"/>
          </a:xfrm>
          <a:prstGeom prst="rect">
            <a:avLst/>
          </a:prstGeom>
          <a:noFill/>
        </p:spPr>
        <p:txBody>
          <a:bodyPr wrap="none" rtlCol="0">
            <a:spAutoFit/>
          </a:bodyPr>
          <a:lstStyle/>
          <a:p>
            <a:pPr algn="ctr"/>
            <a:r>
              <a:rPr lang="zh-CN" altLang="en-US" sz="1200" smtClean="0">
                <a:cs typeface="+mn-ea"/>
                <a:sym typeface="+mn-lt"/>
              </a:rPr>
              <a:t>心跳线</a:t>
            </a:r>
            <a:endParaRPr lang="zh-CN" altLang="en-US" sz="1200" dirty="0">
              <a:cs typeface="+mn-ea"/>
              <a:sym typeface="+mn-lt"/>
            </a:endParaRPr>
          </a:p>
        </p:txBody>
      </p:sp>
      <p:pic>
        <p:nvPicPr>
          <p:cNvPr id="17" name="图片 76" descr="接入交换机.png"/>
          <p:cNvPicPr>
            <a:picLocks noChangeAspect="1"/>
          </p:cNvPicPr>
          <p:nvPr/>
        </p:nvPicPr>
        <p:blipFill>
          <a:blip r:embed="rId4" cstate="print"/>
          <a:stretch>
            <a:fillRect/>
          </a:stretch>
        </p:blipFill>
        <p:spPr bwMode="gray">
          <a:xfrm>
            <a:off x="1636975" y="2960605"/>
            <a:ext cx="405710" cy="331945"/>
          </a:xfrm>
          <a:prstGeom prst="rect">
            <a:avLst/>
          </a:prstGeom>
        </p:spPr>
      </p:pic>
      <p:pic>
        <p:nvPicPr>
          <p:cNvPr id="18" name="图片 76" descr="接入交换机.png"/>
          <p:cNvPicPr>
            <a:picLocks noChangeAspect="1"/>
          </p:cNvPicPr>
          <p:nvPr/>
        </p:nvPicPr>
        <p:blipFill>
          <a:blip r:embed="rId4" cstate="print"/>
          <a:stretch>
            <a:fillRect/>
          </a:stretch>
        </p:blipFill>
        <p:spPr bwMode="gray">
          <a:xfrm>
            <a:off x="1639543" y="4718759"/>
            <a:ext cx="405710" cy="331945"/>
          </a:xfrm>
          <a:prstGeom prst="rect">
            <a:avLst/>
          </a:prstGeom>
        </p:spPr>
      </p:pic>
      <p:pic>
        <p:nvPicPr>
          <p:cNvPr id="19" name="图片 76" descr="接入交换机.png"/>
          <p:cNvPicPr>
            <a:picLocks noChangeAspect="1"/>
          </p:cNvPicPr>
          <p:nvPr/>
        </p:nvPicPr>
        <p:blipFill>
          <a:blip r:embed="rId4" cstate="print"/>
          <a:stretch>
            <a:fillRect/>
          </a:stretch>
        </p:blipFill>
        <p:spPr bwMode="gray">
          <a:xfrm>
            <a:off x="2751415" y="4718759"/>
            <a:ext cx="405710" cy="331945"/>
          </a:xfrm>
          <a:prstGeom prst="rect">
            <a:avLst/>
          </a:prstGeom>
        </p:spPr>
      </p:pic>
      <p:cxnSp>
        <p:nvCxnSpPr>
          <p:cNvPr id="21" name="直接连接符 20"/>
          <p:cNvCxnSpPr/>
          <p:nvPr/>
        </p:nvCxnSpPr>
        <p:spPr bwMode="gray">
          <a:xfrm flipV="1">
            <a:off x="2943707" y="2475088"/>
            <a:ext cx="0" cy="23617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bwMode="gray">
          <a:xfrm flipV="1">
            <a:off x="5523205" y="4001043"/>
            <a:ext cx="0" cy="7525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圆角矩形 75"/>
          <p:cNvSpPr/>
          <p:nvPr/>
        </p:nvSpPr>
        <p:spPr bwMode="gray">
          <a:xfrm>
            <a:off x="4408617" y="1361245"/>
            <a:ext cx="340328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双</a:t>
            </a:r>
            <a:r>
              <a:rPr lang="en-US" altLang="zh-CN" sz="1600">
                <a:solidFill>
                  <a:srgbClr val="30B5C5"/>
                </a:solidFill>
                <a:latin typeface="Huawei Sans" panose="020C0503030203020204" pitchFamily="34" charset="0"/>
                <a:ea typeface="方正兰亭黑简体" panose="02000000000000000000" pitchFamily="2" charset="-122"/>
                <a:sym typeface="+mn-lt"/>
              </a:rPr>
              <a:t>AR</a:t>
            </a:r>
            <a:r>
              <a:rPr lang="zh-CN" altLang="en-US" sz="1600">
                <a:solidFill>
                  <a:srgbClr val="30B5C5"/>
                </a:solidFill>
                <a:latin typeface="Huawei Sans" panose="020C0503030203020204" pitchFamily="34" charset="0"/>
                <a:ea typeface="方正兰亭黑简体" panose="02000000000000000000" pitchFamily="2" charset="-122"/>
                <a:sym typeface="+mn-lt"/>
              </a:rPr>
              <a:t>出口网关</a:t>
            </a:r>
          </a:p>
        </p:txBody>
      </p:sp>
      <p:sp>
        <p:nvSpPr>
          <p:cNvPr id="67" name="圆角矩形 75"/>
          <p:cNvSpPr/>
          <p:nvPr/>
        </p:nvSpPr>
        <p:spPr bwMode="gray">
          <a:xfrm>
            <a:off x="4408617" y="1765203"/>
            <a:ext cx="3403281" cy="4310477"/>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82563" indent="-182563">
              <a:lnSpc>
                <a:spcPts val="2400"/>
              </a:lnSpc>
              <a:spcAft>
                <a:spcPts val="600"/>
              </a:spcAft>
              <a:buFont typeface="+mj-lt"/>
              <a:buAutoNum type="arabicPeriod"/>
            </a:pPr>
            <a:endParaRPr lang="zh-CN" altLang="en-US" sz="1400">
              <a:solidFill>
                <a:schemeClr val="tx1">
                  <a:lumMod val="65000"/>
                  <a:lumOff val="35000"/>
                </a:schemeClr>
              </a:solidFill>
              <a:cs typeface="+mn-ea"/>
              <a:sym typeface="+mn-lt"/>
            </a:endParaRPr>
          </a:p>
        </p:txBody>
      </p:sp>
      <p:cxnSp>
        <p:nvCxnSpPr>
          <p:cNvPr id="74" name="直接连接符 73"/>
          <p:cNvCxnSpPr/>
          <p:nvPr/>
        </p:nvCxnSpPr>
        <p:spPr bwMode="gray">
          <a:xfrm flipV="1">
            <a:off x="5706847" y="3883775"/>
            <a:ext cx="736531"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1" name="图片 76" descr="接入交换机.png"/>
          <p:cNvPicPr>
            <a:picLocks noChangeAspect="1"/>
          </p:cNvPicPr>
          <p:nvPr/>
        </p:nvPicPr>
        <p:blipFill>
          <a:blip r:embed="rId4" cstate="print"/>
          <a:stretch>
            <a:fillRect/>
          </a:stretch>
        </p:blipFill>
        <p:spPr bwMode="gray">
          <a:xfrm>
            <a:off x="5316321" y="4718759"/>
            <a:ext cx="405710" cy="331945"/>
          </a:xfrm>
          <a:prstGeom prst="rect">
            <a:avLst/>
          </a:prstGeom>
        </p:spPr>
      </p:pic>
      <p:pic>
        <p:nvPicPr>
          <p:cNvPr id="82" name="图片 76" descr="接入交换机.png"/>
          <p:cNvPicPr>
            <a:picLocks noChangeAspect="1"/>
          </p:cNvPicPr>
          <p:nvPr/>
        </p:nvPicPr>
        <p:blipFill>
          <a:blip r:embed="rId4" cstate="print"/>
          <a:stretch>
            <a:fillRect/>
          </a:stretch>
        </p:blipFill>
        <p:spPr bwMode="gray">
          <a:xfrm>
            <a:off x="6428193" y="4718759"/>
            <a:ext cx="405710" cy="331945"/>
          </a:xfrm>
          <a:prstGeom prst="rect">
            <a:avLst/>
          </a:prstGeom>
        </p:spPr>
      </p:pic>
      <p:cxnSp>
        <p:nvCxnSpPr>
          <p:cNvPr id="83" name="直接连接符 82"/>
          <p:cNvCxnSpPr/>
          <p:nvPr/>
        </p:nvCxnSpPr>
        <p:spPr bwMode="gray">
          <a:xfrm flipV="1">
            <a:off x="6620485" y="4001043"/>
            <a:ext cx="0" cy="7525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bwMode="gray">
          <a:xfrm flipV="1">
            <a:off x="5523205" y="2497581"/>
            <a:ext cx="0" cy="13331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bwMode="gray">
          <a:xfrm flipV="1">
            <a:off x="6620485" y="2497581"/>
            <a:ext cx="0" cy="13331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9"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731130" y="3701204"/>
            <a:ext cx="446281" cy="365140"/>
          </a:xfrm>
          <a:prstGeom prst="rect">
            <a:avLst/>
          </a:prstGeom>
        </p:spPr>
      </p:pic>
      <p:sp>
        <p:nvSpPr>
          <p:cNvPr id="90" name="任意多边形 89"/>
          <p:cNvSpPr/>
          <p:nvPr/>
        </p:nvSpPr>
        <p:spPr bwMode="gray">
          <a:xfrm>
            <a:off x="1525872" y="220968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ISP1</a:t>
            </a:r>
            <a:endParaRPr lang="zh-CN" altLang="en-US" sz="1200" b="1">
              <a:cs typeface="+mn-ea"/>
              <a:sym typeface="+mn-lt"/>
            </a:endParaRPr>
          </a:p>
        </p:txBody>
      </p:sp>
      <p:sp>
        <p:nvSpPr>
          <p:cNvPr id="91" name="任意多边形 90"/>
          <p:cNvSpPr/>
          <p:nvPr/>
        </p:nvSpPr>
        <p:spPr bwMode="gray">
          <a:xfrm>
            <a:off x="2637745" y="220968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ISP2</a:t>
            </a:r>
            <a:endParaRPr lang="zh-CN" altLang="en-US" sz="1200" b="1">
              <a:cs typeface="+mn-ea"/>
              <a:sym typeface="+mn-lt"/>
            </a:endParaRPr>
          </a:p>
        </p:txBody>
      </p:sp>
      <p:sp>
        <p:nvSpPr>
          <p:cNvPr id="92" name="任意多边形 91"/>
          <p:cNvSpPr/>
          <p:nvPr/>
        </p:nvSpPr>
        <p:spPr bwMode="gray">
          <a:xfrm>
            <a:off x="5202650" y="220968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ISP1</a:t>
            </a:r>
            <a:endParaRPr lang="zh-CN" altLang="en-US" sz="1200" b="1">
              <a:cs typeface="+mn-ea"/>
              <a:sym typeface="+mn-lt"/>
            </a:endParaRPr>
          </a:p>
        </p:txBody>
      </p:sp>
      <p:sp>
        <p:nvSpPr>
          <p:cNvPr id="93" name="任意多边形 92"/>
          <p:cNvSpPr/>
          <p:nvPr/>
        </p:nvSpPr>
        <p:spPr bwMode="gray">
          <a:xfrm>
            <a:off x="6314523" y="2209684"/>
            <a:ext cx="633054" cy="423279"/>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smtClean="0">
                <a:cs typeface="+mn-ea"/>
                <a:sym typeface="+mn-lt"/>
              </a:rPr>
              <a:t>ISP2</a:t>
            </a:r>
            <a:endParaRPr lang="zh-CN" altLang="en-US" sz="1200" b="1">
              <a:cs typeface="+mn-ea"/>
              <a:sym typeface="+mn-lt"/>
            </a:endParaRPr>
          </a:p>
        </p:txBody>
      </p:sp>
      <p:pic>
        <p:nvPicPr>
          <p:cNvPr id="96"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5296036" y="3701207"/>
            <a:ext cx="446281" cy="365138"/>
          </a:xfrm>
          <a:prstGeom prst="rect">
            <a:avLst/>
          </a:prstGeom>
          <a:noFill/>
        </p:spPr>
      </p:pic>
      <p:pic>
        <p:nvPicPr>
          <p:cNvPr id="97"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6407908" y="3701207"/>
            <a:ext cx="446281" cy="365138"/>
          </a:xfrm>
          <a:prstGeom prst="rect">
            <a:avLst/>
          </a:prstGeom>
          <a:noFill/>
        </p:spPr>
      </p:pic>
      <p:sp>
        <p:nvSpPr>
          <p:cNvPr id="99" name="圆角矩形 75"/>
          <p:cNvSpPr/>
          <p:nvPr/>
        </p:nvSpPr>
        <p:spPr bwMode="gray">
          <a:xfrm>
            <a:off x="8054931" y="1361245"/>
            <a:ext cx="340328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交换机堆叠组网</a:t>
            </a:r>
          </a:p>
        </p:txBody>
      </p:sp>
      <p:sp>
        <p:nvSpPr>
          <p:cNvPr id="100" name="圆角矩形 75"/>
          <p:cNvSpPr/>
          <p:nvPr/>
        </p:nvSpPr>
        <p:spPr bwMode="gray">
          <a:xfrm>
            <a:off x="8054931" y="1765203"/>
            <a:ext cx="3403281" cy="4310477"/>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82563" indent="-182563">
              <a:lnSpc>
                <a:spcPts val="2400"/>
              </a:lnSpc>
              <a:spcAft>
                <a:spcPts val="600"/>
              </a:spcAft>
              <a:buFont typeface="+mj-lt"/>
              <a:buAutoNum type="arabicPeriod"/>
            </a:pPr>
            <a:endParaRPr lang="zh-CN" altLang="en-US" sz="1400">
              <a:solidFill>
                <a:schemeClr val="tx1">
                  <a:lumMod val="65000"/>
                  <a:lumOff val="35000"/>
                </a:schemeClr>
              </a:solidFill>
              <a:cs typeface="+mn-ea"/>
              <a:sym typeface="+mn-lt"/>
            </a:endParaRPr>
          </a:p>
        </p:txBody>
      </p:sp>
      <p:grpSp>
        <p:nvGrpSpPr>
          <p:cNvPr id="114" name="Group 161"/>
          <p:cNvGrpSpPr/>
          <p:nvPr/>
        </p:nvGrpSpPr>
        <p:grpSpPr bwMode="gray">
          <a:xfrm rot="10800000" flipV="1">
            <a:off x="9258818" y="3874901"/>
            <a:ext cx="986280" cy="719608"/>
            <a:chOff x="-1233037" y="914446"/>
            <a:chExt cx="1573823" cy="778776"/>
          </a:xfrm>
        </p:grpSpPr>
        <p:cxnSp>
          <p:nvCxnSpPr>
            <p:cNvPr id="115"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20" name="图片 76" descr="接入交换机.png"/>
          <p:cNvPicPr>
            <a:picLocks noChangeAspect="1"/>
          </p:cNvPicPr>
          <p:nvPr/>
        </p:nvPicPr>
        <p:blipFill>
          <a:blip r:embed="rId4" cstate="print"/>
          <a:stretch>
            <a:fillRect/>
          </a:stretch>
        </p:blipFill>
        <p:spPr bwMode="gray">
          <a:xfrm>
            <a:off x="9545114" y="4504463"/>
            <a:ext cx="405710" cy="331945"/>
          </a:xfrm>
          <a:prstGeom prst="rect">
            <a:avLst/>
          </a:prstGeom>
        </p:spPr>
      </p:pic>
      <p:sp>
        <p:nvSpPr>
          <p:cNvPr id="124" name="文本框 123"/>
          <p:cNvSpPr txBox="1"/>
          <p:nvPr/>
        </p:nvSpPr>
        <p:spPr bwMode="gray">
          <a:xfrm>
            <a:off x="9495250" y="4878985"/>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pic>
        <p:nvPicPr>
          <p:cNvPr id="126" name="图片 87" descr="汇聚交换机.png"/>
          <p:cNvPicPr>
            <a:picLocks noChangeAspect="1"/>
          </p:cNvPicPr>
          <p:nvPr/>
        </p:nvPicPr>
        <p:blipFill>
          <a:blip r:embed="rId6" cstate="print"/>
          <a:stretch>
            <a:fillRect/>
          </a:stretch>
        </p:blipFill>
        <p:spPr bwMode="gray">
          <a:xfrm>
            <a:off x="9057512" y="3730673"/>
            <a:ext cx="405710" cy="331945"/>
          </a:xfrm>
          <a:prstGeom prst="rect">
            <a:avLst/>
          </a:prstGeom>
        </p:spPr>
      </p:pic>
      <p:sp>
        <p:nvSpPr>
          <p:cNvPr id="127" name="文本框 126"/>
          <p:cNvSpPr txBox="1"/>
          <p:nvPr/>
        </p:nvSpPr>
        <p:spPr bwMode="gray">
          <a:xfrm>
            <a:off x="10454866" y="3749105"/>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pic>
        <p:nvPicPr>
          <p:cNvPr id="130" name="图片 86" descr="核心交换机.png"/>
          <p:cNvPicPr>
            <a:picLocks noChangeAspect="1"/>
          </p:cNvPicPr>
          <p:nvPr/>
        </p:nvPicPr>
        <p:blipFill>
          <a:blip r:embed="rId7" cstate="print"/>
          <a:stretch>
            <a:fillRect/>
          </a:stretch>
        </p:blipFill>
        <p:spPr bwMode="gray">
          <a:xfrm>
            <a:off x="9057512" y="2550290"/>
            <a:ext cx="405710" cy="331945"/>
          </a:xfrm>
          <a:prstGeom prst="rect">
            <a:avLst/>
          </a:prstGeom>
        </p:spPr>
      </p:pic>
      <p:sp>
        <p:nvSpPr>
          <p:cNvPr id="131" name="文本框 130"/>
          <p:cNvSpPr txBox="1"/>
          <p:nvPr/>
        </p:nvSpPr>
        <p:spPr bwMode="gray">
          <a:xfrm>
            <a:off x="10454866" y="2550290"/>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pic>
        <p:nvPicPr>
          <p:cNvPr id="133" name="图片 87" descr="汇聚交换机.png"/>
          <p:cNvPicPr>
            <a:picLocks noChangeAspect="1"/>
          </p:cNvPicPr>
          <p:nvPr/>
        </p:nvPicPr>
        <p:blipFill>
          <a:blip r:embed="rId6" cstate="print"/>
          <a:stretch>
            <a:fillRect/>
          </a:stretch>
        </p:blipFill>
        <p:spPr bwMode="gray">
          <a:xfrm>
            <a:off x="10032716" y="3730673"/>
            <a:ext cx="405710" cy="331945"/>
          </a:xfrm>
          <a:prstGeom prst="rect">
            <a:avLst/>
          </a:prstGeom>
        </p:spPr>
      </p:pic>
      <p:pic>
        <p:nvPicPr>
          <p:cNvPr id="134" name="图片 86" descr="核心交换机.png"/>
          <p:cNvPicPr>
            <a:picLocks noChangeAspect="1"/>
          </p:cNvPicPr>
          <p:nvPr/>
        </p:nvPicPr>
        <p:blipFill>
          <a:blip r:embed="rId7" cstate="print"/>
          <a:stretch>
            <a:fillRect/>
          </a:stretch>
        </p:blipFill>
        <p:spPr bwMode="gray">
          <a:xfrm>
            <a:off x="10032716" y="2550290"/>
            <a:ext cx="405710" cy="331945"/>
          </a:xfrm>
          <a:prstGeom prst="rect">
            <a:avLst/>
          </a:prstGeom>
        </p:spPr>
      </p:pic>
      <p:sp>
        <p:nvSpPr>
          <p:cNvPr id="135" name="椭圆 134"/>
          <p:cNvSpPr/>
          <p:nvPr/>
        </p:nvSpPr>
        <p:spPr bwMode="gray">
          <a:xfrm>
            <a:off x="9479299" y="4297473"/>
            <a:ext cx="545317" cy="86530"/>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136" name="直接连接符 135"/>
          <p:cNvCxnSpPr/>
          <p:nvPr/>
        </p:nvCxnSpPr>
        <p:spPr bwMode="grayWhite">
          <a:xfrm>
            <a:off x="9463223" y="2694489"/>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bwMode="grayWhite">
          <a:xfrm>
            <a:off x="9463223" y="2755449"/>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38" name="椭圆 137"/>
          <p:cNvSpPr/>
          <p:nvPr/>
        </p:nvSpPr>
        <p:spPr bwMode="grayWhite">
          <a:xfrm>
            <a:off x="9702917" y="2654596"/>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139" name="直接连接符 138"/>
          <p:cNvCxnSpPr/>
          <p:nvPr/>
        </p:nvCxnSpPr>
        <p:spPr bwMode="grayWhite">
          <a:xfrm>
            <a:off x="9463223" y="3874901"/>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grayWhite">
          <a:xfrm>
            <a:off x="9463223" y="3935861"/>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41" name="椭圆 140"/>
          <p:cNvSpPr/>
          <p:nvPr/>
        </p:nvSpPr>
        <p:spPr bwMode="grayWhite">
          <a:xfrm>
            <a:off x="9702917" y="3835008"/>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42" name="椭圆 141"/>
          <p:cNvSpPr/>
          <p:nvPr/>
        </p:nvSpPr>
        <p:spPr bwMode="gray">
          <a:xfrm>
            <a:off x="9167489" y="3138589"/>
            <a:ext cx="1168936" cy="328596"/>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45" name="文本框 144"/>
          <p:cNvSpPr txBox="1"/>
          <p:nvPr/>
        </p:nvSpPr>
        <p:spPr bwMode="gray">
          <a:xfrm>
            <a:off x="8477489" y="2605236"/>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sp>
        <p:nvSpPr>
          <p:cNvPr id="146" name="文本框 145"/>
          <p:cNvSpPr txBox="1"/>
          <p:nvPr/>
        </p:nvSpPr>
        <p:spPr bwMode="gray">
          <a:xfrm>
            <a:off x="8477489" y="3731891"/>
            <a:ext cx="492443" cy="276999"/>
          </a:xfrm>
          <a:prstGeom prst="rect">
            <a:avLst/>
          </a:prstGeom>
          <a:noFill/>
        </p:spPr>
        <p:txBody>
          <a:bodyPr wrap="none" rtlCol="0">
            <a:spAutoFit/>
          </a:bodyPr>
          <a:lstStyle/>
          <a:p>
            <a:r>
              <a:rPr lang="zh-CN" altLang="en-US" sz="1200">
                <a:solidFill>
                  <a:srgbClr val="151515"/>
                </a:solidFill>
                <a:cs typeface="+mn-ea"/>
                <a:sym typeface="+mn-lt"/>
              </a:rPr>
              <a:t>堆叠</a:t>
            </a:r>
          </a:p>
        </p:txBody>
      </p:sp>
      <p:pic>
        <p:nvPicPr>
          <p:cNvPr id="151" name="图片 76" descr="接入交换机.png"/>
          <p:cNvPicPr>
            <a:picLocks noChangeAspect="1"/>
          </p:cNvPicPr>
          <p:nvPr/>
        </p:nvPicPr>
        <p:blipFill>
          <a:blip r:embed="rId4" cstate="print"/>
          <a:stretch>
            <a:fillRect/>
          </a:stretch>
        </p:blipFill>
        <p:spPr bwMode="gray">
          <a:xfrm>
            <a:off x="2753578" y="2960605"/>
            <a:ext cx="405710" cy="331945"/>
          </a:xfrm>
          <a:prstGeom prst="rect">
            <a:avLst/>
          </a:prstGeom>
        </p:spPr>
      </p:pic>
      <p:cxnSp>
        <p:nvCxnSpPr>
          <p:cNvPr id="64" name="直接连接符 63"/>
          <p:cNvCxnSpPr>
            <a:stCxn id="14" idx="0"/>
            <a:endCxn id="151" idx="2"/>
          </p:cNvCxnSpPr>
          <p:nvPr/>
        </p:nvCxnSpPr>
        <p:spPr bwMode="gray">
          <a:xfrm flipV="1">
            <a:off x="1842399" y="3292550"/>
            <a:ext cx="1114034" cy="408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bwMode="grayWhite">
          <a:xfrm>
            <a:off x="2045253" y="4799146"/>
            <a:ext cx="706162" cy="139357"/>
            <a:chOff x="2045253" y="4799146"/>
            <a:chExt cx="706162" cy="139357"/>
          </a:xfrm>
        </p:grpSpPr>
        <p:cxnSp>
          <p:nvCxnSpPr>
            <p:cNvPr id="22" name="直接连接符 21"/>
            <p:cNvCxnSpPr/>
            <p:nvPr/>
          </p:nvCxnSpPr>
          <p:spPr bwMode="grayWhite">
            <a:xfrm>
              <a:off x="2045253" y="4894892"/>
              <a:ext cx="706162"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bwMode="grayWhite">
            <a:xfrm>
              <a:off x="2045253" y="4836408"/>
              <a:ext cx="706162"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73" name="椭圆 72"/>
            <p:cNvSpPr/>
            <p:nvPr/>
          </p:nvSpPr>
          <p:spPr bwMode="grayWhite">
            <a:xfrm>
              <a:off x="2326244" y="4799146"/>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grpSp>
        <p:nvGrpSpPr>
          <p:cNvPr id="75" name="组合 74"/>
          <p:cNvGrpSpPr/>
          <p:nvPr/>
        </p:nvGrpSpPr>
        <p:grpSpPr bwMode="grayWhite">
          <a:xfrm>
            <a:off x="5722031" y="4799146"/>
            <a:ext cx="706162" cy="139357"/>
            <a:chOff x="2045253" y="4799146"/>
            <a:chExt cx="706162" cy="139357"/>
          </a:xfrm>
        </p:grpSpPr>
        <p:cxnSp>
          <p:nvCxnSpPr>
            <p:cNvPr id="76" name="直接连接符 75"/>
            <p:cNvCxnSpPr/>
            <p:nvPr/>
          </p:nvCxnSpPr>
          <p:spPr bwMode="grayWhite">
            <a:xfrm>
              <a:off x="2045253" y="4894892"/>
              <a:ext cx="706162"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White">
            <a:xfrm>
              <a:off x="2045253" y="4836408"/>
              <a:ext cx="706162"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78" name="椭圆 77"/>
            <p:cNvSpPr/>
            <p:nvPr/>
          </p:nvSpPr>
          <p:spPr bwMode="grayWhite">
            <a:xfrm>
              <a:off x="2326244" y="4799146"/>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cxnSp>
        <p:nvCxnSpPr>
          <p:cNvPr id="68" name="直接连接符 67"/>
          <p:cNvCxnSpPr/>
          <p:nvPr/>
        </p:nvCxnSpPr>
        <p:spPr bwMode="grayWhite">
          <a:xfrm>
            <a:off x="10024616" y="5888771"/>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bwMode="grayWhite">
          <a:xfrm>
            <a:off x="10024616" y="5949731"/>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71" name="椭圆 70"/>
          <p:cNvSpPr/>
          <p:nvPr/>
        </p:nvSpPr>
        <p:spPr bwMode="grayWhite">
          <a:xfrm>
            <a:off x="10264310" y="5848878"/>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72" name="文本框 71"/>
          <p:cNvSpPr txBox="1"/>
          <p:nvPr/>
        </p:nvSpPr>
        <p:spPr>
          <a:xfrm>
            <a:off x="10602085" y="5764667"/>
            <a:ext cx="800218" cy="276999"/>
          </a:xfrm>
          <a:prstGeom prst="rect">
            <a:avLst/>
          </a:prstGeom>
          <a:noFill/>
        </p:spPr>
        <p:txBody>
          <a:bodyPr wrap="square" rtlCol="0">
            <a:spAutoFit/>
          </a:bodyPr>
          <a:lstStyle/>
          <a:p>
            <a:r>
              <a:rPr lang="zh-CN" altLang="en-US" sz="1200" dirty="0" smtClean="0">
                <a:cs typeface="+mn-ea"/>
                <a:sym typeface="+mn-lt"/>
              </a:rPr>
              <a:t>堆叠链路</a:t>
            </a:r>
            <a:endParaRPr lang="en-US" altLang="zh-CN" sz="1200" dirty="0" smtClean="0">
              <a:cs typeface="+mn-ea"/>
              <a:sym typeface="+mn-lt"/>
            </a:endParaRPr>
          </a:p>
        </p:txBody>
      </p:sp>
      <p:cxnSp>
        <p:nvCxnSpPr>
          <p:cNvPr id="79" name="直接连接符 78"/>
          <p:cNvCxnSpPr/>
          <p:nvPr/>
        </p:nvCxnSpPr>
        <p:spPr>
          <a:xfrm>
            <a:off x="10024616" y="5516339"/>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10024616" y="5577299"/>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a:off x="10264310" y="5476446"/>
            <a:ext cx="98080" cy="139357"/>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87" name="文本框 86"/>
          <p:cNvSpPr txBox="1"/>
          <p:nvPr/>
        </p:nvSpPr>
        <p:spPr>
          <a:xfrm>
            <a:off x="10602084" y="5399533"/>
            <a:ext cx="800219" cy="276999"/>
          </a:xfrm>
          <a:prstGeom prst="rect">
            <a:avLst/>
          </a:prstGeom>
          <a:noFill/>
        </p:spPr>
        <p:txBody>
          <a:bodyPr wrap="none" rtlCol="0">
            <a:spAutoFit/>
          </a:bodyPr>
          <a:lstStyle/>
          <a:p>
            <a:r>
              <a:rPr lang="zh-CN" altLang="en-US" sz="1200" dirty="0" smtClean="0">
                <a:cs typeface="+mn-ea"/>
                <a:sym typeface="+mn-lt"/>
              </a:rPr>
              <a:t>链路聚合</a:t>
            </a:r>
            <a:endParaRPr lang="zh-CN" altLang="en-US" sz="1200" dirty="0">
              <a:cs typeface="+mn-ea"/>
              <a:sym typeface="+mn-lt"/>
            </a:endParaRPr>
          </a:p>
        </p:txBody>
      </p:sp>
    </p:spTree>
    <p:extLst>
      <p:ext uri="{BB962C8B-B14F-4D97-AF65-F5344CB8AC3E}">
        <p14:creationId xmlns:p14="http://schemas.microsoft.com/office/powerpoint/2010/main" val="120690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圆角矩形 65"/>
          <p:cNvSpPr/>
          <p:nvPr/>
        </p:nvSpPr>
        <p:spPr>
          <a:xfrm>
            <a:off x="2407376" y="4539050"/>
            <a:ext cx="2436978" cy="475331"/>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sp>
        <p:nvSpPr>
          <p:cNvPr id="63" name="圆角矩形 62"/>
          <p:cNvSpPr/>
          <p:nvPr/>
        </p:nvSpPr>
        <p:spPr>
          <a:xfrm>
            <a:off x="2407376" y="3835411"/>
            <a:ext cx="2436978" cy="475331"/>
          </a:xfrm>
          <a:prstGeom prst="roundRect">
            <a:avLst>
              <a:gd name="adj" fmla="val 6644"/>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sp>
        <p:nvSpPr>
          <p:cNvPr id="2" name="标题 1"/>
          <p:cNvSpPr>
            <a:spLocks noGrp="1"/>
          </p:cNvSpPr>
          <p:nvPr>
            <p:ph type="title"/>
          </p:nvPr>
        </p:nvSpPr>
        <p:spPr/>
        <p:txBody>
          <a:bodyPr/>
          <a:lstStyle/>
          <a:p>
            <a:r>
              <a:rPr lang="zh-CN" altLang="en-US" smtClean="0">
                <a:sym typeface="+mn-lt"/>
              </a:rPr>
              <a:t>全网可靠性设计</a:t>
            </a:r>
            <a:endParaRPr lang="zh-CN" altLang="en-US">
              <a:sym typeface="+mn-lt"/>
            </a:endParaRPr>
          </a:p>
        </p:txBody>
      </p:sp>
      <p:sp>
        <p:nvSpPr>
          <p:cNvPr id="3" name="文本占位符 2"/>
          <p:cNvSpPr>
            <a:spLocks noGrp="1"/>
          </p:cNvSpPr>
          <p:nvPr>
            <p:ph type="body" sz="quarter" idx="10"/>
          </p:nvPr>
        </p:nvSpPr>
        <p:spPr>
          <a:xfrm>
            <a:off x="455612" y="1047750"/>
            <a:ext cx="11293475" cy="436563"/>
          </a:xfrm>
        </p:spPr>
        <p:txBody>
          <a:bodyPr/>
          <a:lstStyle/>
          <a:p>
            <a:r>
              <a:rPr lang="zh-CN" altLang="en-US" sz="1800" dirty="0" smtClean="0"/>
              <a:t>通常采用双设备、多链路结合</a:t>
            </a:r>
            <a:r>
              <a:rPr lang="en-US" altLang="zh-CN" sz="1800" dirty="0" smtClean="0"/>
              <a:t>Eth-Trunk</a:t>
            </a:r>
            <a:r>
              <a:rPr lang="zh-CN" altLang="en-US" sz="1800" dirty="0" smtClean="0"/>
              <a:t>技术和堆叠技术来实现全网可靠性。</a:t>
            </a:r>
          </a:p>
          <a:p>
            <a:endParaRPr lang="zh-CN" altLang="en-US" sz="1800" dirty="0"/>
          </a:p>
        </p:txBody>
      </p:sp>
      <p:cxnSp>
        <p:nvCxnSpPr>
          <p:cNvPr id="4" name="直接连接符 3"/>
          <p:cNvCxnSpPr/>
          <p:nvPr/>
        </p:nvCxnSpPr>
        <p:spPr>
          <a:xfrm>
            <a:off x="4113467" y="2602231"/>
            <a:ext cx="0" cy="21067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161"/>
          <p:cNvGrpSpPr/>
          <p:nvPr/>
        </p:nvGrpSpPr>
        <p:grpSpPr>
          <a:xfrm rot="10800000" flipV="1">
            <a:off x="3136714" y="4763168"/>
            <a:ext cx="986280" cy="719608"/>
            <a:chOff x="-1233037" y="914446"/>
            <a:chExt cx="1573823" cy="778776"/>
          </a:xfrm>
        </p:grpSpPr>
        <p:cxnSp>
          <p:nvCxnSpPr>
            <p:cNvPr id="6" name="Straight Connector 163"/>
            <p:cNvCxnSpPr/>
            <p:nvPr/>
          </p:nvCxnSpPr>
          <p:spPr>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Group 161"/>
          <p:cNvGrpSpPr/>
          <p:nvPr/>
        </p:nvGrpSpPr>
        <p:grpSpPr>
          <a:xfrm rot="10800000">
            <a:off x="2896716" y="4763167"/>
            <a:ext cx="1472461" cy="654005"/>
            <a:chOff x="-3661019" y="914446"/>
            <a:chExt cx="4001805" cy="778776"/>
          </a:xfrm>
        </p:grpSpPr>
        <p:cxnSp>
          <p:nvCxnSpPr>
            <p:cNvPr id="9" name="Straight Connector 163"/>
            <p:cNvCxnSpPr/>
            <p:nvPr/>
          </p:nvCxnSpPr>
          <p:spPr>
            <a:xfrm flipH="1" flipV="1">
              <a:off x="-3661019" y="914446"/>
              <a:ext cx="786913"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4"/>
            <p:cNvCxnSpPr/>
            <p:nvPr/>
          </p:nvCxnSpPr>
          <p:spPr>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p:cNvCxnSpPr/>
          <p:nvPr/>
        </p:nvCxnSpPr>
        <p:spPr>
          <a:xfrm>
            <a:off x="3139939" y="2706445"/>
            <a:ext cx="0" cy="20025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任意多边形 11"/>
          <p:cNvSpPr/>
          <p:nvPr/>
        </p:nvSpPr>
        <p:spPr>
          <a:xfrm>
            <a:off x="2697197" y="2318930"/>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sp>
        <p:nvSpPr>
          <p:cNvPr id="13" name="文本框 12"/>
          <p:cNvSpPr txBox="1"/>
          <p:nvPr/>
        </p:nvSpPr>
        <p:spPr bwMode="auto">
          <a:xfrm>
            <a:off x="4332762" y="3260136"/>
            <a:ext cx="410690" cy="307777"/>
          </a:xfrm>
          <a:prstGeom prst="rect">
            <a:avLst/>
          </a:prstGeom>
          <a:noFill/>
        </p:spPr>
        <p:txBody>
          <a:bodyPr wrap="none" rtlCol="0">
            <a:spAutoFit/>
          </a:bodyPr>
          <a:lstStyle/>
          <a:p>
            <a:r>
              <a:rPr lang="en-US" altLang="zh-CN" sz="1400" smtClean="0">
                <a:cs typeface="+mn-ea"/>
                <a:sym typeface="+mn-lt"/>
              </a:rPr>
              <a:t>AR</a:t>
            </a:r>
            <a:endParaRPr lang="zh-CN" altLang="en-US" sz="1400">
              <a:cs typeface="+mn-ea"/>
              <a:sym typeface="+mn-lt"/>
            </a:endParaRPr>
          </a:p>
        </p:txBody>
      </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54051" y="1613495"/>
            <a:ext cx="951607" cy="540946"/>
          </a:xfrm>
          <a:prstGeom prst="rect">
            <a:avLst/>
          </a:prstGeom>
        </p:spPr>
      </p:pic>
      <p:pic>
        <p:nvPicPr>
          <p:cNvPr id="15" name="图片 76" descr="接入交换机.png"/>
          <p:cNvPicPr>
            <a:picLocks noChangeAspect="1"/>
          </p:cNvPicPr>
          <p:nvPr/>
        </p:nvPicPr>
        <p:blipFill>
          <a:blip r:embed="rId4" cstate="print"/>
          <a:stretch>
            <a:fillRect/>
          </a:stretch>
        </p:blipFill>
        <p:spPr>
          <a:xfrm>
            <a:off x="3423010" y="5392730"/>
            <a:ext cx="405710" cy="331945"/>
          </a:xfrm>
          <a:prstGeom prst="rect">
            <a:avLst/>
          </a:prstGeom>
        </p:spPr>
      </p:pic>
      <p:pic>
        <p:nvPicPr>
          <p:cNvPr id="16" name="图片 15" descr="云AP蓝.png"/>
          <p:cNvPicPr>
            <a:picLocks noChangeAspect="1"/>
          </p:cNvPicPr>
          <p:nvPr/>
        </p:nvPicPr>
        <p:blipFill>
          <a:blip r:embed="rId5" cstate="print"/>
          <a:stretch>
            <a:fillRect/>
          </a:stretch>
        </p:blipFill>
        <p:spPr>
          <a:xfrm>
            <a:off x="2670830" y="5393006"/>
            <a:ext cx="405405" cy="331695"/>
          </a:xfrm>
          <a:prstGeom prst="rect">
            <a:avLst/>
          </a:prstGeom>
        </p:spPr>
      </p:pic>
      <p:pic>
        <p:nvPicPr>
          <p:cNvPr id="17" name="图片 16" descr="云AP蓝.png"/>
          <p:cNvPicPr>
            <a:picLocks noChangeAspect="1"/>
          </p:cNvPicPr>
          <p:nvPr/>
        </p:nvPicPr>
        <p:blipFill>
          <a:blip r:embed="rId5" cstate="print"/>
          <a:stretch>
            <a:fillRect/>
          </a:stretch>
        </p:blipFill>
        <p:spPr>
          <a:xfrm>
            <a:off x="4222555" y="5393006"/>
            <a:ext cx="405405" cy="331695"/>
          </a:xfrm>
          <a:prstGeom prst="rect">
            <a:avLst/>
          </a:prstGeom>
        </p:spPr>
      </p:pic>
      <p:sp>
        <p:nvSpPr>
          <p:cNvPr id="18" name="文本框 17"/>
          <p:cNvSpPr txBox="1"/>
          <p:nvPr/>
        </p:nvSpPr>
        <p:spPr>
          <a:xfrm>
            <a:off x="2660974" y="5767252"/>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19" name="文本框 18"/>
          <p:cNvSpPr txBox="1"/>
          <p:nvPr/>
        </p:nvSpPr>
        <p:spPr>
          <a:xfrm>
            <a:off x="3373146" y="5767252"/>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20" name="文本框 19"/>
          <p:cNvSpPr txBox="1"/>
          <p:nvPr/>
        </p:nvSpPr>
        <p:spPr>
          <a:xfrm>
            <a:off x="4194149" y="5767252"/>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pic>
        <p:nvPicPr>
          <p:cNvPr id="23" name="图片 87" descr="汇聚交换机.png"/>
          <p:cNvPicPr>
            <a:picLocks noChangeAspect="1"/>
          </p:cNvPicPr>
          <p:nvPr/>
        </p:nvPicPr>
        <p:blipFill>
          <a:blip r:embed="rId6" cstate="print"/>
          <a:stretch>
            <a:fillRect/>
          </a:stretch>
        </p:blipFill>
        <p:spPr>
          <a:xfrm>
            <a:off x="2935408" y="4618940"/>
            <a:ext cx="405710" cy="331945"/>
          </a:xfrm>
          <a:prstGeom prst="rect">
            <a:avLst/>
          </a:prstGeom>
        </p:spPr>
      </p:pic>
      <p:sp>
        <p:nvSpPr>
          <p:cNvPr id="24" name="文本框 23"/>
          <p:cNvSpPr txBox="1"/>
          <p:nvPr/>
        </p:nvSpPr>
        <p:spPr>
          <a:xfrm>
            <a:off x="4332762" y="4637372"/>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25" name="矩形 24"/>
          <p:cNvSpPr/>
          <p:nvPr/>
        </p:nvSpPr>
        <p:spPr>
          <a:xfrm>
            <a:off x="1346580" y="5389425"/>
            <a:ext cx="723275" cy="307777"/>
          </a:xfrm>
          <a:prstGeom prst="rect">
            <a:avLst/>
          </a:prstGeom>
        </p:spPr>
        <p:txBody>
          <a:bodyPr wrap="none">
            <a:spAutoFit/>
          </a:bodyPr>
          <a:lstStyle/>
          <a:p>
            <a:pPr algn="ctr"/>
            <a:r>
              <a:rPr lang="zh-CN" altLang="en-US" sz="1400" smtClean="0">
                <a:cs typeface="+mn-ea"/>
                <a:sym typeface="+mn-lt"/>
              </a:rPr>
              <a:t>接入层</a:t>
            </a:r>
            <a:endParaRPr lang="zh-CN" altLang="en-US" sz="1400">
              <a:cs typeface="+mn-ea"/>
              <a:sym typeface="+mn-lt"/>
            </a:endParaRPr>
          </a:p>
        </p:txBody>
      </p:sp>
      <p:sp>
        <p:nvSpPr>
          <p:cNvPr id="26" name="矩形 25"/>
          <p:cNvSpPr/>
          <p:nvPr/>
        </p:nvSpPr>
        <p:spPr>
          <a:xfrm>
            <a:off x="1346580" y="4632908"/>
            <a:ext cx="723275" cy="307777"/>
          </a:xfrm>
          <a:prstGeom prst="rect">
            <a:avLst/>
          </a:prstGeom>
        </p:spPr>
        <p:txBody>
          <a:bodyPr wrap="none">
            <a:spAutoFit/>
          </a:bodyPr>
          <a:lstStyle/>
          <a:p>
            <a:pPr algn="ctr"/>
            <a:r>
              <a:rPr lang="zh-CN" altLang="en-US" sz="1400" smtClean="0">
                <a:cs typeface="+mn-ea"/>
                <a:sym typeface="+mn-lt"/>
              </a:rPr>
              <a:t>汇聚层</a:t>
            </a:r>
            <a:endParaRPr lang="zh-CN" altLang="en-US" sz="1400">
              <a:cs typeface="+mn-ea"/>
              <a:sym typeface="+mn-lt"/>
            </a:endParaRPr>
          </a:p>
        </p:txBody>
      </p:sp>
      <p:pic>
        <p:nvPicPr>
          <p:cNvPr id="27" name="图片 86" descr="核心交换机.png"/>
          <p:cNvPicPr>
            <a:picLocks noChangeAspect="1"/>
          </p:cNvPicPr>
          <p:nvPr/>
        </p:nvPicPr>
        <p:blipFill>
          <a:blip r:embed="rId7" cstate="print"/>
          <a:stretch>
            <a:fillRect/>
          </a:stretch>
        </p:blipFill>
        <p:spPr>
          <a:xfrm>
            <a:off x="2935408" y="3914828"/>
            <a:ext cx="405710" cy="331945"/>
          </a:xfrm>
          <a:prstGeom prst="rect">
            <a:avLst/>
          </a:prstGeom>
        </p:spPr>
      </p:pic>
      <p:sp>
        <p:nvSpPr>
          <p:cNvPr id="28" name="文本框 27"/>
          <p:cNvSpPr txBox="1"/>
          <p:nvPr/>
        </p:nvSpPr>
        <p:spPr>
          <a:xfrm>
            <a:off x="4332762" y="3914828"/>
            <a:ext cx="455574" cy="307777"/>
          </a:xfrm>
          <a:prstGeom prst="rect">
            <a:avLst/>
          </a:prstGeom>
          <a:noFill/>
        </p:spPr>
        <p:txBody>
          <a:bodyPr wrap="none" rtlCol="0">
            <a:spAutoFit/>
          </a:bodyPr>
          <a:lstStyle/>
          <a:p>
            <a:r>
              <a:rPr lang="en-US" altLang="zh-CN" sz="1400" smtClean="0">
                <a:cs typeface="+mn-ea"/>
                <a:sym typeface="+mn-lt"/>
              </a:rPr>
              <a:t>SW</a:t>
            </a:r>
            <a:endParaRPr lang="zh-CN" altLang="en-US" sz="1400">
              <a:cs typeface="+mn-ea"/>
              <a:sym typeface="+mn-lt"/>
            </a:endParaRPr>
          </a:p>
        </p:txBody>
      </p:sp>
      <p:sp>
        <p:nvSpPr>
          <p:cNvPr id="29" name="矩形 28"/>
          <p:cNvSpPr/>
          <p:nvPr/>
        </p:nvSpPr>
        <p:spPr>
          <a:xfrm>
            <a:off x="1346579" y="3914827"/>
            <a:ext cx="723276" cy="307777"/>
          </a:xfrm>
          <a:prstGeom prst="rect">
            <a:avLst/>
          </a:prstGeom>
        </p:spPr>
        <p:txBody>
          <a:bodyPr wrap="none">
            <a:spAutoFit/>
          </a:bodyPr>
          <a:lstStyle/>
          <a:p>
            <a:pPr algn="ctr"/>
            <a:r>
              <a:rPr lang="zh-CN" altLang="en-US" sz="1400" smtClean="0">
                <a:cs typeface="+mn-ea"/>
                <a:sym typeface="+mn-lt"/>
              </a:rPr>
              <a:t>核心层</a:t>
            </a:r>
            <a:endParaRPr lang="zh-CN" altLang="en-US" sz="1400">
              <a:cs typeface="+mn-ea"/>
              <a:sym typeface="+mn-lt"/>
            </a:endParaRPr>
          </a:p>
        </p:txBody>
      </p:sp>
      <p:pic>
        <p:nvPicPr>
          <p:cNvPr id="31" name="图片 87" descr="汇聚交换机.png"/>
          <p:cNvPicPr>
            <a:picLocks noChangeAspect="1"/>
          </p:cNvPicPr>
          <p:nvPr/>
        </p:nvPicPr>
        <p:blipFill>
          <a:blip r:embed="rId6" cstate="print"/>
          <a:stretch>
            <a:fillRect/>
          </a:stretch>
        </p:blipFill>
        <p:spPr>
          <a:xfrm>
            <a:off x="3910612" y="4618940"/>
            <a:ext cx="405710" cy="331945"/>
          </a:xfrm>
          <a:prstGeom prst="rect">
            <a:avLst/>
          </a:prstGeom>
        </p:spPr>
      </p:pic>
      <p:pic>
        <p:nvPicPr>
          <p:cNvPr id="32" name="图片 86" descr="核心交换机.png"/>
          <p:cNvPicPr>
            <a:picLocks noChangeAspect="1"/>
          </p:cNvPicPr>
          <p:nvPr/>
        </p:nvPicPr>
        <p:blipFill>
          <a:blip r:embed="rId7" cstate="print"/>
          <a:stretch>
            <a:fillRect/>
          </a:stretch>
        </p:blipFill>
        <p:spPr>
          <a:xfrm>
            <a:off x="3910612" y="3914828"/>
            <a:ext cx="405710" cy="331945"/>
          </a:xfrm>
          <a:prstGeom prst="rect">
            <a:avLst/>
          </a:prstGeom>
        </p:spPr>
      </p:pic>
      <p:sp>
        <p:nvSpPr>
          <p:cNvPr id="33" name="椭圆 32"/>
          <p:cNvSpPr/>
          <p:nvPr/>
        </p:nvSpPr>
        <p:spPr>
          <a:xfrm>
            <a:off x="3357195" y="5185740"/>
            <a:ext cx="545317" cy="86530"/>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34" name="任意多边形 33"/>
          <p:cNvSpPr/>
          <p:nvPr/>
        </p:nvSpPr>
        <p:spPr>
          <a:xfrm>
            <a:off x="3674935" y="2318930"/>
            <a:ext cx="885614" cy="5921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lumMod val="50000"/>
                  </a:schemeClr>
                </a:solidFill>
                <a:cs typeface="+mn-ea"/>
                <a:sym typeface="+mn-lt"/>
              </a:rPr>
              <a:t>Internet</a:t>
            </a:r>
            <a:endParaRPr lang="zh-CN" altLang="en-US" sz="1400">
              <a:solidFill>
                <a:schemeClr val="bg1">
                  <a:lumMod val="50000"/>
                </a:schemeClr>
              </a:solidFill>
              <a:cs typeface="+mn-ea"/>
              <a:sym typeface="+mn-lt"/>
            </a:endParaRPr>
          </a:p>
        </p:txBody>
      </p:sp>
      <p:cxnSp>
        <p:nvCxnSpPr>
          <p:cNvPr id="35" name="直接连接符 34"/>
          <p:cNvCxnSpPr/>
          <p:nvPr/>
        </p:nvCxnSpPr>
        <p:spPr bwMode="auto">
          <a:xfrm>
            <a:off x="3341119" y="3358146"/>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auto">
          <a:xfrm>
            <a:off x="3341119" y="3419106"/>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椭圆 36"/>
          <p:cNvSpPr/>
          <p:nvPr/>
        </p:nvSpPr>
        <p:spPr bwMode="auto">
          <a:xfrm>
            <a:off x="3580813" y="3318253"/>
            <a:ext cx="98080" cy="139357"/>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38" name="直接连接符 37"/>
          <p:cNvCxnSpPr/>
          <p:nvPr/>
        </p:nvCxnSpPr>
        <p:spPr bwMode="grayWhite">
          <a:xfrm>
            <a:off x="3341119" y="4059027"/>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grayWhite">
          <a:xfrm>
            <a:off x="3341119" y="4119987"/>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bwMode="grayWhite">
          <a:xfrm>
            <a:off x="3580813" y="4019134"/>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41" name="直接连接符 40"/>
          <p:cNvCxnSpPr/>
          <p:nvPr/>
        </p:nvCxnSpPr>
        <p:spPr bwMode="grayWhite">
          <a:xfrm>
            <a:off x="3341119" y="4763168"/>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grayWhite">
          <a:xfrm>
            <a:off x="3341119" y="4824128"/>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bwMode="grayWhite">
          <a:xfrm>
            <a:off x="3580813" y="4723275"/>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44" name="椭圆 43"/>
          <p:cNvSpPr/>
          <p:nvPr/>
        </p:nvSpPr>
        <p:spPr>
          <a:xfrm>
            <a:off x="3098519" y="4371409"/>
            <a:ext cx="1062669" cy="86530"/>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pic>
        <p:nvPicPr>
          <p:cNvPr id="49"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auto">
          <a:xfrm>
            <a:off x="2938207" y="3227733"/>
            <a:ext cx="405710" cy="331944"/>
          </a:xfrm>
          <a:prstGeom prst="rect">
            <a:avLst/>
          </a:prstGeom>
          <a:noFill/>
        </p:spPr>
      </p:pic>
      <p:pic>
        <p:nvPicPr>
          <p:cNvPr id="50"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auto">
          <a:xfrm>
            <a:off x="3910612" y="3227733"/>
            <a:ext cx="405710" cy="331944"/>
          </a:xfrm>
          <a:prstGeom prst="rect">
            <a:avLst/>
          </a:prstGeom>
          <a:noFill/>
        </p:spPr>
      </p:pic>
      <p:cxnSp>
        <p:nvCxnSpPr>
          <p:cNvPr id="51" name="直接连接符 50"/>
          <p:cNvCxnSpPr>
            <a:stCxn id="27" idx="2"/>
            <a:endCxn id="31" idx="0"/>
          </p:cNvCxnSpPr>
          <p:nvPr/>
        </p:nvCxnSpPr>
        <p:spPr>
          <a:xfrm>
            <a:off x="3138263" y="4246773"/>
            <a:ext cx="975204" cy="3721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3" idx="0"/>
            <a:endCxn id="32" idx="2"/>
          </p:cNvCxnSpPr>
          <p:nvPr/>
        </p:nvCxnSpPr>
        <p:spPr>
          <a:xfrm flipV="1">
            <a:off x="3138263" y="4246773"/>
            <a:ext cx="975204" cy="3721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459794" y="2781276"/>
            <a:ext cx="4097867" cy="1041311"/>
          </a:xfrm>
          <a:prstGeom prst="rect">
            <a:avLst/>
          </a:prstGeom>
          <a:noFill/>
        </p:spPr>
        <p:txBody>
          <a:bodyPr wrap="square" rtlCol="0">
            <a:spAutoFit/>
          </a:bodyPr>
          <a:lstStyle/>
          <a:p>
            <a:pPr>
              <a:lnSpc>
                <a:spcPts val="2000"/>
              </a:lnSpc>
              <a:spcAft>
                <a:spcPts val="600"/>
              </a:spcAft>
            </a:pPr>
            <a:r>
              <a:rPr lang="zh-CN" altLang="en-US" sz="1600" dirty="0" smtClean="0">
                <a:cs typeface="+mn-ea"/>
                <a:sym typeface="+mn-lt"/>
              </a:rPr>
              <a:t>出口可靠性设计：</a:t>
            </a:r>
            <a:endParaRPr lang="en-US" altLang="zh-CN" sz="1600" dirty="0" smtClean="0">
              <a:cs typeface="+mn-ea"/>
              <a:sym typeface="+mn-lt"/>
            </a:endParaRPr>
          </a:p>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双设备：主备或负载均衡</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多链路、多运营商网络</a:t>
            </a:r>
          </a:p>
        </p:txBody>
      </p:sp>
      <p:sp>
        <p:nvSpPr>
          <p:cNvPr id="62" name="文本框 61"/>
          <p:cNvSpPr txBox="1"/>
          <p:nvPr/>
        </p:nvSpPr>
        <p:spPr>
          <a:xfrm>
            <a:off x="6459794" y="4649807"/>
            <a:ext cx="4097867" cy="1041311"/>
          </a:xfrm>
          <a:prstGeom prst="rect">
            <a:avLst/>
          </a:prstGeom>
          <a:noFill/>
        </p:spPr>
        <p:txBody>
          <a:bodyPr wrap="square" rtlCol="0">
            <a:spAutoFit/>
          </a:bodyPr>
          <a:lstStyle/>
          <a:p>
            <a:pPr>
              <a:lnSpc>
                <a:spcPts val="2000"/>
              </a:lnSpc>
              <a:spcAft>
                <a:spcPts val="600"/>
              </a:spcAft>
            </a:pPr>
            <a:r>
              <a:rPr lang="zh-CN" altLang="en-US" sz="1600" dirty="0" smtClean="0">
                <a:cs typeface="+mn-ea"/>
                <a:sym typeface="+mn-lt"/>
              </a:rPr>
              <a:t>内网可靠性设计：交换机组网</a:t>
            </a:r>
            <a:endParaRPr lang="en-US" altLang="zh-CN" sz="1600" dirty="0" smtClean="0">
              <a:cs typeface="+mn-ea"/>
              <a:sym typeface="+mn-lt"/>
            </a:endParaRPr>
          </a:p>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双</a:t>
            </a:r>
            <a:r>
              <a:rPr lang="en-US" altLang="zh-CN" sz="1400" dirty="0">
                <a:solidFill>
                  <a:prstClr val="black"/>
                </a:solidFill>
                <a:latin typeface="Huawei Sans" panose="020C0503030203020204" pitchFamily="34" charset="0"/>
                <a:ea typeface="方正兰亭黑简体" panose="02000000000000000000" pitchFamily="2" charset="-122"/>
                <a:sym typeface="+mn-lt"/>
              </a:rPr>
              <a:t>/</a:t>
            </a:r>
            <a:r>
              <a:rPr lang="zh-CN" altLang="en-US" sz="1400" dirty="0">
                <a:solidFill>
                  <a:prstClr val="black"/>
                </a:solidFill>
                <a:latin typeface="Huawei Sans" panose="020C0503030203020204" pitchFamily="34" charset="0"/>
                <a:ea typeface="方正兰亭黑简体" panose="02000000000000000000" pitchFamily="2" charset="-122"/>
                <a:sym typeface="+mn-lt"/>
              </a:rPr>
              <a:t>多设备：堆叠</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双</a:t>
            </a:r>
            <a:r>
              <a:rPr lang="en-US" altLang="zh-CN" sz="1400" dirty="0">
                <a:solidFill>
                  <a:prstClr val="black"/>
                </a:solidFill>
                <a:latin typeface="Huawei Sans" panose="020C0503030203020204" pitchFamily="34" charset="0"/>
                <a:ea typeface="方正兰亭黑简体" panose="02000000000000000000" pitchFamily="2" charset="-122"/>
                <a:sym typeface="+mn-lt"/>
              </a:rPr>
              <a:t>/</a:t>
            </a:r>
            <a:r>
              <a:rPr lang="zh-CN" altLang="en-US" sz="1400" dirty="0">
                <a:solidFill>
                  <a:prstClr val="black"/>
                </a:solidFill>
                <a:latin typeface="Huawei Sans" panose="020C0503030203020204" pitchFamily="34" charset="0"/>
                <a:ea typeface="方正兰亭黑简体" panose="02000000000000000000" pitchFamily="2" charset="-122"/>
                <a:sym typeface="+mn-lt"/>
              </a:rPr>
              <a:t>多链路：</a:t>
            </a:r>
            <a:r>
              <a:rPr lang="en-US" altLang="zh-CN" sz="1400" dirty="0" smtClean="0">
                <a:solidFill>
                  <a:prstClr val="black"/>
                </a:solidFill>
                <a:latin typeface="Huawei Sans" panose="020C0503030203020204" pitchFamily="34" charset="0"/>
                <a:ea typeface="方正兰亭黑简体" panose="02000000000000000000" pitchFamily="2" charset="-122"/>
                <a:sym typeface="+mn-lt"/>
              </a:rPr>
              <a:t>Eth-Trunk</a:t>
            </a:r>
            <a:endParaRPr lang="zh-CN" altLang="en-US" sz="1400" dirty="0">
              <a:solidFill>
                <a:prstClr val="black"/>
              </a:solidFill>
              <a:latin typeface="Huawei Sans" panose="020C0503030203020204" pitchFamily="34" charset="0"/>
              <a:ea typeface="方正兰亭黑简体" panose="02000000000000000000" pitchFamily="2" charset="-122"/>
              <a:sym typeface="+mn-lt"/>
            </a:endParaRPr>
          </a:p>
        </p:txBody>
      </p:sp>
      <p:cxnSp>
        <p:nvCxnSpPr>
          <p:cNvPr id="68" name="直接箭头连接符 67"/>
          <p:cNvCxnSpPr/>
          <p:nvPr/>
        </p:nvCxnSpPr>
        <p:spPr>
          <a:xfrm>
            <a:off x="4844354" y="4793648"/>
            <a:ext cx="1493520" cy="0"/>
          </a:xfrm>
          <a:prstGeom prst="straightConnector1">
            <a:avLst/>
          </a:prstGeom>
          <a:ln w="12700">
            <a:solidFill>
              <a:srgbClr val="C7000B"/>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a:off x="3990914" y="5226380"/>
            <a:ext cx="2346960" cy="0"/>
          </a:xfrm>
          <a:prstGeom prst="straightConnector1">
            <a:avLst/>
          </a:prstGeom>
          <a:ln w="12700">
            <a:solidFill>
              <a:srgbClr val="C7000B"/>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4844354" y="3419106"/>
            <a:ext cx="1493520" cy="0"/>
          </a:xfrm>
          <a:prstGeom prst="straightConnector1">
            <a:avLst/>
          </a:prstGeom>
          <a:ln w="12700">
            <a:solidFill>
              <a:srgbClr val="C7000B"/>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4161188" y="3093986"/>
            <a:ext cx="2176686" cy="0"/>
          </a:xfrm>
          <a:prstGeom prst="straightConnector1">
            <a:avLst/>
          </a:prstGeom>
          <a:ln w="12700">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a:off x="2355385" y="3969774"/>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sp>
        <p:nvSpPr>
          <p:cNvPr id="79" name="文本框 78"/>
          <p:cNvSpPr txBox="1"/>
          <p:nvPr/>
        </p:nvSpPr>
        <p:spPr>
          <a:xfrm>
            <a:off x="2355385" y="4620158"/>
            <a:ext cx="492443" cy="276999"/>
          </a:xfrm>
          <a:prstGeom prst="rect">
            <a:avLst/>
          </a:prstGeom>
          <a:noFill/>
        </p:spPr>
        <p:txBody>
          <a:bodyPr wrap="none" rtlCol="0">
            <a:spAutoFit/>
          </a:bodyPr>
          <a:lstStyle/>
          <a:p>
            <a:r>
              <a:rPr lang="zh-CN" altLang="en-US" sz="1200" dirty="0">
                <a:solidFill>
                  <a:srgbClr val="151515"/>
                </a:solidFill>
                <a:cs typeface="+mn-ea"/>
                <a:sym typeface="+mn-lt"/>
              </a:rPr>
              <a:t>堆叠</a:t>
            </a:r>
          </a:p>
        </p:txBody>
      </p:sp>
      <p:cxnSp>
        <p:nvCxnSpPr>
          <p:cNvPr id="59" name="直接连接符 58"/>
          <p:cNvCxnSpPr/>
          <p:nvPr/>
        </p:nvCxnSpPr>
        <p:spPr bwMode="grayWhite">
          <a:xfrm>
            <a:off x="10102112" y="5848779"/>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bwMode="grayWhite">
          <a:xfrm>
            <a:off x="10102112" y="5909739"/>
            <a:ext cx="569494"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65" name="椭圆 64"/>
          <p:cNvSpPr/>
          <p:nvPr/>
        </p:nvSpPr>
        <p:spPr bwMode="grayWhite">
          <a:xfrm>
            <a:off x="10341806" y="5808886"/>
            <a:ext cx="98080" cy="139357"/>
          </a:xfrm>
          <a:prstGeom prst="ellips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67" name="文本框 66"/>
          <p:cNvSpPr txBox="1"/>
          <p:nvPr/>
        </p:nvSpPr>
        <p:spPr>
          <a:xfrm>
            <a:off x="10679581" y="5724675"/>
            <a:ext cx="800218" cy="276999"/>
          </a:xfrm>
          <a:prstGeom prst="rect">
            <a:avLst/>
          </a:prstGeom>
          <a:noFill/>
        </p:spPr>
        <p:txBody>
          <a:bodyPr wrap="square" rtlCol="0">
            <a:spAutoFit/>
          </a:bodyPr>
          <a:lstStyle/>
          <a:p>
            <a:r>
              <a:rPr lang="zh-CN" altLang="en-US" sz="1200" dirty="0" smtClean="0">
                <a:cs typeface="+mn-ea"/>
                <a:sym typeface="+mn-lt"/>
              </a:rPr>
              <a:t>堆叠链路</a:t>
            </a:r>
            <a:endParaRPr lang="en-US" altLang="zh-CN" sz="1200" dirty="0" smtClean="0">
              <a:cs typeface="+mn-ea"/>
              <a:sym typeface="+mn-lt"/>
            </a:endParaRPr>
          </a:p>
        </p:txBody>
      </p:sp>
      <p:cxnSp>
        <p:nvCxnSpPr>
          <p:cNvPr id="69" name="直接连接符 68"/>
          <p:cNvCxnSpPr/>
          <p:nvPr/>
        </p:nvCxnSpPr>
        <p:spPr>
          <a:xfrm>
            <a:off x="10102112" y="5476347"/>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10102112" y="5537307"/>
            <a:ext cx="5694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10341806" y="5436454"/>
            <a:ext cx="98080" cy="139357"/>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73" name="文本框 72"/>
          <p:cNvSpPr txBox="1"/>
          <p:nvPr/>
        </p:nvSpPr>
        <p:spPr>
          <a:xfrm>
            <a:off x="10679580" y="5359541"/>
            <a:ext cx="800219" cy="276999"/>
          </a:xfrm>
          <a:prstGeom prst="rect">
            <a:avLst/>
          </a:prstGeom>
          <a:noFill/>
        </p:spPr>
        <p:txBody>
          <a:bodyPr wrap="none" rtlCol="0">
            <a:spAutoFit/>
          </a:bodyPr>
          <a:lstStyle/>
          <a:p>
            <a:r>
              <a:rPr lang="zh-CN" altLang="en-US" sz="1200" dirty="0" smtClean="0">
                <a:cs typeface="+mn-ea"/>
                <a:sym typeface="+mn-lt"/>
              </a:rPr>
              <a:t>链路聚合</a:t>
            </a:r>
            <a:endParaRPr lang="zh-CN" altLang="en-US" sz="1200" dirty="0">
              <a:cs typeface="+mn-ea"/>
              <a:sym typeface="+mn-lt"/>
            </a:endParaRPr>
          </a:p>
        </p:txBody>
      </p:sp>
      <p:sp>
        <p:nvSpPr>
          <p:cNvPr id="76" name="圆角矩形 75"/>
          <p:cNvSpPr/>
          <p:nvPr/>
        </p:nvSpPr>
        <p:spPr>
          <a:xfrm>
            <a:off x="2306474" y="3739983"/>
            <a:ext cx="2629420" cy="2335046"/>
          </a:xfrm>
          <a:prstGeom prst="roundRect">
            <a:avLst>
              <a:gd name="adj" fmla="val 6644"/>
            </a:avLst>
          </a:prstGeom>
          <a:noFill/>
          <a:ln w="190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sp>
        <p:nvSpPr>
          <p:cNvPr id="77" name="圆角矩形 76"/>
          <p:cNvSpPr/>
          <p:nvPr/>
        </p:nvSpPr>
        <p:spPr>
          <a:xfrm>
            <a:off x="2306474" y="3002806"/>
            <a:ext cx="2629420" cy="637703"/>
          </a:xfrm>
          <a:prstGeom prst="roundRect">
            <a:avLst>
              <a:gd name="adj" fmla="val 6644"/>
            </a:avLst>
          </a:prstGeom>
          <a:noFill/>
          <a:ln w="1905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mn-lt"/>
            </a:endParaRPr>
          </a:p>
        </p:txBody>
      </p:sp>
    </p:spTree>
    <p:extLst>
      <p:ext uri="{BB962C8B-B14F-4D97-AF65-F5344CB8AC3E}">
        <p14:creationId xmlns:p14="http://schemas.microsoft.com/office/powerpoint/2010/main" val="24505208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组网设计</a:t>
            </a:r>
          </a:p>
        </p:txBody>
      </p:sp>
      <p:sp>
        <p:nvSpPr>
          <p:cNvPr id="39" name="TextBox 303"/>
          <p:cNvSpPr txBox="1"/>
          <p:nvPr/>
        </p:nvSpPr>
        <p:spPr bwMode="gray">
          <a:xfrm>
            <a:off x="731838" y="4019456"/>
            <a:ext cx="912236" cy="1429126"/>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75000"/>
                  </a:schemeClr>
                </a:solidFill>
              </a:defRPr>
            </a:lvl1pPr>
          </a:lstStyle>
          <a:p>
            <a:r>
              <a:rPr lang="zh-CN" altLang="en-US">
                <a:solidFill>
                  <a:schemeClr val="bg1">
                    <a:lumMod val="50000"/>
                  </a:schemeClr>
                </a:solidFill>
                <a:cs typeface="+mn-ea"/>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21" name="燕尾形 20"/>
          <p:cNvSpPr/>
          <p:nvPr/>
        </p:nvSpPr>
        <p:spPr bwMode="grayWhite">
          <a:xfrm>
            <a:off x="8786686" y="3052471"/>
            <a:ext cx="2304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广域互联设计</a:t>
            </a:r>
          </a:p>
        </p:txBody>
      </p:sp>
      <p:sp>
        <p:nvSpPr>
          <p:cNvPr id="23" name="五边形 22"/>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24" name="燕尾形 23"/>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网络开局设计</a:t>
            </a:r>
          </a:p>
        </p:txBody>
      </p:sp>
      <p:sp>
        <p:nvSpPr>
          <p:cNvPr id="25" name="燕尾形 24"/>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30" name="燕尾形 29"/>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31" name="五边形 30"/>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Tree>
    <p:extLst>
      <p:ext uri="{BB962C8B-B14F-4D97-AF65-F5344CB8AC3E}">
        <p14:creationId xmlns:p14="http://schemas.microsoft.com/office/powerpoint/2010/main" val="32796612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p:nvPr/>
        </p:nvCxnSpPr>
        <p:spPr bwMode="gray">
          <a:xfrm>
            <a:off x="2006650" y="3546511"/>
            <a:ext cx="2597100" cy="0"/>
          </a:xfrm>
          <a:prstGeom prst="line">
            <a:avLst/>
          </a:prstGeom>
          <a:noFill/>
          <a:ln w="168275" cap="rnd">
            <a:solidFill>
              <a:srgbClr val="BEE9EE"/>
            </a:solidFill>
          </a:ln>
        </p:spPr>
        <p:style>
          <a:lnRef idx="2">
            <a:schemeClr val="accent1">
              <a:shade val="50000"/>
            </a:schemeClr>
          </a:lnRef>
          <a:fillRef idx="1">
            <a:schemeClr val="accent1"/>
          </a:fillRef>
          <a:effectRef idx="0">
            <a:schemeClr val="accent1"/>
          </a:effectRef>
          <a:fontRef idx="minor">
            <a:schemeClr val="lt1"/>
          </a:fontRef>
        </p:style>
      </p:cxnSp>
      <p:sp>
        <p:nvSpPr>
          <p:cNvPr id="2" name="标题 1"/>
          <p:cNvSpPr>
            <a:spLocks noGrp="1"/>
          </p:cNvSpPr>
          <p:nvPr>
            <p:ph type="title"/>
          </p:nvPr>
        </p:nvSpPr>
        <p:spPr bwMode="gray"/>
        <p:txBody>
          <a:bodyPr>
            <a:normAutofit/>
          </a:bodyPr>
          <a:lstStyle/>
          <a:p>
            <a:r>
              <a:rPr lang="en-US" altLang="zh-CN" dirty="0" smtClean="0">
                <a:latin typeface="+mn-lt"/>
                <a:ea typeface="+mn-ea"/>
                <a:cs typeface="+mn-ea"/>
                <a:sym typeface="+mn-lt"/>
              </a:rPr>
              <a:t>CloudCampus</a:t>
            </a:r>
            <a:r>
              <a:rPr lang="zh-CN" altLang="en-US" dirty="0" smtClean="0">
                <a:latin typeface="+mn-lt"/>
                <a:ea typeface="+mn-ea"/>
                <a:cs typeface="+mn-ea"/>
                <a:sym typeface="+mn-lt"/>
              </a:rPr>
              <a:t>广域互联方案概述</a:t>
            </a:r>
            <a:endParaRPr lang="zh-CN" altLang="en-US" dirty="0">
              <a:latin typeface="+mn-lt"/>
              <a:ea typeface="+mn-ea"/>
              <a:cs typeface="+mn-ea"/>
              <a:sym typeface="+mn-lt"/>
            </a:endParaRPr>
          </a:p>
        </p:txBody>
      </p:sp>
      <p:sp>
        <p:nvSpPr>
          <p:cNvPr id="3" name="圆角矩形 2"/>
          <p:cNvSpPr/>
          <p:nvPr/>
        </p:nvSpPr>
        <p:spPr bwMode="gray">
          <a:xfrm>
            <a:off x="625055" y="1554577"/>
            <a:ext cx="5402200" cy="431528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cs typeface="+mn-ea"/>
              <a:sym typeface="+mn-lt"/>
            </a:endParaRPr>
          </a:p>
        </p:txBody>
      </p:sp>
      <p:sp>
        <p:nvSpPr>
          <p:cNvPr id="4" name="圆角矩形 3"/>
          <p:cNvSpPr/>
          <p:nvPr/>
        </p:nvSpPr>
        <p:spPr bwMode="gray">
          <a:xfrm>
            <a:off x="625055" y="1146220"/>
            <a:ext cx="540220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mn-lt"/>
              </a:rPr>
              <a:t>静态</a:t>
            </a:r>
            <a:r>
              <a:rPr lang="en-US" altLang="zh-CN" sz="1600" dirty="0">
                <a:solidFill>
                  <a:srgbClr val="30B5C5"/>
                </a:solidFill>
                <a:latin typeface="Huawei Sans" panose="020C0503030203020204" pitchFamily="34" charset="0"/>
                <a:ea typeface="方正兰亭黑简体" panose="02000000000000000000" pitchFamily="2" charset="-122"/>
                <a:sym typeface="+mn-lt"/>
              </a:rPr>
              <a:t>IPsec VPN</a:t>
            </a:r>
            <a:endParaRPr lang="zh-CN" altLang="en-US" sz="1600" dirty="0">
              <a:solidFill>
                <a:srgbClr val="30B5C5"/>
              </a:solidFill>
              <a:latin typeface="Huawei Sans" panose="020C0503030203020204" pitchFamily="34" charset="0"/>
              <a:ea typeface="方正兰亭黑简体" panose="02000000000000000000" pitchFamily="2" charset="-122"/>
              <a:sym typeface="+mn-lt"/>
            </a:endParaRPr>
          </a:p>
        </p:txBody>
      </p:sp>
      <p:sp>
        <p:nvSpPr>
          <p:cNvPr id="5" name="圆角矩形 4"/>
          <p:cNvSpPr/>
          <p:nvPr/>
        </p:nvSpPr>
        <p:spPr bwMode="gray">
          <a:xfrm>
            <a:off x="6097663" y="1554577"/>
            <a:ext cx="5402200" cy="431528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cs typeface="+mn-ea"/>
              <a:sym typeface="+mn-lt"/>
            </a:endParaRPr>
          </a:p>
        </p:txBody>
      </p:sp>
      <p:sp>
        <p:nvSpPr>
          <p:cNvPr id="6" name="圆角矩形 5"/>
          <p:cNvSpPr/>
          <p:nvPr/>
        </p:nvSpPr>
        <p:spPr bwMode="gray">
          <a:xfrm>
            <a:off x="6097663" y="1146220"/>
            <a:ext cx="5402200"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mn-lt"/>
              </a:rPr>
              <a:t>SD-WAN</a:t>
            </a:r>
            <a:r>
              <a:rPr lang="zh-CN" altLang="en-US" sz="1600" dirty="0">
                <a:solidFill>
                  <a:srgbClr val="30B5C5"/>
                </a:solidFill>
                <a:latin typeface="Huawei Sans" panose="020C0503030203020204" pitchFamily="34" charset="0"/>
                <a:ea typeface="方正兰亭黑简体" panose="02000000000000000000" pitchFamily="2" charset="-122"/>
                <a:sym typeface="+mn-lt"/>
              </a:rPr>
              <a:t>互联</a:t>
            </a:r>
          </a:p>
        </p:txBody>
      </p:sp>
      <p:sp>
        <p:nvSpPr>
          <p:cNvPr id="8" name="任意多边形 7"/>
          <p:cNvSpPr/>
          <p:nvPr/>
        </p:nvSpPr>
        <p:spPr bwMode="gray">
          <a:xfrm>
            <a:off x="2769607" y="3106909"/>
            <a:ext cx="1314930" cy="87920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endParaRPr lang="zh-CN" altLang="en-US" sz="1200">
              <a:solidFill>
                <a:schemeClr val="bg1">
                  <a:lumMod val="50000"/>
                </a:schemeClr>
              </a:solidFill>
              <a:cs typeface="+mn-ea"/>
              <a:sym typeface="+mn-lt"/>
            </a:endParaRPr>
          </a:p>
        </p:txBody>
      </p:sp>
      <p:pic>
        <p:nvPicPr>
          <p:cNvPr id="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445302" y="3363942"/>
            <a:ext cx="446281" cy="365138"/>
          </a:xfrm>
          <a:prstGeom prst="rect">
            <a:avLst/>
          </a:prstGeom>
          <a:noFill/>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735878" y="3363942"/>
            <a:ext cx="446281" cy="365139"/>
          </a:xfrm>
          <a:prstGeom prst="rect">
            <a:avLst/>
          </a:prstGeom>
        </p:spPr>
      </p:pic>
      <p:sp>
        <p:nvSpPr>
          <p:cNvPr id="11" name="Freeform 186"/>
          <p:cNvSpPr>
            <a:spLocks noEditPoints="1"/>
          </p:cNvSpPr>
          <p:nvPr/>
        </p:nvSpPr>
        <p:spPr bwMode="gray">
          <a:xfrm>
            <a:off x="816094" y="3266317"/>
            <a:ext cx="558800" cy="560388"/>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cs typeface="+mn-ea"/>
              <a:sym typeface="+mn-lt"/>
            </a:endParaRPr>
          </a:p>
        </p:txBody>
      </p:sp>
      <p:grpSp>
        <p:nvGrpSpPr>
          <p:cNvPr id="12" name="组合 262"/>
          <p:cNvGrpSpPr/>
          <p:nvPr/>
        </p:nvGrpSpPr>
        <p:grpSpPr bwMode="gray">
          <a:xfrm>
            <a:off x="5316559" y="3306260"/>
            <a:ext cx="394083" cy="480502"/>
            <a:chOff x="6378575" y="2882900"/>
            <a:chExt cx="858950" cy="865188"/>
          </a:xfrm>
          <a:solidFill>
            <a:schemeClr val="bg1">
              <a:lumMod val="50000"/>
            </a:schemeClr>
          </a:solidFill>
        </p:grpSpPr>
        <p:sp>
          <p:nvSpPr>
            <p:cNvPr id="13"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a:solidFill>
                  <a:srgbClr val="000000"/>
                </a:solidFill>
                <a:cs typeface="+mn-ea"/>
                <a:sym typeface="+mn-lt"/>
              </a:endParaRPr>
            </a:p>
          </p:txBody>
        </p:sp>
        <p:sp>
          <p:nvSpPr>
            <p:cNvPr id="14"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a:solidFill>
                  <a:srgbClr val="000000"/>
                </a:solidFill>
                <a:cs typeface="+mn-ea"/>
                <a:sym typeface="+mn-lt"/>
              </a:endParaRPr>
            </a:p>
          </p:txBody>
        </p:sp>
        <p:sp>
          <p:nvSpPr>
            <p:cNvPr id="15"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a:solidFill>
                  <a:srgbClr val="000000"/>
                </a:solidFill>
                <a:cs typeface="+mn-ea"/>
                <a:sym typeface="+mn-lt"/>
              </a:endParaRPr>
            </a:p>
          </p:txBody>
        </p:sp>
        <p:sp>
          <p:nvSpPr>
            <p:cNvPr id="16"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a:solidFill>
                  <a:srgbClr val="000000"/>
                </a:solidFill>
                <a:cs typeface="+mn-ea"/>
                <a:sym typeface="+mn-lt"/>
              </a:endParaRPr>
            </a:p>
          </p:txBody>
        </p:sp>
      </p:grpSp>
      <p:sp>
        <p:nvSpPr>
          <p:cNvPr id="21" name="矩形 20"/>
          <p:cNvSpPr/>
          <p:nvPr/>
        </p:nvSpPr>
        <p:spPr bwMode="gray">
          <a:xfrm>
            <a:off x="3056618" y="3692391"/>
            <a:ext cx="740908" cy="276999"/>
          </a:xfrm>
          <a:prstGeom prst="rect">
            <a:avLst/>
          </a:prstGeom>
        </p:spPr>
        <p:txBody>
          <a:bodyPr wrap="none">
            <a:spAutoFit/>
          </a:bodyPr>
          <a:lstStyle/>
          <a:p>
            <a:pPr lvl="0" algn="ctr"/>
            <a:r>
              <a:rPr lang="en-US" altLang="zh-CN" sz="1200" dirty="0">
                <a:solidFill>
                  <a:schemeClr val="bg1">
                    <a:lumMod val="50000"/>
                  </a:schemeClr>
                </a:solidFill>
                <a:cs typeface="+mn-ea"/>
                <a:sym typeface="+mn-lt"/>
              </a:rPr>
              <a:t>Internet</a:t>
            </a:r>
            <a:endParaRPr lang="zh-CN" altLang="en-US" sz="1200" dirty="0">
              <a:solidFill>
                <a:schemeClr val="bg1">
                  <a:lumMod val="50000"/>
                </a:schemeClr>
              </a:solidFill>
              <a:cs typeface="+mn-ea"/>
              <a:sym typeface="+mn-lt"/>
            </a:endParaRPr>
          </a:p>
        </p:txBody>
      </p:sp>
      <p:sp>
        <p:nvSpPr>
          <p:cNvPr id="22" name="矩形 21"/>
          <p:cNvSpPr/>
          <p:nvPr/>
        </p:nvSpPr>
        <p:spPr bwMode="gray">
          <a:xfrm>
            <a:off x="1138952" y="3932489"/>
            <a:ext cx="543739" cy="307777"/>
          </a:xfrm>
          <a:prstGeom prst="rect">
            <a:avLst/>
          </a:prstGeom>
        </p:spPr>
        <p:txBody>
          <a:bodyPr wrap="none">
            <a:spAutoFit/>
          </a:bodyPr>
          <a:lstStyle/>
          <a:p>
            <a:pPr lvl="0" algn="ctr"/>
            <a:r>
              <a:rPr lang="zh-CN" altLang="en-US" sz="1400" smtClean="0">
                <a:cs typeface="+mn-ea"/>
                <a:sym typeface="+mn-lt"/>
              </a:rPr>
              <a:t>分支</a:t>
            </a:r>
            <a:endParaRPr lang="zh-CN" altLang="en-US" sz="1400">
              <a:cs typeface="+mn-ea"/>
              <a:sym typeface="+mn-lt"/>
            </a:endParaRPr>
          </a:p>
        </p:txBody>
      </p:sp>
      <p:sp>
        <p:nvSpPr>
          <p:cNvPr id="23" name="矩形 22"/>
          <p:cNvSpPr/>
          <p:nvPr/>
        </p:nvSpPr>
        <p:spPr bwMode="gray">
          <a:xfrm>
            <a:off x="5044688" y="3932489"/>
            <a:ext cx="543740" cy="307777"/>
          </a:xfrm>
          <a:prstGeom prst="rect">
            <a:avLst/>
          </a:prstGeom>
        </p:spPr>
        <p:txBody>
          <a:bodyPr wrap="none">
            <a:spAutoFit/>
          </a:bodyPr>
          <a:lstStyle/>
          <a:p>
            <a:pPr lvl="0" algn="ctr"/>
            <a:r>
              <a:rPr lang="zh-CN" altLang="en-US" sz="1400" smtClean="0">
                <a:cs typeface="+mn-ea"/>
                <a:sym typeface="+mn-lt"/>
              </a:rPr>
              <a:t>总部</a:t>
            </a:r>
            <a:endParaRPr lang="zh-CN" altLang="en-US" sz="1400">
              <a:cs typeface="+mn-ea"/>
              <a:sym typeface="+mn-lt"/>
            </a:endParaRPr>
          </a:p>
        </p:txBody>
      </p:sp>
      <p:sp>
        <p:nvSpPr>
          <p:cNvPr id="24" name="矩形 23"/>
          <p:cNvSpPr/>
          <p:nvPr/>
        </p:nvSpPr>
        <p:spPr bwMode="gray">
          <a:xfrm>
            <a:off x="673765" y="4521442"/>
            <a:ext cx="5353490" cy="1226939"/>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静态的</a:t>
            </a:r>
            <a:r>
              <a:rPr lang="en-US" altLang="zh-CN" sz="1400" dirty="0">
                <a:solidFill>
                  <a:prstClr val="black"/>
                </a:solidFill>
                <a:latin typeface="Huawei Sans" panose="020C0503030203020204" pitchFamily="34" charset="0"/>
                <a:ea typeface="方正兰亭黑简体" panose="02000000000000000000" pitchFamily="2" charset="-122"/>
                <a:sym typeface="+mn-lt"/>
              </a:rPr>
              <a:t>VPN</a:t>
            </a:r>
            <a:r>
              <a:rPr lang="zh-CN" altLang="en-US" sz="1400" dirty="0">
                <a:solidFill>
                  <a:prstClr val="black"/>
                </a:solidFill>
                <a:latin typeface="Huawei Sans" panose="020C0503030203020204" pitchFamily="34" charset="0"/>
                <a:ea typeface="方正兰亭黑简体" panose="02000000000000000000" pitchFamily="2" charset="-122"/>
                <a:sym typeface="+mn-lt"/>
              </a:rPr>
              <a:t>， 通过在不同站点的设备间建立</a:t>
            </a:r>
            <a:r>
              <a:rPr lang="en-US" altLang="zh-CN" sz="1400" dirty="0">
                <a:solidFill>
                  <a:prstClr val="black"/>
                </a:solidFill>
                <a:latin typeface="Huawei Sans" panose="020C0503030203020204" pitchFamily="34" charset="0"/>
                <a:ea typeface="方正兰亭黑简体" panose="02000000000000000000" pitchFamily="2" charset="-122"/>
                <a:sym typeface="+mn-lt"/>
              </a:rPr>
              <a:t>IPsec</a:t>
            </a:r>
            <a:r>
              <a:rPr lang="zh-CN" altLang="en-US" sz="1400" dirty="0">
                <a:solidFill>
                  <a:prstClr val="black"/>
                </a:solidFill>
                <a:latin typeface="Huawei Sans" panose="020C0503030203020204" pitchFamily="34" charset="0"/>
                <a:ea typeface="方正兰亭黑简体" panose="02000000000000000000" pitchFamily="2" charset="-122"/>
                <a:sym typeface="+mn-lt"/>
              </a:rPr>
              <a:t>隧道来创建</a:t>
            </a:r>
            <a:r>
              <a:rPr lang="en-US" altLang="zh-CN" sz="1400" dirty="0">
                <a:solidFill>
                  <a:prstClr val="black"/>
                </a:solidFill>
                <a:latin typeface="Huawei Sans" panose="020C0503030203020204" pitchFamily="34" charset="0"/>
                <a:ea typeface="方正兰亭黑简体" panose="02000000000000000000" pitchFamily="2" charset="-122"/>
                <a:sym typeface="+mn-lt"/>
              </a:rPr>
              <a:t>VPN</a:t>
            </a:r>
            <a:r>
              <a:rPr lang="zh-CN" altLang="en-US" sz="1400" dirty="0">
                <a:solidFill>
                  <a:prstClr val="black"/>
                </a:solidFill>
                <a:latin typeface="Huawei Sans" panose="020C0503030203020204" pitchFamily="34" charset="0"/>
                <a:ea typeface="方正兰亭黑简体" panose="02000000000000000000" pitchFamily="2" charset="-122"/>
                <a:sym typeface="+mn-lt"/>
              </a:rPr>
              <a:t>通道，根据配置静态网段引流到</a:t>
            </a:r>
            <a:r>
              <a:rPr lang="en-US" altLang="zh-CN" sz="1400" dirty="0">
                <a:solidFill>
                  <a:prstClr val="black"/>
                </a:solidFill>
                <a:latin typeface="Huawei Sans" panose="020C0503030203020204" pitchFamily="34" charset="0"/>
                <a:ea typeface="方正兰亭黑简体" panose="02000000000000000000" pitchFamily="2" charset="-122"/>
                <a:sym typeface="+mn-lt"/>
              </a:rPr>
              <a:t>VPN</a:t>
            </a:r>
            <a:r>
              <a:rPr lang="zh-CN" altLang="en-US" sz="1400" dirty="0">
                <a:solidFill>
                  <a:prstClr val="black"/>
                </a:solidFill>
                <a:latin typeface="Huawei Sans" panose="020C0503030203020204" pitchFamily="34" charset="0"/>
                <a:ea typeface="方正兰亭黑简体" panose="02000000000000000000" pitchFamily="2" charset="-122"/>
                <a:sym typeface="+mn-lt"/>
              </a:rPr>
              <a:t>隧道中，实现站点间的互访。</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出口设备支持</a:t>
            </a:r>
            <a:r>
              <a:rPr lang="en-US" altLang="zh-CN" sz="1400" dirty="0">
                <a:solidFill>
                  <a:prstClr val="black"/>
                </a:solidFill>
                <a:latin typeface="Huawei Sans" panose="020C0503030203020204" pitchFamily="34" charset="0"/>
                <a:ea typeface="方正兰亭黑简体" panose="02000000000000000000" pitchFamily="2" charset="-122"/>
                <a:sym typeface="+mn-lt"/>
              </a:rPr>
              <a:t>AP</a:t>
            </a:r>
            <a:r>
              <a:rPr lang="zh-CN" altLang="en-US" sz="1400" dirty="0">
                <a:solidFill>
                  <a:prstClr val="black"/>
                </a:solidFill>
                <a:latin typeface="Huawei Sans" panose="020C0503030203020204" pitchFamily="34" charset="0"/>
                <a:ea typeface="方正兰亭黑简体" panose="02000000000000000000" pitchFamily="2" charset="-122"/>
                <a:sym typeface="+mn-lt"/>
              </a:rPr>
              <a:t>，</a:t>
            </a:r>
            <a:r>
              <a:rPr lang="en-US" altLang="zh-CN" sz="1400" dirty="0">
                <a:solidFill>
                  <a:prstClr val="black"/>
                </a:solidFill>
                <a:latin typeface="Huawei Sans" panose="020C0503030203020204" pitchFamily="34" charset="0"/>
                <a:ea typeface="方正兰亭黑简体" panose="02000000000000000000" pitchFamily="2" charset="-122"/>
                <a:sym typeface="+mn-lt"/>
              </a:rPr>
              <a:t>AR</a:t>
            </a:r>
            <a:r>
              <a:rPr lang="zh-CN" altLang="en-US" sz="1400" dirty="0">
                <a:solidFill>
                  <a:prstClr val="black"/>
                </a:solidFill>
                <a:latin typeface="Huawei Sans" panose="020C0503030203020204" pitchFamily="34" charset="0"/>
                <a:ea typeface="方正兰亭黑简体" panose="02000000000000000000" pitchFamily="2" charset="-122"/>
                <a:sym typeface="+mn-lt"/>
              </a:rPr>
              <a:t>或</a:t>
            </a:r>
            <a:r>
              <a:rPr lang="en-US" altLang="zh-CN" sz="1400" dirty="0">
                <a:solidFill>
                  <a:prstClr val="black"/>
                </a:solidFill>
                <a:latin typeface="Huawei Sans" panose="020C0503030203020204" pitchFamily="34" charset="0"/>
                <a:ea typeface="方正兰亭黑简体" panose="02000000000000000000" pitchFamily="2" charset="-122"/>
                <a:sym typeface="+mn-lt"/>
              </a:rPr>
              <a:t>FW</a:t>
            </a:r>
            <a:r>
              <a:rPr lang="zh-CN" altLang="en-US" sz="1400" dirty="0">
                <a:solidFill>
                  <a:prstClr val="black"/>
                </a:solidFill>
                <a:latin typeface="Huawei Sans" panose="020C0503030203020204" pitchFamily="34" charset="0"/>
                <a:ea typeface="方正兰亭黑简体" panose="02000000000000000000" pitchFamily="2" charset="-122"/>
                <a:sym typeface="+mn-lt"/>
              </a:rPr>
              <a:t>（</a:t>
            </a:r>
            <a:r>
              <a:rPr lang="en-US" altLang="zh-CN" sz="1400" dirty="0">
                <a:solidFill>
                  <a:prstClr val="black"/>
                </a:solidFill>
                <a:latin typeface="Huawei Sans" panose="020C0503030203020204" pitchFamily="34" charset="0"/>
                <a:ea typeface="方正兰亭黑简体" panose="02000000000000000000" pitchFamily="2" charset="-122"/>
                <a:sym typeface="+mn-lt"/>
              </a:rPr>
              <a:t>FW</a:t>
            </a:r>
            <a:r>
              <a:rPr lang="zh-CN" altLang="en-US" sz="1400" dirty="0">
                <a:solidFill>
                  <a:prstClr val="black"/>
                </a:solidFill>
                <a:latin typeface="Huawei Sans" panose="020C0503030203020204" pitchFamily="34" charset="0"/>
                <a:ea typeface="方正兰亭黑简体" panose="02000000000000000000" pitchFamily="2" charset="-122"/>
                <a:sym typeface="+mn-lt"/>
              </a:rPr>
              <a:t>支持单机或双机）。</a:t>
            </a:r>
          </a:p>
        </p:txBody>
      </p:sp>
      <p:sp>
        <p:nvSpPr>
          <p:cNvPr id="25" name="矩形 24"/>
          <p:cNvSpPr/>
          <p:nvPr/>
        </p:nvSpPr>
        <p:spPr bwMode="gray">
          <a:xfrm>
            <a:off x="6112832" y="4521442"/>
            <a:ext cx="5353490" cy="1246495"/>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使用</a:t>
            </a:r>
            <a:r>
              <a:rPr lang="en-US" altLang="zh-CN" sz="1400" dirty="0">
                <a:solidFill>
                  <a:prstClr val="black"/>
                </a:solidFill>
                <a:latin typeface="Huawei Sans" panose="020C0503030203020204" pitchFamily="34" charset="0"/>
                <a:ea typeface="方正兰亭黑简体" panose="02000000000000000000" pitchFamily="2" charset="-122"/>
                <a:sym typeface="+mn-lt"/>
              </a:rPr>
              <a:t>EVPN</a:t>
            </a:r>
            <a:r>
              <a:rPr lang="zh-CN" altLang="en-US" sz="1400" dirty="0">
                <a:solidFill>
                  <a:prstClr val="black"/>
                </a:solidFill>
                <a:latin typeface="Huawei Sans" panose="020C0503030203020204" pitchFamily="34" charset="0"/>
                <a:ea typeface="方正兰亭黑简体" panose="02000000000000000000" pitchFamily="2" charset="-122"/>
                <a:sym typeface="+mn-lt"/>
              </a:rPr>
              <a:t>可以按需在站点间建立隧道，动态发布路由。转发面支持</a:t>
            </a:r>
            <a:r>
              <a:rPr lang="en-US" altLang="zh-CN" sz="1400" dirty="0">
                <a:solidFill>
                  <a:prstClr val="black"/>
                </a:solidFill>
                <a:latin typeface="Huawei Sans" panose="020C0503030203020204" pitchFamily="34" charset="0"/>
                <a:ea typeface="方正兰亭黑简体" panose="02000000000000000000" pitchFamily="2" charset="-122"/>
                <a:sym typeface="+mn-lt"/>
              </a:rPr>
              <a:t>GRE</a:t>
            </a:r>
            <a:r>
              <a:rPr lang="zh-CN" altLang="en-US" sz="1400" dirty="0">
                <a:solidFill>
                  <a:prstClr val="black"/>
                </a:solidFill>
                <a:latin typeface="Huawei Sans" panose="020C0503030203020204" pitchFamily="34" charset="0"/>
                <a:ea typeface="方正兰亭黑简体" panose="02000000000000000000" pitchFamily="2" charset="-122"/>
                <a:sym typeface="+mn-lt"/>
              </a:rPr>
              <a:t>或</a:t>
            </a:r>
            <a:r>
              <a:rPr lang="en-US" altLang="zh-CN" sz="1400" dirty="0">
                <a:solidFill>
                  <a:prstClr val="black"/>
                </a:solidFill>
                <a:latin typeface="Huawei Sans" panose="020C0503030203020204" pitchFamily="34" charset="0"/>
                <a:ea typeface="方正兰亭黑简体" panose="02000000000000000000" pitchFamily="2" charset="-122"/>
                <a:sym typeface="+mn-lt"/>
              </a:rPr>
              <a:t>GRE Over IPsec</a:t>
            </a:r>
            <a:r>
              <a:rPr lang="zh-CN" altLang="en-US" sz="1400" dirty="0">
                <a:solidFill>
                  <a:prstClr val="black"/>
                </a:solidFill>
                <a:latin typeface="Huawei Sans" panose="020C0503030203020204" pitchFamily="34" charset="0"/>
                <a:ea typeface="方正兰亭黑简体" panose="02000000000000000000" pitchFamily="2" charset="-122"/>
                <a:sym typeface="+mn-lt"/>
              </a:rPr>
              <a:t>。可基于应用、策略选择质优链路发送数据，实现基于应用、策略的智能选路。</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80000" indent="-180000" defTabSz="1219304">
              <a:lnSpc>
                <a:spcPct val="125000"/>
              </a:lnSpc>
              <a:spcBef>
                <a:spcPct val="0"/>
              </a:spcBef>
              <a:spcAft>
                <a:spcPts val="600"/>
              </a:spcAft>
              <a:buSzPct val="100000"/>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出口设备必须为</a:t>
            </a:r>
            <a:r>
              <a:rPr lang="en-US" altLang="zh-CN" sz="1400" dirty="0">
                <a:solidFill>
                  <a:prstClr val="black"/>
                </a:solidFill>
                <a:latin typeface="Huawei Sans" panose="020C0503030203020204" pitchFamily="34" charset="0"/>
                <a:ea typeface="方正兰亭黑简体" panose="02000000000000000000" pitchFamily="2" charset="-122"/>
                <a:sym typeface="+mn-lt"/>
              </a:rPr>
              <a:t>AR</a:t>
            </a:r>
            <a:r>
              <a:rPr lang="zh-CN" altLang="en-US" sz="1400" dirty="0">
                <a:solidFill>
                  <a:prstClr val="black"/>
                </a:solidFill>
                <a:latin typeface="Huawei Sans" panose="020C0503030203020204" pitchFamily="34" charset="0"/>
                <a:ea typeface="方正兰亭黑简体" panose="02000000000000000000" pitchFamily="2" charset="-122"/>
                <a:sym typeface="+mn-lt"/>
              </a:rPr>
              <a:t>（支持单机或双机</a:t>
            </a:r>
            <a:r>
              <a:rPr lang="zh-CN" altLang="en-US" sz="1400" dirty="0" smtClean="0">
                <a:solidFill>
                  <a:prstClr val="black"/>
                </a:solidFill>
                <a:latin typeface="Huawei Sans" panose="020C0503030203020204" pitchFamily="34" charset="0"/>
                <a:ea typeface="方正兰亭黑简体" panose="02000000000000000000" pitchFamily="2" charset="-122"/>
                <a:sym typeface="+mn-lt"/>
              </a:rPr>
              <a:t>）。</a:t>
            </a:r>
            <a:endParaRPr lang="zh-CN" altLang="en-US" sz="1400" dirty="0">
              <a:solidFill>
                <a:prstClr val="black"/>
              </a:solidFill>
              <a:latin typeface="Huawei Sans" panose="020C0503030203020204" pitchFamily="34" charset="0"/>
              <a:ea typeface="方正兰亭黑简体" panose="02000000000000000000" pitchFamily="2" charset="-122"/>
              <a:sym typeface="+mn-lt"/>
            </a:endParaRPr>
          </a:p>
        </p:txBody>
      </p:sp>
      <p:grpSp>
        <p:nvGrpSpPr>
          <p:cNvPr id="38" name="Group 165"/>
          <p:cNvGrpSpPr/>
          <p:nvPr/>
        </p:nvGrpSpPr>
        <p:grpSpPr bwMode="gray">
          <a:xfrm rot="10800000">
            <a:off x="1700784" y="2176041"/>
            <a:ext cx="3299450" cy="984492"/>
            <a:chOff x="-1233037" y="914446"/>
            <a:chExt cx="1573823" cy="778776"/>
          </a:xfrm>
        </p:grpSpPr>
        <p:cxnSp>
          <p:nvCxnSpPr>
            <p:cNvPr id="39" name="Straight Connector 166"/>
            <p:cNvCxnSpPr/>
            <p:nvPr/>
          </p:nvCxnSpPr>
          <p:spPr bwMode="gray">
            <a:xfrm flipH="1" flipV="1">
              <a:off x="-1233037" y="914446"/>
              <a:ext cx="786912" cy="778776"/>
            </a:xfrm>
            <a:prstGeom prst="line">
              <a:avLst/>
            </a:prstGeom>
            <a:ln w="19050">
              <a:solidFill>
                <a:schemeClr val="bg1">
                  <a:lumMod val="8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167"/>
            <p:cNvCxnSpPr/>
            <p:nvPr/>
          </p:nvCxnSpPr>
          <p:spPr bwMode="gray">
            <a:xfrm flipV="1">
              <a:off x="-446125" y="914446"/>
              <a:ext cx="786911" cy="778776"/>
            </a:xfrm>
            <a:prstGeom prst="line">
              <a:avLst/>
            </a:prstGeom>
            <a:ln w="19050">
              <a:solidFill>
                <a:schemeClr val="bg1">
                  <a:lumMod val="8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44" name="任意多边形 43"/>
          <p:cNvSpPr/>
          <p:nvPr/>
        </p:nvSpPr>
        <p:spPr bwMode="gray">
          <a:xfrm>
            <a:off x="8393877" y="3387103"/>
            <a:ext cx="1314930" cy="87920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endParaRPr lang="zh-CN" altLang="en-US" sz="1200">
              <a:solidFill>
                <a:schemeClr val="bg1">
                  <a:lumMod val="50000"/>
                </a:schemeClr>
              </a:solidFill>
              <a:cs typeface="+mn-ea"/>
              <a:sym typeface="+mn-lt"/>
            </a:endParaRPr>
          </a:p>
        </p:txBody>
      </p:sp>
      <p:pic>
        <p:nvPicPr>
          <p:cNvPr id="4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7069572" y="3363942"/>
            <a:ext cx="446281" cy="365138"/>
          </a:xfrm>
          <a:prstGeom prst="rect">
            <a:avLst/>
          </a:prstGeom>
          <a:noFill/>
        </p:spPr>
      </p:pic>
      <p:pic>
        <p:nvPicPr>
          <p:cNvPr id="46" name="图片 4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360148" y="3363942"/>
            <a:ext cx="446281" cy="365139"/>
          </a:xfrm>
          <a:prstGeom prst="rect">
            <a:avLst/>
          </a:prstGeom>
        </p:spPr>
      </p:pic>
      <p:sp>
        <p:nvSpPr>
          <p:cNvPr id="47" name="Freeform 186"/>
          <p:cNvSpPr>
            <a:spLocks noEditPoints="1"/>
          </p:cNvSpPr>
          <p:nvPr/>
        </p:nvSpPr>
        <p:spPr bwMode="gray">
          <a:xfrm>
            <a:off x="6440364" y="3266317"/>
            <a:ext cx="558800" cy="560388"/>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cs typeface="+mn-ea"/>
              <a:sym typeface="+mn-lt"/>
            </a:endParaRPr>
          </a:p>
        </p:txBody>
      </p:sp>
      <p:grpSp>
        <p:nvGrpSpPr>
          <p:cNvPr id="48" name="组合 262"/>
          <p:cNvGrpSpPr/>
          <p:nvPr/>
        </p:nvGrpSpPr>
        <p:grpSpPr bwMode="gray">
          <a:xfrm>
            <a:off x="10940829" y="3306260"/>
            <a:ext cx="394083" cy="480502"/>
            <a:chOff x="6378575" y="2882900"/>
            <a:chExt cx="858950" cy="865188"/>
          </a:xfrm>
          <a:solidFill>
            <a:schemeClr val="bg1">
              <a:lumMod val="50000"/>
            </a:schemeClr>
          </a:solidFill>
        </p:grpSpPr>
        <p:sp>
          <p:nvSpPr>
            <p:cNvPr id="49"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a:solidFill>
                  <a:srgbClr val="000000"/>
                </a:solidFill>
                <a:cs typeface="+mn-ea"/>
                <a:sym typeface="+mn-lt"/>
              </a:endParaRPr>
            </a:p>
          </p:txBody>
        </p:sp>
        <p:sp>
          <p:nvSpPr>
            <p:cNvPr id="50"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a:solidFill>
                  <a:srgbClr val="000000"/>
                </a:solidFill>
                <a:cs typeface="+mn-ea"/>
                <a:sym typeface="+mn-lt"/>
              </a:endParaRPr>
            </a:p>
          </p:txBody>
        </p:sp>
        <p:sp>
          <p:nvSpPr>
            <p:cNvPr id="51"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a:solidFill>
                  <a:srgbClr val="000000"/>
                </a:solidFill>
                <a:cs typeface="+mn-ea"/>
                <a:sym typeface="+mn-lt"/>
              </a:endParaRPr>
            </a:p>
          </p:txBody>
        </p:sp>
        <p:sp>
          <p:nvSpPr>
            <p:cNvPr id="52"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a:solidFill>
                  <a:srgbClr val="000000"/>
                </a:solidFill>
                <a:cs typeface="+mn-ea"/>
                <a:sym typeface="+mn-lt"/>
              </a:endParaRPr>
            </a:p>
          </p:txBody>
        </p:sp>
      </p:grpSp>
      <p:sp>
        <p:nvSpPr>
          <p:cNvPr id="56" name="矩形 55"/>
          <p:cNvSpPr/>
          <p:nvPr/>
        </p:nvSpPr>
        <p:spPr bwMode="gray">
          <a:xfrm>
            <a:off x="8680888" y="3589598"/>
            <a:ext cx="740908" cy="276999"/>
          </a:xfrm>
          <a:prstGeom prst="rect">
            <a:avLst/>
          </a:prstGeom>
        </p:spPr>
        <p:txBody>
          <a:bodyPr wrap="none">
            <a:spAutoFit/>
          </a:bodyPr>
          <a:lstStyle/>
          <a:p>
            <a:pPr lvl="0" algn="ctr"/>
            <a:r>
              <a:rPr lang="en-US" altLang="zh-CN" sz="1200" dirty="0">
                <a:solidFill>
                  <a:schemeClr val="bg1">
                    <a:lumMod val="50000"/>
                  </a:schemeClr>
                </a:solidFill>
                <a:cs typeface="+mn-ea"/>
                <a:sym typeface="+mn-lt"/>
              </a:rPr>
              <a:t>Internet</a:t>
            </a:r>
            <a:endParaRPr lang="zh-CN" altLang="en-US" sz="1200" dirty="0">
              <a:solidFill>
                <a:schemeClr val="bg1">
                  <a:lumMod val="50000"/>
                </a:schemeClr>
              </a:solidFill>
              <a:cs typeface="+mn-ea"/>
              <a:sym typeface="+mn-lt"/>
            </a:endParaRPr>
          </a:p>
        </p:txBody>
      </p:sp>
      <p:sp>
        <p:nvSpPr>
          <p:cNvPr id="57" name="矩形 56"/>
          <p:cNvSpPr/>
          <p:nvPr/>
        </p:nvSpPr>
        <p:spPr bwMode="gray">
          <a:xfrm>
            <a:off x="6763222" y="3932489"/>
            <a:ext cx="543739" cy="307777"/>
          </a:xfrm>
          <a:prstGeom prst="rect">
            <a:avLst/>
          </a:prstGeom>
        </p:spPr>
        <p:txBody>
          <a:bodyPr wrap="none">
            <a:spAutoFit/>
          </a:bodyPr>
          <a:lstStyle/>
          <a:p>
            <a:pPr lvl="0" algn="ctr"/>
            <a:r>
              <a:rPr lang="zh-CN" altLang="en-US" sz="1400" smtClean="0">
                <a:cs typeface="+mn-ea"/>
                <a:sym typeface="+mn-lt"/>
              </a:rPr>
              <a:t>分支</a:t>
            </a:r>
            <a:endParaRPr lang="zh-CN" altLang="en-US" sz="1400">
              <a:cs typeface="+mn-ea"/>
              <a:sym typeface="+mn-lt"/>
            </a:endParaRPr>
          </a:p>
        </p:txBody>
      </p:sp>
      <p:sp>
        <p:nvSpPr>
          <p:cNvPr id="58" name="矩形 57"/>
          <p:cNvSpPr/>
          <p:nvPr/>
        </p:nvSpPr>
        <p:spPr bwMode="gray">
          <a:xfrm>
            <a:off x="10668958" y="3932489"/>
            <a:ext cx="543740" cy="307777"/>
          </a:xfrm>
          <a:prstGeom prst="rect">
            <a:avLst/>
          </a:prstGeom>
        </p:spPr>
        <p:txBody>
          <a:bodyPr wrap="none">
            <a:spAutoFit/>
          </a:bodyPr>
          <a:lstStyle/>
          <a:p>
            <a:pPr lvl="0" algn="ctr"/>
            <a:r>
              <a:rPr lang="zh-CN" altLang="en-US" sz="1400" smtClean="0">
                <a:cs typeface="+mn-ea"/>
                <a:sym typeface="+mn-lt"/>
              </a:rPr>
              <a:t>总部</a:t>
            </a:r>
            <a:endParaRPr lang="zh-CN" altLang="en-US" sz="1400">
              <a:cs typeface="+mn-ea"/>
              <a:sym typeface="+mn-lt"/>
            </a:endParaRPr>
          </a:p>
        </p:txBody>
      </p:sp>
      <p:grpSp>
        <p:nvGrpSpPr>
          <p:cNvPr id="59" name="Group 165"/>
          <p:cNvGrpSpPr/>
          <p:nvPr/>
        </p:nvGrpSpPr>
        <p:grpSpPr bwMode="gray">
          <a:xfrm rot="10800000">
            <a:off x="7325054" y="2176041"/>
            <a:ext cx="3299450" cy="984492"/>
            <a:chOff x="-1233037" y="914446"/>
            <a:chExt cx="1573823" cy="778776"/>
          </a:xfrm>
        </p:grpSpPr>
        <p:cxnSp>
          <p:nvCxnSpPr>
            <p:cNvPr id="60" name="Straight Connector 166"/>
            <p:cNvCxnSpPr/>
            <p:nvPr/>
          </p:nvCxnSpPr>
          <p:spPr bwMode="gray">
            <a:xfrm flipH="1" flipV="1">
              <a:off x="-1233037" y="914446"/>
              <a:ext cx="786912" cy="778776"/>
            </a:xfrm>
            <a:prstGeom prst="line">
              <a:avLst/>
            </a:prstGeom>
            <a:ln w="19050">
              <a:solidFill>
                <a:schemeClr val="bg1">
                  <a:lumMod val="8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Straight Connector 167"/>
            <p:cNvCxnSpPr/>
            <p:nvPr/>
          </p:nvCxnSpPr>
          <p:spPr bwMode="gray">
            <a:xfrm flipV="1">
              <a:off x="-446125" y="914446"/>
              <a:ext cx="786911" cy="778776"/>
            </a:xfrm>
            <a:prstGeom prst="line">
              <a:avLst/>
            </a:prstGeom>
            <a:ln w="19050">
              <a:solidFill>
                <a:schemeClr val="bg1">
                  <a:lumMod val="8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62" name="任意多边形 61"/>
          <p:cNvSpPr/>
          <p:nvPr/>
        </p:nvSpPr>
        <p:spPr bwMode="gray">
          <a:xfrm>
            <a:off x="8393877" y="2342782"/>
            <a:ext cx="1314930" cy="87920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endParaRPr lang="zh-CN" altLang="en-US" sz="1200">
              <a:solidFill>
                <a:schemeClr val="bg1">
                  <a:lumMod val="50000"/>
                </a:schemeClr>
              </a:solidFill>
              <a:cs typeface="+mn-ea"/>
              <a:sym typeface="+mn-lt"/>
            </a:endParaRPr>
          </a:p>
        </p:txBody>
      </p:sp>
      <p:sp>
        <p:nvSpPr>
          <p:cNvPr id="63" name="矩形 62"/>
          <p:cNvSpPr/>
          <p:nvPr/>
        </p:nvSpPr>
        <p:spPr bwMode="gray">
          <a:xfrm>
            <a:off x="8763442" y="2928264"/>
            <a:ext cx="575799" cy="276999"/>
          </a:xfrm>
          <a:prstGeom prst="rect">
            <a:avLst/>
          </a:prstGeom>
        </p:spPr>
        <p:txBody>
          <a:bodyPr wrap="none">
            <a:spAutoFit/>
          </a:bodyPr>
          <a:lstStyle/>
          <a:p>
            <a:pPr lvl="0" algn="ctr"/>
            <a:r>
              <a:rPr lang="en-US" altLang="zh-CN" sz="1200" smtClean="0">
                <a:solidFill>
                  <a:schemeClr val="bg1">
                    <a:lumMod val="50000"/>
                  </a:schemeClr>
                </a:solidFill>
                <a:cs typeface="+mn-ea"/>
                <a:sym typeface="+mn-lt"/>
              </a:rPr>
              <a:t>MPLS</a:t>
            </a:r>
            <a:endParaRPr lang="zh-CN" altLang="en-US" sz="1200">
              <a:solidFill>
                <a:schemeClr val="bg1">
                  <a:lumMod val="50000"/>
                </a:schemeClr>
              </a:solidFill>
              <a:cs typeface="+mn-ea"/>
              <a:sym typeface="+mn-lt"/>
            </a:endParaRPr>
          </a:p>
        </p:txBody>
      </p:sp>
      <p:sp>
        <p:nvSpPr>
          <p:cNvPr id="67" name="任意多边形 66"/>
          <p:cNvSpPr/>
          <p:nvPr/>
        </p:nvSpPr>
        <p:spPr bwMode="gray">
          <a:xfrm>
            <a:off x="7636102" y="3623912"/>
            <a:ext cx="2629055" cy="385289"/>
          </a:xfrm>
          <a:custGeom>
            <a:avLst/>
            <a:gdLst>
              <a:gd name="connsiteX0" fmla="*/ 0 w 2569464"/>
              <a:gd name="connsiteY0" fmla="*/ 0 h 18288"/>
              <a:gd name="connsiteX1" fmla="*/ 2569464 w 2569464"/>
              <a:gd name="connsiteY1" fmla="*/ 18288 h 18288"/>
              <a:gd name="connsiteX0" fmla="*/ 0 w 3147961"/>
              <a:gd name="connsiteY0" fmla="*/ 0 h 204900"/>
              <a:gd name="connsiteX1" fmla="*/ 3147961 w 3147961"/>
              <a:gd name="connsiteY1" fmla="*/ 204900 h 204900"/>
              <a:gd name="connsiteX0" fmla="*/ 0 w 2662769"/>
              <a:gd name="connsiteY0" fmla="*/ 0 h 55611"/>
              <a:gd name="connsiteX1" fmla="*/ 2662769 w 2662769"/>
              <a:gd name="connsiteY1" fmla="*/ 55611 h 55611"/>
              <a:gd name="connsiteX0" fmla="*/ 0 w 2662769"/>
              <a:gd name="connsiteY0" fmla="*/ 0 h 131568"/>
              <a:gd name="connsiteX1" fmla="*/ 2662769 w 2662769"/>
              <a:gd name="connsiteY1" fmla="*/ 55611 h 131568"/>
              <a:gd name="connsiteX0" fmla="*/ 0 w 2662769"/>
              <a:gd name="connsiteY0" fmla="*/ 0 h 271740"/>
              <a:gd name="connsiteX1" fmla="*/ 2662769 w 2662769"/>
              <a:gd name="connsiteY1" fmla="*/ 55611 h 271740"/>
              <a:gd name="connsiteX0" fmla="*/ 0 w 2662769"/>
              <a:gd name="connsiteY0" fmla="*/ 0 h 275687"/>
              <a:gd name="connsiteX1" fmla="*/ 2662769 w 2662769"/>
              <a:gd name="connsiteY1" fmla="*/ 55611 h 275687"/>
              <a:gd name="connsiteX0" fmla="*/ 0 w 2653439"/>
              <a:gd name="connsiteY0" fmla="*/ 0 h 318062"/>
              <a:gd name="connsiteX1" fmla="*/ 2653439 w 2653439"/>
              <a:gd name="connsiteY1" fmla="*/ 120925 h 318062"/>
              <a:gd name="connsiteX0" fmla="*/ 0 w 2653439"/>
              <a:gd name="connsiteY0" fmla="*/ 0 h 359356"/>
              <a:gd name="connsiteX1" fmla="*/ 2653439 w 2653439"/>
              <a:gd name="connsiteY1" fmla="*/ 120925 h 359356"/>
              <a:gd name="connsiteX0" fmla="*/ 0 w 2653439"/>
              <a:gd name="connsiteY0" fmla="*/ 0 h 374695"/>
              <a:gd name="connsiteX1" fmla="*/ 2653439 w 2653439"/>
              <a:gd name="connsiteY1" fmla="*/ 120925 h 374695"/>
              <a:gd name="connsiteX0" fmla="*/ 0 w 2629055"/>
              <a:gd name="connsiteY0" fmla="*/ 0 h 385289"/>
              <a:gd name="connsiteX1" fmla="*/ 2629055 w 2629055"/>
              <a:gd name="connsiteY1" fmla="*/ 139213 h 385289"/>
            </a:gdLst>
            <a:ahLst/>
            <a:cxnLst>
              <a:cxn ang="0">
                <a:pos x="connsiteX0" y="connsiteY0"/>
              </a:cxn>
              <a:cxn ang="0">
                <a:pos x="connsiteX1" y="connsiteY1"/>
              </a:cxn>
            </a:cxnLst>
            <a:rect l="l" t="t" r="r" b="b"/>
            <a:pathLst>
              <a:path w="2629055" h="385289">
                <a:moveTo>
                  <a:pt x="0" y="0"/>
                </a:moveTo>
                <a:cubicBezTo>
                  <a:pt x="1092863" y="457076"/>
                  <a:pt x="1825441" y="512562"/>
                  <a:pt x="2629055" y="139213"/>
                </a:cubicBezTo>
              </a:path>
            </a:pathLst>
          </a:custGeom>
          <a:noFill/>
          <a:ln w="168275" cap="rnd">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8" name="任意多边形 67"/>
          <p:cNvSpPr/>
          <p:nvPr/>
        </p:nvSpPr>
        <p:spPr bwMode="gray">
          <a:xfrm flipH="1" flipV="1">
            <a:off x="7606602" y="2764278"/>
            <a:ext cx="2616863" cy="684113"/>
          </a:xfrm>
          <a:custGeom>
            <a:avLst/>
            <a:gdLst>
              <a:gd name="connsiteX0" fmla="*/ 0 w 2569464"/>
              <a:gd name="connsiteY0" fmla="*/ 0 h 18288"/>
              <a:gd name="connsiteX1" fmla="*/ 2569464 w 2569464"/>
              <a:gd name="connsiteY1" fmla="*/ 18288 h 18288"/>
              <a:gd name="connsiteX0" fmla="*/ 0 w 3147961"/>
              <a:gd name="connsiteY0" fmla="*/ 0 h 204900"/>
              <a:gd name="connsiteX1" fmla="*/ 3147961 w 3147961"/>
              <a:gd name="connsiteY1" fmla="*/ 204900 h 204900"/>
              <a:gd name="connsiteX0" fmla="*/ 0 w 2662769"/>
              <a:gd name="connsiteY0" fmla="*/ 0 h 55611"/>
              <a:gd name="connsiteX1" fmla="*/ 2662769 w 2662769"/>
              <a:gd name="connsiteY1" fmla="*/ 55611 h 55611"/>
              <a:gd name="connsiteX0" fmla="*/ 0 w 2662769"/>
              <a:gd name="connsiteY0" fmla="*/ 0 h 131568"/>
              <a:gd name="connsiteX1" fmla="*/ 2662769 w 2662769"/>
              <a:gd name="connsiteY1" fmla="*/ 55611 h 131568"/>
              <a:gd name="connsiteX0" fmla="*/ 0 w 2662769"/>
              <a:gd name="connsiteY0" fmla="*/ 0 h 271740"/>
              <a:gd name="connsiteX1" fmla="*/ 2662769 w 2662769"/>
              <a:gd name="connsiteY1" fmla="*/ 55611 h 271740"/>
              <a:gd name="connsiteX0" fmla="*/ 0 w 2662769"/>
              <a:gd name="connsiteY0" fmla="*/ 0 h 275687"/>
              <a:gd name="connsiteX1" fmla="*/ 2662769 w 2662769"/>
              <a:gd name="connsiteY1" fmla="*/ 55611 h 275687"/>
              <a:gd name="connsiteX0" fmla="*/ 0 w 2653439"/>
              <a:gd name="connsiteY0" fmla="*/ 0 h 318062"/>
              <a:gd name="connsiteX1" fmla="*/ 2653439 w 2653439"/>
              <a:gd name="connsiteY1" fmla="*/ 120925 h 318062"/>
              <a:gd name="connsiteX0" fmla="*/ 0 w 2653439"/>
              <a:gd name="connsiteY0" fmla="*/ 0 h 359356"/>
              <a:gd name="connsiteX1" fmla="*/ 2653439 w 2653439"/>
              <a:gd name="connsiteY1" fmla="*/ 120925 h 359356"/>
              <a:gd name="connsiteX0" fmla="*/ 0 w 2653439"/>
              <a:gd name="connsiteY0" fmla="*/ 0 h 374695"/>
              <a:gd name="connsiteX1" fmla="*/ 2653439 w 2653439"/>
              <a:gd name="connsiteY1" fmla="*/ 120925 h 374695"/>
              <a:gd name="connsiteX0" fmla="*/ 0 w 2653439"/>
              <a:gd name="connsiteY0" fmla="*/ 0 h 629920"/>
              <a:gd name="connsiteX1" fmla="*/ 2653439 w 2653439"/>
              <a:gd name="connsiteY1" fmla="*/ 120925 h 629920"/>
              <a:gd name="connsiteX0" fmla="*/ 0 w 2653439"/>
              <a:gd name="connsiteY0" fmla="*/ 0 h 704017"/>
              <a:gd name="connsiteX1" fmla="*/ 2653439 w 2653439"/>
              <a:gd name="connsiteY1" fmla="*/ 120925 h 704017"/>
              <a:gd name="connsiteX0" fmla="*/ 0 w 2653439"/>
              <a:gd name="connsiteY0" fmla="*/ 0 h 695273"/>
              <a:gd name="connsiteX1" fmla="*/ 2653439 w 2653439"/>
              <a:gd name="connsiteY1" fmla="*/ 120925 h 695273"/>
              <a:gd name="connsiteX0" fmla="*/ 0 w 2616863"/>
              <a:gd name="connsiteY0" fmla="*/ 0 h 684113"/>
              <a:gd name="connsiteX1" fmla="*/ 2616863 w 2616863"/>
              <a:gd name="connsiteY1" fmla="*/ 102637 h 684113"/>
            </a:gdLst>
            <a:ahLst/>
            <a:cxnLst>
              <a:cxn ang="0">
                <a:pos x="connsiteX0" y="connsiteY0"/>
              </a:cxn>
              <a:cxn ang="0">
                <a:pos x="connsiteX1" y="connsiteY1"/>
              </a:cxn>
            </a:cxnLst>
            <a:rect l="l" t="t" r="r" b="b"/>
            <a:pathLst>
              <a:path w="2616863" h="684113">
                <a:moveTo>
                  <a:pt x="0" y="0"/>
                </a:moveTo>
                <a:cubicBezTo>
                  <a:pt x="719638" y="681011"/>
                  <a:pt x="1421364" y="1073145"/>
                  <a:pt x="2616863" y="102637"/>
                </a:cubicBezTo>
              </a:path>
            </a:pathLst>
          </a:custGeom>
          <a:noFill/>
          <a:ln w="168275" cap="rnd">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9" name="椭圆 68"/>
          <p:cNvSpPr>
            <a:spLocks noChangeAspect="1"/>
          </p:cNvSpPr>
          <p:nvPr/>
        </p:nvSpPr>
        <p:spPr bwMode="gray">
          <a:xfrm>
            <a:off x="7579920" y="3569328"/>
            <a:ext cx="113716" cy="113716"/>
          </a:xfrm>
          <a:prstGeom prst="ellipse">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0" name="椭圆 69"/>
          <p:cNvSpPr>
            <a:spLocks noChangeAspect="1"/>
          </p:cNvSpPr>
          <p:nvPr/>
        </p:nvSpPr>
        <p:spPr bwMode="gray">
          <a:xfrm>
            <a:off x="7562502" y="3291588"/>
            <a:ext cx="113716" cy="113716"/>
          </a:xfrm>
          <a:prstGeom prst="ellipse">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p:cNvSpPr/>
          <p:nvPr/>
        </p:nvSpPr>
        <p:spPr bwMode="gray">
          <a:xfrm>
            <a:off x="728409" y="1892041"/>
            <a:ext cx="1208984" cy="276999"/>
          </a:xfrm>
          <a:prstGeom prst="rect">
            <a:avLst/>
          </a:prstGeom>
        </p:spPr>
        <p:txBody>
          <a:bodyPr wrap="none">
            <a:spAutoFit/>
          </a:bodyPr>
          <a:lstStyle/>
          <a:p>
            <a:pPr lvl="0" algn="ctr"/>
            <a:r>
              <a:rPr lang="en-US" altLang="zh-CN" sz="1200" dirty="0" smtClean="0">
                <a:cs typeface="+mn-ea"/>
                <a:sym typeface="+mn-lt"/>
              </a:rPr>
              <a:t>IPsec VPN</a:t>
            </a:r>
            <a:r>
              <a:rPr lang="zh-CN" altLang="en-US" sz="1200" dirty="0" smtClean="0">
                <a:cs typeface="+mn-ea"/>
                <a:sym typeface="+mn-lt"/>
              </a:rPr>
              <a:t>隧道</a:t>
            </a:r>
            <a:endParaRPr lang="zh-CN" altLang="en-US" sz="1200" dirty="0">
              <a:cs typeface="+mn-ea"/>
              <a:sym typeface="+mn-lt"/>
            </a:endParaRPr>
          </a:p>
        </p:txBody>
      </p:sp>
      <p:sp>
        <p:nvSpPr>
          <p:cNvPr id="66" name="矩形 65"/>
          <p:cNvSpPr/>
          <p:nvPr/>
        </p:nvSpPr>
        <p:spPr bwMode="gray">
          <a:xfrm>
            <a:off x="6257376" y="1861210"/>
            <a:ext cx="1258477" cy="461665"/>
          </a:xfrm>
          <a:prstGeom prst="rect">
            <a:avLst/>
          </a:prstGeom>
        </p:spPr>
        <p:txBody>
          <a:bodyPr wrap="square">
            <a:spAutoFit/>
          </a:bodyPr>
          <a:lstStyle/>
          <a:p>
            <a:pPr lvl="0" algn="ctr"/>
            <a:r>
              <a:rPr lang="en-US" altLang="zh-CN" sz="1200" dirty="0">
                <a:cs typeface="+mn-ea"/>
                <a:sym typeface="+mn-lt"/>
              </a:rPr>
              <a:t>GRE</a:t>
            </a:r>
            <a:r>
              <a:rPr lang="zh-CN" altLang="en-US" sz="1200" dirty="0">
                <a:cs typeface="+mn-ea"/>
                <a:sym typeface="+mn-lt"/>
              </a:rPr>
              <a:t>或</a:t>
            </a:r>
            <a:r>
              <a:rPr lang="en-US" altLang="zh-CN" sz="1200" dirty="0">
                <a:cs typeface="+mn-ea"/>
                <a:sym typeface="+mn-lt"/>
              </a:rPr>
              <a:t>GRE Over </a:t>
            </a:r>
            <a:r>
              <a:rPr lang="en-US" altLang="zh-CN" sz="1200" dirty="0" smtClean="0">
                <a:cs typeface="+mn-ea"/>
                <a:sym typeface="+mn-lt"/>
              </a:rPr>
              <a:t>IPsec</a:t>
            </a:r>
            <a:r>
              <a:rPr lang="zh-CN" altLang="en-US" sz="1200" dirty="0" smtClean="0">
                <a:cs typeface="+mn-ea"/>
                <a:sym typeface="+mn-lt"/>
              </a:rPr>
              <a:t>隧道</a:t>
            </a:r>
            <a:endParaRPr lang="zh-CN" altLang="en-US" sz="1200" dirty="0">
              <a:cs typeface="+mn-ea"/>
              <a:sym typeface="+mn-lt"/>
            </a:endParaRPr>
          </a:p>
        </p:txBody>
      </p:sp>
      <p:pic>
        <p:nvPicPr>
          <p:cNvPr id="74" name="图片 7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894304" y="1628094"/>
            <a:ext cx="951607" cy="540946"/>
          </a:xfrm>
          <a:prstGeom prst="rect">
            <a:avLst/>
          </a:prstGeom>
        </p:spPr>
      </p:pic>
      <p:pic>
        <p:nvPicPr>
          <p:cNvPr id="75" name="图片 7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500006" y="1628094"/>
            <a:ext cx="951607" cy="540946"/>
          </a:xfrm>
          <a:prstGeom prst="rect">
            <a:avLst/>
          </a:prstGeom>
        </p:spPr>
      </p:pic>
      <p:sp>
        <p:nvSpPr>
          <p:cNvPr id="72" name="椭圆 71"/>
          <p:cNvSpPr>
            <a:spLocks noChangeAspect="1"/>
          </p:cNvSpPr>
          <p:nvPr/>
        </p:nvSpPr>
        <p:spPr bwMode="gray">
          <a:xfrm>
            <a:off x="1954603" y="3479112"/>
            <a:ext cx="134798" cy="134798"/>
          </a:xfrm>
          <a:prstGeom prst="ellipse">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73" name="直接连接符 72"/>
          <p:cNvCxnSpPr/>
          <p:nvPr/>
        </p:nvCxnSpPr>
        <p:spPr bwMode="gray">
          <a:xfrm>
            <a:off x="1024976" y="1801511"/>
            <a:ext cx="518995" cy="0"/>
          </a:xfrm>
          <a:prstGeom prst="line">
            <a:avLst/>
          </a:prstGeom>
          <a:noFill/>
          <a:ln w="168275" cap="rnd">
            <a:solidFill>
              <a:srgbClr val="BEE9EE"/>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直接连接符 75"/>
          <p:cNvCxnSpPr/>
          <p:nvPr/>
        </p:nvCxnSpPr>
        <p:spPr bwMode="gray">
          <a:xfrm>
            <a:off x="6626317" y="1801511"/>
            <a:ext cx="518995" cy="0"/>
          </a:xfrm>
          <a:prstGeom prst="line">
            <a:avLst/>
          </a:prstGeom>
          <a:noFill/>
          <a:ln w="168275" cap="rnd">
            <a:solidFill>
              <a:srgbClr val="BEE9EE"/>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1466745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161"/>
          <p:cNvGrpSpPr/>
          <p:nvPr/>
        </p:nvGrpSpPr>
        <p:grpSpPr bwMode="gray">
          <a:xfrm rot="5400000" flipH="1" flipV="1">
            <a:off x="2367861" y="5129919"/>
            <a:ext cx="968228" cy="732286"/>
            <a:chOff x="-1233037" y="914446"/>
            <a:chExt cx="1573823" cy="778776"/>
          </a:xfrm>
        </p:grpSpPr>
        <p:cxnSp>
          <p:nvCxnSpPr>
            <p:cNvPr id="72"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 name="Group 161"/>
          <p:cNvGrpSpPr/>
          <p:nvPr/>
        </p:nvGrpSpPr>
        <p:grpSpPr bwMode="gray">
          <a:xfrm rot="16200000" flipV="1">
            <a:off x="3121929" y="5129919"/>
            <a:ext cx="968228" cy="732286"/>
            <a:chOff x="-1233037" y="914446"/>
            <a:chExt cx="1573823" cy="778776"/>
          </a:xfrm>
        </p:grpSpPr>
        <p:cxnSp>
          <p:nvCxnSpPr>
            <p:cNvPr id="59"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161"/>
          <p:cNvGrpSpPr/>
          <p:nvPr/>
        </p:nvGrpSpPr>
        <p:grpSpPr bwMode="gray">
          <a:xfrm rot="10800000" flipV="1">
            <a:off x="3748238" y="4022459"/>
            <a:ext cx="843916" cy="447707"/>
            <a:chOff x="-1233037" y="914446"/>
            <a:chExt cx="1573823" cy="778776"/>
          </a:xfrm>
        </p:grpSpPr>
        <p:cxnSp>
          <p:nvCxnSpPr>
            <p:cNvPr id="43"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任意多边形 44"/>
          <p:cNvSpPr/>
          <p:nvPr/>
        </p:nvSpPr>
        <p:spPr bwMode="gray">
          <a:xfrm>
            <a:off x="3482695" y="3714701"/>
            <a:ext cx="632850" cy="423143"/>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dirty="0" smtClean="0">
                <a:solidFill>
                  <a:prstClr val="white">
                    <a:lumMod val="50000"/>
                  </a:prstClr>
                </a:solidFill>
                <a:cs typeface="+mn-ea"/>
                <a:sym typeface="+mn-lt"/>
              </a:rPr>
              <a:t>Internet</a:t>
            </a:r>
            <a:endParaRPr lang="zh-CN" altLang="en-US" sz="1200" dirty="0">
              <a:solidFill>
                <a:prstClr val="white">
                  <a:lumMod val="50000"/>
                </a:prstClr>
              </a:solidFill>
              <a:cs typeface="+mn-ea"/>
              <a:sym typeface="+mn-lt"/>
            </a:endParaRPr>
          </a:p>
        </p:txBody>
      </p:sp>
      <p:sp>
        <p:nvSpPr>
          <p:cNvPr id="48" name="任意多边形 47"/>
          <p:cNvSpPr/>
          <p:nvPr/>
        </p:nvSpPr>
        <p:spPr bwMode="gray">
          <a:xfrm>
            <a:off x="4239624" y="3714701"/>
            <a:ext cx="632850" cy="423143"/>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prstClr val="white">
                    <a:lumMod val="50000"/>
                  </a:prstClr>
                </a:solidFill>
                <a:cs typeface="+mn-ea"/>
                <a:sym typeface="+mn-lt"/>
              </a:rPr>
              <a:t>Internet</a:t>
            </a:r>
            <a:endParaRPr lang="zh-CN" altLang="en-US" sz="1200">
              <a:solidFill>
                <a:prstClr val="white">
                  <a:lumMod val="50000"/>
                </a:prstClr>
              </a:solidFill>
              <a:cs typeface="+mn-ea"/>
              <a:sym typeface="+mn-lt"/>
            </a:endParaRPr>
          </a:p>
        </p:txBody>
      </p:sp>
      <p:cxnSp>
        <p:nvCxnSpPr>
          <p:cNvPr id="40" name="Straight Connector 164"/>
          <p:cNvCxnSpPr/>
          <p:nvPr/>
        </p:nvCxnSpPr>
        <p:spPr bwMode="gray">
          <a:xfrm flipV="1">
            <a:off x="1186477" y="3948470"/>
            <a:ext cx="0" cy="5956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161"/>
          <p:cNvGrpSpPr/>
          <p:nvPr/>
        </p:nvGrpSpPr>
        <p:grpSpPr bwMode="gray">
          <a:xfrm rot="10800000" flipV="1">
            <a:off x="2063875" y="4022459"/>
            <a:ext cx="843916" cy="447707"/>
            <a:chOff x="-1233037" y="914446"/>
            <a:chExt cx="1573823" cy="778776"/>
          </a:xfrm>
        </p:grpSpPr>
        <p:cxnSp>
          <p:nvCxnSpPr>
            <p:cNvPr id="38" name="Straight Connector 163"/>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164"/>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标题 4"/>
          <p:cNvSpPr>
            <a:spLocks noGrp="1"/>
          </p:cNvSpPr>
          <p:nvPr>
            <p:ph type="title"/>
          </p:nvPr>
        </p:nvSpPr>
        <p:spPr/>
        <p:txBody>
          <a:bodyPr/>
          <a:lstStyle/>
          <a:p>
            <a:r>
              <a:rPr lang="en-US" altLang="zh-CN" smtClean="0">
                <a:sym typeface="+mn-lt"/>
              </a:rPr>
              <a:t>IPsec VPN</a:t>
            </a:r>
            <a:r>
              <a:rPr lang="zh-CN" altLang="en-US" smtClean="0">
                <a:sym typeface="+mn-lt"/>
              </a:rPr>
              <a:t>互联组网模型</a:t>
            </a:r>
            <a:endParaRPr lang="zh-CN" altLang="en-US" dirty="0">
              <a:sym typeface="+mn-lt"/>
            </a:endParaRPr>
          </a:p>
        </p:txBody>
      </p:sp>
      <p:sp>
        <p:nvSpPr>
          <p:cNvPr id="2" name="文本占位符 1"/>
          <p:cNvSpPr>
            <a:spLocks noGrp="1"/>
          </p:cNvSpPr>
          <p:nvPr>
            <p:ph type="body" sz="quarter" idx="10"/>
          </p:nvPr>
        </p:nvSpPr>
        <p:spPr>
          <a:xfrm>
            <a:off x="5827953" y="1047750"/>
            <a:ext cx="5921134" cy="5028977"/>
          </a:xfrm>
        </p:spPr>
        <p:txBody>
          <a:bodyPr/>
          <a:lstStyle/>
          <a:p>
            <a:r>
              <a:rPr lang="zh-CN" altLang="en-US" sz="1400" dirty="0" smtClean="0"/>
              <a:t>网络互联模型</a:t>
            </a:r>
          </a:p>
          <a:p>
            <a:pPr lvl="1"/>
            <a:r>
              <a:rPr lang="zh-CN" altLang="en-US" sz="1200" dirty="0" smtClean="0"/>
              <a:t>支持</a:t>
            </a:r>
            <a:r>
              <a:rPr lang="en-US" altLang="zh-CN" sz="1200" dirty="0" smtClean="0"/>
              <a:t>Hub-Spoke</a:t>
            </a:r>
            <a:r>
              <a:rPr lang="zh-CN" altLang="en-US" sz="1200" dirty="0" smtClean="0"/>
              <a:t>、</a:t>
            </a:r>
            <a:r>
              <a:rPr lang="en-US" altLang="zh-CN" sz="1200" dirty="0" smtClean="0"/>
              <a:t>Full-Mesh</a:t>
            </a:r>
            <a:r>
              <a:rPr lang="zh-CN" altLang="en-US" sz="1200" dirty="0" smtClean="0"/>
              <a:t>模型；</a:t>
            </a:r>
          </a:p>
          <a:p>
            <a:pPr lvl="1"/>
            <a:r>
              <a:rPr lang="zh-CN" altLang="en-US" sz="1200" dirty="0" smtClean="0"/>
              <a:t>若数据流量主要是分支访问总部，则部署</a:t>
            </a:r>
            <a:r>
              <a:rPr lang="en-US" altLang="zh-CN" sz="1200" dirty="0" smtClean="0"/>
              <a:t>Hub-Spoke</a:t>
            </a:r>
            <a:r>
              <a:rPr lang="zh-CN" altLang="en-US" sz="1200" dirty="0" smtClean="0"/>
              <a:t>；该模型也支持分支间互访（通过总部互访）；</a:t>
            </a:r>
          </a:p>
          <a:p>
            <a:pPr lvl="1"/>
            <a:r>
              <a:rPr lang="zh-CN" altLang="en-US" sz="1200" dirty="0" smtClean="0"/>
              <a:t>若分支规模相当，且分支间互访流量较大，则可以考虑</a:t>
            </a:r>
            <a:r>
              <a:rPr lang="en-US" altLang="zh-CN" sz="1200" dirty="0" smtClean="0"/>
              <a:t>Full-Mesh</a:t>
            </a:r>
            <a:r>
              <a:rPr lang="zh-CN" altLang="en-US" sz="1200" dirty="0" smtClean="0"/>
              <a:t>模型；此时出口设备必须都使用公网地址，且仅</a:t>
            </a:r>
            <a:r>
              <a:rPr lang="en-US" altLang="zh-CN" sz="1200" dirty="0" smtClean="0"/>
              <a:t>FW</a:t>
            </a:r>
            <a:r>
              <a:rPr lang="zh-CN" altLang="en-US" sz="1200" dirty="0" smtClean="0"/>
              <a:t>支持该模型；</a:t>
            </a:r>
            <a:r>
              <a:rPr lang="en-US" altLang="zh-CN" sz="1200" dirty="0" smtClean="0"/>
              <a:t>Full-Mesh</a:t>
            </a:r>
            <a:r>
              <a:rPr lang="zh-CN" altLang="en-US" sz="1200" dirty="0" smtClean="0"/>
              <a:t>模型下，站点规格有限（</a:t>
            </a:r>
            <a:r>
              <a:rPr lang="en-US" altLang="zh-CN" sz="1200" dirty="0" smtClean="0"/>
              <a:t>32</a:t>
            </a:r>
            <a:r>
              <a:rPr lang="zh-CN" altLang="en-US" sz="1200" dirty="0" smtClean="0"/>
              <a:t>个），因此</a:t>
            </a:r>
            <a:r>
              <a:rPr lang="en-US" altLang="zh-CN" sz="1200" dirty="0" smtClean="0"/>
              <a:t>IPsec</a:t>
            </a:r>
            <a:r>
              <a:rPr lang="zh-CN" altLang="en-US" sz="1200" dirty="0" smtClean="0"/>
              <a:t>互联时，主推</a:t>
            </a:r>
            <a:r>
              <a:rPr lang="en-US" altLang="zh-CN" sz="1200" dirty="0" smtClean="0"/>
              <a:t>Hub-Spoke</a:t>
            </a:r>
            <a:r>
              <a:rPr lang="zh-CN" altLang="en-US" sz="1200" dirty="0" smtClean="0"/>
              <a:t>的模型。</a:t>
            </a:r>
          </a:p>
          <a:p>
            <a:r>
              <a:rPr lang="zh-CN" altLang="en-US" sz="1400" dirty="0" smtClean="0"/>
              <a:t>站点组网 </a:t>
            </a:r>
          </a:p>
          <a:p>
            <a:pPr lvl="1"/>
            <a:r>
              <a:rPr lang="zh-CN" altLang="en-US" sz="1200" dirty="0" smtClean="0"/>
              <a:t>可以根据实际需求选择</a:t>
            </a:r>
            <a:r>
              <a:rPr lang="en-US" altLang="zh-CN" sz="1200" dirty="0" smtClean="0"/>
              <a:t>AP</a:t>
            </a:r>
            <a:r>
              <a:rPr lang="zh-CN" altLang="en-US" sz="1200" dirty="0" smtClean="0"/>
              <a:t>、</a:t>
            </a:r>
            <a:r>
              <a:rPr lang="en-US" altLang="zh-CN" sz="1200" dirty="0" smtClean="0"/>
              <a:t>AR</a:t>
            </a:r>
            <a:r>
              <a:rPr lang="zh-CN" altLang="en-US" sz="1200" dirty="0" smtClean="0"/>
              <a:t>或者</a:t>
            </a:r>
            <a:r>
              <a:rPr lang="en-US" altLang="zh-CN" sz="1200" dirty="0" smtClean="0"/>
              <a:t>FW</a:t>
            </a:r>
            <a:r>
              <a:rPr lang="zh-CN" altLang="en-US" sz="1200" dirty="0" smtClean="0"/>
              <a:t>作为出口设备。</a:t>
            </a:r>
          </a:p>
          <a:p>
            <a:pPr lvl="1"/>
            <a:r>
              <a:rPr lang="zh-CN" altLang="en-US" sz="1200" dirty="0" smtClean="0"/>
              <a:t>针对一些高可靠性场景，可采用双出口链路；针对需要无线上行的场景，需要选择支持</a:t>
            </a:r>
            <a:r>
              <a:rPr lang="en-US" altLang="zh-CN" sz="1200" dirty="0" smtClean="0"/>
              <a:t>LTE</a:t>
            </a:r>
            <a:r>
              <a:rPr lang="zh-CN" altLang="en-US" sz="1200" dirty="0" smtClean="0"/>
              <a:t>的设备款型做出口网关。</a:t>
            </a:r>
            <a:endParaRPr lang="en-US" altLang="zh-CN" sz="1200" dirty="0" smtClean="0"/>
          </a:p>
          <a:p>
            <a:pPr lvl="1"/>
            <a:r>
              <a:rPr lang="zh-CN" altLang="en-US" sz="1200" dirty="0" smtClean="0"/>
              <a:t>对于一些较大园区，出口网关还可以考虑采用双机热备，进一步保障高可靠性。当前仅</a:t>
            </a:r>
            <a:r>
              <a:rPr lang="en-US" altLang="zh-CN" sz="1200" dirty="0" smtClean="0"/>
              <a:t>FW</a:t>
            </a:r>
            <a:r>
              <a:rPr lang="zh-CN" altLang="en-US" sz="1200" dirty="0" smtClean="0"/>
              <a:t>支持双机热备。</a:t>
            </a:r>
          </a:p>
          <a:p>
            <a:pPr lvl="1"/>
            <a:r>
              <a:rPr lang="zh-CN" altLang="en-US" sz="1200" dirty="0" smtClean="0"/>
              <a:t>对于</a:t>
            </a:r>
            <a:r>
              <a:rPr lang="en-US" altLang="zh-CN" sz="1200" dirty="0" smtClean="0"/>
              <a:t>Hub-Spoke</a:t>
            </a:r>
            <a:r>
              <a:rPr lang="zh-CN" altLang="en-US" sz="1200" dirty="0" smtClean="0"/>
              <a:t>模型，</a:t>
            </a:r>
            <a:r>
              <a:rPr lang="en-US" altLang="zh-CN" sz="1200" dirty="0" smtClean="0"/>
              <a:t>Hub</a:t>
            </a:r>
            <a:r>
              <a:rPr lang="zh-CN" altLang="en-US" sz="1200" dirty="0" smtClean="0"/>
              <a:t>站点一般为总部站点或者数据中心站点，需要高性能设备及丰富的策略、安全配置。当前云管理模式支持的安全、策略特性较少，因此</a:t>
            </a:r>
            <a:r>
              <a:rPr lang="en-US" altLang="zh-CN" sz="1200" dirty="0" smtClean="0"/>
              <a:t>Hub</a:t>
            </a:r>
            <a:r>
              <a:rPr lang="zh-CN" altLang="en-US" sz="1200" dirty="0" smtClean="0"/>
              <a:t>站点的设备建议采用传统管理模式，同时建议部署双机热备。</a:t>
            </a:r>
          </a:p>
          <a:p>
            <a:endParaRPr lang="zh-CN" altLang="en-US" sz="1400" dirty="0"/>
          </a:p>
        </p:txBody>
      </p:sp>
      <p:sp>
        <p:nvSpPr>
          <p:cNvPr id="18" name="任意多边形 17"/>
          <p:cNvSpPr/>
          <p:nvPr/>
        </p:nvSpPr>
        <p:spPr bwMode="gray">
          <a:xfrm flipH="1" flipV="1">
            <a:off x="1275558" y="1445054"/>
            <a:ext cx="584232" cy="825527"/>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sym typeface="+mn-lt"/>
            </a:endParaRPr>
          </a:p>
        </p:txBody>
      </p:sp>
      <p:pic>
        <p:nvPicPr>
          <p:cNvPr id="2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111825" y="2305540"/>
            <a:ext cx="246255" cy="201481"/>
          </a:xfrm>
          <a:prstGeom prst="rect">
            <a:avLst/>
          </a:prstGeom>
          <a:noFill/>
        </p:spPr>
      </p:pic>
      <p:pic>
        <p:nvPicPr>
          <p:cNvPr id="2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790036" y="2305540"/>
            <a:ext cx="246255" cy="201481"/>
          </a:xfrm>
          <a:prstGeom prst="rect">
            <a:avLst/>
          </a:prstGeom>
          <a:noFill/>
        </p:spPr>
      </p:pic>
      <p:pic>
        <p:nvPicPr>
          <p:cNvPr id="2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468248" y="2305540"/>
            <a:ext cx="246255" cy="201481"/>
          </a:xfrm>
          <a:prstGeom prst="rect">
            <a:avLst/>
          </a:prstGeom>
          <a:noFill/>
        </p:spPr>
      </p:pic>
      <p:pic>
        <p:nvPicPr>
          <p:cNvPr id="2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790036" y="1218330"/>
            <a:ext cx="246255" cy="201481"/>
          </a:xfrm>
          <a:prstGeom prst="rect">
            <a:avLst/>
          </a:prstGeom>
          <a:noFill/>
        </p:spPr>
      </p:pic>
      <p:sp>
        <p:nvSpPr>
          <p:cNvPr id="26" name="任意多边形 25"/>
          <p:cNvSpPr/>
          <p:nvPr/>
        </p:nvSpPr>
        <p:spPr bwMode="gray">
          <a:xfrm flipV="1">
            <a:off x="1975968" y="1445054"/>
            <a:ext cx="584232" cy="825527"/>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 name="connsiteX0" fmla="*/ 4261818 w 4261819"/>
              <a:gd name="connsiteY0" fmla="*/ 0 h 656490"/>
              <a:gd name="connsiteX1" fmla="*/ 76375 w 4261819"/>
              <a:gd name="connsiteY1" fmla="*/ 656490 h 656490"/>
              <a:gd name="connsiteX0" fmla="*/ 4185443 w 4185444"/>
              <a:gd name="connsiteY0" fmla="*/ 0 h 656490"/>
              <a:gd name="connsiteX1" fmla="*/ 0 w 4185444"/>
              <a:gd name="connsiteY1" fmla="*/ 656490 h 656490"/>
              <a:gd name="connsiteX0" fmla="*/ 3571608 w 3571608"/>
              <a:gd name="connsiteY0" fmla="*/ 0 h 1556522"/>
              <a:gd name="connsiteX1" fmla="*/ 0 w 3571608"/>
              <a:gd name="connsiteY1" fmla="*/ 1556522 h 1556522"/>
              <a:gd name="connsiteX0" fmla="*/ 3571608 w 3571608"/>
              <a:gd name="connsiteY0" fmla="*/ 0 h 1556522"/>
              <a:gd name="connsiteX1" fmla="*/ 0 w 3571608"/>
              <a:gd name="connsiteY1" fmla="*/ 1556522 h 1556522"/>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13943 w 3613943"/>
              <a:gd name="connsiteY0" fmla="*/ 0 h 1592813"/>
              <a:gd name="connsiteX1" fmla="*/ 0 w 3613943"/>
              <a:gd name="connsiteY1" fmla="*/ 1592813 h 1592813"/>
              <a:gd name="connsiteX0" fmla="*/ 3620060 w 3620060"/>
              <a:gd name="connsiteY0" fmla="*/ 0 h 1664132"/>
              <a:gd name="connsiteX1" fmla="*/ 0 w 3620060"/>
              <a:gd name="connsiteY1" fmla="*/ 1664132 h 1664132"/>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87085 w 3987085"/>
              <a:gd name="connsiteY0" fmla="*/ 0 h 1651546"/>
              <a:gd name="connsiteX1" fmla="*/ 0 w 3987085"/>
              <a:gd name="connsiteY1" fmla="*/ 1651546 h 1651546"/>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62617 w 3962617"/>
              <a:gd name="connsiteY0" fmla="*/ 0 h 1613789"/>
              <a:gd name="connsiteX1" fmla="*/ 0 w 3962617"/>
              <a:gd name="connsiteY1" fmla="*/ 1613789 h 1613789"/>
              <a:gd name="connsiteX0" fmla="*/ 3987085 w 3987085"/>
              <a:gd name="connsiteY0" fmla="*/ 0 h 1655741"/>
              <a:gd name="connsiteX1" fmla="*/ 0 w 3987085"/>
              <a:gd name="connsiteY1" fmla="*/ 1655741 h 165574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 name="connsiteX0" fmla="*/ 3399845 w 3399845"/>
              <a:gd name="connsiteY0" fmla="*/ 0 h 1647351"/>
              <a:gd name="connsiteX1" fmla="*/ 0 w 3399845"/>
              <a:gd name="connsiteY1" fmla="*/ 1647351 h 1647351"/>
            </a:gdLst>
            <a:ahLst/>
            <a:cxnLst>
              <a:cxn ang="0">
                <a:pos x="connsiteX0" y="connsiteY0"/>
              </a:cxn>
              <a:cxn ang="0">
                <a:pos x="connsiteX1" y="connsiteY1"/>
              </a:cxn>
            </a:cxnLst>
            <a:rect l="l" t="t" r="r" b="b"/>
            <a:pathLst>
              <a:path w="3399845" h="1647351">
                <a:moveTo>
                  <a:pt x="3399845" y="0"/>
                </a:moveTo>
                <a:cubicBezTo>
                  <a:pt x="1758931" y="427359"/>
                  <a:pt x="442813" y="626990"/>
                  <a:pt x="0" y="1647351"/>
                </a:cubicBezTo>
              </a:path>
            </a:pathLst>
          </a:cu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sym typeface="+mn-lt"/>
            </a:endParaRPr>
          </a:p>
        </p:txBody>
      </p:sp>
      <p:sp>
        <p:nvSpPr>
          <p:cNvPr id="46" name="文本框 45"/>
          <p:cNvSpPr txBox="1"/>
          <p:nvPr/>
        </p:nvSpPr>
        <p:spPr bwMode="gray">
          <a:xfrm>
            <a:off x="1431843" y="2665551"/>
            <a:ext cx="962122" cy="276999"/>
          </a:xfrm>
          <a:prstGeom prst="rect">
            <a:avLst/>
          </a:prstGeom>
          <a:noFill/>
        </p:spPr>
        <p:txBody>
          <a:bodyPr wrap="none" rtlCol="0">
            <a:spAutoFit/>
          </a:bodyPr>
          <a:lstStyle/>
          <a:p>
            <a:pPr algn="ctr"/>
            <a:r>
              <a:rPr lang="en-US" altLang="zh-CN" sz="1200" dirty="0" smtClean="0">
                <a:cs typeface="+mn-ea"/>
                <a:sym typeface="+mn-lt"/>
              </a:rPr>
              <a:t>Hub-Spoke</a:t>
            </a:r>
            <a:endParaRPr lang="zh-CN" altLang="en-US" sz="1200" dirty="0">
              <a:cs typeface="+mn-ea"/>
              <a:sym typeface="+mn-lt"/>
            </a:endParaRPr>
          </a:p>
        </p:txBody>
      </p:sp>
      <p:sp>
        <p:nvSpPr>
          <p:cNvPr id="47" name="文本框 46"/>
          <p:cNvSpPr txBox="1"/>
          <p:nvPr/>
        </p:nvSpPr>
        <p:spPr bwMode="gray">
          <a:xfrm>
            <a:off x="3527941" y="2665551"/>
            <a:ext cx="880369" cy="276999"/>
          </a:xfrm>
          <a:prstGeom prst="rect">
            <a:avLst/>
          </a:prstGeom>
          <a:noFill/>
        </p:spPr>
        <p:txBody>
          <a:bodyPr wrap="none" rtlCol="0">
            <a:spAutoFit/>
          </a:bodyPr>
          <a:lstStyle/>
          <a:p>
            <a:pPr algn="ctr"/>
            <a:r>
              <a:rPr lang="en-US" altLang="zh-CN" sz="1200" dirty="0" smtClean="0">
                <a:cs typeface="+mn-ea"/>
                <a:sym typeface="+mn-lt"/>
              </a:rPr>
              <a:t>Full-Mesh</a:t>
            </a:r>
            <a:endParaRPr lang="zh-CN" altLang="en-US" sz="1200" dirty="0">
              <a:cs typeface="+mn-ea"/>
              <a:sym typeface="+mn-lt"/>
            </a:endParaRPr>
          </a:p>
        </p:txBody>
      </p:sp>
      <p:pic>
        <p:nvPicPr>
          <p:cNvPr id="5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326084" y="2305540"/>
            <a:ext cx="246255" cy="20148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4399187" y="2305540"/>
            <a:ext cx="246255" cy="201481"/>
          </a:xfrm>
          <a:prstGeom prst="rect">
            <a:avLst/>
          </a:prstGeom>
          <a:noFill/>
        </p:spPr>
      </p:pic>
      <p:pic>
        <p:nvPicPr>
          <p:cNvPr id="6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326084" y="1217459"/>
            <a:ext cx="246255" cy="201481"/>
          </a:xfrm>
          <a:prstGeom prst="rect">
            <a:avLst/>
          </a:prstGeom>
          <a:noFill/>
        </p:spPr>
      </p:pic>
      <p:pic>
        <p:nvPicPr>
          <p:cNvPr id="6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4399187" y="1217459"/>
            <a:ext cx="246255" cy="201481"/>
          </a:xfrm>
          <a:prstGeom prst="rect">
            <a:avLst/>
          </a:prstGeom>
          <a:noFill/>
        </p:spPr>
      </p:pic>
      <p:cxnSp>
        <p:nvCxnSpPr>
          <p:cNvPr id="63" name="直接连接符 62"/>
          <p:cNvCxnSpPr/>
          <p:nvPr/>
        </p:nvCxnSpPr>
        <p:spPr bwMode="gray">
          <a:xfrm>
            <a:off x="1912905" y="1435382"/>
            <a:ext cx="0" cy="852745"/>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cxnSp>
        <p:nvCxnSpPr>
          <p:cNvPr id="64" name="直接连接符 63"/>
          <p:cNvCxnSpPr/>
          <p:nvPr/>
        </p:nvCxnSpPr>
        <p:spPr bwMode="gray">
          <a:xfrm>
            <a:off x="3601920" y="1318199"/>
            <a:ext cx="762890" cy="0"/>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cxnSp>
        <p:nvCxnSpPr>
          <p:cNvPr id="66" name="直接连接符 65"/>
          <p:cNvCxnSpPr/>
          <p:nvPr/>
        </p:nvCxnSpPr>
        <p:spPr bwMode="gray">
          <a:xfrm>
            <a:off x="3601920" y="2412315"/>
            <a:ext cx="762890" cy="0"/>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cxnSp>
        <p:nvCxnSpPr>
          <p:cNvPr id="67" name="直接连接符 66"/>
          <p:cNvCxnSpPr/>
          <p:nvPr/>
        </p:nvCxnSpPr>
        <p:spPr bwMode="gray">
          <a:xfrm>
            <a:off x="3438348" y="1419811"/>
            <a:ext cx="0" cy="868316"/>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cxnSp>
        <p:nvCxnSpPr>
          <p:cNvPr id="70" name="直接连接符 69"/>
          <p:cNvCxnSpPr/>
          <p:nvPr/>
        </p:nvCxnSpPr>
        <p:spPr bwMode="gray">
          <a:xfrm>
            <a:off x="4522314" y="1419811"/>
            <a:ext cx="0" cy="868316"/>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p:cNvCxnSpPr/>
          <p:nvPr/>
        </p:nvCxnSpPr>
        <p:spPr bwMode="gray">
          <a:xfrm>
            <a:off x="3573164" y="1419811"/>
            <a:ext cx="826023" cy="868316"/>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cxnSp>
        <p:nvCxnSpPr>
          <p:cNvPr id="73" name="直接连接符 72"/>
          <p:cNvCxnSpPr/>
          <p:nvPr/>
        </p:nvCxnSpPr>
        <p:spPr bwMode="gray">
          <a:xfrm flipH="1">
            <a:off x="3573164" y="1419811"/>
            <a:ext cx="811078" cy="868316"/>
          </a:xfrm>
          <a:prstGeom prst="line">
            <a:avLst/>
          </a:prstGeom>
          <a:noFill/>
          <a:ln w="28575">
            <a:solidFill>
              <a:srgbClr val="56C4D2"/>
            </a:solidFill>
            <a:prstDash val="solid"/>
            <a:headEnd type="triangle" w="sm" len="sm"/>
            <a:tailEnd type="triangle" w="sm" len="sm"/>
          </a:ln>
        </p:spPr>
        <p:style>
          <a:lnRef idx="2">
            <a:schemeClr val="accent1">
              <a:shade val="50000"/>
            </a:schemeClr>
          </a:lnRef>
          <a:fillRef idx="1">
            <a:schemeClr val="accent1"/>
          </a:fillRef>
          <a:effectRef idx="0">
            <a:schemeClr val="accent1"/>
          </a:effectRef>
          <a:fontRef idx="minor">
            <a:schemeClr val="lt1"/>
          </a:fontRef>
        </p:style>
      </p:cxnSp>
      <p:cxnSp>
        <p:nvCxnSpPr>
          <p:cNvPr id="76" name="直接连接符 75"/>
          <p:cNvCxnSpPr/>
          <p:nvPr/>
        </p:nvCxnSpPr>
        <p:spPr bwMode="gray">
          <a:xfrm>
            <a:off x="731770" y="3257151"/>
            <a:ext cx="4114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bwMode="gray">
          <a:xfrm>
            <a:off x="3830244" y="2988863"/>
            <a:ext cx="1107996" cy="276999"/>
          </a:xfrm>
          <a:prstGeom prst="rect">
            <a:avLst/>
          </a:prstGeom>
          <a:solidFill>
            <a:schemeClr val="bg1">
              <a:lumMod val="65000"/>
            </a:schemeClr>
          </a:solidFill>
        </p:spPr>
        <p:txBody>
          <a:bodyPr wrap="none" rtlCol="0">
            <a:spAutoFit/>
          </a:bodyPr>
          <a:lstStyle/>
          <a:p>
            <a:pPr algn="ctr"/>
            <a:r>
              <a:rPr lang="zh-CN" altLang="en-US" sz="1200" dirty="0" smtClean="0">
                <a:solidFill>
                  <a:schemeClr val="bg1"/>
                </a:solidFill>
                <a:cs typeface="+mn-ea"/>
                <a:sym typeface="+mn-lt"/>
              </a:rPr>
              <a:t>网络</a:t>
            </a:r>
            <a:r>
              <a:rPr lang="zh-CN" altLang="en-US" sz="1200" dirty="0">
                <a:solidFill>
                  <a:schemeClr val="bg1"/>
                </a:solidFill>
                <a:cs typeface="+mn-ea"/>
                <a:sym typeface="+mn-lt"/>
              </a:rPr>
              <a:t>互联模型</a:t>
            </a:r>
          </a:p>
        </p:txBody>
      </p:sp>
      <p:sp>
        <p:nvSpPr>
          <p:cNvPr id="79" name="文本框 78"/>
          <p:cNvSpPr txBox="1"/>
          <p:nvPr/>
        </p:nvSpPr>
        <p:spPr bwMode="gray">
          <a:xfrm>
            <a:off x="774411" y="3265862"/>
            <a:ext cx="800219" cy="276999"/>
          </a:xfrm>
          <a:prstGeom prst="rect">
            <a:avLst/>
          </a:prstGeom>
          <a:solidFill>
            <a:schemeClr val="bg1">
              <a:lumMod val="65000"/>
            </a:schemeClr>
          </a:solidFill>
        </p:spPr>
        <p:txBody>
          <a:bodyPr wrap="none" rtlCol="0">
            <a:spAutoFit/>
          </a:bodyPr>
          <a:lstStyle/>
          <a:p>
            <a:pPr algn="ctr"/>
            <a:r>
              <a:rPr lang="zh-CN" altLang="en-US" sz="1200" smtClean="0">
                <a:solidFill>
                  <a:schemeClr val="bg1"/>
                </a:solidFill>
                <a:cs typeface="+mn-ea"/>
                <a:sym typeface="+mn-lt"/>
              </a:rPr>
              <a:t>站点组网</a:t>
            </a:r>
            <a:endParaRPr lang="zh-CN" altLang="en-US" sz="1200">
              <a:solidFill>
                <a:schemeClr val="bg1"/>
              </a:solidFill>
              <a:cs typeface="+mn-ea"/>
              <a:sym typeface="+mn-lt"/>
            </a:endParaRPr>
          </a:p>
        </p:txBody>
      </p:sp>
      <p:pic>
        <p:nvPicPr>
          <p:cNvPr id="2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308808" y="4322836"/>
            <a:ext cx="368827" cy="301767"/>
          </a:xfrm>
          <a:prstGeom prst="rect">
            <a:avLst/>
          </a:prstGeom>
          <a:noFill/>
        </p:spPr>
      </p:pic>
      <p:pic>
        <p:nvPicPr>
          <p:cNvPr id="30" name="图片 29" descr="云AP蓝.png"/>
          <p:cNvPicPr>
            <a:picLocks noChangeAspect="1"/>
          </p:cNvPicPr>
          <p:nvPr/>
        </p:nvPicPr>
        <p:blipFill>
          <a:blip r:embed="rId4" cstate="print"/>
          <a:stretch>
            <a:fillRect/>
          </a:stretch>
        </p:blipFill>
        <p:spPr bwMode="gray">
          <a:xfrm>
            <a:off x="1002202" y="4322949"/>
            <a:ext cx="368550" cy="301541"/>
          </a:xfrm>
          <a:prstGeom prst="rect">
            <a:avLst/>
          </a:prstGeom>
        </p:spPr>
      </p:pic>
      <p:pic>
        <p:nvPicPr>
          <p:cNvPr id="31" name="图片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972187" y="4322835"/>
            <a:ext cx="368827" cy="301768"/>
          </a:xfrm>
          <a:prstGeom prst="rect">
            <a:avLst/>
          </a:prstGeom>
        </p:spPr>
      </p:pic>
      <p:sp>
        <p:nvSpPr>
          <p:cNvPr id="32" name="任意多边形 31"/>
          <p:cNvSpPr/>
          <p:nvPr/>
        </p:nvSpPr>
        <p:spPr bwMode="gray">
          <a:xfrm>
            <a:off x="870053" y="3714701"/>
            <a:ext cx="632850" cy="423143"/>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prstClr val="white">
                    <a:lumMod val="50000"/>
                  </a:prstClr>
                </a:solidFill>
                <a:cs typeface="+mn-ea"/>
                <a:sym typeface="+mn-lt"/>
              </a:rPr>
              <a:t>Internet</a:t>
            </a:r>
            <a:endParaRPr lang="zh-CN" altLang="en-US" sz="1200">
              <a:solidFill>
                <a:prstClr val="white">
                  <a:lumMod val="50000"/>
                </a:prstClr>
              </a:solidFill>
              <a:cs typeface="+mn-ea"/>
              <a:sym typeface="+mn-lt"/>
            </a:endParaRPr>
          </a:p>
        </p:txBody>
      </p:sp>
      <p:sp>
        <p:nvSpPr>
          <p:cNvPr id="34" name="文本框 33"/>
          <p:cNvSpPr txBox="1"/>
          <p:nvPr/>
        </p:nvSpPr>
        <p:spPr bwMode="gray">
          <a:xfrm>
            <a:off x="645363" y="4345232"/>
            <a:ext cx="373820" cy="276999"/>
          </a:xfrm>
          <a:prstGeom prst="rect">
            <a:avLst/>
          </a:prstGeom>
          <a:noFill/>
        </p:spPr>
        <p:txBody>
          <a:bodyPr wrap="none" rtlCol="0">
            <a:spAutoFit/>
          </a:bodyPr>
          <a:lstStyle/>
          <a:p>
            <a:pPr algn="ctr"/>
            <a:r>
              <a:rPr lang="en-US" altLang="zh-CN" sz="1200" smtClean="0">
                <a:cs typeface="+mn-ea"/>
                <a:sym typeface="+mn-lt"/>
              </a:rPr>
              <a:t>AP</a:t>
            </a:r>
            <a:endParaRPr lang="zh-CN" altLang="en-US" sz="1200">
              <a:cs typeface="+mn-ea"/>
              <a:sym typeface="+mn-lt"/>
            </a:endParaRPr>
          </a:p>
        </p:txBody>
      </p:sp>
      <p:sp>
        <p:nvSpPr>
          <p:cNvPr id="35" name="任意多边形 34"/>
          <p:cNvSpPr/>
          <p:nvPr/>
        </p:nvSpPr>
        <p:spPr bwMode="gray">
          <a:xfrm>
            <a:off x="1798332" y="3714701"/>
            <a:ext cx="632850" cy="423143"/>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smtClean="0">
                <a:solidFill>
                  <a:prstClr val="white">
                    <a:lumMod val="50000"/>
                  </a:prstClr>
                </a:solidFill>
                <a:cs typeface="+mn-ea"/>
                <a:sym typeface="+mn-lt"/>
              </a:rPr>
              <a:t>Internet</a:t>
            </a:r>
            <a:endParaRPr lang="zh-CN" altLang="en-US" sz="1200">
              <a:solidFill>
                <a:prstClr val="white">
                  <a:lumMod val="50000"/>
                </a:prstClr>
              </a:solidFill>
              <a:cs typeface="+mn-ea"/>
              <a:sym typeface="+mn-lt"/>
            </a:endParaRPr>
          </a:p>
        </p:txBody>
      </p:sp>
      <p:sp>
        <p:nvSpPr>
          <p:cNvPr id="36" name="任意多边形 35"/>
          <p:cNvSpPr/>
          <p:nvPr/>
        </p:nvSpPr>
        <p:spPr bwMode="gray">
          <a:xfrm>
            <a:off x="2555261" y="3714701"/>
            <a:ext cx="632850" cy="423143"/>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dirty="0" smtClean="0">
                <a:solidFill>
                  <a:prstClr val="white">
                    <a:lumMod val="50000"/>
                  </a:prstClr>
                </a:solidFill>
                <a:cs typeface="+mn-ea"/>
                <a:sym typeface="+mn-lt"/>
              </a:rPr>
              <a:t>Internet</a:t>
            </a:r>
            <a:endParaRPr lang="zh-CN" altLang="en-US" sz="1200" dirty="0">
              <a:solidFill>
                <a:prstClr val="white">
                  <a:lumMod val="50000"/>
                </a:prstClr>
              </a:solidFill>
              <a:cs typeface="+mn-ea"/>
              <a:sym typeface="+mn-lt"/>
            </a:endParaRPr>
          </a:p>
        </p:txBody>
      </p:sp>
      <p:sp>
        <p:nvSpPr>
          <p:cNvPr id="49" name="文本框 48"/>
          <p:cNvSpPr txBox="1"/>
          <p:nvPr/>
        </p:nvSpPr>
        <p:spPr bwMode="gray">
          <a:xfrm>
            <a:off x="1931781" y="4345232"/>
            <a:ext cx="380233" cy="276999"/>
          </a:xfrm>
          <a:prstGeom prst="rect">
            <a:avLst/>
          </a:prstGeom>
          <a:noFill/>
        </p:spPr>
        <p:txBody>
          <a:bodyPr wrap="none" rtlCol="0">
            <a:spAutoFit/>
          </a:bodyPr>
          <a:lstStyle/>
          <a:p>
            <a:pPr algn="ctr"/>
            <a:r>
              <a:rPr lang="en-US" altLang="zh-CN" sz="1200" smtClean="0">
                <a:cs typeface="+mn-ea"/>
                <a:sym typeface="+mn-lt"/>
              </a:rPr>
              <a:t>AR</a:t>
            </a:r>
            <a:endParaRPr lang="zh-CN" altLang="en-US" sz="1200">
              <a:cs typeface="+mn-ea"/>
              <a:sym typeface="+mn-lt"/>
            </a:endParaRPr>
          </a:p>
        </p:txBody>
      </p:sp>
      <p:sp>
        <p:nvSpPr>
          <p:cNvPr id="50" name="文本框 49"/>
          <p:cNvSpPr txBox="1"/>
          <p:nvPr/>
        </p:nvSpPr>
        <p:spPr bwMode="gray">
          <a:xfrm>
            <a:off x="3573164" y="4345232"/>
            <a:ext cx="415498" cy="276999"/>
          </a:xfrm>
          <a:prstGeom prst="rect">
            <a:avLst/>
          </a:prstGeom>
          <a:noFill/>
        </p:spPr>
        <p:txBody>
          <a:bodyPr wrap="none" rtlCol="0">
            <a:spAutoFit/>
          </a:bodyPr>
          <a:lstStyle/>
          <a:p>
            <a:pPr algn="ctr"/>
            <a:r>
              <a:rPr lang="en-US" altLang="zh-CN" sz="1200" smtClean="0">
                <a:cs typeface="+mn-ea"/>
                <a:sym typeface="+mn-lt"/>
              </a:rPr>
              <a:t>FW</a:t>
            </a:r>
            <a:endParaRPr lang="zh-CN" altLang="en-US" sz="1200">
              <a:cs typeface="+mn-ea"/>
              <a:sym typeface="+mn-lt"/>
            </a:endParaRPr>
          </a:p>
        </p:txBody>
      </p:sp>
      <p:pic>
        <p:nvPicPr>
          <p:cNvPr id="51" name="图片 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305267" y="5004195"/>
            <a:ext cx="368827" cy="301768"/>
          </a:xfrm>
          <a:prstGeom prst="rect">
            <a:avLst/>
          </a:prstGeom>
        </p:spPr>
      </p:pic>
      <p:pic>
        <p:nvPicPr>
          <p:cNvPr id="52" name="图片 5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305267" y="5714272"/>
            <a:ext cx="368827" cy="301768"/>
          </a:xfrm>
          <a:prstGeom prst="rect">
            <a:avLst/>
          </a:prstGeom>
        </p:spPr>
      </p:pic>
      <p:pic>
        <p:nvPicPr>
          <p:cNvPr id="53" name="图片 76" descr="接入交换机.png"/>
          <p:cNvPicPr>
            <a:picLocks noChangeAspect="1"/>
          </p:cNvPicPr>
          <p:nvPr/>
        </p:nvPicPr>
        <p:blipFill>
          <a:blip r:embed="rId6" cstate="print"/>
          <a:stretch>
            <a:fillRect/>
          </a:stretch>
        </p:blipFill>
        <p:spPr bwMode="gray">
          <a:xfrm>
            <a:off x="3026567" y="5359234"/>
            <a:ext cx="368827" cy="301768"/>
          </a:xfrm>
          <a:prstGeom prst="rect">
            <a:avLst/>
          </a:prstGeom>
        </p:spPr>
      </p:pic>
      <p:sp>
        <p:nvSpPr>
          <p:cNvPr id="65" name="任意多边形 64"/>
          <p:cNvSpPr/>
          <p:nvPr/>
        </p:nvSpPr>
        <p:spPr bwMode="gray">
          <a:xfrm>
            <a:off x="3601920" y="4928831"/>
            <a:ext cx="632850" cy="423143"/>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dirty="0" smtClean="0">
                <a:solidFill>
                  <a:prstClr val="white">
                    <a:lumMod val="50000"/>
                  </a:prstClr>
                </a:solidFill>
                <a:cs typeface="+mn-ea"/>
                <a:sym typeface="+mn-lt"/>
              </a:rPr>
              <a:t>Internet</a:t>
            </a:r>
            <a:endParaRPr lang="zh-CN" altLang="en-US" sz="1200" dirty="0">
              <a:solidFill>
                <a:prstClr val="white">
                  <a:lumMod val="50000"/>
                </a:prstClr>
              </a:solidFill>
              <a:cs typeface="+mn-ea"/>
              <a:sym typeface="+mn-lt"/>
            </a:endParaRPr>
          </a:p>
        </p:txBody>
      </p:sp>
      <p:sp>
        <p:nvSpPr>
          <p:cNvPr id="68" name="任意多边形 67"/>
          <p:cNvSpPr/>
          <p:nvPr/>
        </p:nvSpPr>
        <p:spPr bwMode="gray">
          <a:xfrm>
            <a:off x="3601920" y="5653584"/>
            <a:ext cx="632850" cy="423143"/>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dirty="0" smtClean="0">
                <a:solidFill>
                  <a:prstClr val="white">
                    <a:lumMod val="50000"/>
                  </a:prstClr>
                </a:solidFill>
                <a:cs typeface="+mn-ea"/>
                <a:sym typeface="+mn-lt"/>
              </a:rPr>
              <a:t>Internet</a:t>
            </a:r>
            <a:endParaRPr lang="zh-CN" altLang="en-US" sz="1200" dirty="0">
              <a:solidFill>
                <a:prstClr val="white">
                  <a:lumMod val="50000"/>
                </a:prstClr>
              </a:solidFill>
              <a:cs typeface="+mn-ea"/>
              <a:sym typeface="+mn-lt"/>
            </a:endParaRPr>
          </a:p>
        </p:txBody>
      </p:sp>
      <p:cxnSp>
        <p:nvCxnSpPr>
          <p:cNvPr id="75" name="Straight Connector 164"/>
          <p:cNvCxnSpPr>
            <a:stCxn id="52" idx="0"/>
            <a:endCxn id="51" idx="2"/>
          </p:cNvCxnSpPr>
          <p:nvPr/>
        </p:nvCxnSpPr>
        <p:spPr bwMode="gray">
          <a:xfrm flipV="1">
            <a:off x="2489681" y="5305963"/>
            <a:ext cx="0" cy="40830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bwMode="gray">
          <a:xfrm>
            <a:off x="1845472" y="5339216"/>
            <a:ext cx="646331" cy="276999"/>
          </a:xfrm>
          <a:prstGeom prst="rect">
            <a:avLst/>
          </a:prstGeom>
          <a:noFill/>
        </p:spPr>
        <p:txBody>
          <a:bodyPr wrap="none" rtlCol="0">
            <a:spAutoFit/>
          </a:bodyPr>
          <a:lstStyle/>
          <a:p>
            <a:pPr algn="ctr"/>
            <a:r>
              <a:rPr lang="zh-CN" altLang="en-US" sz="1200" smtClean="0">
                <a:cs typeface="+mn-ea"/>
                <a:sym typeface="+mn-lt"/>
              </a:rPr>
              <a:t>心跳线</a:t>
            </a:r>
            <a:endParaRPr lang="zh-CN" altLang="en-US" sz="1200">
              <a:cs typeface="+mn-ea"/>
              <a:sym typeface="+mn-lt"/>
            </a:endParaRPr>
          </a:p>
        </p:txBody>
      </p:sp>
    </p:spTree>
    <p:extLst>
      <p:ext uri="{BB962C8B-B14F-4D97-AF65-F5344CB8AC3E}">
        <p14:creationId xmlns:p14="http://schemas.microsoft.com/office/powerpoint/2010/main" val="1686990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mn-lt"/>
              </a:rPr>
              <a:t>SD-WAN</a:t>
            </a:r>
            <a:r>
              <a:rPr lang="zh-CN" altLang="en-US" smtClean="0">
                <a:sym typeface="+mn-lt"/>
              </a:rPr>
              <a:t>方案概述 </a:t>
            </a:r>
            <a:r>
              <a:rPr lang="en-US" altLang="zh-CN" smtClean="0">
                <a:sym typeface="+mn-lt"/>
              </a:rPr>
              <a:t>(1)</a:t>
            </a:r>
            <a:endParaRPr lang="zh-CN" altLang="en-US" dirty="0">
              <a:sym typeface="+mn-lt"/>
            </a:endParaRPr>
          </a:p>
        </p:txBody>
      </p:sp>
      <p:sp>
        <p:nvSpPr>
          <p:cNvPr id="3" name="文本占位符 2"/>
          <p:cNvSpPr>
            <a:spLocks noGrp="1"/>
          </p:cNvSpPr>
          <p:nvPr>
            <p:ph type="body" sz="quarter" idx="10"/>
          </p:nvPr>
        </p:nvSpPr>
        <p:spPr bwMode="gray">
          <a:xfrm>
            <a:off x="6533932" y="1222218"/>
            <a:ext cx="5215155" cy="4705337"/>
          </a:xfrm>
        </p:spPr>
        <p:txBody>
          <a:bodyPr/>
          <a:lstStyle/>
          <a:p>
            <a:r>
              <a:rPr lang="zh-CN" altLang="en-US" sz="1600" dirty="0" smtClean="0"/>
              <a:t>方案概述</a:t>
            </a:r>
          </a:p>
          <a:p>
            <a:pPr lvl="1"/>
            <a:r>
              <a:rPr lang="en-US" altLang="zh-CN" sz="1400" dirty="0" smtClean="0"/>
              <a:t>SD-WAN EVPN</a:t>
            </a:r>
            <a:r>
              <a:rPr lang="zh-CN" altLang="en-US" sz="1400" dirty="0" smtClean="0"/>
              <a:t>互联场景，适用于海量分支和总部</a:t>
            </a:r>
            <a:r>
              <a:rPr lang="en-US" altLang="zh-CN" sz="1400" dirty="0" smtClean="0"/>
              <a:t>/</a:t>
            </a:r>
            <a:r>
              <a:rPr lang="zh-CN" altLang="en-US" sz="1400" dirty="0" smtClean="0"/>
              <a:t>数据中心（</a:t>
            </a:r>
            <a:r>
              <a:rPr lang="en-US" altLang="zh-CN" sz="1400" dirty="0" smtClean="0"/>
              <a:t>Hub</a:t>
            </a:r>
            <a:r>
              <a:rPr lang="zh-CN" altLang="en-US" sz="1400" dirty="0" smtClean="0"/>
              <a:t>站点</a:t>
            </a:r>
            <a:r>
              <a:rPr lang="zh-CN" altLang="en-US" sz="1400" dirty="0"/>
              <a:t>）</a:t>
            </a:r>
            <a:r>
              <a:rPr lang="zh-CN" altLang="en-US" sz="1400" dirty="0" smtClean="0"/>
              <a:t>互访场景，可以满足多总部</a:t>
            </a:r>
            <a:r>
              <a:rPr lang="en-US" altLang="zh-CN" sz="1400" dirty="0" smtClean="0"/>
              <a:t>/</a:t>
            </a:r>
            <a:r>
              <a:rPr lang="zh-CN" altLang="en-US" sz="1400" dirty="0" smtClean="0"/>
              <a:t>区域中心的方式组网，分支、总部间可以实现多条链路互访，支持智能选路（基于应用、质量选路）、链路</a:t>
            </a:r>
            <a:r>
              <a:rPr lang="en-US" altLang="zh-CN" sz="1400" dirty="0" err="1" smtClean="0"/>
              <a:t>QoS</a:t>
            </a:r>
            <a:r>
              <a:rPr lang="zh-CN" altLang="en-US" sz="1400" dirty="0" smtClean="0"/>
              <a:t>调度、链路质量的呈现；</a:t>
            </a:r>
          </a:p>
          <a:p>
            <a:pPr lvl="1"/>
            <a:r>
              <a:rPr lang="zh-CN" altLang="en-US" sz="1400" dirty="0" smtClean="0"/>
              <a:t>支持</a:t>
            </a:r>
            <a:r>
              <a:rPr lang="en-US" altLang="zh-CN" sz="1400" dirty="0" smtClean="0"/>
              <a:t>Hub-Spoke</a:t>
            </a:r>
            <a:r>
              <a:rPr lang="zh-CN" altLang="en-US" sz="1400" dirty="0" smtClean="0"/>
              <a:t>、</a:t>
            </a:r>
            <a:r>
              <a:rPr lang="en-US" altLang="zh-CN" sz="1400" dirty="0" smtClean="0"/>
              <a:t>Full-Mesh</a:t>
            </a:r>
            <a:r>
              <a:rPr lang="zh-CN" altLang="en-US" sz="1400" dirty="0" smtClean="0"/>
              <a:t>、</a:t>
            </a:r>
            <a:r>
              <a:rPr lang="en-US" altLang="zh-CN" sz="1400" dirty="0" smtClean="0"/>
              <a:t>Partial-Mesh</a:t>
            </a:r>
            <a:r>
              <a:rPr lang="zh-CN" altLang="en-US" sz="1400" dirty="0" smtClean="0"/>
              <a:t>组网；</a:t>
            </a:r>
          </a:p>
          <a:p>
            <a:pPr lvl="1"/>
            <a:r>
              <a:rPr lang="zh-CN" altLang="en-US" sz="1400" dirty="0" smtClean="0"/>
              <a:t>支持主、备</a:t>
            </a:r>
            <a:r>
              <a:rPr lang="en-US" altLang="zh-CN" sz="1400" dirty="0" smtClean="0"/>
              <a:t>Hub</a:t>
            </a:r>
            <a:r>
              <a:rPr lang="zh-CN" altLang="en-US" sz="1400" dirty="0" smtClean="0"/>
              <a:t>站点，以提高总部网络访问的可靠性；</a:t>
            </a:r>
          </a:p>
          <a:p>
            <a:pPr lvl="1"/>
            <a:r>
              <a:rPr lang="zh-CN" altLang="en-US" sz="1400" dirty="0" smtClean="0"/>
              <a:t>支持多</a:t>
            </a:r>
            <a:r>
              <a:rPr lang="en-US" altLang="zh-CN" sz="1400" dirty="0" smtClean="0"/>
              <a:t>VPN</a:t>
            </a:r>
            <a:r>
              <a:rPr lang="zh-CN" altLang="en-US" sz="1400" dirty="0" smtClean="0"/>
              <a:t>（</a:t>
            </a:r>
            <a:r>
              <a:rPr lang="en-US" altLang="zh-CN" sz="1400" dirty="0" smtClean="0"/>
              <a:t>VRF</a:t>
            </a:r>
            <a:r>
              <a:rPr lang="zh-CN" altLang="en-US" sz="1400" dirty="0" smtClean="0"/>
              <a:t>），支持</a:t>
            </a:r>
            <a:r>
              <a:rPr lang="en-US" altLang="zh-CN" sz="1400" dirty="0" smtClean="0"/>
              <a:t>WAN</a:t>
            </a:r>
            <a:r>
              <a:rPr lang="zh-CN" altLang="en-US" sz="1400" dirty="0" smtClean="0"/>
              <a:t>侧的多</a:t>
            </a:r>
            <a:r>
              <a:rPr lang="en-US" altLang="zh-CN" sz="1400" dirty="0" smtClean="0"/>
              <a:t>VPN</a:t>
            </a:r>
            <a:r>
              <a:rPr lang="zh-CN" altLang="en-US" sz="1400" dirty="0" smtClean="0"/>
              <a:t>互联；</a:t>
            </a:r>
          </a:p>
          <a:p>
            <a:pPr lvl="1"/>
            <a:r>
              <a:rPr lang="zh-CN" altLang="en-US" sz="1400" dirty="0" smtClean="0"/>
              <a:t>在高安全要求的场景，如金融行业，可在站点同时部署</a:t>
            </a:r>
            <a:r>
              <a:rPr lang="en-US" altLang="zh-CN" sz="1400" dirty="0" smtClean="0"/>
              <a:t>FW</a:t>
            </a:r>
            <a:r>
              <a:rPr lang="zh-CN" altLang="en-US" sz="1400" dirty="0" smtClean="0"/>
              <a:t>设备。</a:t>
            </a:r>
          </a:p>
          <a:p>
            <a:r>
              <a:rPr lang="zh-CN" altLang="en-US" sz="1600" dirty="0" smtClean="0"/>
              <a:t>方案约束</a:t>
            </a:r>
          </a:p>
          <a:p>
            <a:pPr lvl="1"/>
            <a:r>
              <a:rPr lang="zh-CN" altLang="en-US" sz="1400" dirty="0" smtClean="0"/>
              <a:t>需要分支、总部都是支持</a:t>
            </a:r>
            <a:r>
              <a:rPr lang="en-US" altLang="zh-CN" sz="1400" dirty="0" smtClean="0"/>
              <a:t>SD-WAN</a:t>
            </a:r>
            <a:r>
              <a:rPr lang="zh-CN" altLang="en-US" sz="1400" dirty="0" smtClean="0"/>
              <a:t>的</a:t>
            </a:r>
            <a:r>
              <a:rPr lang="en-US" altLang="zh-CN" sz="1400" dirty="0" smtClean="0"/>
              <a:t>AR</a:t>
            </a:r>
            <a:r>
              <a:rPr lang="zh-CN" altLang="en-US" sz="1400" dirty="0" smtClean="0"/>
              <a:t>设备。</a:t>
            </a:r>
          </a:p>
          <a:p>
            <a:endParaRPr lang="zh-CN" altLang="en-US" sz="1600" dirty="0"/>
          </a:p>
        </p:txBody>
      </p:sp>
      <p:cxnSp>
        <p:nvCxnSpPr>
          <p:cNvPr id="89" name="直接箭头连接符 88"/>
          <p:cNvCxnSpPr/>
          <p:nvPr/>
        </p:nvCxnSpPr>
        <p:spPr bwMode="gray">
          <a:xfrm>
            <a:off x="4805150" y="2218753"/>
            <a:ext cx="0" cy="3046991"/>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90" name="圆角矩形 89"/>
          <p:cNvSpPr/>
          <p:nvPr/>
        </p:nvSpPr>
        <p:spPr bwMode="gray">
          <a:xfrm>
            <a:off x="738512" y="4813998"/>
            <a:ext cx="133713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cs typeface="+mn-ea"/>
              <a:sym typeface="+mn-lt"/>
            </a:endParaRPr>
          </a:p>
        </p:txBody>
      </p:sp>
      <p:cxnSp>
        <p:nvCxnSpPr>
          <p:cNvPr id="91" name="直接箭头连接符 90"/>
          <p:cNvCxnSpPr/>
          <p:nvPr/>
        </p:nvCxnSpPr>
        <p:spPr bwMode="gray">
          <a:xfrm>
            <a:off x="2036212" y="2724920"/>
            <a:ext cx="0" cy="2089078"/>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bwMode="gray">
          <a:xfrm>
            <a:off x="2359672" y="2709304"/>
            <a:ext cx="0" cy="1149669"/>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bwMode="gray">
          <a:xfrm>
            <a:off x="5085941" y="2734815"/>
            <a:ext cx="0" cy="979597"/>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94" name="任意多边形 93"/>
          <p:cNvSpPr/>
          <p:nvPr/>
        </p:nvSpPr>
        <p:spPr bwMode="gray">
          <a:xfrm>
            <a:off x="2994367" y="3984292"/>
            <a:ext cx="842595" cy="563385"/>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solidFill>
                <a:cs typeface="+mn-ea"/>
                <a:sym typeface="+mn-lt"/>
              </a:rPr>
              <a:t>MPLS</a:t>
            </a:r>
            <a:endParaRPr lang="zh-CN" altLang="en-US" sz="1400">
              <a:solidFill>
                <a:schemeClr val="bg1"/>
              </a:solidFill>
              <a:cs typeface="+mn-ea"/>
              <a:sym typeface="+mn-lt"/>
            </a:endParaRPr>
          </a:p>
        </p:txBody>
      </p:sp>
      <p:sp>
        <p:nvSpPr>
          <p:cNvPr id="95" name="圆角矩形 94"/>
          <p:cNvSpPr/>
          <p:nvPr/>
        </p:nvSpPr>
        <p:spPr bwMode="gray">
          <a:xfrm>
            <a:off x="5197695" y="3617827"/>
            <a:ext cx="133713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6" name="圆角矩形 95"/>
          <p:cNvSpPr/>
          <p:nvPr/>
        </p:nvSpPr>
        <p:spPr bwMode="gray">
          <a:xfrm>
            <a:off x="5050574" y="5174140"/>
            <a:ext cx="133713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97" name="图片 9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60873" y="5270725"/>
            <a:ext cx="490909" cy="402545"/>
          </a:xfrm>
          <a:prstGeom prst="rect">
            <a:avLst/>
          </a:prstGeom>
        </p:spPr>
      </p:pic>
      <p:sp>
        <p:nvSpPr>
          <p:cNvPr id="98" name="圆角矩形 97"/>
          <p:cNvSpPr/>
          <p:nvPr/>
        </p:nvSpPr>
        <p:spPr bwMode="gray">
          <a:xfrm>
            <a:off x="887038" y="3786511"/>
            <a:ext cx="1337138" cy="595714"/>
          </a:xfrm>
          <a:prstGeom prst="roundRect">
            <a:avLst/>
          </a:prstGeom>
          <a:solidFill>
            <a:schemeClr val="bg1"/>
          </a:solid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cs typeface="+mn-ea"/>
              <a:sym typeface="+mn-lt"/>
            </a:endParaRPr>
          </a:p>
        </p:txBody>
      </p:sp>
      <p:sp>
        <p:nvSpPr>
          <p:cNvPr id="99" name="文本框 98"/>
          <p:cNvSpPr txBox="1"/>
          <p:nvPr/>
        </p:nvSpPr>
        <p:spPr bwMode="gray">
          <a:xfrm>
            <a:off x="984575" y="3930480"/>
            <a:ext cx="902811" cy="307777"/>
          </a:xfrm>
          <a:prstGeom prst="rect">
            <a:avLst/>
          </a:prstGeom>
          <a:noFill/>
        </p:spPr>
        <p:txBody>
          <a:bodyPr wrap="none" rtlCol="0">
            <a:spAutoFit/>
          </a:bodyPr>
          <a:lstStyle/>
          <a:p>
            <a:r>
              <a:rPr lang="zh-CN" altLang="en-US" sz="1400" dirty="0" smtClean="0">
                <a:solidFill>
                  <a:schemeClr val="bg1">
                    <a:lumMod val="50000"/>
                  </a:schemeClr>
                </a:solidFill>
                <a:cs typeface="+mn-ea"/>
                <a:sym typeface="+mn-lt"/>
              </a:rPr>
              <a:t>数据中心</a:t>
            </a:r>
            <a:endParaRPr lang="zh-CN" altLang="en-US" sz="1400" dirty="0">
              <a:solidFill>
                <a:schemeClr val="bg1">
                  <a:lumMod val="50000"/>
                </a:schemeClr>
              </a:solidFill>
              <a:cs typeface="+mn-ea"/>
              <a:sym typeface="+mn-lt"/>
            </a:endParaRPr>
          </a:p>
        </p:txBody>
      </p:sp>
      <p:sp>
        <p:nvSpPr>
          <p:cNvPr id="100" name="文本框 99"/>
          <p:cNvSpPr txBox="1"/>
          <p:nvPr/>
        </p:nvSpPr>
        <p:spPr bwMode="gray">
          <a:xfrm>
            <a:off x="836050" y="4957967"/>
            <a:ext cx="902810" cy="307777"/>
          </a:xfrm>
          <a:prstGeom prst="rect">
            <a:avLst/>
          </a:prstGeom>
          <a:noFill/>
        </p:spPr>
        <p:txBody>
          <a:bodyPr wrap="square" rtlCol="0">
            <a:spAutoFit/>
          </a:bodyPr>
          <a:lstStyle/>
          <a:p>
            <a:r>
              <a:rPr lang="zh-CN" altLang="en-US" sz="1400" smtClean="0">
                <a:solidFill>
                  <a:schemeClr val="bg1">
                    <a:lumMod val="50000"/>
                  </a:schemeClr>
                </a:solidFill>
                <a:cs typeface="+mn-ea"/>
                <a:sym typeface="+mn-lt"/>
              </a:rPr>
              <a:t>总部园区</a:t>
            </a:r>
            <a:endParaRPr lang="zh-CN" altLang="en-US" sz="1400">
              <a:solidFill>
                <a:schemeClr val="bg1">
                  <a:lumMod val="50000"/>
                </a:schemeClr>
              </a:solidFill>
              <a:cs typeface="+mn-ea"/>
              <a:sym typeface="+mn-lt"/>
            </a:endParaRPr>
          </a:p>
        </p:txBody>
      </p:sp>
      <p:sp>
        <p:nvSpPr>
          <p:cNvPr id="101" name="任意多边形 100"/>
          <p:cNvSpPr/>
          <p:nvPr/>
        </p:nvSpPr>
        <p:spPr bwMode="gray">
          <a:xfrm>
            <a:off x="3022914" y="4595981"/>
            <a:ext cx="1065541" cy="71245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smtClean="0">
                <a:solidFill>
                  <a:schemeClr val="bg1"/>
                </a:solidFill>
                <a:cs typeface="+mn-ea"/>
                <a:sym typeface="+mn-lt"/>
              </a:rPr>
              <a:t>Internet</a:t>
            </a:r>
            <a:endParaRPr lang="zh-CN" altLang="en-US" sz="1400">
              <a:solidFill>
                <a:schemeClr val="bg1"/>
              </a:solidFill>
              <a:cs typeface="+mn-ea"/>
              <a:sym typeface="+mn-lt"/>
            </a:endParaRPr>
          </a:p>
        </p:txBody>
      </p:sp>
      <p:sp>
        <p:nvSpPr>
          <p:cNvPr id="102" name="任意多边形 101"/>
          <p:cNvSpPr/>
          <p:nvPr/>
        </p:nvSpPr>
        <p:spPr bwMode="gray">
          <a:xfrm>
            <a:off x="2504171" y="3858973"/>
            <a:ext cx="2421249" cy="421200"/>
          </a:xfrm>
          <a:custGeom>
            <a:avLst/>
            <a:gdLst>
              <a:gd name="connsiteX0" fmla="*/ 0 w 2325950"/>
              <a:gd name="connsiteY0" fmla="*/ 142043 h 142043"/>
              <a:gd name="connsiteX1" fmla="*/ 2325950 w 2325950"/>
              <a:gd name="connsiteY1" fmla="*/ 0 h 142043"/>
              <a:gd name="connsiteX0" fmla="*/ 0 w 2313510"/>
              <a:gd name="connsiteY0" fmla="*/ 250053 h 250053"/>
              <a:gd name="connsiteX1" fmla="*/ 2313510 w 2313510"/>
              <a:gd name="connsiteY1" fmla="*/ 0 h 250053"/>
              <a:gd name="connsiteX0" fmla="*/ 0 w 2313510"/>
              <a:gd name="connsiteY0" fmla="*/ 250053 h 355993"/>
              <a:gd name="connsiteX1" fmla="*/ 2313510 w 2313510"/>
              <a:gd name="connsiteY1" fmla="*/ 0 h 355993"/>
              <a:gd name="connsiteX0" fmla="*/ 0 w 2313510"/>
              <a:gd name="connsiteY0" fmla="*/ 250053 h 424996"/>
              <a:gd name="connsiteX1" fmla="*/ 2313510 w 2313510"/>
              <a:gd name="connsiteY1" fmla="*/ 0 h 424996"/>
              <a:gd name="connsiteX0" fmla="*/ 0 w 2313510"/>
              <a:gd name="connsiteY0" fmla="*/ 250053 h 408719"/>
              <a:gd name="connsiteX1" fmla="*/ 2313510 w 2313510"/>
              <a:gd name="connsiteY1" fmla="*/ 0 h 408719"/>
              <a:gd name="connsiteX0" fmla="*/ 0 w 2338081"/>
              <a:gd name="connsiteY0" fmla="*/ 113168 h 318679"/>
              <a:gd name="connsiteX1" fmla="*/ 2338081 w 2338081"/>
              <a:gd name="connsiteY1" fmla="*/ 0 h 318679"/>
              <a:gd name="connsiteX0" fmla="*/ 0 w 2342177"/>
              <a:gd name="connsiteY0" fmla="*/ 134228 h 331360"/>
              <a:gd name="connsiteX1" fmla="*/ 2342177 w 2342177"/>
              <a:gd name="connsiteY1" fmla="*/ 0 h 331360"/>
              <a:gd name="connsiteX0" fmla="*/ 0 w 2342177"/>
              <a:gd name="connsiteY0" fmla="*/ 134228 h 349218"/>
              <a:gd name="connsiteX1" fmla="*/ 2342177 w 2342177"/>
              <a:gd name="connsiteY1" fmla="*/ 0 h 349218"/>
            </a:gdLst>
            <a:ahLst/>
            <a:cxnLst>
              <a:cxn ang="0">
                <a:pos x="connsiteX0" y="connsiteY0"/>
              </a:cxn>
              <a:cxn ang="0">
                <a:pos x="connsiteX1" y="connsiteY1"/>
              </a:cxn>
            </a:cxnLst>
            <a:rect l="l" t="t" r="r" b="b"/>
            <a:pathLst>
              <a:path w="2342177" h="349218">
                <a:moveTo>
                  <a:pt x="0" y="134228"/>
                </a:moveTo>
                <a:cubicBezTo>
                  <a:pt x="1052818" y="492034"/>
                  <a:pt x="1573080" y="372880"/>
                  <a:pt x="2342177" y="0"/>
                </a:cubicBezTo>
              </a:path>
            </a:pathLst>
          </a:custGeom>
          <a:noFill/>
          <a:ln w="38100">
            <a:solidFill>
              <a:srgbClr val="AFD89C"/>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3" name="任意多边形 102"/>
          <p:cNvSpPr/>
          <p:nvPr/>
        </p:nvSpPr>
        <p:spPr bwMode="gray">
          <a:xfrm>
            <a:off x="2288761" y="3962046"/>
            <a:ext cx="2648157" cy="1113078"/>
          </a:xfrm>
          <a:custGeom>
            <a:avLst/>
            <a:gdLst>
              <a:gd name="connsiteX0" fmla="*/ 0 w 2325950"/>
              <a:gd name="connsiteY0" fmla="*/ 142043 h 142043"/>
              <a:gd name="connsiteX1" fmla="*/ 2325950 w 2325950"/>
              <a:gd name="connsiteY1" fmla="*/ 0 h 142043"/>
              <a:gd name="connsiteX0" fmla="*/ 0 w 2325950"/>
              <a:gd name="connsiteY0" fmla="*/ 142043 h 142043"/>
              <a:gd name="connsiteX1" fmla="*/ 2325950 w 2325950"/>
              <a:gd name="connsiteY1" fmla="*/ 0 h 142043"/>
              <a:gd name="connsiteX0" fmla="*/ 0 w 2325950"/>
              <a:gd name="connsiteY0" fmla="*/ 142043 h 142043"/>
              <a:gd name="connsiteX1" fmla="*/ 2325950 w 2325950"/>
              <a:gd name="connsiteY1" fmla="*/ 0 h 142043"/>
              <a:gd name="connsiteX0" fmla="*/ 0 w 2325950"/>
              <a:gd name="connsiteY0" fmla="*/ 142043 h 142043"/>
              <a:gd name="connsiteX1" fmla="*/ 2325950 w 2325950"/>
              <a:gd name="connsiteY1" fmla="*/ 0 h 142043"/>
              <a:gd name="connsiteX0" fmla="*/ 0 w 2325950"/>
              <a:gd name="connsiteY0" fmla="*/ 142043 h 142043"/>
              <a:gd name="connsiteX1" fmla="*/ 2325950 w 2325950"/>
              <a:gd name="connsiteY1" fmla="*/ 0 h 142043"/>
              <a:gd name="connsiteX0" fmla="*/ 0 w 2322807"/>
              <a:gd name="connsiteY0" fmla="*/ 132380 h 132380"/>
              <a:gd name="connsiteX1" fmla="*/ 2322807 w 2322807"/>
              <a:gd name="connsiteY1" fmla="*/ 0 h 132380"/>
              <a:gd name="connsiteX0" fmla="*/ 0 w 2311808"/>
              <a:gd name="connsiteY0" fmla="*/ 132015 h 132015"/>
              <a:gd name="connsiteX1" fmla="*/ 2311808 w 2311808"/>
              <a:gd name="connsiteY1" fmla="*/ 0 h 132015"/>
              <a:gd name="connsiteX0" fmla="*/ 0 w 2311808"/>
              <a:gd name="connsiteY0" fmla="*/ 132015 h 132015"/>
              <a:gd name="connsiteX1" fmla="*/ 2311808 w 2311808"/>
              <a:gd name="connsiteY1" fmla="*/ 0 h 132015"/>
              <a:gd name="connsiteX0" fmla="*/ 0 w 2311808"/>
              <a:gd name="connsiteY0" fmla="*/ 132015 h 132015"/>
              <a:gd name="connsiteX1" fmla="*/ 2311808 w 2311808"/>
              <a:gd name="connsiteY1" fmla="*/ 0 h 132015"/>
              <a:gd name="connsiteX0" fmla="*/ 0 w 2311808"/>
              <a:gd name="connsiteY0" fmla="*/ 132015 h 132015"/>
              <a:gd name="connsiteX1" fmla="*/ 2311808 w 2311808"/>
              <a:gd name="connsiteY1" fmla="*/ 0 h 132015"/>
              <a:gd name="connsiteX0" fmla="*/ 0 w 2307719"/>
              <a:gd name="connsiteY0" fmla="*/ 142711 h 142711"/>
              <a:gd name="connsiteX1" fmla="*/ 2307719 w 2307719"/>
              <a:gd name="connsiteY1" fmla="*/ 0 h 142711"/>
              <a:gd name="connsiteX0" fmla="*/ 0 w 2307719"/>
              <a:gd name="connsiteY0" fmla="*/ 142711 h 142711"/>
              <a:gd name="connsiteX1" fmla="*/ 2307719 w 2307719"/>
              <a:gd name="connsiteY1" fmla="*/ 0 h 142711"/>
              <a:gd name="connsiteX0" fmla="*/ 0 w 2303630"/>
              <a:gd name="connsiteY0" fmla="*/ 141252 h 141252"/>
              <a:gd name="connsiteX1" fmla="*/ 2303630 w 2303630"/>
              <a:gd name="connsiteY1" fmla="*/ 0 h 141252"/>
              <a:gd name="connsiteX0" fmla="*/ 0 w 2303630"/>
              <a:gd name="connsiteY0" fmla="*/ 141252 h 141252"/>
              <a:gd name="connsiteX1" fmla="*/ 2303630 w 2303630"/>
              <a:gd name="connsiteY1" fmla="*/ 0 h 141252"/>
              <a:gd name="connsiteX0" fmla="*/ 0 w 2303630"/>
              <a:gd name="connsiteY0" fmla="*/ 141252 h 141252"/>
              <a:gd name="connsiteX1" fmla="*/ 2303630 w 2303630"/>
              <a:gd name="connsiteY1" fmla="*/ 0 h 141252"/>
              <a:gd name="connsiteX0" fmla="*/ 0 w 2303630"/>
              <a:gd name="connsiteY0" fmla="*/ 141252 h 141252"/>
              <a:gd name="connsiteX1" fmla="*/ 2303630 w 2303630"/>
              <a:gd name="connsiteY1" fmla="*/ 0 h 141252"/>
              <a:gd name="connsiteX0" fmla="*/ 0 w 2279094"/>
              <a:gd name="connsiteY0" fmla="*/ 145628 h 145628"/>
              <a:gd name="connsiteX1" fmla="*/ 2279094 w 2279094"/>
              <a:gd name="connsiteY1" fmla="*/ 0 h 145628"/>
              <a:gd name="connsiteX0" fmla="*/ 0 w 2279094"/>
              <a:gd name="connsiteY0" fmla="*/ 145628 h 145628"/>
              <a:gd name="connsiteX1" fmla="*/ 2279094 w 2279094"/>
              <a:gd name="connsiteY1" fmla="*/ 0 h 145628"/>
              <a:gd name="connsiteX0" fmla="*/ 0 w 2291362"/>
              <a:gd name="connsiteY0" fmla="*/ 143440 h 143440"/>
              <a:gd name="connsiteX1" fmla="*/ 2291362 w 2291362"/>
              <a:gd name="connsiteY1" fmla="*/ 0 h 143440"/>
              <a:gd name="connsiteX0" fmla="*/ 0 w 2291362"/>
              <a:gd name="connsiteY0" fmla="*/ 143440 h 143440"/>
              <a:gd name="connsiteX1" fmla="*/ 2291362 w 2291362"/>
              <a:gd name="connsiteY1" fmla="*/ 0 h 143440"/>
              <a:gd name="connsiteX0" fmla="*/ 0 w 2393596"/>
              <a:gd name="connsiteY0" fmla="*/ 142968 h 142968"/>
              <a:gd name="connsiteX1" fmla="*/ 2393596 w 2393596"/>
              <a:gd name="connsiteY1" fmla="*/ 0 h 142968"/>
              <a:gd name="connsiteX0" fmla="*/ 0 w 2393596"/>
              <a:gd name="connsiteY0" fmla="*/ 142968 h 142968"/>
              <a:gd name="connsiteX1" fmla="*/ 2393596 w 2393596"/>
              <a:gd name="connsiteY1" fmla="*/ 0 h 142968"/>
            </a:gdLst>
            <a:ahLst/>
            <a:cxnLst>
              <a:cxn ang="0">
                <a:pos x="connsiteX0" y="connsiteY0"/>
              </a:cxn>
              <a:cxn ang="0">
                <a:pos x="connsiteX1" y="connsiteY1"/>
              </a:cxn>
            </a:cxnLst>
            <a:rect l="l" t="t" r="r" b="b"/>
            <a:pathLst>
              <a:path w="2393596" h="142968">
                <a:moveTo>
                  <a:pt x="0" y="142968"/>
                </a:moveTo>
                <a:cubicBezTo>
                  <a:pt x="839760" y="130401"/>
                  <a:pt x="1619870" y="99125"/>
                  <a:pt x="2393596" y="0"/>
                </a:cubicBezTo>
              </a:path>
            </a:pathLst>
          </a:custGeom>
          <a:noFill/>
          <a:ln w="38100">
            <a:solidFill>
              <a:srgbClr val="AFD89C"/>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4" name="任意多边形 103"/>
          <p:cNvSpPr/>
          <p:nvPr/>
        </p:nvSpPr>
        <p:spPr bwMode="gray">
          <a:xfrm flipV="1">
            <a:off x="2301462" y="5109963"/>
            <a:ext cx="2450881" cy="411009"/>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2251209"/>
              <a:gd name="connsiteY0" fmla="*/ 303646 h 475992"/>
              <a:gd name="connsiteX1" fmla="*/ 2251209 w 2251209"/>
              <a:gd name="connsiteY1" fmla="*/ 0 h 475992"/>
              <a:gd name="connsiteX0" fmla="*/ 0 w 2251209"/>
              <a:gd name="connsiteY0" fmla="*/ 272919 h 452199"/>
              <a:gd name="connsiteX1" fmla="*/ 2251209 w 2251209"/>
              <a:gd name="connsiteY1" fmla="*/ 0 h 452199"/>
              <a:gd name="connsiteX0" fmla="*/ 0 w 2251209"/>
              <a:gd name="connsiteY0" fmla="*/ 272919 h 458583"/>
              <a:gd name="connsiteX1" fmla="*/ 2251209 w 2251209"/>
              <a:gd name="connsiteY1" fmla="*/ 0 h 458583"/>
              <a:gd name="connsiteX0" fmla="*/ 0 w 2251209"/>
              <a:gd name="connsiteY0" fmla="*/ 272919 h 465276"/>
              <a:gd name="connsiteX1" fmla="*/ 2251209 w 2251209"/>
              <a:gd name="connsiteY1" fmla="*/ 0 h 465276"/>
              <a:gd name="connsiteX0" fmla="*/ 0 w 2251209"/>
              <a:gd name="connsiteY0" fmla="*/ 272919 h 450102"/>
              <a:gd name="connsiteX1" fmla="*/ 2251209 w 2251209"/>
              <a:gd name="connsiteY1" fmla="*/ 0 h 450102"/>
              <a:gd name="connsiteX0" fmla="*/ 0 w 2335940"/>
              <a:gd name="connsiteY0" fmla="*/ 373066 h 527105"/>
              <a:gd name="connsiteX1" fmla="*/ 2335940 w 2335940"/>
              <a:gd name="connsiteY1" fmla="*/ 0 h 527105"/>
              <a:gd name="connsiteX0" fmla="*/ 0 w 2335940"/>
              <a:gd name="connsiteY0" fmla="*/ 373066 h 441963"/>
              <a:gd name="connsiteX1" fmla="*/ 2335940 w 2335940"/>
              <a:gd name="connsiteY1" fmla="*/ 0 h 441963"/>
              <a:gd name="connsiteX0" fmla="*/ 0 w 2335940"/>
              <a:gd name="connsiteY0" fmla="*/ 373066 h 441963"/>
              <a:gd name="connsiteX1" fmla="*/ 2335940 w 2335940"/>
              <a:gd name="connsiteY1" fmla="*/ 0 h 441963"/>
            </a:gdLst>
            <a:ahLst/>
            <a:cxnLst>
              <a:cxn ang="0">
                <a:pos x="connsiteX0" y="connsiteY0"/>
              </a:cxn>
              <a:cxn ang="0">
                <a:pos x="connsiteX1" y="connsiteY1"/>
              </a:cxn>
            </a:cxnLst>
            <a:rect l="l" t="t" r="r" b="b"/>
            <a:pathLst>
              <a:path w="2335940" h="441963">
                <a:moveTo>
                  <a:pt x="0" y="373066"/>
                </a:moveTo>
                <a:cubicBezTo>
                  <a:pt x="1387438" y="552188"/>
                  <a:pt x="1586217" y="365999"/>
                  <a:pt x="2335940" y="0"/>
                </a:cubicBezTo>
              </a:path>
            </a:pathLst>
          </a:custGeom>
          <a:noFill/>
          <a:ln w="38100">
            <a:solidFill>
              <a:srgbClr val="AFD89C"/>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5" name="文本框 104"/>
          <p:cNvSpPr txBox="1"/>
          <p:nvPr/>
        </p:nvSpPr>
        <p:spPr bwMode="gray">
          <a:xfrm>
            <a:off x="5478763" y="3761796"/>
            <a:ext cx="902811" cy="307777"/>
          </a:xfrm>
          <a:prstGeom prst="rect">
            <a:avLst/>
          </a:prstGeom>
          <a:noFill/>
        </p:spPr>
        <p:txBody>
          <a:bodyPr wrap="none" rtlCol="0">
            <a:spAutoFit/>
          </a:bodyPr>
          <a:lstStyle/>
          <a:p>
            <a:r>
              <a:rPr lang="zh-CN" altLang="en-US" sz="1400" dirty="0">
                <a:solidFill>
                  <a:schemeClr val="bg1">
                    <a:lumMod val="50000"/>
                  </a:schemeClr>
                </a:solidFill>
                <a:cs typeface="+mn-ea"/>
                <a:sym typeface="+mn-lt"/>
              </a:rPr>
              <a:t>分支站点</a:t>
            </a:r>
          </a:p>
        </p:txBody>
      </p:sp>
      <p:sp>
        <p:nvSpPr>
          <p:cNvPr id="106" name="文本框 105"/>
          <p:cNvSpPr txBox="1"/>
          <p:nvPr/>
        </p:nvSpPr>
        <p:spPr bwMode="gray">
          <a:xfrm>
            <a:off x="5331643" y="5318109"/>
            <a:ext cx="902810" cy="307777"/>
          </a:xfrm>
          <a:prstGeom prst="rect">
            <a:avLst/>
          </a:prstGeom>
          <a:noFill/>
        </p:spPr>
        <p:txBody>
          <a:bodyPr wrap="square" rtlCol="0">
            <a:spAutoFit/>
          </a:bodyPr>
          <a:lstStyle/>
          <a:p>
            <a:r>
              <a:rPr lang="zh-CN" altLang="en-US" sz="1400">
                <a:solidFill>
                  <a:schemeClr val="bg1">
                    <a:lumMod val="50000"/>
                  </a:schemeClr>
                </a:solidFill>
                <a:cs typeface="+mn-ea"/>
                <a:sym typeface="+mn-lt"/>
              </a:rPr>
              <a:t>分支站点</a:t>
            </a:r>
          </a:p>
        </p:txBody>
      </p:sp>
      <p:cxnSp>
        <p:nvCxnSpPr>
          <p:cNvPr id="107" name="直接箭头连接符 106"/>
          <p:cNvCxnSpPr/>
          <p:nvPr/>
        </p:nvCxnSpPr>
        <p:spPr bwMode="gray">
          <a:xfrm>
            <a:off x="528743" y="6029733"/>
            <a:ext cx="344277" cy="0"/>
          </a:xfrm>
          <a:prstGeom prst="straightConnector1">
            <a:avLst/>
          </a:prstGeom>
          <a:noFill/>
          <a:ln w="38100">
            <a:solidFill>
              <a:srgbClr val="AFD89C"/>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cxnSp>
      <p:sp>
        <p:nvSpPr>
          <p:cNvPr id="108" name="文本框 107"/>
          <p:cNvSpPr txBox="1"/>
          <p:nvPr/>
        </p:nvSpPr>
        <p:spPr bwMode="gray">
          <a:xfrm>
            <a:off x="842620" y="5891234"/>
            <a:ext cx="1233030" cy="276999"/>
          </a:xfrm>
          <a:prstGeom prst="rect">
            <a:avLst/>
          </a:prstGeom>
          <a:noFill/>
        </p:spPr>
        <p:txBody>
          <a:bodyPr wrap="none" rtlCol="0">
            <a:spAutoFit/>
          </a:bodyPr>
          <a:lstStyle/>
          <a:p>
            <a:r>
              <a:rPr lang="en-US" altLang="zh-CN" sz="1200" dirty="0" smtClean="0">
                <a:cs typeface="+mn-ea"/>
                <a:sym typeface="+mn-lt"/>
              </a:rPr>
              <a:t>GRE/IPsec VPN</a:t>
            </a:r>
            <a:endParaRPr lang="zh-CN" altLang="en-US" sz="1200" dirty="0">
              <a:cs typeface="+mn-ea"/>
              <a:sym typeface="+mn-lt"/>
            </a:endParaRPr>
          </a:p>
        </p:txBody>
      </p:sp>
      <p:sp>
        <p:nvSpPr>
          <p:cNvPr id="109" name="圆角矩形 108"/>
          <p:cNvSpPr/>
          <p:nvPr/>
        </p:nvSpPr>
        <p:spPr bwMode="auto">
          <a:xfrm>
            <a:off x="1648954" y="1295681"/>
            <a:ext cx="3863454" cy="1534422"/>
          </a:xfrm>
          <a:prstGeom prst="roundRect">
            <a:avLst>
              <a:gd name="adj" fmla="val 2222"/>
            </a:avLst>
          </a:prstGeom>
          <a:solidFill>
            <a:schemeClr val="bg1"/>
          </a:solidFill>
          <a:ln w="12700">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rgbClr val="30B5C5"/>
              </a:solidFill>
              <a:cs typeface="+mn-ea"/>
              <a:sym typeface="+mn-lt"/>
            </a:endParaRPr>
          </a:p>
        </p:txBody>
      </p:sp>
      <p:sp>
        <p:nvSpPr>
          <p:cNvPr id="110" name="圆角矩形 109"/>
          <p:cNvSpPr/>
          <p:nvPr/>
        </p:nvSpPr>
        <p:spPr bwMode="auto">
          <a:xfrm>
            <a:off x="2055981" y="1156170"/>
            <a:ext cx="3049401" cy="301032"/>
          </a:xfrm>
          <a:prstGeom prst="roundRect">
            <a:avLst/>
          </a:prstGeom>
          <a:solidFill>
            <a:srgbClr val="ECF9FA"/>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err="1">
                <a:solidFill>
                  <a:srgbClr val="30B5C5"/>
                </a:solidFill>
                <a:cs typeface="+mn-ea"/>
                <a:sym typeface="+mn-lt"/>
              </a:rPr>
              <a:t>iMaster</a:t>
            </a:r>
            <a:r>
              <a:rPr lang="en-US" altLang="zh-CN" sz="1400" dirty="0">
                <a:solidFill>
                  <a:srgbClr val="30B5C5"/>
                </a:solidFill>
                <a:cs typeface="+mn-ea"/>
                <a:sym typeface="+mn-lt"/>
              </a:rPr>
              <a:t> </a:t>
            </a:r>
            <a:r>
              <a:rPr lang="en-US" altLang="zh-CN" sz="1400" dirty="0" smtClean="0">
                <a:solidFill>
                  <a:srgbClr val="30B5C5"/>
                </a:solidFill>
                <a:cs typeface="+mn-ea"/>
                <a:sym typeface="+mn-lt"/>
              </a:rPr>
              <a:t>NCE-Campus</a:t>
            </a:r>
            <a:endParaRPr lang="zh-CN" altLang="en-US" sz="1400" dirty="0">
              <a:solidFill>
                <a:srgbClr val="30B5C5"/>
              </a:solidFill>
              <a:cs typeface="+mn-ea"/>
              <a:sym typeface="+mn-lt"/>
            </a:endParaRPr>
          </a:p>
        </p:txBody>
      </p:sp>
      <p:sp>
        <p:nvSpPr>
          <p:cNvPr id="111" name="圆角矩形 110"/>
          <p:cNvSpPr/>
          <p:nvPr/>
        </p:nvSpPr>
        <p:spPr bwMode="auto">
          <a:xfrm>
            <a:off x="2055981" y="1623823"/>
            <a:ext cx="3049401" cy="30103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smtClean="0">
                <a:solidFill>
                  <a:srgbClr val="30B5C5"/>
                </a:solidFill>
                <a:cs typeface="+mn-ea"/>
                <a:sym typeface="+mn-lt"/>
              </a:rPr>
              <a:t>UI</a:t>
            </a:r>
            <a:r>
              <a:rPr lang="zh-CN" altLang="en-US" sz="1400" dirty="0" smtClean="0">
                <a:solidFill>
                  <a:srgbClr val="30B5C5"/>
                </a:solidFill>
                <a:cs typeface="+mn-ea"/>
                <a:sym typeface="+mn-lt"/>
              </a:rPr>
              <a:t>界面</a:t>
            </a:r>
            <a:endParaRPr lang="zh-CN" altLang="en-US" sz="1400" dirty="0">
              <a:solidFill>
                <a:srgbClr val="30B5C5"/>
              </a:solidFill>
              <a:cs typeface="+mn-ea"/>
              <a:sym typeface="+mn-lt"/>
            </a:endParaRPr>
          </a:p>
        </p:txBody>
      </p:sp>
      <p:sp>
        <p:nvSpPr>
          <p:cNvPr id="112" name="圆角矩形 111"/>
          <p:cNvSpPr/>
          <p:nvPr/>
        </p:nvSpPr>
        <p:spPr bwMode="auto">
          <a:xfrm>
            <a:off x="2055981" y="2355938"/>
            <a:ext cx="3049401" cy="30103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a:solidFill>
                  <a:srgbClr val="30B5C5"/>
                </a:solidFill>
                <a:cs typeface="+mn-ea"/>
                <a:sym typeface="+mn-lt"/>
              </a:rPr>
              <a:t>南向网元层</a:t>
            </a:r>
          </a:p>
        </p:txBody>
      </p:sp>
      <p:sp>
        <p:nvSpPr>
          <p:cNvPr id="114" name="圆角矩形 113"/>
          <p:cNvSpPr/>
          <p:nvPr/>
        </p:nvSpPr>
        <p:spPr bwMode="blackGray">
          <a:xfrm>
            <a:off x="2055981" y="1989881"/>
            <a:ext cx="1053707" cy="30103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smtClean="0">
                <a:solidFill>
                  <a:srgbClr val="30B5C5"/>
                </a:solidFill>
                <a:cs typeface="+mn-ea"/>
                <a:sym typeface="+mn-lt"/>
              </a:rPr>
              <a:t>站点配置</a:t>
            </a:r>
            <a:endParaRPr lang="zh-CN" altLang="en-US" sz="1400" dirty="0">
              <a:solidFill>
                <a:srgbClr val="30B5C5"/>
              </a:solidFill>
              <a:cs typeface="+mn-ea"/>
              <a:sym typeface="+mn-lt"/>
            </a:endParaRPr>
          </a:p>
        </p:txBody>
      </p:sp>
      <p:sp>
        <p:nvSpPr>
          <p:cNvPr id="115" name="圆角矩形 114"/>
          <p:cNvSpPr/>
          <p:nvPr/>
        </p:nvSpPr>
        <p:spPr bwMode="blackGray">
          <a:xfrm>
            <a:off x="3154297" y="1989881"/>
            <a:ext cx="1053707" cy="30103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smtClean="0">
                <a:solidFill>
                  <a:srgbClr val="30B5C5"/>
                </a:solidFill>
                <a:cs typeface="+mn-ea"/>
                <a:sym typeface="+mn-lt"/>
              </a:rPr>
              <a:t>虚拟网络</a:t>
            </a:r>
            <a:endParaRPr lang="zh-CN" altLang="en-US" sz="1400" dirty="0">
              <a:solidFill>
                <a:srgbClr val="30B5C5"/>
              </a:solidFill>
              <a:cs typeface="+mn-ea"/>
              <a:sym typeface="+mn-lt"/>
            </a:endParaRPr>
          </a:p>
        </p:txBody>
      </p:sp>
      <p:sp>
        <p:nvSpPr>
          <p:cNvPr id="116" name="圆角矩形 115"/>
          <p:cNvSpPr/>
          <p:nvPr/>
        </p:nvSpPr>
        <p:spPr bwMode="blackGray">
          <a:xfrm>
            <a:off x="4252613" y="1989881"/>
            <a:ext cx="847767" cy="301032"/>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smtClean="0">
                <a:solidFill>
                  <a:srgbClr val="30B5C5"/>
                </a:solidFill>
                <a:cs typeface="+mn-ea"/>
                <a:sym typeface="+mn-lt"/>
              </a:rPr>
              <a:t>运维</a:t>
            </a:r>
            <a:endParaRPr lang="zh-CN" altLang="en-US" sz="1400" dirty="0">
              <a:solidFill>
                <a:srgbClr val="30B5C5"/>
              </a:solidFill>
              <a:cs typeface="+mn-ea"/>
              <a:sym typeface="+mn-lt"/>
            </a:endParaRPr>
          </a:p>
        </p:txBody>
      </p:sp>
      <p:cxnSp>
        <p:nvCxnSpPr>
          <p:cNvPr id="117" name="直接箭头连接符 116"/>
          <p:cNvCxnSpPr>
            <a:stCxn id="130" idx="1"/>
          </p:cNvCxnSpPr>
          <p:nvPr/>
        </p:nvCxnSpPr>
        <p:spPr bwMode="gray">
          <a:xfrm flipH="1">
            <a:off x="2518162" y="3581848"/>
            <a:ext cx="747593" cy="331894"/>
          </a:xfrm>
          <a:prstGeom prst="straightConnector1">
            <a:avLst/>
          </a:prstGeom>
          <a:ln w="19050">
            <a:solidFill>
              <a:srgbClr val="FF6600"/>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a:stCxn id="130" idx="1"/>
          </p:cNvCxnSpPr>
          <p:nvPr/>
        </p:nvCxnSpPr>
        <p:spPr bwMode="gray">
          <a:xfrm flipH="1">
            <a:off x="2301462" y="3581848"/>
            <a:ext cx="964293" cy="1315574"/>
          </a:xfrm>
          <a:prstGeom prst="straightConnector1">
            <a:avLst/>
          </a:prstGeom>
          <a:ln w="19050">
            <a:solidFill>
              <a:srgbClr val="FF6600"/>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a:stCxn id="130" idx="3"/>
          </p:cNvCxnSpPr>
          <p:nvPr/>
        </p:nvCxnSpPr>
        <p:spPr bwMode="gray">
          <a:xfrm>
            <a:off x="3745322" y="3581848"/>
            <a:ext cx="1177343" cy="149163"/>
          </a:xfrm>
          <a:prstGeom prst="straightConnector1">
            <a:avLst/>
          </a:prstGeom>
          <a:ln w="19050">
            <a:solidFill>
              <a:srgbClr val="FF6600"/>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a:stCxn id="130" idx="3"/>
            <a:endCxn id="97" idx="1"/>
          </p:cNvCxnSpPr>
          <p:nvPr/>
        </p:nvCxnSpPr>
        <p:spPr bwMode="gray">
          <a:xfrm>
            <a:off x="3745322" y="3581848"/>
            <a:ext cx="1015551" cy="1890150"/>
          </a:xfrm>
          <a:prstGeom prst="straightConnector1">
            <a:avLst/>
          </a:prstGeom>
          <a:ln w="19050">
            <a:solidFill>
              <a:srgbClr val="FF6600"/>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21" name="图片 1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013262" y="3883096"/>
            <a:ext cx="490909" cy="402545"/>
          </a:xfrm>
          <a:prstGeom prst="rect">
            <a:avLst/>
          </a:prstGeom>
        </p:spPr>
      </p:pic>
      <p:pic>
        <p:nvPicPr>
          <p:cNvPr id="122" name="图片 1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963640" y="3714412"/>
            <a:ext cx="490909" cy="402545"/>
          </a:xfrm>
          <a:prstGeom prst="rect">
            <a:avLst/>
          </a:prstGeom>
        </p:spPr>
      </p:pic>
      <p:pic>
        <p:nvPicPr>
          <p:cNvPr id="123" name="图片 1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767807" y="4910583"/>
            <a:ext cx="490909" cy="402545"/>
          </a:xfrm>
          <a:prstGeom prst="rect">
            <a:avLst/>
          </a:prstGeom>
        </p:spPr>
      </p:pic>
      <p:cxnSp>
        <p:nvCxnSpPr>
          <p:cNvPr id="124" name="直接箭头连接符 123"/>
          <p:cNvCxnSpPr/>
          <p:nvPr/>
        </p:nvCxnSpPr>
        <p:spPr bwMode="gray">
          <a:xfrm>
            <a:off x="2114560" y="6029733"/>
            <a:ext cx="344277"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文本框 124"/>
          <p:cNvSpPr txBox="1"/>
          <p:nvPr/>
        </p:nvSpPr>
        <p:spPr bwMode="gray">
          <a:xfrm>
            <a:off x="2443045" y="5891234"/>
            <a:ext cx="800219" cy="276999"/>
          </a:xfrm>
          <a:prstGeom prst="rect">
            <a:avLst/>
          </a:prstGeom>
          <a:noFill/>
        </p:spPr>
        <p:txBody>
          <a:bodyPr wrap="none" rtlCol="0">
            <a:spAutoFit/>
          </a:bodyPr>
          <a:lstStyle/>
          <a:p>
            <a:r>
              <a:rPr lang="zh-CN" altLang="en-US" sz="1200" dirty="0" smtClean="0">
                <a:cs typeface="+mn-ea"/>
                <a:sym typeface="+mn-lt"/>
              </a:rPr>
              <a:t>管理通道</a:t>
            </a:r>
            <a:endParaRPr lang="zh-CN" altLang="en-US" sz="1200" dirty="0">
              <a:cs typeface="+mn-ea"/>
              <a:sym typeface="+mn-lt"/>
            </a:endParaRPr>
          </a:p>
        </p:txBody>
      </p:sp>
      <p:sp>
        <p:nvSpPr>
          <p:cNvPr id="126" name="任意多边形 125"/>
          <p:cNvSpPr/>
          <p:nvPr/>
        </p:nvSpPr>
        <p:spPr bwMode="gray">
          <a:xfrm flipV="1">
            <a:off x="3950078" y="4110648"/>
            <a:ext cx="1006143" cy="1229082"/>
          </a:xfrm>
          <a:custGeom>
            <a:avLst/>
            <a:gdLst>
              <a:gd name="connsiteX0" fmla="*/ 0 w 2325950"/>
              <a:gd name="connsiteY0" fmla="*/ 142043 h 142043"/>
              <a:gd name="connsiteX1" fmla="*/ 2325950 w 2325950"/>
              <a:gd name="connsiteY1" fmla="*/ 0 h 142043"/>
              <a:gd name="connsiteX0" fmla="*/ 0 w 2325950"/>
              <a:gd name="connsiteY0" fmla="*/ 142043 h 230522"/>
              <a:gd name="connsiteX1" fmla="*/ 2325950 w 2325950"/>
              <a:gd name="connsiteY1" fmla="*/ 0 h 230522"/>
              <a:gd name="connsiteX0" fmla="*/ 0 w 2319807"/>
              <a:gd name="connsiteY0" fmla="*/ 101074 h 197014"/>
              <a:gd name="connsiteX1" fmla="*/ 2319807 w 2319807"/>
              <a:gd name="connsiteY1" fmla="*/ 0 h 197014"/>
              <a:gd name="connsiteX0" fmla="*/ 0 w 2319807"/>
              <a:gd name="connsiteY0" fmla="*/ 101074 h 263545"/>
              <a:gd name="connsiteX1" fmla="*/ 2319807 w 2319807"/>
              <a:gd name="connsiteY1" fmla="*/ 0 h 263545"/>
              <a:gd name="connsiteX0" fmla="*/ 0 w 2319807"/>
              <a:gd name="connsiteY0" fmla="*/ 101074 h 252305"/>
              <a:gd name="connsiteX1" fmla="*/ 2319807 w 2319807"/>
              <a:gd name="connsiteY1" fmla="*/ 0 h 252305"/>
              <a:gd name="connsiteX0" fmla="*/ 0 w 2325950"/>
              <a:gd name="connsiteY0" fmla="*/ 41896 h 220694"/>
              <a:gd name="connsiteX1" fmla="*/ 2325950 w 2325950"/>
              <a:gd name="connsiteY1" fmla="*/ 0 h 220694"/>
              <a:gd name="connsiteX0" fmla="*/ 0 w 2315711"/>
              <a:gd name="connsiteY0" fmla="*/ 37345 h 218468"/>
              <a:gd name="connsiteX1" fmla="*/ 2315711 w 2315711"/>
              <a:gd name="connsiteY1" fmla="*/ 0 h 218468"/>
              <a:gd name="connsiteX0" fmla="*/ 0 w 2315711"/>
              <a:gd name="connsiteY0" fmla="*/ 37345 h 280741"/>
              <a:gd name="connsiteX1" fmla="*/ 2315711 w 2315711"/>
              <a:gd name="connsiteY1" fmla="*/ 0 h 280741"/>
              <a:gd name="connsiteX0" fmla="*/ 0 w 2315711"/>
              <a:gd name="connsiteY0" fmla="*/ 37345 h 277709"/>
              <a:gd name="connsiteX1" fmla="*/ 2315711 w 2315711"/>
              <a:gd name="connsiteY1" fmla="*/ 0 h 277709"/>
              <a:gd name="connsiteX0" fmla="*/ 0 w 2257352"/>
              <a:gd name="connsiteY0" fmla="*/ 102213 h 317376"/>
              <a:gd name="connsiteX1" fmla="*/ 2257352 w 2257352"/>
              <a:gd name="connsiteY1" fmla="*/ 0 h 317376"/>
              <a:gd name="connsiteX0" fmla="*/ 0 w 2257352"/>
              <a:gd name="connsiteY0" fmla="*/ 102213 h 288147"/>
              <a:gd name="connsiteX1" fmla="*/ 2257352 w 2257352"/>
              <a:gd name="connsiteY1" fmla="*/ 0 h 288147"/>
              <a:gd name="connsiteX0" fmla="*/ 0 w 2251209"/>
              <a:gd name="connsiteY0" fmla="*/ 303646 h 432374"/>
              <a:gd name="connsiteX1" fmla="*/ 2251209 w 2251209"/>
              <a:gd name="connsiteY1" fmla="*/ 0 h 432374"/>
              <a:gd name="connsiteX0" fmla="*/ 0 w 475872"/>
              <a:gd name="connsiteY0" fmla="*/ 0 h 294149"/>
              <a:gd name="connsiteX1" fmla="*/ 475872 w 475872"/>
              <a:gd name="connsiteY1" fmla="*/ 112875 h 294149"/>
              <a:gd name="connsiteX0" fmla="*/ 342338 w 818210"/>
              <a:gd name="connsiteY0" fmla="*/ 0 h 421763"/>
              <a:gd name="connsiteX1" fmla="*/ 818210 w 818210"/>
              <a:gd name="connsiteY1" fmla="*/ 112875 h 421763"/>
              <a:gd name="connsiteX0" fmla="*/ 583728 w 583727"/>
              <a:gd name="connsiteY0" fmla="*/ 0 h 596411"/>
              <a:gd name="connsiteX1" fmla="*/ 436082 w 583727"/>
              <a:gd name="connsiteY1" fmla="*/ 420145 h 596411"/>
              <a:gd name="connsiteX0" fmla="*/ 770018 w 770018"/>
              <a:gd name="connsiteY0" fmla="*/ 0 h 541654"/>
              <a:gd name="connsiteX1" fmla="*/ 622372 w 770018"/>
              <a:gd name="connsiteY1" fmla="*/ 420145 h 541654"/>
              <a:gd name="connsiteX0" fmla="*/ 714256 w 714256"/>
              <a:gd name="connsiteY0" fmla="*/ 0 h 768254"/>
              <a:gd name="connsiteX1" fmla="*/ 701756 w 714256"/>
              <a:gd name="connsiteY1" fmla="*/ 683032 h 768254"/>
              <a:gd name="connsiteX0" fmla="*/ 711387 w 711387"/>
              <a:gd name="connsiteY0" fmla="*/ 0 h 683032"/>
              <a:gd name="connsiteX1" fmla="*/ 698887 w 711387"/>
              <a:gd name="connsiteY1" fmla="*/ 683032 h 683032"/>
              <a:gd name="connsiteX0" fmla="*/ 697354 w 721712"/>
              <a:gd name="connsiteY0" fmla="*/ 0 h 747900"/>
              <a:gd name="connsiteX1" fmla="*/ 721712 w 721712"/>
              <a:gd name="connsiteY1" fmla="*/ 747900 h 747900"/>
              <a:gd name="connsiteX0" fmla="*/ 637007 w 834984"/>
              <a:gd name="connsiteY0" fmla="*/ 0 h 1046424"/>
              <a:gd name="connsiteX1" fmla="*/ 834984 w 834984"/>
              <a:gd name="connsiteY1" fmla="*/ 1046424 h 1046424"/>
              <a:gd name="connsiteX0" fmla="*/ 673380 w 871357"/>
              <a:gd name="connsiteY0" fmla="*/ 0 h 1046424"/>
              <a:gd name="connsiteX1" fmla="*/ 871357 w 871357"/>
              <a:gd name="connsiteY1" fmla="*/ 1046424 h 1046424"/>
              <a:gd name="connsiteX0" fmla="*/ 669401 w 867378"/>
              <a:gd name="connsiteY0" fmla="*/ 0 h 1046424"/>
              <a:gd name="connsiteX1" fmla="*/ 867378 w 867378"/>
              <a:gd name="connsiteY1" fmla="*/ 1046424 h 1046424"/>
              <a:gd name="connsiteX0" fmla="*/ 647599 w 845576"/>
              <a:gd name="connsiteY0" fmla="*/ 0 h 1046424"/>
              <a:gd name="connsiteX1" fmla="*/ 845576 w 845576"/>
              <a:gd name="connsiteY1" fmla="*/ 1046424 h 1046424"/>
              <a:gd name="connsiteX0" fmla="*/ 625203 w 893188"/>
              <a:gd name="connsiteY0" fmla="*/ 0 h 1074978"/>
              <a:gd name="connsiteX1" fmla="*/ 893188 w 893188"/>
              <a:gd name="connsiteY1" fmla="*/ 1074978 h 1074978"/>
              <a:gd name="connsiteX0" fmla="*/ 625203 w 893188"/>
              <a:gd name="connsiteY0" fmla="*/ 0 h 997102"/>
              <a:gd name="connsiteX1" fmla="*/ 893188 w 893188"/>
              <a:gd name="connsiteY1" fmla="*/ 997102 h 997102"/>
              <a:gd name="connsiteX0" fmla="*/ 627821 w 887405"/>
              <a:gd name="connsiteY0" fmla="*/ 0 h 1004890"/>
              <a:gd name="connsiteX1" fmla="*/ 887405 w 887405"/>
              <a:gd name="connsiteY1" fmla="*/ 1004890 h 1004890"/>
            </a:gdLst>
            <a:ahLst/>
            <a:cxnLst>
              <a:cxn ang="0">
                <a:pos x="connsiteX0" y="connsiteY0"/>
              </a:cxn>
              <a:cxn ang="0">
                <a:pos x="connsiteX1" y="connsiteY1"/>
              </a:cxn>
            </a:cxnLst>
            <a:rect l="l" t="t" r="r" b="b"/>
            <a:pathLst>
              <a:path w="887405" h="1004890">
                <a:moveTo>
                  <a:pt x="627821" y="0"/>
                </a:moveTo>
                <a:cubicBezTo>
                  <a:pt x="-601537" y="409005"/>
                  <a:pt x="243866" y="434687"/>
                  <a:pt x="887405" y="1004890"/>
                </a:cubicBezTo>
              </a:path>
            </a:pathLst>
          </a:custGeom>
          <a:noFill/>
          <a:ln w="38100">
            <a:solidFill>
              <a:srgbClr val="AFD89C"/>
            </a:solidFill>
            <a:prstDash val="solid"/>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27" name="直接箭头连接符 126"/>
          <p:cNvCxnSpPr/>
          <p:nvPr/>
        </p:nvCxnSpPr>
        <p:spPr bwMode="gray">
          <a:xfrm>
            <a:off x="3282684" y="6029733"/>
            <a:ext cx="344277" cy="0"/>
          </a:xfrm>
          <a:prstGeom prst="straightConnector1">
            <a:avLst/>
          </a:prstGeom>
          <a:ln w="19050">
            <a:solidFill>
              <a:srgbClr val="FF6600"/>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28" name="文本框 127"/>
          <p:cNvSpPr txBox="1"/>
          <p:nvPr/>
        </p:nvSpPr>
        <p:spPr bwMode="gray">
          <a:xfrm>
            <a:off x="3611169" y="5891234"/>
            <a:ext cx="2295821" cy="276999"/>
          </a:xfrm>
          <a:prstGeom prst="rect">
            <a:avLst/>
          </a:prstGeom>
          <a:noFill/>
        </p:spPr>
        <p:txBody>
          <a:bodyPr wrap="none" rtlCol="0">
            <a:spAutoFit/>
          </a:bodyPr>
          <a:lstStyle/>
          <a:p>
            <a:r>
              <a:rPr lang="zh-CN" altLang="en-US" sz="1200" dirty="0" smtClean="0">
                <a:cs typeface="+mn-ea"/>
                <a:sym typeface="+mn-lt"/>
              </a:rPr>
              <a:t>控制面：</a:t>
            </a:r>
            <a:r>
              <a:rPr lang="en-US" altLang="zh-CN" sz="1200" dirty="0" smtClean="0">
                <a:cs typeface="+mn-ea"/>
                <a:sym typeface="+mn-lt"/>
              </a:rPr>
              <a:t>BGP EVPN</a:t>
            </a:r>
            <a:r>
              <a:rPr lang="zh-CN" altLang="en-US" sz="1200" dirty="0" smtClean="0">
                <a:cs typeface="+mn-ea"/>
                <a:sym typeface="+mn-lt"/>
              </a:rPr>
              <a:t>对等体关系</a:t>
            </a:r>
            <a:endParaRPr lang="zh-CN" altLang="en-US" sz="1200" dirty="0">
              <a:cs typeface="+mn-ea"/>
              <a:sym typeface="+mn-lt"/>
            </a:endParaRPr>
          </a:p>
        </p:txBody>
      </p:sp>
      <p:sp>
        <p:nvSpPr>
          <p:cNvPr id="129" name="文本框 128"/>
          <p:cNvSpPr txBox="1"/>
          <p:nvPr/>
        </p:nvSpPr>
        <p:spPr bwMode="gray">
          <a:xfrm>
            <a:off x="3294804" y="3102390"/>
            <a:ext cx="418704" cy="307777"/>
          </a:xfrm>
          <a:prstGeom prst="rect">
            <a:avLst/>
          </a:prstGeom>
          <a:noFill/>
        </p:spPr>
        <p:txBody>
          <a:bodyPr wrap="none" rtlCol="0">
            <a:spAutoFit/>
          </a:bodyPr>
          <a:lstStyle/>
          <a:p>
            <a:r>
              <a:rPr lang="en-US" altLang="zh-CN" sz="1400" b="1" dirty="0" smtClean="0">
                <a:cs typeface="+mn-ea"/>
                <a:sym typeface="+mn-lt"/>
              </a:rPr>
              <a:t>RR</a:t>
            </a:r>
            <a:endParaRPr lang="zh-CN" altLang="en-US" sz="1400" b="1" dirty="0">
              <a:cs typeface="+mn-ea"/>
              <a:sym typeface="+mn-lt"/>
            </a:endParaRPr>
          </a:p>
        </p:txBody>
      </p:sp>
      <p:pic>
        <p:nvPicPr>
          <p:cNvPr id="130" name="图片 129"/>
          <p:cNvPicPr>
            <a:picLocks noChangeAspect="1"/>
          </p:cNvPicPr>
          <p:nvPr/>
        </p:nvPicPr>
        <p:blipFill>
          <a:blip r:embed="rId4"/>
          <a:stretch>
            <a:fillRect/>
          </a:stretch>
        </p:blipFill>
        <p:spPr bwMode="gray">
          <a:xfrm>
            <a:off x="3265755" y="3390970"/>
            <a:ext cx="479567" cy="381755"/>
          </a:xfrm>
          <a:prstGeom prst="rect">
            <a:avLst/>
          </a:prstGeom>
        </p:spPr>
      </p:pic>
    </p:spTree>
    <p:extLst>
      <p:ext uri="{BB962C8B-B14F-4D97-AF65-F5344CB8AC3E}">
        <p14:creationId xmlns:p14="http://schemas.microsoft.com/office/powerpoint/2010/main" val="1924124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latin typeface="+mn-lt"/>
                <a:ea typeface="+mn-ea"/>
                <a:cs typeface="+mn-ea"/>
                <a:sym typeface="+mn-lt"/>
              </a:rPr>
              <a:t>SD-WAN</a:t>
            </a:r>
            <a:r>
              <a:rPr lang="zh-CN" altLang="en-US" dirty="0" smtClean="0">
                <a:latin typeface="+mn-lt"/>
                <a:ea typeface="+mn-ea"/>
                <a:cs typeface="+mn-ea"/>
                <a:sym typeface="+mn-lt"/>
              </a:rPr>
              <a:t>方案概述 </a:t>
            </a:r>
            <a:r>
              <a:rPr lang="en-US" altLang="zh-CN" dirty="0" smtClean="0">
                <a:cs typeface="+mn-ea"/>
                <a:sym typeface="+mn-lt"/>
              </a:rPr>
              <a:t>(2)</a:t>
            </a:r>
            <a:endParaRPr lang="zh-CN" altLang="en-US" dirty="0">
              <a:latin typeface="+mn-lt"/>
              <a:ea typeface="+mn-ea"/>
              <a:cs typeface="+mn-ea"/>
              <a:sym typeface="+mn-lt"/>
            </a:endParaRPr>
          </a:p>
        </p:txBody>
      </p:sp>
      <p:sp>
        <p:nvSpPr>
          <p:cNvPr id="3" name="圆角矩形 75"/>
          <p:cNvSpPr/>
          <p:nvPr/>
        </p:nvSpPr>
        <p:spPr bwMode="gray">
          <a:xfrm>
            <a:off x="738231" y="1207340"/>
            <a:ext cx="647536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网络模型设计</a:t>
            </a:r>
          </a:p>
        </p:txBody>
      </p:sp>
      <p:sp>
        <p:nvSpPr>
          <p:cNvPr id="4" name="圆角矩形 75"/>
          <p:cNvSpPr/>
          <p:nvPr/>
        </p:nvSpPr>
        <p:spPr bwMode="gray">
          <a:xfrm>
            <a:off x="738231" y="1611298"/>
            <a:ext cx="6475369" cy="4310477"/>
          </a:xfrm>
          <a:prstGeom prst="roundRect">
            <a:avLst>
              <a:gd name="adj" fmla="val 1025"/>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a:lnSpc>
                <a:spcPts val="2400"/>
              </a:lnSpc>
              <a:spcAft>
                <a:spcPts val="600"/>
              </a:spcAft>
            </a:pPr>
            <a:r>
              <a:rPr lang="zh-CN" altLang="en-US" sz="1600" dirty="0">
                <a:solidFill>
                  <a:schemeClr val="tx1"/>
                </a:solidFill>
                <a:cs typeface="+mn-ea"/>
                <a:sym typeface="+mn-lt"/>
              </a:rPr>
              <a:t>需要根据站点规模、数据访问模型，</a:t>
            </a:r>
            <a:r>
              <a:rPr lang="zh-CN" altLang="en-US" sz="1600" dirty="0" smtClean="0">
                <a:solidFill>
                  <a:schemeClr val="tx1"/>
                </a:solidFill>
                <a:cs typeface="+mn-ea"/>
                <a:sym typeface="+mn-lt"/>
              </a:rPr>
              <a:t>选择网络模型。</a:t>
            </a:r>
            <a:endParaRPr lang="en-US" altLang="zh-CN" sz="1600" dirty="0" smtClean="0">
              <a:solidFill>
                <a:schemeClr val="tx1"/>
              </a:solidFill>
              <a:cs typeface="+mn-ea"/>
              <a:sym typeface="+mn-lt"/>
            </a:endParaRPr>
          </a:p>
          <a:p>
            <a:pPr marL="180000" indent="-180000" defTabSz="914034">
              <a:lnSpc>
                <a:spcPct val="140000"/>
              </a:lnSpc>
              <a:spcAft>
                <a:spcPts val="600"/>
              </a:spcAft>
              <a:buFont typeface="Huawei Sans" panose="020C0503030203020204" pitchFamily="34" charset="0"/>
              <a:buChar char="•"/>
            </a:pPr>
            <a:r>
              <a:rPr lang="zh-CN" altLang="en-US" sz="1600" b="1" dirty="0">
                <a:solidFill>
                  <a:schemeClr val="tx1"/>
                </a:solidFill>
                <a:cs typeface="Arial" panose="020B0604020202020204" pitchFamily="34" charset="0"/>
                <a:sym typeface="+mn-lt"/>
              </a:rPr>
              <a:t>单层模型</a:t>
            </a:r>
            <a:endParaRPr lang="en-US" altLang="zh-CN" sz="1600" b="1" dirty="0">
              <a:solidFill>
                <a:schemeClr val="tx1"/>
              </a:solidFill>
              <a:cs typeface="Arial" panose="020B0604020202020204" pitchFamily="34" charset="0"/>
              <a:sym typeface="+mn-lt"/>
            </a:endParaRPr>
          </a:p>
          <a:p>
            <a:pPr marL="654938" lvl="1" indent="-251899" defTabSz="914034">
              <a:lnSpc>
                <a:spcPct val="140000"/>
              </a:lnSpc>
              <a:spcAft>
                <a:spcPts val="600"/>
              </a:spcAft>
              <a:buFont typeface="Huawei Sans" panose="020C0503030203020204" pitchFamily="34" charset="0"/>
              <a:buChar char="▫"/>
            </a:pPr>
            <a:r>
              <a:rPr lang="zh-CN" altLang="en-US" sz="1400" dirty="0" smtClean="0">
                <a:solidFill>
                  <a:schemeClr val="tx1"/>
                </a:solidFill>
                <a:sym typeface="+mn-lt"/>
              </a:rPr>
              <a:t>又称为扁平网络模型。特点是企业</a:t>
            </a:r>
            <a:r>
              <a:rPr lang="zh-CN" altLang="en-US" sz="1400" dirty="0">
                <a:solidFill>
                  <a:schemeClr val="tx1"/>
                </a:solidFill>
                <a:sym typeface="+mn-lt"/>
              </a:rPr>
              <a:t>的广域站点之间可以直接互联或者通过一个或者多个中心站点进行互联</a:t>
            </a:r>
            <a:r>
              <a:rPr lang="zh-CN" altLang="en-US" sz="1400" dirty="0" smtClean="0">
                <a:solidFill>
                  <a:schemeClr val="tx1"/>
                </a:solidFill>
                <a:sym typeface="+mn-lt"/>
              </a:rPr>
              <a:t>。</a:t>
            </a:r>
            <a:endParaRPr lang="en-US" altLang="zh-CN" sz="1400" dirty="0" smtClean="0">
              <a:solidFill>
                <a:schemeClr val="tx1"/>
              </a:solidFill>
              <a:sym typeface="+mn-lt"/>
            </a:endParaRPr>
          </a:p>
          <a:p>
            <a:pPr marL="654938" lvl="1" indent="-251899" defTabSz="914034">
              <a:lnSpc>
                <a:spcPct val="140000"/>
              </a:lnSpc>
              <a:spcAft>
                <a:spcPts val="600"/>
              </a:spcAft>
              <a:buFont typeface="Huawei Sans" panose="020C0503030203020204" pitchFamily="34" charset="0"/>
              <a:buChar char="▫"/>
            </a:pPr>
            <a:r>
              <a:rPr lang="zh-CN" altLang="en-US" sz="1400" dirty="0" smtClean="0">
                <a:solidFill>
                  <a:schemeClr val="tx1"/>
                </a:solidFill>
                <a:sym typeface="+mn-lt"/>
              </a:rPr>
              <a:t>中小企业</a:t>
            </a:r>
            <a:r>
              <a:rPr lang="zh-CN" altLang="en-US" sz="1400" dirty="0">
                <a:solidFill>
                  <a:schemeClr val="tx1"/>
                </a:solidFill>
                <a:sym typeface="+mn-lt"/>
              </a:rPr>
              <a:t>以及站点数量不大（</a:t>
            </a:r>
            <a:r>
              <a:rPr lang="en-US" altLang="zh-CN" sz="1400" dirty="0">
                <a:solidFill>
                  <a:schemeClr val="tx1"/>
                </a:solidFill>
                <a:sym typeface="+mn-lt"/>
              </a:rPr>
              <a:t>&lt;100</a:t>
            </a:r>
            <a:r>
              <a:rPr lang="zh-CN" altLang="en-US" sz="1400" dirty="0">
                <a:solidFill>
                  <a:schemeClr val="tx1"/>
                </a:solidFill>
                <a:sym typeface="+mn-lt"/>
              </a:rPr>
              <a:t>个）的大企业，一般都采用该模型。</a:t>
            </a:r>
            <a:endParaRPr lang="en-US" altLang="zh-CN" sz="1400" dirty="0">
              <a:solidFill>
                <a:schemeClr val="tx1"/>
              </a:solidFill>
              <a:sym typeface="+mn-lt"/>
            </a:endParaRPr>
          </a:p>
          <a:p>
            <a:pPr marL="654938" lvl="1" indent="-251899" defTabSz="914034">
              <a:lnSpc>
                <a:spcPct val="140000"/>
              </a:lnSpc>
              <a:spcAft>
                <a:spcPts val="600"/>
              </a:spcAft>
              <a:buFont typeface="Huawei Sans" panose="020C0503030203020204" pitchFamily="34" charset="0"/>
              <a:buChar char="▫"/>
            </a:pPr>
            <a:r>
              <a:rPr lang="zh-CN" altLang="en-US" sz="1400" dirty="0" smtClean="0">
                <a:solidFill>
                  <a:schemeClr val="tx1"/>
                </a:solidFill>
                <a:sym typeface="+mn-lt"/>
              </a:rPr>
              <a:t>按照网络的拓扑进行细分，单</a:t>
            </a:r>
            <a:r>
              <a:rPr lang="zh-CN" altLang="en-US" sz="1400" dirty="0">
                <a:solidFill>
                  <a:schemeClr val="tx1"/>
                </a:solidFill>
                <a:sym typeface="+mn-lt"/>
              </a:rPr>
              <a:t>层网络进一步又可以划分为</a:t>
            </a:r>
            <a:r>
              <a:rPr lang="en-US" altLang="zh-CN" sz="1400" dirty="0">
                <a:solidFill>
                  <a:schemeClr val="tx1"/>
                </a:solidFill>
                <a:sym typeface="+mn-lt"/>
              </a:rPr>
              <a:t>Hub-Spoke</a:t>
            </a:r>
            <a:r>
              <a:rPr lang="zh-CN" altLang="en-US" sz="1400" dirty="0">
                <a:solidFill>
                  <a:schemeClr val="tx1"/>
                </a:solidFill>
                <a:sym typeface="+mn-lt"/>
              </a:rPr>
              <a:t>、</a:t>
            </a:r>
            <a:r>
              <a:rPr lang="en-US" altLang="zh-CN" sz="1400" dirty="0">
                <a:solidFill>
                  <a:schemeClr val="tx1"/>
                </a:solidFill>
                <a:sym typeface="+mn-lt"/>
              </a:rPr>
              <a:t>Full-Mesh</a:t>
            </a:r>
            <a:r>
              <a:rPr lang="zh-CN" altLang="en-US" sz="1400" dirty="0">
                <a:solidFill>
                  <a:schemeClr val="tx1"/>
                </a:solidFill>
                <a:sym typeface="+mn-lt"/>
              </a:rPr>
              <a:t>和</a:t>
            </a:r>
            <a:r>
              <a:rPr lang="en-US" altLang="zh-CN" sz="1400" dirty="0">
                <a:solidFill>
                  <a:schemeClr val="tx1"/>
                </a:solidFill>
                <a:sym typeface="+mn-lt"/>
              </a:rPr>
              <a:t>Partial-Mesh</a:t>
            </a:r>
            <a:r>
              <a:rPr lang="zh-CN" altLang="en-US" sz="1400" dirty="0">
                <a:solidFill>
                  <a:schemeClr val="tx1"/>
                </a:solidFill>
                <a:sym typeface="+mn-lt"/>
              </a:rPr>
              <a:t>等方式。</a:t>
            </a:r>
            <a:endParaRPr lang="en-US" altLang="zh-CN" sz="1400" dirty="0">
              <a:solidFill>
                <a:schemeClr val="tx1"/>
              </a:solidFill>
              <a:sym typeface="+mn-lt"/>
            </a:endParaRPr>
          </a:p>
          <a:p>
            <a:pPr marL="180000" lvl="1" indent="-180000" defTabSz="914034">
              <a:lnSpc>
                <a:spcPct val="140000"/>
              </a:lnSpc>
              <a:spcAft>
                <a:spcPts val="600"/>
              </a:spcAft>
              <a:buFont typeface="Huawei Sans" panose="020C0503030203020204" pitchFamily="34" charset="0"/>
              <a:buChar char="•"/>
            </a:pPr>
            <a:r>
              <a:rPr lang="zh-CN" altLang="en-US" sz="1600" b="1" dirty="0">
                <a:solidFill>
                  <a:schemeClr val="tx1"/>
                </a:solidFill>
                <a:cs typeface="Arial" panose="020B0604020202020204" pitchFamily="34" charset="0"/>
                <a:sym typeface="+mn-lt"/>
              </a:rPr>
              <a:t>分层模型</a:t>
            </a:r>
            <a:endParaRPr lang="en-US" altLang="zh-CN" sz="1600" b="1" dirty="0">
              <a:solidFill>
                <a:schemeClr val="tx1"/>
              </a:solidFill>
              <a:cs typeface="Arial" panose="020B0604020202020204" pitchFamily="34" charset="0"/>
              <a:sym typeface="+mn-lt"/>
            </a:endParaRPr>
          </a:p>
          <a:p>
            <a:pPr marL="654938" lvl="1" indent="-251899" defTabSz="914034">
              <a:lnSpc>
                <a:spcPct val="140000"/>
              </a:lnSpc>
              <a:spcAft>
                <a:spcPts val="600"/>
              </a:spcAft>
              <a:buFont typeface="Huawei Sans" panose="020C0503030203020204" pitchFamily="34" charset="0"/>
              <a:buChar char="▫"/>
            </a:pPr>
            <a:r>
              <a:rPr lang="zh-CN" altLang="en-US" sz="1400" dirty="0">
                <a:solidFill>
                  <a:schemeClr val="tx1"/>
                </a:solidFill>
                <a:sym typeface="+mn-lt"/>
              </a:rPr>
              <a:t>适用大型的跨区域企业，将整个</a:t>
            </a:r>
            <a:r>
              <a:rPr lang="en-US" altLang="zh-CN" sz="1400" dirty="0">
                <a:solidFill>
                  <a:schemeClr val="tx1"/>
                </a:solidFill>
                <a:sym typeface="+mn-lt"/>
              </a:rPr>
              <a:t>Overlay</a:t>
            </a:r>
            <a:r>
              <a:rPr lang="zh-CN" altLang="en-US" sz="1400" dirty="0">
                <a:solidFill>
                  <a:schemeClr val="tx1"/>
                </a:solidFill>
                <a:sym typeface="+mn-lt"/>
              </a:rPr>
              <a:t>网络划分为多个区域，区域间的站点互访都需要经过区域边缘站点，区域内的拓扑可以采用</a:t>
            </a:r>
            <a:r>
              <a:rPr lang="en-US" altLang="zh-CN" sz="1400" dirty="0">
                <a:solidFill>
                  <a:schemeClr val="tx1"/>
                </a:solidFill>
                <a:sym typeface="+mn-lt"/>
              </a:rPr>
              <a:t>Hub-Spoke</a:t>
            </a:r>
            <a:r>
              <a:rPr lang="zh-CN" altLang="en-US" sz="1400" dirty="0">
                <a:solidFill>
                  <a:schemeClr val="tx1"/>
                </a:solidFill>
                <a:sym typeface="+mn-lt"/>
              </a:rPr>
              <a:t>、</a:t>
            </a:r>
            <a:r>
              <a:rPr lang="en-US" altLang="zh-CN" sz="1400" dirty="0">
                <a:solidFill>
                  <a:schemeClr val="tx1"/>
                </a:solidFill>
                <a:sym typeface="+mn-lt"/>
              </a:rPr>
              <a:t>Full-Mesh</a:t>
            </a:r>
            <a:r>
              <a:rPr lang="zh-CN" altLang="en-US" sz="1400" dirty="0">
                <a:solidFill>
                  <a:schemeClr val="tx1"/>
                </a:solidFill>
                <a:sym typeface="+mn-lt"/>
              </a:rPr>
              <a:t>或</a:t>
            </a:r>
            <a:r>
              <a:rPr lang="en-US" altLang="zh-CN" sz="1400" dirty="0">
                <a:solidFill>
                  <a:schemeClr val="tx1"/>
                </a:solidFill>
                <a:sym typeface="+mn-lt"/>
              </a:rPr>
              <a:t>Partial-Mesh</a:t>
            </a:r>
            <a:r>
              <a:rPr lang="zh-CN" altLang="en-US" sz="1400" dirty="0">
                <a:solidFill>
                  <a:schemeClr val="tx1"/>
                </a:solidFill>
                <a:sym typeface="+mn-lt"/>
              </a:rPr>
              <a:t>。</a:t>
            </a:r>
          </a:p>
        </p:txBody>
      </p:sp>
      <p:sp>
        <p:nvSpPr>
          <p:cNvPr id="5" name="圆角矩形 75"/>
          <p:cNvSpPr/>
          <p:nvPr/>
        </p:nvSpPr>
        <p:spPr bwMode="gray">
          <a:xfrm>
            <a:off x="7325360" y="1207340"/>
            <a:ext cx="4133172"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物理组网概要设计</a:t>
            </a:r>
          </a:p>
        </p:txBody>
      </p:sp>
      <p:sp>
        <p:nvSpPr>
          <p:cNvPr id="6" name="圆角矩形 75"/>
          <p:cNvSpPr/>
          <p:nvPr/>
        </p:nvSpPr>
        <p:spPr bwMode="gray">
          <a:xfrm>
            <a:off x="7325360" y="1611298"/>
            <a:ext cx="4133172" cy="4310477"/>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lstStyle/>
          <a:p>
            <a:pPr marL="180000" indent="-180000" defTabSz="914034">
              <a:lnSpc>
                <a:spcPct val="140000"/>
              </a:lnSpc>
              <a:spcAft>
                <a:spcPts val="600"/>
              </a:spcAft>
              <a:buFont typeface="Huawei Sans" panose="020C0503030203020204" pitchFamily="34" charset="0"/>
              <a:buChar char="•"/>
            </a:pPr>
            <a:r>
              <a:rPr lang="zh-CN" altLang="en-US" sz="1400" dirty="0">
                <a:solidFill>
                  <a:schemeClr val="tx1"/>
                </a:solidFill>
                <a:cs typeface="Arial" panose="020B0604020202020204" pitchFamily="34" charset="0"/>
                <a:sym typeface="+mn-lt"/>
              </a:rPr>
              <a:t>微小分支站点，可以部署单</a:t>
            </a:r>
            <a:r>
              <a:rPr lang="en-US" altLang="zh-CN" sz="1400" dirty="0">
                <a:solidFill>
                  <a:schemeClr val="tx1"/>
                </a:solidFill>
                <a:cs typeface="Arial" panose="020B0604020202020204" pitchFamily="34" charset="0"/>
                <a:sym typeface="+mn-lt"/>
              </a:rPr>
              <a:t>AR</a:t>
            </a:r>
            <a:r>
              <a:rPr lang="zh-CN" altLang="en-US" sz="1400" dirty="0">
                <a:solidFill>
                  <a:schemeClr val="tx1"/>
                </a:solidFill>
                <a:cs typeface="Arial" panose="020B0604020202020204" pitchFamily="34" charset="0"/>
                <a:sym typeface="+mn-lt"/>
              </a:rPr>
              <a:t>、单出口链路；</a:t>
            </a:r>
            <a:endParaRPr lang="en-US" altLang="zh-CN" sz="1400" dirty="0">
              <a:solidFill>
                <a:schemeClr val="tx1"/>
              </a:solidFill>
              <a:cs typeface="Arial" panose="020B0604020202020204" pitchFamily="34" charset="0"/>
              <a:sym typeface="+mn-lt"/>
            </a:endParaRPr>
          </a:p>
          <a:p>
            <a:pPr marL="180000" indent="-180000" defTabSz="914034">
              <a:lnSpc>
                <a:spcPct val="140000"/>
              </a:lnSpc>
              <a:spcAft>
                <a:spcPts val="600"/>
              </a:spcAft>
              <a:buFont typeface="Huawei Sans" panose="020C0503030203020204" pitchFamily="34" charset="0"/>
              <a:buChar char="•"/>
            </a:pPr>
            <a:r>
              <a:rPr lang="zh-CN" altLang="en-US" sz="1400" dirty="0">
                <a:solidFill>
                  <a:schemeClr val="tx1"/>
                </a:solidFill>
                <a:cs typeface="Arial" panose="020B0604020202020204" pitchFamily="34" charset="0"/>
                <a:sym typeface="+mn-lt"/>
              </a:rPr>
              <a:t>对出口链路、网关设备有可靠性要求的站点，可以部署多链路、双</a:t>
            </a:r>
            <a:r>
              <a:rPr lang="en-US" altLang="zh-CN" sz="1400" dirty="0">
                <a:solidFill>
                  <a:schemeClr val="tx1"/>
                </a:solidFill>
                <a:cs typeface="Arial" panose="020B0604020202020204" pitchFamily="34" charset="0"/>
                <a:sym typeface="+mn-lt"/>
              </a:rPr>
              <a:t>AR</a:t>
            </a:r>
            <a:r>
              <a:rPr lang="zh-CN" altLang="en-US" sz="1400" dirty="0">
                <a:solidFill>
                  <a:schemeClr val="tx1"/>
                </a:solidFill>
                <a:cs typeface="Arial" panose="020B0604020202020204" pitchFamily="34" charset="0"/>
                <a:sym typeface="+mn-lt"/>
              </a:rPr>
              <a:t>组网；</a:t>
            </a:r>
          </a:p>
          <a:p>
            <a:pPr marL="180000" indent="-180000" defTabSz="914034">
              <a:lnSpc>
                <a:spcPct val="140000"/>
              </a:lnSpc>
              <a:spcAft>
                <a:spcPts val="600"/>
              </a:spcAft>
              <a:buFont typeface="Huawei Sans" panose="020C0503030203020204" pitchFamily="34" charset="0"/>
              <a:buChar char="•"/>
            </a:pPr>
            <a:r>
              <a:rPr lang="zh-CN" altLang="en-US" sz="1400" dirty="0">
                <a:solidFill>
                  <a:schemeClr val="tx1"/>
                </a:solidFill>
                <a:cs typeface="Arial" panose="020B0604020202020204" pitchFamily="34" charset="0"/>
                <a:sym typeface="+mn-lt"/>
              </a:rPr>
              <a:t>对于网络可靠性要求高的场景，</a:t>
            </a:r>
            <a:r>
              <a:rPr lang="en-US" altLang="zh-CN" sz="1400" dirty="0">
                <a:solidFill>
                  <a:schemeClr val="tx1"/>
                </a:solidFill>
                <a:cs typeface="Arial" panose="020B0604020202020204" pitchFamily="34" charset="0"/>
                <a:sym typeface="+mn-lt"/>
              </a:rPr>
              <a:t>RR</a:t>
            </a:r>
            <a:r>
              <a:rPr lang="zh-CN" altLang="en-US" sz="1400" dirty="0">
                <a:solidFill>
                  <a:schemeClr val="tx1"/>
                </a:solidFill>
                <a:cs typeface="Arial" panose="020B0604020202020204" pitchFamily="34" charset="0"/>
                <a:sym typeface="+mn-lt"/>
              </a:rPr>
              <a:t>建议独立部署，可靠性要求一般时，</a:t>
            </a:r>
            <a:r>
              <a:rPr lang="en-US" altLang="zh-CN" sz="1400" dirty="0">
                <a:solidFill>
                  <a:schemeClr val="tx1"/>
                </a:solidFill>
                <a:cs typeface="Arial" panose="020B0604020202020204" pitchFamily="34" charset="0"/>
                <a:sym typeface="+mn-lt"/>
              </a:rPr>
              <a:t>RR</a:t>
            </a:r>
            <a:r>
              <a:rPr lang="zh-CN" altLang="en-US" sz="1400" dirty="0">
                <a:solidFill>
                  <a:schemeClr val="tx1"/>
                </a:solidFill>
                <a:cs typeface="Arial" panose="020B0604020202020204" pitchFamily="34" charset="0"/>
                <a:sym typeface="+mn-lt"/>
              </a:rPr>
              <a:t>可与总部站点的</a:t>
            </a:r>
            <a:r>
              <a:rPr lang="en-US" altLang="zh-CN" sz="1400" dirty="0">
                <a:solidFill>
                  <a:schemeClr val="tx1"/>
                </a:solidFill>
                <a:cs typeface="Arial" panose="020B0604020202020204" pitchFamily="34" charset="0"/>
                <a:sym typeface="+mn-lt"/>
              </a:rPr>
              <a:t>AR</a:t>
            </a:r>
            <a:r>
              <a:rPr lang="zh-CN" altLang="en-US" sz="1400" dirty="0">
                <a:solidFill>
                  <a:schemeClr val="tx1"/>
                </a:solidFill>
                <a:cs typeface="Arial" panose="020B0604020202020204" pitchFamily="34" charset="0"/>
                <a:sym typeface="+mn-lt"/>
              </a:rPr>
              <a:t>共部署。</a:t>
            </a:r>
          </a:p>
        </p:txBody>
      </p:sp>
    </p:spTree>
    <p:extLst>
      <p:ext uri="{BB962C8B-B14F-4D97-AF65-F5344CB8AC3E}">
        <p14:creationId xmlns:p14="http://schemas.microsoft.com/office/powerpoint/2010/main" val="306859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latin typeface="+mn-lt"/>
                <a:ea typeface="+mn-ea"/>
                <a:cs typeface="+mn-ea"/>
                <a:sym typeface="+mn-lt"/>
              </a:rPr>
              <a:t>SD-WAN</a:t>
            </a:r>
            <a:r>
              <a:rPr lang="zh-CN" altLang="en-US" smtClean="0">
                <a:latin typeface="+mn-lt"/>
                <a:ea typeface="+mn-ea"/>
                <a:cs typeface="+mn-ea"/>
                <a:sym typeface="+mn-lt"/>
              </a:rPr>
              <a:t>方案业务设计</a:t>
            </a:r>
            <a:endParaRPr lang="zh-CN" altLang="en-US">
              <a:latin typeface="+mn-lt"/>
              <a:ea typeface="+mn-ea"/>
              <a:cs typeface="+mn-ea"/>
              <a:sym typeface="+mn-lt"/>
            </a:endParaRPr>
          </a:p>
        </p:txBody>
      </p:sp>
      <p:sp>
        <p:nvSpPr>
          <p:cNvPr id="3" name="文本占位符 2"/>
          <p:cNvSpPr>
            <a:spLocks noGrp="1"/>
          </p:cNvSpPr>
          <p:nvPr>
            <p:ph type="body" sz="quarter" idx="10"/>
          </p:nvPr>
        </p:nvSpPr>
        <p:spPr/>
        <p:txBody>
          <a:bodyPr/>
          <a:lstStyle/>
          <a:p>
            <a:pPr fontAlgn="base"/>
            <a:r>
              <a:rPr lang="en-US" altLang="zh-CN" sz="1600" b="1" dirty="0">
                <a:latin typeface="+mn-lt"/>
                <a:ea typeface="+mn-ea"/>
                <a:cs typeface="+mn-ea"/>
                <a:sym typeface="+mn-lt"/>
              </a:rPr>
              <a:t>VPN</a:t>
            </a:r>
            <a:r>
              <a:rPr lang="zh-CN" altLang="en-US" sz="1600" b="1" dirty="0">
                <a:latin typeface="+mn-lt"/>
                <a:ea typeface="+mn-ea"/>
                <a:cs typeface="+mn-ea"/>
                <a:sym typeface="+mn-lt"/>
              </a:rPr>
              <a:t>规划：</a:t>
            </a:r>
            <a:r>
              <a:rPr lang="zh-CN" altLang="en-US" sz="1600" dirty="0">
                <a:latin typeface="+mn-lt"/>
                <a:ea typeface="+mn-ea"/>
                <a:cs typeface="+mn-ea"/>
                <a:sym typeface="+mn-lt"/>
              </a:rPr>
              <a:t>根据业务</a:t>
            </a:r>
            <a:r>
              <a:rPr lang="en-US" altLang="zh-CN" sz="1600" dirty="0">
                <a:latin typeface="+mn-lt"/>
                <a:ea typeface="+mn-ea"/>
                <a:cs typeface="+mn-ea"/>
                <a:sym typeface="+mn-lt"/>
              </a:rPr>
              <a:t>/</a:t>
            </a:r>
            <a:r>
              <a:rPr lang="zh-CN" altLang="en-US" sz="1600" dirty="0">
                <a:latin typeface="+mn-lt"/>
                <a:ea typeface="+mn-ea"/>
                <a:cs typeface="+mn-ea"/>
                <a:sym typeface="+mn-lt"/>
              </a:rPr>
              <a:t>部门可以将网络划分为多个</a:t>
            </a:r>
            <a:r>
              <a:rPr lang="en-US" altLang="zh-CN" sz="1600" dirty="0">
                <a:latin typeface="+mn-lt"/>
                <a:ea typeface="+mn-ea"/>
                <a:cs typeface="+mn-ea"/>
                <a:sym typeface="+mn-lt"/>
              </a:rPr>
              <a:t>VPN</a:t>
            </a:r>
            <a:r>
              <a:rPr lang="zh-CN" altLang="en-US" sz="1600" dirty="0">
                <a:latin typeface="+mn-lt"/>
                <a:ea typeface="+mn-ea"/>
                <a:cs typeface="+mn-ea"/>
                <a:sym typeface="+mn-lt"/>
              </a:rPr>
              <a:t>，每个</a:t>
            </a:r>
            <a:r>
              <a:rPr lang="en-US" altLang="zh-CN" sz="1600" dirty="0">
                <a:latin typeface="+mn-lt"/>
                <a:ea typeface="+mn-ea"/>
                <a:cs typeface="+mn-ea"/>
                <a:sym typeface="+mn-lt"/>
              </a:rPr>
              <a:t>VPN</a:t>
            </a:r>
            <a:r>
              <a:rPr lang="zh-CN" altLang="en-US" sz="1600" dirty="0">
                <a:latin typeface="+mn-lt"/>
                <a:ea typeface="+mn-ea"/>
                <a:cs typeface="+mn-ea"/>
                <a:sym typeface="+mn-lt"/>
              </a:rPr>
              <a:t>的业务可以单独做策略，同时可以实现</a:t>
            </a:r>
            <a:r>
              <a:rPr lang="en-US" altLang="zh-CN" sz="1600" dirty="0">
                <a:latin typeface="+mn-lt"/>
                <a:ea typeface="+mn-ea"/>
                <a:cs typeface="+mn-ea"/>
                <a:sym typeface="+mn-lt"/>
              </a:rPr>
              <a:t>VPN</a:t>
            </a:r>
            <a:r>
              <a:rPr lang="zh-CN" altLang="en-US" sz="1600" dirty="0">
                <a:latin typeface="+mn-lt"/>
                <a:ea typeface="+mn-ea"/>
                <a:cs typeface="+mn-ea"/>
                <a:sym typeface="+mn-lt"/>
              </a:rPr>
              <a:t>间</a:t>
            </a:r>
            <a:r>
              <a:rPr lang="zh-CN" altLang="en-US" sz="1600" dirty="0" smtClean="0">
                <a:latin typeface="+mn-lt"/>
                <a:ea typeface="+mn-ea"/>
                <a:cs typeface="+mn-ea"/>
                <a:sym typeface="+mn-lt"/>
              </a:rPr>
              <a:t>隔离</a:t>
            </a:r>
            <a:r>
              <a:rPr lang="zh-CN" altLang="en-US" sz="1600" dirty="0">
                <a:latin typeface="+mn-lt"/>
                <a:ea typeface="+mn-ea"/>
                <a:cs typeface="+mn-ea"/>
                <a:sym typeface="+mn-lt"/>
              </a:rPr>
              <a:t>。</a:t>
            </a:r>
          </a:p>
          <a:p>
            <a:pPr fontAlgn="base"/>
            <a:r>
              <a:rPr lang="zh-CN" altLang="en-US" sz="1600" b="1" dirty="0">
                <a:latin typeface="+mn-lt"/>
                <a:ea typeface="+mn-ea"/>
                <a:cs typeface="+mn-ea"/>
                <a:sym typeface="+mn-lt"/>
              </a:rPr>
              <a:t>智能选路：</a:t>
            </a:r>
            <a:r>
              <a:rPr lang="zh-CN" altLang="en-US" sz="1600" dirty="0">
                <a:latin typeface="+mn-lt"/>
                <a:ea typeface="+mn-ea"/>
                <a:cs typeface="+mn-ea"/>
                <a:sym typeface="+mn-lt"/>
              </a:rPr>
              <a:t>定义流量策略（可以基于网段、应用）设计智能选路，将高优先级应用如语音、视频优选可靠性高的链路（如</a:t>
            </a:r>
            <a:r>
              <a:rPr lang="en-US" altLang="zh-CN" sz="1600" dirty="0">
                <a:latin typeface="+mn-lt"/>
                <a:ea typeface="+mn-ea"/>
                <a:cs typeface="+mn-ea"/>
                <a:sym typeface="+mn-lt"/>
              </a:rPr>
              <a:t>MPLS</a:t>
            </a:r>
            <a:r>
              <a:rPr lang="zh-CN" altLang="en-US" sz="1600" dirty="0">
                <a:latin typeface="+mn-lt"/>
                <a:ea typeface="+mn-ea"/>
                <a:cs typeface="+mn-ea"/>
                <a:sym typeface="+mn-lt"/>
              </a:rPr>
              <a:t>链路），一般的数据访问可以选低优先级</a:t>
            </a:r>
            <a:r>
              <a:rPr lang="zh-CN" altLang="en-US" sz="1600" dirty="0" smtClean="0">
                <a:latin typeface="+mn-lt"/>
                <a:ea typeface="+mn-ea"/>
                <a:cs typeface="+mn-ea"/>
                <a:sym typeface="+mn-lt"/>
              </a:rPr>
              <a:t>链路。</a:t>
            </a:r>
            <a:endParaRPr lang="zh-CN" altLang="en-US" sz="1600" dirty="0">
              <a:latin typeface="+mn-lt"/>
              <a:ea typeface="+mn-ea"/>
              <a:cs typeface="+mn-ea"/>
              <a:sym typeface="+mn-lt"/>
            </a:endParaRPr>
          </a:p>
          <a:p>
            <a:pPr fontAlgn="base"/>
            <a:r>
              <a:rPr lang="en-US" altLang="zh-CN" sz="1600" b="1" dirty="0" err="1">
                <a:latin typeface="+mn-lt"/>
                <a:ea typeface="+mn-ea"/>
                <a:cs typeface="+mn-ea"/>
                <a:sym typeface="+mn-lt"/>
              </a:rPr>
              <a:t>QoS</a:t>
            </a:r>
            <a:r>
              <a:rPr lang="zh-CN" altLang="en-US" sz="1600" b="1" dirty="0">
                <a:latin typeface="+mn-lt"/>
                <a:ea typeface="+mn-ea"/>
                <a:cs typeface="+mn-ea"/>
                <a:sym typeface="+mn-lt"/>
              </a:rPr>
              <a:t>应用：</a:t>
            </a:r>
            <a:r>
              <a:rPr lang="zh-CN" altLang="en-US" sz="1600" dirty="0">
                <a:latin typeface="+mn-lt"/>
                <a:ea typeface="+mn-ea"/>
                <a:cs typeface="+mn-ea"/>
                <a:sym typeface="+mn-lt"/>
              </a:rPr>
              <a:t>多级</a:t>
            </a:r>
            <a:r>
              <a:rPr lang="en-US" altLang="zh-CN" sz="1600" dirty="0" err="1">
                <a:latin typeface="+mn-lt"/>
                <a:ea typeface="+mn-ea"/>
                <a:cs typeface="+mn-ea"/>
                <a:sym typeface="+mn-lt"/>
              </a:rPr>
              <a:t>QoS</a:t>
            </a:r>
            <a:r>
              <a:rPr lang="zh-CN" altLang="en-US" sz="1600" dirty="0" smtClean="0">
                <a:latin typeface="+mn-lt"/>
                <a:ea typeface="+mn-ea"/>
                <a:cs typeface="+mn-ea"/>
                <a:sym typeface="+mn-lt"/>
              </a:rPr>
              <a:t>调度，应用 </a:t>
            </a:r>
            <a:r>
              <a:rPr lang="en-US" altLang="zh-CN" sz="1600" dirty="0" smtClean="0">
                <a:latin typeface="+mn-lt"/>
                <a:ea typeface="+mn-ea"/>
                <a:cs typeface="+mn-ea"/>
                <a:sym typeface="+mn-lt"/>
              </a:rPr>
              <a:t>-&gt; VPN -&gt; </a:t>
            </a:r>
            <a:r>
              <a:rPr lang="zh-CN" altLang="en-US" sz="1600" dirty="0" smtClean="0">
                <a:latin typeface="+mn-lt"/>
                <a:ea typeface="+mn-ea"/>
                <a:cs typeface="+mn-ea"/>
                <a:sym typeface="+mn-lt"/>
              </a:rPr>
              <a:t>端口三</a:t>
            </a:r>
            <a:r>
              <a:rPr lang="zh-CN" altLang="en-US" sz="1600" dirty="0">
                <a:latin typeface="+mn-lt"/>
                <a:ea typeface="+mn-ea"/>
                <a:cs typeface="+mn-ea"/>
                <a:sym typeface="+mn-lt"/>
              </a:rPr>
              <a:t>级的</a:t>
            </a:r>
            <a:r>
              <a:rPr lang="en-US" altLang="zh-CN" sz="1600" dirty="0" err="1" smtClean="0">
                <a:latin typeface="+mn-lt"/>
                <a:ea typeface="+mn-ea"/>
                <a:cs typeface="+mn-ea"/>
                <a:sym typeface="+mn-lt"/>
              </a:rPr>
              <a:t>QoS</a:t>
            </a:r>
            <a:r>
              <a:rPr lang="zh-CN" altLang="en-US" sz="1600" dirty="0">
                <a:latin typeface="+mn-lt"/>
                <a:ea typeface="+mn-ea"/>
                <a:cs typeface="+mn-ea"/>
                <a:sym typeface="+mn-lt"/>
              </a:rPr>
              <a:t>。</a:t>
            </a:r>
          </a:p>
          <a:p>
            <a:pPr fontAlgn="base"/>
            <a:r>
              <a:rPr lang="zh-CN" altLang="en-US" sz="1600" b="1" dirty="0">
                <a:latin typeface="+mn-lt"/>
                <a:ea typeface="+mn-ea"/>
                <a:cs typeface="+mn-ea"/>
                <a:sym typeface="+mn-lt"/>
              </a:rPr>
              <a:t>安全：</a:t>
            </a:r>
            <a:r>
              <a:rPr lang="zh-CN" altLang="en-US" sz="1600" dirty="0">
                <a:latin typeface="+mn-lt"/>
                <a:ea typeface="+mn-ea"/>
                <a:cs typeface="+mn-ea"/>
                <a:sym typeface="+mn-lt"/>
              </a:rPr>
              <a:t>通过配置</a:t>
            </a:r>
            <a:r>
              <a:rPr lang="en-US" altLang="zh-CN" sz="1600" dirty="0">
                <a:latin typeface="+mn-lt"/>
                <a:ea typeface="+mn-ea"/>
                <a:cs typeface="+mn-ea"/>
                <a:sym typeface="+mn-lt"/>
              </a:rPr>
              <a:t>ACL</a:t>
            </a:r>
            <a:r>
              <a:rPr lang="zh-CN" altLang="en-US" sz="1600" dirty="0">
                <a:latin typeface="+mn-lt"/>
                <a:ea typeface="+mn-ea"/>
                <a:cs typeface="+mn-ea"/>
                <a:sym typeface="+mn-lt"/>
              </a:rPr>
              <a:t>流量过滤、</a:t>
            </a:r>
            <a:r>
              <a:rPr lang="en-US" altLang="zh-CN" sz="1600" dirty="0">
                <a:latin typeface="+mn-lt"/>
                <a:ea typeface="+mn-ea"/>
                <a:cs typeface="+mn-ea"/>
                <a:sym typeface="+mn-lt"/>
              </a:rPr>
              <a:t>URL</a:t>
            </a:r>
            <a:r>
              <a:rPr lang="zh-CN" altLang="en-US" sz="1600" dirty="0">
                <a:latin typeface="+mn-lt"/>
                <a:ea typeface="+mn-ea"/>
                <a:cs typeface="+mn-ea"/>
                <a:sym typeface="+mn-lt"/>
              </a:rPr>
              <a:t>过滤、防火墙、</a:t>
            </a:r>
            <a:r>
              <a:rPr lang="en-US" altLang="zh-CN" sz="1600" dirty="0">
                <a:latin typeface="+mn-lt"/>
                <a:ea typeface="+mn-ea"/>
                <a:cs typeface="+mn-ea"/>
                <a:sym typeface="+mn-lt"/>
              </a:rPr>
              <a:t>IPS</a:t>
            </a:r>
            <a:r>
              <a:rPr lang="zh-CN" altLang="en-US" sz="1600" dirty="0">
                <a:latin typeface="+mn-lt"/>
                <a:ea typeface="+mn-ea"/>
                <a:cs typeface="+mn-ea"/>
                <a:sym typeface="+mn-lt"/>
              </a:rPr>
              <a:t>，实现流量的安全</a:t>
            </a:r>
            <a:r>
              <a:rPr lang="zh-CN" altLang="en-US" sz="1600" dirty="0" smtClean="0">
                <a:latin typeface="+mn-lt"/>
                <a:ea typeface="+mn-ea"/>
                <a:cs typeface="+mn-ea"/>
                <a:sym typeface="+mn-lt"/>
              </a:rPr>
              <a:t>处理。</a:t>
            </a:r>
            <a:endParaRPr lang="zh-CN" altLang="en-US" sz="1600" dirty="0">
              <a:latin typeface="+mn-lt"/>
              <a:ea typeface="+mn-ea"/>
              <a:cs typeface="+mn-ea"/>
              <a:sym typeface="+mn-lt"/>
            </a:endParaRPr>
          </a:p>
          <a:p>
            <a:pPr fontAlgn="base"/>
            <a:r>
              <a:rPr lang="zh-CN" altLang="en-US" sz="1600" b="1" dirty="0">
                <a:latin typeface="+mn-lt"/>
                <a:ea typeface="+mn-ea"/>
                <a:cs typeface="+mn-ea"/>
                <a:sym typeface="+mn-lt"/>
              </a:rPr>
              <a:t>站点上网：</a:t>
            </a:r>
            <a:r>
              <a:rPr lang="zh-CN" altLang="en-US" sz="1600" dirty="0">
                <a:latin typeface="+mn-lt"/>
                <a:ea typeface="+mn-ea"/>
                <a:cs typeface="+mn-ea"/>
                <a:sym typeface="+mn-lt"/>
              </a:rPr>
              <a:t>支持本地上网、集中上网和混合上网模式；本地有</a:t>
            </a:r>
            <a:r>
              <a:rPr lang="en-US" altLang="zh-CN" sz="1600" dirty="0">
                <a:latin typeface="+mn-lt"/>
                <a:ea typeface="+mn-ea"/>
                <a:cs typeface="+mn-ea"/>
                <a:sym typeface="+mn-lt"/>
              </a:rPr>
              <a:t>Internet</a:t>
            </a:r>
            <a:r>
              <a:rPr lang="zh-CN" altLang="en-US" sz="1600" dirty="0">
                <a:latin typeface="+mn-lt"/>
                <a:ea typeface="+mn-ea"/>
                <a:cs typeface="+mn-ea"/>
                <a:sym typeface="+mn-lt"/>
              </a:rPr>
              <a:t>出口链路时，可以直接配置本地直接上网，上网流量需要集中监管时，则可以选择集中</a:t>
            </a:r>
            <a:r>
              <a:rPr lang="zh-CN" altLang="en-US" sz="1600" dirty="0" smtClean="0">
                <a:latin typeface="+mn-lt"/>
                <a:ea typeface="+mn-ea"/>
                <a:cs typeface="+mn-ea"/>
                <a:sym typeface="+mn-lt"/>
              </a:rPr>
              <a:t>上网</a:t>
            </a:r>
            <a:r>
              <a:rPr lang="zh-CN" altLang="en-US" sz="1600" dirty="0">
                <a:latin typeface="+mn-lt"/>
                <a:ea typeface="+mn-ea"/>
                <a:cs typeface="+mn-ea"/>
                <a:sym typeface="+mn-lt"/>
              </a:rPr>
              <a:t>。</a:t>
            </a:r>
          </a:p>
          <a:p>
            <a:pPr fontAlgn="base"/>
            <a:r>
              <a:rPr lang="zh-CN" altLang="en-US" sz="1600" b="1" dirty="0">
                <a:latin typeface="+mn-lt"/>
                <a:ea typeface="+mn-ea"/>
                <a:cs typeface="+mn-ea"/>
                <a:sym typeface="+mn-lt"/>
              </a:rPr>
              <a:t>与传统网络互通：</a:t>
            </a:r>
            <a:r>
              <a:rPr lang="zh-CN" altLang="en-US" sz="1600" dirty="0">
                <a:latin typeface="+mn-lt"/>
                <a:ea typeface="+mn-ea"/>
                <a:cs typeface="+mn-ea"/>
                <a:sym typeface="+mn-lt"/>
              </a:rPr>
              <a:t>支持与传统网络互通</a:t>
            </a:r>
            <a:r>
              <a:rPr lang="zh-CN" altLang="en-US" sz="1600" dirty="0" smtClean="0">
                <a:latin typeface="+mn-lt"/>
                <a:ea typeface="+mn-ea"/>
                <a:cs typeface="+mn-ea"/>
                <a:sym typeface="+mn-lt"/>
              </a:rPr>
              <a:t>。</a:t>
            </a:r>
            <a:endParaRPr lang="zh-CN" altLang="en-US" sz="1600" dirty="0">
              <a:latin typeface="+mn-lt"/>
              <a:ea typeface="+mn-ea"/>
              <a:cs typeface="+mn-ea"/>
              <a:sym typeface="+mn-lt"/>
            </a:endParaRPr>
          </a:p>
        </p:txBody>
      </p:sp>
    </p:spTree>
    <p:extLst>
      <p:ext uri="{BB962C8B-B14F-4D97-AF65-F5344CB8AC3E}">
        <p14:creationId xmlns:p14="http://schemas.microsoft.com/office/powerpoint/2010/main" val="4004935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组网设计</a:t>
            </a:r>
          </a:p>
        </p:txBody>
      </p:sp>
      <p:sp>
        <p:nvSpPr>
          <p:cNvPr id="39" name="TextBox 303"/>
          <p:cNvSpPr txBox="1"/>
          <p:nvPr/>
        </p:nvSpPr>
        <p:spPr bwMode="gray">
          <a:xfrm>
            <a:off x="731838" y="4019456"/>
            <a:ext cx="912236" cy="1429126"/>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21" name="燕尾形 20"/>
          <p:cNvSpPr/>
          <p:nvPr/>
        </p:nvSpPr>
        <p:spPr bwMode="gray">
          <a:xfrm>
            <a:off x="8786686"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
        <p:nvSpPr>
          <p:cNvPr id="22" name="五边形 21"/>
          <p:cNvSpPr/>
          <p:nvPr/>
        </p:nvSpPr>
        <p:spPr bwMode="grayWhite">
          <a:xfrm>
            <a:off x="2113280" y="4314711"/>
            <a:ext cx="2304000" cy="360000"/>
          </a:xfrm>
          <a:prstGeom prst="homePlate">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网络基础业务设计</a:t>
            </a:r>
          </a:p>
        </p:txBody>
      </p:sp>
      <p:sp>
        <p:nvSpPr>
          <p:cNvPr id="23" name="燕尾形 22"/>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网络开局设计</a:t>
            </a:r>
          </a:p>
        </p:txBody>
      </p:sp>
      <p:sp>
        <p:nvSpPr>
          <p:cNvPr id="24" name="燕尾形 23"/>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25" name="燕尾形 24"/>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26" name="五边形 25"/>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Tree>
    <p:extLst>
      <p:ext uri="{BB962C8B-B14F-4D97-AF65-F5344CB8AC3E}">
        <p14:creationId xmlns:p14="http://schemas.microsoft.com/office/powerpoint/2010/main" val="25496885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ym typeface="+mn-lt"/>
              </a:rPr>
              <a:t>VLAN</a:t>
            </a:r>
            <a:r>
              <a:rPr lang="zh-CN" altLang="en-US" smtClean="0">
                <a:sym typeface="+mn-lt"/>
              </a:rPr>
              <a:t>规划设计</a:t>
            </a:r>
            <a:endParaRPr lang="zh-CN" altLang="en-US">
              <a:sym typeface="+mn-lt"/>
            </a:endParaRPr>
          </a:p>
        </p:txBody>
      </p:sp>
      <p:sp>
        <p:nvSpPr>
          <p:cNvPr id="5" name="文本占位符 4"/>
          <p:cNvSpPr>
            <a:spLocks noGrp="1"/>
          </p:cNvSpPr>
          <p:nvPr>
            <p:ph type="body" sz="quarter" idx="10"/>
          </p:nvPr>
        </p:nvSpPr>
        <p:spPr>
          <a:xfrm>
            <a:off x="455613" y="1754500"/>
            <a:ext cx="4657564" cy="3657600"/>
          </a:xfrm>
        </p:spPr>
        <p:txBody>
          <a:bodyPr/>
          <a:lstStyle/>
          <a:p>
            <a:r>
              <a:rPr lang="en-US" altLang="zh-CN" sz="1600" dirty="0" smtClean="0"/>
              <a:t>VLAN</a:t>
            </a:r>
            <a:r>
              <a:rPr lang="zh-CN" altLang="en-US" sz="1600" dirty="0" smtClean="0"/>
              <a:t>分为业务</a:t>
            </a:r>
            <a:r>
              <a:rPr lang="en-US" altLang="zh-CN" sz="1600" dirty="0" smtClean="0"/>
              <a:t>VLAN</a:t>
            </a:r>
            <a:r>
              <a:rPr lang="zh-CN" altLang="en-US" sz="1600" dirty="0" smtClean="0"/>
              <a:t>、管理</a:t>
            </a:r>
            <a:r>
              <a:rPr lang="en-US" altLang="zh-CN" sz="1600" dirty="0" smtClean="0"/>
              <a:t>VLAN</a:t>
            </a:r>
            <a:r>
              <a:rPr lang="zh-CN" altLang="en-US" sz="1600" dirty="0" smtClean="0"/>
              <a:t>和互联</a:t>
            </a:r>
            <a:r>
              <a:rPr lang="en-US" altLang="zh-CN" sz="1600" dirty="0" smtClean="0"/>
              <a:t>VLAN</a:t>
            </a:r>
            <a:r>
              <a:rPr lang="zh-CN" altLang="en-US" sz="1600" dirty="0" smtClean="0"/>
              <a:t>。</a:t>
            </a:r>
          </a:p>
          <a:p>
            <a:r>
              <a:rPr lang="en-US" altLang="zh-CN" sz="1600" dirty="0" smtClean="0"/>
              <a:t>VLAN</a:t>
            </a:r>
            <a:r>
              <a:rPr lang="zh-CN" altLang="en-US" sz="1600" dirty="0" smtClean="0"/>
              <a:t>编号建议连续分配，以保证</a:t>
            </a:r>
            <a:r>
              <a:rPr lang="en-US" altLang="zh-CN" sz="1600" dirty="0" smtClean="0"/>
              <a:t>VLAN</a:t>
            </a:r>
            <a:r>
              <a:rPr lang="zh-CN" altLang="en-US" sz="1600" dirty="0" smtClean="0"/>
              <a:t>资源合理利用。</a:t>
            </a:r>
          </a:p>
          <a:p>
            <a:r>
              <a:rPr lang="zh-CN" altLang="en-US" sz="1600" dirty="0" smtClean="0"/>
              <a:t>建议预留一定数量的</a:t>
            </a:r>
            <a:r>
              <a:rPr lang="en-US" altLang="zh-CN" sz="1600" dirty="0" smtClean="0"/>
              <a:t>VLAN</a:t>
            </a:r>
            <a:r>
              <a:rPr lang="zh-CN" altLang="en-US" sz="1600" dirty="0" smtClean="0"/>
              <a:t>以方便后续扩展。</a:t>
            </a:r>
          </a:p>
          <a:p>
            <a:r>
              <a:rPr lang="zh-CN" altLang="en-US" sz="1600" dirty="0" smtClean="0"/>
              <a:t>最常用的划分方式是基于接口的方式，根据不同的设计原则，将接入交换机不同接口划分到不同的</a:t>
            </a:r>
            <a:r>
              <a:rPr lang="en-US" altLang="zh-CN" sz="1600" dirty="0" smtClean="0"/>
              <a:t>VLAN</a:t>
            </a:r>
            <a:r>
              <a:rPr lang="zh-CN" altLang="en-US" sz="1600" dirty="0" smtClean="0"/>
              <a:t>，从而实现不同业务类型用户的隔离需求。</a:t>
            </a:r>
          </a:p>
          <a:p>
            <a:endParaRPr lang="zh-CN" altLang="en-US" sz="1600" dirty="0"/>
          </a:p>
        </p:txBody>
      </p:sp>
      <p:graphicFrame>
        <p:nvGraphicFramePr>
          <p:cNvPr id="4" name="表格 3"/>
          <p:cNvGraphicFramePr>
            <a:graphicFrameLocks noGrp="1"/>
          </p:cNvGraphicFramePr>
          <p:nvPr>
            <p:extLst>
              <p:ext uri="{D42A27DB-BD31-4B8C-83A1-F6EECF244321}">
                <p14:modId xmlns:p14="http://schemas.microsoft.com/office/powerpoint/2010/main" val="2589192109"/>
              </p:ext>
            </p:extLst>
          </p:nvPr>
        </p:nvGraphicFramePr>
        <p:xfrm>
          <a:off x="5200092" y="1754500"/>
          <a:ext cx="6548995" cy="3545332"/>
        </p:xfrm>
        <a:graphic>
          <a:graphicData uri="http://schemas.openxmlformats.org/drawingml/2006/table">
            <a:tbl>
              <a:tblPr/>
              <a:tblGrid>
                <a:gridCol w="1865028"/>
                <a:gridCol w="4683967"/>
              </a:tblGrid>
              <a:tr h="202151">
                <a:tc>
                  <a:txBody>
                    <a:bodyPr/>
                    <a:lstStyle/>
                    <a:p>
                      <a:pPr algn="ctr"/>
                      <a:r>
                        <a:rPr lang="en-US" sz="1200" b="1" dirty="0">
                          <a:latin typeface="+mn-lt"/>
                          <a:ea typeface="+mn-ea"/>
                          <a:cs typeface="+mn-ea"/>
                          <a:sym typeface="+mn-lt"/>
                        </a:rPr>
                        <a:t>VLAN</a:t>
                      </a:r>
                      <a:r>
                        <a:rPr lang="zh-CN" altLang="en-US" sz="1200" b="1" dirty="0">
                          <a:latin typeface="+mn-lt"/>
                          <a:ea typeface="+mn-ea"/>
                          <a:cs typeface="+mn-ea"/>
                          <a:sym typeface="+mn-lt"/>
                        </a:rPr>
                        <a:t>划分分类</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200" b="1" dirty="0">
                          <a:latin typeface="+mn-lt"/>
                          <a:ea typeface="+mn-ea"/>
                          <a:cs typeface="+mn-ea"/>
                          <a:sym typeface="+mn-lt"/>
                        </a:rPr>
                        <a:t>示例</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855305">
                <a:tc>
                  <a:txBody>
                    <a:bodyPr/>
                    <a:lstStyle/>
                    <a:p>
                      <a:pPr algn="ctr">
                        <a:lnSpc>
                          <a:spcPct val="150000"/>
                        </a:lnSpc>
                      </a:pPr>
                      <a:r>
                        <a:rPr lang="zh-CN" altLang="en-US" sz="1200" dirty="0">
                          <a:latin typeface="+mn-lt"/>
                          <a:ea typeface="+mn-ea"/>
                          <a:cs typeface="+mn-ea"/>
                          <a:sym typeface="+mn-lt"/>
                        </a:rPr>
                        <a:t>按照逻辑区域划分</a:t>
                      </a:r>
                      <a:r>
                        <a:rPr lang="en-US" altLang="zh-CN" sz="1200" dirty="0">
                          <a:latin typeface="+mn-lt"/>
                          <a:ea typeface="+mn-ea"/>
                          <a:cs typeface="+mn-ea"/>
                          <a:sym typeface="+mn-lt"/>
                        </a:rPr>
                        <a:t>VLAN</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nSpc>
                          <a:spcPct val="150000"/>
                        </a:lnSpc>
                        <a:buFont typeface="Arial" panose="020B0604020202020204" pitchFamily="34" charset="0"/>
                        <a:buChar char="•"/>
                      </a:pPr>
                      <a:r>
                        <a:rPr lang="zh-CN" altLang="en-US" sz="1200" dirty="0">
                          <a:latin typeface="+mn-lt"/>
                          <a:ea typeface="+mn-ea"/>
                          <a:cs typeface="+mn-ea"/>
                          <a:sym typeface="+mn-lt"/>
                        </a:rPr>
                        <a:t>核心网络区：</a:t>
                      </a:r>
                      <a:r>
                        <a:rPr lang="en-US" sz="1200" dirty="0" smtClean="0">
                          <a:latin typeface="+mn-lt"/>
                          <a:ea typeface="+mn-ea"/>
                          <a:cs typeface="+mn-ea"/>
                          <a:sym typeface="+mn-lt"/>
                        </a:rPr>
                        <a:t>VLAN 100</a:t>
                      </a:r>
                      <a:r>
                        <a:rPr lang="en-US" sz="1200" dirty="0">
                          <a:latin typeface="+mn-lt"/>
                          <a:ea typeface="+mn-ea"/>
                          <a:cs typeface="+mn-ea"/>
                          <a:sym typeface="+mn-lt"/>
                        </a:rPr>
                        <a:t>～</a:t>
                      </a:r>
                      <a:r>
                        <a:rPr lang="en-US" sz="1200" dirty="0" smtClean="0">
                          <a:latin typeface="+mn-lt"/>
                          <a:ea typeface="+mn-ea"/>
                          <a:cs typeface="+mn-ea"/>
                          <a:sym typeface="+mn-lt"/>
                        </a:rPr>
                        <a:t>VLAN199</a:t>
                      </a:r>
                      <a:endParaRPr lang="en-US" sz="1200" dirty="0">
                        <a:latin typeface="+mn-lt"/>
                        <a:ea typeface="+mn-ea"/>
                        <a:cs typeface="+mn-ea"/>
                        <a:sym typeface="+mn-lt"/>
                      </a:endParaRPr>
                    </a:p>
                    <a:p>
                      <a:pPr marL="171450" indent="-171450">
                        <a:lnSpc>
                          <a:spcPct val="150000"/>
                        </a:lnSpc>
                        <a:buFont typeface="Arial" panose="020B0604020202020204" pitchFamily="34" charset="0"/>
                        <a:buChar char="•"/>
                      </a:pPr>
                      <a:r>
                        <a:rPr lang="zh-CN" altLang="en-US" sz="1200" dirty="0">
                          <a:latin typeface="+mn-lt"/>
                          <a:ea typeface="+mn-ea"/>
                          <a:cs typeface="+mn-ea"/>
                          <a:sym typeface="+mn-lt"/>
                        </a:rPr>
                        <a:t>服务器区：</a:t>
                      </a:r>
                      <a:r>
                        <a:rPr lang="en-US" sz="1200" dirty="0">
                          <a:latin typeface="+mn-lt"/>
                          <a:ea typeface="+mn-ea"/>
                          <a:cs typeface="+mn-ea"/>
                          <a:sym typeface="+mn-lt"/>
                        </a:rPr>
                        <a:t>VLAN200～VLAN999，</a:t>
                      </a:r>
                      <a:r>
                        <a:rPr lang="zh-CN" altLang="en-US" sz="1200" dirty="0">
                          <a:latin typeface="+mn-lt"/>
                          <a:ea typeface="+mn-ea"/>
                          <a:cs typeface="+mn-ea"/>
                          <a:sym typeface="+mn-lt"/>
                        </a:rPr>
                        <a:t>预留</a:t>
                      </a:r>
                      <a:r>
                        <a:rPr lang="en-US" sz="1200" dirty="0">
                          <a:latin typeface="+mn-lt"/>
                          <a:ea typeface="+mn-ea"/>
                          <a:cs typeface="+mn-ea"/>
                          <a:sym typeface="+mn-lt"/>
                        </a:rPr>
                        <a:t>VLAN1000～</a:t>
                      </a:r>
                      <a:r>
                        <a:rPr lang="en-US" sz="1200" dirty="0" smtClean="0">
                          <a:latin typeface="+mn-lt"/>
                          <a:ea typeface="+mn-ea"/>
                          <a:cs typeface="+mn-ea"/>
                          <a:sym typeface="+mn-lt"/>
                        </a:rPr>
                        <a:t>VLAN1999</a:t>
                      </a:r>
                      <a:endParaRPr lang="en-US" sz="1200" dirty="0">
                        <a:latin typeface="+mn-lt"/>
                        <a:ea typeface="+mn-ea"/>
                        <a:cs typeface="+mn-ea"/>
                        <a:sym typeface="+mn-lt"/>
                      </a:endParaRPr>
                    </a:p>
                    <a:p>
                      <a:pPr marL="171450" indent="-171450">
                        <a:lnSpc>
                          <a:spcPct val="150000"/>
                        </a:lnSpc>
                        <a:buFont typeface="Arial" panose="020B0604020202020204" pitchFamily="34" charset="0"/>
                        <a:buChar char="•"/>
                      </a:pPr>
                      <a:r>
                        <a:rPr lang="zh-CN" altLang="en-US" sz="1200" dirty="0">
                          <a:latin typeface="+mn-lt"/>
                          <a:ea typeface="+mn-ea"/>
                          <a:cs typeface="+mn-ea"/>
                          <a:sym typeface="+mn-lt"/>
                        </a:rPr>
                        <a:t>接入网络：</a:t>
                      </a:r>
                      <a:r>
                        <a:rPr lang="en-US" sz="1200" dirty="0">
                          <a:latin typeface="+mn-lt"/>
                          <a:ea typeface="+mn-ea"/>
                          <a:cs typeface="+mn-ea"/>
                          <a:sym typeface="+mn-lt"/>
                        </a:rPr>
                        <a:t>VLAN2000～VLAN3499</a:t>
                      </a:r>
                    </a:p>
                    <a:p>
                      <a:pPr marL="171450" indent="-171450">
                        <a:lnSpc>
                          <a:spcPct val="150000"/>
                        </a:lnSpc>
                        <a:buFont typeface="Arial" panose="020B0604020202020204" pitchFamily="34" charset="0"/>
                        <a:buChar char="•"/>
                      </a:pPr>
                      <a:r>
                        <a:rPr lang="zh-CN" altLang="en-US" sz="1200" dirty="0">
                          <a:latin typeface="+mn-lt"/>
                          <a:ea typeface="+mn-ea"/>
                          <a:cs typeface="+mn-ea"/>
                          <a:sym typeface="+mn-lt"/>
                        </a:rPr>
                        <a:t>业务网络：</a:t>
                      </a:r>
                      <a:r>
                        <a:rPr lang="en-US" sz="1200" dirty="0">
                          <a:latin typeface="+mn-lt"/>
                          <a:ea typeface="+mn-ea"/>
                          <a:cs typeface="+mn-ea"/>
                          <a:sym typeface="+mn-lt"/>
                        </a:rPr>
                        <a:t>VLAN3500～VLAN3999</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1003">
                <a:tc>
                  <a:txBody>
                    <a:bodyPr/>
                    <a:lstStyle/>
                    <a:p>
                      <a:pPr algn="ctr">
                        <a:lnSpc>
                          <a:spcPct val="150000"/>
                        </a:lnSpc>
                      </a:pPr>
                      <a:r>
                        <a:rPr lang="zh-CN" altLang="en-US" sz="1200" dirty="0">
                          <a:latin typeface="+mn-lt"/>
                          <a:ea typeface="+mn-ea"/>
                          <a:cs typeface="+mn-ea"/>
                          <a:sym typeface="+mn-lt"/>
                        </a:rPr>
                        <a:t>按照地理区域划分</a:t>
                      </a:r>
                      <a:r>
                        <a:rPr lang="en-US" sz="1200" dirty="0">
                          <a:latin typeface="+mn-lt"/>
                          <a:ea typeface="+mn-ea"/>
                          <a:cs typeface="+mn-ea"/>
                          <a:sym typeface="+mn-lt"/>
                        </a:rPr>
                        <a:t>VLAN</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nSpc>
                          <a:spcPct val="150000"/>
                        </a:lnSpc>
                        <a:buFont typeface="Arial" panose="020B0604020202020204" pitchFamily="34" charset="0"/>
                        <a:buChar char="•"/>
                      </a:pPr>
                      <a:r>
                        <a:rPr lang="zh-CN" altLang="en-US" sz="1200" dirty="0">
                          <a:latin typeface="+mn-lt"/>
                          <a:ea typeface="+mn-ea"/>
                          <a:cs typeface="+mn-ea"/>
                          <a:sym typeface="+mn-lt"/>
                        </a:rPr>
                        <a:t>接入网络</a:t>
                      </a:r>
                      <a:r>
                        <a:rPr lang="en-US" sz="1200" dirty="0">
                          <a:latin typeface="+mn-lt"/>
                          <a:ea typeface="+mn-ea"/>
                          <a:cs typeface="+mn-ea"/>
                          <a:sym typeface="+mn-lt"/>
                        </a:rPr>
                        <a:t>A</a:t>
                      </a:r>
                      <a:r>
                        <a:rPr lang="zh-CN" altLang="en-US" sz="1200" dirty="0">
                          <a:latin typeface="+mn-lt"/>
                          <a:ea typeface="+mn-ea"/>
                          <a:cs typeface="+mn-ea"/>
                          <a:sym typeface="+mn-lt"/>
                        </a:rPr>
                        <a:t>的地理区域使用</a:t>
                      </a:r>
                      <a:r>
                        <a:rPr lang="en-US" sz="1200" dirty="0">
                          <a:latin typeface="+mn-lt"/>
                          <a:ea typeface="+mn-ea"/>
                          <a:cs typeface="+mn-ea"/>
                          <a:sym typeface="+mn-lt"/>
                        </a:rPr>
                        <a:t>VLAN2000～VLAN2199</a:t>
                      </a:r>
                    </a:p>
                    <a:p>
                      <a:pPr marL="171450" indent="-171450">
                        <a:lnSpc>
                          <a:spcPct val="150000"/>
                        </a:lnSpc>
                        <a:buFont typeface="Arial" panose="020B0604020202020204" pitchFamily="34" charset="0"/>
                        <a:buChar char="•"/>
                      </a:pPr>
                      <a:r>
                        <a:rPr lang="zh-CN" altLang="en-US" sz="1200" dirty="0">
                          <a:latin typeface="+mn-lt"/>
                          <a:ea typeface="+mn-ea"/>
                          <a:cs typeface="+mn-ea"/>
                          <a:sym typeface="+mn-lt"/>
                        </a:rPr>
                        <a:t>接入网络</a:t>
                      </a:r>
                      <a:r>
                        <a:rPr lang="en-US" sz="1200" dirty="0">
                          <a:latin typeface="+mn-lt"/>
                          <a:ea typeface="+mn-ea"/>
                          <a:cs typeface="+mn-ea"/>
                          <a:sym typeface="+mn-lt"/>
                        </a:rPr>
                        <a:t>B</a:t>
                      </a:r>
                      <a:r>
                        <a:rPr lang="zh-CN" altLang="en-US" sz="1200" dirty="0">
                          <a:latin typeface="+mn-lt"/>
                          <a:ea typeface="+mn-ea"/>
                          <a:cs typeface="+mn-ea"/>
                          <a:sym typeface="+mn-lt"/>
                        </a:rPr>
                        <a:t>的地理区域使用</a:t>
                      </a:r>
                      <a:r>
                        <a:rPr lang="en-US" sz="1200" dirty="0">
                          <a:latin typeface="+mn-lt"/>
                          <a:ea typeface="+mn-ea"/>
                          <a:cs typeface="+mn-ea"/>
                          <a:sym typeface="+mn-lt"/>
                        </a:rPr>
                        <a:t>VLAN2200～VLAN2399</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51003">
                <a:tc>
                  <a:txBody>
                    <a:bodyPr/>
                    <a:lstStyle/>
                    <a:p>
                      <a:pPr algn="ctr">
                        <a:lnSpc>
                          <a:spcPct val="150000"/>
                        </a:lnSpc>
                      </a:pPr>
                      <a:r>
                        <a:rPr lang="zh-CN" altLang="en-US" sz="1200">
                          <a:latin typeface="+mn-lt"/>
                          <a:ea typeface="+mn-ea"/>
                          <a:cs typeface="+mn-ea"/>
                          <a:sym typeface="+mn-lt"/>
                        </a:rPr>
                        <a:t>按照人员结构划分</a:t>
                      </a:r>
                      <a:r>
                        <a:rPr lang="en-US" altLang="zh-CN" sz="1200">
                          <a:latin typeface="+mn-lt"/>
                          <a:ea typeface="+mn-ea"/>
                          <a:cs typeface="+mn-ea"/>
                          <a:sym typeface="+mn-lt"/>
                        </a:rPr>
                        <a:t>VLAN</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nSpc>
                          <a:spcPct val="150000"/>
                        </a:lnSpc>
                        <a:buFont typeface="Arial" panose="020B0604020202020204" pitchFamily="34" charset="0"/>
                        <a:buChar char="•"/>
                      </a:pPr>
                      <a:r>
                        <a:rPr lang="zh-CN" altLang="en-US" sz="1200" dirty="0">
                          <a:latin typeface="+mn-lt"/>
                          <a:ea typeface="+mn-ea"/>
                          <a:cs typeface="+mn-ea"/>
                          <a:sym typeface="+mn-lt"/>
                        </a:rPr>
                        <a:t>接入网络</a:t>
                      </a:r>
                      <a:r>
                        <a:rPr lang="en-US" altLang="zh-CN" sz="1200" dirty="0">
                          <a:latin typeface="+mn-lt"/>
                          <a:ea typeface="+mn-ea"/>
                          <a:cs typeface="+mn-ea"/>
                          <a:sym typeface="+mn-lt"/>
                        </a:rPr>
                        <a:t>A</a:t>
                      </a:r>
                      <a:r>
                        <a:rPr lang="zh-CN" altLang="en-US" sz="1200" dirty="0">
                          <a:latin typeface="+mn-lt"/>
                          <a:ea typeface="+mn-ea"/>
                          <a:cs typeface="+mn-ea"/>
                          <a:sym typeface="+mn-lt"/>
                        </a:rPr>
                        <a:t>地理区域</a:t>
                      </a:r>
                      <a:r>
                        <a:rPr lang="en-US" altLang="zh-CN" sz="1200" dirty="0">
                          <a:latin typeface="+mn-lt"/>
                          <a:ea typeface="+mn-ea"/>
                          <a:cs typeface="+mn-ea"/>
                          <a:sym typeface="+mn-lt"/>
                        </a:rPr>
                        <a:t>A</a:t>
                      </a:r>
                      <a:r>
                        <a:rPr lang="zh-CN" altLang="en-US" sz="1200" dirty="0">
                          <a:latin typeface="+mn-lt"/>
                          <a:ea typeface="+mn-ea"/>
                          <a:cs typeface="+mn-ea"/>
                          <a:sym typeface="+mn-lt"/>
                        </a:rPr>
                        <a:t>部门使用</a:t>
                      </a:r>
                      <a:r>
                        <a:rPr lang="en-US" altLang="zh-CN" sz="1200" dirty="0">
                          <a:latin typeface="+mn-lt"/>
                          <a:ea typeface="+mn-ea"/>
                          <a:cs typeface="+mn-ea"/>
                          <a:sym typeface="+mn-lt"/>
                        </a:rPr>
                        <a:t>VLAN2000</a:t>
                      </a:r>
                      <a:r>
                        <a:rPr lang="zh-CN" altLang="en-US" sz="1200" dirty="0">
                          <a:latin typeface="+mn-lt"/>
                          <a:ea typeface="+mn-ea"/>
                          <a:cs typeface="+mn-ea"/>
                          <a:sym typeface="+mn-lt"/>
                        </a:rPr>
                        <a:t>～</a:t>
                      </a:r>
                      <a:r>
                        <a:rPr lang="en-US" altLang="zh-CN" sz="1200" dirty="0">
                          <a:latin typeface="+mn-lt"/>
                          <a:ea typeface="+mn-ea"/>
                          <a:cs typeface="+mn-ea"/>
                          <a:sym typeface="+mn-lt"/>
                        </a:rPr>
                        <a:t>VLAN2009</a:t>
                      </a:r>
                    </a:p>
                    <a:p>
                      <a:pPr marL="171450" indent="-171450">
                        <a:lnSpc>
                          <a:spcPct val="150000"/>
                        </a:lnSpc>
                        <a:buFont typeface="Arial" panose="020B0604020202020204" pitchFamily="34" charset="0"/>
                        <a:buChar char="•"/>
                      </a:pPr>
                      <a:r>
                        <a:rPr lang="zh-CN" altLang="en-US" sz="1200" dirty="0">
                          <a:latin typeface="+mn-lt"/>
                          <a:ea typeface="+mn-ea"/>
                          <a:cs typeface="+mn-ea"/>
                          <a:sym typeface="+mn-lt"/>
                        </a:rPr>
                        <a:t>接入网络</a:t>
                      </a:r>
                      <a:r>
                        <a:rPr lang="en-US" altLang="zh-CN" sz="1200" dirty="0">
                          <a:latin typeface="+mn-lt"/>
                          <a:ea typeface="+mn-ea"/>
                          <a:cs typeface="+mn-ea"/>
                          <a:sym typeface="+mn-lt"/>
                        </a:rPr>
                        <a:t>A</a:t>
                      </a:r>
                      <a:r>
                        <a:rPr lang="zh-CN" altLang="en-US" sz="1200" dirty="0">
                          <a:latin typeface="+mn-lt"/>
                          <a:ea typeface="+mn-ea"/>
                          <a:cs typeface="+mn-ea"/>
                          <a:sym typeface="+mn-lt"/>
                        </a:rPr>
                        <a:t>地理区域</a:t>
                      </a:r>
                      <a:r>
                        <a:rPr lang="en-US" altLang="zh-CN" sz="1200" dirty="0">
                          <a:latin typeface="+mn-lt"/>
                          <a:ea typeface="+mn-ea"/>
                          <a:cs typeface="+mn-ea"/>
                          <a:sym typeface="+mn-lt"/>
                        </a:rPr>
                        <a:t>B</a:t>
                      </a:r>
                      <a:r>
                        <a:rPr lang="zh-CN" altLang="en-US" sz="1200" dirty="0">
                          <a:latin typeface="+mn-lt"/>
                          <a:ea typeface="+mn-ea"/>
                          <a:cs typeface="+mn-ea"/>
                          <a:sym typeface="+mn-lt"/>
                        </a:rPr>
                        <a:t>部门使用</a:t>
                      </a:r>
                      <a:r>
                        <a:rPr lang="en-US" altLang="zh-CN" sz="1200" dirty="0">
                          <a:latin typeface="+mn-lt"/>
                          <a:ea typeface="+mn-ea"/>
                          <a:cs typeface="+mn-ea"/>
                          <a:sym typeface="+mn-lt"/>
                        </a:rPr>
                        <a:t>VLAN2010</a:t>
                      </a:r>
                      <a:r>
                        <a:rPr lang="zh-CN" altLang="en-US" sz="1200" dirty="0">
                          <a:latin typeface="+mn-lt"/>
                          <a:ea typeface="+mn-ea"/>
                          <a:cs typeface="+mn-ea"/>
                          <a:sym typeface="+mn-lt"/>
                        </a:rPr>
                        <a:t>～</a:t>
                      </a:r>
                      <a:r>
                        <a:rPr lang="en-US" altLang="zh-CN" sz="1200" dirty="0">
                          <a:latin typeface="+mn-lt"/>
                          <a:ea typeface="+mn-ea"/>
                          <a:cs typeface="+mn-ea"/>
                          <a:sym typeface="+mn-lt"/>
                        </a:rPr>
                        <a:t>VLAN2019</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653154">
                <a:tc>
                  <a:txBody>
                    <a:bodyPr/>
                    <a:lstStyle/>
                    <a:p>
                      <a:pPr algn="ctr">
                        <a:lnSpc>
                          <a:spcPct val="150000"/>
                        </a:lnSpc>
                      </a:pPr>
                      <a:r>
                        <a:rPr lang="zh-CN" altLang="en-US" sz="1200" dirty="0">
                          <a:latin typeface="+mn-lt"/>
                          <a:ea typeface="+mn-ea"/>
                          <a:cs typeface="+mn-ea"/>
                          <a:sym typeface="+mn-lt"/>
                        </a:rPr>
                        <a:t>按照业务类型划分</a:t>
                      </a:r>
                      <a:r>
                        <a:rPr lang="en-US" altLang="zh-CN" sz="1200" dirty="0">
                          <a:latin typeface="+mn-lt"/>
                          <a:ea typeface="+mn-ea"/>
                          <a:cs typeface="+mn-ea"/>
                          <a:sym typeface="+mn-lt"/>
                        </a:rPr>
                        <a:t>VLAN</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nSpc>
                          <a:spcPct val="150000"/>
                        </a:lnSpc>
                        <a:buFont typeface="Arial" panose="020B0604020202020204" pitchFamily="34" charset="0"/>
                        <a:buChar char="•"/>
                      </a:pPr>
                      <a:r>
                        <a:rPr lang="en-US" altLang="zh-CN" sz="1200" dirty="0">
                          <a:latin typeface="+mn-lt"/>
                          <a:ea typeface="+mn-ea"/>
                          <a:cs typeface="+mn-ea"/>
                          <a:sym typeface="+mn-lt"/>
                        </a:rPr>
                        <a:t>Web</a:t>
                      </a:r>
                      <a:r>
                        <a:rPr lang="zh-CN" altLang="en-US" sz="1200" dirty="0">
                          <a:latin typeface="+mn-lt"/>
                          <a:ea typeface="+mn-ea"/>
                          <a:cs typeface="+mn-ea"/>
                          <a:sym typeface="+mn-lt"/>
                        </a:rPr>
                        <a:t>服务器区域：</a:t>
                      </a:r>
                      <a:r>
                        <a:rPr lang="en-US" altLang="zh-CN" sz="1200" dirty="0">
                          <a:latin typeface="+mn-lt"/>
                          <a:ea typeface="+mn-ea"/>
                          <a:cs typeface="+mn-ea"/>
                          <a:sym typeface="+mn-lt"/>
                        </a:rPr>
                        <a:t>VLAN200</a:t>
                      </a:r>
                      <a:r>
                        <a:rPr lang="zh-CN" altLang="en-US" sz="1200" dirty="0">
                          <a:latin typeface="+mn-lt"/>
                          <a:ea typeface="+mn-ea"/>
                          <a:cs typeface="+mn-ea"/>
                          <a:sym typeface="+mn-lt"/>
                        </a:rPr>
                        <a:t>～</a:t>
                      </a:r>
                      <a:r>
                        <a:rPr lang="en-US" altLang="zh-CN" sz="1200" dirty="0">
                          <a:latin typeface="+mn-lt"/>
                          <a:ea typeface="+mn-ea"/>
                          <a:cs typeface="+mn-ea"/>
                          <a:sym typeface="+mn-lt"/>
                        </a:rPr>
                        <a:t>VLAN299</a:t>
                      </a:r>
                    </a:p>
                    <a:p>
                      <a:pPr marL="171450" indent="-171450">
                        <a:lnSpc>
                          <a:spcPct val="150000"/>
                        </a:lnSpc>
                        <a:buFont typeface="Arial" panose="020B0604020202020204" pitchFamily="34" charset="0"/>
                        <a:buChar char="•"/>
                      </a:pPr>
                      <a:r>
                        <a:rPr lang="zh-CN" altLang="en-US" sz="1200" dirty="0">
                          <a:latin typeface="+mn-lt"/>
                          <a:ea typeface="+mn-ea"/>
                          <a:cs typeface="+mn-ea"/>
                          <a:sym typeface="+mn-lt"/>
                        </a:rPr>
                        <a:t>应用服务器区域：</a:t>
                      </a:r>
                      <a:r>
                        <a:rPr lang="en-US" altLang="zh-CN" sz="1200" dirty="0">
                          <a:latin typeface="+mn-lt"/>
                          <a:ea typeface="+mn-ea"/>
                          <a:cs typeface="+mn-ea"/>
                          <a:sym typeface="+mn-lt"/>
                        </a:rPr>
                        <a:t>VLAN300</a:t>
                      </a:r>
                      <a:r>
                        <a:rPr lang="zh-CN" altLang="en-US" sz="1200" dirty="0">
                          <a:latin typeface="+mn-lt"/>
                          <a:ea typeface="+mn-ea"/>
                          <a:cs typeface="+mn-ea"/>
                          <a:sym typeface="+mn-lt"/>
                        </a:rPr>
                        <a:t>～</a:t>
                      </a:r>
                      <a:r>
                        <a:rPr lang="en-US" altLang="zh-CN" sz="1200" dirty="0">
                          <a:latin typeface="+mn-lt"/>
                          <a:ea typeface="+mn-ea"/>
                          <a:cs typeface="+mn-ea"/>
                          <a:sym typeface="+mn-lt"/>
                        </a:rPr>
                        <a:t>VLAN399</a:t>
                      </a:r>
                    </a:p>
                    <a:p>
                      <a:pPr marL="171450" indent="-171450">
                        <a:lnSpc>
                          <a:spcPct val="150000"/>
                        </a:lnSpc>
                        <a:buFont typeface="Arial" panose="020B0604020202020204" pitchFamily="34" charset="0"/>
                        <a:buChar char="•"/>
                      </a:pPr>
                      <a:r>
                        <a:rPr lang="zh-CN" altLang="en-US" sz="1200" dirty="0">
                          <a:latin typeface="+mn-lt"/>
                          <a:ea typeface="+mn-ea"/>
                          <a:cs typeface="+mn-ea"/>
                          <a:sym typeface="+mn-lt"/>
                        </a:rPr>
                        <a:t>数据库服务器区域：</a:t>
                      </a:r>
                      <a:r>
                        <a:rPr lang="en-US" altLang="zh-CN" sz="1200" dirty="0">
                          <a:latin typeface="+mn-lt"/>
                          <a:ea typeface="+mn-ea"/>
                          <a:cs typeface="+mn-ea"/>
                          <a:sym typeface="+mn-lt"/>
                        </a:rPr>
                        <a:t>VLAN400</a:t>
                      </a:r>
                      <a:r>
                        <a:rPr lang="zh-CN" altLang="en-US" sz="1200" dirty="0">
                          <a:latin typeface="+mn-lt"/>
                          <a:ea typeface="+mn-ea"/>
                          <a:cs typeface="+mn-ea"/>
                          <a:sym typeface="+mn-lt"/>
                        </a:rPr>
                        <a:t>～</a:t>
                      </a:r>
                      <a:r>
                        <a:rPr lang="en-US" altLang="zh-CN" sz="1200" dirty="0">
                          <a:latin typeface="+mn-lt"/>
                          <a:ea typeface="+mn-ea"/>
                          <a:cs typeface="+mn-ea"/>
                          <a:sym typeface="+mn-lt"/>
                        </a:rPr>
                        <a:t>VLAN499</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5146062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latin typeface="+mn-lt"/>
                <a:ea typeface="+mn-ea"/>
                <a:cs typeface="+mn-ea"/>
                <a:sym typeface="+mn-lt"/>
              </a:rPr>
              <a:t>IP</a:t>
            </a:r>
            <a:r>
              <a:rPr lang="zh-CN" altLang="en-US" dirty="0">
                <a:latin typeface="+mn-lt"/>
                <a:ea typeface="+mn-ea"/>
                <a:cs typeface="+mn-ea"/>
                <a:sym typeface="+mn-lt"/>
              </a:rPr>
              <a:t>地址规划</a:t>
            </a:r>
            <a:r>
              <a:rPr lang="zh-CN" altLang="en-US" dirty="0" smtClean="0">
                <a:latin typeface="+mn-lt"/>
                <a:ea typeface="+mn-ea"/>
                <a:cs typeface="+mn-ea"/>
                <a:sym typeface="+mn-lt"/>
              </a:rPr>
              <a:t>设计 </a:t>
            </a:r>
            <a:r>
              <a:rPr lang="en-US" altLang="zh-CN" dirty="0" smtClean="0">
                <a:latin typeface="+mn-lt"/>
                <a:ea typeface="+mn-ea"/>
                <a:cs typeface="+mn-ea"/>
                <a:sym typeface="+mn-lt"/>
              </a:rPr>
              <a:t>(1)</a:t>
            </a:r>
            <a:endParaRPr lang="zh-CN" altLang="en-US" dirty="0">
              <a:latin typeface="+mn-lt"/>
              <a:ea typeface="+mn-ea"/>
              <a:cs typeface="+mn-ea"/>
              <a:sym typeface="+mn-lt"/>
            </a:endParaRPr>
          </a:p>
        </p:txBody>
      </p:sp>
      <p:sp>
        <p:nvSpPr>
          <p:cNvPr id="3" name="圆角矩形 2"/>
          <p:cNvSpPr/>
          <p:nvPr/>
        </p:nvSpPr>
        <p:spPr bwMode="gray">
          <a:xfrm>
            <a:off x="799033" y="1055271"/>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管理</a:t>
            </a:r>
            <a:r>
              <a:rPr lang="en-US" altLang="zh-CN" sz="1600">
                <a:solidFill>
                  <a:srgbClr val="30B5C5"/>
                </a:solidFill>
                <a:latin typeface="Huawei Sans" panose="020C0503030203020204" pitchFamily="34" charset="0"/>
                <a:ea typeface="方正兰亭黑简体" panose="02000000000000000000" pitchFamily="2" charset="-122"/>
                <a:sym typeface="+mn-lt"/>
              </a:rPr>
              <a:t>IP</a:t>
            </a:r>
            <a:r>
              <a:rPr lang="zh-CN" altLang="en-US" sz="1600">
                <a:solidFill>
                  <a:srgbClr val="30B5C5"/>
                </a:solidFill>
                <a:latin typeface="Huawei Sans" panose="020C0503030203020204" pitchFamily="34" charset="0"/>
                <a:ea typeface="方正兰亭黑简体" panose="02000000000000000000" pitchFamily="2" charset="-122"/>
                <a:sym typeface="+mn-lt"/>
              </a:rPr>
              <a:t>地址</a:t>
            </a:r>
          </a:p>
        </p:txBody>
      </p:sp>
      <p:sp>
        <p:nvSpPr>
          <p:cNvPr id="4" name="圆角矩形 3"/>
          <p:cNvSpPr/>
          <p:nvPr/>
        </p:nvSpPr>
        <p:spPr bwMode="gray">
          <a:xfrm>
            <a:off x="799032" y="1491236"/>
            <a:ext cx="5163736" cy="308307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cs typeface="+mn-ea"/>
              <a:sym typeface="+mn-lt"/>
            </a:endParaRPr>
          </a:p>
        </p:txBody>
      </p:sp>
      <p:sp>
        <p:nvSpPr>
          <p:cNvPr id="5" name="矩形 4"/>
          <p:cNvSpPr/>
          <p:nvPr/>
        </p:nvSpPr>
        <p:spPr bwMode="gray">
          <a:xfrm>
            <a:off x="799032" y="3762258"/>
            <a:ext cx="5163735" cy="707886"/>
          </a:xfrm>
          <a:prstGeom prst="rect">
            <a:avLst/>
          </a:prstGeom>
        </p:spPr>
        <p:txBody>
          <a:bodyPr wrap="square">
            <a:spAutoFit/>
          </a:bodyPr>
          <a:lstStyle/>
          <a:p>
            <a:pPr>
              <a:lnSpc>
                <a:spcPts val="2400"/>
              </a:lnSpc>
            </a:pPr>
            <a:r>
              <a:rPr lang="zh-CN" altLang="en-US" sz="1600" dirty="0">
                <a:cs typeface="+mn-ea"/>
                <a:sym typeface="+mn-lt"/>
              </a:rPr>
              <a:t>二层设备使用VLANIF地址作为管理IP地址，建议</a:t>
            </a:r>
            <a:r>
              <a:rPr lang="zh-CN" altLang="en-US" sz="1600" dirty="0" smtClean="0">
                <a:cs typeface="+mn-ea"/>
                <a:sym typeface="+mn-lt"/>
              </a:rPr>
              <a:t>网关以下</a:t>
            </a:r>
            <a:r>
              <a:rPr lang="zh-CN" altLang="en-US" sz="1600" dirty="0">
                <a:cs typeface="+mn-ea"/>
                <a:sym typeface="+mn-lt"/>
              </a:rPr>
              <a:t>的所有二层交换机使用同</a:t>
            </a:r>
            <a:r>
              <a:rPr lang="zh-CN" altLang="en-US" sz="1600" dirty="0" smtClean="0">
                <a:cs typeface="+mn-ea"/>
                <a:sym typeface="+mn-lt"/>
              </a:rPr>
              <a:t>一</a:t>
            </a:r>
            <a:r>
              <a:rPr lang="en-US" altLang="zh-CN" sz="1600" dirty="0" smtClean="0">
                <a:cs typeface="+mn-ea"/>
                <a:sym typeface="+mn-lt"/>
              </a:rPr>
              <a:t>IP</a:t>
            </a:r>
            <a:r>
              <a:rPr lang="zh-CN" altLang="en-US" sz="1600" dirty="0" smtClean="0">
                <a:cs typeface="+mn-ea"/>
                <a:sym typeface="+mn-lt"/>
              </a:rPr>
              <a:t>网</a:t>
            </a:r>
            <a:r>
              <a:rPr lang="zh-CN" altLang="en-US" sz="1600" dirty="0">
                <a:cs typeface="+mn-ea"/>
                <a:sym typeface="+mn-lt"/>
              </a:rPr>
              <a:t>段。</a:t>
            </a:r>
          </a:p>
        </p:txBody>
      </p:sp>
      <p:sp>
        <p:nvSpPr>
          <p:cNvPr id="6" name="圆角矩形 5"/>
          <p:cNvSpPr/>
          <p:nvPr/>
        </p:nvSpPr>
        <p:spPr bwMode="gray">
          <a:xfrm>
            <a:off x="799033" y="4759053"/>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互联</a:t>
            </a:r>
            <a:r>
              <a:rPr lang="en-US" altLang="zh-CN" sz="1600">
                <a:solidFill>
                  <a:srgbClr val="30B5C5"/>
                </a:solidFill>
                <a:latin typeface="Huawei Sans" panose="020C0503030203020204" pitchFamily="34" charset="0"/>
                <a:ea typeface="方正兰亭黑简体" panose="02000000000000000000" pitchFamily="2" charset="-122"/>
                <a:sym typeface="+mn-lt"/>
              </a:rPr>
              <a:t>IP</a:t>
            </a:r>
            <a:r>
              <a:rPr lang="zh-CN" altLang="en-US" sz="1600">
                <a:solidFill>
                  <a:srgbClr val="30B5C5"/>
                </a:solidFill>
                <a:latin typeface="Huawei Sans" panose="020C0503030203020204" pitchFamily="34" charset="0"/>
                <a:ea typeface="方正兰亭黑简体" panose="02000000000000000000" pitchFamily="2" charset="-122"/>
                <a:sym typeface="+mn-lt"/>
              </a:rPr>
              <a:t>地址</a:t>
            </a:r>
          </a:p>
        </p:txBody>
      </p:sp>
      <p:sp>
        <p:nvSpPr>
          <p:cNvPr id="7" name="圆角矩形 6"/>
          <p:cNvSpPr/>
          <p:nvPr/>
        </p:nvSpPr>
        <p:spPr bwMode="gray">
          <a:xfrm>
            <a:off x="799032" y="5184600"/>
            <a:ext cx="5163736" cy="95337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cs typeface="+mn-ea"/>
              <a:sym typeface="+mn-lt"/>
            </a:endParaRPr>
          </a:p>
        </p:txBody>
      </p:sp>
      <p:sp>
        <p:nvSpPr>
          <p:cNvPr id="8" name="矩形 7"/>
          <p:cNvSpPr/>
          <p:nvPr/>
        </p:nvSpPr>
        <p:spPr bwMode="gray">
          <a:xfrm>
            <a:off x="799032" y="5328616"/>
            <a:ext cx="5163735" cy="707886"/>
          </a:xfrm>
          <a:prstGeom prst="rect">
            <a:avLst/>
          </a:prstGeom>
        </p:spPr>
        <p:txBody>
          <a:bodyPr wrap="square">
            <a:spAutoFit/>
          </a:bodyPr>
          <a:lstStyle/>
          <a:p>
            <a:pPr>
              <a:lnSpc>
                <a:spcPts val="2400"/>
              </a:lnSpc>
            </a:pPr>
            <a:r>
              <a:rPr lang="zh-CN" altLang="en-US" sz="1600" dirty="0">
                <a:cs typeface="+mn-ea"/>
                <a:sym typeface="+mn-lt"/>
              </a:rPr>
              <a:t>互联</a:t>
            </a:r>
            <a:r>
              <a:rPr lang="en-US" altLang="zh-CN" sz="1600" dirty="0">
                <a:cs typeface="+mn-ea"/>
                <a:sym typeface="+mn-lt"/>
              </a:rPr>
              <a:t>IP</a:t>
            </a:r>
            <a:r>
              <a:rPr lang="zh-CN" altLang="en-US" sz="1600" dirty="0">
                <a:cs typeface="+mn-ea"/>
                <a:sym typeface="+mn-lt"/>
              </a:rPr>
              <a:t>地址推荐使用</a:t>
            </a:r>
            <a:r>
              <a:rPr lang="en-US" altLang="zh-CN" sz="1600" dirty="0">
                <a:cs typeface="+mn-ea"/>
                <a:sym typeface="+mn-lt"/>
              </a:rPr>
              <a:t>30</a:t>
            </a:r>
            <a:r>
              <a:rPr lang="zh-CN" altLang="en-US" sz="1600" dirty="0">
                <a:cs typeface="+mn-ea"/>
                <a:sym typeface="+mn-lt"/>
              </a:rPr>
              <a:t>位掩码的</a:t>
            </a:r>
            <a:r>
              <a:rPr lang="en-US" altLang="zh-CN" sz="1600" dirty="0">
                <a:cs typeface="+mn-ea"/>
                <a:sym typeface="+mn-lt"/>
              </a:rPr>
              <a:t>IP</a:t>
            </a:r>
            <a:r>
              <a:rPr lang="zh-CN" altLang="en-US" sz="1600" dirty="0">
                <a:cs typeface="+mn-ea"/>
                <a:sym typeface="+mn-lt"/>
              </a:rPr>
              <a:t>地址，核心</a:t>
            </a:r>
            <a:r>
              <a:rPr lang="zh-CN" altLang="en-US" sz="1600" dirty="0" smtClean="0">
                <a:cs typeface="+mn-ea"/>
                <a:sym typeface="+mn-lt"/>
              </a:rPr>
              <a:t>设备可使用</a:t>
            </a:r>
            <a:r>
              <a:rPr lang="zh-CN" altLang="en-US" sz="1600" dirty="0">
                <a:cs typeface="+mn-ea"/>
                <a:sym typeface="+mn-lt"/>
              </a:rPr>
              <a:t>主机地址较小的</a:t>
            </a:r>
            <a:r>
              <a:rPr lang="en-US" altLang="zh-CN" sz="1600" dirty="0">
                <a:cs typeface="+mn-ea"/>
                <a:sym typeface="+mn-lt"/>
              </a:rPr>
              <a:t>IP</a:t>
            </a:r>
            <a:r>
              <a:rPr lang="zh-CN" altLang="en-US" sz="1600" dirty="0">
                <a:cs typeface="+mn-ea"/>
                <a:sym typeface="+mn-lt"/>
              </a:rPr>
              <a:t>地</a:t>
            </a:r>
            <a:r>
              <a:rPr lang="zh-CN" altLang="en-US" sz="1600" dirty="0" smtClean="0">
                <a:cs typeface="+mn-ea"/>
                <a:sym typeface="+mn-lt"/>
              </a:rPr>
              <a:t>址。</a:t>
            </a:r>
            <a:endParaRPr lang="zh-CN" altLang="en-US" sz="1600" dirty="0">
              <a:cs typeface="+mn-ea"/>
              <a:sym typeface="+mn-lt"/>
            </a:endParaRPr>
          </a:p>
        </p:txBody>
      </p:sp>
      <p:sp>
        <p:nvSpPr>
          <p:cNvPr id="9" name="椭圆 8"/>
          <p:cNvSpPr/>
          <p:nvPr/>
        </p:nvSpPr>
        <p:spPr bwMode="gray">
          <a:xfrm>
            <a:off x="2167185" y="2001009"/>
            <a:ext cx="2504806" cy="1566885"/>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grpSp>
        <p:nvGrpSpPr>
          <p:cNvPr id="10" name="组合 9"/>
          <p:cNvGrpSpPr/>
          <p:nvPr/>
        </p:nvGrpSpPr>
        <p:grpSpPr bwMode="gray">
          <a:xfrm>
            <a:off x="2344738" y="2225004"/>
            <a:ext cx="2149700" cy="917104"/>
            <a:chOff x="6600056" y="4353447"/>
            <a:chExt cx="1296144" cy="833967"/>
          </a:xfrm>
        </p:grpSpPr>
        <p:cxnSp>
          <p:nvCxnSpPr>
            <p:cNvPr id="11" name="直接连接符 10"/>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bwMode="gray">
          <a:xfrm>
            <a:off x="2179001" y="2116762"/>
            <a:ext cx="2457480" cy="1212360"/>
            <a:chOff x="7320136" y="3890337"/>
            <a:chExt cx="2844256" cy="1403169"/>
          </a:xfrm>
        </p:grpSpPr>
        <p:pic>
          <p:nvPicPr>
            <p:cNvPr id="14" name="图片 13" descr="接入交换机.png"/>
            <p:cNvPicPr>
              <a:picLocks noChangeAspect="1"/>
            </p:cNvPicPr>
            <p:nvPr/>
          </p:nvPicPr>
          <p:blipFill>
            <a:blip r:embed="rId3" cstate="print"/>
            <a:stretch>
              <a:fillRect/>
            </a:stretch>
          </p:blipFill>
          <p:spPr bwMode="gray">
            <a:xfrm>
              <a:off x="8472264" y="3890337"/>
              <a:ext cx="540000" cy="441818"/>
            </a:xfrm>
            <a:prstGeom prst="rect">
              <a:avLst/>
            </a:prstGeom>
          </p:spPr>
        </p:pic>
        <p:pic>
          <p:nvPicPr>
            <p:cNvPr id="15" name="图片 14" descr="接入交换机.png"/>
            <p:cNvPicPr>
              <a:picLocks noChangeAspect="1"/>
            </p:cNvPicPr>
            <p:nvPr/>
          </p:nvPicPr>
          <p:blipFill>
            <a:blip r:embed="rId3" cstate="print"/>
            <a:stretch>
              <a:fillRect/>
            </a:stretch>
          </p:blipFill>
          <p:spPr bwMode="gray">
            <a:xfrm>
              <a:off x="7320136" y="4851688"/>
              <a:ext cx="540000" cy="441818"/>
            </a:xfrm>
            <a:prstGeom prst="rect">
              <a:avLst/>
            </a:prstGeom>
          </p:spPr>
        </p:pic>
        <p:pic>
          <p:nvPicPr>
            <p:cNvPr id="16" name="图片 15" descr="接入交换机.png"/>
            <p:cNvPicPr>
              <a:picLocks noChangeAspect="1"/>
            </p:cNvPicPr>
            <p:nvPr/>
          </p:nvPicPr>
          <p:blipFill>
            <a:blip r:embed="rId3" cstate="print"/>
            <a:stretch>
              <a:fillRect/>
            </a:stretch>
          </p:blipFill>
          <p:spPr bwMode="gray">
            <a:xfrm>
              <a:off x="9624392" y="4851688"/>
              <a:ext cx="540000" cy="441818"/>
            </a:xfrm>
            <a:prstGeom prst="rect">
              <a:avLst/>
            </a:prstGeom>
          </p:spPr>
        </p:pic>
      </p:grpSp>
      <p:sp>
        <p:nvSpPr>
          <p:cNvPr id="17" name="文本框 16"/>
          <p:cNvSpPr txBox="1"/>
          <p:nvPr/>
        </p:nvSpPr>
        <p:spPr bwMode="gray">
          <a:xfrm>
            <a:off x="2769658" y="3123457"/>
            <a:ext cx="1311578" cy="307777"/>
          </a:xfrm>
          <a:prstGeom prst="rect">
            <a:avLst/>
          </a:prstGeom>
          <a:noFill/>
        </p:spPr>
        <p:txBody>
          <a:bodyPr wrap="none" rtlCol="0">
            <a:spAutoFit/>
          </a:bodyPr>
          <a:lstStyle/>
          <a:p>
            <a:pPr algn="ctr"/>
            <a:r>
              <a:rPr lang="zh-CN" altLang="en-US" sz="1400" smtClean="0">
                <a:solidFill>
                  <a:srgbClr val="30B5C5"/>
                </a:solidFill>
                <a:cs typeface="+mn-ea"/>
                <a:sym typeface="+mn-lt"/>
              </a:rPr>
              <a:t>管理</a:t>
            </a:r>
            <a:r>
              <a:rPr lang="en-US" altLang="zh-CN" sz="1400" smtClean="0">
                <a:solidFill>
                  <a:srgbClr val="30B5C5"/>
                </a:solidFill>
                <a:cs typeface="+mn-ea"/>
                <a:sym typeface="+mn-lt"/>
              </a:rPr>
              <a:t>VLAN100</a:t>
            </a:r>
            <a:endParaRPr lang="zh-CN" altLang="en-US" sz="1400">
              <a:solidFill>
                <a:srgbClr val="30B5C5"/>
              </a:solidFill>
              <a:cs typeface="+mn-ea"/>
              <a:sym typeface="+mn-lt"/>
            </a:endParaRPr>
          </a:p>
        </p:txBody>
      </p:sp>
      <p:sp>
        <p:nvSpPr>
          <p:cNvPr id="18" name="文本框 17"/>
          <p:cNvSpPr txBox="1"/>
          <p:nvPr/>
        </p:nvSpPr>
        <p:spPr bwMode="gray">
          <a:xfrm>
            <a:off x="852882" y="2838934"/>
            <a:ext cx="1327608" cy="523220"/>
          </a:xfrm>
          <a:prstGeom prst="rect">
            <a:avLst/>
          </a:prstGeom>
          <a:noFill/>
        </p:spPr>
        <p:txBody>
          <a:bodyPr wrap="none" rtlCol="0">
            <a:spAutoFit/>
          </a:bodyPr>
          <a:lstStyle/>
          <a:p>
            <a:pPr algn="r"/>
            <a:r>
              <a:rPr lang="en-US" altLang="zh-CN" sz="1400" dirty="0" smtClean="0">
                <a:solidFill>
                  <a:srgbClr val="30B5C5"/>
                </a:solidFill>
                <a:cs typeface="+mn-ea"/>
                <a:sym typeface="+mn-lt"/>
              </a:rPr>
              <a:t>VLANIF100</a:t>
            </a:r>
          </a:p>
          <a:p>
            <a:pPr algn="r"/>
            <a:r>
              <a:rPr lang="en-US" altLang="zh-CN" sz="1400" dirty="0" smtClean="0">
                <a:solidFill>
                  <a:srgbClr val="30B5C5"/>
                </a:solidFill>
                <a:cs typeface="+mn-ea"/>
                <a:sym typeface="+mn-lt"/>
              </a:rPr>
              <a:t>192.168.100.1</a:t>
            </a:r>
            <a:endParaRPr lang="zh-CN" altLang="en-US" sz="1400" dirty="0">
              <a:solidFill>
                <a:srgbClr val="30B5C5"/>
              </a:solidFill>
              <a:cs typeface="+mn-ea"/>
              <a:sym typeface="+mn-lt"/>
            </a:endParaRPr>
          </a:p>
        </p:txBody>
      </p:sp>
      <p:sp>
        <p:nvSpPr>
          <p:cNvPr id="19" name="文本框 18"/>
          <p:cNvSpPr txBox="1"/>
          <p:nvPr/>
        </p:nvSpPr>
        <p:spPr bwMode="gray">
          <a:xfrm>
            <a:off x="4597355" y="2838934"/>
            <a:ext cx="1327608" cy="523220"/>
          </a:xfrm>
          <a:prstGeom prst="rect">
            <a:avLst/>
          </a:prstGeom>
          <a:noFill/>
        </p:spPr>
        <p:txBody>
          <a:bodyPr wrap="none" rtlCol="0">
            <a:spAutoFit/>
          </a:bodyPr>
          <a:lstStyle/>
          <a:p>
            <a:r>
              <a:rPr lang="en-US" altLang="zh-CN" sz="1400" smtClean="0">
                <a:solidFill>
                  <a:srgbClr val="30B5C5"/>
                </a:solidFill>
                <a:cs typeface="+mn-ea"/>
                <a:sym typeface="+mn-lt"/>
              </a:rPr>
              <a:t>VLANIF100</a:t>
            </a:r>
          </a:p>
          <a:p>
            <a:r>
              <a:rPr lang="en-US" altLang="zh-CN" sz="1400" smtClean="0">
                <a:solidFill>
                  <a:srgbClr val="30B5C5"/>
                </a:solidFill>
                <a:cs typeface="+mn-ea"/>
                <a:sym typeface="+mn-lt"/>
              </a:rPr>
              <a:t>192.168.100.2</a:t>
            </a:r>
            <a:endParaRPr lang="zh-CN" altLang="en-US" sz="1400">
              <a:solidFill>
                <a:srgbClr val="30B5C5"/>
              </a:solidFill>
              <a:cs typeface="+mn-ea"/>
              <a:sym typeface="+mn-lt"/>
            </a:endParaRPr>
          </a:p>
        </p:txBody>
      </p:sp>
      <p:sp>
        <p:nvSpPr>
          <p:cNvPr id="20" name="文本框 19"/>
          <p:cNvSpPr txBox="1"/>
          <p:nvPr/>
        </p:nvSpPr>
        <p:spPr bwMode="gray">
          <a:xfrm>
            <a:off x="3642736" y="1913855"/>
            <a:ext cx="1526380" cy="523220"/>
          </a:xfrm>
          <a:prstGeom prst="rect">
            <a:avLst/>
          </a:prstGeom>
          <a:noFill/>
        </p:spPr>
        <p:txBody>
          <a:bodyPr wrap="none" rtlCol="0">
            <a:spAutoFit/>
          </a:bodyPr>
          <a:lstStyle/>
          <a:p>
            <a:r>
              <a:rPr lang="en-US" altLang="zh-CN" sz="1400" smtClean="0">
                <a:solidFill>
                  <a:srgbClr val="30B5C5"/>
                </a:solidFill>
                <a:cs typeface="+mn-ea"/>
                <a:sym typeface="+mn-lt"/>
              </a:rPr>
              <a:t>VLANIF100</a:t>
            </a:r>
          </a:p>
          <a:p>
            <a:r>
              <a:rPr lang="en-US" altLang="zh-CN" sz="1400" smtClean="0">
                <a:solidFill>
                  <a:srgbClr val="30B5C5"/>
                </a:solidFill>
                <a:cs typeface="+mn-ea"/>
                <a:sym typeface="+mn-lt"/>
              </a:rPr>
              <a:t>192.168.100.254</a:t>
            </a:r>
            <a:endParaRPr lang="zh-CN" altLang="en-US" sz="1400">
              <a:solidFill>
                <a:srgbClr val="30B5C5"/>
              </a:solidFill>
              <a:cs typeface="+mn-ea"/>
              <a:sym typeface="+mn-lt"/>
            </a:endParaRPr>
          </a:p>
        </p:txBody>
      </p:sp>
      <p:sp>
        <p:nvSpPr>
          <p:cNvPr id="21" name="圆角矩形 20"/>
          <p:cNvSpPr/>
          <p:nvPr/>
        </p:nvSpPr>
        <p:spPr bwMode="gray">
          <a:xfrm>
            <a:off x="6229233" y="1055271"/>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业务</a:t>
            </a:r>
            <a:r>
              <a:rPr lang="en-US" altLang="zh-CN" sz="1600">
                <a:solidFill>
                  <a:srgbClr val="30B5C5"/>
                </a:solidFill>
                <a:latin typeface="Huawei Sans" panose="020C0503030203020204" pitchFamily="34" charset="0"/>
                <a:ea typeface="方正兰亭黑简体" panose="02000000000000000000" pitchFamily="2" charset="-122"/>
                <a:sym typeface="+mn-lt"/>
              </a:rPr>
              <a:t>IP</a:t>
            </a:r>
            <a:r>
              <a:rPr lang="zh-CN" altLang="en-US" sz="1600">
                <a:solidFill>
                  <a:srgbClr val="30B5C5"/>
                </a:solidFill>
                <a:latin typeface="Huawei Sans" panose="020C0503030203020204" pitchFamily="34" charset="0"/>
                <a:ea typeface="方正兰亭黑简体" panose="02000000000000000000" pitchFamily="2" charset="-122"/>
                <a:sym typeface="+mn-lt"/>
              </a:rPr>
              <a:t>地址</a:t>
            </a:r>
          </a:p>
        </p:txBody>
      </p:sp>
      <p:sp>
        <p:nvSpPr>
          <p:cNvPr id="22" name="圆角矩形 21"/>
          <p:cNvSpPr/>
          <p:nvPr/>
        </p:nvSpPr>
        <p:spPr bwMode="gray">
          <a:xfrm>
            <a:off x="6229232" y="1491237"/>
            <a:ext cx="5163736" cy="4693873"/>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cs typeface="+mn-ea"/>
              <a:sym typeface="+mn-lt"/>
            </a:endParaRPr>
          </a:p>
        </p:txBody>
      </p:sp>
      <p:sp>
        <p:nvSpPr>
          <p:cNvPr id="23" name="矩形 22"/>
          <p:cNvSpPr/>
          <p:nvPr/>
        </p:nvSpPr>
        <p:spPr bwMode="gray">
          <a:xfrm>
            <a:off x="6229231" y="4346879"/>
            <a:ext cx="5163736" cy="1683538"/>
          </a:xfrm>
          <a:prstGeom prst="rect">
            <a:avLst/>
          </a:prstGeom>
        </p:spPr>
        <p:txBody>
          <a:bodyPr wrap="square">
            <a:spAutoFit/>
          </a:bodyPr>
          <a:lstStyle/>
          <a:p>
            <a:pPr>
              <a:lnSpc>
                <a:spcPts val="2400"/>
              </a:lnSpc>
            </a:pPr>
            <a:r>
              <a:rPr lang="zh-CN" altLang="en-US" sz="1600" dirty="0">
                <a:cs typeface="+mn-ea"/>
                <a:sym typeface="+mn-lt"/>
              </a:rPr>
              <a:t>业务</a:t>
            </a:r>
            <a:r>
              <a:rPr lang="en-US" altLang="zh-CN" sz="1600" dirty="0">
                <a:cs typeface="+mn-ea"/>
                <a:sym typeface="+mn-lt"/>
              </a:rPr>
              <a:t>IP</a:t>
            </a:r>
            <a:r>
              <a:rPr lang="zh-CN" altLang="en-US" sz="1600" dirty="0">
                <a:cs typeface="+mn-ea"/>
                <a:sym typeface="+mn-lt"/>
              </a:rPr>
              <a:t>地址是服务器、主机以及网关的</a:t>
            </a:r>
            <a:r>
              <a:rPr lang="en-US" altLang="zh-CN" sz="1600" dirty="0">
                <a:cs typeface="+mn-ea"/>
                <a:sym typeface="+mn-lt"/>
              </a:rPr>
              <a:t>IP</a:t>
            </a:r>
            <a:r>
              <a:rPr lang="zh-CN" altLang="en-US" sz="1600" dirty="0">
                <a:cs typeface="+mn-ea"/>
                <a:sym typeface="+mn-lt"/>
              </a:rPr>
              <a:t>地址</a:t>
            </a:r>
            <a:r>
              <a:rPr lang="zh-CN" altLang="en-US" sz="1600" dirty="0" smtClean="0">
                <a:cs typeface="+mn-ea"/>
                <a:sym typeface="+mn-lt"/>
              </a:rPr>
              <a:t>。</a:t>
            </a:r>
            <a:endParaRPr lang="en-US" altLang="zh-CN" sz="1600" dirty="0" smtClean="0">
              <a:cs typeface="+mn-ea"/>
              <a:sym typeface="+mn-lt"/>
            </a:endParaRPr>
          </a:p>
          <a:p>
            <a:pPr marL="177800" indent="-177800" algn="just">
              <a:lnSpc>
                <a:spcPct val="140000"/>
              </a:lnSpc>
              <a:spcBef>
                <a:spcPct val="0"/>
              </a:spcBef>
              <a:spcAft>
                <a:spcPts val="300"/>
              </a:spcAft>
              <a:buSzPct val="100000"/>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网关</a:t>
            </a:r>
            <a:r>
              <a:rPr lang="en-US" altLang="zh-CN" sz="1400" dirty="0">
                <a:solidFill>
                  <a:prstClr val="black"/>
                </a:solidFill>
                <a:latin typeface="Huawei Sans" panose="020C0503030203020204" pitchFamily="34" charset="0"/>
                <a:ea typeface="方正兰亭黑简体" panose="02000000000000000000" pitchFamily="2" charset="-122"/>
                <a:sym typeface="+mn-lt"/>
              </a:rPr>
              <a:t>IP</a:t>
            </a:r>
            <a:r>
              <a:rPr lang="zh-CN" altLang="en-US" sz="1400" dirty="0">
                <a:solidFill>
                  <a:prstClr val="black"/>
                </a:solidFill>
                <a:latin typeface="Huawei Sans" panose="020C0503030203020204" pitchFamily="34" charset="0"/>
                <a:ea typeface="方正兰亭黑简体" panose="02000000000000000000" pitchFamily="2" charset="-122"/>
                <a:sym typeface="+mn-lt"/>
              </a:rPr>
              <a:t>地址推荐统一使用相同的末位数字，如</a:t>
            </a:r>
            <a:r>
              <a:rPr lang="en-US" altLang="zh-CN" sz="1400" dirty="0">
                <a:solidFill>
                  <a:prstClr val="black"/>
                </a:solidFill>
                <a:latin typeface="Huawei Sans" panose="020C0503030203020204" pitchFamily="34" charset="0"/>
                <a:ea typeface="方正兰亭黑简体" panose="02000000000000000000" pitchFamily="2" charset="-122"/>
                <a:sym typeface="+mn-lt"/>
              </a:rPr>
              <a:t>.254</a:t>
            </a:r>
            <a:r>
              <a:rPr lang="zh-CN" altLang="en-US" sz="1400" dirty="0">
                <a:solidFill>
                  <a:prstClr val="black"/>
                </a:solidFill>
                <a:latin typeface="Huawei Sans" panose="020C0503030203020204" pitchFamily="34" charset="0"/>
                <a:ea typeface="方正兰亭黑简体" panose="02000000000000000000" pitchFamily="2" charset="-122"/>
                <a:sym typeface="+mn-lt"/>
              </a:rPr>
              <a:t>。</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77800" indent="-177800" algn="just">
              <a:lnSpc>
                <a:spcPct val="140000"/>
              </a:lnSpc>
              <a:spcBef>
                <a:spcPct val="0"/>
              </a:spcBef>
              <a:spcAft>
                <a:spcPts val="300"/>
              </a:spcAft>
              <a:buSzPct val="100000"/>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各业务</a:t>
            </a:r>
            <a:r>
              <a:rPr lang="en-US" altLang="zh-CN" sz="1400" dirty="0">
                <a:solidFill>
                  <a:prstClr val="black"/>
                </a:solidFill>
                <a:latin typeface="Huawei Sans" panose="020C0503030203020204" pitchFamily="34" charset="0"/>
                <a:ea typeface="方正兰亭黑简体" panose="02000000000000000000" pitchFamily="2" charset="-122"/>
                <a:sym typeface="+mn-lt"/>
              </a:rPr>
              <a:t>IP</a:t>
            </a:r>
            <a:r>
              <a:rPr lang="zh-CN" altLang="en-US" sz="1400" dirty="0">
                <a:solidFill>
                  <a:prstClr val="black"/>
                </a:solidFill>
                <a:latin typeface="Huawei Sans" panose="020C0503030203020204" pitchFamily="34" charset="0"/>
                <a:ea typeface="方正兰亭黑简体" panose="02000000000000000000" pitchFamily="2" charset="-122"/>
                <a:sym typeface="+mn-lt"/>
              </a:rPr>
              <a:t>地址范围要清晰区分，每一类业务终端</a:t>
            </a:r>
            <a:r>
              <a:rPr lang="en-US" altLang="zh-CN" sz="1400" dirty="0">
                <a:solidFill>
                  <a:prstClr val="black"/>
                </a:solidFill>
                <a:latin typeface="Huawei Sans" panose="020C0503030203020204" pitchFamily="34" charset="0"/>
                <a:ea typeface="方正兰亭黑简体" panose="02000000000000000000" pitchFamily="2" charset="-122"/>
                <a:sym typeface="+mn-lt"/>
              </a:rPr>
              <a:t>IP</a:t>
            </a:r>
            <a:r>
              <a:rPr lang="zh-CN" altLang="en-US" sz="1400" dirty="0">
                <a:solidFill>
                  <a:prstClr val="black"/>
                </a:solidFill>
                <a:latin typeface="Huawei Sans" panose="020C0503030203020204" pitchFamily="34" charset="0"/>
                <a:ea typeface="方正兰亭黑简体" panose="02000000000000000000" pitchFamily="2" charset="-122"/>
                <a:sym typeface="+mn-lt"/>
              </a:rPr>
              <a:t>地址连续、可聚合。</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77800" indent="-177800" algn="just">
              <a:lnSpc>
                <a:spcPct val="140000"/>
              </a:lnSpc>
              <a:spcBef>
                <a:spcPct val="0"/>
              </a:spcBef>
              <a:spcAft>
                <a:spcPts val="300"/>
              </a:spcAft>
              <a:buSzPct val="100000"/>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mn-lt"/>
              </a:rPr>
              <a:t>建议使用掩码为</a:t>
            </a:r>
            <a:r>
              <a:rPr lang="en-US" altLang="zh-CN" sz="1400" dirty="0">
                <a:solidFill>
                  <a:prstClr val="black"/>
                </a:solidFill>
                <a:latin typeface="Huawei Sans" panose="020C0503030203020204" pitchFamily="34" charset="0"/>
                <a:ea typeface="方正兰亭黑简体" panose="02000000000000000000" pitchFamily="2" charset="-122"/>
                <a:sym typeface="+mn-lt"/>
              </a:rPr>
              <a:t>24</a:t>
            </a:r>
            <a:r>
              <a:rPr lang="zh-CN" altLang="en-US" sz="1400" dirty="0">
                <a:solidFill>
                  <a:prstClr val="black"/>
                </a:solidFill>
                <a:latin typeface="Huawei Sans" panose="020C0503030203020204" pitchFamily="34" charset="0"/>
                <a:ea typeface="方正兰亭黑简体" panose="02000000000000000000" pitchFamily="2" charset="-122"/>
                <a:sym typeface="+mn-lt"/>
              </a:rPr>
              <a:t>位的</a:t>
            </a:r>
            <a:r>
              <a:rPr lang="en-US" altLang="zh-CN" sz="1400" dirty="0">
                <a:solidFill>
                  <a:prstClr val="black"/>
                </a:solidFill>
                <a:latin typeface="Huawei Sans" panose="020C0503030203020204" pitchFamily="34" charset="0"/>
                <a:ea typeface="方正兰亭黑简体" panose="02000000000000000000" pitchFamily="2" charset="-122"/>
                <a:sym typeface="+mn-lt"/>
              </a:rPr>
              <a:t>IP</a:t>
            </a:r>
            <a:r>
              <a:rPr lang="zh-CN" altLang="en-US" sz="1400" dirty="0">
                <a:solidFill>
                  <a:prstClr val="black"/>
                </a:solidFill>
                <a:latin typeface="Huawei Sans" panose="020C0503030203020204" pitchFamily="34" charset="0"/>
                <a:ea typeface="方正兰亭黑简体" panose="02000000000000000000" pitchFamily="2" charset="-122"/>
                <a:sym typeface="+mn-lt"/>
              </a:rPr>
              <a:t>地址段。</a:t>
            </a:r>
          </a:p>
        </p:txBody>
      </p:sp>
      <p:grpSp>
        <p:nvGrpSpPr>
          <p:cNvPr id="24" name="组合 23"/>
          <p:cNvGrpSpPr/>
          <p:nvPr/>
        </p:nvGrpSpPr>
        <p:grpSpPr bwMode="gray">
          <a:xfrm>
            <a:off x="7977888" y="2772173"/>
            <a:ext cx="1657166" cy="708608"/>
            <a:chOff x="6600056" y="4353447"/>
            <a:chExt cx="1296144" cy="833967"/>
          </a:xfrm>
        </p:grpSpPr>
        <p:cxnSp>
          <p:nvCxnSpPr>
            <p:cNvPr id="25" name="直接连接符 24"/>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 name="直接连接符 26"/>
          <p:cNvCxnSpPr/>
          <p:nvPr/>
        </p:nvCxnSpPr>
        <p:spPr bwMode="gray">
          <a:xfrm flipV="1">
            <a:off x="8806471" y="2764814"/>
            <a:ext cx="0" cy="381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583331" y="1749286"/>
            <a:ext cx="446281" cy="365950"/>
          </a:xfrm>
          <a:prstGeom prst="rect">
            <a:avLst/>
          </a:prstGeom>
        </p:spPr>
      </p:pic>
      <p:pic>
        <p:nvPicPr>
          <p:cNvPr id="29" name="图片 28" descr="接入交换机.png"/>
          <p:cNvPicPr>
            <a:picLocks noChangeAspect="1"/>
          </p:cNvPicPr>
          <p:nvPr/>
        </p:nvPicPr>
        <p:blipFill>
          <a:blip r:embed="rId3" cstate="print"/>
          <a:stretch>
            <a:fillRect/>
          </a:stretch>
        </p:blipFill>
        <p:spPr bwMode="gray">
          <a:xfrm>
            <a:off x="8583331" y="2582245"/>
            <a:ext cx="446281" cy="365139"/>
          </a:xfrm>
          <a:prstGeom prst="rect">
            <a:avLst/>
          </a:prstGeom>
        </p:spPr>
      </p:pic>
      <p:grpSp>
        <p:nvGrpSpPr>
          <p:cNvPr id="30" name="组合 29"/>
          <p:cNvGrpSpPr/>
          <p:nvPr/>
        </p:nvGrpSpPr>
        <p:grpSpPr bwMode="gray">
          <a:xfrm>
            <a:off x="8680649" y="3515103"/>
            <a:ext cx="276904" cy="75240"/>
            <a:chOff x="3074810" y="3664575"/>
            <a:chExt cx="276904" cy="75240"/>
          </a:xfrm>
        </p:grpSpPr>
        <p:sp>
          <p:nvSpPr>
            <p:cNvPr id="31" name="椭圆 30"/>
            <p:cNvSpPr>
              <a:spLocks noChangeAspect="1"/>
            </p:cNvSpPr>
            <p:nvPr/>
          </p:nvSpPr>
          <p:spPr bwMode="gray">
            <a:xfrm>
              <a:off x="3074810" y="3664575"/>
              <a:ext cx="75240" cy="7524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a:spLocks noChangeAspect="1"/>
            </p:cNvSpPr>
            <p:nvPr/>
          </p:nvSpPr>
          <p:spPr bwMode="gray">
            <a:xfrm>
              <a:off x="3175642" y="3664575"/>
              <a:ext cx="75240" cy="7524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p:cNvSpPr>
              <a:spLocks noChangeAspect="1"/>
            </p:cNvSpPr>
            <p:nvPr/>
          </p:nvSpPr>
          <p:spPr bwMode="gray">
            <a:xfrm>
              <a:off x="3276474" y="3664575"/>
              <a:ext cx="75240" cy="7524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34" name="图片 33" descr="云AP蓝.png"/>
          <p:cNvPicPr>
            <a:picLocks noChangeAspect="1"/>
          </p:cNvPicPr>
          <p:nvPr/>
        </p:nvPicPr>
        <p:blipFill>
          <a:blip r:embed="rId5" cstate="print"/>
          <a:stretch>
            <a:fillRect/>
          </a:stretch>
        </p:blipFill>
        <p:spPr bwMode="gray">
          <a:xfrm>
            <a:off x="7722698" y="3380144"/>
            <a:ext cx="421859" cy="345157"/>
          </a:xfrm>
          <a:prstGeom prst="rect">
            <a:avLst/>
          </a:prstGeom>
        </p:spPr>
      </p:pic>
      <p:pic>
        <p:nvPicPr>
          <p:cNvPr id="35" name="图片 34" descr="云AP蓝.png"/>
          <p:cNvPicPr>
            <a:picLocks noChangeAspect="1"/>
          </p:cNvPicPr>
          <p:nvPr/>
        </p:nvPicPr>
        <p:blipFill>
          <a:blip r:embed="rId5" cstate="print"/>
          <a:stretch>
            <a:fillRect/>
          </a:stretch>
        </p:blipFill>
        <p:spPr bwMode="gray">
          <a:xfrm>
            <a:off x="9462536" y="3380144"/>
            <a:ext cx="421859" cy="345157"/>
          </a:xfrm>
          <a:prstGeom prst="rect">
            <a:avLst/>
          </a:prstGeom>
        </p:spPr>
      </p:pic>
      <p:cxnSp>
        <p:nvCxnSpPr>
          <p:cNvPr id="36" name="直接连接符 35"/>
          <p:cNvCxnSpPr>
            <a:stCxn id="28" idx="2"/>
            <a:endCxn id="29" idx="0"/>
          </p:cNvCxnSpPr>
          <p:nvPr/>
        </p:nvCxnSpPr>
        <p:spPr bwMode="gray">
          <a:xfrm>
            <a:off x="8806472" y="2115236"/>
            <a:ext cx="0" cy="4670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bwMode="gray">
          <a:xfrm>
            <a:off x="6672064" y="3840324"/>
            <a:ext cx="1377300" cy="523220"/>
          </a:xfrm>
          <a:prstGeom prst="rect">
            <a:avLst/>
          </a:prstGeom>
          <a:noFill/>
        </p:spPr>
        <p:txBody>
          <a:bodyPr wrap="none" rtlCol="0">
            <a:spAutoFit/>
          </a:bodyPr>
          <a:lstStyle/>
          <a:p>
            <a:pPr algn="ctr"/>
            <a:r>
              <a:rPr lang="zh-CN" altLang="en-US" sz="1400">
                <a:solidFill>
                  <a:srgbClr val="30B5C5"/>
                </a:solidFill>
                <a:cs typeface="+mn-ea"/>
                <a:sym typeface="+mn-lt"/>
              </a:rPr>
              <a:t>店员</a:t>
            </a:r>
            <a:endParaRPr lang="en-US" altLang="zh-CN" sz="1400" smtClean="0">
              <a:solidFill>
                <a:srgbClr val="30B5C5"/>
              </a:solidFill>
              <a:cs typeface="+mn-ea"/>
              <a:sym typeface="+mn-lt"/>
            </a:endParaRPr>
          </a:p>
          <a:p>
            <a:pPr algn="ctr"/>
            <a:r>
              <a:rPr lang="en-US" altLang="zh-CN" sz="1400" smtClean="0">
                <a:solidFill>
                  <a:srgbClr val="30B5C5"/>
                </a:solidFill>
                <a:cs typeface="+mn-ea"/>
                <a:sym typeface="+mn-lt"/>
              </a:rPr>
              <a:t>192.168.1.0/24</a:t>
            </a:r>
            <a:endParaRPr lang="zh-CN" altLang="en-US" sz="1400">
              <a:solidFill>
                <a:srgbClr val="30B5C5"/>
              </a:solidFill>
              <a:cs typeface="+mn-ea"/>
              <a:sym typeface="+mn-lt"/>
            </a:endParaRPr>
          </a:p>
        </p:txBody>
      </p:sp>
      <p:sp>
        <p:nvSpPr>
          <p:cNvPr id="38" name="文本框 37"/>
          <p:cNvSpPr txBox="1"/>
          <p:nvPr/>
        </p:nvSpPr>
        <p:spPr bwMode="gray">
          <a:xfrm>
            <a:off x="8141055" y="3840324"/>
            <a:ext cx="1377301" cy="523220"/>
          </a:xfrm>
          <a:prstGeom prst="rect">
            <a:avLst/>
          </a:prstGeom>
          <a:noFill/>
        </p:spPr>
        <p:txBody>
          <a:bodyPr wrap="none" rtlCol="0">
            <a:spAutoFit/>
          </a:bodyPr>
          <a:lstStyle/>
          <a:p>
            <a:pPr algn="ctr"/>
            <a:r>
              <a:rPr lang="zh-CN" altLang="en-US" sz="1400">
                <a:solidFill>
                  <a:srgbClr val="30B5C5"/>
                </a:solidFill>
                <a:cs typeface="+mn-ea"/>
                <a:sym typeface="+mn-lt"/>
              </a:rPr>
              <a:t>合</a:t>
            </a:r>
            <a:r>
              <a:rPr lang="zh-CN" altLang="en-US" sz="1400" smtClean="0">
                <a:solidFill>
                  <a:srgbClr val="30B5C5"/>
                </a:solidFill>
                <a:cs typeface="+mn-ea"/>
                <a:sym typeface="+mn-lt"/>
              </a:rPr>
              <a:t>作伙伴</a:t>
            </a:r>
            <a:endParaRPr lang="en-US" altLang="zh-CN" sz="1400" smtClean="0">
              <a:solidFill>
                <a:srgbClr val="30B5C5"/>
              </a:solidFill>
              <a:cs typeface="+mn-ea"/>
              <a:sym typeface="+mn-lt"/>
            </a:endParaRPr>
          </a:p>
          <a:p>
            <a:pPr algn="ctr"/>
            <a:r>
              <a:rPr lang="en-US" altLang="zh-CN" sz="1400" smtClean="0">
                <a:solidFill>
                  <a:srgbClr val="30B5C5"/>
                </a:solidFill>
                <a:cs typeface="+mn-ea"/>
                <a:sym typeface="+mn-lt"/>
              </a:rPr>
              <a:t>192.168.5.0/24</a:t>
            </a:r>
            <a:endParaRPr lang="zh-CN" altLang="en-US" sz="1400">
              <a:solidFill>
                <a:srgbClr val="30B5C5"/>
              </a:solidFill>
              <a:cs typeface="+mn-ea"/>
              <a:sym typeface="+mn-lt"/>
            </a:endParaRPr>
          </a:p>
        </p:txBody>
      </p:sp>
      <p:sp>
        <p:nvSpPr>
          <p:cNvPr id="39" name="文本框 38"/>
          <p:cNvSpPr txBox="1"/>
          <p:nvPr/>
        </p:nvSpPr>
        <p:spPr bwMode="gray">
          <a:xfrm>
            <a:off x="9685434" y="3840324"/>
            <a:ext cx="1576073" cy="523220"/>
          </a:xfrm>
          <a:prstGeom prst="rect">
            <a:avLst/>
          </a:prstGeom>
          <a:noFill/>
        </p:spPr>
        <p:txBody>
          <a:bodyPr wrap="none" rtlCol="0">
            <a:spAutoFit/>
          </a:bodyPr>
          <a:lstStyle/>
          <a:p>
            <a:pPr algn="ctr"/>
            <a:r>
              <a:rPr lang="zh-CN" altLang="en-US" sz="1400" smtClean="0">
                <a:solidFill>
                  <a:srgbClr val="30B5C5"/>
                </a:solidFill>
                <a:cs typeface="+mn-ea"/>
                <a:sym typeface="+mn-lt"/>
              </a:rPr>
              <a:t>访客</a:t>
            </a:r>
            <a:endParaRPr lang="en-US" altLang="zh-CN" sz="1400" smtClean="0">
              <a:solidFill>
                <a:srgbClr val="30B5C5"/>
              </a:solidFill>
              <a:cs typeface="+mn-ea"/>
              <a:sym typeface="+mn-lt"/>
            </a:endParaRPr>
          </a:p>
          <a:p>
            <a:pPr algn="ctr"/>
            <a:r>
              <a:rPr lang="en-US" altLang="zh-CN" sz="1400" smtClean="0">
                <a:solidFill>
                  <a:srgbClr val="30B5C5"/>
                </a:solidFill>
                <a:cs typeface="+mn-ea"/>
                <a:sym typeface="+mn-lt"/>
              </a:rPr>
              <a:t>192.168.100.0/24</a:t>
            </a:r>
            <a:endParaRPr lang="zh-CN" altLang="en-US" sz="1400">
              <a:solidFill>
                <a:srgbClr val="30B5C5"/>
              </a:solidFill>
              <a:cs typeface="+mn-ea"/>
              <a:sym typeface="+mn-lt"/>
            </a:endParaRPr>
          </a:p>
        </p:txBody>
      </p:sp>
      <p:sp>
        <p:nvSpPr>
          <p:cNvPr id="40" name="文本框 39"/>
          <p:cNvSpPr txBox="1"/>
          <p:nvPr/>
        </p:nvSpPr>
        <p:spPr bwMode="gray">
          <a:xfrm>
            <a:off x="9042373" y="1629779"/>
            <a:ext cx="1526380" cy="738664"/>
          </a:xfrm>
          <a:prstGeom prst="rect">
            <a:avLst/>
          </a:prstGeom>
          <a:noFill/>
        </p:spPr>
        <p:txBody>
          <a:bodyPr wrap="none" rtlCol="0">
            <a:spAutoFit/>
          </a:bodyPr>
          <a:lstStyle/>
          <a:p>
            <a:r>
              <a:rPr lang="en-US" altLang="zh-CN" sz="1400" smtClean="0">
                <a:solidFill>
                  <a:srgbClr val="30B5C5"/>
                </a:solidFill>
                <a:cs typeface="+mn-ea"/>
                <a:sym typeface="+mn-lt"/>
              </a:rPr>
              <a:t>192.168.1.254</a:t>
            </a:r>
          </a:p>
          <a:p>
            <a:r>
              <a:rPr lang="en-US" altLang="zh-CN" sz="1400" smtClean="0">
                <a:solidFill>
                  <a:srgbClr val="30B5C5"/>
                </a:solidFill>
                <a:cs typeface="+mn-ea"/>
                <a:sym typeface="+mn-lt"/>
              </a:rPr>
              <a:t>192.168.5.254</a:t>
            </a:r>
            <a:endParaRPr lang="en-US" altLang="zh-CN" sz="1400">
              <a:solidFill>
                <a:srgbClr val="30B5C5"/>
              </a:solidFill>
              <a:cs typeface="+mn-ea"/>
              <a:sym typeface="+mn-lt"/>
            </a:endParaRPr>
          </a:p>
          <a:p>
            <a:r>
              <a:rPr lang="en-US" altLang="zh-CN" sz="1400" smtClean="0">
                <a:solidFill>
                  <a:srgbClr val="30B5C5"/>
                </a:solidFill>
                <a:cs typeface="+mn-ea"/>
                <a:sym typeface="+mn-lt"/>
              </a:rPr>
              <a:t>192.168.100.254</a:t>
            </a:r>
            <a:endParaRPr lang="en-US" altLang="zh-CN" sz="1400">
              <a:solidFill>
                <a:srgbClr val="30B5C5"/>
              </a:solidFill>
              <a:cs typeface="+mn-ea"/>
              <a:sym typeface="+mn-lt"/>
            </a:endParaRPr>
          </a:p>
        </p:txBody>
      </p:sp>
    </p:spTree>
    <p:extLst>
      <p:ext uri="{BB962C8B-B14F-4D97-AF65-F5344CB8AC3E}">
        <p14:creationId xmlns:p14="http://schemas.microsoft.com/office/powerpoint/2010/main" val="1551851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latin typeface="+mn-lt"/>
                <a:ea typeface="+mn-ea"/>
                <a:cs typeface="+mn-ea"/>
                <a:sym typeface="+mn-lt"/>
              </a:rPr>
              <a:t>IP</a:t>
            </a:r>
            <a:r>
              <a:rPr lang="zh-CN" altLang="en-US" dirty="0">
                <a:latin typeface="+mn-lt"/>
                <a:ea typeface="+mn-ea"/>
                <a:cs typeface="+mn-ea"/>
                <a:sym typeface="+mn-lt"/>
              </a:rPr>
              <a:t>地址规划</a:t>
            </a:r>
            <a:r>
              <a:rPr lang="zh-CN" altLang="en-US" dirty="0" smtClean="0">
                <a:latin typeface="+mn-lt"/>
                <a:ea typeface="+mn-ea"/>
                <a:cs typeface="+mn-ea"/>
                <a:sym typeface="+mn-lt"/>
              </a:rPr>
              <a:t>设计 </a:t>
            </a:r>
            <a:r>
              <a:rPr lang="en-US" altLang="zh-CN" dirty="0" smtClean="0">
                <a:cs typeface="+mn-ea"/>
                <a:sym typeface="+mn-lt"/>
              </a:rPr>
              <a:t>(2)</a:t>
            </a:r>
            <a:endParaRPr lang="zh-CN" altLang="en-US" dirty="0">
              <a:latin typeface="+mn-lt"/>
              <a:ea typeface="+mn-ea"/>
              <a:cs typeface="+mn-ea"/>
              <a:sym typeface="+mn-lt"/>
            </a:endParaRPr>
          </a:p>
        </p:txBody>
      </p:sp>
      <p:sp>
        <p:nvSpPr>
          <p:cNvPr id="41" name="圆角矩形 40"/>
          <p:cNvSpPr/>
          <p:nvPr/>
        </p:nvSpPr>
        <p:spPr bwMode="gray">
          <a:xfrm>
            <a:off x="6501592" y="4010765"/>
            <a:ext cx="2349446" cy="2090539"/>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42" name="圆角矩形 41"/>
          <p:cNvSpPr/>
          <p:nvPr/>
        </p:nvSpPr>
        <p:spPr bwMode="gray">
          <a:xfrm>
            <a:off x="1589320" y="3437979"/>
            <a:ext cx="1589491" cy="1118962"/>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43" name="圆角矩形 42"/>
          <p:cNvSpPr/>
          <p:nvPr/>
        </p:nvSpPr>
        <p:spPr bwMode="gray">
          <a:xfrm>
            <a:off x="782962" y="1139664"/>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出口网关</a:t>
            </a:r>
          </a:p>
        </p:txBody>
      </p:sp>
      <p:sp>
        <p:nvSpPr>
          <p:cNvPr id="44" name="圆角矩形 43"/>
          <p:cNvSpPr/>
          <p:nvPr/>
        </p:nvSpPr>
        <p:spPr bwMode="gray">
          <a:xfrm>
            <a:off x="782961" y="1575629"/>
            <a:ext cx="5163736" cy="462136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cs typeface="+mn-ea"/>
              <a:sym typeface="+mn-lt"/>
            </a:endParaRPr>
          </a:p>
        </p:txBody>
      </p:sp>
      <p:sp>
        <p:nvSpPr>
          <p:cNvPr id="45" name="任意多边形 44"/>
          <p:cNvSpPr/>
          <p:nvPr/>
        </p:nvSpPr>
        <p:spPr bwMode="gray">
          <a:xfrm>
            <a:off x="1751710" y="1843648"/>
            <a:ext cx="1264712" cy="84562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b="1" smtClean="0">
                <a:cs typeface="+mn-ea"/>
                <a:sym typeface="+mn-lt"/>
              </a:rPr>
              <a:t>Internet</a:t>
            </a:r>
            <a:endParaRPr lang="zh-CN" altLang="en-US" b="1">
              <a:cs typeface="+mn-ea"/>
              <a:sym typeface="+mn-lt"/>
            </a:endParaRPr>
          </a:p>
        </p:txBody>
      </p:sp>
      <p:sp>
        <p:nvSpPr>
          <p:cNvPr id="46" name="文本框 45"/>
          <p:cNvSpPr txBox="1"/>
          <p:nvPr/>
        </p:nvSpPr>
        <p:spPr bwMode="gray">
          <a:xfrm>
            <a:off x="2684955" y="2617331"/>
            <a:ext cx="1142208" cy="307777"/>
          </a:xfrm>
          <a:prstGeom prst="rect">
            <a:avLst/>
          </a:prstGeom>
          <a:noFill/>
        </p:spPr>
        <p:txBody>
          <a:bodyPr wrap="square" rtlCol="0">
            <a:spAutoFit/>
          </a:bodyPr>
          <a:lstStyle/>
          <a:p>
            <a:r>
              <a:rPr lang="zh-CN" altLang="en-US" sz="1400" smtClean="0">
                <a:cs typeface="+mn-ea"/>
                <a:sym typeface="+mn-lt"/>
              </a:rPr>
              <a:t>运营商</a:t>
            </a:r>
            <a:r>
              <a:rPr lang="en-US" altLang="zh-CN" sz="1400" smtClean="0">
                <a:cs typeface="+mn-ea"/>
                <a:sym typeface="+mn-lt"/>
              </a:rPr>
              <a:t>CPE</a:t>
            </a:r>
            <a:endParaRPr lang="zh-CN" altLang="en-US" sz="1400">
              <a:cs typeface="+mn-ea"/>
              <a:sym typeface="+mn-lt"/>
            </a:endParaRPr>
          </a:p>
        </p:txBody>
      </p:sp>
      <p:pic>
        <p:nvPicPr>
          <p:cNvPr id="47" name="图片 4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114066" y="2480482"/>
            <a:ext cx="540000" cy="442800"/>
          </a:xfrm>
          <a:prstGeom prst="rect">
            <a:avLst/>
          </a:prstGeom>
        </p:spPr>
      </p:pic>
      <p:pic>
        <p:nvPicPr>
          <p:cNvPr id="48" name="图片 4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087066" y="3825614"/>
            <a:ext cx="594000" cy="487080"/>
          </a:xfrm>
          <a:prstGeom prst="rect">
            <a:avLst/>
          </a:prstGeom>
        </p:spPr>
      </p:pic>
      <p:sp>
        <p:nvSpPr>
          <p:cNvPr id="49" name="文本框 48"/>
          <p:cNvSpPr txBox="1"/>
          <p:nvPr/>
        </p:nvSpPr>
        <p:spPr bwMode="gray">
          <a:xfrm>
            <a:off x="2684955" y="3903172"/>
            <a:ext cx="1142208" cy="307777"/>
          </a:xfrm>
          <a:prstGeom prst="rect">
            <a:avLst/>
          </a:prstGeom>
          <a:noFill/>
        </p:spPr>
        <p:txBody>
          <a:bodyPr wrap="square" rtlCol="0">
            <a:spAutoFit/>
          </a:bodyPr>
          <a:lstStyle/>
          <a:p>
            <a:r>
              <a:rPr lang="zh-CN" altLang="en-US" sz="1400" smtClean="0">
                <a:cs typeface="+mn-ea"/>
                <a:sym typeface="+mn-lt"/>
              </a:rPr>
              <a:t>出口网关</a:t>
            </a:r>
            <a:endParaRPr lang="zh-CN" altLang="en-US" sz="1400">
              <a:cs typeface="+mn-ea"/>
              <a:sym typeface="+mn-lt"/>
            </a:endParaRPr>
          </a:p>
        </p:txBody>
      </p:sp>
      <p:cxnSp>
        <p:nvCxnSpPr>
          <p:cNvPr id="50" name="直接连接符 49"/>
          <p:cNvCxnSpPr>
            <a:stCxn id="47" idx="2"/>
            <a:endCxn id="48" idx="0"/>
          </p:cNvCxnSpPr>
          <p:nvPr/>
        </p:nvCxnSpPr>
        <p:spPr bwMode="gray">
          <a:xfrm>
            <a:off x="2384066" y="2923282"/>
            <a:ext cx="0" cy="9023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bwMode="gray">
          <a:xfrm>
            <a:off x="2357022" y="3516687"/>
            <a:ext cx="3355127" cy="307777"/>
          </a:xfrm>
          <a:prstGeom prst="rect">
            <a:avLst/>
          </a:prstGeom>
          <a:noFill/>
        </p:spPr>
        <p:txBody>
          <a:bodyPr wrap="square" rtlCol="0">
            <a:spAutoFit/>
          </a:bodyPr>
          <a:lstStyle/>
          <a:p>
            <a:pPr algn="ctr"/>
            <a:r>
              <a:rPr lang="en-US" altLang="zh-CN" sz="1400" b="1" dirty="0" smtClean="0">
                <a:solidFill>
                  <a:srgbClr val="C7000B"/>
                </a:solidFill>
                <a:cs typeface="+mn-ea"/>
                <a:sym typeface="+mn-lt"/>
              </a:rPr>
              <a:t>WAN</a:t>
            </a:r>
            <a:r>
              <a:rPr lang="zh-CN" altLang="en-US" sz="1400" b="1" dirty="0" smtClean="0">
                <a:solidFill>
                  <a:srgbClr val="C7000B"/>
                </a:solidFill>
                <a:cs typeface="+mn-ea"/>
                <a:sym typeface="+mn-lt"/>
              </a:rPr>
              <a:t>侧接口：静态</a:t>
            </a:r>
            <a:r>
              <a:rPr lang="en-US" altLang="zh-CN" sz="1400" b="1" dirty="0" smtClean="0">
                <a:solidFill>
                  <a:srgbClr val="C7000B"/>
                </a:solidFill>
                <a:cs typeface="+mn-ea"/>
                <a:sym typeface="+mn-lt"/>
              </a:rPr>
              <a:t>IP</a:t>
            </a:r>
            <a:r>
              <a:rPr lang="zh-CN" altLang="en-US" sz="1400" b="1" dirty="0" smtClean="0">
                <a:solidFill>
                  <a:srgbClr val="C7000B"/>
                </a:solidFill>
                <a:cs typeface="+mn-ea"/>
                <a:sym typeface="+mn-lt"/>
              </a:rPr>
              <a:t>、</a:t>
            </a:r>
            <a:r>
              <a:rPr lang="en-US" altLang="zh-CN" sz="1400" b="1" dirty="0" smtClean="0">
                <a:solidFill>
                  <a:srgbClr val="C7000B"/>
                </a:solidFill>
                <a:cs typeface="+mn-ea"/>
                <a:sym typeface="+mn-lt"/>
              </a:rPr>
              <a:t>DHCP</a:t>
            </a:r>
            <a:r>
              <a:rPr lang="zh-CN" altLang="en-US" sz="1400" b="1" dirty="0" smtClean="0">
                <a:solidFill>
                  <a:srgbClr val="C7000B"/>
                </a:solidFill>
                <a:cs typeface="+mn-ea"/>
                <a:sym typeface="+mn-lt"/>
              </a:rPr>
              <a:t>或</a:t>
            </a:r>
            <a:r>
              <a:rPr lang="en-US" altLang="zh-CN" sz="1400" b="1" dirty="0" err="1" smtClean="0">
                <a:solidFill>
                  <a:srgbClr val="C7000B"/>
                </a:solidFill>
                <a:cs typeface="+mn-ea"/>
                <a:sym typeface="+mn-lt"/>
              </a:rPr>
              <a:t>PPPoE</a:t>
            </a:r>
            <a:endParaRPr lang="zh-CN" altLang="en-US" sz="1400" b="1" dirty="0">
              <a:solidFill>
                <a:srgbClr val="C7000B"/>
              </a:solidFill>
              <a:cs typeface="+mn-ea"/>
              <a:sym typeface="+mn-lt"/>
            </a:endParaRPr>
          </a:p>
        </p:txBody>
      </p:sp>
      <p:sp>
        <p:nvSpPr>
          <p:cNvPr id="52" name="矩形 51"/>
          <p:cNvSpPr/>
          <p:nvPr/>
        </p:nvSpPr>
        <p:spPr bwMode="gray">
          <a:xfrm>
            <a:off x="998985" y="4944576"/>
            <a:ext cx="4705609" cy="1015663"/>
          </a:xfrm>
          <a:prstGeom prst="rect">
            <a:avLst/>
          </a:prstGeom>
        </p:spPr>
        <p:txBody>
          <a:bodyPr wrap="square">
            <a:spAutoFit/>
          </a:bodyPr>
          <a:lstStyle/>
          <a:p>
            <a:pPr algn="just">
              <a:lnSpc>
                <a:spcPts val="2400"/>
              </a:lnSpc>
            </a:pPr>
            <a:r>
              <a:rPr lang="en-US" altLang="zh-CN" sz="1600" dirty="0">
                <a:cs typeface="+mn-ea"/>
                <a:sym typeface="+mn-lt"/>
              </a:rPr>
              <a:t>WAN</a:t>
            </a:r>
            <a:r>
              <a:rPr lang="zh-CN" altLang="en-US" sz="1600" dirty="0">
                <a:cs typeface="+mn-ea"/>
                <a:sym typeface="+mn-lt"/>
              </a:rPr>
              <a:t>侧接口的</a:t>
            </a:r>
            <a:r>
              <a:rPr lang="en-US" altLang="zh-CN" sz="1600" dirty="0">
                <a:cs typeface="+mn-ea"/>
                <a:sym typeface="+mn-lt"/>
              </a:rPr>
              <a:t>IP</a:t>
            </a:r>
            <a:r>
              <a:rPr lang="zh-CN" altLang="en-US" sz="1600" dirty="0">
                <a:cs typeface="+mn-ea"/>
                <a:sym typeface="+mn-lt"/>
              </a:rPr>
              <a:t>地址由运营商进行分配，</a:t>
            </a:r>
            <a:r>
              <a:rPr lang="zh-CN" altLang="en-US" sz="1600" dirty="0" smtClean="0">
                <a:cs typeface="+mn-ea"/>
                <a:sym typeface="+mn-lt"/>
              </a:rPr>
              <a:t>可通</a:t>
            </a:r>
            <a:r>
              <a:rPr lang="zh-CN" altLang="en-US" sz="1600" dirty="0">
                <a:cs typeface="+mn-ea"/>
                <a:sym typeface="+mn-lt"/>
              </a:rPr>
              <a:t>过静态</a:t>
            </a:r>
            <a:r>
              <a:rPr lang="en-US" altLang="zh-CN" sz="1600" dirty="0">
                <a:cs typeface="+mn-ea"/>
                <a:sym typeface="+mn-lt"/>
              </a:rPr>
              <a:t>IP</a:t>
            </a:r>
            <a:r>
              <a:rPr lang="zh-CN" altLang="en-US" sz="1600" dirty="0">
                <a:cs typeface="+mn-ea"/>
                <a:sym typeface="+mn-lt"/>
              </a:rPr>
              <a:t>地址</a:t>
            </a:r>
            <a:r>
              <a:rPr lang="zh-CN" altLang="en-US" sz="1600" dirty="0" smtClean="0">
                <a:cs typeface="+mn-ea"/>
                <a:sym typeface="+mn-lt"/>
              </a:rPr>
              <a:t>、</a:t>
            </a:r>
            <a:r>
              <a:rPr lang="en-US" altLang="zh-CN" sz="1600" dirty="0" smtClean="0">
                <a:cs typeface="+mn-ea"/>
                <a:sym typeface="+mn-lt"/>
              </a:rPr>
              <a:t>DHCP</a:t>
            </a:r>
            <a:r>
              <a:rPr lang="zh-CN" altLang="en-US" sz="1600" dirty="0" smtClean="0">
                <a:cs typeface="+mn-ea"/>
                <a:sym typeface="+mn-lt"/>
              </a:rPr>
              <a:t>、或者</a:t>
            </a:r>
            <a:r>
              <a:rPr lang="en-US" altLang="zh-CN" sz="1600" dirty="0" err="1">
                <a:cs typeface="+mn-ea"/>
                <a:sym typeface="+mn-lt"/>
              </a:rPr>
              <a:t>PPPoE</a:t>
            </a:r>
            <a:r>
              <a:rPr lang="zh-CN" altLang="en-US" sz="1600" dirty="0">
                <a:cs typeface="+mn-ea"/>
                <a:sym typeface="+mn-lt"/>
              </a:rPr>
              <a:t>方式分配</a:t>
            </a:r>
            <a:r>
              <a:rPr lang="zh-CN" altLang="en-US" sz="1600" dirty="0" smtClean="0">
                <a:cs typeface="+mn-ea"/>
                <a:sym typeface="+mn-lt"/>
              </a:rPr>
              <a:t>，需与</a:t>
            </a:r>
            <a:r>
              <a:rPr lang="zh-CN" altLang="en-US" sz="1600" dirty="0">
                <a:cs typeface="+mn-ea"/>
                <a:sym typeface="+mn-lt"/>
              </a:rPr>
              <a:t>运营商沟通获取。</a:t>
            </a:r>
          </a:p>
        </p:txBody>
      </p:sp>
      <p:sp>
        <p:nvSpPr>
          <p:cNvPr id="53" name="圆角矩形 52"/>
          <p:cNvSpPr/>
          <p:nvPr/>
        </p:nvSpPr>
        <p:spPr bwMode="gray">
          <a:xfrm>
            <a:off x="6245302" y="1139664"/>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服务器、打印机等设备</a:t>
            </a:r>
          </a:p>
        </p:txBody>
      </p:sp>
      <p:sp>
        <p:nvSpPr>
          <p:cNvPr id="54" name="圆角矩形 53"/>
          <p:cNvSpPr/>
          <p:nvPr/>
        </p:nvSpPr>
        <p:spPr bwMode="gray">
          <a:xfrm>
            <a:off x="6245301" y="1575629"/>
            <a:ext cx="5163736" cy="8828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cs typeface="+mn-ea"/>
              <a:sym typeface="+mn-lt"/>
            </a:endParaRPr>
          </a:p>
        </p:txBody>
      </p:sp>
      <p:sp>
        <p:nvSpPr>
          <p:cNvPr id="55" name="矩形 54"/>
          <p:cNvSpPr/>
          <p:nvPr/>
        </p:nvSpPr>
        <p:spPr bwMode="gray">
          <a:xfrm>
            <a:off x="6461325" y="1644227"/>
            <a:ext cx="4705609" cy="707886"/>
          </a:xfrm>
          <a:prstGeom prst="rect">
            <a:avLst/>
          </a:prstGeom>
        </p:spPr>
        <p:txBody>
          <a:bodyPr wrap="square">
            <a:spAutoFit/>
          </a:bodyPr>
          <a:lstStyle/>
          <a:p>
            <a:pPr algn="just">
              <a:lnSpc>
                <a:spcPts val="2400"/>
              </a:lnSpc>
            </a:pPr>
            <a:r>
              <a:rPr lang="zh-CN" altLang="en-US" sz="1600">
                <a:cs typeface="+mn-ea"/>
                <a:sym typeface="+mn-lt"/>
              </a:rPr>
              <a:t>服务器、特殊终端设备（打卡机、打印服务器、 </a:t>
            </a:r>
            <a:r>
              <a:rPr lang="en-US" altLang="zh-CN" sz="1600">
                <a:cs typeface="+mn-ea"/>
                <a:sym typeface="+mn-lt"/>
              </a:rPr>
              <a:t>IP</a:t>
            </a:r>
            <a:r>
              <a:rPr lang="zh-CN" altLang="en-US" sz="1600">
                <a:cs typeface="+mn-ea"/>
                <a:sym typeface="+mn-lt"/>
              </a:rPr>
              <a:t>视频监控设备等）建议采用静态</a:t>
            </a:r>
            <a:r>
              <a:rPr lang="en-US" altLang="zh-CN" sz="1600">
                <a:cs typeface="+mn-ea"/>
                <a:sym typeface="+mn-lt"/>
              </a:rPr>
              <a:t>IP</a:t>
            </a:r>
            <a:r>
              <a:rPr lang="zh-CN" altLang="en-US" sz="1600">
                <a:cs typeface="+mn-ea"/>
                <a:sym typeface="+mn-lt"/>
              </a:rPr>
              <a:t>地</a:t>
            </a:r>
            <a:r>
              <a:rPr lang="zh-CN" altLang="en-US" sz="1600" smtClean="0">
                <a:cs typeface="+mn-ea"/>
                <a:sym typeface="+mn-lt"/>
              </a:rPr>
              <a:t>址。</a:t>
            </a:r>
            <a:endParaRPr lang="zh-CN" altLang="en-US" sz="1600">
              <a:cs typeface="+mn-ea"/>
              <a:sym typeface="+mn-lt"/>
            </a:endParaRPr>
          </a:p>
        </p:txBody>
      </p:sp>
      <p:sp>
        <p:nvSpPr>
          <p:cNvPr id="56" name="圆角矩形 55"/>
          <p:cNvSpPr/>
          <p:nvPr/>
        </p:nvSpPr>
        <p:spPr bwMode="gray">
          <a:xfrm>
            <a:off x="6245302" y="2674810"/>
            <a:ext cx="5163734"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终端用户</a:t>
            </a:r>
          </a:p>
        </p:txBody>
      </p:sp>
      <p:sp>
        <p:nvSpPr>
          <p:cNvPr id="57" name="圆角矩形 56"/>
          <p:cNvSpPr/>
          <p:nvPr/>
        </p:nvSpPr>
        <p:spPr bwMode="gray">
          <a:xfrm>
            <a:off x="6245301" y="3110774"/>
            <a:ext cx="5163736" cy="308622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schemeClr val="tx1">
                  <a:lumMod val="75000"/>
                  <a:lumOff val="25000"/>
                </a:schemeClr>
              </a:solidFill>
              <a:cs typeface="+mn-ea"/>
              <a:sym typeface="+mn-lt"/>
            </a:endParaRPr>
          </a:p>
        </p:txBody>
      </p:sp>
      <p:cxnSp>
        <p:nvCxnSpPr>
          <p:cNvPr id="58" name="直接连接符 57"/>
          <p:cNvCxnSpPr/>
          <p:nvPr/>
        </p:nvCxnSpPr>
        <p:spPr bwMode="gray">
          <a:xfrm>
            <a:off x="7669741" y="3769756"/>
            <a:ext cx="0" cy="12751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图片 58" descr="故障链路.png"/>
          <p:cNvPicPr>
            <a:picLocks noChangeAspect="1"/>
          </p:cNvPicPr>
          <p:nvPr/>
        </p:nvPicPr>
        <p:blipFill>
          <a:blip r:embed="rId5" cstate="print"/>
          <a:stretch>
            <a:fillRect/>
          </a:stretch>
        </p:blipFill>
        <p:spPr bwMode="gray">
          <a:xfrm>
            <a:off x="7526620" y="5683752"/>
            <a:ext cx="490909" cy="366061"/>
          </a:xfrm>
          <a:prstGeom prst="rect">
            <a:avLst/>
          </a:prstGeom>
        </p:spPr>
      </p:pic>
      <p:pic>
        <p:nvPicPr>
          <p:cNvPr id="60" name="图片 59" descr="SAN网络-蓝.png"/>
          <p:cNvPicPr>
            <a:picLocks noChangeAspect="1"/>
          </p:cNvPicPr>
          <p:nvPr/>
        </p:nvPicPr>
        <p:blipFill>
          <a:blip r:embed="rId6" cstate="print"/>
          <a:stretch>
            <a:fillRect/>
          </a:stretch>
        </p:blipFill>
        <p:spPr bwMode="gray">
          <a:xfrm>
            <a:off x="8360507" y="5667550"/>
            <a:ext cx="243218" cy="398465"/>
          </a:xfrm>
          <a:prstGeom prst="rect">
            <a:avLst/>
          </a:prstGeom>
        </p:spPr>
      </p:pic>
      <p:pic>
        <p:nvPicPr>
          <p:cNvPr id="61" name="图片 60" descr="笔记本电脑.png"/>
          <p:cNvPicPr>
            <a:picLocks noChangeAspect="1"/>
          </p:cNvPicPr>
          <p:nvPr/>
        </p:nvPicPr>
        <p:blipFill>
          <a:blip r:embed="rId7" cstate="print"/>
          <a:stretch>
            <a:fillRect/>
          </a:stretch>
        </p:blipFill>
        <p:spPr bwMode="gray">
          <a:xfrm>
            <a:off x="6714410" y="5712964"/>
            <a:ext cx="490708" cy="307637"/>
          </a:xfrm>
          <a:prstGeom prst="rect">
            <a:avLst/>
          </a:prstGeom>
        </p:spPr>
      </p:pic>
      <p:sp>
        <p:nvSpPr>
          <p:cNvPr id="62" name="任意多边形 61"/>
          <p:cNvSpPr/>
          <p:nvPr/>
        </p:nvSpPr>
        <p:spPr bwMode="gray">
          <a:xfrm>
            <a:off x="7180004" y="3222417"/>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Internet</a:t>
            </a:r>
            <a:endParaRPr lang="zh-CN" altLang="en-US" sz="1400" b="1">
              <a:cs typeface="+mn-ea"/>
              <a:sym typeface="+mn-lt"/>
            </a:endParaRPr>
          </a:p>
        </p:txBody>
      </p:sp>
      <p:sp>
        <p:nvSpPr>
          <p:cNvPr id="63" name="文本框 62"/>
          <p:cNvSpPr txBox="1"/>
          <p:nvPr/>
        </p:nvSpPr>
        <p:spPr bwMode="gray">
          <a:xfrm>
            <a:off x="7996797" y="4898324"/>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pic>
        <p:nvPicPr>
          <p:cNvPr id="64" name="图片 63" descr="云AP蓝.png"/>
          <p:cNvPicPr>
            <a:picLocks noChangeAspect="1"/>
          </p:cNvPicPr>
          <p:nvPr/>
        </p:nvPicPr>
        <p:blipFill>
          <a:blip r:embed="rId8" cstate="print"/>
          <a:stretch>
            <a:fillRect/>
          </a:stretch>
        </p:blipFill>
        <p:spPr bwMode="gray">
          <a:xfrm>
            <a:off x="7446564" y="4858479"/>
            <a:ext cx="445946" cy="364865"/>
          </a:xfrm>
          <a:prstGeom prst="rect">
            <a:avLst/>
          </a:prstGeom>
        </p:spPr>
      </p:pic>
      <p:pic>
        <p:nvPicPr>
          <p:cNvPr id="65" name="图片 6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430861" y="4107620"/>
            <a:ext cx="490909" cy="402545"/>
          </a:xfrm>
          <a:prstGeom prst="rect">
            <a:avLst/>
          </a:prstGeom>
        </p:spPr>
      </p:pic>
      <p:sp>
        <p:nvSpPr>
          <p:cNvPr id="66" name="文本框 65"/>
          <p:cNvSpPr txBox="1"/>
          <p:nvPr/>
        </p:nvSpPr>
        <p:spPr bwMode="gray">
          <a:xfrm>
            <a:off x="7996797" y="4150033"/>
            <a:ext cx="902811" cy="307777"/>
          </a:xfrm>
          <a:prstGeom prst="rect">
            <a:avLst/>
          </a:prstGeom>
          <a:noFill/>
        </p:spPr>
        <p:txBody>
          <a:bodyPr wrap="none" rtlCol="0">
            <a:spAutoFit/>
          </a:bodyPr>
          <a:lstStyle/>
          <a:p>
            <a:r>
              <a:rPr lang="zh-CN" altLang="en-US" sz="1400" smtClean="0">
                <a:cs typeface="+mn-ea"/>
                <a:sym typeface="+mn-lt"/>
              </a:rPr>
              <a:t>出口网关</a:t>
            </a:r>
            <a:endParaRPr lang="zh-CN" altLang="en-US" sz="1400">
              <a:cs typeface="+mn-ea"/>
              <a:sym typeface="+mn-lt"/>
            </a:endParaRPr>
          </a:p>
        </p:txBody>
      </p:sp>
      <p:sp>
        <p:nvSpPr>
          <p:cNvPr id="67" name="下箭头 63"/>
          <p:cNvSpPr/>
          <p:nvPr/>
        </p:nvSpPr>
        <p:spPr bwMode="gray">
          <a:xfrm rot="10800000" flipV="1">
            <a:off x="6920165" y="4386238"/>
            <a:ext cx="1495866" cy="1281312"/>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8" name="矩形 67"/>
          <p:cNvSpPr/>
          <p:nvPr/>
        </p:nvSpPr>
        <p:spPr bwMode="gray">
          <a:xfrm>
            <a:off x="9014891" y="4150033"/>
            <a:ext cx="2106407" cy="1323439"/>
          </a:xfrm>
          <a:prstGeom prst="rect">
            <a:avLst/>
          </a:prstGeom>
        </p:spPr>
        <p:txBody>
          <a:bodyPr wrap="square">
            <a:spAutoFit/>
          </a:bodyPr>
          <a:lstStyle/>
          <a:p>
            <a:pPr algn="just">
              <a:lnSpc>
                <a:spcPts val="2400"/>
              </a:lnSpc>
            </a:pPr>
            <a:r>
              <a:rPr lang="zh-CN" altLang="en-US" sz="1600" dirty="0" smtClean="0">
                <a:cs typeface="+mn-ea"/>
                <a:sym typeface="+mn-lt"/>
              </a:rPr>
              <a:t>终端用户的</a:t>
            </a:r>
            <a:r>
              <a:rPr lang="en-US" altLang="zh-CN" sz="1600" dirty="0" smtClean="0">
                <a:cs typeface="+mn-ea"/>
                <a:sym typeface="+mn-lt"/>
              </a:rPr>
              <a:t>IP</a:t>
            </a:r>
            <a:r>
              <a:rPr lang="zh-CN" altLang="en-US" sz="1600" dirty="0" smtClean="0">
                <a:cs typeface="+mn-ea"/>
                <a:sym typeface="+mn-lt"/>
              </a:rPr>
              <a:t>地址建议采用</a:t>
            </a:r>
            <a:r>
              <a:rPr lang="en-US" altLang="zh-CN" sz="1600" dirty="0" smtClean="0">
                <a:cs typeface="+mn-ea"/>
                <a:sym typeface="+mn-lt"/>
              </a:rPr>
              <a:t>DHCP</a:t>
            </a:r>
            <a:r>
              <a:rPr lang="zh-CN" altLang="en-US" sz="1600" dirty="0" smtClean="0">
                <a:cs typeface="+mn-ea"/>
                <a:sym typeface="+mn-lt"/>
              </a:rPr>
              <a:t>方式，由网关设备提供</a:t>
            </a:r>
            <a:r>
              <a:rPr lang="en-US" altLang="zh-CN" sz="1600" dirty="0" smtClean="0">
                <a:cs typeface="+mn-ea"/>
                <a:sym typeface="+mn-lt"/>
              </a:rPr>
              <a:t>DHCP</a:t>
            </a:r>
            <a:r>
              <a:rPr lang="zh-CN" altLang="en-US" sz="1600" dirty="0" smtClean="0">
                <a:cs typeface="+mn-ea"/>
                <a:sym typeface="+mn-lt"/>
              </a:rPr>
              <a:t>服务。</a:t>
            </a:r>
            <a:endParaRPr lang="zh-CN" altLang="en-US" sz="1600" dirty="0">
              <a:cs typeface="+mn-ea"/>
              <a:sym typeface="+mn-lt"/>
            </a:endParaRPr>
          </a:p>
        </p:txBody>
      </p:sp>
    </p:spTree>
    <p:extLst>
      <p:ext uri="{BB962C8B-B14F-4D97-AF65-F5344CB8AC3E}">
        <p14:creationId xmlns:p14="http://schemas.microsoft.com/office/powerpoint/2010/main" val="13317087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latin typeface="+mn-lt"/>
                <a:ea typeface="+mn-ea"/>
                <a:cs typeface="+mn-ea"/>
                <a:sym typeface="+mn-lt"/>
              </a:rPr>
              <a:t>IP</a:t>
            </a:r>
            <a:r>
              <a:rPr lang="zh-CN" altLang="en-US" dirty="0">
                <a:latin typeface="+mn-lt"/>
                <a:ea typeface="+mn-ea"/>
                <a:cs typeface="+mn-ea"/>
                <a:sym typeface="+mn-lt"/>
              </a:rPr>
              <a:t>地址规划</a:t>
            </a:r>
            <a:r>
              <a:rPr lang="zh-CN" altLang="en-US" dirty="0" smtClean="0">
                <a:latin typeface="+mn-lt"/>
                <a:ea typeface="+mn-ea"/>
                <a:cs typeface="+mn-ea"/>
                <a:sym typeface="+mn-lt"/>
              </a:rPr>
              <a:t>设计 </a:t>
            </a:r>
            <a:r>
              <a:rPr lang="en-US" altLang="zh-CN" dirty="0" smtClean="0">
                <a:latin typeface="+mn-lt"/>
                <a:ea typeface="+mn-ea"/>
                <a:cs typeface="+mn-ea"/>
                <a:sym typeface="+mn-lt"/>
              </a:rPr>
              <a:t>(3)</a:t>
            </a:r>
            <a:endParaRPr lang="zh-CN" altLang="en-US" dirty="0">
              <a:latin typeface="+mn-lt"/>
              <a:ea typeface="+mn-ea"/>
              <a:cs typeface="+mn-ea"/>
              <a:sym typeface="+mn-lt"/>
            </a:endParaRPr>
          </a:p>
        </p:txBody>
      </p:sp>
      <p:sp>
        <p:nvSpPr>
          <p:cNvPr id="33" name="圆角矩形 32"/>
          <p:cNvSpPr/>
          <p:nvPr/>
        </p:nvSpPr>
        <p:spPr bwMode="gray">
          <a:xfrm>
            <a:off x="782961" y="998334"/>
            <a:ext cx="10626071" cy="400674"/>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侧网络设备</a:t>
            </a:r>
          </a:p>
        </p:txBody>
      </p:sp>
      <p:sp>
        <p:nvSpPr>
          <p:cNvPr id="34" name="圆角矩形 33"/>
          <p:cNvSpPr/>
          <p:nvPr/>
        </p:nvSpPr>
        <p:spPr bwMode="gray">
          <a:xfrm>
            <a:off x="782960" y="1434299"/>
            <a:ext cx="10626075" cy="462136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85725">
              <a:lnSpc>
                <a:spcPts val="2400"/>
              </a:lnSpc>
              <a:spcAft>
                <a:spcPts val="600"/>
              </a:spcAft>
            </a:pPr>
            <a:endParaRPr lang="zh-CN" altLang="en-US" sz="160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1551313" y="4734204"/>
            <a:ext cx="4719782" cy="707886"/>
          </a:xfrm>
          <a:prstGeom prst="rect">
            <a:avLst/>
          </a:prstGeom>
        </p:spPr>
        <p:txBody>
          <a:bodyPr wrap="square">
            <a:spAutoFit/>
          </a:bodyPr>
          <a:lstStyle/>
          <a:p>
            <a:pPr algn="just">
              <a:lnSpc>
                <a:spcPts val="2400"/>
              </a:lnSpc>
            </a:pP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当出口网关与</a:t>
            </a:r>
            <a:r>
              <a:rPr lang="en-US" altLang="zh-CN"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L3SW</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对接时，用于实现对接的互联</a:t>
            </a:r>
            <a:r>
              <a:rPr lang="en-US" altLang="zh-CN"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地址建议通过静态的方式手工配置。</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圆角矩形 35"/>
          <p:cNvSpPr/>
          <p:nvPr/>
        </p:nvSpPr>
        <p:spPr bwMode="gray">
          <a:xfrm>
            <a:off x="2002200" y="2626640"/>
            <a:ext cx="3688250" cy="1949564"/>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连接符 36"/>
          <p:cNvCxnSpPr/>
          <p:nvPr/>
        </p:nvCxnSpPr>
        <p:spPr bwMode="gray">
          <a:xfrm>
            <a:off x="3846204" y="2385630"/>
            <a:ext cx="0" cy="12751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任意多边形 37"/>
          <p:cNvSpPr/>
          <p:nvPr/>
        </p:nvSpPr>
        <p:spPr bwMode="gray">
          <a:xfrm>
            <a:off x="3356402" y="1838291"/>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4068622" y="3395461"/>
            <a:ext cx="673582" cy="307777"/>
          </a:xfrm>
          <a:prstGeom prst="rect">
            <a:avLst/>
          </a:prstGeom>
          <a:noFill/>
        </p:spPr>
        <p:txBody>
          <a:bodyPr wrap="none" rtlCol="0">
            <a:spAutoFit/>
          </a:bodyPr>
          <a:lstStyle/>
          <a:p>
            <a:r>
              <a:rPr lang="en-US" altLang="zh-CN" sz="140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L3SW</a:t>
            </a:r>
            <a:endParaRPr lang="zh-CN" altLang="en-US"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0" name="图片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600750" y="2723494"/>
            <a:ext cx="490909" cy="402545"/>
          </a:xfrm>
          <a:prstGeom prst="rect">
            <a:avLst/>
          </a:prstGeom>
        </p:spPr>
      </p:pic>
      <p:sp>
        <p:nvSpPr>
          <p:cNvPr id="41" name="文本框 40"/>
          <p:cNvSpPr txBox="1"/>
          <p:nvPr/>
        </p:nvSpPr>
        <p:spPr bwMode="gray">
          <a:xfrm>
            <a:off x="4068622" y="2765907"/>
            <a:ext cx="902811" cy="307777"/>
          </a:xfrm>
          <a:prstGeom prst="rect">
            <a:avLst/>
          </a:prstGeom>
          <a:noFill/>
        </p:spPr>
        <p:txBody>
          <a:bodyPr wrap="none" rtlCol="0">
            <a:spAutoFit/>
          </a:bodyPr>
          <a:lstStyle/>
          <a:p>
            <a:r>
              <a:rPr lang="zh-CN" altLang="en-US" sz="140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出口网关</a:t>
            </a:r>
            <a:endParaRPr lang="zh-CN" altLang="en-US"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6361776" y="4734204"/>
            <a:ext cx="4405751" cy="707886"/>
          </a:xfrm>
          <a:prstGeom prst="rect">
            <a:avLst/>
          </a:prstGeom>
        </p:spPr>
        <p:txBody>
          <a:bodyPr wrap="square">
            <a:spAutoFit/>
          </a:bodyPr>
          <a:lstStyle/>
          <a:p>
            <a:pPr algn="just">
              <a:lnSpc>
                <a:spcPts val="2400"/>
              </a:lnSpc>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设备的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地址建议通过在网关设备上部署</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后，统一通过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方式</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动态分配。</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42"/>
          <p:cNvSpPr/>
          <p:nvPr/>
        </p:nvSpPr>
        <p:spPr bwMode="gray">
          <a:xfrm>
            <a:off x="6998615" y="2626640"/>
            <a:ext cx="2844785" cy="1949564"/>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prstClr val="white">
                  <a:lumMod val="6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43"/>
          <p:cNvCxnSpPr/>
          <p:nvPr/>
        </p:nvCxnSpPr>
        <p:spPr bwMode="gray">
          <a:xfrm>
            <a:off x="8421007" y="2306435"/>
            <a:ext cx="0" cy="1901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bwMode="gray">
          <a:xfrm>
            <a:off x="8812700" y="4051613"/>
            <a:ext cx="404278" cy="307777"/>
          </a:xfrm>
          <a:prstGeom prst="rect">
            <a:avLst/>
          </a:prstGeom>
          <a:noFill/>
        </p:spPr>
        <p:txBody>
          <a:bodyPr wrap="none" rtlCol="0">
            <a:spAutoFit/>
          </a:bodyPr>
          <a:lstStyle/>
          <a:p>
            <a:r>
              <a:rPr lang="en-US" altLang="zh-CN" sz="140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6" name="图片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175553" y="2725623"/>
            <a:ext cx="490909" cy="402545"/>
          </a:xfrm>
          <a:prstGeom prst="rect">
            <a:avLst/>
          </a:prstGeom>
        </p:spPr>
      </p:pic>
      <p:sp>
        <p:nvSpPr>
          <p:cNvPr id="47" name="文本框 46"/>
          <p:cNvSpPr txBox="1"/>
          <p:nvPr/>
        </p:nvSpPr>
        <p:spPr bwMode="gray">
          <a:xfrm>
            <a:off x="8812700" y="2768036"/>
            <a:ext cx="902811" cy="307777"/>
          </a:xfrm>
          <a:prstGeom prst="rect">
            <a:avLst/>
          </a:prstGeom>
          <a:noFill/>
        </p:spPr>
        <p:txBody>
          <a:bodyPr wrap="none" rtlCol="0">
            <a:spAutoFit/>
          </a:bodyPr>
          <a:lstStyle/>
          <a:p>
            <a:r>
              <a:rPr lang="zh-CN" altLang="en-US" sz="140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出口网关</a:t>
            </a:r>
            <a:endParaRPr lang="zh-CN" altLang="en-US"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p:cNvGrpSpPr/>
          <p:nvPr/>
        </p:nvGrpSpPr>
        <p:grpSpPr bwMode="gray">
          <a:xfrm>
            <a:off x="3152650" y="3528293"/>
            <a:ext cx="1372982" cy="679788"/>
            <a:chOff x="580445" y="5592914"/>
            <a:chExt cx="587296" cy="284358"/>
          </a:xfrm>
        </p:grpSpPr>
        <p:grpSp>
          <p:nvGrpSpPr>
            <p:cNvPr id="49" name="组合 48"/>
            <p:cNvGrpSpPr/>
            <p:nvPr/>
          </p:nvGrpSpPr>
          <p:grpSpPr bwMode="gray">
            <a:xfrm>
              <a:off x="580445" y="5592914"/>
              <a:ext cx="587296" cy="273463"/>
              <a:chOff x="6600056" y="4353447"/>
              <a:chExt cx="1296144" cy="833967"/>
            </a:xfrm>
          </p:grpSpPr>
          <p:cxnSp>
            <p:nvCxnSpPr>
              <p:cNvPr id="51" name="直接连接符 50"/>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gray">
            <a:xfrm>
              <a:off x="874093" y="5592914"/>
              <a:ext cx="0" cy="2843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3" name="图片 52" descr="接入交换机.png"/>
          <p:cNvPicPr>
            <a:picLocks noChangeAspect="1"/>
          </p:cNvPicPr>
          <p:nvPr/>
        </p:nvPicPr>
        <p:blipFill>
          <a:blip r:embed="rId4" cstate="print"/>
          <a:stretch>
            <a:fillRect/>
          </a:stretch>
        </p:blipFill>
        <p:spPr bwMode="gray">
          <a:xfrm>
            <a:off x="3601544" y="3330617"/>
            <a:ext cx="489321" cy="400353"/>
          </a:xfrm>
          <a:prstGeom prst="rect">
            <a:avLst/>
          </a:prstGeom>
        </p:spPr>
      </p:pic>
      <p:pic>
        <p:nvPicPr>
          <p:cNvPr id="54" name="图片 53" descr="接入交换机.png"/>
          <p:cNvPicPr>
            <a:picLocks noChangeAspect="1"/>
          </p:cNvPicPr>
          <p:nvPr/>
        </p:nvPicPr>
        <p:blipFill>
          <a:blip r:embed="rId4" cstate="print"/>
          <a:stretch>
            <a:fillRect/>
          </a:stretch>
        </p:blipFill>
        <p:spPr bwMode="gray">
          <a:xfrm>
            <a:off x="2810260" y="4054583"/>
            <a:ext cx="444837" cy="363957"/>
          </a:xfrm>
          <a:prstGeom prst="rect">
            <a:avLst/>
          </a:prstGeom>
        </p:spPr>
      </p:pic>
      <p:pic>
        <p:nvPicPr>
          <p:cNvPr id="55" name="图片 54" descr="接入交换机.png"/>
          <p:cNvPicPr>
            <a:picLocks noChangeAspect="1"/>
          </p:cNvPicPr>
          <p:nvPr/>
        </p:nvPicPr>
        <p:blipFill>
          <a:blip r:embed="rId4" cstate="print"/>
          <a:stretch>
            <a:fillRect/>
          </a:stretch>
        </p:blipFill>
        <p:spPr bwMode="gray">
          <a:xfrm>
            <a:off x="3623785" y="4054583"/>
            <a:ext cx="444837" cy="363957"/>
          </a:xfrm>
          <a:prstGeom prst="rect">
            <a:avLst/>
          </a:prstGeom>
        </p:spPr>
      </p:pic>
      <p:pic>
        <p:nvPicPr>
          <p:cNvPr id="56" name="图片 55" descr="接入交换机.png"/>
          <p:cNvPicPr>
            <a:picLocks noChangeAspect="1"/>
          </p:cNvPicPr>
          <p:nvPr/>
        </p:nvPicPr>
        <p:blipFill>
          <a:blip r:embed="rId4" cstate="print"/>
          <a:stretch>
            <a:fillRect/>
          </a:stretch>
        </p:blipFill>
        <p:spPr bwMode="gray">
          <a:xfrm>
            <a:off x="4443575" y="4054583"/>
            <a:ext cx="444837" cy="363957"/>
          </a:xfrm>
          <a:prstGeom prst="rect">
            <a:avLst/>
          </a:prstGeom>
        </p:spPr>
      </p:pic>
      <p:pic>
        <p:nvPicPr>
          <p:cNvPr id="57" name="图片 56" descr="云AP蓝.png"/>
          <p:cNvPicPr>
            <a:picLocks noChangeAspect="1"/>
          </p:cNvPicPr>
          <p:nvPr/>
        </p:nvPicPr>
        <p:blipFill>
          <a:blip r:embed="rId5" cstate="print"/>
          <a:stretch>
            <a:fillRect/>
          </a:stretch>
        </p:blipFill>
        <p:spPr bwMode="gray">
          <a:xfrm>
            <a:off x="8188985" y="4071927"/>
            <a:ext cx="464045" cy="379673"/>
          </a:xfrm>
          <a:prstGeom prst="rect">
            <a:avLst/>
          </a:prstGeom>
        </p:spPr>
      </p:pic>
      <p:cxnSp>
        <p:nvCxnSpPr>
          <p:cNvPr id="58" name="直接连接符 57"/>
          <p:cNvCxnSpPr/>
          <p:nvPr/>
        </p:nvCxnSpPr>
        <p:spPr bwMode="gray">
          <a:xfrm>
            <a:off x="3062741" y="3004405"/>
            <a:ext cx="466136" cy="0"/>
          </a:xfrm>
          <a:prstGeom prst="line">
            <a:avLst/>
          </a:prstGeom>
          <a:ln>
            <a:solidFill>
              <a:srgbClr val="C7000B"/>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gray">
          <a:xfrm>
            <a:off x="3062741" y="3545139"/>
            <a:ext cx="466136" cy="0"/>
          </a:xfrm>
          <a:prstGeom prst="line">
            <a:avLst/>
          </a:prstGeom>
          <a:ln>
            <a:solidFill>
              <a:srgbClr val="C7000B"/>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bwMode="gray">
          <a:xfrm>
            <a:off x="3223253" y="3023186"/>
            <a:ext cx="0" cy="505107"/>
          </a:xfrm>
          <a:prstGeom prst="line">
            <a:avLst/>
          </a:prstGeom>
          <a:ln>
            <a:solidFill>
              <a:srgbClr val="C7000B"/>
            </a:solidFill>
            <a:headEnd type="triangle"/>
            <a:tailEnd type="triangle" w="sm" len="med"/>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bwMode="gray">
          <a:xfrm>
            <a:off x="2369261" y="3128983"/>
            <a:ext cx="902811" cy="307777"/>
          </a:xfrm>
          <a:prstGeom prst="rect">
            <a:avLst/>
          </a:prstGeom>
          <a:noFill/>
        </p:spPr>
        <p:txBody>
          <a:bodyPr wrap="none" rtlCol="0">
            <a:spAutoFit/>
          </a:bodyPr>
          <a:lstStyle/>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三</a:t>
            </a:r>
            <a:r>
              <a:rPr lang="zh-CN" altLang="en-US" sz="14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层互联</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任意多边形 61"/>
          <p:cNvSpPr/>
          <p:nvPr/>
        </p:nvSpPr>
        <p:spPr bwMode="gray">
          <a:xfrm>
            <a:off x="7931205" y="1838291"/>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17769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latin typeface="+mn-lt"/>
                <a:ea typeface="+mn-ea"/>
                <a:cs typeface="+mn-ea"/>
                <a:sym typeface="+mn-lt"/>
              </a:rPr>
              <a:t>路由设计</a:t>
            </a:r>
            <a:endParaRPr lang="zh-CN" altLang="en-US">
              <a:latin typeface="+mn-lt"/>
              <a:ea typeface="+mn-ea"/>
              <a:cs typeface="+mn-ea"/>
              <a:sym typeface="+mn-lt"/>
            </a:endParaRPr>
          </a:p>
        </p:txBody>
      </p:sp>
      <p:sp>
        <p:nvSpPr>
          <p:cNvPr id="3" name="矩形 2"/>
          <p:cNvSpPr/>
          <p:nvPr/>
        </p:nvSpPr>
        <p:spPr>
          <a:xfrm>
            <a:off x="4815564" y="2398754"/>
            <a:ext cx="6588112" cy="2779222"/>
          </a:xfrm>
          <a:prstGeom prst="rect">
            <a:avLst/>
          </a:prstGeom>
        </p:spPr>
        <p:txBody>
          <a:bodyPr wrap="square">
            <a:spAutoFit/>
          </a:bodyPr>
          <a:lstStyle/>
          <a:p>
            <a:pPr marL="171450" indent="-171450">
              <a:lnSpc>
                <a:spcPts val="2400"/>
              </a:lnSpc>
              <a:spcAft>
                <a:spcPts val="600"/>
              </a:spcAft>
              <a:buFont typeface="Arial" panose="020B0604020202020204" pitchFamily="34" charset="0"/>
              <a:buChar char="•"/>
            </a:pPr>
            <a:r>
              <a:rPr lang="zh-CN" altLang="en-US" sz="1600" b="1" dirty="0">
                <a:cs typeface="+mn-ea"/>
                <a:sym typeface="+mn-lt"/>
              </a:rPr>
              <a:t>中小型园区网络规模比较小，通常推荐采用静态</a:t>
            </a:r>
            <a:r>
              <a:rPr lang="zh-CN" altLang="en-US" sz="1600" b="1" dirty="0" smtClean="0">
                <a:cs typeface="+mn-ea"/>
                <a:sym typeface="+mn-lt"/>
              </a:rPr>
              <a:t>路由。</a:t>
            </a:r>
            <a:endParaRPr lang="en-US" altLang="zh-CN" sz="1600" b="1" dirty="0" smtClean="0">
              <a:cs typeface="+mn-ea"/>
              <a:sym typeface="+mn-lt"/>
            </a:endParaRPr>
          </a:p>
          <a:p>
            <a:pPr marL="171450" indent="-171450">
              <a:lnSpc>
                <a:spcPts val="2400"/>
              </a:lnSpc>
              <a:spcAft>
                <a:spcPts val="600"/>
              </a:spcAft>
              <a:buFont typeface="Arial" panose="020B0604020202020204" pitchFamily="34" charset="0"/>
              <a:buChar char="•"/>
            </a:pPr>
            <a:r>
              <a:rPr lang="zh-CN" altLang="en-US" sz="1600" b="1" dirty="0" smtClean="0">
                <a:cs typeface="+mn-ea"/>
                <a:sym typeface="+mn-lt"/>
              </a:rPr>
              <a:t>园区</a:t>
            </a:r>
            <a:r>
              <a:rPr lang="zh-CN" altLang="en-US" sz="1600" b="1" dirty="0">
                <a:cs typeface="+mn-ea"/>
                <a:sym typeface="+mn-lt"/>
              </a:rPr>
              <a:t>内部的路由设计</a:t>
            </a:r>
            <a:r>
              <a:rPr lang="zh-CN" altLang="en-US" sz="1600" b="1" dirty="0" smtClean="0">
                <a:cs typeface="+mn-ea"/>
                <a:sym typeface="+mn-lt"/>
              </a:rPr>
              <a:t>：</a:t>
            </a:r>
            <a:endParaRPr lang="en-US" altLang="zh-CN" sz="1600" b="1" dirty="0">
              <a:cs typeface="+mn-ea"/>
              <a:sym typeface="+mn-lt"/>
            </a:endParaRPr>
          </a:p>
          <a:p>
            <a:pPr marL="654938" lvl="1" indent="-251899" defTabSz="914034">
              <a:lnSpc>
                <a:spcPct val="140000"/>
              </a:lnSpc>
              <a:spcAft>
                <a:spcPts val="600"/>
              </a:spcAft>
              <a:buFont typeface="Huawei Sans" panose="020C0503030203020204" pitchFamily="34" charset="0"/>
              <a:buChar char="▫"/>
            </a:pPr>
            <a:r>
              <a:rPr lang="en-US" altLang="zh-CN" sz="1600" dirty="0">
                <a:sym typeface="+mn-lt"/>
              </a:rPr>
              <a:t>AP</a:t>
            </a:r>
            <a:r>
              <a:rPr lang="zh-CN" altLang="en-US" sz="1600" dirty="0">
                <a:sym typeface="+mn-lt"/>
              </a:rPr>
              <a:t>设备：通过</a:t>
            </a:r>
            <a:r>
              <a:rPr lang="en-US" altLang="zh-CN" sz="1600" dirty="0">
                <a:sym typeface="+mn-lt"/>
              </a:rPr>
              <a:t>DHCP</a:t>
            </a:r>
            <a:r>
              <a:rPr lang="zh-CN" altLang="en-US" sz="1600" dirty="0">
                <a:sym typeface="+mn-lt"/>
              </a:rPr>
              <a:t>分配</a:t>
            </a:r>
            <a:r>
              <a:rPr lang="en-US" altLang="zh-CN" sz="1600" dirty="0">
                <a:sym typeface="+mn-lt"/>
              </a:rPr>
              <a:t>IP</a:t>
            </a:r>
            <a:r>
              <a:rPr lang="zh-CN" altLang="en-US" sz="1600" dirty="0">
                <a:sym typeface="+mn-lt"/>
              </a:rPr>
              <a:t>地址后默认会生成一条缺省</a:t>
            </a:r>
            <a:r>
              <a:rPr lang="zh-CN" altLang="en-US" sz="1600" dirty="0" smtClean="0">
                <a:sym typeface="+mn-lt"/>
              </a:rPr>
              <a:t>路由</a:t>
            </a:r>
            <a:r>
              <a:rPr lang="zh-CN" altLang="en-US" sz="1600" dirty="0">
                <a:sym typeface="+mn-lt"/>
              </a:rPr>
              <a:t>。</a:t>
            </a:r>
            <a:endParaRPr lang="en-US" altLang="zh-CN" sz="1600" dirty="0">
              <a:sym typeface="+mn-lt"/>
            </a:endParaRPr>
          </a:p>
          <a:p>
            <a:pPr marL="654938" lvl="1" indent="-251899" defTabSz="914034">
              <a:lnSpc>
                <a:spcPct val="140000"/>
              </a:lnSpc>
              <a:spcAft>
                <a:spcPts val="600"/>
              </a:spcAft>
              <a:buFont typeface="Huawei Sans" panose="020C0503030203020204" pitchFamily="34" charset="0"/>
              <a:buChar char="▫"/>
            </a:pPr>
            <a:r>
              <a:rPr lang="zh-CN" altLang="en-US" sz="1600" dirty="0">
                <a:sym typeface="+mn-lt"/>
              </a:rPr>
              <a:t>交换机、网关设备：通过静态路由即可满足需求，无需部署复杂的路由协议。 </a:t>
            </a:r>
            <a:endParaRPr lang="en-US" altLang="zh-CN" sz="1600" dirty="0">
              <a:sym typeface="+mn-lt"/>
            </a:endParaRPr>
          </a:p>
          <a:p>
            <a:pPr marL="171450" lvl="0" indent="-171450">
              <a:lnSpc>
                <a:spcPts val="2400"/>
              </a:lnSpc>
              <a:spcAft>
                <a:spcPts val="600"/>
              </a:spcAft>
              <a:buFont typeface="Arial" panose="020B0604020202020204" pitchFamily="34" charset="0"/>
              <a:buChar char="•"/>
            </a:pPr>
            <a:r>
              <a:rPr lang="zh-CN" altLang="en-US" sz="1600" b="1" dirty="0">
                <a:cs typeface="+mn-ea"/>
                <a:sym typeface="+mn-lt"/>
              </a:rPr>
              <a:t>园区出口的路由设计</a:t>
            </a:r>
            <a:r>
              <a:rPr lang="zh-CN" altLang="en-US" sz="1600" b="1" dirty="0" smtClean="0">
                <a:cs typeface="+mn-ea"/>
                <a:sym typeface="+mn-lt"/>
              </a:rPr>
              <a:t>：</a:t>
            </a:r>
            <a:endParaRPr lang="en-US" altLang="zh-CN" sz="1600" b="1" dirty="0" smtClean="0">
              <a:cs typeface="+mn-ea"/>
              <a:sym typeface="+mn-lt"/>
            </a:endParaRPr>
          </a:p>
          <a:p>
            <a:pPr marL="654938" lvl="1" indent="-251899" defTabSz="914034">
              <a:lnSpc>
                <a:spcPct val="140000"/>
              </a:lnSpc>
              <a:spcAft>
                <a:spcPts val="600"/>
              </a:spcAft>
              <a:buFont typeface="Huawei Sans" panose="020C0503030203020204" pitchFamily="34" charset="0"/>
              <a:buChar char="▫"/>
            </a:pPr>
            <a:r>
              <a:rPr lang="zh-CN" altLang="en-US" sz="1600" dirty="0">
                <a:sym typeface="+mn-lt"/>
              </a:rPr>
              <a:t>建议在出口设备上配置静态路由来满足需求。</a:t>
            </a:r>
          </a:p>
        </p:txBody>
      </p:sp>
      <p:sp>
        <p:nvSpPr>
          <p:cNvPr id="4" name="圆角矩形 3"/>
          <p:cNvSpPr/>
          <p:nvPr/>
        </p:nvSpPr>
        <p:spPr>
          <a:xfrm>
            <a:off x="1343472" y="2398754"/>
            <a:ext cx="3121372" cy="3133828"/>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5" name="直接连接符 4"/>
          <p:cNvCxnSpPr/>
          <p:nvPr/>
        </p:nvCxnSpPr>
        <p:spPr>
          <a:xfrm>
            <a:off x="2897649" y="1869712"/>
            <a:ext cx="0" cy="22880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任意多边形 5"/>
          <p:cNvSpPr/>
          <p:nvPr/>
        </p:nvSpPr>
        <p:spPr>
          <a:xfrm>
            <a:off x="2407847" y="1322373"/>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Internet</a:t>
            </a:r>
            <a:endParaRPr lang="zh-CN" altLang="en-US" sz="1400" b="1">
              <a:cs typeface="+mn-ea"/>
              <a:sym typeface="+mn-lt"/>
            </a:endParaRPr>
          </a:p>
        </p:txBody>
      </p:sp>
      <p:sp>
        <p:nvSpPr>
          <p:cNvPr id="7" name="文本框 6"/>
          <p:cNvSpPr txBox="1"/>
          <p:nvPr/>
        </p:nvSpPr>
        <p:spPr>
          <a:xfrm>
            <a:off x="3224640" y="3849937"/>
            <a:ext cx="673582" cy="307777"/>
          </a:xfrm>
          <a:prstGeom prst="rect">
            <a:avLst/>
          </a:prstGeom>
          <a:noFill/>
        </p:spPr>
        <p:txBody>
          <a:bodyPr wrap="none" rtlCol="0">
            <a:spAutoFit/>
          </a:bodyPr>
          <a:lstStyle/>
          <a:p>
            <a:r>
              <a:rPr lang="en-US" altLang="zh-CN" sz="1400" smtClean="0">
                <a:cs typeface="+mn-ea"/>
                <a:sym typeface="+mn-lt"/>
              </a:rPr>
              <a:t>L2SW</a:t>
            </a:r>
            <a:endParaRPr lang="zh-CN" altLang="en-US" sz="1400">
              <a:cs typeface="+mn-ea"/>
              <a:sym typeface="+mn-lt"/>
            </a:endParaRPr>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52195" y="2855648"/>
            <a:ext cx="490909" cy="402545"/>
          </a:xfrm>
          <a:prstGeom prst="rect">
            <a:avLst/>
          </a:prstGeom>
        </p:spPr>
      </p:pic>
      <p:sp>
        <p:nvSpPr>
          <p:cNvPr id="9" name="文本框 8"/>
          <p:cNvSpPr txBox="1"/>
          <p:nvPr/>
        </p:nvSpPr>
        <p:spPr>
          <a:xfrm>
            <a:off x="3224640" y="2898061"/>
            <a:ext cx="902811" cy="307777"/>
          </a:xfrm>
          <a:prstGeom prst="rect">
            <a:avLst/>
          </a:prstGeom>
          <a:noFill/>
        </p:spPr>
        <p:txBody>
          <a:bodyPr wrap="none" rtlCol="0">
            <a:spAutoFit/>
          </a:bodyPr>
          <a:lstStyle/>
          <a:p>
            <a:r>
              <a:rPr lang="zh-CN" altLang="en-US" sz="1400" smtClean="0">
                <a:cs typeface="+mn-ea"/>
                <a:sym typeface="+mn-lt"/>
              </a:rPr>
              <a:t>出口网关</a:t>
            </a:r>
            <a:endParaRPr lang="zh-CN" altLang="en-US" sz="1400">
              <a:cs typeface="+mn-ea"/>
              <a:sym typeface="+mn-lt"/>
            </a:endParaRPr>
          </a:p>
        </p:txBody>
      </p:sp>
      <p:grpSp>
        <p:nvGrpSpPr>
          <p:cNvPr id="10" name="组合 9"/>
          <p:cNvGrpSpPr/>
          <p:nvPr/>
        </p:nvGrpSpPr>
        <p:grpSpPr>
          <a:xfrm>
            <a:off x="2034795" y="3982769"/>
            <a:ext cx="1711582" cy="864856"/>
            <a:chOff x="580445" y="5592914"/>
            <a:chExt cx="587296" cy="284358"/>
          </a:xfrm>
        </p:grpSpPr>
        <p:grpSp>
          <p:nvGrpSpPr>
            <p:cNvPr id="11" name="组合 10"/>
            <p:cNvGrpSpPr/>
            <p:nvPr/>
          </p:nvGrpSpPr>
          <p:grpSpPr>
            <a:xfrm>
              <a:off x="580445" y="5592914"/>
              <a:ext cx="587296" cy="273463"/>
              <a:chOff x="6600056" y="4353447"/>
              <a:chExt cx="1296144" cy="833967"/>
            </a:xfrm>
          </p:grpSpPr>
          <p:cxnSp>
            <p:nvCxnSpPr>
              <p:cNvPr id="13" name="直接连接符 12"/>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a:off x="874093" y="5592914"/>
              <a:ext cx="0" cy="2843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5" name="图片 14" descr="接入交换机.png"/>
          <p:cNvPicPr>
            <a:picLocks noChangeAspect="1"/>
          </p:cNvPicPr>
          <p:nvPr/>
        </p:nvPicPr>
        <p:blipFill>
          <a:blip r:embed="rId4" cstate="print"/>
          <a:stretch>
            <a:fillRect/>
          </a:stretch>
        </p:blipFill>
        <p:spPr>
          <a:xfrm>
            <a:off x="2652989" y="3785093"/>
            <a:ext cx="489321" cy="400353"/>
          </a:xfrm>
          <a:prstGeom prst="rect">
            <a:avLst/>
          </a:prstGeom>
        </p:spPr>
      </p:pic>
      <p:pic>
        <p:nvPicPr>
          <p:cNvPr id="16" name="图片 15" descr="云AP蓝.png"/>
          <p:cNvPicPr>
            <a:picLocks noChangeAspect="1"/>
          </p:cNvPicPr>
          <p:nvPr/>
        </p:nvPicPr>
        <p:blipFill>
          <a:blip r:embed="rId5" cstate="print"/>
          <a:stretch>
            <a:fillRect/>
          </a:stretch>
        </p:blipFill>
        <p:spPr>
          <a:xfrm>
            <a:off x="2653953" y="4682506"/>
            <a:ext cx="487634" cy="398973"/>
          </a:xfrm>
          <a:prstGeom prst="rect">
            <a:avLst/>
          </a:prstGeom>
        </p:spPr>
      </p:pic>
      <p:pic>
        <p:nvPicPr>
          <p:cNvPr id="17" name="图片 16" descr="云AP蓝.png"/>
          <p:cNvPicPr>
            <a:picLocks noChangeAspect="1"/>
          </p:cNvPicPr>
          <p:nvPr/>
        </p:nvPicPr>
        <p:blipFill>
          <a:blip r:embed="rId5" cstate="print"/>
          <a:stretch>
            <a:fillRect/>
          </a:stretch>
        </p:blipFill>
        <p:spPr>
          <a:xfrm>
            <a:off x="3577077" y="4682506"/>
            <a:ext cx="487634" cy="398973"/>
          </a:xfrm>
          <a:prstGeom prst="rect">
            <a:avLst/>
          </a:prstGeom>
        </p:spPr>
      </p:pic>
      <p:pic>
        <p:nvPicPr>
          <p:cNvPr id="18" name="图片 17" descr="PC.png"/>
          <p:cNvPicPr>
            <a:picLocks noChangeAspect="1"/>
          </p:cNvPicPr>
          <p:nvPr/>
        </p:nvPicPr>
        <p:blipFill>
          <a:blip r:embed="rId6" cstate="print"/>
          <a:stretch>
            <a:fillRect/>
          </a:stretch>
        </p:blipFill>
        <p:spPr>
          <a:xfrm>
            <a:off x="1694192" y="4674992"/>
            <a:ext cx="539063" cy="414000"/>
          </a:xfrm>
          <a:prstGeom prst="rect">
            <a:avLst/>
          </a:prstGeom>
        </p:spPr>
      </p:pic>
      <p:sp>
        <p:nvSpPr>
          <p:cNvPr id="19" name="文本框 18"/>
          <p:cNvSpPr txBox="1"/>
          <p:nvPr/>
        </p:nvSpPr>
        <p:spPr>
          <a:xfrm>
            <a:off x="2688447" y="5088992"/>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20" name="文本框 19"/>
          <p:cNvSpPr txBox="1"/>
          <p:nvPr/>
        </p:nvSpPr>
        <p:spPr>
          <a:xfrm>
            <a:off x="3618755" y="5088992"/>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Tree>
    <p:extLst>
      <p:ext uri="{BB962C8B-B14F-4D97-AF65-F5344CB8AC3E}">
        <p14:creationId xmlns:p14="http://schemas.microsoft.com/office/powerpoint/2010/main" val="3448329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组网设计</a:t>
            </a:r>
          </a:p>
        </p:txBody>
      </p:sp>
      <p:sp>
        <p:nvSpPr>
          <p:cNvPr id="39" name="TextBox 303"/>
          <p:cNvSpPr txBox="1"/>
          <p:nvPr/>
        </p:nvSpPr>
        <p:spPr bwMode="gray">
          <a:xfrm>
            <a:off x="731838" y="4019456"/>
            <a:ext cx="912236" cy="1429126"/>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22" name="五边形 21"/>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23" name="燕尾形 22"/>
          <p:cNvSpPr/>
          <p:nvPr/>
        </p:nvSpPr>
        <p:spPr bwMode="grayWhite">
          <a:xfrm>
            <a:off x="4337749" y="4314711"/>
            <a:ext cx="2304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网络开局设计</a:t>
            </a:r>
          </a:p>
        </p:txBody>
      </p:sp>
      <p:sp>
        <p:nvSpPr>
          <p:cNvPr id="24" name="燕尾形 23"/>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25" name="燕尾形 24"/>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26" name="五边形 25"/>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
        <p:nvSpPr>
          <p:cNvPr id="27" name="燕尾形 26"/>
          <p:cNvSpPr/>
          <p:nvPr/>
        </p:nvSpPr>
        <p:spPr bwMode="gray">
          <a:xfrm>
            <a:off x="8786686"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Tree>
    <p:extLst>
      <p:ext uri="{BB962C8B-B14F-4D97-AF65-F5344CB8AC3E}">
        <p14:creationId xmlns:p14="http://schemas.microsoft.com/office/powerpoint/2010/main" val="2479836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bwMode="gray">
          <a:xfrm>
            <a:off x="3419124" y="4110311"/>
            <a:ext cx="1204103" cy="1936577"/>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51" name="直接连接符 50"/>
          <p:cNvCxnSpPr/>
          <p:nvPr/>
        </p:nvCxnSpPr>
        <p:spPr bwMode="gray">
          <a:xfrm>
            <a:off x="4012648" y="3119120"/>
            <a:ext cx="0" cy="127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bwMode="gray">
          <a:xfrm>
            <a:off x="2123467" y="4110311"/>
            <a:ext cx="1204103" cy="1936577"/>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13" name="圆角矩形 12"/>
          <p:cNvSpPr/>
          <p:nvPr/>
        </p:nvSpPr>
        <p:spPr bwMode="gray">
          <a:xfrm>
            <a:off x="4709709" y="4110311"/>
            <a:ext cx="1204103" cy="1936577"/>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sp>
        <p:nvSpPr>
          <p:cNvPr id="2" name="标题 1"/>
          <p:cNvSpPr>
            <a:spLocks noGrp="1"/>
          </p:cNvSpPr>
          <p:nvPr>
            <p:ph type="title"/>
          </p:nvPr>
        </p:nvSpPr>
        <p:spPr bwMode="gray"/>
        <p:txBody>
          <a:bodyPr>
            <a:normAutofit/>
          </a:bodyPr>
          <a:lstStyle/>
          <a:p>
            <a:r>
              <a:rPr lang="zh-CN" altLang="en-US" smtClean="0">
                <a:latin typeface="+mn-lt"/>
                <a:ea typeface="+mn-ea"/>
                <a:cs typeface="+mn-ea"/>
                <a:sym typeface="+mn-lt"/>
              </a:rPr>
              <a:t>网络开局与设备自动化注册</a:t>
            </a:r>
            <a:endParaRPr lang="zh-CN" altLang="en-US" dirty="0">
              <a:latin typeface="+mn-lt"/>
              <a:ea typeface="+mn-ea"/>
              <a:cs typeface="+mn-ea"/>
              <a:sym typeface="+mn-lt"/>
            </a:endParaRPr>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09420" y="1644693"/>
            <a:ext cx="1046768" cy="595041"/>
          </a:xfrm>
          <a:prstGeom prst="rect">
            <a:avLst/>
          </a:prstGeom>
        </p:spPr>
      </p:pic>
      <p:pic>
        <p:nvPicPr>
          <p:cNvPr id="1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3787728" y="4281189"/>
            <a:ext cx="446281" cy="365138"/>
          </a:xfrm>
          <a:prstGeom prst="rect">
            <a:avLst/>
          </a:prstGeom>
          <a:noFill/>
        </p:spPr>
      </p:pic>
      <p:pic>
        <p:nvPicPr>
          <p:cNvPr id="26" name="图片 25" descr="云AP蓝.png"/>
          <p:cNvPicPr>
            <a:picLocks noChangeAspect="1"/>
          </p:cNvPicPr>
          <p:nvPr/>
        </p:nvPicPr>
        <p:blipFill>
          <a:blip r:embed="rId5" cstate="print"/>
          <a:stretch>
            <a:fillRect/>
          </a:stretch>
        </p:blipFill>
        <p:spPr bwMode="gray">
          <a:xfrm>
            <a:off x="3582024" y="5698073"/>
            <a:ext cx="360000" cy="294545"/>
          </a:xfrm>
          <a:prstGeom prst="rect">
            <a:avLst/>
          </a:prstGeom>
        </p:spPr>
      </p:pic>
      <p:pic>
        <p:nvPicPr>
          <p:cNvPr id="32" name="图片 87" descr="汇聚交换机.png"/>
          <p:cNvPicPr>
            <a:picLocks noChangeAspect="1"/>
          </p:cNvPicPr>
          <p:nvPr/>
        </p:nvPicPr>
        <p:blipFill>
          <a:blip r:embed="rId6" cstate="print"/>
          <a:stretch>
            <a:fillRect/>
          </a:stretch>
        </p:blipFill>
        <p:spPr bwMode="gray">
          <a:xfrm>
            <a:off x="3812868" y="4977840"/>
            <a:ext cx="396000" cy="324000"/>
          </a:xfrm>
          <a:prstGeom prst="rect">
            <a:avLst/>
          </a:prstGeom>
        </p:spPr>
      </p:pic>
      <p:cxnSp>
        <p:nvCxnSpPr>
          <p:cNvPr id="34" name="直接连接符 33"/>
          <p:cNvCxnSpPr/>
          <p:nvPr/>
        </p:nvCxnSpPr>
        <p:spPr bwMode="gray">
          <a:xfrm flipH="1">
            <a:off x="4009541" y="4646327"/>
            <a:ext cx="0" cy="3315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2" idx="2"/>
            <a:endCxn id="26" idx="0"/>
          </p:cNvCxnSpPr>
          <p:nvPr/>
        </p:nvCxnSpPr>
        <p:spPr bwMode="gray">
          <a:xfrm flipH="1">
            <a:off x="3762024" y="5301840"/>
            <a:ext cx="248844" cy="3962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图片 41" descr="云AP蓝.png"/>
          <p:cNvPicPr>
            <a:picLocks noChangeAspect="1"/>
          </p:cNvPicPr>
          <p:nvPr/>
        </p:nvPicPr>
        <p:blipFill>
          <a:blip r:embed="rId5" cstate="print"/>
          <a:stretch>
            <a:fillRect/>
          </a:stretch>
        </p:blipFill>
        <p:spPr bwMode="gray">
          <a:xfrm>
            <a:off x="4091555" y="5691759"/>
            <a:ext cx="360000" cy="294545"/>
          </a:xfrm>
          <a:prstGeom prst="rect">
            <a:avLst/>
          </a:prstGeom>
        </p:spPr>
      </p:pic>
      <p:cxnSp>
        <p:nvCxnSpPr>
          <p:cNvPr id="43" name="直接连接符 42"/>
          <p:cNvCxnSpPr>
            <a:stCxn id="32" idx="2"/>
            <a:endCxn id="42" idx="0"/>
          </p:cNvCxnSpPr>
          <p:nvPr/>
        </p:nvCxnSpPr>
        <p:spPr bwMode="gray">
          <a:xfrm>
            <a:off x="4010868" y="5301840"/>
            <a:ext cx="260687" cy="3899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3" name="图片 62" descr="云AP蓝.png"/>
          <p:cNvPicPr>
            <a:picLocks noChangeAspect="1"/>
          </p:cNvPicPr>
          <p:nvPr/>
        </p:nvPicPr>
        <p:blipFill>
          <a:blip r:embed="rId5" cstate="print"/>
          <a:stretch>
            <a:fillRect/>
          </a:stretch>
        </p:blipFill>
        <p:spPr bwMode="gray">
          <a:xfrm>
            <a:off x="4789997" y="5682303"/>
            <a:ext cx="360000" cy="294545"/>
          </a:xfrm>
          <a:prstGeom prst="rect">
            <a:avLst/>
          </a:prstGeom>
        </p:spPr>
      </p:pic>
      <p:pic>
        <p:nvPicPr>
          <p:cNvPr id="64" name="图片 87" descr="汇聚交换机.png"/>
          <p:cNvPicPr>
            <a:picLocks noChangeAspect="1"/>
          </p:cNvPicPr>
          <p:nvPr/>
        </p:nvPicPr>
        <p:blipFill>
          <a:blip r:embed="rId6" cstate="print"/>
          <a:stretch>
            <a:fillRect/>
          </a:stretch>
        </p:blipFill>
        <p:spPr bwMode="gray">
          <a:xfrm>
            <a:off x="5034921" y="4962070"/>
            <a:ext cx="396000" cy="324000"/>
          </a:xfrm>
          <a:prstGeom prst="rect">
            <a:avLst/>
          </a:prstGeom>
        </p:spPr>
      </p:pic>
      <p:cxnSp>
        <p:nvCxnSpPr>
          <p:cNvPr id="66" name="直接连接符 65"/>
          <p:cNvCxnSpPr>
            <a:stCxn id="64" idx="2"/>
            <a:endCxn id="63" idx="0"/>
          </p:cNvCxnSpPr>
          <p:nvPr/>
        </p:nvCxnSpPr>
        <p:spPr bwMode="gray">
          <a:xfrm flipH="1">
            <a:off x="4969997" y="5286070"/>
            <a:ext cx="262924" cy="3962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图片 66" descr="云AP蓝.png"/>
          <p:cNvPicPr>
            <a:picLocks noChangeAspect="1"/>
          </p:cNvPicPr>
          <p:nvPr/>
        </p:nvPicPr>
        <p:blipFill>
          <a:blip r:embed="rId5" cstate="print"/>
          <a:stretch>
            <a:fillRect/>
          </a:stretch>
        </p:blipFill>
        <p:spPr bwMode="gray">
          <a:xfrm>
            <a:off x="5319848" y="5675989"/>
            <a:ext cx="360000" cy="294545"/>
          </a:xfrm>
          <a:prstGeom prst="rect">
            <a:avLst/>
          </a:prstGeom>
        </p:spPr>
      </p:pic>
      <p:cxnSp>
        <p:nvCxnSpPr>
          <p:cNvPr id="68" name="直接连接符 67"/>
          <p:cNvCxnSpPr>
            <a:stCxn id="64" idx="2"/>
            <a:endCxn id="67" idx="0"/>
          </p:cNvCxnSpPr>
          <p:nvPr/>
        </p:nvCxnSpPr>
        <p:spPr bwMode="gray">
          <a:xfrm>
            <a:off x="5232921" y="5286070"/>
            <a:ext cx="266927" cy="3899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圆角矩形 76"/>
          <p:cNvSpPr/>
          <p:nvPr/>
        </p:nvSpPr>
        <p:spPr bwMode="gray">
          <a:xfrm>
            <a:off x="4449642" y="1392923"/>
            <a:ext cx="1482592" cy="1211897"/>
          </a:xfrm>
          <a:prstGeom prst="roundRect">
            <a:avLst>
              <a:gd name="adj" fmla="val 4800"/>
            </a:avLst>
          </a:prstGeom>
          <a:solidFill>
            <a:schemeClr val="bg1">
              <a:lumMod val="95000"/>
            </a:schemeClr>
          </a:solidFill>
          <a:ln w="12700">
            <a:noFill/>
            <a:prstDash val="dash"/>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0" i="0" u="none" strike="noStrike" kern="0" cap="none" spc="0" normalizeH="0" baseline="0" noProof="0" smtClean="0">
              <a:ln>
                <a:noFill/>
              </a:ln>
              <a:solidFill>
                <a:srgbClr val="990000"/>
              </a:solidFill>
              <a:effectLst/>
              <a:uLnTx/>
              <a:uFillTx/>
              <a:cs typeface="+mn-ea"/>
              <a:sym typeface="+mn-lt"/>
            </a:endParaRPr>
          </a:p>
        </p:txBody>
      </p:sp>
      <p:pic>
        <p:nvPicPr>
          <p:cNvPr id="81" name="图片 80" descr="交换机.png"/>
          <p:cNvPicPr>
            <a:picLocks noChangeAspect="1"/>
          </p:cNvPicPr>
          <p:nvPr/>
        </p:nvPicPr>
        <p:blipFill>
          <a:blip r:embed="rId7" cstate="print"/>
          <a:stretch>
            <a:fillRect/>
          </a:stretch>
        </p:blipFill>
        <p:spPr bwMode="gray">
          <a:xfrm>
            <a:off x="4901618" y="1661828"/>
            <a:ext cx="496757" cy="406437"/>
          </a:xfrm>
          <a:prstGeom prst="rect">
            <a:avLst/>
          </a:prstGeom>
        </p:spPr>
      </p:pic>
      <p:sp>
        <p:nvSpPr>
          <p:cNvPr id="82" name="TextBox 183"/>
          <p:cNvSpPr txBox="1"/>
          <p:nvPr/>
        </p:nvSpPr>
        <p:spPr bwMode="gray">
          <a:xfrm>
            <a:off x="4483052" y="2212686"/>
            <a:ext cx="1415772" cy="276999"/>
          </a:xfrm>
          <a:prstGeom prst="rect">
            <a:avLst/>
          </a:prstGeom>
          <a:noFill/>
        </p:spPr>
        <p:txBody>
          <a:bodyPr wrap="none" rtlCol="0">
            <a:spAutoFit/>
          </a:bodyPr>
          <a:lstStyle/>
          <a:p>
            <a:pPr algn="ctr" defTabSz="914400" fontAlgn="base">
              <a:spcBef>
                <a:spcPct val="0"/>
              </a:spcBef>
              <a:spcAft>
                <a:spcPct val="0"/>
              </a:spcAft>
            </a:pPr>
            <a:r>
              <a:rPr lang="zh-CN" altLang="en-US" sz="1200" dirty="0" smtClean="0">
                <a:cs typeface="+mn-ea"/>
                <a:sym typeface="+mn-lt"/>
              </a:rPr>
              <a:t>华为注册查询中心</a:t>
            </a:r>
            <a:endParaRPr lang="zh-CN" altLang="en-US" sz="1200" dirty="0">
              <a:cs typeface="+mn-ea"/>
              <a:sym typeface="+mn-lt"/>
            </a:endParaRPr>
          </a:p>
        </p:txBody>
      </p:sp>
      <p:pic>
        <p:nvPicPr>
          <p:cNvPr id="85" name="图片 84" descr="管理型无线虚链路-蓝.png"/>
          <p:cNvPicPr>
            <a:picLocks noChangeAspect="1"/>
          </p:cNvPicPr>
          <p:nvPr/>
        </p:nvPicPr>
        <p:blipFill>
          <a:blip r:embed="rId8" cstate="print"/>
          <a:stretch>
            <a:fillRect/>
          </a:stretch>
        </p:blipFill>
        <p:spPr bwMode="gray">
          <a:xfrm>
            <a:off x="1135337" y="4862998"/>
            <a:ext cx="490909" cy="401945"/>
          </a:xfrm>
          <a:prstGeom prst="rect">
            <a:avLst/>
          </a:prstGeom>
        </p:spPr>
      </p:pic>
      <p:sp>
        <p:nvSpPr>
          <p:cNvPr id="86" name="TextBox 91"/>
          <p:cNvSpPr txBox="1">
            <a:spLocks noChangeArrowheads="1"/>
          </p:cNvSpPr>
          <p:nvPr/>
        </p:nvSpPr>
        <p:spPr bwMode="gray">
          <a:xfrm>
            <a:off x="725352" y="5358806"/>
            <a:ext cx="1310878" cy="307777"/>
          </a:xfrm>
          <a:prstGeom prst="rect">
            <a:avLst/>
          </a:prstGeom>
          <a:noFill/>
          <a:ln w="9525">
            <a:noFill/>
            <a:miter lim="800000"/>
            <a:headEnd/>
            <a:tailEnd/>
          </a:ln>
        </p:spPr>
        <p:txBody>
          <a:bodyPr wrap="square">
            <a:spAutoFit/>
          </a:bodyPr>
          <a:lstStyle/>
          <a:p>
            <a:pPr algn="ctr" defTabSz="914400" fontAlgn="base">
              <a:spcBef>
                <a:spcPct val="0"/>
              </a:spcBef>
              <a:spcAft>
                <a:spcPct val="0"/>
              </a:spcAft>
            </a:pPr>
            <a:r>
              <a:rPr lang="zh-CN" altLang="en-US" sz="1400" dirty="0" smtClean="0">
                <a:solidFill>
                  <a:srgbClr val="000000"/>
                </a:solidFill>
                <a:cs typeface="+mn-ea"/>
                <a:sym typeface="+mn-lt"/>
              </a:rPr>
              <a:t>现场开局人员</a:t>
            </a:r>
            <a:endParaRPr lang="en-US" altLang="zh-CN" sz="1400" dirty="0">
              <a:solidFill>
                <a:srgbClr val="C00000"/>
              </a:solidFill>
              <a:cs typeface="+mn-ea"/>
              <a:sym typeface="+mn-lt"/>
            </a:endParaRPr>
          </a:p>
        </p:txBody>
      </p:sp>
      <p:sp>
        <p:nvSpPr>
          <p:cNvPr id="87" name="TextBox 91"/>
          <p:cNvSpPr txBox="1">
            <a:spLocks noChangeArrowheads="1"/>
          </p:cNvSpPr>
          <p:nvPr/>
        </p:nvSpPr>
        <p:spPr bwMode="gray">
          <a:xfrm>
            <a:off x="618456" y="2041393"/>
            <a:ext cx="1524670" cy="307777"/>
          </a:xfrm>
          <a:prstGeom prst="rect">
            <a:avLst/>
          </a:prstGeom>
          <a:noFill/>
          <a:ln w="9525">
            <a:noFill/>
            <a:miter lim="800000"/>
            <a:headEnd/>
            <a:tailEnd/>
          </a:ln>
        </p:spPr>
        <p:txBody>
          <a:bodyPr wrap="square">
            <a:spAutoFit/>
          </a:bodyPr>
          <a:lstStyle/>
          <a:p>
            <a:pPr algn="ctr" defTabSz="914400" fontAlgn="base">
              <a:spcBef>
                <a:spcPct val="0"/>
              </a:spcBef>
              <a:spcAft>
                <a:spcPct val="0"/>
              </a:spcAft>
            </a:pPr>
            <a:r>
              <a:rPr lang="en-US" altLang="zh-CN" sz="1400" dirty="0" smtClean="0">
                <a:solidFill>
                  <a:srgbClr val="000000"/>
                </a:solidFill>
                <a:cs typeface="+mn-ea"/>
                <a:sym typeface="+mn-lt"/>
              </a:rPr>
              <a:t>MSP/</a:t>
            </a:r>
            <a:r>
              <a:rPr lang="zh-CN" altLang="en-US" sz="1400" dirty="0" smtClean="0">
                <a:solidFill>
                  <a:srgbClr val="000000"/>
                </a:solidFill>
                <a:cs typeface="+mn-ea"/>
                <a:sym typeface="+mn-lt"/>
              </a:rPr>
              <a:t>租户管理员</a:t>
            </a:r>
            <a:endParaRPr lang="en-US" altLang="zh-CN" sz="1400" dirty="0">
              <a:solidFill>
                <a:srgbClr val="000000"/>
              </a:solidFill>
              <a:cs typeface="+mn-ea"/>
              <a:sym typeface="+mn-lt"/>
            </a:endParaRPr>
          </a:p>
        </p:txBody>
      </p:sp>
      <p:pic>
        <p:nvPicPr>
          <p:cNvPr id="88" name="图片 87" descr="交换机.png"/>
          <p:cNvPicPr>
            <a:picLocks noChangeAspect="1"/>
          </p:cNvPicPr>
          <p:nvPr/>
        </p:nvPicPr>
        <p:blipFill>
          <a:blip r:embed="rId9" cstate="print"/>
          <a:stretch>
            <a:fillRect/>
          </a:stretch>
        </p:blipFill>
        <p:spPr bwMode="gray">
          <a:xfrm>
            <a:off x="1135337" y="1568927"/>
            <a:ext cx="490909" cy="401652"/>
          </a:xfrm>
          <a:prstGeom prst="rect">
            <a:avLst/>
          </a:prstGeom>
        </p:spPr>
      </p:pic>
      <p:cxnSp>
        <p:nvCxnSpPr>
          <p:cNvPr id="89" name="直接连接符 88"/>
          <p:cNvCxnSpPr/>
          <p:nvPr/>
        </p:nvCxnSpPr>
        <p:spPr bwMode="gray">
          <a:xfrm>
            <a:off x="710446" y="2730084"/>
            <a:ext cx="536373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bwMode="gray">
          <a:xfrm>
            <a:off x="710446" y="3991270"/>
            <a:ext cx="5363735"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bwMode="gray">
          <a:xfrm>
            <a:off x="1664178" y="1824196"/>
            <a:ext cx="1331843" cy="0"/>
          </a:xfrm>
          <a:prstGeom prst="straightConnector1">
            <a:avLst/>
          </a:prstGeom>
          <a:ln w="12700">
            <a:solidFill>
              <a:srgbClr val="C7000B"/>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p:nvPr/>
        </p:nvCxnSpPr>
        <p:spPr bwMode="gray">
          <a:xfrm>
            <a:off x="1650791" y="4977840"/>
            <a:ext cx="432000" cy="0"/>
          </a:xfrm>
          <a:prstGeom prst="straightConnector1">
            <a:avLst/>
          </a:prstGeom>
          <a:ln w="12700">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102" name="内容占位符 2"/>
          <p:cNvSpPr txBox="1">
            <a:spLocks/>
          </p:cNvSpPr>
          <p:nvPr/>
        </p:nvSpPr>
        <p:spPr bwMode="gray">
          <a:xfrm>
            <a:off x="6216045" y="1689763"/>
            <a:ext cx="5325921" cy="3600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spAutoFit/>
          </a:bodyPr>
          <a:lst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1800" baseline="0">
                <a:solidFill>
                  <a:schemeClr val="tx2"/>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sz="1600" baseline="0">
                <a:solidFill>
                  <a:schemeClr val="tx2"/>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400" baseline="0">
                <a:solidFill>
                  <a:schemeClr val="tx2"/>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140000"/>
              </a:lnSpc>
              <a:spcBef>
                <a:spcPct val="0"/>
              </a:spcBef>
              <a:spcAft>
                <a:spcPct val="0"/>
              </a:spcAft>
              <a:buChar char="–"/>
              <a:defRPr sz="1200" baseline="0">
                <a:solidFill>
                  <a:schemeClr val="tx2"/>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140000"/>
              </a:lnSpc>
              <a:spcBef>
                <a:spcPct val="0"/>
              </a:spcBef>
              <a:spcAft>
                <a:spcPct val="0"/>
              </a:spcAft>
              <a:buFont typeface="Arial" pitchFamily="34" charset="0"/>
              <a:buChar char="~"/>
              <a:defRPr sz="1000" baseline="0">
                <a:solidFill>
                  <a:schemeClr val="tx2"/>
                </a:solidFill>
                <a:latin typeface="微软雅黑" panose="020B0503020204020204" pitchFamily="34" charset="-122"/>
                <a:ea typeface="微软雅黑" panose="020B0503020204020204" pitchFamily="34" charset="-122"/>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a:lstStyle>
          <a:p>
            <a:pPr marL="0" lvl="1" indent="0" algn="just" defTabSz="914400" eaLnBrk="1">
              <a:buSzPct val="100000"/>
              <a:buNone/>
              <a:defRPr/>
            </a:pPr>
            <a:r>
              <a:rPr kumimoji="0" lang="zh-CN" altLang="en-US" b="1" i="0" u="none" strike="noStrike" kern="0" cap="none" spc="0" normalizeH="0" baseline="0" noProof="0" dirty="0" smtClean="0">
                <a:ln>
                  <a:noFill/>
                </a:ln>
                <a:solidFill>
                  <a:srgbClr val="000000"/>
                </a:solidFill>
                <a:effectLst/>
                <a:uLnTx/>
                <a:uFillTx/>
                <a:latin typeface="+mn-lt"/>
                <a:ea typeface="+mn-ea"/>
                <a:cs typeface="+mn-ea"/>
                <a:sym typeface="+mn-lt"/>
              </a:rPr>
              <a:t>自动化开局</a:t>
            </a:r>
            <a:r>
              <a:rPr kumimoji="0" lang="en-US" altLang="zh-CN" b="1" i="0" u="none" strike="noStrike" kern="0" cap="none" spc="0" normalizeH="0" baseline="0" noProof="0" dirty="0" smtClean="0">
                <a:ln>
                  <a:noFill/>
                </a:ln>
                <a:solidFill>
                  <a:srgbClr val="000000"/>
                </a:solidFill>
                <a:effectLst/>
                <a:uLnTx/>
                <a:uFillTx/>
                <a:latin typeface="+mn-lt"/>
                <a:ea typeface="+mn-ea"/>
                <a:cs typeface="+mn-ea"/>
                <a:sym typeface="+mn-lt"/>
              </a:rPr>
              <a:t> </a:t>
            </a:r>
          </a:p>
          <a:p>
            <a:pPr marL="177800" indent="-177800" algn="just" eaLnBrk="1" fontAlgn="auto" hangingPunct="1">
              <a:spcAft>
                <a:spcPts val="300"/>
              </a:spcAft>
              <a:buClrTx/>
              <a:buSzPct val="100000"/>
              <a:buFont typeface="Arial" panose="020B0604020202020204" pitchFamily="34" charset="0"/>
              <a:buChar char="•"/>
              <a:defRPr/>
            </a:pPr>
            <a:r>
              <a:rPr lang="zh-CN" altLang="en-US" sz="1400" dirty="0">
                <a:solidFill>
                  <a:prstClr val="black"/>
                </a:solidFill>
                <a:latin typeface="Huawei Sans" panose="020C0503030203020204" pitchFamily="34" charset="0"/>
                <a:ea typeface="方正兰亭黑简体" panose="02000000000000000000" pitchFamily="2" charset="-122"/>
                <a:sym typeface="+mn-lt"/>
              </a:rPr>
              <a:t>云管理方案可以实现设备即插即用，在设备满足一定约束条件的前提下，设备上电后即可自动连接到指定的云管理平台，并获取完整的业务配置，实现设备即插即用、业务快速开通的效果</a:t>
            </a:r>
            <a:r>
              <a:rPr lang="zh-CN" altLang="en-US" sz="1400" dirty="0" smtClean="0">
                <a:solidFill>
                  <a:prstClr val="black"/>
                </a:solidFill>
                <a:latin typeface="Huawei Sans" panose="020C0503030203020204" pitchFamily="34" charset="0"/>
                <a:ea typeface="方正兰亭黑简体" panose="02000000000000000000" pitchFamily="2" charset="-122"/>
                <a:sym typeface="+mn-lt"/>
              </a:rPr>
              <a:t>。</a:t>
            </a:r>
            <a:endParaRPr lang="en-US" altLang="zh-CN" sz="1400" dirty="0" smtClean="0">
              <a:solidFill>
                <a:prstClr val="black"/>
              </a:solidFill>
              <a:latin typeface="Huawei Sans" panose="020C0503030203020204" pitchFamily="34" charset="0"/>
              <a:ea typeface="方正兰亭黑简体" panose="02000000000000000000" pitchFamily="2" charset="-122"/>
              <a:sym typeface="+mn-lt"/>
            </a:endParaRPr>
          </a:p>
          <a:p>
            <a:pPr marL="0" marR="0" lvl="0" indent="0" algn="just" defTabSz="914400" rtl="0" eaLnBrk="1" fontAlgn="base" latinLnBrk="0" hangingPunct="0">
              <a:lnSpc>
                <a:spcPct val="140000"/>
              </a:lnSpc>
              <a:spcBef>
                <a:spcPct val="0"/>
              </a:spcBef>
              <a:spcAft>
                <a:spcPct val="0"/>
              </a:spcAft>
              <a:buClrTx/>
              <a:buSzPct val="100000"/>
              <a:buNone/>
              <a:tabLst/>
              <a:defRPr/>
            </a:pPr>
            <a:r>
              <a:rPr kumimoji="0" lang="zh-CN" altLang="en-US" sz="1600" b="1" i="0" u="none" strike="noStrike" kern="0" cap="none" spc="0" normalizeH="0" baseline="0" noProof="0" dirty="0" smtClean="0">
                <a:ln>
                  <a:noFill/>
                </a:ln>
                <a:solidFill>
                  <a:srgbClr val="000000"/>
                </a:solidFill>
                <a:effectLst/>
                <a:uLnTx/>
                <a:uFillTx/>
                <a:latin typeface="+mn-lt"/>
                <a:ea typeface="+mn-ea"/>
                <a:cs typeface="+mn-ea"/>
                <a:sym typeface="+mn-lt"/>
              </a:rPr>
              <a:t>设备即</a:t>
            </a:r>
            <a:r>
              <a:rPr kumimoji="0" lang="zh-CN" altLang="en-US" sz="1600" b="1" i="0" u="none" strike="noStrike" kern="0" cap="none" spc="0" normalizeH="0" baseline="0" noProof="0" dirty="0">
                <a:ln>
                  <a:noFill/>
                </a:ln>
                <a:solidFill>
                  <a:srgbClr val="000000"/>
                </a:solidFill>
                <a:effectLst/>
                <a:uLnTx/>
                <a:uFillTx/>
                <a:latin typeface="+mn-lt"/>
                <a:ea typeface="+mn-ea"/>
                <a:cs typeface="+mn-ea"/>
                <a:sym typeface="+mn-lt"/>
              </a:rPr>
              <a:t>插即用</a:t>
            </a:r>
            <a:r>
              <a:rPr kumimoji="0" lang="zh-CN" altLang="en-US" sz="1600" b="1" i="0" u="none" strike="noStrike" kern="0" cap="none" spc="0" normalizeH="0" baseline="0" noProof="0" dirty="0" smtClean="0">
                <a:ln>
                  <a:noFill/>
                </a:ln>
                <a:solidFill>
                  <a:srgbClr val="000000"/>
                </a:solidFill>
                <a:effectLst/>
                <a:uLnTx/>
                <a:uFillTx/>
                <a:latin typeface="+mn-lt"/>
                <a:ea typeface="+mn-ea"/>
                <a:cs typeface="+mn-ea"/>
                <a:sym typeface="+mn-lt"/>
              </a:rPr>
              <a:t>约束条件</a:t>
            </a:r>
            <a:endParaRPr kumimoji="0" lang="en-US" altLang="zh-CN" sz="1600" b="1" i="0" u="none" strike="noStrike" kern="0" cap="none" spc="0" normalizeH="0" baseline="0" noProof="0" dirty="0" smtClean="0">
              <a:ln>
                <a:noFill/>
              </a:ln>
              <a:solidFill>
                <a:srgbClr val="000000"/>
              </a:solidFill>
              <a:effectLst/>
              <a:uLnTx/>
              <a:uFillTx/>
              <a:latin typeface="+mn-lt"/>
              <a:ea typeface="+mn-ea"/>
              <a:cs typeface="+mn-ea"/>
              <a:sym typeface="+mn-lt"/>
            </a:endParaRPr>
          </a:p>
          <a:p>
            <a:pPr marL="177800" indent="-177800" algn="just" eaLnBrk="1" fontAlgn="auto" hangingPunct="1">
              <a:spcAft>
                <a:spcPts val="300"/>
              </a:spcAft>
              <a:buClrTx/>
              <a:buSzPct val="100000"/>
              <a:buFont typeface="Arial" panose="020B0604020202020204" pitchFamily="34" charset="0"/>
              <a:buChar char="•"/>
              <a:defRPr/>
            </a:pPr>
            <a:r>
              <a:rPr lang="zh-CN" altLang="en-US" sz="1400" dirty="0">
                <a:solidFill>
                  <a:prstClr val="black"/>
                </a:solidFill>
                <a:latin typeface="Huawei Sans" panose="020C0503030203020204" pitchFamily="34" charset="0"/>
                <a:ea typeface="方正兰亭黑简体" panose="02000000000000000000" pitchFamily="2" charset="-122"/>
                <a:sym typeface="+mn-lt"/>
              </a:rPr>
              <a:t>管理员在云管理平台上登记了设备</a:t>
            </a:r>
            <a:r>
              <a:rPr lang="en-US" altLang="zh-CN" sz="1400" dirty="0">
                <a:solidFill>
                  <a:prstClr val="black"/>
                </a:solidFill>
                <a:latin typeface="Huawei Sans" panose="020C0503030203020204" pitchFamily="34" charset="0"/>
                <a:ea typeface="方正兰亭黑简体" panose="02000000000000000000" pitchFamily="2" charset="-122"/>
                <a:sym typeface="+mn-lt"/>
              </a:rPr>
              <a:t>ESN</a:t>
            </a:r>
            <a:r>
              <a:rPr lang="zh-CN" altLang="en-US" sz="1400" dirty="0">
                <a:solidFill>
                  <a:prstClr val="black"/>
                </a:solidFill>
                <a:latin typeface="Huawei Sans" panose="020C0503030203020204" pitchFamily="34" charset="0"/>
                <a:ea typeface="方正兰亭黑简体" panose="02000000000000000000" pitchFamily="2" charset="-122"/>
                <a:sym typeface="+mn-lt"/>
              </a:rPr>
              <a:t>（可以扫码录入、手工录入等），同时绑定了有效的</a:t>
            </a:r>
            <a:r>
              <a:rPr lang="en-US" altLang="zh-CN" sz="1400" dirty="0">
                <a:solidFill>
                  <a:prstClr val="black"/>
                </a:solidFill>
                <a:latin typeface="Huawei Sans" panose="020C0503030203020204" pitchFamily="34" charset="0"/>
                <a:ea typeface="方正兰亭黑简体" panose="02000000000000000000" pitchFamily="2" charset="-122"/>
                <a:sym typeface="+mn-lt"/>
              </a:rPr>
              <a:t>License</a:t>
            </a:r>
            <a:r>
              <a:rPr lang="zh-CN" altLang="en-US" sz="1400" dirty="0">
                <a:solidFill>
                  <a:prstClr val="black"/>
                </a:solidFill>
                <a:latin typeface="Huawei Sans" panose="020C0503030203020204" pitchFamily="34" charset="0"/>
                <a:ea typeface="方正兰亭黑简体" panose="02000000000000000000" pitchFamily="2" charset="-122"/>
                <a:sym typeface="+mn-lt"/>
              </a:rPr>
              <a:t>授权</a:t>
            </a:r>
            <a:r>
              <a:rPr lang="zh-CN" altLang="en-US" sz="1400" dirty="0" smtClean="0">
                <a:solidFill>
                  <a:prstClr val="black"/>
                </a:solidFill>
                <a:latin typeface="Huawei Sans" panose="020C0503030203020204" pitchFamily="34" charset="0"/>
                <a:ea typeface="方正兰亭黑简体" panose="02000000000000000000" pitchFamily="2" charset="-122"/>
                <a:sym typeface="+mn-lt"/>
              </a:rPr>
              <a:t>包</a:t>
            </a:r>
            <a:r>
              <a:rPr lang="zh-CN" altLang="en-US" sz="1400" dirty="0">
                <a:solidFill>
                  <a:prstClr val="black"/>
                </a:solidFill>
                <a:latin typeface="Huawei Sans" panose="020C0503030203020204" pitchFamily="34" charset="0"/>
                <a:ea typeface="方正兰亭黑简体" panose="02000000000000000000" pitchFamily="2" charset="-122"/>
                <a:sym typeface="+mn-lt"/>
              </a:rPr>
              <a:t>。</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77800" indent="-177800" algn="just" eaLnBrk="1" fontAlgn="auto" hangingPunct="1">
              <a:spcAft>
                <a:spcPts val="300"/>
              </a:spcAft>
              <a:buClrTx/>
              <a:buSzPct val="100000"/>
              <a:buFont typeface="Arial" panose="020B0604020202020204" pitchFamily="34" charset="0"/>
              <a:buChar char="•"/>
              <a:defRPr/>
            </a:pPr>
            <a:r>
              <a:rPr lang="zh-CN" altLang="en-US" sz="1400" dirty="0">
                <a:solidFill>
                  <a:prstClr val="black"/>
                </a:solidFill>
                <a:latin typeface="Huawei Sans" panose="020C0503030203020204" pitchFamily="34" charset="0"/>
                <a:ea typeface="方正兰亭黑简体" panose="02000000000000000000" pitchFamily="2" charset="-122"/>
                <a:sym typeface="+mn-lt"/>
              </a:rPr>
              <a:t>管理员在云管理平台上已对设备或设备组完成离线预</a:t>
            </a:r>
            <a:r>
              <a:rPr lang="zh-CN" altLang="en-US" sz="1400" dirty="0" smtClean="0">
                <a:solidFill>
                  <a:prstClr val="black"/>
                </a:solidFill>
                <a:latin typeface="Huawei Sans" panose="020C0503030203020204" pitchFamily="34" charset="0"/>
                <a:ea typeface="方正兰亭黑简体" panose="02000000000000000000" pitchFamily="2" charset="-122"/>
                <a:sym typeface="+mn-lt"/>
              </a:rPr>
              <a:t>配置。</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a:p>
            <a:pPr marL="177800" indent="-177800" algn="just" eaLnBrk="1" fontAlgn="auto" hangingPunct="1">
              <a:spcAft>
                <a:spcPts val="300"/>
              </a:spcAft>
              <a:buClrTx/>
              <a:buSzPct val="100000"/>
              <a:buFont typeface="Arial" panose="020B0604020202020204" pitchFamily="34" charset="0"/>
              <a:buChar char="•"/>
              <a:defRPr/>
            </a:pPr>
            <a:r>
              <a:rPr lang="zh-CN" altLang="en-US" sz="1400" dirty="0">
                <a:solidFill>
                  <a:prstClr val="black"/>
                </a:solidFill>
                <a:latin typeface="Huawei Sans" panose="020C0503030203020204" pitchFamily="34" charset="0"/>
                <a:ea typeface="方正兰亭黑简体" panose="02000000000000000000" pitchFamily="2" charset="-122"/>
                <a:sym typeface="+mn-lt"/>
              </a:rPr>
              <a:t>设备可以通过</a:t>
            </a:r>
            <a:r>
              <a:rPr lang="en-US" altLang="zh-CN" sz="1400" dirty="0">
                <a:solidFill>
                  <a:prstClr val="black"/>
                </a:solidFill>
                <a:latin typeface="Huawei Sans" panose="020C0503030203020204" pitchFamily="34" charset="0"/>
                <a:ea typeface="方正兰亭黑简体" panose="02000000000000000000" pitchFamily="2" charset="-122"/>
                <a:sym typeface="+mn-lt"/>
              </a:rPr>
              <a:t>DHCP Server</a:t>
            </a:r>
            <a:r>
              <a:rPr lang="zh-CN" altLang="en-US" sz="1400" dirty="0">
                <a:solidFill>
                  <a:prstClr val="black"/>
                </a:solidFill>
                <a:latin typeface="Huawei Sans" panose="020C0503030203020204" pitchFamily="34" charset="0"/>
                <a:ea typeface="方正兰亭黑简体" panose="02000000000000000000" pitchFamily="2" charset="-122"/>
                <a:sym typeface="+mn-lt"/>
              </a:rPr>
              <a:t>（由其他云盒设备担任或客户自行部署）获取到有效的</a:t>
            </a:r>
            <a:r>
              <a:rPr lang="en-US" altLang="zh-CN" sz="1400" dirty="0">
                <a:solidFill>
                  <a:prstClr val="black"/>
                </a:solidFill>
                <a:latin typeface="Huawei Sans" panose="020C0503030203020204" pitchFamily="34" charset="0"/>
                <a:ea typeface="方正兰亭黑简体" panose="02000000000000000000" pitchFamily="2" charset="-122"/>
                <a:sym typeface="+mn-lt"/>
              </a:rPr>
              <a:t>IP</a:t>
            </a:r>
            <a:r>
              <a:rPr lang="zh-CN" altLang="en-US" sz="1400" dirty="0">
                <a:solidFill>
                  <a:prstClr val="black"/>
                </a:solidFill>
                <a:latin typeface="Huawei Sans" panose="020C0503030203020204" pitchFamily="34" charset="0"/>
                <a:ea typeface="方正兰亭黑简体" panose="02000000000000000000" pitchFamily="2" charset="-122"/>
                <a:sym typeface="+mn-lt"/>
              </a:rPr>
              <a:t>地址、</a:t>
            </a:r>
            <a:r>
              <a:rPr lang="en-US" altLang="zh-CN" sz="1400" dirty="0">
                <a:solidFill>
                  <a:prstClr val="black"/>
                </a:solidFill>
                <a:latin typeface="Huawei Sans" panose="020C0503030203020204" pitchFamily="34" charset="0"/>
                <a:ea typeface="方正兰亭黑简体" panose="02000000000000000000" pitchFamily="2" charset="-122"/>
                <a:sym typeface="+mn-lt"/>
              </a:rPr>
              <a:t>DNS</a:t>
            </a:r>
            <a:r>
              <a:rPr lang="zh-CN" altLang="en-US" sz="1400" dirty="0">
                <a:solidFill>
                  <a:prstClr val="black"/>
                </a:solidFill>
                <a:latin typeface="Huawei Sans" panose="020C0503030203020204" pitchFamily="34" charset="0"/>
                <a:ea typeface="方正兰亭黑简体" panose="02000000000000000000" pitchFamily="2" charset="-122"/>
                <a:sym typeface="+mn-lt"/>
              </a:rPr>
              <a:t>服务，并且该地址具备与</a:t>
            </a:r>
            <a:r>
              <a:rPr lang="en-US" altLang="zh-CN" sz="1400" dirty="0">
                <a:solidFill>
                  <a:prstClr val="black"/>
                </a:solidFill>
                <a:latin typeface="Huawei Sans" panose="020C0503030203020204" pitchFamily="34" charset="0"/>
                <a:ea typeface="方正兰亭黑简体" panose="02000000000000000000" pitchFamily="2" charset="-122"/>
                <a:sym typeface="+mn-lt"/>
              </a:rPr>
              <a:t>Internet</a:t>
            </a:r>
            <a:r>
              <a:rPr lang="zh-CN" altLang="en-US" sz="1400" dirty="0">
                <a:solidFill>
                  <a:prstClr val="black"/>
                </a:solidFill>
                <a:latin typeface="Huawei Sans" panose="020C0503030203020204" pitchFamily="34" charset="0"/>
                <a:ea typeface="方正兰亭黑简体" panose="02000000000000000000" pitchFamily="2" charset="-122"/>
                <a:sym typeface="+mn-lt"/>
              </a:rPr>
              <a:t>通信的</a:t>
            </a:r>
            <a:r>
              <a:rPr lang="zh-CN" altLang="en-US" sz="1400" dirty="0" smtClean="0">
                <a:solidFill>
                  <a:prstClr val="black"/>
                </a:solidFill>
                <a:latin typeface="Huawei Sans" panose="020C0503030203020204" pitchFamily="34" charset="0"/>
                <a:ea typeface="方正兰亭黑简体" panose="02000000000000000000" pitchFamily="2" charset="-122"/>
                <a:sym typeface="+mn-lt"/>
              </a:rPr>
              <a:t>能力</a:t>
            </a:r>
            <a:r>
              <a:rPr lang="zh-CN" altLang="en-US" sz="1400" dirty="0">
                <a:solidFill>
                  <a:prstClr val="black"/>
                </a:solidFill>
                <a:latin typeface="Huawei Sans" panose="020C0503030203020204" pitchFamily="34" charset="0"/>
                <a:ea typeface="方正兰亭黑简体" panose="02000000000000000000" pitchFamily="2" charset="-122"/>
                <a:sym typeface="+mn-lt"/>
              </a:rPr>
              <a:t>。</a:t>
            </a:r>
            <a:endParaRPr lang="en-US" altLang="zh-CN" sz="1400" dirty="0">
              <a:solidFill>
                <a:prstClr val="black"/>
              </a:solidFill>
              <a:latin typeface="Huawei Sans" panose="020C0503030203020204" pitchFamily="34" charset="0"/>
              <a:ea typeface="方正兰亭黑简体" panose="02000000000000000000" pitchFamily="2" charset="-122"/>
              <a:sym typeface="+mn-lt"/>
            </a:endParaRPr>
          </a:p>
        </p:txBody>
      </p:sp>
      <p:grpSp>
        <p:nvGrpSpPr>
          <p:cNvPr id="47" name="Group 165"/>
          <p:cNvGrpSpPr/>
          <p:nvPr/>
        </p:nvGrpSpPr>
        <p:grpSpPr bwMode="gray">
          <a:xfrm rot="10800000">
            <a:off x="2864018" y="3683510"/>
            <a:ext cx="2297262" cy="668270"/>
            <a:chOff x="-1233037" y="914446"/>
            <a:chExt cx="1573823" cy="778776"/>
          </a:xfrm>
        </p:grpSpPr>
        <p:cxnSp>
          <p:nvCxnSpPr>
            <p:cNvPr id="48"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 name="任意多边形 51"/>
          <p:cNvSpPr/>
          <p:nvPr/>
        </p:nvSpPr>
        <p:spPr bwMode="gray">
          <a:xfrm>
            <a:off x="3498118" y="2917925"/>
            <a:ext cx="1145002" cy="76558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dirty="0" smtClean="0">
                <a:solidFill>
                  <a:schemeClr val="bg2">
                    <a:lumMod val="25000"/>
                  </a:schemeClr>
                </a:solidFill>
                <a:cs typeface="+mn-ea"/>
                <a:sym typeface="+mn-lt"/>
              </a:rPr>
              <a:t>Internet</a:t>
            </a:r>
            <a:endParaRPr lang="zh-CN" altLang="en-US" sz="1400" dirty="0">
              <a:solidFill>
                <a:schemeClr val="bg2">
                  <a:lumMod val="25000"/>
                </a:schemeClr>
              </a:solidFill>
              <a:cs typeface="+mn-ea"/>
              <a:sym typeface="+mn-lt"/>
            </a:endParaRPr>
          </a:p>
        </p:txBody>
      </p:sp>
      <p:pic>
        <p:nvPicPr>
          <p:cNvPr id="54" name="图片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5009781" y="4281189"/>
            <a:ext cx="446281" cy="365139"/>
          </a:xfrm>
          <a:prstGeom prst="rect">
            <a:avLst/>
          </a:prstGeom>
        </p:spPr>
      </p:pic>
      <p:cxnSp>
        <p:nvCxnSpPr>
          <p:cNvPr id="55" name="直接连接符 54"/>
          <p:cNvCxnSpPr/>
          <p:nvPr/>
        </p:nvCxnSpPr>
        <p:spPr bwMode="gray">
          <a:xfrm flipH="1">
            <a:off x="5232921" y="4648814"/>
            <a:ext cx="0" cy="3132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图片 56" descr="云AP蓝.png"/>
          <p:cNvPicPr>
            <a:picLocks noChangeAspect="1"/>
          </p:cNvPicPr>
          <p:nvPr/>
        </p:nvPicPr>
        <p:blipFill>
          <a:blip r:embed="rId5" cstate="print"/>
          <a:stretch>
            <a:fillRect/>
          </a:stretch>
        </p:blipFill>
        <p:spPr bwMode="gray">
          <a:xfrm>
            <a:off x="2550075" y="4281176"/>
            <a:ext cx="445946" cy="364865"/>
          </a:xfrm>
          <a:prstGeom prst="rect">
            <a:avLst/>
          </a:prstGeom>
        </p:spPr>
      </p:pic>
      <p:cxnSp>
        <p:nvCxnSpPr>
          <p:cNvPr id="39" name="Straight Connector 164"/>
          <p:cNvCxnSpPr/>
          <p:nvPr/>
        </p:nvCxnSpPr>
        <p:spPr bwMode="gray">
          <a:xfrm>
            <a:off x="4009541" y="1865046"/>
            <a:ext cx="853680"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95868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mn-lt"/>
              </a:rPr>
              <a:t>开局注册</a:t>
            </a:r>
            <a:endParaRPr lang="zh-CN" altLang="en-US" dirty="0">
              <a:sym typeface="+mn-lt"/>
            </a:endParaRPr>
          </a:p>
        </p:txBody>
      </p:sp>
      <p:sp>
        <p:nvSpPr>
          <p:cNvPr id="3" name="文本占位符 2"/>
          <p:cNvSpPr>
            <a:spLocks noGrp="1"/>
          </p:cNvSpPr>
          <p:nvPr>
            <p:ph type="body" sz="quarter" idx="10"/>
          </p:nvPr>
        </p:nvSpPr>
        <p:spPr>
          <a:xfrm>
            <a:off x="455612" y="1047751"/>
            <a:ext cx="11293475" cy="886352"/>
          </a:xfrm>
        </p:spPr>
        <p:txBody>
          <a:bodyPr/>
          <a:lstStyle/>
          <a:p>
            <a:r>
              <a:rPr lang="zh-CN" altLang="en-US" sz="1800" dirty="0" smtClean="0"/>
              <a:t>企业网络场景复杂，不同场景所要求的开局注册方式有所不同。华为设备支持多种开局注册方式，以适应复杂的组网要求。不同设备支持的开局注册方式不同，各类设备的开局注册方式如下表所示：</a:t>
            </a:r>
          </a:p>
          <a:p>
            <a:endParaRPr lang="zh-CN" altLang="en-US" sz="1800" dirty="0"/>
          </a:p>
        </p:txBody>
      </p:sp>
      <p:graphicFrame>
        <p:nvGraphicFramePr>
          <p:cNvPr id="49" name="表格 48"/>
          <p:cNvGraphicFramePr>
            <a:graphicFrameLocks noGrp="1"/>
          </p:cNvGraphicFramePr>
          <p:nvPr>
            <p:extLst>
              <p:ext uri="{D42A27DB-BD31-4B8C-83A1-F6EECF244321}">
                <p14:modId xmlns:p14="http://schemas.microsoft.com/office/powerpoint/2010/main" val="1480890097"/>
              </p:ext>
            </p:extLst>
          </p:nvPr>
        </p:nvGraphicFramePr>
        <p:xfrm>
          <a:off x="878998" y="2048404"/>
          <a:ext cx="10434003" cy="2317530"/>
        </p:xfrm>
        <a:graphic>
          <a:graphicData uri="http://schemas.openxmlformats.org/drawingml/2006/table">
            <a:tbl>
              <a:tblPr/>
              <a:tblGrid>
                <a:gridCol w="1023320"/>
                <a:gridCol w="1709231"/>
                <a:gridCol w="1903722"/>
                <a:gridCol w="1058715"/>
                <a:gridCol w="1261221"/>
                <a:gridCol w="1738897"/>
                <a:gridCol w="1738897"/>
              </a:tblGrid>
              <a:tr h="444494">
                <a:tc rowSpan="2">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zh-CN" altLang="en-US" sz="1400" b="1" i="0" u="none" strike="noStrike" dirty="0" smtClean="0">
                          <a:solidFill>
                            <a:schemeClr val="tx1"/>
                          </a:solidFill>
                          <a:latin typeface="+mn-lt"/>
                          <a:ea typeface="+mn-ea"/>
                          <a:cs typeface="+mn-ea"/>
                          <a:sym typeface="+mn-lt"/>
                        </a:rPr>
                        <a:t>设备</a:t>
                      </a:r>
                      <a:endParaRPr lang="zh-CN" altLang="en-US" sz="1400" b="1" i="0" u="none" strike="noStrike"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6">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zh-CN" altLang="en-US" sz="1400" b="1" i="0" u="none" strike="noStrike" dirty="0" smtClean="0">
                          <a:solidFill>
                            <a:schemeClr val="tx1"/>
                          </a:solidFill>
                          <a:latin typeface="+mn-lt"/>
                          <a:ea typeface="+mn-ea"/>
                          <a:cs typeface="+mn-ea"/>
                          <a:sym typeface="+mn-lt"/>
                        </a:rPr>
                        <a:t>开局注册方式</a:t>
                      </a:r>
                      <a:endParaRPr lang="zh-CN" altLang="en-US" sz="1400" b="1" i="0" u="none" strike="noStrike"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fontAlgn="ctr"/>
                      <a:endParaRPr lang="zh-CN" altLang="en-US" sz="1400" b="1" i="0" u="none" strike="noStrike" dirty="0">
                        <a:solidFill>
                          <a:srgbClr val="000000"/>
                        </a:solidFill>
                        <a:latin typeface="微软雅黑"/>
                      </a:endParaRPr>
                    </a:p>
                  </a:txBody>
                  <a:tcPr marL="9279" marR="9279" marT="9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447040">
                <a:tc vMerge="1">
                  <a:txBody>
                    <a:bodyPr/>
                    <a:lstStyle/>
                    <a:p>
                      <a:endParaRPr lang="zh-CN" altLang="en-US"/>
                    </a:p>
                  </a:txBody>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zh-CN" altLang="en-US" sz="1400" b="1" i="0" u="none" strike="noStrike" dirty="0" smtClean="0">
                          <a:solidFill>
                            <a:schemeClr val="tx1"/>
                          </a:solidFill>
                          <a:latin typeface="+mn-lt"/>
                          <a:ea typeface="+mn-ea"/>
                          <a:cs typeface="+mn-ea"/>
                          <a:sym typeface="+mn-lt"/>
                        </a:rPr>
                        <a:t>注册查询中心</a:t>
                      </a:r>
                      <a:endParaRPr lang="en-US" sz="1400" b="1" i="0" u="none" strike="noStrike"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en-US" sz="1400" b="1" i="0" u="none" strike="noStrike" dirty="0">
                          <a:solidFill>
                            <a:schemeClr val="tx1"/>
                          </a:solidFill>
                          <a:latin typeface="+mn-lt"/>
                          <a:ea typeface="+mn-ea"/>
                          <a:cs typeface="+mn-ea"/>
                          <a:sym typeface="+mn-lt"/>
                        </a:rPr>
                        <a:t>DHCP </a:t>
                      </a:r>
                      <a:r>
                        <a:rPr lang="en-US" sz="1400" b="1" i="0" u="none" strike="noStrike" dirty="0" smtClean="0">
                          <a:solidFill>
                            <a:schemeClr val="tx1"/>
                          </a:solidFill>
                          <a:latin typeface="+mn-lt"/>
                          <a:ea typeface="+mn-ea"/>
                          <a:cs typeface="+mn-ea"/>
                          <a:sym typeface="+mn-lt"/>
                        </a:rPr>
                        <a:t>Option</a:t>
                      </a:r>
                      <a:endParaRPr lang="en-US" sz="1400" b="1" i="0" u="none" strike="noStrike"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en-US" altLang="zh-CN" sz="1400" b="1" i="0" u="none" strike="noStrike" dirty="0" smtClean="0">
                          <a:solidFill>
                            <a:schemeClr val="tx1"/>
                          </a:solidFill>
                          <a:latin typeface="+mn-lt"/>
                          <a:ea typeface="+mn-ea"/>
                          <a:cs typeface="+mn-ea"/>
                          <a:sym typeface="+mn-lt"/>
                        </a:rPr>
                        <a:t>U</a:t>
                      </a:r>
                      <a:r>
                        <a:rPr lang="zh-CN" altLang="en-US" sz="1400" b="1" i="0" u="none" strike="noStrike" dirty="0" smtClean="0">
                          <a:solidFill>
                            <a:schemeClr val="tx1"/>
                          </a:solidFill>
                          <a:latin typeface="+mn-lt"/>
                          <a:ea typeface="+mn-ea"/>
                          <a:cs typeface="+mn-ea"/>
                          <a:sym typeface="+mn-lt"/>
                        </a:rPr>
                        <a:t>盘</a:t>
                      </a:r>
                      <a:endParaRPr lang="en-US" sz="1400" b="1" i="0" u="none" strike="noStrike"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zh-CN" altLang="en-US" sz="1400" b="1" i="0" u="none" strike="noStrike" dirty="0" smtClean="0">
                          <a:solidFill>
                            <a:schemeClr val="tx1"/>
                          </a:solidFill>
                          <a:latin typeface="+mn-lt"/>
                          <a:ea typeface="+mn-ea"/>
                          <a:cs typeface="+mn-ea"/>
                          <a:sym typeface="+mn-lt"/>
                        </a:rPr>
                        <a:t>手机</a:t>
                      </a:r>
                      <a:r>
                        <a:rPr lang="en-US" altLang="zh-CN" sz="1400" b="1" i="0" u="none" strike="noStrike" dirty="0" smtClean="0">
                          <a:solidFill>
                            <a:schemeClr val="tx1"/>
                          </a:solidFill>
                          <a:latin typeface="+mn-lt"/>
                          <a:ea typeface="+mn-ea"/>
                          <a:cs typeface="+mn-ea"/>
                          <a:sym typeface="+mn-lt"/>
                        </a:rPr>
                        <a:t>APP</a:t>
                      </a:r>
                      <a:endParaRPr lang="zh-CN" altLang="en-US" sz="1400" b="1" i="0" u="none" strike="noStrike"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en-US" altLang="zh-CN" sz="1400" b="1" i="0" u="none" strike="noStrike" dirty="0" smtClean="0">
                          <a:solidFill>
                            <a:schemeClr val="tx1"/>
                          </a:solidFill>
                          <a:latin typeface="+mn-lt"/>
                          <a:ea typeface="+mn-ea"/>
                          <a:cs typeface="+mn-ea"/>
                          <a:sym typeface="+mn-lt"/>
                        </a:rPr>
                        <a:t>WEB/CLI</a:t>
                      </a:r>
                      <a:endParaRPr lang="en-US" sz="1400" b="1" i="0" u="none" strike="noStrike"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zh-CN" altLang="en-US" sz="1400" b="1" i="0" u="none" strike="noStrike" dirty="0" smtClean="0">
                          <a:solidFill>
                            <a:schemeClr val="tx1"/>
                          </a:solidFill>
                          <a:latin typeface="+mn-lt"/>
                          <a:ea typeface="+mn-ea"/>
                          <a:cs typeface="+mn-ea"/>
                          <a:sym typeface="+mn-lt"/>
                        </a:rPr>
                        <a:t>邮件开局</a:t>
                      </a:r>
                      <a:endParaRPr lang="en-US" sz="1400" b="1" i="0" u="none" strike="noStrike"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356499">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en-US" altLang="zh-CN" sz="1400" b="0" i="0" u="none" strike="noStrike" dirty="0" smtClean="0">
                          <a:solidFill>
                            <a:schemeClr val="tx1"/>
                          </a:solidFill>
                          <a:latin typeface="+mn-lt"/>
                          <a:ea typeface="+mn-ea"/>
                          <a:cs typeface="+mn-ea"/>
                          <a:sym typeface="+mn-lt"/>
                        </a:rPr>
                        <a:t>AP</a:t>
                      </a:r>
                      <a:endParaRPr lang="zh-CN" altLang="en-US" sz="1400" b="0" i="0" u="none" strike="noStrike"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zh-CN" altLang="en-US" sz="1400" b="0" i="0" u="none" strike="noStrike"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31529"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en-US" altLang="zh-CN" sz="1400" b="0" i="0" u="none" strike="noStrike" dirty="0" smtClean="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56499">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en-US" altLang="zh-CN" sz="1400" b="0" i="0" u="none" strike="noStrike" dirty="0" smtClean="0">
                          <a:solidFill>
                            <a:schemeClr val="tx1"/>
                          </a:solidFill>
                          <a:latin typeface="+mn-lt"/>
                          <a:ea typeface="+mn-ea"/>
                          <a:cs typeface="+mn-ea"/>
                          <a:sym typeface="+mn-lt"/>
                        </a:rPr>
                        <a:t>FW</a:t>
                      </a:r>
                      <a:endParaRPr lang="zh-CN" altLang="en-US" sz="1400" b="0" i="0" u="none" strike="noStrike"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en-US" altLang="zh-CN" sz="1400" b="0" i="0" u="none" strike="noStrike" dirty="0" smtClean="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31529"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en-US" altLang="zh-CN" sz="1400" b="0" i="0" u="none" strike="noStrike"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en-US" altLang="zh-CN" sz="1400" b="0" i="0" u="none" strike="noStrike" dirty="0" smtClean="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56499">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en-US" altLang="zh-CN" sz="1400" b="0" i="0" u="none" strike="noStrike" dirty="0" smtClean="0">
                          <a:solidFill>
                            <a:schemeClr val="tx1"/>
                          </a:solidFill>
                          <a:latin typeface="+mn-lt"/>
                          <a:ea typeface="+mn-ea"/>
                          <a:cs typeface="+mn-ea"/>
                          <a:sym typeface="+mn-lt"/>
                        </a:rPr>
                        <a:t>SW</a:t>
                      </a:r>
                      <a:endParaRPr lang="zh-CN" altLang="en-US" sz="1400" b="0" i="0" u="none" strike="noStrike"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en-US" altLang="zh-CN" sz="1400" b="0" i="0" u="none" strike="noStrike"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zh-CN" altLang="en-US" sz="1400" b="0" i="0" u="none" strike="noStrike"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31529"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31529" rtl="0" eaLnBrk="1" fontAlgn="t" latinLnBrk="0" hangingPunct="1">
                        <a:lnSpc>
                          <a:spcPct val="100000"/>
                        </a:lnSpc>
                        <a:spcBef>
                          <a:spcPts val="0"/>
                        </a:spcBef>
                        <a:spcAft>
                          <a:spcPts val="0"/>
                        </a:spcAft>
                        <a:buClrTx/>
                        <a:buSzTx/>
                        <a:buFontTx/>
                        <a:buNone/>
                        <a:tabLst/>
                        <a:defRPr/>
                      </a:pPr>
                      <a:endParaRPr lang="en-US" altLang="zh-CN" sz="1400" b="0" i="0" u="none" strike="noStrike" dirty="0" smtClean="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56499">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ctr"/>
                      <a:r>
                        <a:rPr lang="en-US" altLang="zh-CN" sz="1400" b="0" i="0" u="none" strike="noStrike" dirty="0" smtClean="0">
                          <a:solidFill>
                            <a:schemeClr val="tx1"/>
                          </a:solidFill>
                          <a:latin typeface="+mn-lt"/>
                          <a:ea typeface="+mn-ea"/>
                          <a:cs typeface="+mn-ea"/>
                          <a:sym typeface="+mn-lt"/>
                        </a:rPr>
                        <a:t>AR</a:t>
                      </a:r>
                      <a:endParaRPr lang="zh-CN" altLang="en-US" sz="1400" b="0" i="0" u="none" strike="noStrike"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fontAlgn="t"/>
                      <a:endParaRPr lang="zh-CN" altLang="en-US" sz="1400" b="0" i="0" u="none" strike="noStrike"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400" b="0" i="0" u="none" strike="noStrike" dirty="0" smtClean="0">
                          <a:latin typeface="+mn-lt"/>
                          <a:ea typeface="+mn-ea"/>
                          <a:cs typeface="+mn-ea"/>
                          <a:sym typeface="+mn-lt"/>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9" name="文本占位符 2"/>
          <p:cNvSpPr txBox="1">
            <a:spLocks/>
          </p:cNvSpPr>
          <p:nvPr/>
        </p:nvSpPr>
        <p:spPr bwMode="auto">
          <a:xfrm>
            <a:off x="455612" y="4508811"/>
            <a:ext cx="11293475" cy="16919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同一网络中，处于不同位置的设备采用的开局注册方式也可能会有所不同。根据设备在网络中所处的位置不同，设备的开局注册通常分为两类：</a:t>
            </a:r>
          </a:p>
          <a:p>
            <a:pPr lvl="1"/>
            <a:r>
              <a:rPr lang="zh-CN" altLang="en-US" sz="1600" dirty="0"/>
              <a:t>出口网关的开局注册</a:t>
            </a:r>
          </a:p>
          <a:p>
            <a:pPr lvl="1"/>
            <a:r>
              <a:rPr lang="zh-CN" altLang="en-US" sz="1600" dirty="0"/>
              <a:t>内网（</a:t>
            </a:r>
            <a:r>
              <a:rPr lang="en-US" altLang="zh-CN" sz="1600" dirty="0"/>
              <a:t>LAN</a:t>
            </a:r>
            <a:r>
              <a:rPr lang="zh-CN" altLang="en-US" sz="1600" dirty="0"/>
              <a:t>侧）设备的开局注册</a:t>
            </a:r>
          </a:p>
        </p:txBody>
      </p:sp>
    </p:spTree>
    <p:extLst>
      <p:ext uri="{BB962C8B-B14F-4D97-AF65-F5344CB8AC3E}">
        <p14:creationId xmlns:p14="http://schemas.microsoft.com/office/powerpoint/2010/main" val="17940177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mn-lt"/>
              </a:rPr>
              <a:t>开局注册：出口网关</a:t>
            </a:r>
            <a:endParaRPr lang="zh-CN" altLang="en-US" dirty="0">
              <a:sym typeface="+mn-lt"/>
            </a:endParaRPr>
          </a:p>
        </p:txBody>
      </p:sp>
      <p:sp>
        <p:nvSpPr>
          <p:cNvPr id="3" name="文本占位符 2"/>
          <p:cNvSpPr>
            <a:spLocks noGrp="1"/>
          </p:cNvSpPr>
          <p:nvPr>
            <p:ph type="body" sz="quarter" idx="10"/>
          </p:nvPr>
        </p:nvSpPr>
        <p:spPr>
          <a:xfrm>
            <a:off x="455612" y="1047750"/>
            <a:ext cx="11293475" cy="2507213"/>
          </a:xfrm>
        </p:spPr>
        <p:txBody>
          <a:bodyPr/>
          <a:lstStyle/>
          <a:p>
            <a:r>
              <a:rPr lang="zh-CN" altLang="en-US" sz="1600" dirty="0" smtClean="0"/>
              <a:t>出口网关通常需要依赖运营商网络进行出口线路配置，因此，其开局方式相对比较复杂。</a:t>
            </a:r>
          </a:p>
          <a:p>
            <a:r>
              <a:rPr lang="en-US" altLang="zh-CN" sz="1600" dirty="0" smtClean="0"/>
              <a:t>CloudCampus</a:t>
            </a:r>
            <a:r>
              <a:rPr lang="zh-CN" altLang="en-US" sz="1600" dirty="0" smtClean="0"/>
              <a:t>方案中，</a:t>
            </a:r>
            <a:r>
              <a:rPr lang="en-US" altLang="zh-CN" sz="1600" dirty="0" smtClean="0"/>
              <a:t>AR</a:t>
            </a:r>
            <a:r>
              <a:rPr lang="zh-CN" altLang="en-US" sz="1600" dirty="0" smtClean="0"/>
              <a:t>、</a:t>
            </a:r>
            <a:r>
              <a:rPr lang="en-US" altLang="zh-CN" sz="1600" dirty="0" smtClean="0"/>
              <a:t>FW</a:t>
            </a:r>
            <a:r>
              <a:rPr lang="zh-CN" altLang="en-US" sz="1600" dirty="0" smtClean="0"/>
              <a:t>、</a:t>
            </a:r>
            <a:r>
              <a:rPr lang="en-US" altLang="zh-CN" sz="1600" dirty="0" smtClean="0"/>
              <a:t>AP</a:t>
            </a:r>
            <a:r>
              <a:rPr lang="zh-CN" altLang="en-US" sz="1600" dirty="0" smtClean="0"/>
              <a:t>都可以作为出口网关。</a:t>
            </a:r>
          </a:p>
          <a:p>
            <a:r>
              <a:rPr lang="zh-CN" altLang="en-US" sz="1600" dirty="0" smtClean="0"/>
              <a:t>不同场景下出口网关的开局方式有所不同，具体可以参考如下表格的推荐。</a:t>
            </a:r>
          </a:p>
          <a:p>
            <a:r>
              <a:rPr lang="zh-CN" altLang="en-US" sz="1600" dirty="0" smtClean="0"/>
              <a:t>现网存在</a:t>
            </a:r>
            <a:r>
              <a:rPr lang="en-US" altLang="zh-CN" sz="1600" dirty="0" smtClean="0"/>
              <a:t>DHCP Server</a:t>
            </a:r>
            <a:r>
              <a:rPr lang="zh-CN" altLang="en-US" sz="1600" dirty="0" smtClean="0"/>
              <a:t>时，需要</a:t>
            </a:r>
            <a:r>
              <a:rPr lang="en-US" altLang="zh-CN" sz="1600" dirty="0" smtClean="0"/>
              <a:t>DHCP Server</a:t>
            </a:r>
            <a:r>
              <a:rPr lang="zh-CN" altLang="en-US" sz="1600" dirty="0" smtClean="0"/>
              <a:t>支持</a:t>
            </a:r>
            <a:r>
              <a:rPr lang="en-US" altLang="zh-CN" sz="1600" dirty="0" smtClean="0"/>
              <a:t>Option148</a:t>
            </a:r>
            <a:r>
              <a:rPr lang="zh-CN" altLang="en-US" sz="1600" dirty="0" smtClean="0"/>
              <a:t>选项的配置，出口网关才能使用</a:t>
            </a:r>
            <a:r>
              <a:rPr lang="en-US" altLang="zh-CN" sz="1600" dirty="0" smtClean="0"/>
              <a:t>DHCP Option</a:t>
            </a:r>
            <a:r>
              <a:rPr lang="zh-CN" altLang="en-US" sz="1600" dirty="0" smtClean="0"/>
              <a:t>开局方式。</a:t>
            </a:r>
          </a:p>
          <a:p>
            <a:r>
              <a:rPr lang="en-US" altLang="zh-CN" sz="1600" dirty="0" smtClean="0"/>
              <a:t>LAN-WAN</a:t>
            </a:r>
            <a:r>
              <a:rPr lang="zh-CN" altLang="en-US" sz="1600" dirty="0" smtClean="0"/>
              <a:t>融合场景下，</a:t>
            </a:r>
            <a:r>
              <a:rPr lang="en-US" altLang="zh-CN" sz="1600" dirty="0" smtClean="0"/>
              <a:t>AR</a:t>
            </a:r>
            <a:r>
              <a:rPr lang="zh-CN" altLang="en-US" sz="1600" dirty="0" smtClean="0"/>
              <a:t>支持邮件开局、</a:t>
            </a:r>
            <a:r>
              <a:rPr lang="en-US" altLang="zh-CN" sz="1600" dirty="0" smtClean="0"/>
              <a:t>DHCP Option</a:t>
            </a:r>
            <a:r>
              <a:rPr lang="zh-CN" altLang="en-US" sz="1600" dirty="0" smtClean="0"/>
              <a:t>开局，但后者对</a:t>
            </a:r>
            <a:r>
              <a:rPr lang="en-US" altLang="zh-CN" sz="1600" dirty="0" smtClean="0"/>
              <a:t>DHCP Server</a:t>
            </a:r>
            <a:r>
              <a:rPr lang="zh-CN" altLang="en-US" sz="1600" dirty="0" smtClean="0"/>
              <a:t>有要求（需可配置</a:t>
            </a:r>
            <a:r>
              <a:rPr lang="en-US" altLang="zh-CN" sz="1600" dirty="0" smtClean="0"/>
              <a:t>DHCP Option148</a:t>
            </a:r>
            <a:r>
              <a:rPr lang="zh-CN" altLang="en-US" sz="1600" dirty="0" smtClean="0"/>
              <a:t>选项）。</a:t>
            </a:r>
          </a:p>
          <a:p>
            <a:endParaRPr lang="zh-CN" altLang="en-US" sz="1600" dirty="0"/>
          </a:p>
        </p:txBody>
      </p:sp>
      <p:graphicFrame>
        <p:nvGraphicFramePr>
          <p:cNvPr id="6" name="表格 5"/>
          <p:cNvGraphicFramePr>
            <a:graphicFrameLocks noGrp="1"/>
          </p:cNvGraphicFramePr>
          <p:nvPr>
            <p:extLst>
              <p:ext uri="{D42A27DB-BD31-4B8C-83A1-F6EECF244321}">
                <p14:modId xmlns:p14="http://schemas.microsoft.com/office/powerpoint/2010/main" val="1410872353"/>
              </p:ext>
            </p:extLst>
          </p:nvPr>
        </p:nvGraphicFramePr>
        <p:xfrm>
          <a:off x="1073070" y="3816116"/>
          <a:ext cx="10045860" cy="2133600"/>
        </p:xfrm>
        <a:graphic>
          <a:graphicData uri="http://schemas.openxmlformats.org/drawingml/2006/table">
            <a:tbl>
              <a:tblPr firstRow="1" firstCol="1" lastRow="1" lastCol="1" bandRow="1" bandCol="1"/>
              <a:tblGrid>
                <a:gridCol w="2628900"/>
                <a:gridCol w="2476937"/>
                <a:gridCol w="1633974"/>
                <a:gridCol w="1270437"/>
                <a:gridCol w="2035612"/>
              </a:tblGrid>
              <a:tr h="214681">
                <a:tc rowSpan="2" gridSpan="2">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algn="ctr">
                        <a:lnSpc>
                          <a:spcPct val="100000"/>
                        </a:lnSpc>
                        <a:spcBef>
                          <a:spcPts val="0"/>
                        </a:spcBef>
                        <a:spcAft>
                          <a:spcPts val="0"/>
                        </a:spcAft>
                      </a:pPr>
                      <a:r>
                        <a:rPr lang="zh-CN" altLang="en-US" sz="1400" b="1" dirty="0" smtClean="0">
                          <a:solidFill>
                            <a:schemeClr val="tx1"/>
                          </a:solidFill>
                          <a:effectLst/>
                          <a:latin typeface="+mn-lt"/>
                          <a:ea typeface="+mn-ea"/>
                          <a:cs typeface="+mn-ea"/>
                          <a:sym typeface="+mn-lt"/>
                        </a:rPr>
                        <a:t>组网</a:t>
                      </a:r>
                      <a:r>
                        <a:rPr lang="zh-CN" sz="1400" b="1" dirty="0" smtClean="0">
                          <a:solidFill>
                            <a:schemeClr val="tx1"/>
                          </a:solidFill>
                          <a:effectLst/>
                          <a:latin typeface="+mn-lt"/>
                          <a:ea typeface="+mn-ea"/>
                          <a:cs typeface="+mn-ea"/>
                          <a:sym typeface="+mn-lt"/>
                        </a:rPr>
                        <a:t>场景</a:t>
                      </a:r>
                      <a:endParaRPr lang="zh-CN" sz="1400" b="1"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hMerge="1">
                  <a:txBody>
                    <a:bodyPr/>
                    <a:lstStyle/>
                    <a:p>
                      <a:pPr algn="ctr">
                        <a:lnSpc>
                          <a:spcPts val="1200"/>
                        </a:lnSpc>
                        <a:spcBef>
                          <a:spcPts val="400"/>
                        </a:spcBef>
                        <a:spcAft>
                          <a:spcPts val="400"/>
                        </a:spcAft>
                      </a:pPr>
                      <a:endParaRPr lang="zh-CN" sz="1100" b="1" dirty="0">
                        <a:solidFill>
                          <a:srgbClr val="000000"/>
                        </a:solidFill>
                        <a:effectLst/>
                        <a:latin typeface="Book Antiqua" panose="02040602050305030304" pitchFamily="18" charset="0"/>
                        <a:ea typeface="黑体" panose="02010609060101010101" pitchFamily="49" charset="-122"/>
                        <a:cs typeface="Book Antiqua" panose="02040602050305030304" pitchFamily="18" charset="0"/>
                      </a:endParaRPr>
                    </a:p>
                  </a:txBody>
                  <a:tcPr marL="67687" marR="676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3">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sz="1400" b="1" kern="1200" dirty="0">
                          <a:solidFill>
                            <a:schemeClr val="tx1"/>
                          </a:solidFill>
                          <a:effectLst/>
                          <a:latin typeface="+mn-lt"/>
                          <a:ea typeface="+mn-ea"/>
                          <a:cs typeface="+mn-ea"/>
                          <a:sym typeface="+mn-lt"/>
                        </a:rPr>
                        <a:t>出口网关的推荐开局方式</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zh-CN" altLang="en-US"/>
                    </a:p>
                  </a:txBody>
                  <a:tcPr/>
                </a:tc>
                <a:tc hMerge="1">
                  <a:txBody>
                    <a:bodyPr/>
                    <a:lstStyle/>
                    <a:p>
                      <a:endParaRPr lang="zh-CN" altLang="en-US"/>
                    </a:p>
                  </a:txBody>
                  <a:tcPr/>
                </a:tc>
              </a:tr>
              <a:tr h="214681">
                <a:tc gridSpan="2" vMerge="1">
                  <a:txBody>
                    <a:bodyPr/>
                    <a:lstStyle/>
                    <a:p>
                      <a:endParaRPr lang="zh-CN" altLang="en-US"/>
                    </a:p>
                  </a:txBody>
                  <a:tcPr/>
                </a:tc>
                <a:tc hMerge="1" vMerge="1">
                  <a:txBody>
                    <a:bodyPr/>
                    <a:lstStyle/>
                    <a:p>
                      <a:endParaRPr lang="zh-CN" altLang="en-US"/>
                    </a:p>
                  </a:txBody>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en-US" sz="1400" b="1" kern="1200" dirty="0">
                          <a:solidFill>
                            <a:schemeClr val="tx1"/>
                          </a:solidFill>
                          <a:effectLst/>
                          <a:latin typeface="+mn-lt"/>
                          <a:ea typeface="+mn-ea"/>
                          <a:cs typeface="+mn-ea"/>
                          <a:sym typeface="+mn-lt"/>
                        </a:rPr>
                        <a:t>AR</a:t>
                      </a:r>
                      <a:endParaRPr lang="zh-CN" sz="1400" b="1"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ctr" defTabSz="914034" rtl="0" eaLnBrk="1" latinLnBrk="0" hangingPunct="1">
                        <a:lnSpc>
                          <a:spcPct val="100000"/>
                        </a:lnSpc>
                        <a:spcBef>
                          <a:spcPts val="0"/>
                        </a:spcBef>
                        <a:spcAft>
                          <a:spcPts val="0"/>
                        </a:spcAft>
                      </a:pPr>
                      <a:r>
                        <a:rPr lang="zh-CN" sz="1400" b="1" kern="1200" dirty="0">
                          <a:solidFill>
                            <a:schemeClr val="tx1"/>
                          </a:solidFill>
                          <a:effectLst/>
                          <a:latin typeface="+mn-lt"/>
                          <a:ea typeface="+mn-ea"/>
                          <a:cs typeface="+mn-ea"/>
                          <a:sym typeface="+mn-lt"/>
                        </a:rPr>
                        <a:t>防火墙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ctr" defTabSz="914034" rtl="0" eaLnBrk="1" latinLnBrk="0" hangingPunct="1">
                        <a:lnSpc>
                          <a:spcPct val="100000"/>
                        </a:lnSpc>
                        <a:spcBef>
                          <a:spcPts val="0"/>
                        </a:spcBef>
                        <a:spcAft>
                          <a:spcPts val="0"/>
                        </a:spcAft>
                      </a:pPr>
                      <a:r>
                        <a:rPr lang="en-US" sz="1400" b="1" kern="1200" dirty="0">
                          <a:solidFill>
                            <a:schemeClr val="tx1"/>
                          </a:solidFill>
                          <a:effectLst/>
                          <a:latin typeface="+mn-lt"/>
                          <a:ea typeface="+mn-ea"/>
                          <a:cs typeface="+mn-ea"/>
                          <a:sym typeface="+mn-lt"/>
                        </a:rPr>
                        <a:t>AP</a:t>
                      </a:r>
                      <a:endParaRPr lang="zh-CN" sz="1400" b="1"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263146">
                <a:tc rowSpan="2">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altLang="zh-CN" sz="1400" b="0" kern="1200" dirty="0" smtClean="0">
                          <a:solidFill>
                            <a:schemeClr val="tx1"/>
                          </a:solidFill>
                          <a:effectLst/>
                          <a:latin typeface="+mn-lt"/>
                          <a:ea typeface="+mn-ea"/>
                          <a:cs typeface="+mn-ea"/>
                          <a:sym typeface="+mn-lt"/>
                        </a:rPr>
                        <a:t>华为公有云部署</a:t>
                      </a:r>
                      <a:endParaRPr lang="zh-CN" sz="1400" b="0" kern="1200"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sz="1400" b="0" kern="1200" dirty="0" smtClean="0">
                          <a:solidFill>
                            <a:schemeClr val="tx1"/>
                          </a:solidFill>
                          <a:effectLst/>
                          <a:latin typeface="+mn-lt"/>
                          <a:ea typeface="+mn-ea"/>
                          <a:cs typeface="+mn-ea"/>
                          <a:sym typeface="+mn-lt"/>
                        </a:rPr>
                        <a:t>出口网关</a:t>
                      </a:r>
                      <a:r>
                        <a:rPr lang="zh-CN" altLang="en-US" sz="1400" b="0" kern="1200" dirty="0" smtClean="0">
                          <a:solidFill>
                            <a:schemeClr val="tx1"/>
                          </a:solidFill>
                          <a:effectLst/>
                          <a:latin typeface="+mn-lt"/>
                          <a:ea typeface="+mn-ea"/>
                          <a:cs typeface="+mn-ea"/>
                          <a:sym typeface="+mn-lt"/>
                        </a:rPr>
                        <a:t>不能自动获取</a:t>
                      </a:r>
                      <a:r>
                        <a:rPr lang="en-US" altLang="zh-CN" sz="1400" b="0" kern="1200" dirty="0" smtClean="0">
                          <a:solidFill>
                            <a:schemeClr val="tx1"/>
                          </a:solidFill>
                          <a:effectLst/>
                          <a:latin typeface="+mn-lt"/>
                          <a:ea typeface="+mn-ea"/>
                          <a:cs typeface="+mn-ea"/>
                          <a:sym typeface="+mn-lt"/>
                        </a:rPr>
                        <a:t>IP</a:t>
                      </a:r>
                      <a:r>
                        <a:rPr lang="zh-CN" altLang="en-US" sz="1400" b="0" kern="1200" dirty="0" smtClean="0">
                          <a:solidFill>
                            <a:schemeClr val="tx1"/>
                          </a:solidFill>
                          <a:effectLst/>
                          <a:latin typeface="+mn-lt"/>
                          <a:ea typeface="+mn-ea"/>
                          <a:cs typeface="+mn-ea"/>
                          <a:sym typeface="+mn-lt"/>
                        </a:rPr>
                        <a:t>地址</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Web</a:t>
                      </a:r>
                      <a:r>
                        <a:rPr lang="zh-CN" sz="1400" b="0" kern="1200" dirty="0">
                          <a:solidFill>
                            <a:schemeClr val="tx1"/>
                          </a:solidFill>
                          <a:effectLst/>
                          <a:latin typeface="+mn-lt"/>
                          <a:ea typeface="+mn-ea"/>
                          <a:cs typeface="+mn-ea"/>
                          <a:sym typeface="+mn-lt"/>
                        </a:rPr>
                        <a:t>网管开局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Web</a:t>
                      </a:r>
                      <a:r>
                        <a:rPr lang="zh-CN" sz="1400" b="0" kern="1200" dirty="0">
                          <a:solidFill>
                            <a:schemeClr val="tx1"/>
                          </a:solidFill>
                          <a:effectLst/>
                          <a:latin typeface="+mn-lt"/>
                          <a:ea typeface="+mn-ea"/>
                          <a:cs typeface="+mn-ea"/>
                          <a:sym typeface="+mn-lt"/>
                        </a:rPr>
                        <a:t>网管开局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CloudCampus </a:t>
                      </a:r>
                      <a:r>
                        <a:rPr lang="en-US" sz="1400" b="0" kern="1200" dirty="0" smtClean="0">
                          <a:solidFill>
                            <a:schemeClr val="tx1"/>
                          </a:solidFill>
                          <a:effectLst/>
                          <a:latin typeface="+mn-lt"/>
                          <a:ea typeface="+mn-ea"/>
                          <a:cs typeface="+mn-ea"/>
                          <a:sym typeface="+mn-lt"/>
                        </a:rPr>
                        <a:t>APP</a:t>
                      </a:r>
                      <a:r>
                        <a:rPr lang="zh-CN" sz="1400" b="0" kern="1200" dirty="0" smtClean="0">
                          <a:solidFill>
                            <a:schemeClr val="tx1"/>
                          </a:solidFill>
                          <a:effectLst/>
                          <a:latin typeface="+mn-lt"/>
                          <a:ea typeface="+mn-ea"/>
                          <a:cs typeface="+mn-ea"/>
                          <a:sym typeface="+mn-lt"/>
                        </a:rPr>
                        <a:t>开局</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63146">
                <a:tc vMerge="1">
                  <a:txBody>
                    <a:bodyPr/>
                    <a:lstStyle/>
                    <a:p>
                      <a:pPr>
                        <a:lnSpc>
                          <a:spcPts val="1200"/>
                        </a:lnSpc>
                        <a:spcBef>
                          <a:spcPts val="400"/>
                        </a:spcBef>
                        <a:spcAft>
                          <a:spcPts val="400"/>
                        </a:spcAft>
                      </a:pPr>
                      <a:endParaRPr lang="zh-CN" sz="11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txBody>
                  <a:tcPr marL="67687" marR="676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sz="1400" b="0" kern="1200" dirty="0" smtClean="0">
                          <a:solidFill>
                            <a:schemeClr val="tx1"/>
                          </a:solidFill>
                          <a:effectLst/>
                          <a:latin typeface="+mn-lt"/>
                          <a:ea typeface="+mn-ea"/>
                          <a:cs typeface="+mn-ea"/>
                          <a:sym typeface="+mn-lt"/>
                        </a:rPr>
                        <a:t>出口网关</a:t>
                      </a:r>
                      <a:r>
                        <a:rPr lang="zh-CN" altLang="en-US" sz="1400" b="0" kern="1200" dirty="0" smtClean="0">
                          <a:solidFill>
                            <a:schemeClr val="tx1"/>
                          </a:solidFill>
                          <a:effectLst/>
                          <a:latin typeface="+mn-lt"/>
                          <a:ea typeface="+mn-ea"/>
                          <a:cs typeface="+mn-ea"/>
                          <a:sym typeface="+mn-lt"/>
                        </a:rPr>
                        <a:t>可以自动获取</a:t>
                      </a:r>
                      <a:r>
                        <a:rPr lang="en-US" altLang="zh-CN" sz="1400" b="0" kern="1200" dirty="0" smtClean="0">
                          <a:solidFill>
                            <a:schemeClr val="tx1"/>
                          </a:solidFill>
                          <a:effectLst/>
                          <a:latin typeface="+mn-lt"/>
                          <a:ea typeface="+mn-ea"/>
                          <a:cs typeface="+mn-ea"/>
                          <a:sym typeface="+mn-lt"/>
                        </a:rPr>
                        <a:t>IP</a:t>
                      </a:r>
                      <a:r>
                        <a:rPr lang="zh-CN" altLang="en-US" sz="1400" b="0" kern="1200" dirty="0" smtClean="0">
                          <a:solidFill>
                            <a:schemeClr val="tx1"/>
                          </a:solidFill>
                          <a:effectLst/>
                          <a:latin typeface="+mn-lt"/>
                          <a:ea typeface="+mn-ea"/>
                          <a:cs typeface="+mn-ea"/>
                          <a:sym typeface="+mn-lt"/>
                        </a:rPr>
                        <a:t>地址</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sz="1400" b="0" kern="1200" dirty="0">
                          <a:solidFill>
                            <a:schemeClr val="tx1"/>
                          </a:solidFill>
                          <a:effectLst/>
                          <a:latin typeface="+mn-lt"/>
                          <a:ea typeface="+mn-ea"/>
                          <a:cs typeface="+mn-ea"/>
                          <a:sym typeface="+mn-lt"/>
                        </a:rPr>
                        <a:t>注册查询中心开局</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CN" altLang="en-US"/>
                    </a:p>
                  </a:txBody>
                  <a:tcPr/>
                </a:tc>
                <a:tc hMerge="1">
                  <a:txBody>
                    <a:bodyPr/>
                    <a:lstStyle/>
                    <a:p>
                      <a:endParaRPr lang="zh-CN" altLang="en-US"/>
                    </a:p>
                  </a:txBody>
                  <a:tcPr/>
                </a:tc>
              </a:tr>
              <a:tr h="258586">
                <a:tc rowSpan="2">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en-US" altLang="zh-CN"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自建云</a:t>
                      </a:r>
                      <a:r>
                        <a:rPr lang="zh-CN" altLang="zh-CN" sz="1400" b="0" kern="1200" dirty="0" smtClean="0">
                          <a:solidFill>
                            <a:schemeClr val="tx1"/>
                          </a:solidFill>
                          <a:effectLst/>
                          <a:latin typeface="+mn-lt"/>
                          <a:ea typeface="+mn-ea"/>
                          <a:cs typeface="+mn-ea"/>
                          <a:sym typeface="+mn-lt"/>
                        </a:rPr>
                        <a:t>部署</a:t>
                      </a:r>
                      <a:endParaRPr lang="zh-CN" sz="1400" b="0" kern="1200"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altLang="zh-CN" sz="1400" b="0" kern="1200" dirty="0" smtClean="0">
                          <a:solidFill>
                            <a:schemeClr val="tx1"/>
                          </a:solidFill>
                          <a:effectLst/>
                          <a:latin typeface="+mn-lt"/>
                          <a:ea typeface="+mn-ea"/>
                          <a:cs typeface="+mn-ea"/>
                          <a:sym typeface="+mn-lt"/>
                        </a:rPr>
                        <a:t>出口网关</a:t>
                      </a:r>
                      <a:r>
                        <a:rPr lang="zh-CN" altLang="en-US" sz="1400" b="0" kern="1200" dirty="0" smtClean="0">
                          <a:solidFill>
                            <a:schemeClr val="tx1"/>
                          </a:solidFill>
                          <a:effectLst/>
                          <a:latin typeface="+mn-lt"/>
                          <a:ea typeface="+mn-ea"/>
                          <a:cs typeface="+mn-ea"/>
                          <a:sym typeface="+mn-lt"/>
                        </a:rPr>
                        <a:t>不能自动获取</a:t>
                      </a:r>
                      <a:r>
                        <a:rPr lang="en-US" altLang="zh-CN" sz="1400" b="0" kern="1200" dirty="0" smtClean="0">
                          <a:solidFill>
                            <a:schemeClr val="tx1"/>
                          </a:solidFill>
                          <a:effectLst/>
                          <a:latin typeface="+mn-lt"/>
                          <a:ea typeface="+mn-ea"/>
                          <a:cs typeface="+mn-ea"/>
                          <a:sym typeface="+mn-lt"/>
                        </a:rPr>
                        <a:t>IP</a:t>
                      </a:r>
                      <a:r>
                        <a:rPr lang="zh-CN" altLang="en-US" sz="1400" b="0" kern="1200" dirty="0" smtClean="0">
                          <a:solidFill>
                            <a:schemeClr val="tx1"/>
                          </a:solidFill>
                          <a:effectLst/>
                          <a:latin typeface="+mn-lt"/>
                          <a:ea typeface="+mn-ea"/>
                          <a:cs typeface="+mn-ea"/>
                          <a:sym typeface="+mn-lt"/>
                        </a:rPr>
                        <a:t>地址</a:t>
                      </a:r>
                      <a:endParaRPr lang="zh-CN" alt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Web</a:t>
                      </a:r>
                      <a:r>
                        <a:rPr lang="zh-CN" sz="1400" b="0" kern="1200" dirty="0">
                          <a:solidFill>
                            <a:schemeClr val="tx1"/>
                          </a:solidFill>
                          <a:effectLst/>
                          <a:latin typeface="+mn-lt"/>
                          <a:ea typeface="+mn-ea"/>
                          <a:cs typeface="+mn-ea"/>
                          <a:sym typeface="+mn-lt"/>
                        </a:rPr>
                        <a:t>网管开局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Web</a:t>
                      </a:r>
                      <a:r>
                        <a:rPr lang="zh-CN" sz="1400" b="0" kern="1200" dirty="0">
                          <a:solidFill>
                            <a:schemeClr val="tx1"/>
                          </a:solidFill>
                          <a:effectLst/>
                          <a:latin typeface="+mn-lt"/>
                          <a:ea typeface="+mn-ea"/>
                          <a:cs typeface="+mn-ea"/>
                          <a:sym typeface="+mn-lt"/>
                        </a:rPr>
                        <a:t>网管开局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CloudCampus </a:t>
                      </a:r>
                      <a:r>
                        <a:rPr lang="en-US" sz="1400" b="0" kern="1200" dirty="0" smtClean="0">
                          <a:solidFill>
                            <a:schemeClr val="tx1"/>
                          </a:solidFill>
                          <a:effectLst/>
                          <a:latin typeface="+mn-lt"/>
                          <a:ea typeface="+mn-ea"/>
                          <a:cs typeface="+mn-ea"/>
                          <a:sym typeface="+mn-lt"/>
                        </a:rPr>
                        <a:t>APP</a:t>
                      </a:r>
                      <a:r>
                        <a:rPr lang="zh-CN" sz="1400" b="0" kern="1200" dirty="0" smtClean="0">
                          <a:solidFill>
                            <a:schemeClr val="tx1"/>
                          </a:solidFill>
                          <a:effectLst/>
                          <a:latin typeface="+mn-lt"/>
                          <a:ea typeface="+mn-ea"/>
                          <a:cs typeface="+mn-ea"/>
                          <a:sym typeface="+mn-lt"/>
                        </a:rPr>
                        <a:t>开局</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58586">
                <a:tc vMerge="1">
                  <a:txBody>
                    <a:bodyPr/>
                    <a:lstStyle/>
                    <a:p>
                      <a:pPr>
                        <a:lnSpc>
                          <a:spcPts val="1200"/>
                        </a:lnSpc>
                        <a:spcBef>
                          <a:spcPts val="400"/>
                        </a:spcBef>
                        <a:spcAft>
                          <a:spcPts val="400"/>
                        </a:spcAft>
                      </a:pPr>
                      <a:endParaRPr lang="zh-CN" sz="11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txBody>
                  <a:tcPr marL="67687" marR="676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altLang="zh-CN" sz="1400" b="0" kern="1200" dirty="0" smtClean="0">
                          <a:solidFill>
                            <a:schemeClr val="tx1"/>
                          </a:solidFill>
                          <a:effectLst/>
                          <a:latin typeface="+mn-lt"/>
                          <a:ea typeface="+mn-ea"/>
                          <a:cs typeface="+mn-ea"/>
                          <a:sym typeface="+mn-lt"/>
                        </a:rPr>
                        <a:t>出口网关</a:t>
                      </a:r>
                      <a:r>
                        <a:rPr lang="zh-CN" altLang="en-US" sz="1400" b="0" kern="1200" dirty="0" smtClean="0">
                          <a:solidFill>
                            <a:schemeClr val="tx1"/>
                          </a:solidFill>
                          <a:effectLst/>
                          <a:latin typeface="+mn-lt"/>
                          <a:ea typeface="+mn-ea"/>
                          <a:cs typeface="+mn-ea"/>
                          <a:sym typeface="+mn-lt"/>
                        </a:rPr>
                        <a:t>可以自动获取</a:t>
                      </a:r>
                      <a:r>
                        <a:rPr lang="en-US" altLang="zh-CN" sz="1400" b="0" kern="1200" dirty="0" smtClean="0">
                          <a:solidFill>
                            <a:schemeClr val="tx1"/>
                          </a:solidFill>
                          <a:effectLst/>
                          <a:latin typeface="+mn-lt"/>
                          <a:ea typeface="+mn-ea"/>
                          <a:cs typeface="+mn-ea"/>
                          <a:sym typeface="+mn-lt"/>
                        </a:rPr>
                        <a:t>IP</a:t>
                      </a:r>
                      <a:r>
                        <a:rPr lang="zh-CN" altLang="en-US" sz="1400" b="0" kern="1200" dirty="0" smtClean="0">
                          <a:solidFill>
                            <a:schemeClr val="tx1"/>
                          </a:solidFill>
                          <a:effectLst/>
                          <a:latin typeface="+mn-lt"/>
                          <a:ea typeface="+mn-ea"/>
                          <a:cs typeface="+mn-ea"/>
                          <a:sym typeface="+mn-lt"/>
                        </a:rPr>
                        <a:t>地址</a:t>
                      </a:r>
                      <a:endParaRPr lang="zh-CN" alt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DHCP </a:t>
                      </a:r>
                      <a:r>
                        <a:rPr lang="en-US" sz="1400" b="0" kern="1200" dirty="0" smtClean="0">
                          <a:solidFill>
                            <a:schemeClr val="tx1"/>
                          </a:solidFill>
                          <a:effectLst/>
                          <a:latin typeface="+mn-lt"/>
                          <a:ea typeface="+mn-ea"/>
                          <a:cs typeface="+mn-ea"/>
                          <a:sym typeface="+mn-lt"/>
                        </a:rPr>
                        <a:t>Option</a:t>
                      </a:r>
                      <a:r>
                        <a:rPr lang="zh-CN" sz="1400" b="0" kern="1200" dirty="0" smtClean="0">
                          <a:solidFill>
                            <a:schemeClr val="tx1"/>
                          </a:solidFill>
                          <a:effectLst/>
                          <a:latin typeface="+mn-lt"/>
                          <a:ea typeface="+mn-ea"/>
                          <a:cs typeface="+mn-ea"/>
                          <a:sym typeface="+mn-lt"/>
                        </a:rPr>
                        <a:t>开局</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Web</a:t>
                      </a:r>
                      <a:r>
                        <a:rPr lang="zh-CN" sz="1400" b="0" kern="1200" dirty="0">
                          <a:solidFill>
                            <a:schemeClr val="tx1"/>
                          </a:solidFill>
                          <a:effectLst/>
                          <a:latin typeface="+mn-lt"/>
                          <a:ea typeface="+mn-ea"/>
                          <a:cs typeface="+mn-ea"/>
                          <a:sym typeface="+mn-lt"/>
                        </a:rPr>
                        <a:t>网管开局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sz="1400" b="0" kern="1200" dirty="0">
                          <a:solidFill>
                            <a:schemeClr val="tx1"/>
                          </a:solidFill>
                          <a:effectLst/>
                          <a:latin typeface="+mn-lt"/>
                          <a:ea typeface="+mn-ea"/>
                          <a:cs typeface="+mn-ea"/>
                          <a:sym typeface="+mn-lt"/>
                        </a:rPr>
                        <a:t>DHCP </a:t>
                      </a:r>
                      <a:r>
                        <a:rPr lang="en-US" sz="1400" b="0" kern="1200" dirty="0" smtClean="0">
                          <a:solidFill>
                            <a:schemeClr val="tx1"/>
                          </a:solidFill>
                          <a:effectLst/>
                          <a:latin typeface="+mn-lt"/>
                          <a:ea typeface="+mn-ea"/>
                          <a:cs typeface="+mn-ea"/>
                          <a:sym typeface="+mn-lt"/>
                        </a:rPr>
                        <a:t>Option</a:t>
                      </a:r>
                      <a:r>
                        <a:rPr lang="zh-CN" sz="1400" b="0" kern="1200" dirty="0" smtClean="0">
                          <a:solidFill>
                            <a:schemeClr val="tx1"/>
                          </a:solidFill>
                          <a:effectLst/>
                          <a:latin typeface="+mn-lt"/>
                          <a:ea typeface="+mn-ea"/>
                          <a:cs typeface="+mn-ea"/>
                          <a:sym typeface="+mn-lt"/>
                        </a:rPr>
                        <a:t>开局</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58586">
                <a:tc gridSpan="2">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en-US" altLang="zh-CN" sz="1400" b="0" kern="1200" dirty="0" smtClean="0">
                          <a:solidFill>
                            <a:schemeClr val="tx1"/>
                          </a:solidFill>
                          <a:effectLst/>
                          <a:latin typeface="+mn-lt"/>
                          <a:ea typeface="+mn-ea"/>
                          <a:cs typeface="+mn-ea"/>
                          <a:sym typeface="+mn-lt"/>
                        </a:rPr>
                        <a:t>LAN-WAN</a:t>
                      </a:r>
                      <a:r>
                        <a:rPr lang="zh-CN" altLang="en-US" sz="1400" b="0" kern="1200" dirty="0" smtClean="0">
                          <a:solidFill>
                            <a:schemeClr val="tx1"/>
                          </a:solidFill>
                          <a:effectLst/>
                          <a:latin typeface="+mn-lt"/>
                          <a:ea typeface="+mn-ea"/>
                          <a:cs typeface="+mn-ea"/>
                          <a:sym typeface="+mn-lt"/>
                        </a:rPr>
                        <a:t>融合场景（即出口网关需要部署</a:t>
                      </a:r>
                      <a:r>
                        <a:rPr lang="en-US" altLang="zh-CN" sz="1400" b="0" kern="1200" dirty="0" smtClean="0">
                          <a:solidFill>
                            <a:schemeClr val="tx1"/>
                          </a:solidFill>
                          <a:effectLst/>
                          <a:latin typeface="+mn-lt"/>
                          <a:ea typeface="+mn-ea"/>
                          <a:cs typeface="+mn-ea"/>
                          <a:sym typeface="+mn-lt"/>
                        </a:rPr>
                        <a:t>SD-WAN</a:t>
                      </a:r>
                      <a:r>
                        <a:rPr lang="zh-CN" altLang="en-US" sz="1400" b="0" kern="1200" dirty="0" smtClean="0">
                          <a:solidFill>
                            <a:schemeClr val="tx1"/>
                          </a:solidFill>
                          <a:effectLst/>
                          <a:latin typeface="+mn-lt"/>
                          <a:ea typeface="+mn-ea"/>
                          <a:cs typeface="+mn-ea"/>
                          <a:sym typeface="+mn-lt"/>
                        </a:rPr>
                        <a:t>功能）</a:t>
                      </a:r>
                      <a:endParaRPr lang="zh-CN" sz="1400" b="0" kern="1200"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nSpc>
                          <a:spcPts val="1200"/>
                        </a:lnSpc>
                        <a:spcBef>
                          <a:spcPts val="400"/>
                        </a:spcBef>
                        <a:spcAft>
                          <a:spcPts val="400"/>
                        </a:spcAft>
                      </a:pPr>
                      <a:endParaRPr lang="zh-CN" sz="11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txBody>
                  <a:tcPr marL="67687" marR="676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lvl1pPr marL="0" algn="l" defTabSz="914034" rtl="0" eaLnBrk="1" latinLnBrk="0" hangingPunct="1">
                        <a:defRPr sz="1799" kern="1200">
                          <a:solidFill>
                            <a:schemeClr val="tx1"/>
                          </a:solidFill>
                          <a:latin typeface="FrutigerNext LT Medium"/>
                          <a:ea typeface="华文细黑"/>
                          <a:cs typeface="宋体"/>
                        </a:defRPr>
                      </a:lvl1pPr>
                      <a:lvl2pPr marL="457017" algn="l" defTabSz="914034" rtl="0" eaLnBrk="1" latinLnBrk="0" hangingPunct="1">
                        <a:defRPr sz="1799" kern="1200">
                          <a:solidFill>
                            <a:schemeClr val="tx1"/>
                          </a:solidFill>
                          <a:latin typeface="FrutigerNext LT Medium"/>
                          <a:ea typeface="华文细黑"/>
                          <a:cs typeface="宋体"/>
                        </a:defRPr>
                      </a:lvl2pPr>
                      <a:lvl3pPr marL="914034" algn="l" defTabSz="914034" rtl="0" eaLnBrk="1" latinLnBrk="0" hangingPunct="1">
                        <a:defRPr sz="1799" kern="1200">
                          <a:solidFill>
                            <a:schemeClr val="tx1"/>
                          </a:solidFill>
                          <a:latin typeface="FrutigerNext LT Medium"/>
                          <a:ea typeface="华文细黑"/>
                          <a:cs typeface="宋体"/>
                        </a:defRPr>
                      </a:lvl3pPr>
                      <a:lvl4pPr marL="1371051" algn="l" defTabSz="914034" rtl="0" eaLnBrk="1" latinLnBrk="0" hangingPunct="1">
                        <a:defRPr sz="1799" kern="1200">
                          <a:solidFill>
                            <a:schemeClr val="tx1"/>
                          </a:solidFill>
                          <a:latin typeface="FrutigerNext LT Medium"/>
                          <a:ea typeface="华文细黑"/>
                          <a:cs typeface="宋体"/>
                        </a:defRPr>
                      </a:lvl4pPr>
                      <a:lvl5pPr marL="1828068" algn="l" defTabSz="914034" rtl="0" eaLnBrk="1" latinLnBrk="0" hangingPunct="1">
                        <a:defRPr sz="1799" kern="1200">
                          <a:solidFill>
                            <a:schemeClr val="tx1"/>
                          </a:solidFill>
                          <a:latin typeface="FrutigerNext LT Medium"/>
                          <a:ea typeface="华文细黑"/>
                          <a:cs typeface="宋体"/>
                        </a:defRPr>
                      </a:lvl5pPr>
                      <a:lvl6pPr marL="2285086" algn="l" defTabSz="914034" rtl="0" eaLnBrk="1" latinLnBrk="0" hangingPunct="1">
                        <a:defRPr sz="1799" kern="1200">
                          <a:solidFill>
                            <a:schemeClr val="tx1"/>
                          </a:solidFill>
                          <a:latin typeface="FrutigerNext LT Medium"/>
                          <a:ea typeface="华文细黑"/>
                          <a:cs typeface="宋体"/>
                        </a:defRPr>
                      </a:lvl6pPr>
                      <a:lvl7pPr marL="2742103" algn="l" defTabSz="914034" rtl="0" eaLnBrk="1" latinLnBrk="0" hangingPunct="1">
                        <a:defRPr sz="1799" kern="1200">
                          <a:solidFill>
                            <a:schemeClr val="tx1"/>
                          </a:solidFill>
                          <a:latin typeface="FrutigerNext LT Medium"/>
                          <a:ea typeface="华文细黑"/>
                          <a:cs typeface="宋体"/>
                        </a:defRPr>
                      </a:lvl7pPr>
                      <a:lvl8pPr marL="3199120" algn="l" defTabSz="914034" rtl="0" eaLnBrk="1" latinLnBrk="0" hangingPunct="1">
                        <a:defRPr sz="1799" kern="1200">
                          <a:solidFill>
                            <a:schemeClr val="tx1"/>
                          </a:solidFill>
                          <a:latin typeface="FrutigerNext LT Medium"/>
                          <a:ea typeface="华文细黑"/>
                          <a:cs typeface="宋体"/>
                        </a:defRPr>
                      </a:lvl8pPr>
                      <a:lvl9pPr marL="3656137" algn="l" defTabSz="914034" rtl="0" eaLnBrk="1" latinLnBrk="0" hangingPunct="1">
                        <a:defRPr sz="1799" kern="1200">
                          <a:solidFill>
                            <a:schemeClr val="tx1"/>
                          </a:solidFill>
                          <a:latin typeface="FrutigerNext LT Medium"/>
                          <a:ea typeface="华文细黑"/>
                          <a:cs typeface="宋体"/>
                        </a:defRPr>
                      </a:lvl9pPr>
                    </a:lstStyle>
                    <a:p>
                      <a:pPr marL="0" algn="ctr" defTabSz="914034" rtl="0" eaLnBrk="1" latinLnBrk="0" hangingPunct="1">
                        <a:lnSpc>
                          <a:spcPct val="100000"/>
                        </a:lnSpc>
                        <a:spcBef>
                          <a:spcPts val="0"/>
                        </a:spcBef>
                        <a:spcAft>
                          <a:spcPts val="0"/>
                        </a:spcAft>
                      </a:pPr>
                      <a:r>
                        <a:rPr lang="zh-CN" altLang="en-US" sz="1400" b="0" kern="1200" dirty="0" smtClean="0">
                          <a:solidFill>
                            <a:schemeClr val="tx1"/>
                          </a:solidFill>
                          <a:effectLst/>
                          <a:latin typeface="+mn-lt"/>
                          <a:ea typeface="+mn-ea"/>
                          <a:cs typeface="+mn-ea"/>
                          <a:sym typeface="+mn-lt"/>
                        </a:rPr>
                        <a:t>邮件开局</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altLang="zh-CN" sz="1400" b="0" kern="1200" dirty="0" smtClean="0">
                          <a:solidFill>
                            <a:schemeClr val="tx1"/>
                          </a:solidFill>
                          <a:effectLst/>
                          <a:latin typeface="+mn-lt"/>
                          <a:ea typeface="+mn-ea"/>
                          <a:cs typeface="+mn-ea"/>
                          <a:sym typeface="+mn-lt"/>
                        </a:rPr>
                        <a:t>---</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altLang="zh-CN" sz="1400" b="0" kern="1200" dirty="0" smtClean="0">
                          <a:solidFill>
                            <a:schemeClr val="tx1"/>
                          </a:solidFill>
                          <a:effectLst/>
                          <a:latin typeface="+mn-lt"/>
                          <a:ea typeface="+mn-ea"/>
                          <a:cs typeface="+mn-ea"/>
                          <a:sym typeface="+mn-lt"/>
                        </a:rPr>
                        <a:t>---</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642402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mn-lt"/>
              </a:rPr>
              <a:t>开局注册：内网 </a:t>
            </a:r>
            <a:r>
              <a:rPr lang="en-US" altLang="zh-CN" smtClean="0">
                <a:sym typeface="+mn-lt"/>
              </a:rPr>
              <a:t>(LAN</a:t>
            </a:r>
            <a:r>
              <a:rPr lang="zh-CN" altLang="en-US" smtClean="0">
                <a:sym typeface="+mn-lt"/>
              </a:rPr>
              <a:t>侧</a:t>
            </a:r>
            <a:r>
              <a:rPr lang="en-US" altLang="zh-CN" smtClean="0">
                <a:sym typeface="+mn-lt"/>
              </a:rPr>
              <a:t>)</a:t>
            </a:r>
            <a:r>
              <a:rPr lang="zh-CN" altLang="en-US" smtClean="0">
                <a:sym typeface="+mn-lt"/>
              </a:rPr>
              <a:t>设备</a:t>
            </a:r>
            <a:endParaRPr lang="zh-CN" altLang="en-US" dirty="0">
              <a:sym typeface="+mn-lt"/>
            </a:endParaRPr>
          </a:p>
        </p:txBody>
      </p:sp>
      <p:sp>
        <p:nvSpPr>
          <p:cNvPr id="3" name="文本占位符 2"/>
          <p:cNvSpPr>
            <a:spLocks noGrp="1"/>
          </p:cNvSpPr>
          <p:nvPr>
            <p:ph type="body" sz="quarter" idx="10"/>
          </p:nvPr>
        </p:nvSpPr>
        <p:spPr>
          <a:xfrm>
            <a:off x="455612" y="1047751"/>
            <a:ext cx="11293475" cy="1322226"/>
          </a:xfrm>
        </p:spPr>
        <p:txBody>
          <a:bodyPr/>
          <a:lstStyle/>
          <a:p>
            <a:r>
              <a:rPr lang="en-US" altLang="zh-CN" sz="1600" dirty="0" smtClean="0"/>
              <a:t>LAN</a:t>
            </a:r>
            <a:r>
              <a:rPr lang="zh-CN" altLang="en-US" sz="1600" dirty="0" smtClean="0"/>
              <a:t>侧网络指的是出口网关以下的网络，主要指</a:t>
            </a:r>
            <a:r>
              <a:rPr lang="en-US" altLang="zh-CN" sz="1600" dirty="0" smtClean="0"/>
              <a:t>LSW</a:t>
            </a:r>
            <a:r>
              <a:rPr lang="zh-CN" altLang="en-US" sz="1600" dirty="0" smtClean="0"/>
              <a:t>和</a:t>
            </a:r>
            <a:r>
              <a:rPr lang="en-US" altLang="zh-CN" sz="1600" dirty="0" smtClean="0"/>
              <a:t>AP</a:t>
            </a:r>
            <a:r>
              <a:rPr lang="zh-CN" altLang="en-US" sz="1600" dirty="0" smtClean="0"/>
              <a:t>等。</a:t>
            </a:r>
          </a:p>
          <a:p>
            <a:r>
              <a:rPr lang="zh-CN" altLang="en-US" sz="1600" dirty="0" smtClean="0"/>
              <a:t>在公有云部署场景中，推荐使用华为注册查询方式开局。</a:t>
            </a:r>
          </a:p>
          <a:p>
            <a:r>
              <a:rPr lang="zh-CN" altLang="en-US" sz="1600" dirty="0" smtClean="0"/>
              <a:t>对于不想将设备信息同步给注册查询中心的企业，也可以采用</a:t>
            </a:r>
            <a:r>
              <a:rPr lang="en-US" altLang="zh-CN" sz="1600" dirty="0" smtClean="0"/>
              <a:t>DHCP Option</a:t>
            </a:r>
            <a:r>
              <a:rPr lang="zh-CN" altLang="en-US" sz="1600" dirty="0" smtClean="0"/>
              <a:t>开局方式。</a:t>
            </a:r>
          </a:p>
          <a:p>
            <a:endParaRPr lang="zh-CN" altLang="en-US" sz="1600" dirty="0"/>
          </a:p>
        </p:txBody>
      </p:sp>
      <p:graphicFrame>
        <p:nvGraphicFramePr>
          <p:cNvPr id="6" name="表格 5"/>
          <p:cNvGraphicFramePr>
            <a:graphicFrameLocks noGrp="1"/>
          </p:cNvGraphicFramePr>
          <p:nvPr>
            <p:extLst>
              <p:ext uri="{D42A27DB-BD31-4B8C-83A1-F6EECF244321}">
                <p14:modId xmlns:p14="http://schemas.microsoft.com/office/powerpoint/2010/main" val="1902196637"/>
              </p:ext>
            </p:extLst>
          </p:nvPr>
        </p:nvGraphicFramePr>
        <p:xfrm>
          <a:off x="1054885" y="2642993"/>
          <a:ext cx="9792654" cy="2435353"/>
        </p:xfrm>
        <a:graphic>
          <a:graphicData uri="http://schemas.openxmlformats.org/drawingml/2006/table">
            <a:tbl>
              <a:tblPr firstRow="1" firstCol="1" lastRow="1" lastCol="1" bandRow="1" bandCol="1"/>
              <a:tblGrid>
                <a:gridCol w="1946966"/>
                <a:gridCol w="3376890"/>
                <a:gridCol w="1707173"/>
                <a:gridCol w="2761625"/>
              </a:tblGrid>
              <a:tr h="356214">
                <a:tc rowSpan="2" gridSpan="2">
                  <a:txBody>
                    <a:bodyPr/>
                    <a:lstStyle/>
                    <a:p>
                      <a:pPr marL="0" algn="ctr" defTabSz="914034" rtl="0" eaLnBrk="1" latinLnBrk="0" hangingPunct="1">
                        <a:lnSpc>
                          <a:spcPct val="100000"/>
                        </a:lnSpc>
                        <a:spcBef>
                          <a:spcPts val="0"/>
                        </a:spcBef>
                        <a:spcAft>
                          <a:spcPts val="0"/>
                        </a:spcAft>
                      </a:pPr>
                      <a:r>
                        <a:rPr lang="zh-CN" altLang="en-US" sz="1400" b="1" kern="1200" dirty="0" smtClean="0">
                          <a:solidFill>
                            <a:schemeClr val="tx1"/>
                          </a:solidFill>
                          <a:effectLst/>
                          <a:latin typeface="+mn-lt"/>
                          <a:ea typeface="+mn-ea"/>
                          <a:cs typeface="+mn-ea"/>
                          <a:sym typeface="+mn-lt"/>
                        </a:rPr>
                        <a:t>组网</a:t>
                      </a:r>
                      <a:r>
                        <a:rPr lang="zh-CN" sz="1400" b="1" kern="1200" dirty="0" smtClean="0">
                          <a:solidFill>
                            <a:schemeClr val="tx1"/>
                          </a:solidFill>
                          <a:effectLst/>
                          <a:latin typeface="+mn-lt"/>
                          <a:ea typeface="+mn-ea"/>
                          <a:cs typeface="+mn-ea"/>
                          <a:sym typeface="+mn-lt"/>
                        </a:rPr>
                        <a:t>场景</a:t>
                      </a:r>
                      <a:endParaRPr lang="zh-CN" sz="1400" b="1" kern="1200"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hMerge="1">
                  <a:txBody>
                    <a:bodyPr/>
                    <a:lstStyle/>
                    <a:p>
                      <a:pPr algn="ctr">
                        <a:lnSpc>
                          <a:spcPts val="1200"/>
                        </a:lnSpc>
                        <a:spcBef>
                          <a:spcPts val="400"/>
                        </a:spcBef>
                        <a:spcAft>
                          <a:spcPts val="400"/>
                        </a:spcAft>
                      </a:pPr>
                      <a:endParaRPr lang="zh-CN" sz="1100" b="1" dirty="0">
                        <a:solidFill>
                          <a:srgbClr val="000000"/>
                        </a:solidFill>
                        <a:effectLst/>
                        <a:latin typeface="Book Antiqua" panose="02040602050305030304" pitchFamily="18" charset="0"/>
                        <a:ea typeface="黑体" panose="02010609060101010101" pitchFamily="49" charset="-122"/>
                        <a:cs typeface="Book Antiqua" panose="02040602050305030304" pitchFamily="18" charset="0"/>
                      </a:endParaRPr>
                    </a:p>
                  </a:txBody>
                  <a:tcPr marL="67687" marR="676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2">
                  <a:txBody>
                    <a:bodyPr/>
                    <a:lstStyle/>
                    <a:p>
                      <a:pPr marL="0" algn="ctr" defTabSz="914034" rtl="0" eaLnBrk="1" latinLnBrk="0" hangingPunct="1">
                        <a:lnSpc>
                          <a:spcPct val="100000"/>
                        </a:lnSpc>
                        <a:spcBef>
                          <a:spcPts val="0"/>
                        </a:spcBef>
                        <a:spcAft>
                          <a:spcPts val="0"/>
                        </a:spcAft>
                      </a:pPr>
                      <a:r>
                        <a:rPr lang="en-US" altLang="zh-CN" sz="1400" b="1" kern="1200" dirty="0" smtClean="0">
                          <a:solidFill>
                            <a:schemeClr val="tx1"/>
                          </a:solidFill>
                          <a:effectLst/>
                          <a:latin typeface="+mn-lt"/>
                          <a:ea typeface="+mn-ea"/>
                          <a:cs typeface="+mn-ea"/>
                          <a:sym typeface="+mn-lt"/>
                        </a:rPr>
                        <a:t>LAN</a:t>
                      </a:r>
                      <a:r>
                        <a:rPr lang="zh-CN" altLang="en-US" sz="1400" b="1" kern="1200" dirty="0" smtClean="0">
                          <a:solidFill>
                            <a:schemeClr val="tx1"/>
                          </a:solidFill>
                          <a:effectLst/>
                          <a:latin typeface="+mn-lt"/>
                          <a:ea typeface="+mn-ea"/>
                          <a:cs typeface="+mn-ea"/>
                          <a:sym typeface="+mn-lt"/>
                        </a:rPr>
                        <a:t>侧设备开局方式</a:t>
                      </a:r>
                      <a:endParaRPr lang="zh-CN" sz="1400" b="1"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zh-CN" altLang="en-US"/>
                    </a:p>
                  </a:txBody>
                  <a:tcPr/>
                </a:tc>
              </a:tr>
              <a:tr h="351139">
                <a:tc gridSpan="2" vMerge="1">
                  <a:txBody>
                    <a:bodyPr/>
                    <a:lstStyle/>
                    <a:p>
                      <a:endParaRPr lang="zh-CN" altLang="en-US"/>
                    </a:p>
                  </a:txBody>
                  <a:tcPr/>
                </a:tc>
                <a:tc hMerge="1" vMerge="1">
                  <a:txBody>
                    <a:bodyPr/>
                    <a:lstStyle/>
                    <a:p>
                      <a:endParaRPr lang="zh-CN" altLang="en-US"/>
                    </a:p>
                  </a:txBody>
                  <a:tcPr/>
                </a:tc>
                <a:tc>
                  <a:txBody>
                    <a:bodyPr/>
                    <a:lstStyle/>
                    <a:p>
                      <a:pPr marL="0" algn="ctr" defTabSz="914034" rtl="0" eaLnBrk="1" latinLnBrk="0" hangingPunct="1">
                        <a:lnSpc>
                          <a:spcPct val="100000"/>
                        </a:lnSpc>
                        <a:spcBef>
                          <a:spcPts val="0"/>
                        </a:spcBef>
                        <a:spcAft>
                          <a:spcPts val="0"/>
                        </a:spcAft>
                      </a:pPr>
                      <a:r>
                        <a:rPr lang="en-US" altLang="zh-CN" sz="1400" b="1" kern="1200" dirty="0" smtClean="0">
                          <a:solidFill>
                            <a:schemeClr val="tx1"/>
                          </a:solidFill>
                          <a:effectLst/>
                          <a:latin typeface="+mn-lt"/>
                          <a:ea typeface="+mn-ea"/>
                          <a:cs typeface="+mn-ea"/>
                          <a:sym typeface="+mn-lt"/>
                        </a:rPr>
                        <a:t>LSW</a:t>
                      </a:r>
                      <a:endParaRPr lang="zh-CN" sz="1400" b="1"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ctr" defTabSz="914034" rtl="0" eaLnBrk="1" latinLnBrk="0" hangingPunct="1">
                        <a:lnSpc>
                          <a:spcPct val="100000"/>
                        </a:lnSpc>
                        <a:spcBef>
                          <a:spcPts val="0"/>
                        </a:spcBef>
                        <a:spcAft>
                          <a:spcPts val="0"/>
                        </a:spcAft>
                      </a:pPr>
                      <a:r>
                        <a:rPr lang="en-US" altLang="zh-CN" sz="1400" b="1" kern="1200" dirty="0" smtClean="0">
                          <a:solidFill>
                            <a:schemeClr val="tx1"/>
                          </a:solidFill>
                          <a:effectLst/>
                          <a:latin typeface="+mn-lt"/>
                          <a:ea typeface="+mn-ea"/>
                          <a:cs typeface="+mn-ea"/>
                          <a:sym typeface="+mn-lt"/>
                        </a:rPr>
                        <a:t>AP</a:t>
                      </a:r>
                      <a:endParaRPr lang="zh-CN" sz="1400" b="1"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432000">
                <a:tc rowSpan="2">
                  <a:txBody>
                    <a:bodyPr/>
                    <a:lstStyle/>
                    <a:p>
                      <a:pPr marL="0" algn="ctr" defTabSz="914034" rtl="0" eaLnBrk="1" latinLnBrk="0" hangingPunct="1">
                        <a:lnSpc>
                          <a:spcPct val="100000"/>
                        </a:lnSpc>
                        <a:spcBef>
                          <a:spcPts val="0"/>
                        </a:spcBef>
                        <a:spcAft>
                          <a:spcPts val="0"/>
                        </a:spcAft>
                      </a:pPr>
                      <a:r>
                        <a:rPr lang="zh-CN" altLang="en-US" sz="1400" b="0" kern="1200" dirty="0" smtClean="0">
                          <a:solidFill>
                            <a:schemeClr val="tx1"/>
                          </a:solidFill>
                          <a:effectLst/>
                          <a:latin typeface="+mn-lt"/>
                          <a:ea typeface="+mn-ea"/>
                          <a:cs typeface="+mn-ea"/>
                          <a:sym typeface="+mn-lt"/>
                        </a:rPr>
                        <a:t>华为公有云部署</a:t>
                      </a:r>
                      <a:endParaRPr lang="zh-CN" sz="1400" b="0" kern="1200"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zh-CN" altLang="en-US" sz="1400" b="0" kern="1200" dirty="0" smtClean="0">
                          <a:solidFill>
                            <a:schemeClr val="tx1"/>
                          </a:solidFill>
                          <a:effectLst/>
                          <a:latin typeface="+mn-lt"/>
                          <a:ea typeface="+mn-ea"/>
                          <a:cs typeface="+mn-ea"/>
                          <a:sym typeface="+mn-lt"/>
                        </a:rPr>
                        <a:t>网络中不能配置</a:t>
                      </a:r>
                      <a:r>
                        <a:rPr lang="en-US" altLang="zh-CN" sz="1400" b="0" kern="1200" dirty="0" smtClean="0">
                          <a:solidFill>
                            <a:schemeClr val="tx1"/>
                          </a:solidFill>
                          <a:effectLst/>
                          <a:latin typeface="+mn-lt"/>
                          <a:ea typeface="+mn-ea"/>
                          <a:cs typeface="+mn-ea"/>
                          <a:sym typeface="+mn-lt"/>
                        </a:rPr>
                        <a:t>DHCP Option</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algn="ctr" defTabSz="914034" rtl="0" eaLnBrk="1" latinLnBrk="0" hangingPunct="1">
                        <a:lnSpc>
                          <a:spcPct val="100000"/>
                        </a:lnSpc>
                        <a:spcBef>
                          <a:spcPts val="0"/>
                        </a:spcBef>
                        <a:spcAft>
                          <a:spcPts val="0"/>
                        </a:spcAft>
                      </a:pPr>
                      <a:r>
                        <a:rPr lang="zh-CN" altLang="en-US" sz="1400" b="0" kern="1200" dirty="0" smtClean="0">
                          <a:solidFill>
                            <a:schemeClr val="tx1"/>
                          </a:solidFill>
                          <a:effectLst/>
                          <a:latin typeface="+mn-lt"/>
                          <a:ea typeface="+mn-ea"/>
                          <a:cs typeface="+mn-ea"/>
                          <a:sym typeface="+mn-lt"/>
                        </a:rPr>
                        <a:t>注册查询中心</a:t>
                      </a:r>
                      <a:endParaRPr lang="zh-CN" alt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lnSpc>
                          <a:spcPts val="1200"/>
                        </a:lnSpc>
                        <a:spcBef>
                          <a:spcPts val="400"/>
                        </a:spcBef>
                        <a:spcAft>
                          <a:spcPts val="400"/>
                        </a:spcAft>
                      </a:pPr>
                      <a:endParaRPr lang="zh-CN" altLang="zh-CN" sz="11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txBody>
                  <a:tcPr marL="67687" marR="67687" marT="0" marB="0" anchor="ctr">
                    <a:lnL w="12700" cap="flat" cmpd="sng" algn="ctr">
                      <a:solidFill>
                        <a:srgbClr val="ED6D00"/>
                      </a:solidFill>
                      <a:prstDash val="solid"/>
                      <a:round/>
                      <a:headEnd type="none" w="med" len="med"/>
                      <a:tailEnd type="none" w="med" len="med"/>
                    </a:lnL>
                    <a:lnR w="12700" cap="flat" cmpd="sng" algn="ctr">
                      <a:solidFill>
                        <a:srgbClr val="ED6D00"/>
                      </a:solidFill>
                      <a:prstDash val="solid"/>
                      <a:round/>
                      <a:headEnd type="none" w="med" len="med"/>
                      <a:tailEnd type="none" w="med" len="med"/>
                    </a:lnR>
                    <a:lnT w="12700" cap="flat" cmpd="sng" algn="ctr">
                      <a:solidFill>
                        <a:srgbClr val="ED6D00"/>
                      </a:solidFill>
                      <a:prstDash val="solid"/>
                      <a:round/>
                      <a:headEnd type="none" w="med" len="med"/>
                      <a:tailEnd type="none" w="med" len="med"/>
                    </a:lnT>
                    <a:lnB w="12700" cap="flat" cmpd="sng" algn="ctr">
                      <a:solidFill>
                        <a:srgbClr val="ED6D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32000">
                <a:tc vMerge="1">
                  <a:txBody>
                    <a:bodyPr/>
                    <a:lstStyle/>
                    <a:p>
                      <a:pPr algn="l">
                        <a:lnSpc>
                          <a:spcPts val="1200"/>
                        </a:lnSpc>
                        <a:spcBef>
                          <a:spcPts val="400"/>
                        </a:spcBef>
                        <a:spcAft>
                          <a:spcPts val="400"/>
                        </a:spcAft>
                      </a:pPr>
                      <a:endParaRPr lang="zh-CN" sz="11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txBody>
                  <a:tcPr marL="67687" marR="676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034" rtl="0" eaLnBrk="1" latinLnBrk="0" hangingPunct="1">
                        <a:lnSpc>
                          <a:spcPct val="100000"/>
                        </a:lnSpc>
                        <a:spcBef>
                          <a:spcPts val="0"/>
                        </a:spcBef>
                        <a:spcAft>
                          <a:spcPts val="0"/>
                        </a:spcAft>
                      </a:pPr>
                      <a:r>
                        <a:rPr lang="zh-CN" altLang="en-US" sz="1400" b="0" kern="1200" dirty="0" smtClean="0">
                          <a:solidFill>
                            <a:schemeClr val="tx1"/>
                          </a:solidFill>
                          <a:effectLst/>
                          <a:latin typeface="+mn-lt"/>
                          <a:ea typeface="+mn-ea"/>
                          <a:cs typeface="+mn-ea"/>
                          <a:sym typeface="+mn-lt"/>
                        </a:rPr>
                        <a:t>网络中可以配置</a:t>
                      </a:r>
                      <a:r>
                        <a:rPr lang="en-US" altLang="zh-CN" sz="1400" b="0" kern="1200" dirty="0" smtClean="0">
                          <a:solidFill>
                            <a:schemeClr val="tx1"/>
                          </a:solidFill>
                          <a:effectLst/>
                          <a:latin typeface="+mn-lt"/>
                          <a:ea typeface="+mn-ea"/>
                          <a:cs typeface="+mn-ea"/>
                          <a:sym typeface="+mn-lt"/>
                        </a:rPr>
                        <a:t>DHCP Option</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b="0" kern="1200" dirty="0" smtClean="0">
                          <a:solidFill>
                            <a:schemeClr val="tx1"/>
                          </a:solidFill>
                          <a:effectLst/>
                          <a:latin typeface="+mn-lt"/>
                          <a:ea typeface="+mn-ea"/>
                          <a:cs typeface="+mn-ea"/>
                          <a:sym typeface="+mn-lt"/>
                        </a:rPr>
                        <a:t>注册查询中心</a:t>
                      </a:r>
                      <a:r>
                        <a:rPr lang="en-US" altLang="zh-CN" sz="1400" b="0" kern="1200" dirty="0" smtClean="0">
                          <a:solidFill>
                            <a:schemeClr val="tx1"/>
                          </a:solidFill>
                          <a:effectLst/>
                          <a:latin typeface="+mn-lt"/>
                          <a:ea typeface="+mn-ea"/>
                          <a:cs typeface="+mn-ea"/>
                          <a:sym typeface="+mn-lt"/>
                        </a:rPr>
                        <a:t>/DHCP Option</a:t>
                      </a:r>
                      <a:endParaRPr lang="zh-CN" altLang="zh-CN" sz="1400" b="0" kern="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auto" latinLnBrk="0" hangingPunct="1">
                        <a:lnSpc>
                          <a:spcPts val="1200"/>
                        </a:lnSpc>
                        <a:spcBef>
                          <a:spcPts val="400"/>
                        </a:spcBef>
                        <a:spcAft>
                          <a:spcPts val="400"/>
                        </a:spcAft>
                        <a:buClrTx/>
                        <a:buSzTx/>
                        <a:buFontTx/>
                        <a:buNone/>
                        <a:tabLst/>
                        <a:defRPr/>
                      </a:pPr>
                      <a:endParaRPr lang="zh-CN" altLang="zh-CN" sz="1100" dirty="0" smtClean="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txBody>
                  <a:tcPr marL="67687" marR="67687" marT="0" marB="0" anchor="ctr"/>
                </a:tc>
              </a:tr>
              <a:tr h="432000">
                <a:tc rowSpan="2">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自建云部署</a:t>
                      </a:r>
                      <a:endParaRPr lang="zh-CN" altLang="zh-CN" sz="1400" b="0" kern="1200" dirty="0">
                        <a:solidFill>
                          <a:schemeClr val="tx1"/>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zh-CN" altLang="en-US" sz="1400" b="0" kern="1200" dirty="0" smtClean="0">
                          <a:solidFill>
                            <a:schemeClr val="tx1"/>
                          </a:solidFill>
                          <a:effectLst/>
                          <a:latin typeface="+mn-lt"/>
                          <a:ea typeface="+mn-ea"/>
                          <a:cs typeface="+mn-ea"/>
                          <a:sym typeface="+mn-lt"/>
                        </a:rPr>
                        <a:t>网络中不能配置</a:t>
                      </a:r>
                      <a:r>
                        <a:rPr lang="en-US" altLang="zh-CN" sz="1400" b="0" kern="1200" dirty="0" smtClean="0">
                          <a:solidFill>
                            <a:schemeClr val="tx1"/>
                          </a:solidFill>
                          <a:effectLst/>
                          <a:latin typeface="+mn-lt"/>
                          <a:ea typeface="+mn-ea"/>
                          <a:cs typeface="+mn-ea"/>
                          <a:sym typeface="+mn-lt"/>
                        </a:rPr>
                        <a:t>DHCP Option</a:t>
                      </a:r>
                      <a:endParaRPr lang="zh-CN" alt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altLang="zh-CN" sz="1400" b="0" kern="1200" dirty="0" smtClean="0">
                          <a:solidFill>
                            <a:schemeClr val="tx1"/>
                          </a:solidFill>
                          <a:effectLst/>
                          <a:latin typeface="+mn-lt"/>
                          <a:ea typeface="+mn-ea"/>
                          <a:cs typeface="+mn-ea"/>
                          <a:sym typeface="+mn-lt"/>
                        </a:rPr>
                        <a:t>WEB</a:t>
                      </a:r>
                      <a:r>
                        <a:rPr lang="zh-CN" altLang="en-US" sz="1400" b="0" kern="1200" dirty="0" smtClean="0">
                          <a:solidFill>
                            <a:schemeClr val="tx1"/>
                          </a:solidFill>
                          <a:effectLst/>
                          <a:latin typeface="+mn-lt"/>
                          <a:ea typeface="+mn-ea"/>
                          <a:cs typeface="+mn-ea"/>
                          <a:sym typeface="+mn-lt"/>
                        </a:rPr>
                        <a:t>网管</a:t>
                      </a:r>
                      <a:endParaRPr 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034" rtl="0" eaLnBrk="1" latinLnBrk="0" hangingPunct="1">
                        <a:lnSpc>
                          <a:spcPct val="100000"/>
                        </a:lnSpc>
                        <a:spcBef>
                          <a:spcPts val="0"/>
                        </a:spcBef>
                        <a:spcAft>
                          <a:spcPts val="0"/>
                        </a:spcAft>
                      </a:pPr>
                      <a:r>
                        <a:rPr lang="en-US" altLang="zh-CN" sz="1400" b="0" kern="1200" dirty="0" smtClean="0">
                          <a:solidFill>
                            <a:schemeClr val="tx1"/>
                          </a:solidFill>
                          <a:effectLst/>
                          <a:latin typeface="+mn-lt"/>
                          <a:ea typeface="+mn-ea"/>
                          <a:cs typeface="+mn-ea"/>
                          <a:sym typeface="+mn-lt"/>
                        </a:rPr>
                        <a:t>CloudCampus APP</a:t>
                      </a:r>
                      <a:r>
                        <a:rPr lang="zh-CN" altLang="zh-CN" sz="1400" b="0" kern="1200" dirty="0" smtClean="0">
                          <a:solidFill>
                            <a:schemeClr val="tx1"/>
                          </a:solidFill>
                          <a:effectLst/>
                          <a:latin typeface="+mn-lt"/>
                          <a:ea typeface="+mn-ea"/>
                          <a:cs typeface="+mn-ea"/>
                          <a:sym typeface="+mn-lt"/>
                        </a:rPr>
                        <a:t>开局</a:t>
                      </a:r>
                      <a:endParaRPr lang="zh-CN" altLang="zh-CN"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32000">
                <a:tc vMerge="1">
                  <a:txBody>
                    <a:bodyPr/>
                    <a:lstStyle/>
                    <a:p>
                      <a:pPr marL="0" marR="0" lvl="0" indent="0" algn="l" defTabSz="914400" rtl="0" eaLnBrk="1" fontAlgn="auto" latinLnBrk="0" hangingPunct="1">
                        <a:lnSpc>
                          <a:spcPts val="1200"/>
                        </a:lnSpc>
                        <a:spcBef>
                          <a:spcPts val="400"/>
                        </a:spcBef>
                        <a:spcAft>
                          <a:spcPts val="400"/>
                        </a:spcAft>
                        <a:buClrTx/>
                        <a:buSzTx/>
                        <a:buFontTx/>
                        <a:buNone/>
                        <a:tabLst/>
                        <a:defRPr/>
                      </a:pPr>
                      <a:endParaRPr lang="zh-CN" altLang="zh-CN" sz="1100" dirty="0">
                        <a:solidFill>
                          <a:srgbClr val="000000"/>
                        </a:solidFill>
                        <a:effectLst/>
                        <a:latin typeface="+mn-lt"/>
                        <a:ea typeface="+mn-ea"/>
                        <a:cs typeface="Arial" panose="020B0604020202020204" pitchFamily="34" charset="0"/>
                      </a:endParaRPr>
                    </a:p>
                  </a:txBody>
                  <a:tcPr marL="67687" marR="676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b="0" kern="1200" dirty="0" smtClean="0">
                          <a:solidFill>
                            <a:schemeClr val="tx1"/>
                          </a:solidFill>
                          <a:effectLst/>
                          <a:latin typeface="+mn-lt"/>
                          <a:ea typeface="+mn-ea"/>
                          <a:cs typeface="+mn-ea"/>
                          <a:sym typeface="+mn-lt"/>
                        </a:rPr>
                        <a:t>网络中可以配置</a:t>
                      </a:r>
                      <a:r>
                        <a:rPr lang="en-US" altLang="zh-CN" sz="1400" b="0" kern="1200" dirty="0" smtClean="0">
                          <a:solidFill>
                            <a:schemeClr val="tx1"/>
                          </a:solidFill>
                          <a:effectLst/>
                          <a:latin typeface="+mn-lt"/>
                          <a:ea typeface="+mn-ea"/>
                          <a:cs typeface="+mn-ea"/>
                          <a:sym typeface="+mn-lt"/>
                        </a:rPr>
                        <a:t>DHCP Option</a:t>
                      </a:r>
                      <a:endParaRPr lang="zh-CN" altLang="zh-CN" sz="1400" b="0" kern="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b="0" kern="1200" dirty="0" smtClean="0">
                          <a:solidFill>
                            <a:schemeClr val="tx1"/>
                          </a:solidFill>
                          <a:effectLst/>
                          <a:latin typeface="+mn-lt"/>
                          <a:ea typeface="+mn-ea"/>
                          <a:cs typeface="+mn-ea"/>
                          <a:sym typeface="+mn-lt"/>
                        </a:rPr>
                        <a:t>注册查询中心</a:t>
                      </a:r>
                      <a:r>
                        <a:rPr lang="en-US" altLang="zh-CN" sz="1400" b="0" kern="1200" dirty="0" smtClean="0">
                          <a:solidFill>
                            <a:schemeClr val="tx1"/>
                          </a:solidFill>
                          <a:effectLst/>
                          <a:latin typeface="+mn-lt"/>
                          <a:ea typeface="+mn-ea"/>
                          <a:cs typeface="+mn-ea"/>
                          <a:sym typeface="+mn-lt"/>
                        </a:rPr>
                        <a:t>/DHCP Option</a:t>
                      </a:r>
                      <a:endParaRPr lang="zh-CN" altLang="zh-CN" sz="1400" b="0" kern="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auto" latinLnBrk="0" hangingPunct="1">
                        <a:lnSpc>
                          <a:spcPts val="1200"/>
                        </a:lnSpc>
                        <a:spcBef>
                          <a:spcPts val="400"/>
                        </a:spcBef>
                        <a:spcAft>
                          <a:spcPts val="400"/>
                        </a:spcAft>
                        <a:buClrTx/>
                        <a:buSzTx/>
                        <a:buFontTx/>
                        <a:buNone/>
                        <a:tabLst/>
                        <a:defRPr/>
                      </a:pPr>
                      <a:endParaRPr lang="zh-CN" altLang="zh-CN" sz="1100" dirty="0" smtClean="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txBody>
                  <a:tcPr marL="67687" marR="67687" marT="0" marB="0" anchor="ctr">
                    <a:lnL w="12700" cap="flat" cmpd="sng" algn="ctr">
                      <a:solidFill>
                        <a:srgbClr val="ED6D00"/>
                      </a:solidFill>
                      <a:prstDash val="solid"/>
                      <a:round/>
                      <a:headEnd type="none" w="med" len="med"/>
                      <a:tailEnd type="none" w="med" len="med"/>
                    </a:lnL>
                    <a:lnR w="12700" cap="flat" cmpd="sng" algn="ctr">
                      <a:solidFill>
                        <a:srgbClr val="ED6D00"/>
                      </a:solidFill>
                      <a:prstDash val="solid"/>
                      <a:round/>
                      <a:headEnd type="none" w="med" len="med"/>
                      <a:tailEnd type="none" w="med" len="med"/>
                    </a:lnR>
                    <a:lnT w="12700" cap="flat" cmpd="sng" algn="ctr">
                      <a:solidFill>
                        <a:srgbClr val="ED6D00"/>
                      </a:solidFill>
                      <a:prstDash val="solid"/>
                      <a:round/>
                      <a:headEnd type="none" w="med" len="med"/>
                      <a:tailEnd type="none" w="med" len="med"/>
                    </a:lnT>
                    <a:lnB w="12700" cap="flat" cmpd="sng" algn="ctr">
                      <a:solidFill>
                        <a:srgbClr val="ED6D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1780941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mn-lt"/>
              </a:rPr>
              <a:t>开局注册：场景化自动开局</a:t>
            </a:r>
            <a:endParaRPr lang="zh-CN" altLang="en-US" dirty="0">
              <a:sym typeface="+mn-lt"/>
            </a:endParaRPr>
          </a:p>
        </p:txBody>
      </p:sp>
      <p:sp>
        <p:nvSpPr>
          <p:cNvPr id="3" name="文本占位符 2"/>
          <p:cNvSpPr>
            <a:spLocks noGrp="1"/>
          </p:cNvSpPr>
          <p:nvPr>
            <p:ph type="body" sz="quarter" idx="10"/>
          </p:nvPr>
        </p:nvSpPr>
        <p:spPr>
          <a:xfrm>
            <a:off x="8406882" y="1271451"/>
            <a:ext cx="3342205" cy="4656104"/>
          </a:xfrm>
        </p:spPr>
        <p:txBody>
          <a:bodyPr/>
          <a:lstStyle/>
          <a:p>
            <a:r>
              <a:rPr lang="zh-CN" altLang="en-US" sz="1600" dirty="0"/>
              <a:t>方案概述：</a:t>
            </a:r>
          </a:p>
          <a:p>
            <a:pPr lvl="1"/>
            <a:r>
              <a:rPr lang="zh-CN" altLang="en-US" sz="1400" dirty="0"/>
              <a:t>提供场景化自动部署功能，以进一步简化网络开局。</a:t>
            </a:r>
          </a:p>
          <a:p>
            <a:pPr lvl="1"/>
            <a:r>
              <a:rPr lang="zh-CN" altLang="en-US" sz="1400" dirty="0"/>
              <a:t>可以根据客户选择的行业场景，自动生成相关的网络配置（如</a:t>
            </a:r>
            <a:r>
              <a:rPr lang="en-US" altLang="zh-CN" sz="1400" dirty="0"/>
              <a:t>SSID</a:t>
            </a:r>
            <a:r>
              <a:rPr lang="zh-CN" altLang="en-US" sz="1400" dirty="0"/>
              <a:t>），无需用户事先规划和配置，避免复杂繁琐的配置设计和规划；同时，用户可以通过自定义场景模板来对站点网络进行规划，达到快速生成站点网络配置并进行部署的目的。</a:t>
            </a:r>
          </a:p>
          <a:p>
            <a:pPr lvl="1"/>
            <a:r>
              <a:rPr lang="zh-CN" altLang="en-US" sz="1400" dirty="0"/>
              <a:t>目前，解决方案预置场景模板为中小办公场景，后续规划增加其它场景模板。</a:t>
            </a:r>
          </a:p>
        </p:txBody>
      </p:sp>
      <p:pic>
        <p:nvPicPr>
          <p:cNvPr id="7" name="图片 6"/>
          <p:cNvPicPr>
            <a:picLocks noChangeAspect="1"/>
          </p:cNvPicPr>
          <p:nvPr/>
        </p:nvPicPr>
        <p:blipFill rotWithShape="1">
          <a:blip r:embed="rId3"/>
          <a:srcRect r="1184"/>
          <a:stretch/>
        </p:blipFill>
        <p:spPr bwMode="gray">
          <a:xfrm>
            <a:off x="452438" y="1449388"/>
            <a:ext cx="7954444" cy="4033818"/>
          </a:xfrm>
          <a:prstGeom prst="rect">
            <a:avLst/>
          </a:prstGeom>
          <a:noFill/>
          <a:ln w="12700">
            <a:solidFill>
              <a:schemeClr val="bg1">
                <a:lumMod val="85000"/>
              </a:schemeClr>
            </a:solidFill>
          </a:ln>
        </p:spPr>
      </p:pic>
    </p:spTree>
    <p:extLst>
      <p:ext uri="{BB962C8B-B14F-4D97-AF65-F5344CB8AC3E}">
        <p14:creationId xmlns:p14="http://schemas.microsoft.com/office/powerpoint/2010/main" val="1793206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组网设计</a:t>
            </a:r>
          </a:p>
        </p:txBody>
      </p:sp>
      <p:sp>
        <p:nvSpPr>
          <p:cNvPr id="39" name="TextBox 303"/>
          <p:cNvSpPr txBox="1"/>
          <p:nvPr/>
        </p:nvSpPr>
        <p:spPr bwMode="gray">
          <a:xfrm>
            <a:off x="731838" y="4019456"/>
            <a:ext cx="912236" cy="1429126"/>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48" name="五边形 47"/>
          <p:cNvSpPr/>
          <p:nvPr/>
        </p:nvSpPr>
        <p:spPr bwMode="gray">
          <a:xfrm>
            <a:off x="2113280" y="4333098"/>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bg1">
                    <a:lumMod val="50000"/>
                  </a:schemeClr>
                </a:solidFill>
                <a:cs typeface="+mn-ea"/>
                <a:sym typeface="+mn-lt"/>
              </a:rPr>
              <a:t>网络基础业务设计</a:t>
            </a:r>
            <a:endParaRPr lang="zh-CN" altLang="en-US" sz="1600" dirty="0">
              <a:solidFill>
                <a:schemeClr val="bg1">
                  <a:lumMod val="50000"/>
                </a:schemeClr>
              </a:solidFill>
              <a:cs typeface="+mn-ea"/>
              <a:sym typeface="+mn-lt"/>
            </a:endParaRPr>
          </a:p>
        </p:txBody>
      </p:sp>
      <p:sp>
        <p:nvSpPr>
          <p:cNvPr id="49" name="燕尾形 48"/>
          <p:cNvSpPr/>
          <p:nvPr/>
        </p:nvSpPr>
        <p:spPr bwMode="gray">
          <a:xfrm>
            <a:off x="4337749" y="4333098"/>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bg1">
                    <a:lumMod val="50000"/>
                  </a:schemeClr>
                </a:solidFill>
                <a:cs typeface="+mn-ea"/>
                <a:sym typeface="+mn-lt"/>
              </a:rPr>
              <a:t>网络开局设计</a:t>
            </a:r>
            <a:endParaRPr lang="zh-CN" altLang="en-US" sz="1600" dirty="0">
              <a:solidFill>
                <a:schemeClr val="bg1">
                  <a:lumMod val="50000"/>
                </a:schemeClr>
              </a:solidFill>
              <a:cs typeface="+mn-ea"/>
              <a:sym typeface="+mn-lt"/>
            </a:endParaRPr>
          </a:p>
        </p:txBody>
      </p:sp>
      <p:sp>
        <p:nvSpPr>
          <p:cNvPr id="50" name="燕尾形 49"/>
          <p:cNvSpPr/>
          <p:nvPr/>
        </p:nvSpPr>
        <p:spPr bwMode="grayWhite">
          <a:xfrm>
            <a:off x="6562218" y="4333098"/>
            <a:ext cx="2304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cs typeface="+mn-ea"/>
                <a:sym typeface="+mn-lt"/>
              </a:rPr>
              <a:t>WLAN</a:t>
            </a:r>
            <a:r>
              <a:rPr lang="zh-CN" altLang="en-US" sz="1600">
                <a:solidFill>
                  <a:schemeClr val="tx1"/>
                </a:solidFill>
                <a:cs typeface="+mn-ea"/>
                <a:sym typeface="+mn-lt"/>
              </a:rPr>
              <a:t>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36" name="任意多边形 35"/>
          <p:cNvSpPr/>
          <p:nvPr/>
        </p:nvSpPr>
        <p:spPr bwMode="gray">
          <a:xfrm flipV="1">
            <a:off x="3789011" y="3412467"/>
            <a:ext cx="6603926" cy="968271"/>
          </a:xfrm>
          <a:custGeom>
            <a:avLst/>
            <a:gdLst>
              <a:gd name="connsiteX0" fmla="*/ 0 w 8142339"/>
              <a:gd name="connsiteY0" fmla="*/ 1118072 h 1118072"/>
              <a:gd name="connsiteX1" fmla="*/ 8142339 w 8142339"/>
              <a:gd name="connsiteY1" fmla="*/ 1118072 h 1118072"/>
              <a:gd name="connsiteX2" fmla="*/ 8142339 w 8142339"/>
              <a:gd name="connsiteY2" fmla="*/ 184470 h 1118072"/>
              <a:gd name="connsiteX3" fmla="*/ 5534148 w 8142339"/>
              <a:gd name="connsiteY3" fmla="*/ 184470 h 1118072"/>
              <a:gd name="connsiteX4" fmla="*/ 5255994 w 8142339"/>
              <a:gd name="connsiteY4" fmla="*/ 0 h 1118072"/>
              <a:gd name="connsiteX5" fmla="*/ 5190421 w 8142339"/>
              <a:gd name="connsiteY5" fmla="*/ 184470 h 1118072"/>
              <a:gd name="connsiteX6" fmla="*/ 0 w 8142339"/>
              <a:gd name="connsiteY6" fmla="*/ 184470 h 1118072"/>
              <a:gd name="connsiteX0" fmla="*/ 0 w 8142339"/>
              <a:gd name="connsiteY0" fmla="*/ 1388531 h 1388531"/>
              <a:gd name="connsiteX1" fmla="*/ 8142339 w 8142339"/>
              <a:gd name="connsiteY1" fmla="*/ 1388531 h 1388531"/>
              <a:gd name="connsiteX2" fmla="*/ 8142339 w 8142339"/>
              <a:gd name="connsiteY2" fmla="*/ 454929 h 1388531"/>
              <a:gd name="connsiteX3" fmla="*/ 5534148 w 8142339"/>
              <a:gd name="connsiteY3" fmla="*/ 454929 h 1388531"/>
              <a:gd name="connsiteX4" fmla="*/ 5123914 w 8142339"/>
              <a:gd name="connsiteY4" fmla="*/ 0 h 1388531"/>
              <a:gd name="connsiteX5" fmla="*/ 5190421 w 8142339"/>
              <a:gd name="connsiteY5" fmla="*/ 454929 h 1388531"/>
              <a:gd name="connsiteX6" fmla="*/ 0 w 8142339"/>
              <a:gd name="connsiteY6" fmla="*/ 454929 h 1388531"/>
              <a:gd name="connsiteX7" fmla="*/ 0 w 8142339"/>
              <a:gd name="connsiteY7" fmla="*/ 1388531 h 13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42339" h="1388531">
                <a:moveTo>
                  <a:pt x="0" y="1388531"/>
                </a:moveTo>
                <a:lnTo>
                  <a:pt x="8142339" y="1388531"/>
                </a:lnTo>
                <a:lnTo>
                  <a:pt x="8142339" y="454929"/>
                </a:lnTo>
                <a:lnTo>
                  <a:pt x="5534148" y="454929"/>
                </a:lnTo>
                <a:lnTo>
                  <a:pt x="5123914" y="0"/>
                </a:lnTo>
                <a:lnTo>
                  <a:pt x="5190421" y="454929"/>
                </a:lnTo>
                <a:lnTo>
                  <a:pt x="0" y="454929"/>
                </a:lnTo>
                <a:lnTo>
                  <a:pt x="0" y="1388531"/>
                </a:lnTo>
                <a:close/>
              </a:path>
            </a:pathLst>
          </a:custGeom>
          <a:solidFill>
            <a:schemeClr val="accent4">
              <a:lumMod val="20000"/>
              <a:lumOff val="80000"/>
            </a:schemeClr>
          </a:solidFill>
          <a:ln w="12700">
            <a:noFill/>
          </a:ln>
          <a:effectLst>
            <a:outerShdw blurRad="50800" dist="38100" dir="5400000" algn="t" rotWithShape="0">
              <a:srgbClr val="ED6D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spcAft>
                <a:spcPts val="600"/>
              </a:spcAft>
            </a:pPr>
            <a:endParaRPr lang="zh-CN" altLang="en-US" sz="1400">
              <a:solidFill>
                <a:schemeClr val="tx1">
                  <a:lumMod val="75000"/>
                  <a:lumOff val="25000"/>
                </a:schemeClr>
              </a:solidFill>
              <a:cs typeface="+mn-ea"/>
              <a:sym typeface="+mn-lt"/>
            </a:endParaRPr>
          </a:p>
        </p:txBody>
      </p:sp>
      <p:sp>
        <p:nvSpPr>
          <p:cNvPr id="37" name="五边形 36"/>
          <p:cNvSpPr/>
          <p:nvPr/>
        </p:nvSpPr>
        <p:spPr bwMode="grayWhite">
          <a:xfrm>
            <a:off x="3859324" y="3525029"/>
            <a:ext cx="1209353" cy="360000"/>
          </a:xfrm>
          <a:prstGeom prst="homePlate">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cs typeface="+mn-ea"/>
                <a:sym typeface="+mn-lt"/>
              </a:rPr>
              <a:t>无线规划</a:t>
            </a:r>
          </a:p>
        </p:txBody>
      </p:sp>
      <p:sp>
        <p:nvSpPr>
          <p:cNvPr id="60" name="燕尾形 59"/>
          <p:cNvSpPr/>
          <p:nvPr/>
        </p:nvSpPr>
        <p:spPr bwMode="grayWhite">
          <a:xfrm>
            <a:off x="4939197" y="3525029"/>
            <a:ext cx="1330288"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cs typeface="+mn-ea"/>
                <a:sym typeface="+mn-lt"/>
              </a:rPr>
              <a:t>组网规划</a:t>
            </a:r>
          </a:p>
        </p:txBody>
      </p:sp>
      <p:sp>
        <p:nvSpPr>
          <p:cNvPr id="61" name="燕尾形 60"/>
          <p:cNvSpPr/>
          <p:nvPr/>
        </p:nvSpPr>
        <p:spPr bwMode="grayWhite">
          <a:xfrm>
            <a:off x="6140005" y="3525029"/>
            <a:ext cx="1330288"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cs typeface="+mn-ea"/>
                <a:sym typeface="+mn-lt"/>
              </a:rPr>
              <a:t>SSID</a:t>
            </a:r>
            <a:r>
              <a:rPr lang="zh-CN" altLang="en-US" sz="1400">
                <a:solidFill>
                  <a:schemeClr val="tx1"/>
                </a:solidFill>
                <a:cs typeface="+mn-ea"/>
                <a:sym typeface="+mn-lt"/>
              </a:rPr>
              <a:t>规划</a:t>
            </a:r>
          </a:p>
        </p:txBody>
      </p:sp>
      <p:sp>
        <p:nvSpPr>
          <p:cNvPr id="62" name="燕尾形 61"/>
          <p:cNvSpPr/>
          <p:nvPr/>
        </p:nvSpPr>
        <p:spPr bwMode="grayWhite">
          <a:xfrm>
            <a:off x="7340813" y="3525029"/>
            <a:ext cx="1654885"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cs typeface="+mn-ea"/>
                <a:sym typeface="+mn-lt"/>
              </a:rPr>
              <a:t>无线漫游设计</a:t>
            </a:r>
          </a:p>
        </p:txBody>
      </p:sp>
      <p:sp>
        <p:nvSpPr>
          <p:cNvPr id="63" name="燕尾形 62"/>
          <p:cNvSpPr/>
          <p:nvPr/>
        </p:nvSpPr>
        <p:spPr bwMode="grayWhite">
          <a:xfrm>
            <a:off x="8866218" y="3525029"/>
            <a:ext cx="1389976"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cs typeface="+mn-ea"/>
                <a:sym typeface="+mn-lt"/>
              </a:rPr>
              <a:t>射频调优</a:t>
            </a:r>
          </a:p>
        </p:txBody>
      </p:sp>
      <p:sp>
        <p:nvSpPr>
          <p:cNvPr id="34" name="燕尾形 33"/>
          <p:cNvSpPr/>
          <p:nvPr/>
        </p:nvSpPr>
        <p:spPr bwMode="gray">
          <a:xfrm>
            <a:off x="8786686" y="4333098"/>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28" name="五边形 27"/>
          <p:cNvSpPr/>
          <p:nvPr/>
        </p:nvSpPr>
        <p:spPr bwMode="gray">
          <a:xfrm>
            <a:off x="2113280" y="4800840"/>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
        <p:nvSpPr>
          <p:cNvPr id="29" name="燕尾形 28"/>
          <p:cNvSpPr/>
          <p:nvPr/>
        </p:nvSpPr>
        <p:spPr bwMode="gray">
          <a:xfrm>
            <a:off x="8786686" y="3052469"/>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Tree>
    <p:extLst>
      <p:ext uri="{BB962C8B-B14F-4D97-AF65-F5344CB8AC3E}">
        <p14:creationId xmlns:p14="http://schemas.microsoft.com/office/powerpoint/2010/main" val="305273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latin typeface="+mn-lt"/>
                <a:ea typeface="+mn-ea"/>
                <a:cs typeface="+mn-ea"/>
                <a:sym typeface="+mn-lt"/>
              </a:rPr>
              <a:t>无线规划：无线信号覆盖</a:t>
            </a:r>
          </a:p>
        </p:txBody>
      </p:sp>
      <p:sp>
        <p:nvSpPr>
          <p:cNvPr id="19" name="内容占位符 2"/>
          <p:cNvSpPr txBox="1">
            <a:spLocks/>
          </p:cNvSpPr>
          <p:nvPr/>
        </p:nvSpPr>
        <p:spPr bwMode="auto">
          <a:xfrm>
            <a:off x="896458" y="4022462"/>
            <a:ext cx="10361350" cy="2128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defPPr>
              <a:defRPr lang="en-US"/>
            </a:defPPr>
            <a:lvl1pPr marL="342900" marR="0" lvl="0" indent="-342900" defTabSz="914400" eaLnBrk="0" fontAlgn="base" hangingPunct="0">
              <a:lnSpc>
                <a:spcPct val="140000"/>
              </a:lnSpc>
              <a:spcBef>
                <a:spcPct val="0"/>
              </a:spcBef>
              <a:spcAft>
                <a:spcPct val="0"/>
              </a:spcAft>
              <a:buClr>
                <a:srgbClr val="777777"/>
              </a:buClr>
              <a:buSzPct val="60000"/>
              <a:buFont typeface="Wingdings" pitchFamily="2" charset="2"/>
              <a:buNone/>
              <a:tabLst/>
              <a:defRPr kumimoji="0" sz="1400" b="1" i="0" u="none" strike="noStrike" kern="0" cap="none" spc="0" normalizeH="0" baseline="0">
                <a:ln>
                  <a:noFill/>
                </a:ln>
                <a:solidFill>
                  <a:srgbClr val="000000"/>
                </a:solidFill>
                <a:effectLst/>
                <a:uLnTx/>
                <a:uFillTx/>
              </a:defRPr>
            </a:lvl1pPr>
            <a:lvl2pPr marL="0" marR="0" lvl="1" indent="0" defTabSz="914400" eaLnBrk="0" fontAlgn="base" hangingPunct="0">
              <a:lnSpc>
                <a:spcPct val="140000"/>
              </a:lnSpc>
              <a:spcBef>
                <a:spcPct val="0"/>
              </a:spcBef>
              <a:spcAft>
                <a:spcPct val="0"/>
              </a:spcAft>
              <a:buClrTx/>
              <a:buSzPct val="100000"/>
              <a:buFont typeface="Wingdings" pitchFamily="2" charset="2"/>
              <a:buNone/>
              <a:tabLst/>
              <a:defRPr kumimoji="0" sz="1400" b="0" i="0" u="none" strike="noStrike" kern="0" cap="none" spc="0" normalizeH="0" baseline="0">
                <a:ln>
                  <a:noFill/>
                </a:ln>
                <a:solidFill>
                  <a:srgbClr val="000000"/>
                </a:solidFill>
                <a:effectLst/>
                <a:uLnTx/>
                <a:uFillTx/>
              </a:defRPr>
            </a:lvl2pPr>
            <a:lvl3pPr marL="1143000" indent="-228600" eaLnBrk="0" fontAlgn="base" hangingPunct="0">
              <a:lnSpc>
                <a:spcPct val="140000"/>
              </a:lnSpc>
              <a:spcBef>
                <a:spcPct val="0"/>
              </a:spcBef>
              <a:spcAft>
                <a:spcPct val="0"/>
              </a:spcAft>
              <a:buSzPct val="50000"/>
              <a:buFont typeface="Wingdings" pitchFamily="2" charset="2"/>
              <a:buChar char="n"/>
              <a:defRPr sz="1400" baseline="0">
                <a:solidFill>
                  <a:schemeClr val="tx2"/>
                </a:solidFill>
                <a:latin typeface="微软雅黑" panose="020B0503020204020204" pitchFamily="34" charset="-122"/>
                <a:ea typeface="微软雅黑" panose="020B0503020204020204" pitchFamily="34" charset="-122"/>
              </a:defRPr>
            </a:lvl3pPr>
            <a:lvl4pPr marL="1600200" indent="-228600" eaLnBrk="0" fontAlgn="base" hangingPunct="0">
              <a:lnSpc>
                <a:spcPct val="140000"/>
              </a:lnSpc>
              <a:spcBef>
                <a:spcPct val="0"/>
              </a:spcBef>
              <a:spcAft>
                <a:spcPct val="0"/>
              </a:spcAft>
              <a:buChar char="–"/>
              <a:defRPr sz="1200" baseline="0">
                <a:solidFill>
                  <a:schemeClr val="tx2"/>
                </a:solidFill>
                <a:latin typeface="微软雅黑" panose="020B0503020204020204" pitchFamily="34" charset="-122"/>
                <a:ea typeface="微软雅黑" panose="020B0503020204020204" pitchFamily="34" charset="-122"/>
              </a:defRPr>
            </a:lvl4pPr>
            <a:lvl5pPr marL="2057400" indent="-228600" eaLnBrk="0" fontAlgn="base" hangingPunct="0">
              <a:lnSpc>
                <a:spcPct val="140000"/>
              </a:lnSpc>
              <a:spcBef>
                <a:spcPct val="0"/>
              </a:spcBef>
              <a:spcAft>
                <a:spcPct val="0"/>
              </a:spcAft>
              <a:buFont typeface="Arial" pitchFamily="34" charset="0"/>
              <a:buChar char="~"/>
              <a:defRPr sz="1000" baseline="0">
                <a:solidFill>
                  <a:schemeClr val="tx2"/>
                </a:solidFill>
                <a:latin typeface="微软雅黑" panose="020B0503020204020204" pitchFamily="34" charset="-122"/>
                <a:ea typeface="微软雅黑" panose="020B0503020204020204" pitchFamily="34" charset="-122"/>
              </a:defRPr>
            </a:lvl5pPr>
            <a:lvl6pPr marL="2514600" indent="-228600" fontAlgn="base">
              <a:spcBef>
                <a:spcPct val="20000"/>
              </a:spcBef>
              <a:spcAft>
                <a:spcPct val="0"/>
              </a:spcAft>
              <a:buFont typeface="Arial" charset="0"/>
              <a:buChar char="~"/>
              <a:defRPr sz="1600"/>
            </a:lvl6pPr>
            <a:lvl7pPr marL="2971800" indent="-228600" fontAlgn="base">
              <a:spcBef>
                <a:spcPct val="20000"/>
              </a:spcBef>
              <a:spcAft>
                <a:spcPct val="0"/>
              </a:spcAft>
              <a:buFont typeface="Arial" charset="0"/>
              <a:buChar char="~"/>
              <a:defRPr sz="1600"/>
            </a:lvl7pPr>
            <a:lvl8pPr marL="3429000" indent="-228600" fontAlgn="base">
              <a:spcBef>
                <a:spcPct val="20000"/>
              </a:spcBef>
              <a:spcAft>
                <a:spcPct val="0"/>
              </a:spcAft>
              <a:buFont typeface="Arial" charset="0"/>
              <a:buChar char="~"/>
              <a:defRPr sz="1600"/>
            </a:lvl8pPr>
            <a:lvl9pPr marL="3886200" indent="-228600" fontAlgn="base">
              <a:spcBef>
                <a:spcPct val="20000"/>
              </a:spcBef>
              <a:spcAft>
                <a:spcPct val="0"/>
              </a:spcAft>
              <a:buFont typeface="Arial" charset="0"/>
              <a:buChar char="~"/>
              <a:defRPr sz="1600"/>
            </a:lvl9pPr>
          </a:lstStyle>
          <a:p>
            <a:pPr lvl="1"/>
            <a:r>
              <a:rPr lang="zh-CN" altLang="en-US" dirty="0" smtClean="0">
                <a:cs typeface="+mn-ea"/>
                <a:sym typeface="+mn-lt"/>
              </a:rPr>
              <a:t>为了</a:t>
            </a:r>
            <a:r>
              <a:rPr lang="zh-CN" altLang="en-US" dirty="0">
                <a:cs typeface="+mn-ea"/>
                <a:sym typeface="+mn-lt"/>
              </a:rPr>
              <a:t>保证良好的接入体验、漫游体验，需要根据不同的应用</a:t>
            </a:r>
            <a:r>
              <a:rPr lang="zh-CN" altLang="en-US" dirty="0" smtClean="0">
                <a:cs typeface="+mn-ea"/>
                <a:sym typeface="+mn-lt"/>
              </a:rPr>
              <a:t>场景规划合适</a:t>
            </a:r>
            <a:r>
              <a:rPr lang="zh-CN" altLang="en-US" dirty="0">
                <a:cs typeface="+mn-ea"/>
                <a:sym typeface="+mn-lt"/>
              </a:rPr>
              <a:t>的信号</a:t>
            </a:r>
            <a:r>
              <a:rPr lang="zh-CN" altLang="en-US" dirty="0" smtClean="0">
                <a:cs typeface="+mn-ea"/>
                <a:sym typeface="+mn-lt"/>
              </a:rPr>
              <a:t>覆盖，结合信号覆盖</a:t>
            </a:r>
            <a:r>
              <a:rPr lang="zh-CN" altLang="en-US" dirty="0">
                <a:cs typeface="+mn-ea"/>
                <a:sym typeface="+mn-lt"/>
              </a:rPr>
              <a:t>的要求、</a:t>
            </a:r>
            <a:r>
              <a:rPr lang="en-US" altLang="zh-CN" dirty="0">
                <a:cs typeface="+mn-ea"/>
                <a:sym typeface="+mn-lt"/>
              </a:rPr>
              <a:t>AP</a:t>
            </a:r>
            <a:r>
              <a:rPr lang="zh-CN" altLang="en-US" dirty="0" smtClean="0">
                <a:cs typeface="+mn-ea"/>
                <a:sym typeface="+mn-lt"/>
              </a:rPr>
              <a:t>设备的能力要求，</a:t>
            </a:r>
            <a:r>
              <a:rPr lang="zh-CN" altLang="en-US" dirty="0">
                <a:cs typeface="+mn-ea"/>
                <a:sym typeface="+mn-lt"/>
              </a:rPr>
              <a:t>选择合适的</a:t>
            </a:r>
            <a:r>
              <a:rPr lang="en-US" altLang="zh-CN" dirty="0" smtClean="0">
                <a:cs typeface="+mn-ea"/>
                <a:sym typeface="+mn-lt"/>
              </a:rPr>
              <a:t>AP</a:t>
            </a:r>
            <a:r>
              <a:rPr lang="zh-CN" altLang="en-US" dirty="0" smtClean="0">
                <a:cs typeface="+mn-ea"/>
                <a:sym typeface="+mn-lt"/>
              </a:rPr>
              <a:t>款型，</a:t>
            </a:r>
            <a:r>
              <a:rPr lang="zh-CN" altLang="en-US" dirty="0">
                <a:cs typeface="+mn-ea"/>
                <a:sym typeface="+mn-lt"/>
              </a:rPr>
              <a:t>同时</a:t>
            </a:r>
            <a:r>
              <a:rPr lang="zh-CN" altLang="en-US" dirty="0" smtClean="0">
                <a:cs typeface="+mn-ea"/>
                <a:sym typeface="+mn-lt"/>
              </a:rPr>
              <a:t>结合</a:t>
            </a:r>
            <a:r>
              <a:rPr lang="en-US" altLang="zh-CN" dirty="0" smtClean="0">
                <a:cs typeface="+mn-ea"/>
                <a:sym typeface="+mn-lt"/>
              </a:rPr>
              <a:t>WLAN</a:t>
            </a:r>
            <a:r>
              <a:rPr lang="zh-CN" altLang="en-US" dirty="0" smtClean="0">
                <a:cs typeface="+mn-ea"/>
                <a:sym typeface="+mn-lt"/>
              </a:rPr>
              <a:t>网</a:t>
            </a:r>
            <a:r>
              <a:rPr lang="zh-CN" altLang="en-US" dirty="0">
                <a:cs typeface="+mn-ea"/>
                <a:sym typeface="+mn-lt"/>
              </a:rPr>
              <a:t>规工具，设计出合理</a:t>
            </a:r>
            <a:r>
              <a:rPr lang="zh-CN" altLang="en-US" dirty="0" smtClean="0">
                <a:cs typeface="+mn-ea"/>
                <a:sym typeface="+mn-lt"/>
              </a:rPr>
              <a:t>的</a:t>
            </a:r>
            <a:r>
              <a:rPr lang="en-US" altLang="zh-CN" dirty="0" smtClean="0">
                <a:cs typeface="+mn-ea"/>
                <a:sym typeface="+mn-lt"/>
              </a:rPr>
              <a:t>WLAN</a:t>
            </a:r>
            <a:r>
              <a:rPr lang="zh-CN" altLang="en-US" dirty="0" smtClean="0">
                <a:cs typeface="+mn-ea"/>
                <a:sym typeface="+mn-lt"/>
              </a:rPr>
              <a:t>网络</a:t>
            </a:r>
            <a:r>
              <a:rPr lang="zh-CN" altLang="en-US" dirty="0">
                <a:cs typeface="+mn-ea"/>
                <a:sym typeface="+mn-lt"/>
              </a:rPr>
              <a:t>。</a:t>
            </a:r>
            <a:endParaRPr lang="en-US" altLang="zh-CN" dirty="0">
              <a:cs typeface="+mn-ea"/>
              <a:sym typeface="+mn-lt"/>
            </a:endParaRPr>
          </a:p>
          <a:p>
            <a:pPr lvl="1"/>
            <a:r>
              <a:rPr lang="zh-CN" altLang="en-US" b="1" dirty="0">
                <a:cs typeface="+mn-ea"/>
                <a:sym typeface="+mn-lt"/>
              </a:rPr>
              <a:t>布放</a:t>
            </a:r>
            <a:r>
              <a:rPr lang="en-US" altLang="zh-CN" b="1" dirty="0" smtClean="0">
                <a:cs typeface="+mn-ea"/>
                <a:sym typeface="+mn-lt"/>
              </a:rPr>
              <a:t>AP</a:t>
            </a:r>
            <a:r>
              <a:rPr lang="zh-CN" altLang="en-US" b="1" dirty="0" smtClean="0">
                <a:cs typeface="+mn-ea"/>
                <a:sym typeface="+mn-lt"/>
              </a:rPr>
              <a:t>时</a:t>
            </a:r>
            <a:r>
              <a:rPr lang="zh-CN" altLang="en-US" b="1" dirty="0">
                <a:cs typeface="+mn-ea"/>
                <a:sym typeface="+mn-lt"/>
              </a:rPr>
              <a:t>，可以参考如下</a:t>
            </a:r>
            <a:r>
              <a:rPr lang="zh-CN" altLang="en-US" b="1" dirty="0" smtClean="0">
                <a:cs typeface="+mn-ea"/>
                <a:sym typeface="+mn-lt"/>
              </a:rPr>
              <a:t>原则：</a:t>
            </a:r>
            <a:endParaRPr lang="en-US" altLang="zh-CN" b="1" dirty="0">
              <a:cs typeface="+mn-ea"/>
              <a:sym typeface="+mn-lt"/>
            </a:endParaRPr>
          </a:p>
          <a:p>
            <a:pPr marL="177800" indent="-177800" algn="just" defTabSz="914478" eaLnBrk="1" fontAlgn="auto" hangingPunct="1">
              <a:spcAft>
                <a:spcPts val="0"/>
              </a:spcAft>
              <a:buClrTx/>
              <a:buSzPct val="100000"/>
              <a:buFont typeface="Arial" panose="020B0604020202020204" pitchFamily="34" charset="0"/>
              <a:buChar char="•"/>
            </a:pPr>
            <a:r>
              <a:rPr lang="zh-CN" altLang="en-US" b="0" kern="1200" dirty="0">
                <a:solidFill>
                  <a:prstClr val="black"/>
                </a:solidFill>
                <a:latin typeface="Huawei Sans" panose="020C0503030203020204" pitchFamily="34" charset="0"/>
                <a:ea typeface="方正兰亭黑简体" panose="02000000000000000000" pitchFamily="2" charset="-122"/>
                <a:sym typeface="+mn-lt"/>
              </a:rPr>
              <a:t>减少信号穿过障碍物的</a:t>
            </a:r>
            <a:r>
              <a:rPr lang="zh-CN" altLang="en-US" b="0" kern="1200" dirty="0" smtClean="0">
                <a:solidFill>
                  <a:prstClr val="black"/>
                </a:solidFill>
                <a:latin typeface="Huawei Sans" panose="020C0503030203020204" pitchFamily="34" charset="0"/>
                <a:ea typeface="方正兰亭黑简体" panose="02000000000000000000" pitchFamily="2" charset="-122"/>
                <a:sym typeface="+mn-lt"/>
              </a:rPr>
              <a:t>数量。</a:t>
            </a:r>
            <a:endParaRPr lang="zh-CN" altLang="en-US" b="0" kern="1200" dirty="0">
              <a:solidFill>
                <a:prstClr val="black"/>
              </a:solidFill>
              <a:latin typeface="Huawei Sans" panose="020C0503030203020204" pitchFamily="34" charset="0"/>
              <a:ea typeface="方正兰亭黑简体" panose="02000000000000000000" pitchFamily="2" charset="-122"/>
              <a:sym typeface="+mn-lt"/>
            </a:endParaRPr>
          </a:p>
          <a:p>
            <a:pPr marL="177800" indent="-177800" algn="just" defTabSz="914478" eaLnBrk="1" fontAlgn="auto" hangingPunct="1">
              <a:spcAft>
                <a:spcPts val="0"/>
              </a:spcAft>
              <a:buClrTx/>
              <a:buSzPct val="100000"/>
              <a:buFont typeface="Arial" panose="020B0604020202020204" pitchFamily="34" charset="0"/>
              <a:buChar char="•"/>
            </a:pPr>
            <a:r>
              <a:rPr lang="zh-CN" altLang="en-US" b="0" kern="1200" dirty="0">
                <a:solidFill>
                  <a:prstClr val="black"/>
                </a:solidFill>
                <a:latin typeface="Huawei Sans" panose="020C0503030203020204" pitchFamily="34" charset="0"/>
                <a:ea typeface="方正兰亭黑简体" panose="02000000000000000000" pitchFamily="2" charset="-122"/>
                <a:sym typeface="+mn-lt"/>
              </a:rPr>
              <a:t>保证</a:t>
            </a:r>
            <a:r>
              <a:rPr lang="en-US" altLang="zh-CN" b="0" kern="1200" dirty="0">
                <a:solidFill>
                  <a:prstClr val="black"/>
                </a:solidFill>
                <a:latin typeface="Huawei Sans" panose="020C0503030203020204" pitchFamily="34" charset="0"/>
                <a:ea typeface="方正兰亭黑简体" panose="02000000000000000000" pitchFamily="2" charset="-122"/>
                <a:sym typeface="+mn-lt"/>
              </a:rPr>
              <a:t>AP</a:t>
            </a:r>
            <a:r>
              <a:rPr lang="zh-CN" altLang="en-US" b="0" kern="1200" dirty="0">
                <a:solidFill>
                  <a:prstClr val="black"/>
                </a:solidFill>
                <a:latin typeface="Huawei Sans" panose="020C0503030203020204" pitchFamily="34" charset="0"/>
                <a:ea typeface="方正兰亭黑简体" panose="02000000000000000000" pitchFamily="2" charset="-122"/>
                <a:sym typeface="+mn-lt"/>
              </a:rPr>
              <a:t>正面正对覆盖目标区域，保证良好的覆盖</a:t>
            </a:r>
            <a:r>
              <a:rPr lang="zh-CN" altLang="en-US" b="0" kern="1200" dirty="0" smtClean="0">
                <a:solidFill>
                  <a:prstClr val="black"/>
                </a:solidFill>
                <a:latin typeface="Huawei Sans" panose="020C0503030203020204" pitchFamily="34" charset="0"/>
                <a:ea typeface="方正兰亭黑简体" panose="02000000000000000000" pitchFamily="2" charset="-122"/>
                <a:sym typeface="+mn-lt"/>
              </a:rPr>
              <a:t>效果。</a:t>
            </a:r>
            <a:endParaRPr lang="zh-CN" altLang="en-US" b="0" kern="1200" dirty="0">
              <a:solidFill>
                <a:prstClr val="black"/>
              </a:solidFill>
              <a:latin typeface="Huawei Sans" panose="020C0503030203020204" pitchFamily="34" charset="0"/>
              <a:ea typeface="方正兰亭黑简体" panose="02000000000000000000" pitchFamily="2" charset="-122"/>
              <a:sym typeface="+mn-lt"/>
            </a:endParaRPr>
          </a:p>
          <a:p>
            <a:pPr marL="177800" indent="-177800" algn="just" defTabSz="914478" eaLnBrk="1" fontAlgn="auto" hangingPunct="1">
              <a:spcAft>
                <a:spcPts val="0"/>
              </a:spcAft>
              <a:buClrTx/>
              <a:buSzPct val="100000"/>
              <a:buFont typeface="Arial" panose="020B0604020202020204" pitchFamily="34" charset="0"/>
              <a:buChar char="•"/>
            </a:pPr>
            <a:r>
              <a:rPr lang="en-US" altLang="zh-CN" b="0" kern="1200" dirty="0">
                <a:solidFill>
                  <a:prstClr val="black"/>
                </a:solidFill>
                <a:latin typeface="Huawei Sans" panose="020C0503030203020204" pitchFamily="34" charset="0"/>
                <a:ea typeface="方正兰亭黑简体" panose="02000000000000000000" pitchFamily="2" charset="-122"/>
                <a:sym typeface="+mn-lt"/>
              </a:rPr>
              <a:t>AP</a:t>
            </a:r>
            <a:r>
              <a:rPr lang="zh-CN" altLang="en-US" b="0" kern="1200" dirty="0">
                <a:solidFill>
                  <a:prstClr val="black"/>
                </a:solidFill>
                <a:latin typeface="Huawei Sans" panose="020C0503030203020204" pitchFamily="34" charset="0"/>
                <a:ea typeface="方正兰亭黑简体" panose="02000000000000000000" pitchFamily="2" charset="-122"/>
                <a:sym typeface="+mn-lt"/>
              </a:rPr>
              <a:t>布放远离干扰源：</a:t>
            </a:r>
            <a:r>
              <a:rPr lang="en-US" altLang="zh-CN" b="0" kern="1200" dirty="0">
                <a:solidFill>
                  <a:prstClr val="black"/>
                </a:solidFill>
                <a:latin typeface="Huawei Sans" panose="020C0503030203020204" pitchFamily="34" charset="0"/>
                <a:ea typeface="方正兰亭黑简体" panose="02000000000000000000" pitchFamily="2" charset="-122"/>
                <a:sym typeface="+mn-lt"/>
              </a:rPr>
              <a:t>AP</a:t>
            </a:r>
            <a:r>
              <a:rPr lang="zh-CN" altLang="en-US" b="0" kern="1200" dirty="0">
                <a:solidFill>
                  <a:prstClr val="black"/>
                </a:solidFill>
                <a:latin typeface="Huawei Sans" panose="020C0503030203020204" pitchFamily="34" charset="0"/>
                <a:ea typeface="方正兰亭黑简体" panose="02000000000000000000" pitchFamily="2" charset="-122"/>
                <a:sym typeface="+mn-lt"/>
              </a:rPr>
              <a:t>布放位置需远离电子设备，避免覆盖区域内放置微波炉、无线摄像头、无线电话等电子</a:t>
            </a:r>
            <a:r>
              <a:rPr lang="zh-CN" altLang="en-US" b="0" kern="1200" dirty="0" smtClean="0">
                <a:solidFill>
                  <a:prstClr val="black"/>
                </a:solidFill>
                <a:latin typeface="Huawei Sans" panose="020C0503030203020204" pitchFamily="34" charset="0"/>
                <a:ea typeface="方正兰亭黑简体" panose="02000000000000000000" pitchFamily="2" charset="-122"/>
                <a:sym typeface="+mn-lt"/>
              </a:rPr>
              <a:t>设备。</a:t>
            </a:r>
            <a:endParaRPr lang="en-US" altLang="zh-CN" b="0" kern="1200" dirty="0" smtClean="0">
              <a:solidFill>
                <a:prstClr val="black"/>
              </a:solidFill>
              <a:latin typeface="Huawei Sans" panose="020C0503030203020204" pitchFamily="34" charset="0"/>
              <a:ea typeface="方正兰亭黑简体" panose="02000000000000000000" pitchFamily="2" charset="-122"/>
              <a:sym typeface="+mn-lt"/>
            </a:endParaRPr>
          </a:p>
          <a:p>
            <a:pPr marL="177800" indent="-177800" algn="just" defTabSz="914478" eaLnBrk="1" fontAlgn="auto" hangingPunct="1">
              <a:spcAft>
                <a:spcPts val="0"/>
              </a:spcAft>
              <a:buClrTx/>
              <a:buSzPct val="100000"/>
              <a:buFont typeface="Arial" panose="020B0604020202020204" pitchFamily="34" charset="0"/>
              <a:buChar char="•"/>
            </a:pPr>
            <a:r>
              <a:rPr lang="zh-CN" altLang="en-US" b="0" kern="1200" dirty="0" smtClean="0">
                <a:solidFill>
                  <a:prstClr val="black"/>
                </a:solidFill>
                <a:latin typeface="Huawei Sans" panose="020C0503030203020204" pitchFamily="34" charset="0"/>
                <a:ea typeface="方正兰亭黑简体" panose="02000000000000000000" pitchFamily="2" charset="-122"/>
                <a:sym typeface="+mn-lt"/>
              </a:rPr>
              <a:t>对于</a:t>
            </a:r>
            <a:r>
              <a:rPr lang="zh-CN" altLang="en-US" b="0" kern="1200" dirty="0">
                <a:solidFill>
                  <a:prstClr val="black"/>
                </a:solidFill>
                <a:latin typeface="Huawei Sans" panose="020C0503030203020204" pitchFamily="34" charset="0"/>
                <a:ea typeface="方正兰亭黑简体" panose="02000000000000000000" pitchFamily="2" charset="-122"/>
                <a:sym typeface="+mn-lt"/>
              </a:rPr>
              <a:t>有漫游需求的区域，相邻</a:t>
            </a:r>
            <a:r>
              <a:rPr lang="en-US" altLang="zh-CN" b="0" kern="1200" dirty="0">
                <a:solidFill>
                  <a:prstClr val="black"/>
                </a:solidFill>
                <a:latin typeface="Huawei Sans" panose="020C0503030203020204" pitchFamily="34" charset="0"/>
                <a:ea typeface="方正兰亭黑简体" panose="02000000000000000000" pitchFamily="2" charset="-122"/>
                <a:sym typeface="+mn-lt"/>
              </a:rPr>
              <a:t>AP</a:t>
            </a:r>
            <a:r>
              <a:rPr lang="zh-CN" altLang="en-US" b="0" kern="1200" dirty="0">
                <a:solidFill>
                  <a:prstClr val="black"/>
                </a:solidFill>
                <a:latin typeface="Huawei Sans" panose="020C0503030203020204" pitchFamily="34" charset="0"/>
                <a:ea typeface="方正兰亭黑简体" panose="02000000000000000000" pitchFamily="2" charset="-122"/>
                <a:sym typeface="+mn-lt"/>
              </a:rPr>
              <a:t>的覆盖范围保持</a:t>
            </a:r>
            <a:r>
              <a:rPr lang="en-US" altLang="zh-CN" b="0" kern="1200" dirty="0">
                <a:solidFill>
                  <a:prstClr val="black"/>
                </a:solidFill>
                <a:latin typeface="Huawei Sans" panose="020C0503030203020204" pitchFamily="34" charset="0"/>
                <a:ea typeface="方正兰亭黑简体" panose="02000000000000000000" pitchFamily="2" charset="-122"/>
                <a:sym typeface="+mn-lt"/>
              </a:rPr>
              <a:t>10%~15%</a:t>
            </a:r>
            <a:r>
              <a:rPr lang="zh-CN" altLang="en-US" b="0" kern="1200" dirty="0">
                <a:solidFill>
                  <a:prstClr val="black"/>
                </a:solidFill>
                <a:latin typeface="Huawei Sans" panose="020C0503030203020204" pitchFamily="34" charset="0"/>
                <a:ea typeface="方正兰亭黑简体" panose="02000000000000000000" pitchFamily="2" charset="-122"/>
                <a:sym typeface="+mn-lt"/>
              </a:rPr>
              <a:t>的重叠，以保证终端在</a:t>
            </a:r>
            <a:r>
              <a:rPr lang="en-US" altLang="zh-CN" b="0" kern="1200" dirty="0">
                <a:solidFill>
                  <a:prstClr val="black"/>
                </a:solidFill>
                <a:latin typeface="Huawei Sans" panose="020C0503030203020204" pitchFamily="34" charset="0"/>
                <a:ea typeface="方正兰亭黑简体" panose="02000000000000000000" pitchFamily="2" charset="-122"/>
                <a:sym typeface="+mn-lt"/>
              </a:rPr>
              <a:t>AP</a:t>
            </a:r>
            <a:r>
              <a:rPr lang="zh-CN" altLang="en-US" b="0" kern="1200" dirty="0">
                <a:solidFill>
                  <a:prstClr val="black"/>
                </a:solidFill>
                <a:latin typeface="Huawei Sans" panose="020C0503030203020204" pitchFamily="34" charset="0"/>
                <a:ea typeface="方正兰亭黑简体" panose="02000000000000000000" pitchFamily="2" charset="-122"/>
                <a:sym typeface="+mn-lt"/>
              </a:rPr>
              <a:t>间的平滑切换。</a:t>
            </a:r>
          </a:p>
        </p:txBody>
      </p:sp>
      <p:graphicFrame>
        <p:nvGraphicFramePr>
          <p:cNvPr id="20" name="表格 19"/>
          <p:cNvGraphicFramePr>
            <a:graphicFrameLocks noGrp="1"/>
          </p:cNvGraphicFramePr>
          <p:nvPr>
            <p:extLst>
              <p:ext uri="{D42A27DB-BD31-4B8C-83A1-F6EECF244321}">
                <p14:modId xmlns:p14="http://schemas.microsoft.com/office/powerpoint/2010/main" val="2510728141"/>
              </p:ext>
            </p:extLst>
          </p:nvPr>
        </p:nvGraphicFramePr>
        <p:xfrm>
          <a:off x="959042" y="1376582"/>
          <a:ext cx="10298766" cy="1097280"/>
        </p:xfrm>
        <a:graphic>
          <a:graphicData uri="http://schemas.openxmlformats.org/drawingml/2006/table">
            <a:tbl>
              <a:tblPr firstRow="1" bandRow="1"/>
              <a:tblGrid>
                <a:gridCol w="2121470"/>
                <a:gridCol w="1542396"/>
                <a:gridCol w="6634900"/>
              </a:tblGrid>
              <a:tr h="180086">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zh-CN" altLang="en-US" sz="1200" dirty="0">
                          <a:solidFill>
                            <a:srgbClr val="151515"/>
                          </a:solidFill>
                          <a:latin typeface="+mn-lt"/>
                          <a:ea typeface="+mn-ea"/>
                          <a:cs typeface="+mn-ea"/>
                          <a:sym typeface="+mn-lt"/>
                        </a:rPr>
                        <a:t>盖区域</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zh-CN" altLang="en-US" sz="1200" dirty="0">
                          <a:solidFill>
                            <a:srgbClr val="151515"/>
                          </a:solidFill>
                          <a:latin typeface="+mn-lt"/>
                          <a:ea typeface="+mn-ea"/>
                          <a:cs typeface="+mn-ea"/>
                          <a:sym typeface="+mn-lt"/>
                        </a:rPr>
                        <a:t>场强要求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zh-CN" altLang="en-US" sz="1200" dirty="0">
                          <a:solidFill>
                            <a:srgbClr val="151515"/>
                          </a:solidFill>
                          <a:latin typeface="+mn-lt"/>
                          <a:ea typeface="+mn-ea"/>
                          <a:cs typeface="+mn-ea"/>
                          <a:sym typeface="+mn-lt"/>
                        </a:rPr>
                        <a:t>典型区域</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199821">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zh-CN" altLang="en-US" sz="1200" dirty="0">
                          <a:solidFill>
                            <a:srgbClr val="000000"/>
                          </a:solidFill>
                          <a:latin typeface="+mn-lt"/>
                          <a:ea typeface="+mn-ea"/>
                          <a:cs typeface="+mn-ea"/>
                          <a:sym typeface="+mn-lt"/>
                        </a:rPr>
                        <a:t>重点覆盖区域</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en-US" sz="1200" dirty="0">
                          <a:solidFill>
                            <a:srgbClr val="000000"/>
                          </a:solidFill>
                          <a:latin typeface="+mn-lt"/>
                          <a:ea typeface="+mn-ea"/>
                          <a:cs typeface="+mn-ea"/>
                          <a:sym typeface="+mn-lt"/>
                        </a:rPr>
                        <a:t>-</a:t>
                      </a:r>
                      <a:r>
                        <a:rPr lang="en-US" sz="1200" dirty="0" smtClean="0">
                          <a:solidFill>
                            <a:srgbClr val="000000"/>
                          </a:solidFill>
                          <a:latin typeface="+mn-lt"/>
                          <a:ea typeface="+mn-ea"/>
                          <a:cs typeface="+mn-ea"/>
                          <a:sym typeface="+mn-lt"/>
                        </a:rPr>
                        <a:t>40</a:t>
                      </a:r>
                      <a:r>
                        <a:rPr lang="zh-CN" altLang="en-US" sz="1200" dirty="0" smtClean="0">
                          <a:solidFill>
                            <a:srgbClr val="000000"/>
                          </a:solidFill>
                          <a:latin typeface="+mn-lt"/>
                          <a:ea typeface="+mn-ea"/>
                          <a:cs typeface="+mn-ea"/>
                          <a:sym typeface="+mn-lt"/>
                        </a:rPr>
                        <a:t>～</a:t>
                      </a:r>
                      <a:r>
                        <a:rPr lang="en-US" sz="1200" dirty="0" smtClean="0">
                          <a:solidFill>
                            <a:srgbClr val="000000"/>
                          </a:solidFill>
                          <a:latin typeface="+mn-lt"/>
                          <a:ea typeface="+mn-ea"/>
                          <a:cs typeface="+mn-ea"/>
                          <a:sym typeface="+mn-lt"/>
                        </a:rPr>
                        <a:t>-65 </a:t>
                      </a:r>
                      <a:r>
                        <a:rPr lang="en-US" sz="1200" dirty="0" err="1" smtClean="0">
                          <a:solidFill>
                            <a:srgbClr val="000000"/>
                          </a:solidFill>
                          <a:latin typeface="+mn-lt"/>
                          <a:ea typeface="+mn-ea"/>
                          <a:cs typeface="+mn-ea"/>
                          <a:sym typeface="+mn-lt"/>
                        </a:rPr>
                        <a:t>dbm</a:t>
                      </a:r>
                      <a:endParaRPr 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200" dirty="0">
                          <a:solidFill>
                            <a:srgbClr val="000000"/>
                          </a:solidFill>
                          <a:latin typeface="+mn-lt"/>
                          <a:ea typeface="+mn-ea"/>
                          <a:cs typeface="+mn-ea"/>
                          <a:sym typeface="+mn-lt"/>
                        </a:rPr>
                        <a:t>宿舍房间、图书室、酒店房间、大堂、会议室、办公室、展厅</a:t>
                      </a:r>
                      <a:r>
                        <a:rPr lang="zh-CN" altLang="en-US" sz="1200" dirty="0" smtClean="0">
                          <a:solidFill>
                            <a:srgbClr val="000000"/>
                          </a:solidFill>
                          <a:latin typeface="+mn-lt"/>
                          <a:ea typeface="+mn-ea"/>
                          <a:cs typeface="+mn-ea"/>
                          <a:sym typeface="+mn-lt"/>
                        </a:rPr>
                        <a:t>等。</a:t>
                      </a:r>
                      <a:endParaRPr lang="zh-CN" alt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55867">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zh-CN" altLang="en-US" sz="1200">
                          <a:solidFill>
                            <a:srgbClr val="000000"/>
                          </a:solidFill>
                          <a:latin typeface="+mn-lt"/>
                          <a:ea typeface="+mn-ea"/>
                          <a:cs typeface="+mn-ea"/>
                          <a:sym typeface="+mn-lt"/>
                        </a:rPr>
                        <a:t>一般覆盖区域</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en-US" sz="1200" dirty="0">
                          <a:solidFill>
                            <a:srgbClr val="000000"/>
                          </a:solidFill>
                          <a:latin typeface="+mn-lt"/>
                          <a:ea typeface="+mn-ea"/>
                          <a:cs typeface="+mn-ea"/>
                          <a:sym typeface="+mn-lt"/>
                        </a:rPr>
                        <a:t>&gt;-</a:t>
                      </a:r>
                      <a:r>
                        <a:rPr lang="en-US" sz="1200" dirty="0" smtClean="0">
                          <a:solidFill>
                            <a:srgbClr val="000000"/>
                          </a:solidFill>
                          <a:latin typeface="+mn-lt"/>
                          <a:ea typeface="+mn-ea"/>
                          <a:cs typeface="+mn-ea"/>
                          <a:sym typeface="+mn-lt"/>
                        </a:rPr>
                        <a:t>75 </a:t>
                      </a:r>
                      <a:r>
                        <a:rPr lang="en-US" sz="1200" dirty="0" err="1" smtClean="0">
                          <a:solidFill>
                            <a:srgbClr val="000000"/>
                          </a:solidFill>
                          <a:latin typeface="+mn-lt"/>
                          <a:ea typeface="+mn-ea"/>
                          <a:cs typeface="+mn-ea"/>
                          <a:sym typeface="+mn-lt"/>
                        </a:rPr>
                        <a:t>dbm</a:t>
                      </a:r>
                      <a:endParaRPr 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200" dirty="0">
                          <a:solidFill>
                            <a:srgbClr val="000000"/>
                          </a:solidFill>
                          <a:latin typeface="+mn-lt"/>
                          <a:ea typeface="+mn-ea"/>
                          <a:cs typeface="+mn-ea"/>
                          <a:sym typeface="+mn-lt"/>
                        </a:rPr>
                        <a:t>过道、厨房、储物室、更衣间</a:t>
                      </a:r>
                      <a:r>
                        <a:rPr lang="zh-CN" altLang="en-US" sz="1200" dirty="0" smtClean="0">
                          <a:solidFill>
                            <a:srgbClr val="000000"/>
                          </a:solidFill>
                          <a:latin typeface="+mn-lt"/>
                          <a:ea typeface="+mn-ea"/>
                          <a:cs typeface="+mn-ea"/>
                          <a:sym typeface="+mn-lt"/>
                        </a:rPr>
                        <a:t>等。</a:t>
                      </a:r>
                      <a:endParaRPr lang="zh-CN" alt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99821">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zh-CN" altLang="en-US" sz="1200">
                          <a:solidFill>
                            <a:srgbClr val="000000"/>
                          </a:solidFill>
                          <a:latin typeface="+mn-lt"/>
                          <a:ea typeface="+mn-ea"/>
                          <a:cs typeface="+mn-ea"/>
                          <a:sym typeface="+mn-lt"/>
                        </a:rPr>
                        <a:t>特殊覆盖区域</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en-US" sz="1200" dirty="0">
                          <a:solidFill>
                            <a:srgbClr val="000000"/>
                          </a:solidFill>
                          <a:latin typeface="+mn-lt"/>
                          <a:ea typeface="+mn-ea"/>
                          <a:cs typeface="+mn-ea"/>
                          <a:sym typeface="+mn-lt"/>
                        </a:rPr>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200" dirty="0">
                          <a:solidFill>
                            <a:srgbClr val="000000"/>
                          </a:solidFill>
                          <a:latin typeface="+mn-lt"/>
                          <a:ea typeface="+mn-ea"/>
                          <a:cs typeface="+mn-ea"/>
                          <a:sym typeface="+mn-lt"/>
                        </a:rPr>
                        <a:t>客户基于业务安全或者物业等其他原因考虑，限定的覆盖</a:t>
                      </a:r>
                      <a:r>
                        <a:rPr lang="en-US" altLang="zh-CN" sz="1200" dirty="0">
                          <a:solidFill>
                            <a:srgbClr val="000000"/>
                          </a:solidFill>
                          <a:latin typeface="+mn-lt"/>
                          <a:ea typeface="+mn-ea"/>
                          <a:cs typeface="+mn-ea"/>
                          <a:sym typeface="+mn-lt"/>
                        </a:rPr>
                        <a:t>/</a:t>
                      </a:r>
                      <a:r>
                        <a:rPr lang="zh-CN" altLang="en-US" sz="1200" dirty="0">
                          <a:solidFill>
                            <a:srgbClr val="000000"/>
                          </a:solidFill>
                          <a:latin typeface="+mn-lt"/>
                          <a:ea typeface="+mn-ea"/>
                          <a:cs typeface="+mn-ea"/>
                          <a:sym typeface="+mn-lt"/>
                        </a:rPr>
                        <a:t>安装区域或者不允许覆盖</a:t>
                      </a:r>
                      <a:r>
                        <a:rPr lang="en-US" altLang="zh-CN" sz="1200" dirty="0">
                          <a:solidFill>
                            <a:srgbClr val="000000"/>
                          </a:solidFill>
                          <a:latin typeface="+mn-lt"/>
                          <a:ea typeface="+mn-ea"/>
                          <a:cs typeface="+mn-ea"/>
                          <a:sym typeface="+mn-lt"/>
                        </a:rPr>
                        <a:t>/</a:t>
                      </a:r>
                      <a:r>
                        <a:rPr lang="zh-CN" altLang="en-US" sz="1200" dirty="0">
                          <a:solidFill>
                            <a:srgbClr val="000000"/>
                          </a:solidFill>
                          <a:latin typeface="+mn-lt"/>
                          <a:ea typeface="+mn-ea"/>
                          <a:cs typeface="+mn-ea"/>
                          <a:sym typeface="+mn-lt"/>
                        </a:rPr>
                        <a:t>安装的</a:t>
                      </a:r>
                      <a:r>
                        <a:rPr lang="zh-CN" altLang="en-US" sz="1200" dirty="0" smtClean="0">
                          <a:solidFill>
                            <a:srgbClr val="000000"/>
                          </a:solidFill>
                          <a:latin typeface="+mn-lt"/>
                          <a:ea typeface="+mn-ea"/>
                          <a:cs typeface="+mn-ea"/>
                          <a:sym typeface="+mn-lt"/>
                        </a:rPr>
                        <a:t>区域。</a:t>
                      </a:r>
                      <a:endParaRPr lang="zh-CN" alt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1" name="矩形 20"/>
          <p:cNvSpPr/>
          <p:nvPr/>
        </p:nvSpPr>
        <p:spPr>
          <a:xfrm>
            <a:off x="896459" y="1018748"/>
            <a:ext cx="1620957" cy="307777"/>
          </a:xfrm>
          <a:prstGeom prst="rect">
            <a:avLst/>
          </a:prstGeom>
        </p:spPr>
        <p:txBody>
          <a:bodyPr wrap="none">
            <a:spAutoFit/>
          </a:bodyPr>
          <a:lstStyle/>
          <a:p>
            <a:pPr defTabSz="914400" fontAlgn="base">
              <a:spcBef>
                <a:spcPct val="0"/>
              </a:spcBef>
              <a:spcAft>
                <a:spcPct val="0"/>
              </a:spcAft>
            </a:pPr>
            <a:r>
              <a:rPr lang="zh-CN" altLang="en-US" sz="1400" dirty="0">
                <a:solidFill>
                  <a:srgbClr val="000000"/>
                </a:solidFill>
                <a:cs typeface="+mn-ea"/>
                <a:sym typeface="+mn-lt"/>
              </a:rPr>
              <a:t>信号</a:t>
            </a:r>
            <a:r>
              <a:rPr lang="zh-CN" altLang="en-US" sz="1400" dirty="0" smtClean="0">
                <a:solidFill>
                  <a:srgbClr val="000000"/>
                </a:solidFill>
                <a:cs typeface="+mn-ea"/>
                <a:sym typeface="+mn-lt"/>
              </a:rPr>
              <a:t>场强</a:t>
            </a:r>
            <a:r>
              <a:rPr lang="zh-CN" altLang="en-US" sz="1400" dirty="0">
                <a:solidFill>
                  <a:srgbClr val="000000"/>
                </a:solidFill>
                <a:cs typeface="+mn-ea"/>
                <a:sym typeface="+mn-lt"/>
              </a:rPr>
              <a:t>部署</a:t>
            </a:r>
            <a:r>
              <a:rPr lang="zh-CN" altLang="en-US" sz="1400" dirty="0" smtClean="0">
                <a:solidFill>
                  <a:srgbClr val="000000"/>
                </a:solidFill>
                <a:cs typeface="+mn-ea"/>
                <a:sym typeface="+mn-lt"/>
              </a:rPr>
              <a:t>参考</a:t>
            </a:r>
            <a:endParaRPr lang="zh-CN" altLang="en-US" sz="1400" dirty="0">
              <a:solidFill>
                <a:srgbClr val="000000"/>
              </a:solidFill>
              <a:cs typeface="+mn-ea"/>
              <a:sym typeface="+mn-lt"/>
            </a:endParaRPr>
          </a:p>
        </p:txBody>
      </p:sp>
      <p:graphicFrame>
        <p:nvGraphicFramePr>
          <p:cNvPr id="22" name="表格 21"/>
          <p:cNvGraphicFramePr>
            <a:graphicFrameLocks noGrp="1"/>
          </p:cNvGraphicFramePr>
          <p:nvPr>
            <p:extLst>
              <p:ext uri="{D42A27DB-BD31-4B8C-83A1-F6EECF244321}">
                <p14:modId xmlns:p14="http://schemas.microsoft.com/office/powerpoint/2010/main" val="4218322930"/>
              </p:ext>
            </p:extLst>
          </p:nvPr>
        </p:nvGraphicFramePr>
        <p:xfrm>
          <a:off x="959042" y="2905160"/>
          <a:ext cx="10298766" cy="1097280"/>
        </p:xfrm>
        <a:graphic>
          <a:graphicData uri="http://schemas.openxmlformats.org/drawingml/2006/table">
            <a:tbl>
              <a:tblPr firstRow="1" bandRow="1"/>
              <a:tblGrid>
                <a:gridCol w="2119782"/>
                <a:gridCol w="8178984"/>
              </a:tblGrid>
              <a:tr h="231429">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zh-CN" altLang="en-US" sz="1200" b="1" dirty="0" smtClean="0">
                          <a:solidFill>
                            <a:srgbClr val="151515"/>
                          </a:solidFill>
                          <a:latin typeface="+mn-lt"/>
                          <a:ea typeface="+mn-ea"/>
                          <a:cs typeface="+mn-ea"/>
                          <a:sym typeface="+mn-lt"/>
                        </a:rPr>
                        <a:t>场景</a:t>
                      </a:r>
                      <a:endParaRPr lang="zh-CN" altLang="en-US" sz="1200" b="1" dirty="0">
                        <a:solidFill>
                          <a:srgbClr val="151515"/>
                        </a:solidFill>
                        <a:latin typeface="+mn-lt"/>
                        <a:ea typeface="+mn-ea"/>
                        <a:cs typeface="+mn-ea"/>
                        <a:sym typeface="+mn-lt"/>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zh-CN" altLang="en-US" sz="1200" b="1" dirty="0" smtClean="0">
                          <a:solidFill>
                            <a:srgbClr val="151515"/>
                          </a:solidFill>
                          <a:latin typeface="+mn-lt"/>
                          <a:ea typeface="+mn-ea"/>
                          <a:cs typeface="+mn-ea"/>
                          <a:sym typeface="+mn-lt"/>
                        </a:rPr>
                        <a:t>覆盖推荐</a:t>
                      </a:r>
                      <a:endParaRPr lang="zh-CN" altLang="en-US" sz="1200" b="1" dirty="0">
                        <a:solidFill>
                          <a:srgbClr val="151515"/>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199821">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zh-CN" altLang="en-US" sz="1200" dirty="0" smtClean="0">
                          <a:solidFill>
                            <a:srgbClr val="000000"/>
                          </a:solidFill>
                          <a:latin typeface="+mn-lt"/>
                          <a:ea typeface="+mn-ea"/>
                          <a:cs typeface="+mn-ea"/>
                          <a:sym typeface="+mn-lt"/>
                        </a:rPr>
                        <a:t>室内场景</a:t>
                      </a:r>
                      <a:endParaRPr lang="zh-CN" altLang="en-US" sz="1200" dirty="0">
                        <a:solidFill>
                          <a:srgbClr val="000000"/>
                        </a:solidFill>
                        <a:latin typeface="+mn-lt"/>
                        <a:ea typeface="+mn-ea"/>
                        <a:cs typeface="+mn-ea"/>
                        <a:sym typeface="+mn-lt"/>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200" dirty="0" smtClean="0">
                          <a:solidFill>
                            <a:srgbClr val="000000"/>
                          </a:solidFill>
                          <a:latin typeface="+mn-lt"/>
                          <a:ea typeface="+mn-ea"/>
                          <a:cs typeface="+mn-ea"/>
                          <a:sym typeface="+mn-lt"/>
                        </a:rPr>
                        <a:t>单</a:t>
                      </a:r>
                      <a:r>
                        <a:rPr lang="en-US" altLang="zh-CN" sz="1200" dirty="0" smtClean="0">
                          <a:solidFill>
                            <a:srgbClr val="000000"/>
                          </a:solidFill>
                          <a:latin typeface="+mn-lt"/>
                          <a:ea typeface="+mn-ea"/>
                          <a:cs typeface="+mn-ea"/>
                          <a:sym typeface="+mn-lt"/>
                        </a:rPr>
                        <a:t>AP</a:t>
                      </a:r>
                      <a:r>
                        <a:rPr lang="zh-CN" altLang="en-US" sz="1200" dirty="0" smtClean="0">
                          <a:solidFill>
                            <a:srgbClr val="000000"/>
                          </a:solidFill>
                          <a:latin typeface="+mn-lt"/>
                          <a:ea typeface="+mn-ea"/>
                          <a:cs typeface="+mn-ea"/>
                          <a:sym typeface="+mn-lt"/>
                        </a:rPr>
                        <a:t>覆盖半径可按照</a:t>
                      </a:r>
                      <a:r>
                        <a:rPr lang="en-US" altLang="zh-CN" sz="1200" dirty="0" smtClean="0">
                          <a:solidFill>
                            <a:srgbClr val="000000"/>
                          </a:solidFill>
                          <a:latin typeface="+mn-lt"/>
                          <a:ea typeface="+mn-ea"/>
                          <a:cs typeface="+mn-ea"/>
                          <a:sym typeface="+mn-lt"/>
                        </a:rPr>
                        <a:t>15</a:t>
                      </a:r>
                      <a:r>
                        <a:rPr lang="zh-CN" altLang="en-US" sz="1200" dirty="0" smtClean="0">
                          <a:solidFill>
                            <a:srgbClr val="000000"/>
                          </a:solidFill>
                          <a:latin typeface="+mn-lt"/>
                          <a:ea typeface="+mn-ea"/>
                          <a:cs typeface="+mn-ea"/>
                          <a:sym typeface="+mn-lt"/>
                        </a:rPr>
                        <a:t>～</a:t>
                      </a:r>
                      <a:r>
                        <a:rPr lang="en-US" altLang="zh-CN" sz="1200" dirty="0" smtClean="0">
                          <a:solidFill>
                            <a:srgbClr val="000000"/>
                          </a:solidFill>
                          <a:latin typeface="+mn-lt"/>
                          <a:ea typeface="+mn-ea"/>
                          <a:cs typeface="+mn-ea"/>
                          <a:sym typeface="+mn-lt"/>
                        </a:rPr>
                        <a:t>20 m</a:t>
                      </a:r>
                      <a:r>
                        <a:rPr lang="zh-CN" altLang="en-US" sz="1200" dirty="0" smtClean="0">
                          <a:solidFill>
                            <a:srgbClr val="000000"/>
                          </a:solidFill>
                          <a:latin typeface="+mn-lt"/>
                          <a:ea typeface="+mn-ea"/>
                          <a:cs typeface="+mn-ea"/>
                          <a:sym typeface="+mn-lt"/>
                        </a:rPr>
                        <a:t>规划。</a:t>
                      </a:r>
                      <a:endParaRPr 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80086">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zh-CN" altLang="en-US" sz="1200" dirty="0" smtClean="0">
                          <a:solidFill>
                            <a:srgbClr val="000000"/>
                          </a:solidFill>
                          <a:latin typeface="+mn-lt"/>
                          <a:ea typeface="+mn-ea"/>
                          <a:cs typeface="+mn-ea"/>
                          <a:sym typeface="+mn-lt"/>
                        </a:rPr>
                        <a:t>室外场景</a:t>
                      </a:r>
                      <a:endParaRPr lang="zh-CN" altLang="en-US" sz="1200" dirty="0">
                        <a:solidFill>
                          <a:srgbClr val="000000"/>
                        </a:solidFill>
                        <a:latin typeface="+mn-lt"/>
                        <a:ea typeface="+mn-ea"/>
                        <a:cs typeface="+mn-ea"/>
                        <a:sym typeface="+mn-lt"/>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200" dirty="0" smtClean="0">
                          <a:solidFill>
                            <a:srgbClr val="000000"/>
                          </a:solidFill>
                          <a:latin typeface="+mn-lt"/>
                          <a:ea typeface="+mn-ea"/>
                          <a:cs typeface="+mn-ea"/>
                          <a:sym typeface="+mn-lt"/>
                        </a:rPr>
                        <a:t>单</a:t>
                      </a:r>
                      <a:r>
                        <a:rPr lang="en-US" altLang="zh-CN" sz="1200" dirty="0" smtClean="0">
                          <a:solidFill>
                            <a:srgbClr val="000000"/>
                          </a:solidFill>
                          <a:latin typeface="+mn-lt"/>
                          <a:ea typeface="+mn-ea"/>
                          <a:cs typeface="+mn-ea"/>
                          <a:sym typeface="+mn-lt"/>
                        </a:rPr>
                        <a:t>AP</a:t>
                      </a:r>
                      <a:r>
                        <a:rPr lang="zh-CN" altLang="en-US" sz="1200" dirty="0" smtClean="0">
                          <a:solidFill>
                            <a:srgbClr val="000000"/>
                          </a:solidFill>
                          <a:latin typeface="+mn-lt"/>
                          <a:ea typeface="+mn-ea"/>
                          <a:cs typeface="+mn-ea"/>
                          <a:sym typeface="+mn-lt"/>
                        </a:rPr>
                        <a:t>覆盖半径可按照</a:t>
                      </a:r>
                      <a:r>
                        <a:rPr lang="en-US" altLang="zh-CN" sz="1200" dirty="0" smtClean="0">
                          <a:solidFill>
                            <a:srgbClr val="000000"/>
                          </a:solidFill>
                          <a:latin typeface="+mn-lt"/>
                          <a:ea typeface="+mn-ea"/>
                          <a:cs typeface="+mn-ea"/>
                          <a:sym typeface="+mn-lt"/>
                        </a:rPr>
                        <a:t>50</a:t>
                      </a:r>
                      <a:r>
                        <a:rPr lang="zh-CN" altLang="en-US" sz="1200" dirty="0" smtClean="0">
                          <a:solidFill>
                            <a:srgbClr val="000000"/>
                          </a:solidFill>
                          <a:latin typeface="+mn-lt"/>
                          <a:ea typeface="+mn-ea"/>
                          <a:cs typeface="+mn-ea"/>
                          <a:sym typeface="+mn-lt"/>
                        </a:rPr>
                        <a:t>～</a:t>
                      </a:r>
                      <a:r>
                        <a:rPr lang="en-US" altLang="zh-CN" sz="1200" dirty="0" smtClean="0">
                          <a:solidFill>
                            <a:srgbClr val="000000"/>
                          </a:solidFill>
                          <a:latin typeface="+mn-lt"/>
                          <a:ea typeface="+mn-ea"/>
                          <a:cs typeface="+mn-ea"/>
                          <a:sym typeface="+mn-lt"/>
                        </a:rPr>
                        <a:t>80 m</a:t>
                      </a:r>
                      <a:r>
                        <a:rPr lang="zh-CN" altLang="en-US" sz="1200" dirty="0" smtClean="0">
                          <a:solidFill>
                            <a:srgbClr val="000000"/>
                          </a:solidFill>
                          <a:latin typeface="+mn-lt"/>
                          <a:ea typeface="+mn-ea"/>
                          <a:cs typeface="+mn-ea"/>
                          <a:sym typeface="+mn-lt"/>
                        </a:rPr>
                        <a:t>规划。</a:t>
                      </a:r>
                      <a:endParaRPr 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88278">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algn="ctr"/>
                      <a:r>
                        <a:rPr lang="zh-CN" altLang="en-US" sz="1200" dirty="0" smtClean="0">
                          <a:solidFill>
                            <a:srgbClr val="000000"/>
                          </a:solidFill>
                          <a:latin typeface="+mn-lt"/>
                          <a:ea typeface="+mn-ea"/>
                          <a:cs typeface="+mn-ea"/>
                          <a:sym typeface="+mn-lt"/>
                        </a:rPr>
                        <a:t>室内高密场景</a:t>
                      </a:r>
                      <a:endParaRPr lang="zh-CN" altLang="en-US" sz="1200" dirty="0">
                        <a:solidFill>
                          <a:srgbClr val="000000"/>
                        </a:solidFill>
                        <a:latin typeface="+mn-lt"/>
                        <a:ea typeface="+mn-ea"/>
                        <a:cs typeface="+mn-ea"/>
                        <a:sym typeface="+mn-lt"/>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200" dirty="0" smtClean="0">
                          <a:solidFill>
                            <a:srgbClr val="000000"/>
                          </a:solidFill>
                          <a:latin typeface="+mn-lt"/>
                          <a:ea typeface="+mn-ea"/>
                          <a:cs typeface="+mn-ea"/>
                          <a:sym typeface="+mn-lt"/>
                        </a:rPr>
                        <a:t>建议使用小角度定向天线，网规时根据天线的角度选择</a:t>
                      </a:r>
                      <a:r>
                        <a:rPr lang="en-US" altLang="zh-CN" sz="1200" dirty="0" smtClean="0">
                          <a:solidFill>
                            <a:srgbClr val="000000"/>
                          </a:solidFill>
                          <a:latin typeface="+mn-lt"/>
                          <a:ea typeface="+mn-ea"/>
                          <a:cs typeface="+mn-ea"/>
                          <a:sym typeface="+mn-lt"/>
                        </a:rPr>
                        <a:t>AP</a:t>
                      </a:r>
                      <a:r>
                        <a:rPr lang="zh-CN" altLang="en-US" sz="1200" dirty="0" smtClean="0">
                          <a:solidFill>
                            <a:srgbClr val="000000"/>
                          </a:solidFill>
                          <a:latin typeface="+mn-lt"/>
                          <a:ea typeface="+mn-ea"/>
                          <a:cs typeface="+mn-ea"/>
                          <a:sym typeface="+mn-lt"/>
                        </a:rPr>
                        <a:t>布放的位置和距离。</a:t>
                      </a:r>
                      <a:endParaRPr lang="en-US" sz="1200" dirty="0">
                        <a:solidFill>
                          <a:srgbClr val="000000"/>
                        </a:solidFill>
                        <a:latin typeface="+mn-lt"/>
                        <a:ea typeface="+mn-ea"/>
                        <a:cs typeface="+mn-ea"/>
                        <a:sym typeface="+mn-lt"/>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3" name="矩形 22"/>
          <p:cNvSpPr/>
          <p:nvPr/>
        </p:nvSpPr>
        <p:spPr>
          <a:xfrm>
            <a:off x="896459" y="2567201"/>
            <a:ext cx="1261884" cy="307777"/>
          </a:xfrm>
          <a:prstGeom prst="rect">
            <a:avLst/>
          </a:prstGeom>
        </p:spPr>
        <p:txBody>
          <a:bodyPr wrap="none">
            <a:spAutoFit/>
          </a:bodyPr>
          <a:lstStyle/>
          <a:p>
            <a:pPr defTabSz="914400" fontAlgn="base">
              <a:spcBef>
                <a:spcPct val="0"/>
              </a:spcBef>
              <a:spcAft>
                <a:spcPct val="0"/>
              </a:spcAft>
            </a:pPr>
            <a:r>
              <a:rPr lang="zh-CN" altLang="en-US" sz="1400" dirty="0" smtClean="0">
                <a:solidFill>
                  <a:srgbClr val="000000"/>
                </a:solidFill>
                <a:cs typeface="+mn-ea"/>
                <a:sym typeface="+mn-lt"/>
              </a:rPr>
              <a:t>物理覆盖参考</a:t>
            </a:r>
            <a:endParaRPr lang="zh-CN" altLang="en-US" sz="1400" dirty="0">
              <a:solidFill>
                <a:srgbClr val="000000"/>
              </a:solidFill>
              <a:cs typeface="+mn-ea"/>
              <a:sym typeface="+mn-lt"/>
            </a:endParaRPr>
          </a:p>
        </p:txBody>
      </p:sp>
      <p:sp>
        <p:nvSpPr>
          <p:cNvPr id="24" name="五边形 23"/>
          <p:cNvSpPr/>
          <p:nvPr/>
        </p:nvSpPr>
        <p:spPr bwMode="auto">
          <a:xfrm>
            <a:off x="7613468"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无线规划</a:t>
            </a:r>
          </a:p>
        </p:txBody>
      </p:sp>
      <p:sp>
        <p:nvSpPr>
          <p:cNvPr id="25" name="燕尾形 24"/>
          <p:cNvSpPr/>
          <p:nvPr/>
        </p:nvSpPr>
        <p:spPr bwMode="auto">
          <a:xfrm>
            <a:off x="8421976"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9230484"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10038992"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auto">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72580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latin typeface="+mn-lt"/>
                <a:ea typeface="+mn-ea"/>
                <a:cs typeface="+mn-ea"/>
                <a:sym typeface="+mn-lt"/>
              </a:rPr>
              <a:t>无线规划</a:t>
            </a:r>
            <a:r>
              <a:rPr lang="zh-CN" altLang="en-US" smtClean="0">
                <a:latin typeface="+mn-lt"/>
                <a:ea typeface="+mn-ea"/>
                <a:cs typeface="+mn-ea"/>
                <a:sym typeface="+mn-lt"/>
              </a:rPr>
              <a:t>：</a:t>
            </a:r>
            <a:r>
              <a:rPr lang="en-US" altLang="zh-CN" smtClean="0">
                <a:latin typeface="+mn-lt"/>
                <a:ea typeface="+mn-ea"/>
                <a:cs typeface="+mn-ea"/>
                <a:sym typeface="+mn-lt"/>
              </a:rPr>
              <a:t>AP</a:t>
            </a:r>
            <a:r>
              <a:rPr lang="zh-CN" altLang="en-US" smtClean="0">
                <a:latin typeface="+mn-lt"/>
                <a:ea typeface="+mn-ea"/>
                <a:cs typeface="+mn-ea"/>
                <a:sym typeface="+mn-lt"/>
              </a:rPr>
              <a:t>布放规划</a:t>
            </a:r>
            <a:endParaRPr lang="zh-CN" altLang="en-US">
              <a:latin typeface="+mn-lt"/>
              <a:ea typeface="+mn-ea"/>
              <a:cs typeface="+mn-ea"/>
              <a:sym typeface="+mn-lt"/>
            </a:endParaRPr>
          </a:p>
        </p:txBody>
      </p:sp>
      <p:sp>
        <p:nvSpPr>
          <p:cNvPr id="3" name="圆角矩形 75"/>
          <p:cNvSpPr/>
          <p:nvPr/>
        </p:nvSpPr>
        <p:spPr bwMode="gray">
          <a:xfrm>
            <a:off x="470868" y="1087529"/>
            <a:ext cx="2776520" cy="4978400"/>
          </a:xfrm>
          <a:prstGeom prst="roundRect">
            <a:avLst>
              <a:gd name="adj" fmla="val 2772"/>
            </a:avLst>
          </a:prstGeom>
          <a:solidFill>
            <a:schemeClr val="bg1">
              <a:lumMod val="95000"/>
            </a:schemeClr>
          </a:solidFill>
          <a:ln w="12700" cap="flat" cmpd="sng" algn="ctr">
            <a:noFill/>
            <a:prstDash val="solid"/>
          </a:ln>
          <a:effectLst/>
        </p:spPr>
        <p:txBody>
          <a:bodyPr wrap="square" lIns="108000" tIns="108000" rIns="108000" bIns="72000" rtlCol="0" anchor="t" anchorCtr="0"/>
          <a:lstStyle/>
          <a:p>
            <a:pPr marL="176213" indent="-176213" defTabSz="914400" eaLnBrk="0" fontAlgn="base" hangingPunct="0">
              <a:lnSpc>
                <a:spcPts val="1800"/>
              </a:lnSpc>
              <a:spcBef>
                <a:spcPct val="0"/>
              </a:spcBef>
              <a:spcAft>
                <a:spcPts val="600"/>
              </a:spcAft>
              <a:buFont typeface="+mj-lt"/>
              <a:buAutoNum type="arabicPeriod"/>
            </a:pPr>
            <a:endParaRPr lang="en-US" altLang="zh-CN" sz="1400" kern="0">
              <a:solidFill>
                <a:srgbClr val="000000">
                  <a:lumMod val="65000"/>
                  <a:lumOff val="35000"/>
                </a:srgbClr>
              </a:solidFill>
              <a:cs typeface="+mn-ea"/>
              <a:sym typeface="+mn-lt"/>
            </a:endParaRPr>
          </a:p>
        </p:txBody>
      </p:sp>
      <p:sp>
        <p:nvSpPr>
          <p:cNvPr id="4" name="圆角矩形 75"/>
          <p:cNvSpPr/>
          <p:nvPr/>
        </p:nvSpPr>
        <p:spPr bwMode="gray">
          <a:xfrm>
            <a:off x="3363741" y="1037969"/>
            <a:ext cx="8363240" cy="4978400"/>
          </a:xfrm>
          <a:prstGeom prst="roundRect">
            <a:avLst>
              <a:gd name="adj" fmla="val 714"/>
            </a:avLst>
          </a:prstGeom>
          <a:solidFill>
            <a:schemeClr val="bg1">
              <a:lumMod val="95000"/>
            </a:schemeClr>
          </a:solidFill>
          <a:ln w="12700" cap="flat" cmpd="sng" algn="ctr">
            <a:noFill/>
            <a:prstDash val="solid"/>
          </a:ln>
          <a:effectLst/>
        </p:spPr>
        <p:txBody>
          <a:bodyPr wrap="square" lIns="108000" tIns="108000" rIns="108000" bIns="72000" rtlCol="0" anchor="t" anchorCtr="0"/>
          <a:lstStyle/>
          <a:p>
            <a:pPr marL="176213" indent="-176213" defTabSz="914400" eaLnBrk="0" fontAlgn="base" hangingPunct="0">
              <a:lnSpc>
                <a:spcPts val="1800"/>
              </a:lnSpc>
              <a:spcBef>
                <a:spcPct val="0"/>
              </a:spcBef>
              <a:spcAft>
                <a:spcPts val="600"/>
              </a:spcAft>
              <a:buFont typeface="+mj-lt"/>
              <a:buAutoNum type="arabicPeriod"/>
            </a:pPr>
            <a:endParaRPr lang="en-US" altLang="zh-CN" sz="1400" kern="0">
              <a:solidFill>
                <a:srgbClr val="000000">
                  <a:lumMod val="65000"/>
                  <a:lumOff val="35000"/>
                </a:srgbClr>
              </a:solidFill>
              <a:cs typeface="+mn-ea"/>
              <a:sym typeface="+mn-lt"/>
            </a:endParaRPr>
          </a:p>
        </p:txBody>
      </p:sp>
      <p:sp>
        <p:nvSpPr>
          <p:cNvPr id="5" name="矩形 4"/>
          <p:cNvSpPr/>
          <p:nvPr/>
        </p:nvSpPr>
        <p:spPr bwMode="gray">
          <a:xfrm>
            <a:off x="3836755" y="2290808"/>
            <a:ext cx="4067768" cy="754053"/>
          </a:xfrm>
          <a:prstGeom prst="rect">
            <a:avLst/>
          </a:prstGeom>
        </p:spPr>
        <p:txBody>
          <a:bodyPr wrap="square">
            <a:spAutoFit/>
          </a:bodyPr>
          <a:lstStyle/>
          <a:p>
            <a:pPr>
              <a:spcAft>
                <a:spcPts val="600"/>
              </a:spcAft>
            </a:pPr>
            <a:r>
              <a:rPr lang="zh-CN" altLang="en-US" sz="1400" dirty="0" smtClean="0">
                <a:cs typeface="+mn-ea"/>
                <a:sym typeface="+mn-lt"/>
              </a:rPr>
              <a:t>进入华为在线</a:t>
            </a:r>
            <a:r>
              <a:rPr lang="en-US" altLang="zh-CN" sz="1400" dirty="0" smtClean="0">
                <a:cs typeface="+mn-ea"/>
                <a:sym typeface="+mn-lt"/>
              </a:rPr>
              <a:t>WLAN</a:t>
            </a:r>
            <a:r>
              <a:rPr lang="zh-CN" altLang="en-US" sz="1400" dirty="0">
                <a:cs typeface="+mn-ea"/>
                <a:sym typeface="+mn-lt"/>
              </a:rPr>
              <a:t>网</a:t>
            </a:r>
            <a:r>
              <a:rPr lang="zh-CN" altLang="en-US" sz="1400" dirty="0" smtClean="0">
                <a:cs typeface="+mn-ea"/>
                <a:sym typeface="+mn-lt"/>
              </a:rPr>
              <a:t>规工具：</a:t>
            </a:r>
            <a:r>
              <a:rPr lang="en-US" altLang="zh-CN" sz="1400" dirty="0" smtClean="0">
                <a:cs typeface="+mn-ea"/>
                <a:sym typeface="+mn-lt"/>
              </a:rPr>
              <a:t>WLAN Planner</a:t>
            </a:r>
          </a:p>
          <a:p>
            <a:pPr eaLnBrk="0" hangingPunct="0">
              <a:spcAft>
                <a:spcPts val="600"/>
              </a:spcAft>
            </a:pPr>
            <a:r>
              <a:rPr lang="en-US" altLang="zh-CN" sz="1200" dirty="0">
                <a:cs typeface="+mn-ea"/>
                <a:sym typeface="+mn-lt"/>
              </a:rPr>
              <a:t>https://serviceturbo-cloud-cn.huawei.com/serviceturbocloud/dist/#/</a:t>
            </a:r>
            <a:r>
              <a:rPr lang="en-US" altLang="zh-CN" sz="1200" dirty="0" smtClean="0">
                <a:cs typeface="+mn-ea"/>
                <a:sym typeface="+mn-lt"/>
              </a:rPr>
              <a:t>toolappmarket</a:t>
            </a:r>
            <a:endParaRPr lang="zh-CN" altLang="en-US" sz="1200" dirty="0">
              <a:cs typeface="+mn-ea"/>
              <a:sym typeface="+mn-lt"/>
            </a:endParaRPr>
          </a:p>
        </p:txBody>
      </p:sp>
      <p:cxnSp>
        <p:nvCxnSpPr>
          <p:cNvPr id="6" name="直接连接符 5"/>
          <p:cNvCxnSpPr/>
          <p:nvPr/>
        </p:nvCxnSpPr>
        <p:spPr bwMode="gray">
          <a:xfrm>
            <a:off x="3524825" y="3399966"/>
            <a:ext cx="439369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a:off x="8129561" y="1087530"/>
            <a:ext cx="0" cy="49784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bwMode="gray">
          <a:xfrm>
            <a:off x="8604118" y="4569363"/>
            <a:ext cx="2617281" cy="1092607"/>
          </a:xfrm>
          <a:prstGeom prst="rect">
            <a:avLst/>
          </a:prstGeom>
        </p:spPr>
        <p:txBody>
          <a:bodyPr wrap="square">
            <a:spAutoFit/>
          </a:bodyPr>
          <a:lstStyle/>
          <a:p>
            <a:pPr marL="171450" indent="-171450">
              <a:lnSpc>
                <a:spcPts val="2400"/>
              </a:lnSpc>
              <a:spcAft>
                <a:spcPts val="600"/>
              </a:spcAft>
              <a:buFont typeface="Arial" panose="020B0604020202020204" pitchFamily="34" charset="0"/>
              <a:buChar char="•"/>
            </a:pPr>
            <a:r>
              <a:rPr lang="zh-CN" altLang="en-US" sz="1400" dirty="0" smtClean="0">
                <a:cs typeface="+mn-ea"/>
                <a:sym typeface="+mn-lt"/>
              </a:rPr>
              <a:t>使用网规报告指导现场施工；</a:t>
            </a:r>
            <a:endParaRPr lang="en-US" altLang="zh-CN" sz="1400" dirty="0" smtClean="0">
              <a:cs typeface="+mn-ea"/>
              <a:sym typeface="+mn-lt"/>
            </a:endParaRPr>
          </a:p>
          <a:p>
            <a:pPr marL="171450" indent="-171450">
              <a:lnSpc>
                <a:spcPts val="2400"/>
              </a:lnSpc>
              <a:spcAft>
                <a:spcPts val="600"/>
              </a:spcAft>
              <a:buFont typeface="Arial" panose="020B0604020202020204" pitchFamily="34" charset="0"/>
              <a:buChar char="•"/>
            </a:pPr>
            <a:r>
              <a:rPr lang="zh-CN" altLang="en-US" sz="1400" dirty="0" smtClean="0">
                <a:cs typeface="+mn-ea"/>
                <a:sym typeface="+mn-lt"/>
              </a:rPr>
              <a:t>网规结果可导入</a:t>
            </a:r>
            <a:r>
              <a:rPr lang="en-US" altLang="zh-CN" sz="1400" dirty="0" err="1" smtClean="0">
                <a:cs typeface="+mn-ea"/>
                <a:sym typeface="+mn-lt"/>
              </a:rPr>
              <a:t>iMaster</a:t>
            </a:r>
            <a:r>
              <a:rPr lang="en-US" altLang="zh-CN" sz="1400" dirty="0" smtClean="0">
                <a:cs typeface="+mn-ea"/>
                <a:sym typeface="+mn-lt"/>
              </a:rPr>
              <a:t> NCE-Campus</a:t>
            </a:r>
            <a:r>
              <a:rPr lang="zh-CN" altLang="en-US" sz="1400" dirty="0" smtClean="0">
                <a:cs typeface="+mn-ea"/>
                <a:sym typeface="+mn-lt"/>
              </a:rPr>
              <a:t>。</a:t>
            </a:r>
            <a:endParaRPr lang="zh-CN" altLang="en-US" sz="1400" dirty="0">
              <a:cs typeface="+mn-ea"/>
              <a:sym typeface="+mn-lt"/>
            </a:endParaRPr>
          </a:p>
        </p:txBody>
      </p:sp>
      <p:sp>
        <p:nvSpPr>
          <p:cNvPr id="9" name="Oval 4"/>
          <p:cNvSpPr>
            <a:spLocks noChangeAspect="1"/>
          </p:cNvSpPr>
          <p:nvPr/>
        </p:nvSpPr>
        <p:spPr bwMode="gray">
          <a:xfrm>
            <a:off x="3648597" y="2328590"/>
            <a:ext cx="211977" cy="211977"/>
          </a:xfrm>
          <a:prstGeom prst="ellipse">
            <a:avLst/>
          </a:prstGeom>
          <a:solidFill>
            <a:srgbClr val="56C4D2"/>
          </a:solidFill>
          <a:ln w="12700" cap="flat" cmpd="sng" algn="ctr">
            <a:noFill/>
            <a:prstDash val="solid"/>
            <a:miter lim="800000"/>
          </a:ln>
          <a:effectLst/>
        </p:spPr>
        <p:txBody>
          <a:bodyPr rtlCol="0" anchor="ctr"/>
          <a:lstStyle/>
          <a:p>
            <a:pPr algn="ctr"/>
            <a:r>
              <a:rPr lang="en-US" altLang="zh-CN" sz="1400" b="1" smtClean="0">
                <a:solidFill>
                  <a:schemeClr val="bg1"/>
                </a:solidFill>
                <a:cs typeface="+mn-ea"/>
                <a:sym typeface="+mn-lt"/>
              </a:rPr>
              <a:t>2</a:t>
            </a:r>
            <a:endParaRPr lang="zh-CN" altLang="en-US" sz="1400" b="1">
              <a:solidFill>
                <a:schemeClr val="bg1"/>
              </a:solidFill>
              <a:cs typeface="+mn-ea"/>
              <a:sym typeface="+mn-lt"/>
            </a:endParaRPr>
          </a:p>
        </p:txBody>
      </p:sp>
      <p:sp>
        <p:nvSpPr>
          <p:cNvPr id="10" name="Oval 4"/>
          <p:cNvSpPr>
            <a:spLocks noChangeAspect="1"/>
          </p:cNvSpPr>
          <p:nvPr/>
        </p:nvSpPr>
        <p:spPr bwMode="gray">
          <a:xfrm>
            <a:off x="8373894" y="4687341"/>
            <a:ext cx="211977" cy="211977"/>
          </a:xfrm>
          <a:prstGeom prst="ellipse">
            <a:avLst/>
          </a:prstGeom>
          <a:solidFill>
            <a:srgbClr val="56C4D2"/>
          </a:solidFill>
          <a:ln w="12700" cap="flat" cmpd="sng" algn="ctr">
            <a:noFill/>
            <a:prstDash val="solid"/>
            <a:miter lim="800000"/>
          </a:ln>
          <a:effectLst/>
        </p:spPr>
        <p:txBody>
          <a:bodyPr rtlCol="0" anchor="ctr"/>
          <a:lstStyle/>
          <a:p>
            <a:pPr algn="ctr"/>
            <a:r>
              <a:rPr lang="en-US" altLang="zh-CN" sz="1400" b="1" dirty="0" smtClean="0">
                <a:solidFill>
                  <a:schemeClr val="bg1"/>
                </a:solidFill>
                <a:cs typeface="+mn-ea"/>
                <a:sym typeface="+mn-lt"/>
              </a:rPr>
              <a:t>4</a:t>
            </a:r>
            <a:endParaRPr lang="zh-CN" altLang="en-US" sz="1400" b="1" dirty="0">
              <a:solidFill>
                <a:schemeClr val="bg1"/>
              </a:solidFill>
              <a:cs typeface="+mn-ea"/>
              <a:sym typeface="+mn-lt"/>
            </a:endParaRPr>
          </a:p>
        </p:txBody>
      </p:sp>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l="8505" t="7555" r="9059" b="7557"/>
          <a:stretch/>
        </p:blipFill>
        <p:spPr bwMode="gray">
          <a:xfrm>
            <a:off x="539435" y="1565696"/>
            <a:ext cx="2599268" cy="2676485"/>
          </a:xfrm>
          <a:prstGeom prst="rect">
            <a:avLst/>
          </a:prstGeom>
          <a:ln w="12700">
            <a:solidFill>
              <a:schemeClr val="bg1">
                <a:lumMod val="85000"/>
              </a:schemeClr>
            </a:solidFill>
          </a:ln>
        </p:spPr>
      </p:pic>
      <p:sp>
        <p:nvSpPr>
          <p:cNvPr id="13" name="矩形 12"/>
          <p:cNvSpPr/>
          <p:nvPr/>
        </p:nvSpPr>
        <p:spPr bwMode="gray">
          <a:xfrm>
            <a:off x="1576917" y="1209148"/>
            <a:ext cx="1166283" cy="307777"/>
          </a:xfrm>
          <a:prstGeom prst="rect">
            <a:avLst/>
          </a:prstGeom>
        </p:spPr>
        <p:txBody>
          <a:bodyPr wrap="square">
            <a:spAutoFit/>
          </a:bodyPr>
          <a:lstStyle/>
          <a:p>
            <a:r>
              <a:rPr lang="zh-CN" altLang="en-US" sz="1400" smtClean="0">
                <a:cs typeface="+mn-ea"/>
                <a:sym typeface="+mn-lt"/>
              </a:rPr>
              <a:t>获取平面图</a:t>
            </a:r>
            <a:endParaRPr lang="en-US" altLang="zh-CN" sz="1400">
              <a:cs typeface="+mn-ea"/>
              <a:sym typeface="+mn-lt"/>
            </a:endParaRPr>
          </a:p>
        </p:txBody>
      </p:sp>
      <p:sp>
        <p:nvSpPr>
          <p:cNvPr id="14" name="Oval 4"/>
          <p:cNvSpPr>
            <a:spLocks noChangeAspect="1"/>
          </p:cNvSpPr>
          <p:nvPr/>
        </p:nvSpPr>
        <p:spPr bwMode="gray">
          <a:xfrm>
            <a:off x="1362485" y="1241659"/>
            <a:ext cx="211977" cy="211977"/>
          </a:xfrm>
          <a:prstGeom prst="ellipse">
            <a:avLst/>
          </a:prstGeom>
          <a:solidFill>
            <a:srgbClr val="56C4D2"/>
          </a:solidFill>
          <a:ln w="12700" cap="flat" cmpd="sng" algn="ctr">
            <a:noFill/>
            <a:prstDash val="solid"/>
            <a:miter lim="800000"/>
          </a:ln>
          <a:effectLst/>
        </p:spPr>
        <p:txBody>
          <a:bodyPr rtlCol="0" anchor="ctr"/>
          <a:lstStyle/>
          <a:p>
            <a:pPr algn="ctr"/>
            <a:r>
              <a:rPr lang="en-US" altLang="zh-CN" sz="1400" b="1" dirty="0" smtClean="0">
                <a:solidFill>
                  <a:schemeClr val="bg1"/>
                </a:solidFill>
                <a:cs typeface="+mn-ea"/>
                <a:sym typeface="+mn-lt"/>
              </a:rPr>
              <a:t>1</a:t>
            </a:r>
            <a:endParaRPr lang="zh-CN" altLang="en-US" sz="1400" b="1" dirty="0">
              <a:solidFill>
                <a:schemeClr val="bg1"/>
              </a:solidFill>
              <a:cs typeface="+mn-ea"/>
              <a:sym typeface="+mn-lt"/>
            </a:endParaRPr>
          </a:p>
        </p:txBody>
      </p:sp>
      <p:pic>
        <p:nvPicPr>
          <p:cNvPr id="15" name="图片 14"/>
          <p:cNvPicPr>
            <a:picLocks noChangeAspect="1"/>
          </p:cNvPicPr>
          <p:nvPr/>
        </p:nvPicPr>
        <p:blipFill>
          <a:blip r:embed="rId4"/>
          <a:stretch>
            <a:fillRect/>
          </a:stretch>
        </p:blipFill>
        <p:spPr bwMode="gray">
          <a:xfrm>
            <a:off x="3643885" y="1441887"/>
            <a:ext cx="4274631" cy="702070"/>
          </a:xfrm>
          <a:prstGeom prst="rect">
            <a:avLst/>
          </a:prstGeom>
        </p:spPr>
      </p:pic>
      <p:sp>
        <p:nvSpPr>
          <p:cNvPr id="16" name="文本框 15"/>
          <p:cNvSpPr txBox="1"/>
          <p:nvPr/>
        </p:nvSpPr>
        <p:spPr bwMode="gray">
          <a:xfrm>
            <a:off x="4050784" y="3569523"/>
            <a:ext cx="1130578" cy="306467"/>
          </a:xfrm>
          <a:prstGeom prst="roundRect">
            <a:avLst/>
          </a:prstGeom>
          <a:solidFill>
            <a:srgbClr val="EC7061"/>
          </a:solidFill>
        </p:spPr>
        <p:txBody>
          <a:bodyPr wrap="none" rtlCol="0">
            <a:noAutofit/>
          </a:bodyPr>
          <a:lstStyle/>
          <a:p>
            <a:pPr algn="ctr"/>
            <a:r>
              <a:rPr lang="en-US" altLang="zh-CN" sz="1200" dirty="0" smtClean="0">
                <a:solidFill>
                  <a:schemeClr val="bg1"/>
                </a:solidFill>
                <a:cs typeface="+mn-ea"/>
                <a:sym typeface="+mn-lt"/>
              </a:rPr>
              <a:t>1. </a:t>
            </a:r>
            <a:r>
              <a:rPr lang="en-US" altLang="zh-CN" sz="1200" dirty="0" err="1" smtClean="0">
                <a:solidFill>
                  <a:schemeClr val="bg1"/>
                </a:solidFill>
                <a:cs typeface="+mn-ea"/>
                <a:sym typeface="+mn-lt"/>
              </a:rPr>
              <a:t>环境</a:t>
            </a:r>
            <a:r>
              <a:rPr lang="zh-CN" altLang="en-US" sz="1200" dirty="0" smtClean="0">
                <a:solidFill>
                  <a:schemeClr val="bg1"/>
                </a:solidFill>
                <a:cs typeface="+mn-ea"/>
                <a:sym typeface="+mn-lt"/>
              </a:rPr>
              <a:t>设置</a:t>
            </a:r>
            <a:endParaRPr lang="zh-CN" altLang="en-US" sz="1200" dirty="0">
              <a:solidFill>
                <a:schemeClr val="bg1"/>
              </a:solidFill>
              <a:cs typeface="+mn-ea"/>
              <a:sym typeface="+mn-lt"/>
            </a:endParaRPr>
          </a:p>
        </p:txBody>
      </p:sp>
      <p:sp>
        <p:nvSpPr>
          <p:cNvPr id="17" name="文本框 16"/>
          <p:cNvSpPr txBox="1"/>
          <p:nvPr/>
        </p:nvSpPr>
        <p:spPr bwMode="gray">
          <a:xfrm>
            <a:off x="4050784" y="4044686"/>
            <a:ext cx="1130578" cy="306467"/>
          </a:xfrm>
          <a:prstGeom prst="roundRect">
            <a:avLst/>
          </a:prstGeom>
          <a:solidFill>
            <a:srgbClr val="EC7061"/>
          </a:solidFill>
        </p:spPr>
        <p:txBody>
          <a:bodyPr wrap="none" rtlCol="0">
            <a:noAutofit/>
          </a:bodyPr>
          <a:lstStyle/>
          <a:p>
            <a:pPr algn="ctr"/>
            <a:r>
              <a:rPr lang="en-US" altLang="zh-CN" sz="1200" dirty="0" smtClean="0">
                <a:solidFill>
                  <a:schemeClr val="bg1"/>
                </a:solidFill>
                <a:cs typeface="+mn-ea"/>
                <a:sym typeface="+mn-lt"/>
              </a:rPr>
              <a:t>2. </a:t>
            </a:r>
            <a:r>
              <a:rPr lang="en-US" altLang="zh-CN" sz="1200" dirty="0" err="1" smtClean="0">
                <a:solidFill>
                  <a:schemeClr val="bg1"/>
                </a:solidFill>
                <a:cs typeface="+mn-ea"/>
                <a:sym typeface="+mn-lt"/>
              </a:rPr>
              <a:t>区域</a:t>
            </a:r>
            <a:r>
              <a:rPr lang="zh-CN" altLang="en-US" sz="1200" dirty="0" smtClean="0">
                <a:solidFill>
                  <a:schemeClr val="bg1"/>
                </a:solidFill>
                <a:cs typeface="+mn-ea"/>
                <a:sym typeface="+mn-lt"/>
              </a:rPr>
              <a:t>设置</a:t>
            </a:r>
            <a:endParaRPr lang="zh-CN" altLang="en-US" sz="1200" dirty="0">
              <a:solidFill>
                <a:schemeClr val="bg1"/>
              </a:solidFill>
              <a:cs typeface="+mn-ea"/>
              <a:sym typeface="+mn-lt"/>
            </a:endParaRPr>
          </a:p>
        </p:txBody>
      </p:sp>
      <p:sp>
        <p:nvSpPr>
          <p:cNvPr id="18" name="文本框 17"/>
          <p:cNvSpPr txBox="1"/>
          <p:nvPr/>
        </p:nvSpPr>
        <p:spPr bwMode="gray">
          <a:xfrm>
            <a:off x="4050784" y="4519849"/>
            <a:ext cx="1130578" cy="306467"/>
          </a:xfrm>
          <a:prstGeom prst="roundRect">
            <a:avLst/>
          </a:prstGeom>
          <a:solidFill>
            <a:srgbClr val="EC7061"/>
          </a:solidFill>
        </p:spPr>
        <p:txBody>
          <a:bodyPr wrap="none" rtlCol="0">
            <a:noAutofit/>
          </a:bodyPr>
          <a:lstStyle/>
          <a:p>
            <a:pPr algn="ctr"/>
            <a:r>
              <a:rPr lang="en-US" altLang="zh-CN" sz="1200" dirty="0" smtClean="0">
                <a:solidFill>
                  <a:schemeClr val="bg1"/>
                </a:solidFill>
                <a:cs typeface="+mn-ea"/>
                <a:sym typeface="+mn-lt"/>
              </a:rPr>
              <a:t>3. </a:t>
            </a:r>
            <a:r>
              <a:rPr lang="zh-CN" altLang="en-US" sz="1200" dirty="0" smtClean="0">
                <a:solidFill>
                  <a:schemeClr val="bg1"/>
                </a:solidFill>
                <a:cs typeface="+mn-ea"/>
                <a:sym typeface="+mn-lt"/>
              </a:rPr>
              <a:t>设备布放</a:t>
            </a:r>
            <a:endParaRPr lang="zh-CN" altLang="en-US" sz="1200" dirty="0">
              <a:solidFill>
                <a:schemeClr val="bg1"/>
              </a:solidFill>
              <a:cs typeface="+mn-ea"/>
              <a:sym typeface="+mn-lt"/>
            </a:endParaRPr>
          </a:p>
        </p:txBody>
      </p:sp>
      <p:sp>
        <p:nvSpPr>
          <p:cNvPr id="19" name="文本框 18"/>
          <p:cNvSpPr txBox="1"/>
          <p:nvPr/>
        </p:nvSpPr>
        <p:spPr bwMode="gray">
          <a:xfrm>
            <a:off x="4050784" y="4995012"/>
            <a:ext cx="1130578" cy="306467"/>
          </a:xfrm>
          <a:prstGeom prst="roundRect">
            <a:avLst/>
          </a:prstGeom>
          <a:solidFill>
            <a:srgbClr val="EC7061"/>
          </a:solidFill>
        </p:spPr>
        <p:txBody>
          <a:bodyPr wrap="none" rtlCol="0">
            <a:noAutofit/>
          </a:bodyPr>
          <a:lstStyle/>
          <a:p>
            <a:pPr algn="ctr"/>
            <a:r>
              <a:rPr lang="en-US" altLang="zh-CN" sz="1200" dirty="0" smtClean="0">
                <a:solidFill>
                  <a:schemeClr val="bg1"/>
                </a:solidFill>
                <a:cs typeface="+mn-ea"/>
                <a:sym typeface="+mn-lt"/>
              </a:rPr>
              <a:t>4. </a:t>
            </a:r>
            <a:r>
              <a:rPr lang="zh-CN" altLang="en-US" sz="1200" dirty="0" smtClean="0">
                <a:solidFill>
                  <a:schemeClr val="bg1"/>
                </a:solidFill>
                <a:cs typeface="+mn-ea"/>
                <a:sym typeface="+mn-lt"/>
              </a:rPr>
              <a:t>信号</a:t>
            </a:r>
            <a:r>
              <a:rPr lang="en-US" altLang="zh-CN" sz="1200" dirty="0" err="1" smtClean="0">
                <a:solidFill>
                  <a:schemeClr val="bg1"/>
                </a:solidFill>
                <a:cs typeface="+mn-ea"/>
                <a:sym typeface="+mn-lt"/>
              </a:rPr>
              <a:t>仿真</a:t>
            </a:r>
            <a:endParaRPr lang="zh-CN" altLang="en-US" sz="1200" dirty="0">
              <a:solidFill>
                <a:schemeClr val="bg1"/>
              </a:solidFill>
              <a:cs typeface="+mn-ea"/>
              <a:sym typeface="+mn-lt"/>
            </a:endParaRPr>
          </a:p>
        </p:txBody>
      </p:sp>
      <p:sp>
        <p:nvSpPr>
          <p:cNvPr id="20" name="文本框 19"/>
          <p:cNvSpPr txBox="1"/>
          <p:nvPr/>
        </p:nvSpPr>
        <p:spPr bwMode="gray">
          <a:xfrm>
            <a:off x="4050784" y="5470174"/>
            <a:ext cx="1130578" cy="306467"/>
          </a:xfrm>
          <a:prstGeom prst="roundRect">
            <a:avLst/>
          </a:prstGeom>
          <a:solidFill>
            <a:srgbClr val="EC7061"/>
          </a:solidFill>
        </p:spPr>
        <p:txBody>
          <a:bodyPr wrap="none" rtlCol="0">
            <a:noAutofit/>
          </a:bodyPr>
          <a:lstStyle/>
          <a:p>
            <a:pPr algn="ctr"/>
            <a:r>
              <a:rPr lang="en-US" altLang="zh-CN" sz="1200" dirty="0" smtClean="0">
                <a:solidFill>
                  <a:schemeClr val="bg1"/>
                </a:solidFill>
                <a:cs typeface="+mn-ea"/>
                <a:sym typeface="+mn-lt"/>
              </a:rPr>
              <a:t>5. </a:t>
            </a:r>
            <a:r>
              <a:rPr lang="zh-CN" altLang="en-US" sz="1200" dirty="0" smtClean="0">
                <a:solidFill>
                  <a:schemeClr val="bg1"/>
                </a:solidFill>
                <a:cs typeface="+mn-ea"/>
                <a:sym typeface="+mn-lt"/>
              </a:rPr>
              <a:t>导出报告</a:t>
            </a:r>
            <a:endParaRPr lang="zh-CN" altLang="en-US" sz="1200" dirty="0">
              <a:solidFill>
                <a:schemeClr val="bg1"/>
              </a:solidFill>
              <a:cs typeface="+mn-ea"/>
              <a:sym typeface="+mn-lt"/>
            </a:endParaRPr>
          </a:p>
        </p:txBody>
      </p:sp>
      <p:sp>
        <p:nvSpPr>
          <p:cNvPr id="21" name="矩形 20"/>
          <p:cNvSpPr/>
          <p:nvPr/>
        </p:nvSpPr>
        <p:spPr bwMode="gray">
          <a:xfrm>
            <a:off x="5487423" y="4242181"/>
            <a:ext cx="2268044" cy="1015663"/>
          </a:xfrm>
          <a:prstGeom prst="rect">
            <a:avLst/>
          </a:prstGeom>
        </p:spPr>
        <p:txBody>
          <a:bodyPr wrap="square">
            <a:spAutoFit/>
          </a:bodyPr>
          <a:lstStyle/>
          <a:p>
            <a:pPr algn="just">
              <a:lnSpc>
                <a:spcPts val="2400"/>
              </a:lnSpc>
            </a:pPr>
            <a:r>
              <a:rPr lang="zh-CN" altLang="en-US" sz="1400" dirty="0" smtClean="0">
                <a:cs typeface="+mn-ea"/>
                <a:sym typeface="+mn-lt"/>
              </a:rPr>
              <a:t>在华为</a:t>
            </a:r>
            <a:r>
              <a:rPr lang="en-US" altLang="zh-CN" sz="1400" dirty="0" smtClean="0">
                <a:cs typeface="+mn-ea"/>
                <a:sym typeface="+mn-lt"/>
              </a:rPr>
              <a:t>WLAN</a:t>
            </a:r>
            <a:r>
              <a:rPr lang="zh-CN" altLang="en-US" sz="1400" dirty="0" smtClean="0">
                <a:cs typeface="+mn-ea"/>
                <a:sym typeface="+mn-lt"/>
              </a:rPr>
              <a:t>云网规工具中，用户可以通过简单的</a:t>
            </a:r>
            <a:r>
              <a:rPr lang="en-US" altLang="zh-CN" sz="1400" dirty="0" smtClean="0">
                <a:cs typeface="+mn-ea"/>
                <a:sym typeface="+mn-lt"/>
              </a:rPr>
              <a:t>5</a:t>
            </a:r>
            <a:r>
              <a:rPr lang="zh-CN" altLang="en-US" sz="1400" dirty="0" smtClean="0">
                <a:cs typeface="+mn-ea"/>
                <a:sym typeface="+mn-lt"/>
              </a:rPr>
              <a:t>步来完成</a:t>
            </a:r>
            <a:r>
              <a:rPr lang="en-US" altLang="zh-CN" sz="1400" dirty="0" smtClean="0">
                <a:cs typeface="+mn-ea"/>
                <a:sym typeface="+mn-lt"/>
              </a:rPr>
              <a:t>WLAN</a:t>
            </a:r>
            <a:r>
              <a:rPr lang="zh-CN" altLang="en-US" sz="1400" dirty="0" smtClean="0">
                <a:cs typeface="+mn-ea"/>
                <a:sym typeface="+mn-lt"/>
              </a:rPr>
              <a:t>网络规划</a:t>
            </a:r>
            <a:r>
              <a:rPr lang="zh-CN" altLang="en-US" sz="1400" dirty="0">
                <a:cs typeface="+mn-ea"/>
                <a:sym typeface="+mn-lt"/>
              </a:rPr>
              <a:t>。</a:t>
            </a:r>
          </a:p>
        </p:txBody>
      </p:sp>
      <p:sp>
        <p:nvSpPr>
          <p:cNvPr id="22" name="Oval 4"/>
          <p:cNvSpPr>
            <a:spLocks noChangeAspect="1"/>
          </p:cNvSpPr>
          <p:nvPr/>
        </p:nvSpPr>
        <p:spPr bwMode="gray">
          <a:xfrm>
            <a:off x="6337496" y="3992473"/>
            <a:ext cx="211977" cy="211977"/>
          </a:xfrm>
          <a:prstGeom prst="ellipse">
            <a:avLst/>
          </a:prstGeom>
          <a:solidFill>
            <a:srgbClr val="56C4D2"/>
          </a:solidFill>
          <a:ln w="12700" cap="flat" cmpd="sng" algn="ctr">
            <a:noFill/>
            <a:prstDash val="solid"/>
            <a:miter lim="800000"/>
          </a:ln>
          <a:effectLst/>
        </p:spPr>
        <p:txBody>
          <a:bodyPr rtlCol="0" anchor="ctr"/>
          <a:lstStyle/>
          <a:p>
            <a:pPr algn="ctr"/>
            <a:r>
              <a:rPr lang="en-US" altLang="zh-CN" sz="1400" b="1" smtClean="0">
                <a:solidFill>
                  <a:schemeClr val="bg1"/>
                </a:solidFill>
                <a:cs typeface="+mn-ea"/>
                <a:sym typeface="+mn-lt"/>
              </a:rPr>
              <a:t>3</a:t>
            </a:r>
            <a:endParaRPr lang="zh-CN" altLang="en-US" sz="1400" b="1" dirty="0">
              <a:solidFill>
                <a:schemeClr val="bg1"/>
              </a:solidFill>
              <a:cs typeface="+mn-ea"/>
              <a:sym typeface="+mn-lt"/>
            </a:endParaRPr>
          </a:p>
        </p:txBody>
      </p:sp>
      <p:pic>
        <p:nvPicPr>
          <p:cNvPr id="23" name="图片 22"/>
          <p:cNvPicPr>
            <a:picLocks noChangeAspect="1"/>
          </p:cNvPicPr>
          <p:nvPr/>
        </p:nvPicPr>
        <p:blipFill rotWithShape="1">
          <a:blip r:embed="rId5"/>
          <a:srcRect l="14606" t="7318" r="28683" b="5439"/>
          <a:stretch/>
        </p:blipFill>
        <p:spPr bwMode="gray">
          <a:xfrm>
            <a:off x="8579370" y="1565696"/>
            <a:ext cx="2735923" cy="2805895"/>
          </a:xfrm>
          <a:prstGeom prst="rect">
            <a:avLst/>
          </a:prstGeom>
          <a:ln w="12700">
            <a:solidFill>
              <a:schemeClr val="bg1">
                <a:lumMod val="85000"/>
              </a:schemeClr>
            </a:solidFill>
          </a:ln>
        </p:spPr>
      </p:pic>
      <p:sp>
        <p:nvSpPr>
          <p:cNvPr id="36" name="五边形 35"/>
          <p:cNvSpPr/>
          <p:nvPr/>
        </p:nvSpPr>
        <p:spPr bwMode="gray">
          <a:xfrm>
            <a:off x="761146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无线规划</a:t>
            </a:r>
          </a:p>
        </p:txBody>
      </p:sp>
      <p:sp>
        <p:nvSpPr>
          <p:cNvPr id="37" name="燕尾形 36"/>
          <p:cNvSpPr/>
          <p:nvPr/>
        </p:nvSpPr>
        <p:spPr bwMode="gray">
          <a:xfrm>
            <a:off x="8420473"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9229482"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10038491"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9434" y="4290952"/>
            <a:ext cx="2586863" cy="1725417"/>
          </a:xfrm>
          <a:prstGeom prst="rect">
            <a:avLst/>
          </a:prstGeom>
        </p:spPr>
      </p:pic>
    </p:spTree>
    <p:extLst>
      <p:ext uri="{BB962C8B-B14F-4D97-AF65-F5344CB8AC3E}">
        <p14:creationId xmlns:p14="http://schemas.microsoft.com/office/powerpoint/2010/main" val="2363418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latin typeface="+mn-lt"/>
                <a:ea typeface="+mn-ea"/>
                <a:cs typeface="+mn-ea"/>
                <a:sym typeface="+mn-lt"/>
              </a:rPr>
              <a:t>组网规划</a:t>
            </a:r>
            <a:endParaRPr lang="zh-CN" altLang="en-US">
              <a:latin typeface="+mn-lt"/>
              <a:ea typeface="+mn-ea"/>
              <a:cs typeface="+mn-ea"/>
              <a:sym typeface="+mn-lt"/>
            </a:endParaRPr>
          </a:p>
        </p:txBody>
      </p:sp>
      <p:sp>
        <p:nvSpPr>
          <p:cNvPr id="9" name="圆角矩形 8"/>
          <p:cNvSpPr/>
          <p:nvPr/>
        </p:nvSpPr>
        <p:spPr>
          <a:xfrm>
            <a:off x="1343472" y="2821277"/>
            <a:ext cx="3121372" cy="3133828"/>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cs typeface="+mn-ea"/>
              <a:sym typeface="+mn-lt"/>
            </a:endParaRPr>
          </a:p>
        </p:txBody>
      </p:sp>
      <p:cxnSp>
        <p:nvCxnSpPr>
          <p:cNvPr id="10" name="直接连接符 9"/>
          <p:cNvCxnSpPr/>
          <p:nvPr/>
        </p:nvCxnSpPr>
        <p:spPr>
          <a:xfrm>
            <a:off x="2897649" y="2292235"/>
            <a:ext cx="0" cy="22880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2407847" y="1744896"/>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Internet</a:t>
            </a:r>
            <a:endParaRPr lang="zh-CN" altLang="en-US" sz="1400" b="1">
              <a:cs typeface="+mn-ea"/>
              <a:sym typeface="+mn-lt"/>
            </a:endParaRPr>
          </a:p>
        </p:txBody>
      </p:sp>
      <p:sp>
        <p:nvSpPr>
          <p:cNvPr id="12" name="文本框 11"/>
          <p:cNvSpPr txBox="1"/>
          <p:nvPr/>
        </p:nvSpPr>
        <p:spPr>
          <a:xfrm>
            <a:off x="3224640" y="4272460"/>
            <a:ext cx="673582" cy="307777"/>
          </a:xfrm>
          <a:prstGeom prst="rect">
            <a:avLst/>
          </a:prstGeom>
          <a:noFill/>
        </p:spPr>
        <p:txBody>
          <a:bodyPr wrap="none" rtlCol="0">
            <a:spAutoFit/>
          </a:bodyPr>
          <a:lstStyle/>
          <a:p>
            <a:r>
              <a:rPr lang="en-US" altLang="zh-CN" sz="1400" smtClean="0">
                <a:cs typeface="+mn-ea"/>
                <a:sym typeface="+mn-lt"/>
              </a:rPr>
              <a:t>L2SW</a:t>
            </a:r>
            <a:endParaRPr lang="zh-CN" altLang="en-US" sz="1400">
              <a:cs typeface="+mn-ea"/>
              <a:sym typeface="+mn-lt"/>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52195" y="3278171"/>
            <a:ext cx="490909" cy="402545"/>
          </a:xfrm>
          <a:prstGeom prst="rect">
            <a:avLst/>
          </a:prstGeom>
        </p:spPr>
      </p:pic>
      <p:sp>
        <p:nvSpPr>
          <p:cNvPr id="14" name="文本框 13"/>
          <p:cNvSpPr txBox="1"/>
          <p:nvPr/>
        </p:nvSpPr>
        <p:spPr>
          <a:xfrm>
            <a:off x="3224640" y="3320584"/>
            <a:ext cx="902811" cy="307777"/>
          </a:xfrm>
          <a:prstGeom prst="rect">
            <a:avLst/>
          </a:prstGeom>
          <a:noFill/>
        </p:spPr>
        <p:txBody>
          <a:bodyPr wrap="none" rtlCol="0">
            <a:spAutoFit/>
          </a:bodyPr>
          <a:lstStyle/>
          <a:p>
            <a:r>
              <a:rPr lang="zh-CN" altLang="en-US" sz="1400" smtClean="0">
                <a:cs typeface="+mn-ea"/>
                <a:sym typeface="+mn-lt"/>
              </a:rPr>
              <a:t>出口网关</a:t>
            </a:r>
            <a:endParaRPr lang="zh-CN" altLang="en-US" sz="1400">
              <a:cs typeface="+mn-ea"/>
              <a:sym typeface="+mn-lt"/>
            </a:endParaRPr>
          </a:p>
        </p:txBody>
      </p:sp>
      <p:grpSp>
        <p:nvGrpSpPr>
          <p:cNvPr id="15" name="组合 14"/>
          <p:cNvGrpSpPr/>
          <p:nvPr/>
        </p:nvGrpSpPr>
        <p:grpSpPr>
          <a:xfrm>
            <a:off x="2034795" y="4405292"/>
            <a:ext cx="1711582" cy="864856"/>
            <a:chOff x="580445" y="5592914"/>
            <a:chExt cx="587296" cy="284358"/>
          </a:xfrm>
        </p:grpSpPr>
        <p:grpSp>
          <p:nvGrpSpPr>
            <p:cNvPr id="16" name="组合 15"/>
            <p:cNvGrpSpPr/>
            <p:nvPr/>
          </p:nvGrpSpPr>
          <p:grpSpPr>
            <a:xfrm>
              <a:off x="580445" y="5592914"/>
              <a:ext cx="587296" cy="273463"/>
              <a:chOff x="6600056" y="4353447"/>
              <a:chExt cx="1296144" cy="833967"/>
            </a:xfrm>
          </p:grpSpPr>
          <p:cxnSp>
            <p:nvCxnSpPr>
              <p:cNvPr id="18" name="直接连接符 17"/>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874093" y="5592914"/>
              <a:ext cx="0" cy="2843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 name="图片 19" descr="接入交换机.png"/>
          <p:cNvPicPr>
            <a:picLocks noChangeAspect="1"/>
          </p:cNvPicPr>
          <p:nvPr/>
        </p:nvPicPr>
        <p:blipFill>
          <a:blip r:embed="rId4" cstate="print"/>
          <a:stretch>
            <a:fillRect/>
          </a:stretch>
        </p:blipFill>
        <p:spPr>
          <a:xfrm>
            <a:off x="2652989" y="4207616"/>
            <a:ext cx="489321" cy="400353"/>
          </a:xfrm>
          <a:prstGeom prst="rect">
            <a:avLst/>
          </a:prstGeom>
        </p:spPr>
      </p:pic>
      <p:pic>
        <p:nvPicPr>
          <p:cNvPr id="21" name="图片 20" descr="云AP蓝.png"/>
          <p:cNvPicPr>
            <a:picLocks noChangeAspect="1"/>
          </p:cNvPicPr>
          <p:nvPr/>
        </p:nvPicPr>
        <p:blipFill>
          <a:blip r:embed="rId5" cstate="print"/>
          <a:stretch>
            <a:fillRect/>
          </a:stretch>
        </p:blipFill>
        <p:spPr>
          <a:xfrm>
            <a:off x="2653953" y="5105029"/>
            <a:ext cx="487634" cy="398973"/>
          </a:xfrm>
          <a:prstGeom prst="rect">
            <a:avLst/>
          </a:prstGeom>
        </p:spPr>
      </p:pic>
      <p:pic>
        <p:nvPicPr>
          <p:cNvPr id="22" name="图片 21" descr="云AP蓝.png"/>
          <p:cNvPicPr>
            <a:picLocks noChangeAspect="1"/>
          </p:cNvPicPr>
          <p:nvPr/>
        </p:nvPicPr>
        <p:blipFill>
          <a:blip r:embed="rId5" cstate="print"/>
          <a:stretch>
            <a:fillRect/>
          </a:stretch>
        </p:blipFill>
        <p:spPr>
          <a:xfrm>
            <a:off x="3577077" y="5105029"/>
            <a:ext cx="487634" cy="398973"/>
          </a:xfrm>
          <a:prstGeom prst="rect">
            <a:avLst/>
          </a:prstGeom>
        </p:spPr>
      </p:pic>
      <p:pic>
        <p:nvPicPr>
          <p:cNvPr id="23" name="图片 22" descr="PC.png"/>
          <p:cNvPicPr>
            <a:picLocks noChangeAspect="1"/>
          </p:cNvPicPr>
          <p:nvPr/>
        </p:nvPicPr>
        <p:blipFill>
          <a:blip r:embed="rId6" cstate="print"/>
          <a:stretch>
            <a:fillRect/>
          </a:stretch>
        </p:blipFill>
        <p:spPr>
          <a:xfrm>
            <a:off x="1694192" y="5097515"/>
            <a:ext cx="539063" cy="414000"/>
          </a:xfrm>
          <a:prstGeom prst="rect">
            <a:avLst/>
          </a:prstGeom>
        </p:spPr>
      </p:pic>
      <p:sp>
        <p:nvSpPr>
          <p:cNvPr id="24" name="文本框 23"/>
          <p:cNvSpPr txBox="1"/>
          <p:nvPr/>
        </p:nvSpPr>
        <p:spPr>
          <a:xfrm>
            <a:off x="2688447" y="5511515"/>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25" name="文本框 24"/>
          <p:cNvSpPr txBox="1"/>
          <p:nvPr/>
        </p:nvSpPr>
        <p:spPr>
          <a:xfrm>
            <a:off x="3618755" y="5511515"/>
            <a:ext cx="404278" cy="307777"/>
          </a:xfrm>
          <a:prstGeom prst="rect">
            <a:avLst/>
          </a:prstGeom>
          <a:noFill/>
        </p:spPr>
        <p:txBody>
          <a:bodyPr wrap="none" rtlCol="0">
            <a:spAutoFit/>
          </a:bodyPr>
          <a:lstStyle/>
          <a:p>
            <a:r>
              <a:rPr lang="en-US" altLang="zh-CN" sz="1400" smtClean="0">
                <a:cs typeface="+mn-ea"/>
                <a:sym typeface="+mn-lt"/>
              </a:rPr>
              <a:t>AP</a:t>
            </a:r>
            <a:endParaRPr lang="zh-CN" altLang="en-US" sz="1400">
              <a:cs typeface="+mn-ea"/>
              <a:sym typeface="+mn-lt"/>
            </a:endParaRPr>
          </a:p>
        </p:txBody>
      </p:sp>
      <p:sp>
        <p:nvSpPr>
          <p:cNvPr id="28" name="矩形 27"/>
          <p:cNvSpPr/>
          <p:nvPr/>
        </p:nvSpPr>
        <p:spPr>
          <a:xfrm>
            <a:off x="4696175" y="3101493"/>
            <a:ext cx="6763988" cy="1785104"/>
          </a:xfrm>
          <a:prstGeom prst="rect">
            <a:avLst/>
          </a:prstGeom>
        </p:spPr>
        <p:txBody>
          <a:bodyPr wrap="square">
            <a:spAutoFit/>
          </a:bodyPr>
          <a:lstStyle/>
          <a:p>
            <a:pPr marL="285750" indent="-285750" algn="just">
              <a:lnSpc>
                <a:spcPts val="2400"/>
              </a:lnSpc>
              <a:spcAft>
                <a:spcPts val="600"/>
              </a:spcAft>
              <a:buFont typeface="Arial" panose="020B0604020202020204" pitchFamily="34" charset="0"/>
              <a:buChar char="•"/>
            </a:pPr>
            <a:r>
              <a:rPr lang="en-US" altLang="zh-CN" sz="1400" b="1" dirty="0">
                <a:cs typeface="+mn-ea"/>
                <a:sym typeface="+mn-lt"/>
              </a:rPr>
              <a:t>AP</a:t>
            </a:r>
            <a:r>
              <a:rPr lang="zh-CN" altLang="en-US" sz="1400" b="1" dirty="0">
                <a:cs typeface="+mn-ea"/>
                <a:sym typeface="+mn-lt"/>
              </a:rPr>
              <a:t>的数量：</a:t>
            </a:r>
            <a:r>
              <a:rPr lang="zh-CN" altLang="en-US" sz="1400" dirty="0">
                <a:cs typeface="+mn-ea"/>
                <a:sym typeface="+mn-lt"/>
              </a:rPr>
              <a:t>根据</a:t>
            </a:r>
            <a:r>
              <a:rPr lang="zh-CN" altLang="en-US" sz="1400" dirty="0" smtClean="0">
                <a:cs typeface="+mn-ea"/>
                <a:sym typeface="+mn-lt"/>
              </a:rPr>
              <a:t>无线</a:t>
            </a:r>
            <a:r>
              <a:rPr lang="zh-CN" altLang="en-US" sz="1400" dirty="0">
                <a:cs typeface="+mn-ea"/>
                <a:sym typeface="+mn-lt"/>
              </a:rPr>
              <a:t>网规</a:t>
            </a:r>
            <a:r>
              <a:rPr lang="zh-CN" altLang="en-US" sz="1400" dirty="0" smtClean="0">
                <a:cs typeface="+mn-ea"/>
                <a:sym typeface="+mn-lt"/>
              </a:rPr>
              <a:t>的结果确定</a:t>
            </a:r>
            <a:r>
              <a:rPr lang="en-US" altLang="zh-CN" sz="1400" dirty="0">
                <a:cs typeface="+mn-ea"/>
                <a:sym typeface="+mn-lt"/>
              </a:rPr>
              <a:t>AP</a:t>
            </a:r>
            <a:r>
              <a:rPr lang="zh-CN" altLang="en-US" sz="1400" dirty="0">
                <a:cs typeface="+mn-ea"/>
                <a:sym typeface="+mn-lt"/>
              </a:rPr>
              <a:t>的</a:t>
            </a:r>
            <a:r>
              <a:rPr lang="zh-CN" altLang="en-US" sz="1400" dirty="0" smtClean="0">
                <a:cs typeface="+mn-ea"/>
                <a:sym typeface="+mn-lt"/>
              </a:rPr>
              <a:t>数量</a:t>
            </a:r>
            <a:r>
              <a:rPr lang="zh-CN" altLang="en-US" sz="1400" dirty="0">
                <a:cs typeface="+mn-ea"/>
                <a:sym typeface="+mn-lt"/>
              </a:rPr>
              <a:t>。</a:t>
            </a:r>
          </a:p>
          <a:p>
            <a:pPr marL="285750" indent="-285750" algn="just">
              <a:lnSpc>
                <a:spcPts val="2400"/>
              </a:lnSpc>
              <a:spcAft>
                <a:spcPts val="600"/>
              </a:spcAft>
              <a:buFont typeface="Arial" panose="020B0604020202020204" pitchFamily="34" charset="0"/>
              <a:buChar char="•"/>
            </a:pPr>
            <a:r>
              <a:rPr lang="zh-CN" altLang="en-US" sz="1400" b="1" dirty="0" smtClean="0">
                <a:cs typeface="+mn-ea"/>
                <a:sym typeface="+mn-lt"/>
              </a:rPr>
              <a:t>接入交换机</a:t>
            </a:r>
            <a:r>
              <a:rPr lang="zh-CN" altLang="en-US" sz="1400" b="1" dirty="0">
                <a:cs typeface="+mn-ea"/>
                <a:sym typeface="+mn-lt"/>
              </a:rPr>
              <a:t>的选型：</a:t>
            </a:r>
            <a:r>
              <a:rPr lang="zh-CN" altLang="en-US" sz="1400" dirty="0">
                <a:cs typeface="+mn-ea"/>
                <a:sym typeface="+mn-lt"/>
              </a:rPr>
              <a:t>推荐采用</a:t>
            </a:r>
            <a:r>
              <a:rPr lang="en-US" altLang="zh-CN" sz="1400" dirty="0" err="1" smtClean="0">
                <a:cs typeface="+mn-ea"/>
                <a:sym typeface="+mn-lt"/>
              </a:rPr>
              <a:t>PoE</a:t>
            </a:r>
            <a:r>
              <a:rPr lang="zh-CN" altLang="en-US" sz="1400" dirty="0">
                <a:cs typeface="+mn-ea"/>
                <a:sym typeface="+mn-lt"/>
              </a:rPr>
              <a:t>交换机，</a:t>
            </a:r>
            <a:r>
              <a:rPr lang="zh-CN" altLang="en-US" sz="1400" dirty="0" smtClean="0">
                <a:cs typeface="+mn-ea"/>
                <a:sym typeface="+mn-lt"/>
              </a:rPr>
              <a:t>根据</a:t>
            </a:r>
            <a:r>
              <a:rPr lang="en-US" altLang="zh-CN" sz="1400" dirty="0" smtClean="0">
                <a:cs typeface="+mn-ea"/>
                <a:sym typeface="+mn-lt"/>
              </a:rPr>
              <a:t>AP</a:t>
            </a:r>
            <a:r>
              <a:rPr lang="zh-CN" altLang="en-US" sz="1400" dirty="0" smtClean="0">
                <a:cs typeface="+mn-ea"/>
                <a:sym typeface="+mn-lt"/>
              </a:rPr>
              <a:t>数量、</a:t>
            </a:r>
            <a:r>
              <a:rPr lang="en-US" altLang="zh-CN" sz="1400" dirty="0" smtClean="0">
                <a:cs typeface="+mn-ea"/>
                <a:sym typeface="+mn-lt"/>
              </a:rPr>
              <a:t>AP</a:t>
            </a:r>
            <a:r>
              <a:rPr lang="zh-CN" altLang="en-US" sz="1400" dirty="0" smtClean="0">
                <a:cs typeface="+mn-ea"/>
                <a:sym typeface="+mn-lt"/>
              </a:rPr>
              <a:t>的</a:t>
            </a:r>
            <a:r>
              <a:rPr lang="en-US" altLang="zh-CN" sz="1400" dirty="0" err="1" smtClean="0">
                <a:cs typeface="+mn-ea"/>
                <a:sym typeface="+mn-lt"/>
              </a:rPr>
              <a:t>PoE</a:t>
            </a:r>
            <a:r>
              <a:rPr lang="zh-CN" altLang="en-US" sz="1400" dirty="0" smtClean="0">
                <a:cs typeface="+mn-ea"/>
                <a:sym typeface="+mn-lt"/>
              </a:rPr>
              <a:t>供电要求等因素进行交换机选型。</a:t>
            </a:r>
            <a:endParaRPr lang="zh-CN" altLang="en-US" sz="1400" dirty="0">
              <a:cs typeface="+mn-ea"/>
              <a:sym typeface="+mn-lt"/>
            </a:endParaRPr>
          </a:p>
          <a:p>
            <a:pPr marL="285750" indent="-285750" algn="just">
              <a:lnSpc>
                <a:spcPts val="2400"/>
              </a:lnSpc>
              <a:spcAft>
                <a:spcPts val="600"/>
              </a:spcAft>
              <a:buFont typeface="Arial" panose="020B0604020202020204" pitchFamily="34" charset="0"/>
              <a:buChar char="•"/>
            </a:pPr>
            <a:r>
              <a:rPr lang="zh-CN" altLang="en-US" sz="1400" b="1" dirty="0">
                <a:cs typeface="+mn-ea"/>
                <a:sym typeface="+mn-lt"/>
              </a:rPr>
              <a:t>接入交换机</a:t>
            </a:r>
            <a:r>
              <a:rPr lang="zh-CN" altLang="en-US" sz="1400" b="1" dirty="0" smtClean="0">
                <a:cs typeface="+mn-ea"/>
                <a:sym typeface="+mn-lt"/>
              </a:rPr>
              <a:t>的</a:t>
            </a:r>
            <a:r>
              <a:rPr lang="zh-CN" altLang="en-US" sz="1400" b="1" dirty="0">
                <a:cs typeface="+mn-ea"/>
                <a:sym typeface="+mn-lt"/>
              </a:rPr>
              <a:t>数量</a:t>
            </a:r>
            <a:r>
              <a:rPr lang="zh-CN" altLang="en-US" sz="1400" b="1" dirty="0" smtClean="0">
                <a:cs typeface="+mn-ea"/>
                <a:sym typeface="+mn-lt"/>
              </a:rPr>
              <a:t>：</a:t>
            </a:r>
            <a:r>
              <a:rPr lang="zh-CN" altLang="en-US" sz="1400" dirty="0">
                <a:cs typeface="+mn-ea"/>
                <a:sym typeface="+mn-lt"/>
              </a:rPr>
              <a:t>根据</a:t>
            </a:r>
            <a:r>
              <a:rPr lang="en-US" altLang="zh-CN" sz="1400" dirty="0">
                <a:cs typeface="+mn-ea"/>
                <a:sym typeface="+mn-lt"/>
              </a:rPr>
              <a:t>AP</a:t>
            </a:r>
            <a:r>
              <a:rPr lang="zh-CN" altLang="en-US" sz="1400" dirty="0">
                <a:cs typeface="+mn-ea"/>
                <a:sym typeface="+mn-lt"/>
              </a:rPr>
              <a:t>的数量以及接入关系，结合所选择</a:t>
            </a:r>
            <a:r>
              <a:rPr lang="zh-CN" altLang="en-US" sz="1400" dirty="0" smtClean="0">
                <a:cs typeface="+mn-ea"/>
                <a:sym typeface="+mn-lt"/>
              </a:rPr>
              <a:t>的交换机</a:t>
            </a:r>
            <a:r>
              <a:rPr lang="zh-CN" altLang="en-US" sz="1400" dirty="0">
                <a:cs typeface="+mn-ea"/>
                <a:sym typeface="+mn-lt"/>
              </a:rPr>
              <a:t>的端口数量，</a:t>
            </a:r>
            <a:r>
              <a:rPr lang="zh-CN" altLang="en-US" sz="1400" dirty="0" smtClean="0">
                <a:cs typeface="+mn-ea"/>
                <a:sym typeface="+mn-lt"/>
              </a:rPr>
              <a:t>确定交换机</a:t>
            </a:r>
            <a:r>
              <a:rPr lang="zh-CN" altLang="en-US" sz="1400" dirty="0">
                <a:cs typeface="+mn-ea"/>
                <a:sym typeface="+mn-lt"/>
              </a:rPr>
              <a:t>的数量</a:t>
            </a:r>
            <a:r>
              <a:rPr lang="zh-CN" altLang="en-US" sz="1400" dirty="0" smtClean="0">
                <a:cs typeface="+mn-ea"/>
                <a:sym typeface="+mn-lt"/>
              </a:rPr>
              <a:t>。</a:t>
            </a:r>
            <a:endParaRPr lang="zh-CN" altLang="en-US" sz="1400" dirty="0">
              <a:cs typeface="+mn-ea"/>
              <a:sym typeface="+mn-lt"/>
            </a:endParaRPr>
          </a:p>
        </p:txBody>
      </p:sp>
      <p:pic>
        <p:nvPicPr>
          <p:cNvPr id="29" name="图片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62690" y="975503"/>
            <a:ext cx="951607" cy="540946"/>
          </a:xfrm>
          <a:prstGeom prst="rect">
            <a:avLst/>
          </a:prstGeom>
        </p:spPr>
      </p:pic>
      <p:grpSp>
        <p:nvGrpSpPr>
          <p:cNvPr id="3" name="组合 2"/>
          <p:cNvGrpSpPr/>
          <p:nvPr/>
        </p:nvGrpSpPr>
        <p:grpSpPr>
          <a:xfrm>
            <a:off x="7608888" y="114714"/>
            <a:ext cx="4138612" cy="213120"/>
            <a:chOff x="6624433" y="114714"/>
            <a:chExt cx="4138612" cy="213120"/>
          </a:xfrm>
        </p:grpSpPr>
        <p:sp>
          <p:nvSpPr>
            <p:cNvPr id="30" name="五边形 29"/>
            <p:cNvSpPr/>
            <p:nvPr/>
          </p:nvSpPr>
          <p:spPr bwMode="auto">
            <a:xfrm>
              <a:off x="6624433"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auto">
            <a:xfrm>
              <a:off x="7434086"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auto">
            <a:xfrm>
              <a:off x="8243739"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9053392"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9863045"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7758538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latin typeface="+mn-lt"/>
                <a:ea typeface="+mn-ea"/>
                <a:cs typeface="+mn-ea"/>
                <a:sym typeface="+mn-lt"/>
              </a:rPr>
              <a:t>SSID</a:t>
            </a:r>
            <a:r>
              <a:rPr lang="zh-CN" altLang="en-US">
                <a:latin typeface="+mn-lt"/>
                <a:ea typeface="+mn-ea"/>
                <a:cs typeface="+mn-ea"/>
                <a:sym typeface="+mn-lt"/>
              </a:rPr>
              <a:t>规划</a:t>
            </a:r>
          </a:p>
        </p:txBody>
      </p:sp>
      <p:sp>
        <p:nvSpPr>
          <p:cNvPr id="30" name="Rectangle 52"/>
          <p:cNvSpPr>
            <a:spLocks noChangeArrowheads="1"/>
          </p:cNvSpPr>
          <p:nvPr/>
        </p:nvSpPr>
        <p:spPr bwMode="gray">
          <a:xfrm>
            <a:off x="1320959" y="1147087"/>
            <a:ext cx="9550083" cy="336550"/>
          </a:xfrm>
          <a:prstGeom prst="rect">
            <a:avLst/>
          </a:prstGeom>
          <a:gradFill>
            <a:gsLst>
              <a:gs pos="0">
                <a:schemeClr val="bg1"/>
              </a:gs>
              <a:gs pos="100000">
                <a:srgbClr val="BEE9EE"/>
              </a:gs>
            </a:gsLst>
            <a:lin ang="5400000" scaled="1"/>
          </a:gradFill>
          <a:ln w="9525">
            <a:solidFill>
              <a:srgbClr val="56C4D2"/>
            </a:solidFill>
          </a:ln>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mn-lt"/>
              </a:rPr>
              <a:t>SSID</a:t>
            </a:r>
            <a:r>
              <a:rPr lang="zh-CN" altLang="en-US" sz="1600" dirty="0">
                <a:solidFill>
                  <a:srgbClr val="30B5C5"/>
                </a:solidFill>
                <a:latin typeface="Huawei Sans" panose="020C0503030203020204" pitchFamily="34" charset="0"/>
                <a:ea typeface="方正兰亭黑简体" panose="02000000000000000000" pitchFamily="2" charset="-122"/>
                <a:sym typeface="+mn-lt"/>
              </a:rPr>
              <a:t>业务规划</a:t>
            </a:r>
            <a:endParaRPr lang="en-US" altLang="zh-CN" sz="1600" dirty="0">
              <a:solidFill>
                <a:srgbClr val="30B5C5"/>
              </a:solidFill>
              <a:latin typeface="Huawei Sans" panose="020C0503030203020204" pitchFamily="34" charset="0"/>
              <a:ea typeface="方正兰亭黑简体" panose="02000000000000000000" pitchFamily="2" charset="-122"/>
              <a:sym typeface="+mn-lt"/>
            </a:endParaRPr>
          </a:p>
        </p:txBody>
      </p:sp>
      <p:sp>
        <p:nvSpPr>
          <p:cNvPr id="31" name="Rectangle 53"/>
          <p:cNvSpPr>
            <a:spLocks noChangeArrowheads="1"/>
          </p:cNvSpPr>
          <p:nvPr/>
        </p:nvSpPr>
        <p:spPr bwMode="gray">
          <a:xfrm>
            <a:off x="1320959" y="2412771"/>
            <a:ext cx="9550083" cy="338536"/>
          </a:xfrm>
          <a:prstGeom prst="rect">
            <a:avLst/>
          </a:prstGeom>
          <a:gradFill>
            <a:gsLst>
              <a:gs pos="0">
                <a:schemeClr val="bg1"/>
              </a:gs>
              <a:gs pos="100000">
                <a:srgbClr val="BEE9EE"/>
              </a:gs>
            </a:gsLst>
            <a:lin ang="5400000" scaled="1"/>
          </a:gradFill>
          <a:ln w="9525">
            <a:solidFill>
              <a:srgbClr val="56C4D2"/>
            </a:solidFill>
          </a:ln>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mn-lt"/>
              </a:rPr>
              <a:t> 确认</a:t>
            </a:r>
            <a:r>
              <a:rPr lang="en-US" altLang="zh-CN" sz="1600" dirty="0">
                <a:solidFill>
                  <a:srgbClr val="30B5C5"/>
                </a:solidFill>
                <a:latin typeface="Huawei Sans" panose="020C0503030203020204" pitchFamily="34" charset="0"/>
                <a:ea typeface="方正兰亭黑简体" panose="02000000000000000000" pitchFamily="2" charset="-122"/>
                <a:sym typeface="+mn-lt"/>
              </a:rPr>
              <a:t>SSID</a:t>
            </a:r>
            <a:r>
              <a:rPr lang="zh-CN" altLang="en-US" sz="1600" dirty="0">
                <a:solidFill>
                  <a:srgbClr val="30B5C5"/>
                </a:solidFill>
                <a:latin typeface="Huawei Sans" panose="020C0503030203020204" pitchFamily="34" charset="0"/>
                <a:ea typeface="方正兰亭黑简体" panose="02000000000000000000" pitchFamily="2" charset="-122"/>
                <a:sym typeface="+mn-lt"/>
              </a:rPr>
              <a:t>的认证、加密方式</a:t>
            </a:r>
            <a:endParaRPr lang="en-US" altLang="zh-CN" sz="1600" dirty="0">
              <a:solidFill>
                <a:srgbClr val="30B5C5"/>
              </a:solidFill>
              <a:latin typeface="Huawei Sans" panose="020C0503030203020204" pitchFamily="34" charset="0"/>
              <a:ea typeface="方正兰亭黑简体" panose="02000000000000000000" pitchFamily="2" charset="-122"/>
              <a:sym typeface="+mn-lt"/>
            </a:endParaRPr>
          </a:p>
        </p:txBody>
      </p:sp>
      <p:sp>
        <p:nvSpPr>
          <p:cNvPr id="32" name="Rectangle 55"/>
          <p:cNvSpPr>
            <a:spLocks noChangeArrowheads="1"/>
          </p:cNvSpPr>
          <p:nvPr/>
        </p:nvSpPr>
        <p:spPr bwMode="gray">
          <a:xfrm>
            <a:off x="1320959" y="1517394"/>
            <a:ext cx="9550083" cy="758446"/>
          </a:xfrm>
          <a:prstGeom prst="rect">
            <a:avLst/>
          </a:prstGeom>
          <a:noFill/>
          <a:ln>
            <a:solidFill>
              <a:schemeClr val="bg1">
                <a:lumMod val="75000"/>
              </a:schemeClr>
            </a:solidFill>
          </a:ln>
          <a:effectLst/>
          <a:extLst/>
        </p:spPr>
        <p:txBody>
          <a:bodyPr wrap="square" lIns="108000" tIns="72000" rIns="108000" bIns="72000">
            <a:noAutofit/>
          </a:bodyPr>
          <a:lstStyle/>
          <a:p>
            <a:pPr marL="171450" indent="-171450" defTabSz="914400" eaLnBrk="0" fontAlgn="base" hangingPunct="0">
              <a:lnSpc>
                <a:spcPts val="2400"/>
              </a:lnSpc>
              <a:spcBef>
                <a:spcPct val="0"/>
              </a:spcBef>
              <a:buFont typeface="Arial" panose="020B0604020202020204" pitchFamily="34" charset="0"/>
              <a:buChar char="•"/>
            </a:pPr>
            <a:r>
              <a:rPr lang="zh-CN" altLang="en-US" sz="1400" dirty="0" smtClean="0">
                <a:cs typeface="+mn-ea"/>
                <a:sym typeface="+mn-lt"/>
              </a:rPr>
              <a:t>一个</a:t>
            </a:r>
            <a:r>
              <a:rPr lang="en-US" altLang="zh-CN" sz="1400" dirty="0" smtClean="0">
                <a:cs typeface="+mn-ea"/>
                <a:sym typeface="+mn-lt"/>
              </a:rPr>
              <a:t>SSID</a:t>
            </a:r>
            <a:r>
              <a:rPr lang="zh-CN" altLang="en-US" sz="1400" dirty="0" smtClean="0">
                <a:cs typeface="+mn-ea"/>
                <a:sym typeface="+mn-lt"/>
              </a:rPr>
              <a:t>代表一类业务，根据项目实际需要规划</a:t>
            </a:r>
            <a:r>
              <a:rPr lang="en-US" altLang="zh-CN" sz="1400" dirty="0" smtClean="0">
                <a:cs typeface="+mn-ea"/>
                <a:sym typeface="+mn-lt"/>
              </a:rPr>
              <a:t>SSID</a:t>
            </a:r>
            <a:r>
              <a:rPr lang="zh-CN" altLang="en-US" sz="1400" dirty="0" smtClean="0">
                <a:cs typeface="+mn-ea"/>
                <a:sym typeface="+mn-lt"/>
              </a:rPr>
              <a:t>个数</a:t>
            </a:r>
            <a:r>
              <a:rPr lang="zh-CN" altLang="en-US" sz="1400" dirty="0">
                <a:cs typeface="+mn-ea"/>
                <a:sym typeface="+mn-lt"/>
              </a:rPr>
              <a:t>；不同的</a:t>
            </a:r>
            <a:r>
              <a:rPr lang="en-US" altLang="zh-CN" sz="1400" dirty="0">
                <a:cs typeface="+mn-ea"/>
                <a:sym typeface="+mn-lt"/>
              </a:rPr>
              <a:t>SSID</a:t>
            </a:r>
            <a:r>
              <a:rPr lang="zh-CN" altLang="en-US" sz="1400" dirty="0">
                <a:cs typeface="+mn-ea"/>
                <a:sym typeface="+mn-lt"/>
              </a:rPr>
              <a:t>可部署不同的认证</a:t>
            </a:r>
            <a:r>
              <a:rPr lang="zh-CN" altLang="en-US" sz="1400" dirty="0" smtClean="0">
                <a:cs typeface="+mn-ea"/>
                <a:sym typeface="+mn-lt"/>
              </a:rPr>
              <a:t>方式；</a:t>
            </a:r>
            <a:endParaRPr lang="en-US" altLang="zh-CN" sz="1400" dirty="0" smtClean="0">
              <a:cs typeface="+mn-ea"/>
              <a:sym typeface="+mn-lt"/>
            </a:endParaRPr>
          </a:p>
          <a:p>
            <a:pPr marL="171450" indent="-171450" defTabSz="914400" eaLnBrk="0" fontAlgn="base" hangingPunct="0">
              <a:lnSpc>
                <a:spcPts val="2400"/>
              </a:lnSpc>
              <a:spcBef>
                <a:spcPct val="0"/>
              </a:spcBef>
              <a:buFont typeface="Arial" panose="020B0604020202020204" pitchFamily="34" charset="0"/>
              <a:buChar char="•"/>
            </a:pPr>
            <a:r>
              <a:rPr lang="zh-CN" altLang="en-US" sz="1400" dirty="0">
                <a:cs typeface="+mn-ea"/>
                <a:sym typeface="+mn-lt"/>
              </a:rPr>
              <a:t>对于</a:t>
            </a:r>
            <a:r>
              <a:rPr lang="zh-CN" altLang="en-US" sz="1400" dirty="0" smtClean="0">
                <a:cs typeface="+mn-ea"/>
                <a:sym typeface="+mn-lt"/>
              </a:rPr>
              <a:t>不同的人群或不同的业务</a:t>
            </a:r>
            <a:r>
              <a:rPr lang="en-US" altLang="zh-CN" sz="1400" dirty="0" smtClean="0">
                <a:cs typeface="+mn-ea"/>
                <a:sym typeface="+mn-lt"/>
              </a:rPr>
              <a:t>/</a:t>
            </a:r>
            <a:r>
              <a:rPr lang="zh-CN" altLang="en-US" sz="1400" dirty="0" smtClean="0">
                <a:cs typeface="+mn-ea"/>
                <a:sym typeface="+mn-lt"/>
              </a:rPr>
              <a:t>权限，也可以通过</a:t>
            </a:r>
            <a:r>
              <a:rPr lang="en-US" altLang="zh-CN" sz="1400" dirty="0" smtClean="0">
                <a:cs typeface="+mn-ea"/>
                <a:sym typeface="+mn-lt"/>
              </a:rPr>
              <a:t>SSID</a:t>
            </a:r>
            <a:r>
              <a:rPr lang="zh-CN" altLang="en-US" sz="1400" dirty="0" smtClean="0">
                <a:cs typeface="+mn-ea"/>
                <a:sym typeface="+mn-lt"/>
              </a:rPr>
              <a:t>来区分，如员工、访客各配置一个</a:t>
            </a:r>
            <a:r>
              <a:rPr lang="en-US" altLang="zh-CN" sz="1400" dirty="0" smtClean="0">
                <a:cs typeface="+mn-ea"/>
                <a:sym typeface="+mn-lt"/>
              </a:rPr>
              <a:t>SSID</a:t>
            </a:r>
            <a:r>
              <a:rPr lang="zh-CN" altLang="en-US" sz="1400" dirty="0" smtClean="0">
                <a:cs typeface="+mn-ea"/>
                <a:sym typeface="+mn-lt"/>
              </a:rPr>
              <a:t>。</a:t>
            </a:r>
            <a:endParaRPr lang="en-US" altLang="zh-CN" sz="1400" dirty="0">
              <a:cs typeface="+mn-ea"/>
              <a:sym typeface="+mn-lt"/>
            </a:endParaRPr>
          </a:p>
        </p:txBody>
      </p:sp>
      <p:sp>
        <p:nvSpPr>
          <p:cNvPr id="33" name="Rectangle 57"/>
          <p:cNvSpPr>
            <a:spLocks noChangeArrowheads="1"/>
          </p:cNvSpPr>
          <p:nvPr/>
        </p:nvSpPr>
        <p:spPr bwMode="gray">
          <a:xfrm>
            <a:off x="1320959" y="2788803"/>
            <a:ext cx="9550083" cy="1309828"/>
          </a:xfrm>
          <a:prstGeom prst="rect">
            <a:avLst/>
          </a:prstGeom>
          <a:noFill/>
          <a:ln>
            <a:solidFill>
              <a:schemeClr val="bg1">
                <a:lumMod val="75000"/>
              </a:schemeClr>
            </a:solidFill>
          </a:ln>
          <a:effectLst/>
          <a:extLst/>
        </p:spPr>
        <p:txBody>
          <a:bodyPr wrap="square" lIns="108000" tIns="72000" rIns="108000" bIns="72000">
            <a:noAutofit/>
          </a:bodyPr>
          <a:lstStyle/>
          <a:p>
            <a:pPr marL="171450" indent="-171450" defTabSz="914400" eaLnBrk="0" fontAlgn="base" hangingPunct="0">
              <a:lnSpc>
                <a:spcPts val="2400"/>
              </a:lnSpc>
              <a:spcBef>
                <a:spcPct val="0"/>
              </a:spcBef>
              <a:buFont typeface="Arial" panose="020B0604020202020204" pitchFamily="34" charset="0"/>
              <a:buChar char="•"/>
            </a:pPr>
            <a:r>
              <a:rPr lang="zh-CN" altLang="en-US" sz="1400" dirty="0">
                <a:cs typeface="+mn-ea"/>
                <a:sym typeface="+mn-lt"/>
              </a:rPr>
              <a:t>办公用户、访客，有着不同的安全要求，可以部署不同的认证、加密方式；</a:t>
            </a:r>
            <a:endParaRPr lang="en-US" altLang="zh-CN" sz="1400" dirty="0">
              <a:cs typeface="+mn-ea"/>
              <a:sym typeface="+mn-lt"/>
            </a:endParaRPr>
          </a:p>
          <a:p>
            <a:pPr marL="171450" indent="-171450" defTabSz="914400" eaLnBrk="0" fontAlgn="base" hangingPunct="0">
              <a:lnSpc>
                <a:spcPts val="2400"/>
              </a:lnSpc>
              <a:spcBef>
                <a:spcPct val="0"/>
              </a:spcBef>
              <a:buFont typeface="Arial" panose="020B0604020202020204" pitchFamily="34" charset="0"/>
              <a:buChar char="•"/>
            </a:pPr>
            <a:r>
              <a:rPr lang="zh-CN" altLang="en-US" sz="1400" dirty="0">
                <a:cs typeface="+mn-ea"/>
                <a:sym typeface="+mn-lt"/>
              </a:rPr>
              <a:t>针对企业办公，安全性要求比较高，可以</a:t>
            </a:r>
            <a:r>
              <a:rPr lang="zh-CN" altLang="en-US" sz="1400" dirty="0" smtClean="0">
                <a:cs typeface="+mn-ea"/>
                <a:sym typeface="+mn-lt"/>
              </a:rPr>
              <a:t>部署</a:t>
            </a:r>
            <a:r>
              <a:rPr lang="en-US" altLang="zh-CN" sz="1400" dirty="0" smtClean="0">
                <a:cs typeface="+mn-ea"/>
                <a:sym typeface="+mn-lt"/>
              </a:rPr>
              <a:t>802.1X</a:t>
            </a:r>
            <a:r>
              <a:rPr lang="zh-CN" altLang="en-US" sz="1400" dirty="0" smtClean="0">
                <a:cs typeface="+mn-ea"/>
                <a:sym typeface="+mn-lt"/>
              </a:rPr>
              <a:t>、</a:t>
            </a:r>
            <a:r>
              <a:rPr lang="en-US" altLang="zh-CN" sz="1400" dirty="0" smtClean="0">
                <a:cs typeface="+mn-ea"/>
                <a:sym typeface="+mn-lt"/>
              </a:rPr>
              <a:t>MAC</a:t>
            </a:r>
            <a:r>
              <a:rPr lang="zh-CN" altLang="en-US" sz="1400" dirty="0" smtClean="0">
                <a:cs typeface="+mn-ea"/>
                <a:sym typeface="+mn-lt"/>
              </a:rPr>
              <a:t>认证</a:t>
            </a:r>
            <a:r>
              <a:rPr lang="zh-CN" altLang="en-US" sz="1400" dirty="0">
                <a:cs typeface="+mn-ea"/>
                <a:sym typeface="+mn-lt"/>
              </a:rPr>
              <a:t>；对于非面向终端用户的</a:t>
            </a:r>
            <a:r>
              <a:rPr lang="en-US" altLang="zh-CN" sz="1400" dirty="0">
                <a:cs typeface="+mn-ea"/>
                <a:sym typeface="+mn-lt"/>
              </a:rPr>
              <a:t>SSID</a:t>
            </a:r>
            <a:r>
              <a:rPr lang="zh-CN" altLang="en-US" sz="1400" dirty="0">
                <a:cs typeface="+mn-ea"/>
                <a:sym typeface="+mn-lt"/>
              </a:rPr>
              <a:t>，如给打印机、扫描枪规划的</a:t>
            </a:r>
            <a:r>
              <a:rPr lang="en-US" altLang="zh-CN" sz="1400" dirty="0">
                <a:cs typeface="+mn-ea"/>
                <a:sym typeface="+mn-lt"/>
              </a:rPr>
              <a:t>SSID</a:t>
            </a:r>
            <a:r>
              <a:rPr lang="zh-CN" altLang="en-US" sz="1400" dirty="0">
                <a:cs typeface="+mn-ea"/>
                <a:sym typeface="+mn-lt"/>
              </a:rPr>
              <a:t>，可以设置为隐藏模式，避免被普通用户搜索</a:t>
            </a:r>
            <a:r>
              <a:rPr lang="zh-CN" altLang="en-US" sz="1400" dirty="0" smtClean="0">
                <a:cs typeface="+mn-ea"/>
                <a:sym typeface="+mn-lt"/>
              </a:rPr>
              <a:t>到；</a:t>
            </a:r>
            <a:endParaRPr lang="en-US" altLang="zh-CN" sz="1400" dirty="0" smtClean="0">
              <a:solidFill>
                <a:srgbClr val="000000"/>
              </a:solidFill>
              <a:cs typeface="+mn-ea"/>
              <a:sym typeface="+mn-lt"/>
            </a:endParaRPr>
          </a:p>
          <a:p>
            <a:pPr marL="171450" indent="-171450" defTabSz="914400" eaLnBrk="0" fontAlgn="base" hangingPunct="0">
              <a:lnSpc>
                <a:spcPts val="2400"/>
              </a:lnSpc>
              <a:spcBef>
                <a:spcPct val="0"/>
              </a:spcBef>
              <a:buFont typeface="Arial" panose="020B0604020202020204" pitchFamily="34" charset="0"/>
              <a:buChar char="•"/>
            </a:pPr>
            <a:r>
              <a:rPr lang="zh-CN" altLang="en-US" sz="1400" dirty="0" smtClean="0">
                <a:solidFill>
                  <a:srgbClr val="000000"/>
                </a:solidFill>
                <a:cs typeface="+mn-ea"/>
                <a:sym typeface="+mn-lt"/>
              </a:rPr>
              <a:t>针对访客或开放访问，可以部署</a:t>
            </a:r>
            <a:r>
              <a:rPr lang="en-US" altLang="zh-CN" sz="1400" dirty="0" smtClean="0">
                <a:solidFill>
                  <a:srgbClr val="000000"/>
                </a:solidFill>
                <a:cs typeface="+mn-ea"/>
                <a:sym typeface="+mn-lt"/>
              </a:rPr>
              <a:t>Open/PSK </a:t>
            </a:r>
            <a:r>
              <a:rPr lang="zh-CN" altLang="en-US" sz="1400" dirty="0" smtClean="0">
                <a:solidFill>
                  <a:srgbClr val="000000"/>
                </a:solidFill>
                <a:cs typeface="+mn-ea"/>
                <a:sym typeface="+mn-lt"/>
              </a:rPr>
              <a:t>、</a:t>
            </a:r>
            <a:r>
              <a:rPr lang="en-US" altLang="zh-CN" sz="1400" dirty="0">
                <a:solidFill>
                  <a:srgbClr val="000000"/>
                </a:solidFill>
                <a:cs typeface="+mn-ea"/>
                <a:sym typeface="+mn-lt"/>
              </a:rPr>
              <a:t>P</a:t>
            </a:r>
            <a:r>
              <a:rPr lang="en-US" altLang="zh-CN" sz="1400" dirty="0" smtClean="0">
                <a:solidFill>
                  <a:srgbClr val="000000"/>
                </a:solidFill>
                <a:cs typeface="+mn-ea"/>
                <a:sym typeface="+mn-lt"/>
              </a:rPr>
              <a:t>ortal</a:t>
            </a:r>
            <a:r>
              <a:rPr lang="zh-CN" altLang="en-US" sz="1400" dirty="0" smtClean="0">
                <a:solidFill>
                  <a:srgbClr val="000000"/>
                </a:solidFill>
                <a:cs typeface="+mn-ea"/>
                <a:sym typeface="+mn-lt"/>
              </a:rPr>
              <a:t>或者社交媒体认证。</a:t>
            </a:r>
            <a:endParaRPr lang="en-US" altLang="zh-CN" sz="1400" dirty="0">
              <a:solidFill>
                <a:srgbClr val="000000"/>
              </a:solidFill>
              <a:cs typeface="+mn-ea"/>
              <a:sym typeface="+mn-lt"/>
            </a:endParaRPr>
          </a:p>
        </p:txBody>
      </p:sp>
      <p:sp>
        <p:nvSpPr>
          <p:cNvPr id="34" name="Rectangle 70"/>
          <p:cNvSpPr>
            <a:spLocks noChangeArrowheads="1"/>
          </p:cNvSpPr>
          <p:nvPr/>
        </p:nvSpPr>
        <p:spPr bwMode="gray">
          <a:xfrm>
            <a:off x="1320959" y="4263223"/>
            <a:ext cx="9550083" cy="338536"/>
          </a:xfrm>
          <a:prstGeom prst="rect">
            <a:avLst/>
          </a:prstGeom>
          <a:gradFill>
            <a:gsLst>
              <a:gs pos="0">
                <a:schemeClr val="bg1"/>
              </a:gs>
              <a:gs pos="100000">
                <a:srgbClr val="BEE9EE"/>
              </a:gs>
            </a:gsLst>
            <a:lin ang="5400000" scaled="1"/>
          </a:gradFill>
          <a:ln w="9525">
            <a:solidFill>
              <a:srgbClr val="56C4D2"/>
            </a:solidFill>
          </a:ln>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mn-lt"/>
              </a:rPr>
              <a:t> </a:t>
            </a:r>
            <a:r>
              <a:rPr lang="en-US" altLang="zh-CN" sz="1600" dirty="0">
                <a:solidFill>
                  <a:srgbClr val="30B5C5"/>
                </a:solidFill>
                <a:latin typeface="Huawei Sans" panose="020C0503030203020204" pitchFamily="34" charset="0"/>
                <a:ea typeface="方正兰亭黑简体" panose="02000000000000000000" pitchFamily="2" charset="-122"/>
                <a:sym typeface="+mn-lt"/>
              </a:rPr>
              <a:t>SSID</a:t>
            </a:r>
            <a:r>
              <a:rPr lang="zh-CN" altLang="en-US" sz="1600" dirty="0">
                <a:solidFill>
                  <a:srgbClr val="30B5C5"/>
                </a:solidFill>
                <a:latin typeface="Huawei Sans" panose="020C0503030203020204" pitchFamily="34" charset="0"/>
                <a:ea typeface="方正兰亭黑简体" panose="02000000000000000000" pitchFamily="2" charset="-122"/>
                <a:sym typeface="+mn-lt"/>
              </a:rPr>
              <a:t>参数的配置</a:t>
            </a:r>
            <a:endParaRPr lang="en-US" altLang="zh-CN" sz="1600" dirty="0">
              <a:solidFill>
                <a:srgbClr val="30B5C5"/>
              </a:solidFill>
              <a:latin typeface="Huawei Sans" panose="020C0503030203020204" pitchFamily="34" charset="0"/>
              <a:ea typeface="方正兰亭黑简体" panose="02000000000000000000" pitchFamily="2" charset="-122"/>
              <a:sym typeface="+mn-lt"/>
            </a:endParaRPr>
          </a:p>
        </p:txBody>
      </p:sp>
      <p:sp>
        <p:nvSpPr>
          <p:cNvPr id="35" name="Rectangle 71"/>
          <p:cNvSpPr>
            <a:spLocks noChangeArrowheads="1"/>
          </p:cNvSpPr>
          <p:nvPr/>
        </p:nvSpPr>
        <p:spPr bwMode="gray">
          <a:xfrm>
            <a:off x="1320959" y="4644657"/>
            <a:ext cx="9550083" cy="1380224"/>
          </a:xfrm>
          <a:prstGeom prst="rect">
            <a:avLst/>
          </a:prstGeom>
          <a:noFill/>
          <a:ln>
            <a:solidFill>
              <a:schemeClr val="bg1">
                <a:lumMod val="75000"/>
              </a:schemeClr>
            </a:solidFill>
          </a:ln>
          <a:effectLst/>
          <a:extLst/>
        </p:spPr>
        <p:txBody>
          <a:bodyPr wrap="square" lIns="108000" tIns="72000" rIns="108000" bIns="72000">
            <a:noAutofit/>
          </a:bodyPr>
          <a:lstStyle/>
          <a:p>
            <a:pPr marL="171450" indent="-171450" defTabSz="914400" eaLnBrk="0" fontAlgn="base" hangingPunct="0">
              <a:lnSpc>
                <a:spcPts val="2400"/>
              </a:lnSpc>
              <a:spcBef>
                <a:spcPct val="0"/>
              </a:spcBef>
              <a:buFont typeface="Arial" panose="020B0604020202020204" pitchFamily="34" charset="0"/>
              <a:buChar char="•"/>
            </a:pPr>
            <a:r>
              <a:rPr lang="en-US" altLang="zh-CN" sz="1400" dirty="0">
                <a:cs typeface="+mn-ea"/>
                <a:sym typeface="+mn-lt"/>
              </a:rPr>
              <a:t>SSID</a:t>
            </a:r>
            <a:r>
              <a:rPr lang="zh-CN" altLang="en-US" sz="1400" dirty="0">
                <a:cs typeface="+mn-ea"/>
                <a:sym typeface="+mn-lt"/>
              </a:rPr>
              <a:t>应用生效范围：选择生效的射频（默认</a:t>
            </a:r>
            <a:r>
              <a:rPr lang="en-US" altLang="zh-CN" sz="1400" dirty="0" smtClean="0">
                <a:cs typeface="+mn-ea"/>
                <a:sym typeface="+mn-lt"/>
              </a:rPr>
              <a:t>2.4G/5G</a:t>
            </a:r>
            <a:r>
              <a:rPr lang="en-US" altLang="zh-CN" sz="1400" dirty="0">
                <a:cs typeface="+mn-ea"/>
                <a:sym typeface="+mn-lt"/>
              </a:rPr>
              <a:t>)</a:t>
            </a:r>
            <a:r>
              <a:rPr lang="zh-CN" altLang="en-US" sz="1400" dirty="0">
                <a:cs typeface="+mn-ea"/>
                <a:sym typeface="+mn-lt"/>
              </a:rPr>
              <a:t>、生效的</a:t>
            </a:r>
            <a:r>
              <a:rPr lang="en-US" altLang="zh-CN" sz="1400" dirty="0">
                <a:cs typeface="+mn-ea"/>
                <a:sym typeface="+mn-lt"/>
              </a:rPr>
              <a:t>AP</a:t>
            </a:r>
            <a:r>
              <a:rPr lang="zh-CN" altLang="en-US" sz="1400" dirty="0">
                <a:cs typeface="+mn-ea"/>
                <a:sym typeface="+mn-lt"/>
              </a:rPr>
              <a:t>（默认站点下所有</a:t>
            </a:r>
            <a:r>
              <a:rPr lang="en-US" altLang="zh-CN" sz="1400" dirty="0">
                <a:cs typeface="+mn-ea"/>
                <a:sym typeface="+mn-lt"/>
              </a:rPr>
              <a:t>AP</a:t>
            </a:r>
            <a:r>
              <a:rPr lang="zh-CN" altLang="en-US" sz="1400" dirty="0">
                <a:cs typeface="+mn-ea"/>
                <a:sym typeface="+mn-lt"/>
              </a:rPr>
              <a:t>）；</a:t>
            </a:r>
            <a:endParaRPr lang="en-US" altLang="zh-CN" sz="1400" dirty="0">
              <a:cs typeface="+mn-ea"/>
              <a:sym typeface="+mn-lt"/>
            </a:endParaRPr>
          </a:p>
          <a:p>
            <a:pPr marL="171450" indent="-171450" defTabSz="914400" eaLnBrk="0" fontAlgn="base" hangingPunct="0">
              <a:lnSpc>
                <a:spcPts val="2400"/>
              </a:lnSpc>
              <a:spcBef>
                <a:spcPct val="0"/>
              </a:spcBef>
              <a:buFont typeface="Arial" panose="020B0604020202020204" pitchFamily="34" charset="0"/>
              <a:buChar char="•"/>
            </a:pPr>
            <a:r>
              <a:rPr lang="zh-CN" altLang="en-US" sz="1400" dirty="0">
                <a:cs typeface="+mn-ea"/>
                <a:sym typeface="+mn-lt"/>
              </a:rPr>
              <a:t>规划</a:t>
            </a:r>
            <a:r>
              <a:rPr lang="en-US" altLang="zh-CN" sz="1400" dirty="0">
                <a:cs typeface="+mn-ea"/>
                <a:sym typeface="+mn-lt"/>
              </a:rPr>
              <a:t>SSID</a:t>
            </a:r>
            <a:r>
              <a:rPr lang="zh-CN" altLang="en-US" sz="1400" dirty="0">
                <a:cs typeface="+mn-ea"/>
                <a:sym typeface="+mn-lt"/>
              </a:rPr>
              <a:t>对应的业务</a:t>
            </a:r>
            <a:r>
              <a:rPr lang="en-US" altLang="zh-CN" sz="1400" dirty="0">
                <a:cs typeface="+mn-ea"/>
                <a:sym typeface="+mn-lt"/>
              </a:rPr>
              <a:t>VLAN</a:t>
            </a:r>
            <a:r>
              <a:rPr lang="zh-CN" altLang="en-US" sz="1400" dirty="0">
                <a:cs typeface="+mn-ea"/>
                <a:sym typeface="+mn-lt"/>
              </a:rPr>
              <a:t>，同时需要配置对应的网关、地址；</a:t>
            </a:r>
            <a:endParaRPr lang="en-US" altLang="zh-CN" sz="1400" dirty="0">
              <a:cs typeface="+mn-ea"/>
              <a:sym typeface="+mn-lt"/>
            </a:endParaRPr>
          </a:p>
          <a:p>
            <a:pPr marL="171450" indent="-171450" defTabSz="914400" eaLnBrk="0" fontAlgn="base" hangingPunct="0">
              <a:lnSpc>
                <a:spcPts val="2400"/>
              </a:lnSpc>
              <a:spcBef>
                <a:spcPct val="0"/>
              </a:spcBef>
              <a:buFont typeface="Arial" panose="020B0604020202020204" pitchFamily="34" charset="0"/>
              <a:buChar char="•"/>
            </a:pPr>
            <a:r>
              <a:rPr lang="zh-CN" altLang="en-US" sz="1400" dirty="0">
                <a:cs typeface="+mn-ea"/>
                <a:sym typeface="+mn-lt"/>
              </a:rPr>
              <a:t>高级业务参数：频谱导航、用户隔离、</a:t>
            </a:r>
            <a:r>
              <a:rPr lang="en-US" altLang="zh-CN" sz="1400" dirty="0">
                <a:cs typeface="+mn-ea"/>
                <a:sym typeface="+mn-lt"/>
              </a:rPr>
              <a:t>SSID</a:t>
            </a:r>
            <a:r>
              <a:rPr lang="zh-CN" altLang="en-US" sz="1400" dirty="0">
                <a:cs typeface="+mn-ea"/>
                <a:sym typeface="+mn-lt"/>
              </a:rPr>
              <a:t>隐藏等；</a:t>
            </a:r>
            <a:endParaRPr lang="en-US" altLang="zh-CN" sz="1400" dirty="0">
              <a:cs typeface="+mn-ea"/>
              <a:sym typeface="+mn-lt"/>
            </a:endParaRPr>
          </a:p>
          <a:p>
            <a:pPr marL="171450" indent="-171450" defTabSz="914400" eaLnBrk="0" fontAlgn="base" hangingPunct="0">
              <a:lnSpc>
                <a:spcPts val="2400"/>
              </a:lnSpc>
              <a:spcBef>
                <a:spcPct val="0"/>
              </a:spcBef>
              <a:buFont typeface="Arial" panose="020B0604020202020204" pitchFamily="34" charset="0"/>
              <a:buChar char="•"/>
            </a:pPr>
            <a:r>
              <a:rPr lang="zh-CN" altLang="en-US" sz="1400" dirty="0">
                <a:cs typeface="+mn-ea"/>
                <a:sym typeface="+mn-lt"/>
              </a:rPr>
              <a:t>高级应用功能：流量限速、</a:t>
            </a:r>
            <a:r>
              <a:rPr lang="en-US" altLang="zh-CN" sz="1400" dirty="0">
                <a:cs typeface="+mn-ea"/>
                <a:sym typeface="+mn-lt"/>
              </a:rPr>
              <a:t>ACL</a:t>
            </a:r>
            <a:r>
              <a:rPr lang="zh-CN" altLang="en-US" sz="1400" dirty="0">
                <a:cs typeface="+mn-ea"/>
                <a:sym typeface="+mn-lt"/>
              </a:rPr>
              <a:t>应用、应用过滤、</a:t>
            </a:r>
            <a:r>
              <a:rPr lang="en-US" altLang="zh-CN" sz="1400" dirty="0">
                <a:cs typeface="+mn-ea"/>
                <a:sym typeface="+mn-lt"/>
              </a:rPr>
              <a:t>URL</a:t>
            </a:r>
            <a:r>
              <a:rPr lang="zh-CN" altLang="en-US" sz="1400" dirty="0">
                <a:cs typeface="+mn-ea"/>
                <a:sym typeface="+mn-lt"/>
              </a:rPr>
              <a:t>过滤等。</a:t>
            </a:r>
            <a:endParaRPr lang="en-US" altLang="zh-CN" sz="1400" dirty="0">
              <a:cs typeface="+mn-ea"/>
              <a:sym typeface="+mn-lt"/>
            </a:endParaRPr>
          </a:p>
        </p:txBody>
      </p:sp>
      <p:grpSp>
        <p:nvGrpSpPr>
          <p:cNvPr id="3" name="组合 2"/>
          <p:cNvGrpSpPr/>
          <p:nvPr/>
        </p:nvGrpSpPr>
        <p:grpSpPr>
          <a:xfrm>
            <a:off x="7608888" y="114714"/>
            <a:ext cx="4138612" cy="213120"/>
            <a:chOff x="6624433" y="114714"/>
            <a:chExt cx="4138612" cy="213120"/>
          </a:xfrm>
        </p:grpSpPr>
        <p:sp>
          <p:nvSpPr>
            <p:cNvPr id="15" name="五边形 14"/>
            <p:cNvSpPr/>
            <p:nvPr/>
          </p:nvSpPr>
          <p:spPr bwMode="auto">
            <a:xfrm>
              <a:off x="6624433"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7434086"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8243739"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9053392"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9863045"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752081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latin typeface="+mn-lt"/>
                <a:ea typeface="+mn-ea"/>
                <a:cs typeface="+mn-ea"/>
                <a:sym typeface="+mn-lt"/>
              </a:rPr>
              <a:t>无线漫游：二层漫游设计</a:t>
            </a:r>
          </a:p>
        </p:txBody>
      </p:sp>
      <p:sp>
        <p:nvSpPr>
          <p:cNvPr id="71" name="矩形 70"/>
          <p:cNvSpPr/>
          <p:nvPr/>
        </p:nvSpPr>
        <p:spPr>
          <a:xfrm>
            <a:off x="5176755" y="2046883"/>
            <a:ext cx="6283407" cy="3439403"/>
          </a:xfrm>
          <a:prstGeom prst="rect">
            <a:avLst/>
          </a:prstGeom>
        </p:spPr>
        <p:txBody>
          <a:bodyPr wrap="square">
            <a:spAutoFit/>
          </a:bodyPr>
          <a:lstStyle/>
          <a:p>
            <a:pPr algn="just">
              <a:lnSpc>
                <a:spcPts val="2400"/>
              </a:lnSpc>
              <a:spcAft>
                <a:spcPts val="300"/>
              </a:spcAft>
            </a:pPr>
            <a:r>
              <a:rPr lang="zh-CN" altLang="en-US" sz="1400" b="1" dirty="0">
                <a:cs typeface="+mn-ea"/>
                <a:sym typeface="+mn-lt"/>
              </a:rPr>
              <a:t>二层</a:t>
            </a:r>
            <a:r>
              <a:rPr lang="zh-CN" altLang="en-US" sz="1400" b="1" dirty="0" smtClean="0">
                <a:cs typeface="+mn-ea"/>
                <a:sym typeface="+mn-lt"/>
              </a:rPr>
              <a:t>漫游的概念</a:t>
            </a:r>
            <a:endParaRPr lang="zh-CN" altLang="en-US" sz="1400" b="1" dirty="0">
              <a:cs typeface="+mn-ea"/>
              <a:sym typeface="+mn-lt"/>
            </a:endParaRPr>
          </a:p>
          <a:p>
            <a:pPr marL="285750" indent="-285750" algn="just">
              <a:lnSpc>
                <a:spcPts val="2400"/>
              </a:lnSpc>
              <a:spcAft>
                <a:spcPts val="300"/>
              </a:spcAft>
              <a:buFont typeface="Arial" panose="020B0604020202020204" pitchFamily="34" charset="0"/>
              <a:buChar char="•"/>
            </a:pPr>
            <a:r>
              <a:rPr lang="zh-CN" altLang="en-US" sz="1400" dirty="0">
                <a:cs typeface="+mn-ea"/>
                <a:sym typeface="+mn-lt"/>
              </a:rPr>
              <a:t>终端</a:t>
            </a:r>
            <a:r>
              <a:rPr lang="zh-CN" altLang="en-US" sz="1400" dirty="0" smtClean="0">
                <a:cs typeface="+mn-ea"/>
                <a:sym typeface="+mn-lt"/>
              </a:rPr>
              <a:t>在</a:t>
            </a:r>
            <a:r>
              <a:rPr lang="en-US" altLang="zh-CN" sz="1400" dirty="0">
                <a:cs typeface="+mn-ea"/>
                <a:sym typeface="+mn-lt"/>
              </a:rPr>
              <a:t>AP</a:t>
            </a:r>
            <a:r>
              <a:rPr lang="zh-CN" altLang="en-US" sz="1400" dirty="0" smtClean="0">
                <a:cs typeface="+mn-ea"/>
                <a:sym typeface="+mn-lt"/>
              </a:rPr>
              <a:t>之间移动，终端将</a:t>
            </a:r>
            <a:r>
              <a:rPr lang="en-US" altLang="zh-CN" sz="1400" dirty="0" smtClean="0">
                <a:cs typeface="+mn-ea"/>
                <a:sym typeface="+mn-lt"/>
              </a:rPr>
              <a:t>Wi-Fi</a:t>
            </a:r>
            <a:r>
              <a:rPr lang="zh-CN" altLang="en-US" sz="1400" dirty="0" smtClean="0">
                <a:cs typeface="+mn-ea"/>
                <a:sym typeface="+mn-lt"/>
              </a:rPr>
              <a:t>信号从原</a:t>
            </a:r>
            <a:r>
              <a:rPr lang="en-US" altLang="zh-CN" sz="1400" dirty="0" smtClean="0">
                <a:cs typeface="+mn-ea"/>
                <a:sym typeface="+mn-lt"/>
              </a:rPr>
              <a:t>AP</a:t>
            </a:r>
            <a:r>
              <a:rPr lang="zh-CN" altLang="en-US" sz="1400" dirty="0" smtClean="0">
                <a:cs typeface="+mn-ea"/>
                <a:sym typeface="+mn-lt"/>
              </a:rPr>
              <a:t>平滑切换到</a:t>
            </a:r>
            <a:r>
              <a:rPr lang="zh-CN" altLang="en-US" sz="1400" dirty="0">
                <a:cs typeface="+mn-ea"/>
                <a:sym typeface="+mn-lt"/>
              </a:rPr>
              <a:t>新</a:t>
            </a:r>
            <a:r>
              <a:rPr lang="en-US" altLang="zh-CN" sz="1400" dirty="0">
                <a:cs typeface="+mn-ea"/>
                <a:sym typeface="+mn-lt"/>
              </a:rPr>
              <a:t>AP</a:t>
            </a:r>
            <a:r>
              <a:rPr lang="zh-CN" altLang="en-US" sz="1400" dirty="0">
                <a:cs typeface="+mn-ea"/>
                <a:sym typeface="+mn-lt"/>
              </a:rPr>
              <a:t>即为漫游</a:t>
            </a:r>
            <a:r>
              <a:rPr lang="zh-CN" altLang="en-US" sz="1400" dirty="0" smtClean="0">
                <a:cs typeface="+mn-ea"/>
                <a:sym typeface="+mn-lt"/>
              </a:rPr>
              <a:t>。终端漫游前后</a:t>
            </a:r>
            <a:r>
              <a:rPr lang="en-US" altLang="zh-CN" sz="1400" dirty="0" smtClean="0">
                <a:cs typeface="+mn-ea"/>
                <a:sym typeface="+mn-lt"/>
              </a:rPr>
              <a:t>SSID</a:t>
            </a:r>
            <a:r>
              <a:rPr lang="zh-CN" altLang="en-US" sz="1400" dirty="0" smtClean="0">
                <a:cs typeface="+mn-ea"/>
                <a:sym typeface="+mn-lt"/>
              </a:rPr>
              <a:t>相同，业务</a:t>
            </a:r>
            <a:r>
              <a:rPr lang="en-US" altLang="zh-CN" sz="1400" dirty="0">
                <a:cs typeface="+mn-ea"/>
                <a:sym typeface="+mn-lt"/>
              </a:rPr>
              <a:t>VLAN</a:t>
            </a:r>
            <a:r>
              <a:rPr lang="zh-CN" altLang="en-US" sz="1400" dirty="0">
                <a:cs typeface="+mn-ea"/>
                <a:sym typeface="+mn-lt"/>
              </a:rPr>
              <a:t>不变</a:t>
            </a:r>
            <a:r>
              <a:rPr lang="zh-CN" altLang="en-US" sz="1400" dirty="0" smtClean="0">
                <a:cs typeface="+mn-ea"/>
                <a:sym typeface="+mn-lt"/>
              </a:rPr>
              <a:t>，终端对应</a:t>
            </a:r>
            <a:r>
              <a:rPr lang="zh-CN" altLang="en-US" sz="1400" dirty="0">
                <a:cs typeface="+mn-ea"/>
                <a:sym typeface="+mn-lt"/>
              </a:rPr>
              <a:t>的网关</a:t>
            </a:r>
            <a:r>
              <a:rPr lang="zh-CN" altLang="en-US" sz="1400" dirty="0" smtClean="0">
                <a:cs typeface="+mn-ea"/>
                <a:sym typeface="+mn-lt"/>
              </a:rPr>
              <a:t>不变。</a:t>
            </a:r>
            <a:endParaRPr lang="en-US" altLang="zh-CN" sz="1400" dirty="0" smtClean="0">
              <a:cs typeface="+mn-ea"/>
              <a:sym typeface="+mn-lt"/>
            </a:endParaRPr>
          </a:p>
          <a:p>
            <a:pPr marL="285750" indent="-285750" algn="just">
              <a:lnSpc>
                <a:spcPts val="2400"/>
              </a:lnSpc>
              <a:spcAft>
                <a:spcPts val="300"/>
              </a:spcAft>
              <a:buFont typeface="Arial" panose="020B0604020202020204" pitchFamily="34" charset="0"/>
              <a:buChar char="•"/>
            </a:pPr>
            <a:r>
              <a:rPr lang="zh-CN" altLang="en-US" sz="1400" dirty="0">
                <a:cs typeface="+mn-ea"/>
                <a:sym typeface="+mn-lt"/>
              </a:rPr>
              <a:t>漫游邻居：</a:t>
            </a:r>
            <a:r>
              <a:rPr lang="en-US" altLang="zh-CN" sz="1400" dirty="0">
                <a:cs typeface="+mn-ea"/>
                <a:sym typeface="+mn-lt"/>
              </a:rPr>
              <a:t>AP</a:t>
            </a:r>
            <a:r>
              <a:rPr lang="zh-CN" altLang="en-US" sz="1400" dirty="0">
                <a:cs typeface="+mn-ea"/>
                <a:sym typeface="+mn-lt"/>
              </a:rPr>
              <a:t>空口探测到周围的同站点邻居，且</a:t>
            </a:r>
            <a:r>
              <a:rPr lang="en-US" altLang="zh-CN" sz="1400" dirty="0">
                <a:cs typeface="+mn-ea"/>
                <a:sym typeface="+mn-lt"/>
              </a:rPr>
              <a:t>SSID</a:t>
            </a:r>
            <a:r>
              <a:rPr lang="zh-CN" altLang="en-US" sz="1400" dirty="0">
                <a:cs typeface="+mn-ea"/>
                <a:sym typeface="+mn-lt"/>
              </a:rPr>
              <a:t>相同即为漫游邻居。</a:t>
            </a:r>
          </a:p>
          <a:p>
            <a:pPr algn="just">
              <a:lnSpc>
                <a:spcPts val="2400"/>
              </a:lnSpc>
              <a:spcAft>
                <a:spcPts val="300"/>
              </a:spcAft>
            </a:pPr>
            <a:r>
              <a:rPr lang="zh-CN" altLang="en-US" sz="1400" b="1" dirty="0" smtClean="0">
                <a:cs typeface="+mn-ea"/>
                <a:sym typeface="+mn-lt"/>
              </a:rPr>
              <a:t>二</a:t>
            </a:r>
            <a:r>
              <a:rPr lang="zh-CN" altLang="en-US" sz="1400" b="1" dirty="0">
                <a:cs typeface="+mn-ea"/>
                <a:sym typeface="+mn-lt"/>
              </a:rPr>
              <a:t>层</a:t>
            </a:r>
            <a:r>
              <a:rPr lang="zh-CN" altLang="en-US" sz="1400" b="1" dirty="0" smtClean="0">
                <a:cs typeface="+mn-ea"/>
                <a:sym typeface="+mn-lt"/>
              </a:rPr>
              <a:t>漫游的实现</a:t>
            </a:r>
            <a:endParaRPr lang="zh-CN" altLang="en-US" sz="1400" b="1" dirty="0">
              <a:cs typeface="+mn-ea"/>
              <a:sym typeface="+mn-lt"/>
            </a:endParaRPr>
          </a:p>
          <a:p>
            <a:pPr marL="285750" indent="-285750" algn="just">
              <a:lnSpc>
                <a:spcPts val="2400"/>
              </a:lnSpc>
              <a:spcAft>
                <a:spcPts val="300"/>
              </a:spcAft>
              <a:buFont typeface="Arial" panose="020B0604020202020204" pitchFamily="34" charset="0"/>
              <a:buChar char="•"/>
            </a:pPr>
            <a:r>
              <a:rPr lang="zh-CN" altLang="en-US" sz="1400" dirty="0" smtClean="0">
                <a:cs typeface="+mn-ea"/>
                <a:sym typeface="+mn-lt"/>
              </a:rPr>
              <a:t>在二</a:t>
            </a:r>
            <a:r>
              <a:rPr lang="zh-CN" altLang="en-US" sz="1400" dirty="0">
                <a:cs typeface="+mn-ea"/>
                <a:sym typeface="+mn-lt"/>
              </a:rPr>
              <a:t>层</a:t>
            </a:r>
            <a:r>
              <a:rPr lang="zh-CN" altLang="en-US" sz="1400" dirty="0" smtClean="0">
                <a:cs typeface="+mn-ea"/>
                <a:sym typeface="+mn-lt"/>
              </a:rPr>
              <a:t>漫游中，终端的流量</a:t>
            </a:r>
            <a:r>
              <a:rPr lang="zh-CN" altLang="en-US" sz="1400" dirty="0">
                <a:cs typeface="+mn-ea"/>
                <a:sym typeface="+mn-lt"/>
              </a:rPr>
              <a:t>不会迂回</a:t>
            </a:r>
            <a:r>
              <a:rPr lang="zh-CN" altLang="en-US" sz="1400" dirty="0" smtClean="0">
                <a:cs typeface="+mn-ea"/>
                <a:sym typeface="+mn-lt"/>
              </a:rPr>
              <a:t>，由漫游后</a:t>
            </a:r>
            <a:r>
              <a:rPr lang="en-US" altLang="zh-CN" sz="1400" dirty="0" smtClean="0">
                <a:cs typeface="+mn-ea"/>
                <a:sym typeface="+mn-lt"/>
              </a:rPr>
              <a:t>AP</a:t>
            </a:r>
            <a:r>
              <a:rPr lang="zh-CN" altLang="en-US" sz="1400" dirty="0" smtClean="0">
                <a:cs typeface="+mn-ea"/>
                <a:sym typeface="+mn-lt"/>
              </a:rPr>
              <a:t>直接转发流量。</a:t>
            </a:r>
            <a:endParaRPr lang="zh-CN" altLang="en-US" sz="1400" dirty="0">
              <a:cs typeface="+mn-ea"/>
              <a:sym typeface="+mn-lt"/>
            </a:endParaRPr>
          </a:p>
          <a:p>
            <a:pPr algn="just">
              <a:lnSpc>
                <a:spcPts val="2400"/>
              </a:lnSpc>
              <a:spcAft>
                <a:spcPts val="300"/>
              </a:spcAft>
            </a:pPr>
            <a:r>
              <a:rPr lang="zh-CN" altLang="en-US" sz="1400" b="1" dirty="0">
                <a:cs typeface="+mn-ea"/>
                <a:sym typeface="+mn-lt"/>
              </a:rPr>
              <a:t>二层漫游设计</a:t>
            </a:r>
            <a:r>
              <a:rPr lang="zh-CN" altLang="en-US" sz="1400" b="1" dirty="0" smtClean="0">
                <a:cs typeface="+mn-ea"/>
                <a:sym typeface="+mn-lt"/>
              </a:rPr>
              <a:t>点</a:t>
            </a:r>
            <a:endParaRPr lang="zh-CN" altLang="en-US" sz="1400" b="1" dirty="0">
              <a:cs typeface="+mn-ea"/>
              <a:sym typeface="+mn-lt"/>
            </a:endParaRPr>
          </a:p>
          <a:p>
            <a:pPr marL="285750" indent="-285750" algn="just">
              <a:lnSpc>
                <a:spcPts val="2400"/>
              </a:lnSpc>
              <a:spcAft>
                <a:spcPts val="300"/>
              </a:spcAft>
              <a:buFont typeface="Arial" panose="020B0604020202020204" pitchFamily="34" charset="0"/>
              <a:buChar char="•"/>
            </a:pPr>
            <a:r>
              <a:rPr lang="en-US" altLang="zh-CN" sz="1400" dirty="0" smtClean="0">
                <a:cs typeface="+mn-ea"/>
                <a:sym typeface="+mn-lt"/>
              </a:rPr>
              <a:t>AP</a:t>
            </a:r>
            <a:r>
              <a:rPr lang="zh-CN" altLang="en-US" sz="1400" dirty="0">
                <a:cs typeface="+mn-ea"/>
                <a:sym typeface="+mn-lt"/>
              </a:rPr>
              <a:t>的</a:t>
            </a:r>
            <a:r>
              <a:rPr lang="en-US" altLang="zh-CN" sz="1400" dirty="0">
                <a:cs typeface="+mn-ea"/>
                <a:sym typeface="+mn-lt"/>
              </a:rPr>
              <a:t>SSID</a:t>
            </a:r>
            <a:r>
              <a:rPr lang="zh-CN" altLang="en-US" sz="1400" dirty="0">
                <a:cs typeface="+mn-ea"/>
                <a:sym typeface="+mn-lt"/>
              </a:rPr>
              <a:t>的业务</a:t>
            </a:r>
            <a:r>
              <a:rPr lang="en-US" altLang="zh-CN" sz="1400" dirty="0">
                <a:cs typeface="+mn-ea"/>
                <a:sym typeface="+mn-lt"/>
              </a:rPr>
              <a:t>VLAN</a:t>
            </a:r>
            <a:r>
              <a:rPr lang="zh-CN" altLang="en-US" sz="1400" dirty="0">
                <a:cs typeface="+mn-ea"/>
                <a:sym typeface="+mn-lt"/>
              </a:rPr>
              <a:t>要相同，同时上行交换机要放通该</a:t>
            </a:r>
            <a:r>
              <a:rPr lang="en-US" altLang="zh-CN" sz="1400" dirty="0">
                <a:cs typeface="+mn-ea"/>
                <a:sym typeface="+mn-lt"/>
              </a:rPr>
              <a:t>VLAN</a:t>
            </a:r>
            <a:r>
              <a:rPr lang="zh-CN" altLang="en-US" sz="1400" dirty="0">
                <a:cs typeface="+mn-ea"/>
                <a:sym typeface="+mn-lt"/>
              </a:rPr>
              <a:t>；</a:t>
            </a:r>
          </a:p>
          <a:p>
            <a:pPr marL="285750" indent="-285750" algn="just">
              <a:lnSpc>
                <a:spcPts val="2400"/>
              </a:lnSpc>
              <a:spcAft>
                <a:spcPts val="300"/>
              </a:spcAft>
              <a:buFont typeface="Arial" panose="020B0604020202020204" pitchFamily="34" charset="0"/>
              <a:buChar char="•"/>
            </a:pPr>
            <a:r>
              <a:rPr lang="zh-CN" altLang="en-US" sz="1400" dirty="0">
                <a:cs typeface="+mn-ea"/>
                <a:sym typeface="+mn-lt"/>
              </a:rPr>
              <a:t>漫游邻居是通过空口发现的，对</a:t>
            </a:r>
            <a:r>
              <a:rPr lang="en-US" altLang="zh-CN" sz="1400" dirty="0">
                <a:cs typeface="+mn-ea"/>
                <a:sym typeface="+mn-lt"/>
              </a:rPr>
              <a:t>AP</a:t>
            </a:r>
            <a:r>
              <a:rPr lang="zh-CN" altLang="en-US" sz="1400" dirty="0">
                <a:cs typeface="+mn-ea"/>
                <a:sym typeface="+mn-lt"/>
              </a:rPr>
              <a:t>部署要求比较高，连续漫游的区域</a:t>
            </a:r>
            <a:r>
              <a:rPr lang="en-US" altLang="zh-CN" sz="1400" dirty="0">
                <a:cs typeface="+mn-ea"/>
                <a:sym typeface="+mn-lt"/>
              </a:rPr>
              <a:t>AP</a:t>
            </a:r>
            <a:r>
              <a:rPr lang="zh-CN" altLang="en-US" sz="1400" dirty="0">
                <a:cs typeface="+mn-ea"/>
                <a:sym typeface="+mn-lt"/>
              </a:rPr>
              <a:t>要相互可以探测到。</a:t>
            </a:r>
          </a:p>
        </p:txBody>
      </p:sp>
      <p:sp>
        <p:nvSpPr>
          <p:cNvPr id="49" name="椭圆 48"/>
          <p:cNvSpPr>
            <a:spLocks noChangeAspect="1"/>
          </p:cNvSpPr>
          <p:nvPr/>
        </p:nvSpPr>
        <p:spPr bwMode="grayWhite">
          <a:xfrm>
            <a:off x="2373978" y="3401064"/>
            <a:ext cx="1935996" cy="1935996"/>
          </a:xfrm>
          <a:prstGeom prst="ellipse">
            <a:avLst/>
          </a:prstGeom>
          <a:solidFill>
            <a:srgbClr val="56C4D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椭圆 49"/>
          <p:cNvSpPr>
            <a:spLocks noChangeAspect="1"/>
          </p:cNvSpPr>
          <p:nvPr/>
        </p:nvSpPr>
        <p:spPr bwMode="invGray">
          <a:xfrm>
            <a:off x="1202374" y="3401064"/>
            <a:ext cx="1935996" cy="1935996"/>
          </a:xfrm>
          <a:prstGeom prst="ellipse">
            <a:avLst/>
          </a:prstGeom>
          <a:solidFill>
            <a:srgbClr val="FDD351">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7" name="TextBox 11"/>
          <p:cNvSpPr txBox="1"/>
          <p:nvPr/>
        </p:nvSpPr>
        <p:spPr>
          <a:xfrm>
            <a:off x="1622707" y="5348797"/>
            <a:ext cx="992579" cy="461665"/>
          </a:xfrm>
          <a:prstGeom prst="rect">
            <a:avLst/>
          </a:prstGeom>
          <a:noFill/>
        </p:spPr>
        <p:txBody>
          <a:bodyPr wrap="none" rtlCol="0">
            <a:spAutoFit/>
          </a:bodyPr>
          <a:lstStyle/>
          <a:p>
            <a:pPr algn="ctr"/>
            <a:r>
              <a:rPr lang="en-US" altLang="zh-CN" sz="1200" b="1" smtClean="0">
                <a:solidFill>
                  <a:srgbClr val="F28944"/>
                </a:solidFill>
                <a:cs typeface="+mn-ea"/>
                <a:sym typeface="+mn-lt"/>
              </a:rPr>
              <a:t>SSID Guest</a:t>
            </a:r>
          </a:p>
          <a:p>
            <a:pPr algn="ctr"/>
            <a:r>
              <a:rPr lang="en-US" altLang="zh-CN" sz="1200" b="1" smtClean="0">
                <a:solidFill>
                  <a:srgbClr val="F28944"/>
                </a:solidFill>
                <a:cs typeface="+mn-ea"/>
                <a:sym typeface="+mn-lt"/>
              </a:rPr>
              <a:t>VLAN 100</a:t>
            </a:r>
          </a:p>
        </p:txBody>
      </p:sp>
      <p:pic>
        <p:nvPicPr>
          <p:cNvPr id="58" name="图片 158" descr="SAN网络-蓝.png"/>
          <p:cNvPicPr>
            <a:picLocks noChangeAspect="1"/>
          </p:cNvPicPr>
          <p:nvPr/>
        </p:nvPicPr>
        <p:blipFill>
          <a:blip r:embed="rId3" cstate="print"/>
          <a:stretch>
            <a:fillRect/>
          </a:stretch>
        </p:blipFill>
        <p:spPr>
          <a:xfrm>
            <a:off x="1970507" y="4454325"/>
            <a:ext cx="243218" cy="398465"/>
          </a:xfrm>
          <a:prstGeom prst="rect">
            <a:avLst/>
          </a:prstGeom>
        </p:spPr>
      </p:pic>
      <p:pic>
        <p:nvPicPr>
          <p:cNvPr id="62" name="图片 158" descr="SAN网络-蓝.png"/>
          <p:cNvPicPr>
            <a:picLocks noChangeAspect="1"/>
          </p:cNvPicPr>
          <p:nvPr/>
        </p:nvPicPr>
        <p:blipFill>
          <a:blip r:embed="rId3" cstate="print"/>
          <a:stretch>
            <a:fillRect/>
          </a:stretch>
        </p:blipFill>
        <p:spPr>
          <a:xfrm>
            <a:off x="3351437" y="4454325"/>
            <a:ext cx="243218" cy="398465"/>
          </a:xfrm>
          <a:prstGeom prst="rect">
            <a:avLst/>
          </a:prstGeom>
        </p:spPr>
      </p:pic>
      <p:sp>
        <p:nvSpPr>
          <p:cNvPr id="64" name="TextBox 33"/>
          <p:cNvSpPr txBox="1"/>
          <p:nvPr/>
        </p:nvSpPr>
        <p:spPr>
          <a:xfrm>
            <a:off x="1519657" y="4888649"/>
            <a:ext cx="1079142" cy="276999"/>
          </a:xfrm>
          <a:prstGeom prst="rect">
            <a:avLst/>
          </a:prstGeom>
          <a:noFill/>
        </p:spPr>
        <p:txBody>
          <a:bodyPr wrap="none" rtlCol="0">
            <a:spAutoFit/>
          </a:bodyPr>
          <a:lstStyle/>
          <a:p>
            <a:r>
              <a:rPr lang="en-US" altLang="zh-CN" sz="1200" smtClean="0">
                <a:cs typeface="+mn-ea"/>
                <a:sym typeface="+mn-lt"/>
              </a:rPr>
              <a:t>192.168.1.25</a:t>
            </a:r>
            <a:endParaRPr lang="zh-CN" altLang="en-US" sz="1200">
              <a:cs typeface="+mn-ea"/>
              <a:sym typeface="+mn-lt"/>
            </a:endParaRPr>
          </a:p>
        </p:txBody>
      </p:sp>
      <p:sp>
        <p:nvSpPr>
          <p:cNvPr id="65" name="TextBox 34"/>
          <p:cNvSpPr txBox="1"/>
          <p:nvPr/>
        </p:nvSpPr>
        <p:spPr>
          <a:xfrm>
            <a:off x="2969671" y="4888649"/>
            <a:ext cx="1079142" cy="276999"/>
          </a:xfrm>
          <a:prstGeom prst="rect">
            <a:avLst/>
          </a:prstGeom>
          <a:noFill/>
        </p:spPr>
        <p:txBody>
          <a:bodyPr wrap="none" rtlCol="0">
            <a:spAutoFit/>
          </a:bodyPr>
          <a:lstStyle/>
          <a:p>
            <a:r>
              <a:rPr lang="en-US" altLang="zh-CN" sz="1200" smtClean="0">
                <a:cs typeface="+mn-ea"/>
                <a:sym typeface="+mn-lt"/>
              </a:rPr>
              <a:t>192.168.1.25</a:t>
            </a:r>
            <a:endParaRPr lang="zh-CN" altLang="en-US" sz="1200">
              <a:cs typeface="+mn-ea"/>
              <a:sym typeface="+mn-lt"/>
            </a:endParaRPr>
          </a:p>
        </p:txBody>
      </p:sp>
      <p:cxnSp>
        <p:nvCxnSpPr>
          <p:cNvPr id="67" name="Straight Arrow Connector 35"/>
          <p:cNvCxnSpPr/>
          <p:nvPr/>
        </p:nvCxnSpPr>
        <p:spPr bwMode="grayWhite">
          <a:xfrm>
            <a:off x="2320033" y="4748135"/>
            <a:ext cx="902957" cy="0"/>
          </a:xfrm>
          <a:prstGeom prst="straightConnector1">
            <a:avLst/>
          </a:prstGeom>
          <a:noFill/>
          <a:ln w="38100" cap="rnd">
            <a:gradFill flip="none" rotWithShape="1">
              <a:gsLst>
                <a:gs pos="100000">
                  <a:srgbClr val="30B5C5"/>
                </a:gs>
                <a:gs pos="0">
                  <a:srgbClr val="ED6D00"/>
                </a:gs>
              </a:gsLst>
              <a:lin ang="0" scaled="1"/>
              <a:tileRect/>
            </a:gradFill>
            <a:prstDash val="solid"/>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85" name="TextBox 46"/>
          <p:cNvSpPr txBox="1"/>
          <p:nvPr/>
        </p:nvSpPr>
        <p:spPr>
          <a:xfrm>
            <a:off x="2209191" y="3529769"/>
            <a:ext cx="482824" cy="276999"/>
          </a:xfrm>
          <a:prstGeom prst="rect">
            <a:avLst/>
          </a:prstGeom>
          <a:noFill/>
        </p:spPr>
        <p:txBody>
          <a:bodyPr wrap="none" rtlCol="0">
            <a:spAutoFit/>
          </a:bodyPr>
          <a:lstStyle/>
          <a:p>
            <a:r>
              <a:rPr lang="en-US" altLang="zh-CN" sz="1200" b="1" smtClean="0">
                <a:cs typeface="+mn-ea"/>
                <a:sym typeface="+mn-lt"/>
              </a:rPr>
              <a:t>AP1</a:t>
            </a:r>
            <a:endParaRPr lang="zh-CN" altLang="en-US" sz="1200" b="1">
              <a:cs typeface="+mn-ea"/>
              <a:sym typeface="+mn-lt"/>
            </a:endParaRPr>
          </a:p>
        </p:txBody>
      </p:sp>
      <p:sp>
        <p:nvSpPr>
          <p:cNvPr id="86" name="TextBox 47"/>
          <p:cNvSpPr txBox="1"/>
          <p:nvPr/>
        </p:nvSpPr>
        <p:spPr>
          <a:xfrm>
            <a:off x="3347143" y="3529769"/>
            <a:ext cx="482824" cy="276999"/>
          </a:xfrm>
          <a:prstGeom prst="rect">
            <a:avLst/>
          </a:prstGeom>
          <a:noFill/>
        </p:spPr>
        <p:txBody>
          <a:bodyPr wrap="none" rtlCol="0">
            <a:spAutoFit/>
          </a:bodyPr>
          <a:lstStyle/>
          <a:p>
            <a:r>
              <a:rPr lang="en-US" altLang="zh-CN" sz="1200" b="1" smtClean="0">
                <a:cs typeface="+mn-ea"/>
                <a:sym typeface="+mn-lt"/>
              </a:rPr>
              <a:t>AP2</a:t>
            </a:r>
            <a:endParaRPr lang="zh-CN" altLang="en-US" sz="1200" b="1">
              <a:cs typeface="+mn-ea"/>
              <a:sym typeface="+mn-lt"/>
            </a:endParaRPr>
          </a:p>
        </p:txBody>
      </p:sp>
      <p:sp>
        <p:nvSpPr>
          <p:cNvPr id="89" name="TextBox 11"/>
          <p:cNvSpPr txBox="1"/>
          <p:nvPr/>
        </p:nvSpPr>
        <p:spPr>
          <a:xfrm>
            <a:off x="2874358" y="5348797"/>
            <a:ext cx="992579" cy="461665"/>
          </a:xfrm>
          <a:prstGeom prst="rect">
            <a:avLst/>
          </a:prstGeom>
          <a:noFill/>
        </p:spPr>
        <p:txBody>
          <a:bodyPr wrap="none" rtlCol="0">
            <a:spAutoFit/>
          </a:bodyPr>
          <a:lstStyle/>
          <a:p>
            <a:pPr algn="ctr"/>
            <a:r>
              <a:rPr lang="en-US" altLang="zh-CN" sz="1200" b="1" smtClean="0">
                <a:solidFill>
                  <a:srgbClr val="56C4D2"/>
                </a:solidFill>
                <a:cs typeface="+mn-ea"/>
                <a:sym typeface="+mn-lt"/>
              </a:rPr>
              <a:t>SSID Guest</a:t>
            </a:r>
          </a:p>
          <a:p>
            <a:pPr algn="ctr"/>
            <a:r>
              <a:rPr lang="en-US" altLang="zh-CN" sz="1200" b="1" smtClean="0">
                <a:solidFill>
                  <a:srgbClr val="56C4D2"/>
                </a:solidFill>
                <a:cs typeface="+mn-ea"/>
                <a:sym typeface="+mn-lt"/>
              </a:rPr>
              <a:t>VLAN 100</a:t>
            </a:r>
          </a:p>
        </p:txBody>
      </p:sp>
      <p:cxnSp>
        <p:nvCxnSpPr>
          <p:cNvPr id="90" name="直接连接符 89"/>
          <p:cNvCxnSpPr/>
          <p:nvPr/>
        </p:nvCxnSpPr>
        <p:spPr>
          <a:xfrm>
            <a:off x="2232047" y="3406357"/>
            <a:ext cx="0" cy="4531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3403055" y="3406357"/>
            <a:ext cx="0" cy="4531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2771618" y="2630188"/>
            <a:ext cx="0" cy="77616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2224956" y="3401064"/>
            <a:ext cx="55216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2854604" y="3401064"/>
            <a:ext cx="55216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2858812" y="2630188"/>
            <a:ext cx="0" cy="77616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2803876" y="2176013"/>
            <a:ext cx="0" cy="4531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任意多边形 96"/>
          <p:cNvSpPr/>
          <p:nvPr/>
        </p:nvSpPr>
        <p:spPr>
          <a:xfrm>
            <a:off x="2314074" y="1628674"/>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Network</a:t>
            </a:r>
            <a:endParaRPr lang="zh-CN" altLang="en-US" sz="1400" b="1">
              <a:cs typeface="+mn-ea"/>
              <a:sym typeface="+mn-lt"/>
            </a:endParaRPr>
          </a:p>
        </p:txBody>
      </p:sp>
      <p:pic>
        <p:nvPicPr>
          <p:cNvPr id="98" name="图片 87" descr="汇聚交换机.png"/>
          <p:cNvPicPr>
            <a:picLocks noChangeAspect="1"/>
          </p:cNvPicPr>
          <p:nvPr/>
        </p:nvPicPr>
        <p:blipFill>
          <a:blip r:embed="rId4" cstate="print"/>
          <a:stretch>
            <a:fillRect/>
          </a:stretch>
        </p:blipFill>
        <p:spPr>
          <a:xfrm>
            <a:off x="2620478" y="2622887"/>
            <a:ext cx="405710" cy="331945"/>
          </a:xfrm>
          <a:prstGeom prst="rect">
            <a:avLst/>
          </a:prstGeom>
        </p:spPr>
      </p:pic>
      <p:pic>
        <p:nvPicPr>
          <p:cNvPr id="99" name="图片 105" descr="AP.png"/>
          <p:cNvPicPr>
            <a:picLocks noChangeAspect="1"/>
          </p:cNvPicPr>
          <p:nvPr/>
        </p:nvPicPr>
        <p:blipFill>
          <a:blip r:embed="rId5" cstate="print"/>
          <a:stretch>
            <a:fillRect/>
          </a:stretch>
        </p:blipFill>
        <p:spPr>
          <a:xfrm>
            <a:off x="2007496" y="3783161"/>
            <a:ext cx="405710" cy="331945"/>
          </a:xfrm>
          <a:prstGeom prst="rect">
            <a:avLst/>
          </a:prstGeom>
        </p:spPr>
      </p:pic>
      <p:pic>
        <p:nvPicPr>
          <p:cNvPr id="100" name="图片 105" descr="AP.png"/>
          <p:cNvPicPr>
            <a:picLocks noChangeAspect="1"/>
          </p:cNvPicPr>
          <p:nvPr/>
        </p:nvPicPr>
        <p:blipFill>
          <a:blip r:embed="rId5" cstate="print"/>
          <a:stretch>
            <a:fillRect/>
          </a:stretch>
        </p:blipFill>
        <p:spPr>
          <a:xfrm>
            <a:off x="3182350" y="3783161"/>
            <a:ext cx="405710" cy="331945"/>
          </a:xfrm>
          <a:prstGeom prst="rect">
            <a:avLst/>
          </a:prstGeom>
        </p:spPr>
      </p:pic>
      <p:grpSp>
        <p:nvGrpSpPr>
          <p:cNvPr id="101" name="组合 758"/>
          <p:cNvGrpSpPr/>
          <p:nvPr/>
        </p:nvGrpSpPr>
        <p:grpSpPr bwMode="auto">
          <a:xfrm flipV="1">
            <a:off x="2097721" y="4148677"/>
            <a:ext cx="225259" cy="190756"/>
            <a:chOff x="7440613" y="4868863"/>
            <a:chExt cx="1019175" cy="828675"/>
          </a:xfrm>
          <a:solidFill>
            <a:schemeClr val="bg1">
              <a:lumMod val="50000"/>
            </a:schemeClr>
          </a:solidFill>
        </p:grpSpPr>
        <p:sp>
          <p:nvSpPr>
            <p:cNvPr id="102" name="Freeform 15"/>
            <p:cNvSpPr>
              <a:spLocks/>
            </p:cNvSpPr>
            <p:nvPr/>
          </p:nvSpPr>
          <p:spPr bwMode="auto">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sp>
          <p:nvSpPr>
            <p:cNvPr id="103" name="Freeform 16"/>
            <p:cNvSpPr>
              <a:spLocks noEditPoints="1"/>
            </p:cNvSpPr>
            <p:nvPr/>
          </p:nvSpPr>
          <p:spPr bwMode="auto">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grpSp>
      <p:grpSp>
        <p:nvGrpSpPr>
          <p:cNvPr id="104" name="组合 758"/>
          <p:cNvGrpSpPr/>
          <p:nvPr/>
        </p:nvGrpSpPr>
        <p:grpSpPr bwMode="auto">
          <a:xfrm flipV="1">
            <a:off x="3283983" y="4148677"/>
            <a:ext cx="225259" cy="190756"/>
            <a:chOff x="7440613" y="4868863"/>
            <a:chExt cx="1019175" cy="828675"/>
          </a:xfrm>
          <a:solidFill>
            <a:schemeClr val="bg1">
              <a:lumMod val="50000"/>
            </a:schemeClr>
          </a:solidFill>
        </p:grpSpPr>
        <p:sp>
          <p:nvSpPr>
            <p:cNvPr id="105" name="Freeform 15"/>
            <p:cNvSpPr>
              <a:spLocks/>
            </p:cNvSpPr>
            <p:nvPr/>
          </p:nvSpPr>
          <p:spPr bwMode="auto">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sp>
          <p:nvSpPr>
            <p:cNvPr id="106" name="Freeform 16"/>
            <p:cNvSpPr>
              <a:spLocks noEditPoints="1"/>
            </p:cNvSpPr>
            <p:nvPr/>
          </p:nvSpPr>
          <p:spPr bwMode="auto">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cs typeface="+mn-ea"/>
                <a:sym typeface="+mn-lt"/>
              </a:endParaRPr>
            </a:p>
          </p:txBody>
        </p:sp>
      </p:grpSp>
      <p:sp>
        <p:nvSpPr>
          <p:cNvPr id="107" name="任意多边形 106"/>
          <p:cNvSpPr/>
          <p:nvPr/>
        </p:nvSpPr>
        <p:spPr>
          <a:xfrm flipH="1">
            <a:off x="2919610" y="2141056"/>
            <a:ext cx="844553" cy="2751511"/>
          </a:xfrm>
          <a:custGeom>
            <a:avLst/>
            <a:gdLst>
              <a:gd name="connsiteX0" fmla="*/ 0 w 683173"/>
              <a:gd name="connsiteY0" fmla="*/ 2028497 h 2028497"/>
              <a:gd name="connsiteX1" fmla="*/ 0 w 683173"/>
              <a:gd name="connsiteY1" fmla="*/ 777765 h 2028497"/>
              <a:gd name="connsiteX2" fmla="*/ 683173 w 683173"/>
              <a:gd name="connsiteY2" fmla="*/ 777765 h 2028497"/>
              <a:gd name="connsiteX3" fmla="*/ 683173 w 683173"/>
              <a:gd name="connsiteY3" fmla="*/ 0 h 2028497"/>
              <a:gd name="connsiteX0" fmla="*/ 0 w 733778"/>
              <a:gd name="connsiteY0" fmla="*/ 2028497 h 2028497"/>
              <a:gd name="connsiteX1" fmla="*/ 0 w 733778"/>
              <a:gd name="connsiteY1" fmla="*/ 777765 h 2028497"/>
              <a:gd name="connsiteX2" fmla="*/ 683173 w 733778"/>
              <a:gd name="connsiteY2" fmla="*/ 777765 h 2028497"/>
              <a:gd name="connsiteX3" fmla="*/ 683173 w 733778"/>
              <a:gd name="connsiteY3" fmla="*/ 0 h 2028497"/>
              <a:gd name="connsiteX0" fmla="*/ 50605 w 784383"/>
              <a:gd name="connsiteY0" fmla="*/ 2028497 h 2028497"/>
              <a:gd name="connsiteX1" fmla="*/ 50605 w 784383"/>
              <a:gd name="connsiteY1" fmla="*/ 777765 h 2028497"/>
              <a:gd name="connsiteX2" fmla="*/ 733778 w 784383"/>
              <a:gd name="connsiteY2" fmla="*/ 777765 h 2028497"/>
              <a:gd name="connsiteX3" fmla="*/ 733778 w 784383"/>
              <a:gd name="connsiteY3" fmla="*/ 0 h 2028497"/>
              <a:gd name="connsiteX0" fmla="*/ 67895 w 801673"/>
              <a:gd name="connsiteY0" fmla="*/ 2028497 h 2028497"/>
              <a:gd name="connsiteX1" fmla="*/ 67895 w 801673"/>
              <a:gd name="connsiteY1" fmla="*/ 777765 h 2028497"/>
              <a:gd name="connsiteX2" fmla="*/ 751068 w 801673"/>
              <a:gd name="connsiteY2" fmla="*/ 777765 h 2028497"/>
              <a:gd name="connsiteX3" fmla="*/ 751068 w 801673"/>
              <a:gd name="connsiteY3" fmla="*/ 0 h 2028497"/>
              <a:gd name="connsiteX0" fmla="*/ 63485 w 757620"/>
              <a:gd name="connsiteY0" fmla="*/ 2028497 h 2028497"/>
              <a:gd name="connsiteX1" fmla="*/ 63485 w 757620"/>
              <a:gd name="connsiteY1" fmla="*/ 777765 h 2028497"/>
              <a:gd name="connsiteX2" fmla="*/ 682863 w 757620"/>
              <a:gd name="connsiteY2" fmla="*/ 767132 h 2028497"/>
              <a:gd name="connsiteX3" fmla="*/ 746658 w 757620"/>
              <a:gd name="connsiteY3" fmla="*/ 0 h 2028497"/>
              <a:gd name="connsiteX0" fmla="*/ 12762 w 706897"/>
              <a:gd name="connsiteY0" fmla="*/ 2028497 h 2028497"/>
              <a:gd name="connsiteX1" fmla="*/ 12762 w 706897"/>
              <a:gd name="connsiteY1" fmla="*/ 777765 h 2028497"/>
              <a:gd name="connsiteX2" fmla="*/ 632140 w 706897"/>
              <a:gd name="connsiteY2" fmla="*/ 767132 h 2028497"/>
              <a:gd name="connsiteX3" fmla="*/ 695935 w 706897"/>
              <a:gd name="connsiteY3" fmla="*/ 0 h 2028497"/>
              <a:gd name="connsiteX0" fmla="*/ 0 w 686936"/>
              <a:gd name="connsiteY0" fmla="*/ 2028497 h 2028497"/>
              <a:gd name="connsiteX1" fmla="*/ 138224 w 686936"/>
              <a:gd name="connsiteY1" fmla="*/ 777765 h 2028497"/>
              <a:gd name="connsiteX2" fmla="*/ 619378 w 686936"/>
              <a:gd name="connsiteY2" fmla="*/ 767132 h 2028497"/>
              <a:gd name="connsiteX3" fmla="*/ 683173 w 686936"/>
              <a:gd name="connsiteY3" fmla="*/ 0 h 2028497"/>
              <a:gd name="connsiteX0" fmla="*/ 0 w 686936"/>
              <a:gd name="connsiteY0" fmla="*/ 2028497 h 2028497"/>
              <a:gd name="connsiteX1" fmla="*/ 138224 w 686936"/>
              <a:gd name="connsiteY1" fmla="*/ 777765 h 2028497"/>
              <a:gd name="connsiteX2" fmla="*/ 619378 w 686936"/>
              <a:gd name="connsiteY2" fmla="*/ 767132 h 2028497"/>
              <a:gd name="connsiteX3" fmla="*/ 683173 w 686936"/>
              <a:gd name="connsiteY3" fmla="*/ 0 h 2028497"/>
              <a:gd name="connsiteX0" fmla="*/ 0 w 686936"/>
              <a:gd name="connsiteY0" fmla="*/ 2028497 h 2028497"/>
              <a:gd name="connsiteX1" fmla="*/ 619378 w 686936"/>
              <a:gd name="connsiteY1" fmla="*/ 767132 h 2028497"/>
              <a:gd name="connsiteX2" fmla="*/ 683173 w 686936"/>
              <a:gd name="connsiteY2" fmla="*/ 0 h 2028497"/>
              <a:gd name="connsiteX0" fmla="*/ 0 w 683173"/>
              <a:gd name="connsiteY0" fmla="*/ 2028497 h 2028497"/>
              <a:gd name="connsiteX1" fmla="*/ 683173 w 683173"/>
              <a:gd name="connsiteY1" fmla="*/ 0 h 2028497"/>
              <a:gd name="connsiteX0" fmla="*/ 0 w 821396"/>
              <a:gd name="connsiteY0" fmla="*/ 2294311 h 2294311"/>
              <a:gd name="connsiteX1" fmla="*/ 821396 w 821396"/>
              <a:gd name="connsiteY1" fmla="*/ 0 h 2294311"/>
              <a:gd name="connsiteX0" fmla="*/ 0 w 822868"/>
              <a:gd name="connsiteY0" fmla="*/ 2294311 h 2294311"/>
              <a:gd name="connsiteX1" fmla="*/ 821396 w 822868"/>
              <a:gd name="connsiteY1" fmla="*/ 0 h 2294311"/>
              <a:gd name="connsiteX0" fmla="*/ 0 w 759244"/>
              <a:gd name="connsiteY0" fmla="*/ 2613288 h 2613288"/>
              <a:gd name="connsiteX1" fmla="*/ 757600 w 759244"/>
              <a:gd name="connsiteY1" fmla="*/ 0 h 2613288"/>
              <a:gd name="connsiteX0" fmla="*/ 0 w 758978"/>
              <a:gd name="connsiteY0" fmla="*/ 2613288 h 2613288"/>
              <a:gd name="connsiteX1" fmla="*/ 757600 w 758978"/>
              <a:gd name="connsiteY1" fmla="*/ 0 h 2613288"/>
              <a:gd name="connsiteX0" fmla="*/ 0 w 785530"/>
              <a:gd name="connsiteY0" fmla="*/ 2613288 h 2613288"/>
              <a:gd name="connsiteX1" fmla="*/ 757600 w 785530"/>
              <a:gd name="connsiteY1" fmla="*/ 0 h 2613288"/>
              <a:gd name="connsiteX0" fmla="*/ 0 w 847497"/>
              <a:gd name="connsiteY0" fmla="*/ 2751511 h 2751511"/>
              <a:gd name="connsiteX1" fmla="*/ 821395 w 847497"/>
              <a:gd name="connsiteY1" fmla="*/ 0 h 2751511"/>
              <a:gd name="connsiteX0" fmla="*/ 0 w 844999"/>
              <a:gd name="connsiteY0" fmla="*/ 2751511 h 2751511"/>
              <a:gd name="connsiteX1" fmla="*/ 821395 w 844999"/>
              <a:gd name="connsiteY1" fmla="*/ 0 h 2751511"/>
              <a:gd name="connsiteX0" fmla="*/ 0 w 844553"/>
              <a:gd name="connsiteY0" fmla="*/ 2751511 h 2751511"/>
              <a:gd name="connsiteX1" fmla="*/ 821395 w 844553"/>
              <a:gd name="connsiteY1" fmla="*/ 0 h 2751511"/>
            </a:gdLst>
            <a:ahLst/>
            <a:cxnLst>
              <a:cxn ang="0">
                <a:pos x="connsiteX0" y="connsiteY0"/>
              </a:cxn>
              <a:cxn ang="0">
                <a:pos x="connsiteX1" y="connsiteY1"/>
              </a:cxn>
            </a:cxnLst>
            <a:rect l="l" t="t" r="r" b="b"/>
            <a:pathLst>
              <a:path w="844553" h="2751511">
                <a:moveTo>
                  <a:pt x="0" y="2751511"/>
                </a:moveTo>
                <a:cubicBezTo>
                  <a:pt x="39884" y="1157401"/>
                  <a:pt x="1004797" y="2008780"/>
                  <a:pt x="821395" y="0"/>
                </a:cubicBezTo>
              </a:path>
            </a:pathLst>
          </a:custGeom>
          <a:noFill/>
          <a:ln w="57150">
            <a:solidFill>
              <a:srgbClr val="C7000B"/>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a:spLocks noChangeAspect="1"/>
          </p:cNvSpPr>
          <p:nvPr/>
        </p:nvSpPr>
        <p:spPr bwMode="grayWhite">
          <a:xfrm>
            <a:off x="781031" y="1846386"/>
            <a:ext cx="287773" cy="287773"/>
          </a:xfrm>
          <a:prstGeom prst="ellipse">
            <a:avLst/>
          </a:prstGeom>
          <a:solidFill>
            <a:srgbClr val="56C4D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椭圆 39"/>
          <p:cNvSpPr>
            <a:spLocks noChangeAspect="1"/>
          </p:cNvSpPr>
          <p:nvPr/>
        </p:nvSpPr>
        <p:spPr bwMode="invGray">
          <a:xfrm>
            <a:off x="765159" y="1192008"/>
            <a:ext cx="287773" cy="287773"/>
          </a:xfrm>
          <a:prstGeom prst="ellipse">
            <a:avLst/>
          </a:prstGeom>
          <a:solidFill>
            <a:srgbClr val="FDD351">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TextBox 33"/>
          <p:cNvSpPr txBox="1"/>
          <p:nvPr/>
        </p:nvSpPr>
        <p:spPr>
          <a:xfrm>
            <a:off x="1068804" y="1111624"/>
            <a:ext cx="1009534" cy="461665"/>
          </a:xfrm>
          <a:prstGeom prst="rect">
            <a:avLst/>
          </a:prstGeom>
          <a:noFill/>
        </p:spPr>
        <p:txBody>
          <a:bodyPr wrap="square" rtlCol="0">
            <a:spAutoFit/>
          </a:bodyPr>
          <a:lstStyle/>
          <a:p>
            <a:r>
              <a:rPr lang="en-US" altLang="zh-CN" sz="1200" dirty="0" smtClean="0">
                <a:cs typeface="+mn-ea"/>
                <a:sym typeface="+mn-lt"/>
              </a:rPr>
              <a:t>AP1</a:t>
            </a:r>
            <a:r>
              <a:rPr lang="zh-CN" altLang="en-US" sz="1200" dirty="0" smtClean="0">
                <a:cs typeface="+mn-ea"/>
                <a:sym typeface="+mn-lt"/>
              </a:rPr>
              <a:t>的信号覆盖范围</a:t>
            </a:r>
            <a:endParaRPr lang="zh-CN" altLang="en-US" sz="1200" dirty="0">
              <a:cs typeface="+mn-ea"/>
              <a:sym typeface="+mn-lt"/>
            </a:endParaRPr>
          </a:p>
        </p:txBody>
      </p:sp>
      <p:sp>
        <p:nvSpPr>
          <p:cNvPr id="42" name="TextBox 33"/>
          <p:cNvSpPr txBox="1"/>
          <p:nvPr/>
        </p:nvSpPr>
        <p:spPr>
          <a:xfrm>
            <a:off x="1068804" y="1762144"/>
            <a:ext cx="1009534" cy="461665"/>
          </a:xfrm>
          <a:prstGeom prst="rect">
            <a:avLst/>
          </a:prstGeom>
          <a:noFill/>
        </p:spPr>
        <p:txBody>
          <a:bodyPr wrap="square" rtlCol="0">
            <a:spAutoFit/>
          </a:bodyPr>
          <a:lstStyle/>
          <a:p>
            <a:r>
              <a:rPr lang="en-US" altLang="zh-CN" sz="1200" smtClean="0">
                <a:cs typeface="+mn-ea"/>
                <a:sym typeface="+mn-lt"/>
              </a:rPr>
              <a:t>AP2</a:t>
            </a:r>
            <a:r>
              <a:rPr lang="zh-CN" altLang="en-US" sz="1200" smtClean="0">
                <a:cs typeface="+mn-ea"/>
                <a:sym typeface="+mn-lt"/>
              </a:rPr>
              <a:t>的信号覆盖范围</a:t>
            </a:r>
            <a:endParaRPr lang="zh-CN" altLang="en-US" sz="1200">
              <a:cs typeface="+mn-ea"/>
              <a:sym typeface="+mn-lt"/>
            </a:endParaRPr>
          </a:p>
        </p:txBody>
      </p:sp>
      <p:grpSp>
        <p:nvGrpSpPr>
          <p:cNvPr id="3" name="组合 2"/>
          <p:cNvGrpSpPr/>
          <p:nvPr/>
        </p:nvGrpSpPr>
        <p:grpSpPr>
          <a:xfrm>
            <a:off x="7608888" y="114714"/>
            <a:ext cx="4138612" cy="213120"/>
            <a:chOff x="6624433" y="114714"/>
            <a:chExt cx="4138612" cy="213120"/>
          </a:xfrm>
        </p:grpSpPr>
        <p:sp>
          <p:nvSpPr>
            <p:cNvPr id="43" name="五边形 42"/>
            <p:cNvSpPr/>
            <p:nvPr/>
          </p:nvSpPr>
          <p:spPr bwMode="auto">
            <a:xfrm>
              <a:off x="6624433"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7434086"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8243739"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9053392"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auto">
            <a:xfrm>
              <a:off x="9863045"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397693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bwMode="grayWhite">
          <a:xfrm>
            <a:off x="2747853" y="4150260"/>
            <a:ext cx="2139977" cy="2022361"/>
          </a:xfrm>
          <a:prstGeom prst="roundRect">
            <a:avLst>
              <a:gd name="adj" fmla="val 5736"/>
            </a:avLst>
          </a:prstGeom>
          <a:solidFill>
            <a:srgbClr val="56C4D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9" name="圆角矩形 8"/>
          <p:cNvSpPr/>
          <p:nvPr/>
        </p:nvSpPr>
        <p:spPr bwMode="invGray">
          <a:xfrm>
            <a:off x="636813" y="4150260"/>
            <a:ext cx="2053427" cy="2022361"/>
          </a:xfrm>
          <a:prstGeom prst="roundRect">
            <a:avLst>
              <a:gd name="adj" fmla="val 5736"/>
            </a:avLst>
          </a:prstGeom>
          <a:solidFill>
            <a:srgbClr val="FDD351">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2" name="标题 1"/>
          <p:cNvSpPr>
            <a:spLocks noGrp="1"/>
          </p:cNvSpPr>
          <p:nvPr>
            <p:ph type="title"/>
          </p:nvPr>
        </p:nvSpPr>
        <p:spPr bwMode="gray"/>
        <p:txBody>
          <a:bodyPr>
            <a:normAutofit/>
          </a:bodyPr>
          <a:lstStyle/>
          <a:p>
            <a:r>
              <a:rPr lang="zh-CN" altLang="en-US" dirty="0">
                <a:latin typeface="+mn-lt"/>
                <a:ea typeface="+mn-ea"/>
                <a:cs typeface="+mn-ea"/>
                <a:sym typeface="+mn-lt"/>
              </a:rPr>
              <a:t>无线漫游</a:t>
            </a:r>
            <a:r>
              <a:rPr lang="zh-CN" altLang="en-US" dirty="0" smtClean="0">
                <a:latin typeface="+mn-lt"/>
                <a:ea typeface="+mn-ea"/>
                <a:cs typeface="+mn-ea"/>
                <a:sym typeface="+mn-lt"/>
              </a:rPr>
              <a:t>：三层</a:t>
            </a:r>
            <a:r>
              <a:rPr lang="zh-CN" altLang="en-US" dirty="0">
                <a:latin typeface="+mn-lt"/>
                <a:ea typeface="+mn-ea"/>
                <a:cs typeface="+mn-ea"/>
                <a:sym typeface="+mn-lt"/>
              </a:rPr>
              <a:t>漫游</a:t>
            </a:r>
            <a:r>
              <a:rPr lang="zh-CN" altLang="en-US" dirty="0" smtClean="0">
                <a:latin typeface="+mn-lt"/>
                <a:ea typeface="+mn-ea"/>
                <a:cs typeface="+mn-ea"/>
                <a:sym typeface="+mn-lt"/>
              </a:rPr>
              <a:t>设计 </a:t>
            </a:r>
            <a:r>
              <a:rPr lang="en-US" altLang="zh-CN" dirty="0" smtClean="0">
                <a:latin typeface="+mn-lt"/>
                <a:ea typeface="+mn-ea"/>
                <a:cs typeface="+mn-ea"/>
                <a:sym typeface="+mn-lt"/>
              </a:rPr>
              <a:t>(1)</a:t>
            </a:r>
            <a:endParaRPr lang="zh-CN" altLang="en-US" dirty="0">
              <a:latin typeface="+mn-lt"/>
              <a:ea typeface="+mn-ea"/>
              <a:cs typeface="+mn-ea"/>
              <a:sym typeface="+mn-lt"/>
            </a:endParaRPr>
          </a:p>
        </p:txBody>
      </p:sp>
      <p:sp>
        <p:nvSpPr>
          <p:cNvPr id="71" name="矩形 70"/>
          <p:cNvSpPr/>
          <p:nvPr/>
        </p:nvSpPr>
        <p:spPr bwMode="gray">
          <a:xfrm>
            <a:off x="5176755" y="952739"/>
            <a:ext cx="6283407" cy="5247590"/>
          </a:xfrm>
          <a:prstGeom prst="rect">
            <a:avLst/>
          </a:prstGeom>
        </p:spPr>
        <p:txBody>
          <a:bodyPr wrap="square">
            <a:spAutoFit/>
          </a:bodyPr>
          <a:lstStyle/>
          <a:p>
            <a:pPr algn="just">
              <a:lnSpc>
                <a:spcPts val="2400"/>
              </a:lnSpc>
              <a:spcAft>
                <a:spcPts val="300"/>
              </a:spcAft>
            </a:pPr>
            <a:r>
              <a:rPr lang="zh-CN" altLang="en-US" sz="1400" b="1" dirty="0" smtClean="0">
                <a:cs typeface="+mn-ea"/>
                <a:sym typeface="+mn-lt"/>
              </a:rPr>
              <a:t>三层漫游</a:t>
            </a:r>
            <a:r>
              <a:rPr lang="zh-CN" altLang="en-US" sz="1400" b="1" dirty="0">
                <a:cs typeface="+mn-ea"/>
                <a:sym typeface="+mn-lt"/>
              </a:rPr>
              <a:t>的</a:t>
            </a:r>
            <a:r>
              <a:rPr lang="zh-CN" altLang="en-US" sz="1400" b="1" dirty="0" smtClean="0">
                <a:cs typeface="+mn-ea"/>
                <a:sym typeface="+mn-lt"/>
              </a:rPr>
              <a:t>概念</a:t>
            </a:r>
          </a:p>
          <a:p>
            <a:pPr marL="285750" indent="-285750" algn="just">
              <a:lnSpc>
                <a:spcPts val="2400"/>
              </a:lnSpc>
              <a:spcAft>
                <a:spcPts val="300"/>
              </a:spcAft>
              <a:buFont typeface="Arial" panose="020B0604020202020204" pitchFamily="34" charset="0"/>
              <a:buChar char="•"/>
            </a:pPr>
            <a:r>
              <a:rPr lang="zh-CN" altLang="en-US" sz="1400" dirty="0" smtClean="0">
                <a:cs typeface="+mn-ea"/>
                <a:sym typeface="+mn-lt"/>
              </a:rPr>
              <a:t>三层漫游：终端漫游</a:t>
            </a:r>
            <a:r>
              <a:rPr lang="zh-CN" altLang="en-US" sz="1400" dirty="0">
                <a:cs typeface="+mn-ea"/>
                <a:sym typeface="+mn-lt"/>
              </a:rPr>
              <a:t>前后</a:t>
            </a:r>
            <a:r>
              <a:rPr lang="en-US" altLang="zh-CN" sz="1400" dirty="0">
                <a:cs typeface="+mn-ea"/>
                <a:sym typeface="+mn-lt"/>
              </a:rPr>
              <a:t>SSID</a:t>
            </a:r>
            <a:r>
              <a:rPr lang="zh-CN" altLang="en-US" sz="1400" dirty="0">
                <a:cs typeface="+mn-ea"/>
                <a:sym typeface="+mn-lt"/>
              </a:rPr>
              <a:t>的业务</a:t>
            </a:r>
            <a:r>
              <a:rPr lang="en-US" altLang="zh-CN" sz="1400" dirty="0">
                <a:cs typeface="+mn-ea"/>
                <a:sym typeface="+mn-lt"/>
              </a:rPr>
              <a:t>VLAN</a:t>
            </a:r>
            <a:r>
              <a:rPr lang="zh-CN" altLang="en-US" sz="1400" dirty="0">
                <a:cs typeface="+mn-ea"/>
                <a:sym typeface="+mn-lt"/>
              </a:rPr>
              <a:t>不同，对应不同的网关；此时，为保持漫游用户</a:t>
            </a:r>
            <a:r>
              <a:rPr lang="en-US" altLang="zh-CN" sz="1400" dirty="0">
                <a:cs typeface="+mn-ea"/>
                <a:sym typeface="+mn-lt"/>
              </a:rPr>
              <a:t>IP</a:t>
            </a:r>
            <a:r>
              <a:rPr lang="zh-CN" altLang="en-US" sz="1400" dirty="0">
                <a:cs typeface="+mn-ea"/>
                <a:sym typeface="+mn-lt"/>
              </a:rPr>
              <a:t>地址</a:t>
            </a:r>
            <a:r>
              <a:rPr lang="zh-CN" altLang="en-US" sz="1400" dirty="0" smtClean="0">
                <a:cs typeface="+mn-ea"/>
                <a:sym typeface="+mn-lt"/>
              </a:rPr>
              <a:t>不变，需将</a:t>
            </a:r>
            <a:r>
              <a:rPr lang="zh-CN" altLang="en-US" sz="1400" dirty="0">
                <a:cs typeface="+mn-ea"/>
                <a:sym typeface="+mn-lt"/>
              </a:rPr>
              <a:t>用户流量迂回到初始</a:t>
            </a:r>
            <a:r>
              <a:rPr lang="zh-CN" altLang="en-US" sz="1400" dirty="0" smtClean="0">
                <a:cs typeface="+mn-ea"/>
                <a:sym typeface="+mn-lt"/>
              </a:rPr>
              <a:t>接入网段的</a:t>
            </a:r>
            <a:r>
              <a:rPr lang="en-US" altLang="zh-CN" sz="1400" dirty="0" smtClean="0">
                <a:cs typeface="+mn-ea"/>
                <a:sym typeface="+mn-lt"/>
              </a:rPr>
              <a:t>AP</a:t>
            </a:r>
            <a:r>
              <a:rPr lang="zh-CN" altLang="en-US" sz="1400" dirty="0" smtClean="0">
                <a:cs typeface="+mn-ea"/>
                <a:sym typeface="+mn-lt"/>
              </a:rPr>
              <a:t>。</a:t>
            </a:r>
            <a:endParaRPr lang="en-US" altLang="zh-CN" sz="1400" dirty="0" smtClean="0">
              <a:cs typeface="+mn-ea"/>
              <a:sym typeface="+mn-lt"/>
            </a:endParaRPr>
          </a:p>
          <a:p>
            <a:pPr marL="285750" indent="-285750" algn="just">
              <a:lnSpc>
                <a:spcPts val="2400"/>
              </a:lnSpc>
              <a:spcAft>
                <a:spcPts val="300"/>
              </a:spcAft>
              <a:buFont typeface="Arial" panose="020B0604020202020204" pitchFamily="34" charset="0"/>
              <a:buChar char="•"/>
            </a:pPr>
            <a:r>
              <a:rPr lang="zh-CN" altLang="en-US" sz="1400" dirty="0" smtClean="0">
                <a:cs typeface="+mn-ea"/>
                <a:sym typeface="+mn-lt"/>
              </a:rPr>
              <a:t>上线</a:t>
            </a:r>
            <a:r>
              <a:rPr lang="en-US" altLang="zh-CN" sz="1400" dirty="0">
                <a:cs typeface="+mn-ea"/>
                <a:sym typeface="+mn-lt"/>
              </a:rPr>
              <a:t>AP</a:t>
            </a:r>
            <a:r>
              <a:rPr lang="zh-CN" altLang="en-US" sz="1400" dirty="0" smtClean="0">
                <a:cs typeface="+mn-ea"/>
                <a:sym typeface="+mn-lt"/>
              </a:rPr>
              <a:t>：终端在</a:t>
            </a:r>
            <a:r>
              <a:rPr lang="en-US" altLang="zh-CN" sz="1400" dirty="0" smtClean="0">
                <a:cs typeface="+mn-ea"/>
                <a:sym typeface="+mn-lt"/>
              </a:rPr>
              <a:t>AP</a:t>
            </a:r>
            <a:r>
              <a:rPr lang="zh-CN" altLang="en-US" sz="1400" dirty="0">
                <a:cs typeface="+mn-ea"/>
                <a:sym typeface="+mn-lt"/>
              </a:rPr>
              <a:t>漫游组内</a:t>
            </a:r>
            <a:r>
              <a:rPr lang="zh-CN" altLang="en-US" sz="1400" dirty="0" smtClean="0">
                <a:cs typeface="+mn-ea"/>
                <a:sym typeface="+mn-lt"/>
              </a:rPr>
              <a:t>首次关联的</a:t>
            </a:r>
            <a:r>
              <a:rPr lang="en-US" altLang="zh-CN" sz="1400" dirty="0" smtClean="0">
                <a:cs typeface="+mn-ea"/>
                <a:sym typeface="+mn-lt"/>
              </a:rPr>
              <a:t>AP</a:t>
            </a:r>
            <a:r>
              <a:rPr lang="zh-CN" altLang="en-US" sz="1400" dirty="0">
                <a:cs typeface="+mn-ea"/>
                <a:sym typeface="+mn-lt"/>
              </a:rPr>
              <a:t>。</a:t>
            </a:r>
            <a:endParaRPr lang="en-US" altLang="zh-CN" sz="1400" dirty="0">
              <a:cs typeface="+mn-ea"/>
              <a:sym typeface="+mn-lt"/>
            </a:endParaRPr>
          </a:p>
          <a:p>
            <a:pPr marL="285750" indent="-285750" algn="just">
              <a:lnSpc>
                <a:spcPts val="2400"/>
              </a:lnSpc>
              <a:spcAft>
                <a:spcPts val="300"/>
              </a:spcAft>
              <a:buFont typeface="Arial" panose="020B0604020202020204" pitchFamily="34" charset="0"/>
              <a:buChar char="•"/>
            </a:pPr>
            <a:r>
              <a:rPr lang="en-US" altLang="zh-CN" sz="1400" dirty="0" smtClean="0">
                <a:cs typeface="+mn-ea"/>
                <a:sym typeface="+mn-lt"/>
              </a:rPr>
              <a:t>HAP</a:t>
            </a:r>
            <a:r>
              <a:rPr lang="zh-CN" altLang="en-US" sz="1400" dirty="0">
                <a:cs typeface="+mn-ea"/>
                <a:sym typeface="+mn-lt"/>
              </a:rPr>
              <a:t>（</a:t>
            </a:r>
            <a:r>
              <a:rPr lang="en-US" altLang="zh-CN" sz="1400" dirty="0">
                <a:cs typeface="+mn-ea"/>
                <a:sym typeface="+mn-lt"/>
              </a:rPr>
              <a:t>Home AP</a:t>
            </a:r>
            <a:r>
              <a:rPr lang="zh-CN" altLang="en-US" sz="1400" dirty="0">
                <a:cs typeface="+mn-ea"/>
                <a:sym typeface="+mn-lt"/>
              </a:rPr>
              <a:t>）：在</a:t>
            </a:r>
            <a:r>
              <a:rPr lang="zh-CN" altLang="en-US" sz="1400" dirty="0" smtClean="0">
                <a:cs typeface="+mn-ea"/>
                <a:sym typeface="+mn-lt"/>
              </a:rPr>
              <a:t>终端初次接入网络时的上线</a:t>
            </a:r>
            <a:r>
              <a:rPr lang="en-US" altLang="zh-CN" sz="1400" dirty="0" smtClean="0">
                <a:cs typeface="+mn-ea"/>
                <a:sym typeface="+mn-lt"/>
              </a:rPr>
              <a:t>AP</a:t>
            </a:r>
            <a:r>
              <a:rPr lang="zh-CN" altLang="en-US" sz="1400" dirty="0">
                <a:cs typeface="+mn-ea"/>
                <a:sym typeface="+mn-lt"/>
              </a:rPr>
              <a:t>的同一个二层漫游邻居范围内，通过</a:t>
            </a:r>
            <a:r>
              <a:rPr lang="en-US" altLang="zh-CN" sz="1400" dirty="0">
                <a:cs typeface="+mn-ea"/>
                <a:sym typeface="+mn-lt"/>
              </a:rPr>
              <a:t>Hash</a:t>
            </a:r>
            <a:r>
              <a:rPr lang="zh-CN" altLang="en-US" sz="1400" dirty="0">
                <a:cs typeface="+mn-ea"/>
                <a:sym typeface="+mn-lt"/>
              </a:rPr>
              <a:t>算法选择一个</a:t>
            </a:r>
            <a:r>
              <a:rPr lang="en-US" altLang="zh-CN" sz="1400" dirty="0">
                <a:cs typeface="+mn-ea"/>
                <a:sym typeface="+mn-lt"/>
              </a:rPr>
              <a:t>AP</a:t>
            </a:r>
            <a:r>
              <a:rPr lang="zh-CN" altLang="en-US" sz="1400" dirty="0">
                <a:cs typeface="+mn-ea"/>
                <a:sym typeface="+mn-lt"/>
              </a:rPr>
              <a:t>作为</a:t>
            </a:r>
            <a:r>
              <a:rPr lang="en-US" altLang="zh-CN" sz="1400" dirty="0">
                <a:cs typeface="+mn-ea"/>
                <a:sym typeface="+mn-lt"/>
              </a:rPr>
              <a:t>HAP</a:t>
            </a:r>
            <a:r>
              <a:rPr lang="zh-CN" altLang="en-US" sz="1400" dirty="0">
                <a:cs typeface="+mn-ea"/>
                <a:sym typeface="+mn-lt"/>
              </a:rPr>
              <a:t>用于转发该终端的三层漫游流量</a:t>
            </a:r>
            <a:r>
              <a:rPr lang="zh-CN" altLang="en-US" sz="1400" dirty="0" smtClean="0">
                <a:cs typeface="+mn-ea"/>
                <a:sym typeface="+mn-lt"/>
              </a:rPr>
              <a:t>。</a:t>
            </a:r>
            <a:endParaRPr lang="en-US" altLang="zh-CN" sz="1400" dirty="0" smtClean="0">
              <a:cs typeface="+mn-ea"/>
              <a:sym typeface="+mn-lt"/>
            </a:endParaRPr>
          </a:p>
          <a:p>
            <a:pPr algn="just">
              <a:lnSpc>
                <a:spcPts val="2400"/>
              </a:lnSpc>
              <a:spcAft>
                <a:spcPts val="300"/>
              </a:spcAft>
            </a:pPr>
            <a:r>
              <a:rPr lang="zh-CN" altLang="en-US" sz="1400" b="1" dirty="0" smtClean="0">
                <a:cs typeface="+mn-ea"/>
                <a:sym typeface="+mn-lt"/>
              </a:rPr>
              <a:t>三</a:t>
            </a:r>
            <a:r>
              <a:rPr lang="zh-CN" altLang="en-US" sz="1400" b="1" dirty="0">
                <a:cs typeface="+mn-ea"/>
                <a:sym typeface="+mn-lt"/>
              </a:rPr>
              <a:t>层漫游的</a:t>
            </a:r>
            <a:r>
              <a:rPr lang="zh-CN" altLang="en-US" sz="1400" b="1" dirty="0" smtClean="0">
                <a:cs typeface="+mn-ea"/>
                <a:sym typeface="+mn-lt"/>
              </a:rPr>
              <a:t>实现</a:t>
            </a:r>
            <a:endParaRPr lang="zh-CN" altLang="en-US" sz="1400" b="1" dirty="0">
              <a:cs typeface="+mn-ea"/>
              <a:sym typeface="+mn-lt"/>
            </a:endParaRPr>
          </a:p>
          <a:p>
            <a:pPr marL="285750" indent="-285750" algn="just">
              <a:lnSpc>
                <a:spcPts val="2400"/>
              </a:lnSpc>
              <a:spcAft>
                <a:spcPts val="300"/>
              </a:spcAft>
              <a:buFont typeface="Arial" panose="020B0604020202020204" pitchFamily="34" charset="0"/>
              <a:buChar char="•"/>
            </a:pPr>
            <a:r>
              <a:rPr lang="zh-CN" altLang="en-US" sz="1400" dirty="0" smtClean="0">
                <a:cs typeface="+mn-ea"/>
                <a:sym typeface="+mn-lt"/>
              </a:rPr>
              <a:t>终端</a:t>
            </a:r>
            <a:r>
              <a:rPr lang="zh-CN" altLang="en-US" sz="1400" dirty="0">
                <a:cs typeface="+mn-ea"/>
                <a:sym typeface="+mn-lt"/>
              </a:rPr>
              <a:t>上线时</a:t>
            </a:r>
            <a:r>
              <a:rPr lang="zh-CN" altLang="en-US" sz="1400" dirty="0" smtClean="0">
                <a:cs typeface="+mn-ea"/>
                <a:sym typeface="+mn-lt"/>
              </a:rPr>
              <a:t>，网络会在候选</a:t>
            </a:r>
            <a:r>
              <a:rPr lang="en-US" altLang="zh-CN" sz="1400" dirty="0" smtClean="0">
                <a:cs typeface="+mn-ea"/>
                <a:sym typeface="+mn-lt"/>
              </a:rPr>
              <a:t>HAP</a:t>
            </a:r>
            <a:r>
              <a:rPr lang="zh-CN" altLang="en-US" sz="1400" dirty="0" smtClean="0">
                <a:cs typeface="+mn-ea"/>
                <a:sym typeface="+mn-lt"/>
              </a:rPr>
              <a:t>中通过</a:t>
            </a:r>
            <a:r>
              <a:rPr lang="en-US" altLang="zh-CN" sz="1400" dirty="0" smtClean="0">
                <a:cs typeface="+mn-ea"/>
                <a:sym typeface="+mn-lt"/>
              </a:rPr>
              <a:t>HASH</a:t>
            </a:r>
            <a:r>
              <a:rPr lang="zh-CN" altLang="en-US" sz="1400" dirty="0" smtClean="0">
                <a:cs typeface="+mn-ea"/>
                <a:sym typeface="+mn-lt"/>
              </a:rPr>
              <a:t>算法选择</a:t>
            </a:r>
            <a:r>
              <a:rPr lang="zh-CN" altLang="en-US" sz="1400" dirty="0">
                <a:cs typeface="+mn-ea"/>
                <a:sym typeface="+mn-lt"/>
              </a:rPr>
              <a:t>一个</a:t>
            </a:r>
            <a:r>
              <a:rPr lang="en-US" altLang="zh-CN" sz="1400" dirty="0">
                <a:cs typeface="+mn-ea"/>
                <a:sym typeface="+mn-lt"/>
              </a:rPr>
              <a:t>AP</a:t>
            </a:r>
            <a:r>
              <a:rPr lang="zh-CN" altLang="en-US" sz="1400" dirty="0">
                <a:cs typeface="+mn-ea"/>
                <a:sym typeface="+mn-lt"/>
              </a:rPr>
              <a:t>作为上线终端</a:t>
            </a:r>
            <a:r>
              <a:rPr lang="zh-CN" altLang="en-US" sz="1400" dirty="0" smtClean="0">
                <a:cs typeface="+mn-ea"/>
                <a:sym typeface="+mn-lt"/>
              </a:rPr>
              <a:t>的</a:t>
            </a:r>
            <a:r>
              <a:rPr lang="en-US" altLang="zh-CN" sz="1400" dirty="0" smtClean="0">
                <a:cs typeface="+mn-ea"/>
                <a:sym typeface="+mn-lt"/>
              </a:rPr>
              <a:t>HAP</a:t>
            </a:r>
            <a:r>
              <a:rPr lang="zh-CN" altLang="en-US" sz="1400" dirty="0">
                <a:cs typeface="+mn-ea"/>
                <a:sym typeface="+mn-lt"/>
              </a:rPr>
              <a:t>，当终端发生三层漫游时，三层漫游流量会转发到该</a:t>
            </a:r>
            <a:r>
              <a:rPr lang="en-US" altLang="zh-CN" sz="1400" dirty="0">
                <a:cs typeface="+mn-ea"/>
                <a:sym typeface="+mn-lt"/>
              </a:rPr>
              <a:t>HAP</a:t>
            </a:r>
            <a:r>
              <a:rPr lang="zh-CN" altLang="en-US" sz="1400" dirty="0" smtClean="0">
                <a:cs typeface="+mn-ea"/>
                <a:sym typeface="+mn-lt"/>
              </a:rPr>
              <a:t>。此方案可防止</a:t>
            </a:r>
            <a:r>
              <a:rPr lang="zh-CN" altLang="en-US" sz="1400" dirty="0">
                <a:cs typeface="+mn-ea"/>
                <a:sym typeface="+mn-lt"/>
              </a:rPr>
              <a:t>用户三层漫游后流量都打回一个</a:t>
            </a:r>
            <a:r>
              <a:rPr lang="en-US" altLang="zh-CN" sz="1400" dirty="0">
                <a:cs typeface="+mn-ea"/>
                <a:sym typeface="+mn-lt"/>
              </a:rPr>
              <a:t>AP</a:t>
            </a:r>
            <a:r>
              <a:rPr lang="zh-CN" altLang="en-US" sz="1400" dirty="0">
                <a:cs typeface="+mn-ea"/>
                <a:sym typeface="+mn-lt"/>
              </a:rPr>
              <a:t>，产生性能瓶颈。</a:t>
            </a:r>
            <a:endParaRPr lang="en-US" altLang="zh-CN" sz="1400" dirty="0">
              <a:cs typeface="+mn-ea"/>
              <a:sym typeface="+mn-lt"/>
            </a:endParaRPr>
          </a:p>
          <a:p>
            <a:pPr marL="285750" indent="-285750" algn="just">
              <a:lnSpc>
                <a:spcPts val="2400"/>
              </a:lnSpc>
              <a:spcAft>
                <a:spcPts val="300"/>
              </a:spcAft>
              <a:buFont typeface="Arial" panose="020B0604020202020204" pitchFamily="34" charset="0"/>
              <a:buChar char="•"/>
            </a:pPr>
            <a:r>
              <a:rPr lang="zh-CN" altLang="en-US" sz="1400" dirty="0" smtClean="0">
                <a:cs typeface="+mn-ea"/>
                <a:sym typeface="+mn-lt"/>
              </a:rPr>
              <a:t>如</a:t>
            </a:r>
            <a:r>
              <a:rPr lang="zh-CN" altLang="en-US" sz="1400" dirty="0">
                <a:cs typeface="+mn-ea"/>
                <a:sym typeface="+mn-lt"/>
              </a:rPr>
              <a:t>图所示</a:t>
            </a:r>
            <a:r>
              <a:rPr lang="zh-CN" altLang="en-US" sz="1400" dirty="0" smtClean="0">
                <a:cs typeface="+mn-ea"/>
                <a:sym typeface="+mn-lt"/>
              </a:rPr>
              <a:t>，终端从上线</a:t>
            </a:r>
            <a:r>
              <a:rPr lang="en-US" altLang="zh-CN" sz="1400" dirty="0" smtClean="0">
                <a:cs typeface="+mn-ea"/>
                <a:sym typeface="+mn-lt"/>
              </a:rPr>
              <a:t>AP</a:t>
            </a:r>
            <a:r>
              <a:rPr lang="zh-CN" altLang="en-US" sz="1400" dirty="0" smtClean="0">
                <a:cs typeface="+mn-ea"/>
                <a:sym typeface="+mn-lt"/>
              </a:rPr>
              <a:t>接入</a:t>
            </a:r>
            <a:r>
              <a:rPr lang="zh-CN" altLang="en-US" sz="1400" dirty="0">
                <a:cs typeface="+mn-ea"/>
                <a:sym typeface="+mn-lt"/>
              </a:rPr>
              <a:t>，然后漫游</a:t>
            </a:r>
            <a:r>
              <a:rPr lang="zh-CN" altLang="en-US" sz="1400" dirty="0" smtClean="0">
                <a:cs typeface="+mn-ea"/>
                <a:sym typeface="+mn-lt"/>
              </a:rPr>
              <a:t>到漫游后</a:t>
            </a:r>
            <a:r>
              <a:rPr lang="en-US" altLang="zh-CN" sz="1400" dirty="0" smtClean="0">
                <a:cs typeface="+mn-ea"/>
                <a:sym typeface="+mn-lt"/>
              </a:rPr>
              <a:t>AP</a:t>
            </a:r>
            <a:r>
              <a:rPr lang="zh-CN" altLang="en-US" sz="1400" dirty="0" smtClean="0">
                <a:cs typeface="+mn-ea"/>
                <a:sym typeface="+mn-lt"/>
              </a:rPr>
              <a:t>；漫游后</a:t>
            </a:r>
            <a:r>
              <a:rPr lang="en-US" altLang="zh-CN" sz="1400" dirty="0" smtClean="0">
                <a:cs typeface="+mn-ea"/>
                <a:sym typeface="+mn-lt"/>
              </a:rPr>
              <a:t>AP</a:t>
            </a:r>
            <a:r>
              <a:rPr lang="zh-CN" altLang="en-US" sz="1400" dirty="0" smtClean="0">
                <a:cs typeface="+mn-ea"/>
                <a:sym typeface="+mn-lt"/>
              </a:rPr>
              <a:t>会到上线</a:t>
            </a:r>
            <a:r>
              <a:rPr lang="en-US" altLang="zh-CN" sz="1400" dirty="0" smtClean="0">
                <a:cs typeface="+mn-ea"/>
                <a:sym typeface="+mn-lt"/>
              </a:rPr>
              <a:t>AP</a:t>
            </a:r>
            <a:r>
              <a:rPr lang="zh-CN" altLang="en-US" sz="1400" dirty="0" smtClean="0">
                <a:cs typeface="+mn-ea"/>
                <a:sym typeface="+mn-lt"/>
              </a:rPr>
              <a:t>获取</a:t>
            </a:r>
            <a:r>
              <a:rPr lang="zh-CN" altLang="en-US" sz="1400" dirty="0">
                <a:cs typeface="+mn-ea"/>
                <a:sym typeface="+mn-lt"/>
              </a:rPr>
              <a:t>用户信息</a:t>
            </a:r>
            <a:r>
              <a:rPr lang="zh-CN" altLang="en-US" sz="1400" dirty="0" smtClean="0">
                <a:cs typeface="+mn-ea"/>
                <a:sym typeface="+mn-lt"/>
              </a:rPr>
              <a:t>，及用户</a:t>
            </a:r>
            <a:r>
              <a:rPr lang="zh-CN" altLang="en-US" sz="1400" dirty="0">
                <a:cs typeface="+mn-ea"/>
                <a:sym typeface="+mn-lt"/>
              </a:rPr>
              <a:t>对应的</a:t>
            </a:r>
            <a:r>
              <a:rPr lang="en-US" altLang="zh-CN" sz="1400" dirty="0">
                <a:cs typeface="+mn-ea"/>
                <a:sym typeface="+mn-lt"/>
              </a:rPr>
              <a:t>HAP</a:t>
            </a:r>
            <a:r>
              <a:rPr lang="zh-CN" altLang="en-US" sz="1400" dirty="0">
                <a:cs typeface="+mn-ea"/>
                <a:sym typeface="+mn-lt"/>
              </a:rPr>
              <a:t>信息；漫游后</a:t>
            </a:r>
            <a:r>
              <a:rPr lang="en-US" altLang="zh-CN" sz="1400" dirty="0">
                <a:cs typeface="+mn-ea"/>
                <a:sym typeface="+mn-lt"/>
              </a:rPr>
              <a:t>AP</a:t>
            </a:r>
            <a:r>
              <a:rPr lang="zh-CN" altLang="en-US" sz="1400" dirty="0" smtClean="0">
                <a:cs typeface="+mn-ea"/>
                <a:sym typeface="+mn-lt"/>
              </a:rPr>
              <a:t>与</a:t>
            </a:r>
            <a:r>
              <a:rPr lang="en-US" altLang="zh-CN" sz="1400" dirty="0">
                <a:cs typeface="+mn-ea"/>
                <a:sym typeface="+mn-lt"/>
              </a:rPr>
              <a:t>HAP</a:t>
            </a:r>
            <a:r>
              <a:rPr lang="zh-CN" altLang="en-US" sz="1400" dirty="0">
                <a:cs typeface="+mn-ea"/>
                <a:sym typeface="+mn-lt"/>
              </a:rPr>
              <a:t>建立一</a:t>
            </a:r>
            <a:r>
              <a:rPr lang="zh-CN" altLang="en-US" sz="1400" dirty="0" smtClean="0">
                <a:cs typeface="+mn-ea"/>
                <a:sym typeface="+mn-lt"/>
              </a:rPr>
              <a:t>个</a:t>
            </a:r>
            <a:r>
              <a:rPr lang="en-US" altLang="zh-CN" sz="1400" dirty="0" smtClean="0">
                <a:cs typeface="+mn-ea"/>
                <a:sym typeface="+mn-lt"/>
              </a:rPr>
              <a:t>CAPWAP</a:t>
            </a:r>
            <a:r>
              <a:rPr lang="zh-CN" altLang="en-US" sz="1400" dirty="0" smtClean="0">
                <a:cs typeface="+mn-ea"/>
                <a:sym typeface="+mn-lt"/>
              </a:rPr>
              <a:t>数据</a:t>
            </a:r>
            <a:r>
              <a:rPr lang="zh-CN" altLang="en-US" sz="1400" dirty="0">
                <a:cs typeface="+mn-ea"/>
                <a:sym typeface="+mn-lt"/>
              </a:rPr>
              <a:t>隧道，用户发送数据报文时，流量</a:t>
            </a:r>
            <a:r>
              <a:rPr lang="zh-CN" altLang="en-US" sz="1400" dirty="0" smtClean="0">
                <a:cs typeface="+mn-ea"/>
                <a:sym typeface="+mn-lt"/>
              </a:rPr>
              <a:t>会通过隧道迂回到</a:t>
            </a:r>
            <a:r>
              <a:rPr lang="en-US" altLang="zh-CN" sz="1400" dirty="0">
                <a:cs typeface="+mn-ea"/>
                <a:sym typeface="+mn-lt"/>
              </a:rPr>
              <a:t>HAP</a:t>
            </a:r>
            <a:r>
              <a:rPr lang="zh-CN" altLang="en-US" sz="1400" dirty="0">
                <a:cs typeface="+mn-ea"/>
                <a:sym typeface="+mn-lt"/>
              </a:rPr>
              <a:t>；如果用户又漫游</a:t>
            </a:r>
            <a:r>
              <a:rPr lang="zh-CN" altLang="en-US" sz="1400" dirty="0" smtClean="0">
                <a:cs typeface="+mn-ea"/>
                <a:sym typeface="+mn-lt"/>
              </a:rPr>
              <a:t>回首次上线时的</a:t>
            </a:r>
            <a:r>
              <a:rPr lang="zh-CN" altLang="en-US" sz="1400" dirty="0">
                <a:cs typeface="+mn-ea"/>
                <a:sym typeface="+mn-lt"/>
              </a:rPr>
              <a:t>二层域内</a:t>
            </a:r>
            <a:r>
              <a:rPr lang="zh-CN" altLang="en-US" sz="1400" dirty="0" smtClean="0">
                <a:cs typeface="+mn-ea"/>
                <a:sym typeface="+mn-lt"/>
              </a:rPr>
              <a:t>，则流量</a:t>
            </a:r>
            <a:r>
              <a:rPr lang="zh-CN" altLang="en-US" sz="1400" dirty="0">
                <a:cs typeface="+mn-ea"/>
                <a:sym typeface="+mn-lt"/>
              </a:rPr>
              <a:t>不需要再迂回到</a:t>
            </a:r>
            <a:r>
              <a:rPr lang="en-US" altLang="zh-CN" sz="1400" dirty="0" smtClean="0">
                <a:cs typeface="+mn-ea"/>
                <a:sym typeface="+mn-lt"/>
              </a:rPr>
              <a:t>HAP</a:t>
            </a:r>
            <a:r>
              <a:rPr lang="zh-CN" altLang="en-US" sz="1400" dirty="0" smtClean="0">
                <a:cs typeface="+mn-ea"/>
                <a:sym typeface="+mn-lt"/>
              </a:rPr>
              <a:t>，</a:t>
            </a:r>
            <a:r>
              <a:rPr lang="zh-CN" altLang="en-US" sz="1400" dirty="0">
                <a:cs typeface="+mn-ea"/>
                <a:sym typeface="+mn-lt"/>
              </a:rPr>
              <a:t>在新接入的</a:t>
            </a:r>
            <a:r>
              <a:rPr lang="en-US" altLang="zh-CN" sz="1400" dirty="0">
                <a:cs typeface="+mn-ea"/>
                <a:sym typeface="+mn-lt"/>
              </a:rPr>
              <a:t>AP</a:t>
            </a:r>
            <a:r>
              <a:rPr lang="zh-CN" altLang="en-US" sz="1400" dirty="0">
                <a:cs typeface="+mn-ea"/>
                <a:sym typeface="+mn-lt"/>
              </a:rPr>
              <a:t>上直接转发</a:t>
            </a:r>
            <a:r>
              <a:rPr lang="zh-CN" altLang="en-US" sz="1400" dirty="0" smtClean="0">
                <a:cs typeface="+mn-ea"/>
                <a:sym typeface="+mn-lt"/>
              </a:rPr>
              <a:t>。</a:t>
            </a:r>
            <a:endParaRPr lang="zh-CN" altLang="en-US" sz="1400" dirty="0">
              <a:cs typeface="+mn-ea"/>
              <a:sym typeface="+mn-lt"/>
            </a:endParaRPr>
          </a:p>
        </p:txBody>
      </p:sp>
      <p:cxnSp>
        <p:nvCxnSpPr>
          <p:cNvPr id="51" name="直接连接符 50"/>
          <p:cNvCxnSpPr/>
          <p:nvPr/>
        </p:nvCxnSpPr>
        <p:spPr bwMode="gray">
          <a:xfrm>
            <a:off x="2803876" y="2176013"/>
            <a:ext cx="0" cy="4531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任意多边形 51"/>
          <p:cNvSpPr/>
          <p:nvPr/>
        </p:nvSpPr>
        <p:spPr bwMode="gray">
          <a:xfrm>
            <a:off x="2314074" y="1628674"/>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Network</a:t>
            </a:r>
            <a:endParaRPr lang="zh-CN" altLang="en-US" sz="1400" b="1">
              <a:cs typeface="+mn-ea"/>
              <a:sym typeface="+mn-lt"/>
            </a:endParaRPr>
          </a:p>
        </p:txBody>
      </p:sp>
      <p:pic>
        <p:nvPicPr>
          <p:cNvPr id="53" name="图片 87" descr="汇聚交换机.png"/>
          <p:cNvPicPr>
            <a:picLocks noChangeAspect="1"/>
          </p:cNvPicPr>
          <p:nvPr/>
        </p:nvPicPr>
        <p:blipFill>
          <a:blip r:embed="rId3" cstate="print"/>
          <a:stretch>
            <a:fillRect/>
          </a:stretch>
        </p:blipFill>
        <p:spPr bwMode="gray">
          <a:xfrm>
            <a:off x="2613144" y="2622887"/>
            <a:ext cx="405710" cy="331945"/>
          </a:xfrm>
          <a:prstGeom prst="rect">
            <a:avLst/>
          </a:prstGeom>
        </p:spPr>
      </p:pic>
      <p:pic>
        <p:nvPicPr>
          <p:cNvPr id="54" name="图片 76" descr="接入交换机.png"/>
          <p:cNvPicPr>
            <a:picLocks noChangeAspect="1"/>
          </p:cNvPicPr>
          <p:nvPr/>
        </p:nvPicPr>
        <p:blipFill>
          <a:blip r:embed="rId4" cstate="print"/>
          <a:stretch>
            <a:fillRect/>
          </a:stretch>
        </p:blipFill>
        <p:spPr bwMode="gray">
          <a:xfrm>
            <a:off x="1516014" y="3548826"/>
            <a:ext cx="405710" cy="331945"/>
          </a:xfrm>
          <a:prstGeom prst="rect">
            <a:avLst/>
          </a:prstGeom>
        </p:spPr>
      </p:pic>
      <p:pic>
        <p:nvPicPr>
          <p:cNvPr id="55" name="图片 76" descr="接入交换机.png"/>
          <p:cNvPicPr>
            <a:picLocks noChangeAspect="1"/>
          </p:cNvPicPr>
          <p:nvPr/>
        </p:nvPicPr>
        <p:blipFill>
          <a:blip r:embed="rId4" cstate="print"/>
          <a:stretch>
            <a:fillRect/>
          </a:stretch>
        </p:blipFill>
        <p:spPr bwMode="gray">
          <a:xfrm>
            <a:off x="3601945" y="3548826"/>
            <a:ext cx="405710" cy="331945"/>
          </a:xfrm>
          <a:prstGeom prst="rect">
            <a:avLst/>
          </a:prstGeom>
        </p:spPr>
      </p:pic>
      <p:pic>
        <p:nvPicPr>
          <p:cNvPr id="56" name="图片 105" descr="AP.png"/>
          <p:cNvPicPr>
            <a:picLocks noChangeAspect="1"/>
          </p:cNvPicPr>
          <p:nvPr/>
        </p:nvPicPr>
        <p:blipFill>
          <a:blip r:embed="rId5" cstate="print"/>
          <a:stretch>
            <a:fillRect/>
          </a:stretch>
        </p:blipFill>
        <p:spPr bwMode="gray">
          <a:xfrm>
            <a:off x="874340" y="4383570"/>
            <a:ext cx="405710" cy="331945"/>
          </a:xfrm>
          <a:prstGeom prst="rect">
            <a:avLst/>
          </a:prstGeom>
        </p:spPr>
      </p:pic>
      <p:pic>
        <p:nvPicPr>
          <p:cNvPr id="59" name="图片 105" descr="AP.png"/>
          <p:cNvPicPr>
            <a:picLocks noChangeAspect="1"/>
          </p:cNvPicPr>
          <p:nvPr/>
        </p:nvPicPr>
        <p:blipFill>
          <a:blip r:embed="rId5" cstate="print"/>
          <a:stretch>
            <a:fillRect/>
          </a:stretch>
        </p:blipFill>
        <p:spPr bwMode="gray">
          <a:xfrm>
            <a:off x="1516014" y="5077848"/>
            <a:ext cx="405710" cy="331945"/>
          </a:xfrm>
          <a:prstGeom prst="rect">
            <a:avLst/>
          </a:prstGeom>
        </p:spPr>
      </p:pic>
      <p:pic>
        <p:nvPicPr>
          <p:cNvPr id="60" name="图片 105" descr="AP.png"/>
          <p:cNvPicPr>
            <a:picLocks noChangeAspect="1"/>
          </p:cNvPicPr>
          <p:nvPr/>
        </p:nvPicPr>
        <p:blipFill>
          <a:blip r:embed="rId5" cstate="print"/>
          <a:stretch>
            <a:fillRect/>
          </a:stretch>
        </p:blipFill>
        <p:spPr bwMode="gray">
          <a:xfrm>
            <a:off x="2157687" y="4383569"/>
            <a:ext cx="405710" cy="331945"/>
          </a:xfrm>
          <a:prstGeom prst="rect">
            <a:avLst/>
          </a:prstGeom>
        </p:spPr>
      </p:pic>
      <p:pic>
        <p:nvPicPr>
          <p:cNvPr id="61" name="图片 105" descr="AP.png"/>
          <p:cNvPicPr>
            <a:picLocks noChangeAspect="1"/>
          </p:cNvPicPr>
          <p:nvPr/>
        </p:nvPicPr>
        <p:blipFill>
          <a:blip r:embed="rId5" cstate="print"/>
          <a:stretch>
            <a:fillRect/>
          </a:stretch>
        </p:blipFill>
        <p:spPr bwMode="gray">
          <a:xfrm>
            <a:off x="2960272" y="4383570"/>
            <a:ext cx="405710" cy="331945"/>
          </a:xfrm>
          <a:prstGeom prst="rect">
            <a:avLst/>
          </a:prstGeom>
        </p:spPr>
      </p:pic>
      <p:pic>
        <p:nvPicPr>
          <p:cNvPr id="63" name="图片 105" descr="AP.png"/>
          <p:cNvPicPr>
            <a:picLocks noChangeAspect="1"/>
          </p:cNvPicPr>
          <p:nvPr/>
        </p:nvPicPr>
        <p:blipFill>
          <a:blip r:embed="rId5" cstate="print"/>
          <a:stretch>
            <a:fillRect/>
          </a:stretch>
        </p:blipFill>
        <p:spPr bwMode="gray">
          <a:xfrm>
            <a:off x="3601946" y="5077848"/>
            <a:ext cx="405710" cy="331945"/>
          </a:xfrm>
          <a:prstGeom prst="rect">
            <a:avLst/>
          </a:prstGeom>
        </p:spPr>
      </p:pic>
      <p:pic>
        <p:nvPicPr>
          <p:cNvPr id="66" name="图片 105" descr="AP.png"/>
          <p:cNvPicPr>
            <a:picLocks noChangeAspect="1"/>
          </p:cNvPicPr>
          <p:nvPr/>
        </p:nvPicPr>
        <p:blipFill>
          <a:blip r:embed="rId5" cstate="print"/>
          <a:stretch>
            <a:fillRect/>
          </a:stretch>
        </p:blipFill>
        <p:spPr bwMode="gray">
          <a:xfrm>
            <a:off x="4243619" y="4383569"/>
            <a:ext cx="405710" cy="331945"/>
          </a:xfrm>
          <a:prstGeom prst="rect">
            <a:avLst/>
          </a:prstGeom>
        </p:spPr>
      </p:pic>
      <p:cxnSp>
        <p:nvCxnSpPr>
          <p:cNvPr id="68" name="直接连接符 67"/>
          <p:cNvCxnSpPr>
            <a:stCxn id="53" idx="2"/>
            <a:endCxn id="54" idx="0"/>
          </p:cNvCxnSpPr>
          <p:nvPr/>
        </p:nvCxnSpPr>
        <p:spPr bwMode="gray">
          <a:xfrm flipH="1">
            <a:off x="1718869" y="2954832"/>
            <a:ext cx="1097130" cy="5939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3" idx="2"/>
            <a:endCxn id="55" idx="0"/>
          </p:cNvCxnSpPr>
          <p:nvPr/>
        </p:nvCxnSpPr>
        <p:spPr bwMode="gray">
          <a:xfrm>
            <a:off x="2815999" y="2954832"/>
            <a:ext cx="988801" cy="5939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54" idx="2"/>
            <a:endCxn id="56" idx="0"/>
          </p:cNvCxnSpPr>
          <p:nvPr/>
        </p:nvCxnSpPr>
        <p:spPr bwMode="gray">
          <a:xfrm flipH="1">
            <a:off x="1077195" y="3880771"/>
            <a:ext cx="641674" cy="50279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54" idx="2"/>
            <a:endCxn id="59" idx="0"/>
          </p:cNvCxnSpPr>
          <p:nvPr/>
        </p:nvCxnSpPr>
        <p:spPr bwMode="gray">
          <a:xfrm>
            <a:off x="1718869" y="3880771"/>
            <a:ext cx="0" cy="119707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54" idx="2"/>
            <a:endCxn id="60" idx="0"/>
          </p:cNvCxnSpPr>
          <p:nvPr/>
        </p:nvCxnSpPr>
        <p:spPr bwMode="gray">
          <a:xfrm>
            <a:off x="1718869" y="3880771"/>
            <a:ext cx="641673" cy="502798"/>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55" idx="2"/>
            <a:endCxn id="61" idx="0"/>
          </p:cNvCxnSpPr>
          <p:nvPr/>
        </p:nvCxnSpPr>
        <p:spPr bwMode="gray">
          <a:xfrm flipH="1">
            <a:off x="3163127" y="3880771"/>
            <a:ext cx="641673" cy="50279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55" idx="2"/>
            <a:endCxn id="63" idx="0"/>
          </p:cNvCxnSpPr>
          <p:nvPr/>
        </p:nvCxnSpPr>
        <p:spPr bwMode="gray">
          <a:xfrm>
            <a:off x="3804800" y="3880771"/>
            <a:ext cx="1" cy="119707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55" idx="2"/>
            <a:endCxn id="66" idx="0"/>
          </p:cNvCxnSpPr>
          <p:nvPr/>
        </p:nvCxnSpPr>
        <p:spPr bwMode="gray">
          <a:xfrm>
            <a:off x="3804800" y="3880771"/>
            <a:ext cx="641674" cy="502798"/>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2" name="图片 158" descr="SAN网络-蓝.png"/>
          <p:cNvPicPr>
            <a:picLocks noChangeAspect="1"/>
          </p:cNvPicPr>
          <p:nvPr/>
        </p:nvPicPr>
        <p:blipFill>
          <a:blip r:embed="rId6" cstate="print"/>
          <a:stretch>
            <a:fillRect/>
          </a:stretch>
        </p:blipFill>
        <p:spPr bwMode="gray">
          <a:xfrm>
            <a:off x="1970507" y="5377728"/>
            <a:ext cx="243218" cy="398465"/>
          </a:xfrm>
          <a:prstGeom prst="rect">
            <a:avLst/>
          </a:prstGeom>
        </p:spPr>
      </p:pic>
      <p:pic>
        <p:nvPicPr>
          <p:cNvPr id="123" name="图片 158" descr="SAN网络-蓝.png"/>
          <p:cNvPicPr>
            <a:picLocks noChangeAspect="1"/>
          </p:cNvPicPr>
          <p:nvPr/>
        </p:nvPicPr>
        <p:blipFill>
          <a:blip r:embed="rId6" cstate="print"/>
          <a:stretch>
            <a:fillRect/>
          </a:stretch>
        </p:blipFill>
        <p:spPr bwMode="gray">
          <a:xfrm>
            <a:off x="3291672" y="5377728"/>
            <a:ext cx="243218" cy="398465"/>
          </a:xfrm>
          <a:prstGeom prst="rect">
            <a:avLst/>
          </a:prstGeom>
        </p:spPr>
      </p:pic>
      <p:sp>
        <p:nvSpPr>
          <p:cNvPr id="124" name="TextBox 33"/>
          <p:cNvSpPr txBox="1"/>
          <p:nvPr/>
        </p:nvSpPr>
        <p:spPr bwMode="gray">
          <a:xfrm>
            <a:off x="1519657" y="5812052"/>
            <a:ext cx="1079142" cy="276999"/>
          </a:xfrm>
          <a:prstGeom prst="rect">
            <a:avLst/>
          </a:prstGeom>
          <a:noFill/>
        </p:spPr>
        <p:txBody>
          <a:bodyPr wrap="none" rtlCol="0">
            <a:spAutoFit/>
          </a:bodyPr>
          <a:lstStyle/>
          <a:p>
            <a:r>
              <a:rPr lang="en-US" altLang="zh-CN" sz="1200" dirty="0" smtClean="0">
                <a:cs typeface="+mn-ea"/>
                <a:sym typeface="+mn-lt"/>
              </a:rPr>
              <a:t>192.168.1.25</a:t>
            </a:r>
            <a:endParaRPr lang="zh-CN" altLang="en-US" sz="1200" dirty="0">
              <a:cs typeface="+mn-ea"/>
              <a:sym typeface="+mn-lt"/>
            </a:endParaRPr>
          </a:p>
        </p:txBody>
      </p:sp>
      <p:sp>
        <p:nvSpPr>
          <p:cNvPr id="125" name="TextBox 34"/>
          <p:cNvSpPr txBox="1"/>
          <p:nvPr/>
        </p:nvSpPr>
        <p:spPr bwMode="gray">
          <a:xfrm>
            <a:off x="2909906" y="5812052"/>
            <a:ext cx="1079142" cy="276999"/>
          </a:xfrm>
          <a:prstGeom prst="rect">
            <a:avLst/>
          </a:prstGeom>
          <a:noFill/>
        </p:spPr>
        <p:txBody>
          <a:bodyPr wrap="none" rtlCol="0">
            <a:spAutoFit/>
          </a:bodyPr>
          <a:lstStyle/>
          <a:p>
            <a:r>
              <a:rPr lang="en-US" altLang="zh-CN" sz="1200" dirty="0" smtClean="0">
                <a:cs typeface="+mn-ea"/>
                <a:sym typeface="+mn-lt"/>
              </a:rPr>
              <a:t>192.168.1.25</a:t>
            </a:r>
            <a:endParaRPr lang="zh-CN" altLang="en-US" sz="1200" dirty="0">
              <a:cs typeface="+mn-ea"/>
              <a:sym typeface="+mn-lt"/>
            </a:endParaRPr>
          </a:p>
        </p:txBody>
      </p:sp>
      <p:cxnSp>
        <p:nvCxnSpPr>
          <p:cNvPr id="126" name="Straight Arrow Connector 35"/>
          <p:cNvCxnSpPr/>
          <p:nvPr/>
        </p:nvCxnSpPr>
        <p:spPr bwMode="gray">
          <a:xfrm>
            <a:off x="2320033" y="5671538"/>
            <a:ext cx="902957" cy="0"/>
          </a:xfrm>
          <a:prstGeom prst="straightConnector1">
            <a:avLst/>
          </a:prstGeom>
          <a:noFill/>
          <a:ln w="38100" cap="rnd">
            <a:gradFill flip="none" rotWithShape="1">
              <a:gsLst>
                <a:gs pos="100000">
                  <a:srgbClr val="30B5C5"/>
                </a:gs>
                <a:gs pos="0">
                  <a:srgbClr val="ED6D00"/>
                </a:gs>
              </a:gsLst>
              <a:lin ang="0" scaled="1"/>
              <a:tileRect/>
            </a:gradFill>
            <a:prstDash val="solid"/>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29" name="任意多边形 128"/>
          <p:cNvSpPr/>
          <p:nvPr/>
        </p:nvSpPr>
        <p:spPr bwMode="gray">
          <a:xfrm flipH="1">
            <a:off x="2096462" y="2179240"/>
            <a:ext cx="1830957" cy="2890864"/>
          </a:xfrm>
          <a:custGeom>
            <a:avLst/>
            <a:gdLst>
              <a:gd name="connsiteX0" fmla="*/ 0 w 683173"/>
              <a:gd name="connsiteY0" fmla="*/ 2028497 h 2028497"/>
              <a:gd name="connsiteX1" fmla="*/ 0 w 683173"/>
              <a:gd name="connsiteY1" fmla="*/ 777765 h 2028497"/>
              <a:gd name="connsiteX2" fmla="*/ 683173 w 683173"/>
              <a:gd name="connsiteY2" fmla="*/ 777765 h 2028497"/>
              <a:gd name="connsiteX3" fmla="*/ 683173 w 683173"/>
              <a:gd name="connsiteY3" fmla="*/ 0 h 2028497"/>
              <a:gd name="connsiteX0" fmla="*/ 0 w 733778"/>
              <a:gd name="connsiteY0" fmla="*/ 2028497 h 2028497"/>
              <a:gd name="connsiteX1" fmla="*/ 0 w 733778"/>
              <a:gd name="connsiteY1" fmla="*/ 777765 h 2028497"/>
              <a:gd name="connsiteX2" fmla="*/ 683173 w 733778"/>
              <a:gd name="connsiteY2" fmla="*/ 777765 h 2028497"/>
              <a:gd name="connsiteX3" fmla="*/ 683173 w 733778"/>
              <a:gd name="connsiteY3" fmla="*/ 0 h 2028497"/>
              <a:gd name="connsiteX0" fmla="*/ 50605 w 784383"/>
              <a:gd name="connsiteY0" fmla="*/ 2028497 h 2028497"/>
              <a:gd name="connsiteX1" fmla="*/ 50605 w 784383"/>
              <a:gd name="connsiteY1" fmla="*/ 777765 h 2028497"/>
              <a:gd name="connsiteX2" fmla="*/ 733778 w 784383"/>
              <a:gd name="connsiteY2" fmla="*/ 777765 h 2028497"/>
              <a:gd name="connsiteX3" fmla="*/ 733778 w 784383"/>
              <a:gd name="connsiteY3" fmla="*/ 0 h 2028497"/>
              <a:gd name="connsiteX0" fmla="*/ 67895 w 801673"/>
              <a:gd name="connsiteY0" fmla="*/ 2028497 h 2028497"/>
              <a:gd name="connsiteX1" fmla="*/ 67895 w 801673"/>
              <a:gd name="connsiteY1" fmla="*/ 777765 h 2028497"/>
              <a:gd name="connsiteX2" fmla="*/ 751068 w 801673"/>
              <a:gd name="connsiteY2" fmla="*/ 777765 h 2028497"/>
              <a:gd name="connsiteX3" fmla="*/ 751068 w 801673"/>
              <a:gd name="connsiteY3" fmla="*/ 0 h 2028497"/>
              <a:gd name="connsiteX0" fmla="*/ 63485 w 757620"/>
              <a:gd name="connsiteY0" fmla="*/ 2028497 h 2028497"/>
              <a:gd name="connsiteX1" fmla="*/ 63485 w 757620"/>
              <a:gd name="connsiteY1" fmla="*/ 777765 h 2028497"/>
              <a:gd name="connsiteX2" fmla="*/ 682863 w 757620"/>
              <a:gd name="connsiteY2" fmla="*/ 767132 h 2028497"/>
              <a:gd name="connsiteX3" fmla="*/ 746658 w 757620"/>
              <a:gd name="connsiteY3" fmla="*/ 0 h 2028497"/>
              <a:gd name="connsiteX0" fmla="*/ 134609 w 1751534"/>
              <a:gd name="connsiteY0" fmla="*/ 2028497 h 2028497"/>
              <a:gd name="connsiteX1" fmla="*/ 134609 w 1751534"/>
              <a:gd name="connsiteY1" fmla="*/ 777765 h 2028497"/>
              <a:gd name="connsiteX2" fmla="*/ 1742815 w 1751534"/>
              <a:gd name="connsiteY2" fmla="*/ 1522044 h 2028497"/>
              <a:gd name="connsiteX3" fmla="*/ 817782 w 1751534"/>
              <a:gd name="connsiteY3" fmla="*/ 0 h 2028497"/>
              <a:gd name="connsiteX0" fmla="*/ 12441 w 1622386"/>
              <a:gd name="connsiteY0" fmla="*/ 2028497 h 2028497"/>
              <a:gd name="connsiteX1" fmla="*/ 405846 w 1622386"/>
              <a:gd name="connsiteY1" fmla="*/ 1011681 h 2028497"/>
              <a:gd name="connsiteX2" fmla="*/ 1620647 w 1622386"/>
              <a:gd name="connsiteY2" fmla="*/ 1522044 h 2028497"/>
              <a:gd name="connsiteX3" fmla="*/ 695614 w 1622386"/>
              <a:gd name="connsiteY3" fmla="*/ 0 h 2028497"/>
              <a:gd name="connsiteX0" fmla="*/ 7267 w 1615732"/>
              <a:gd name="connsiteY0" fmla="*/ 2028497 h 2028497"/>
              <a:gd name="connsiteX1" fmla="*/ 581425 w 1615732"/>
              <a:gd name="connsiteY1" fmla="*/ 650174 h 2028497"/>
              <a:gd name="connsiteX2" fmla="*/ 1615473 w 1615732"/>
              <a:gd name="connsiteY2" fmla="*/ 1522044 h 2028497"/>
              <a:gd name="connsiteX3" fmla="*/ 690440 w 1615732"/>
              <a:gd name="connsiteY3" fmla="*/ 0 h 2028497"/>
              <a:gd name="connsiteX0" fmla="*/ 9250 w 1617715"/>
              <a:gd name="connsiteY0" fmla="*/ 2028497 h 2028497"/>
              <a:gd name="connsiteX1" fmla="*/ 583408 w 1617715"/>
              <a:gd name="connsiteY1" fmla="*/ 650174 h 2028497"/>
              <a:gd name="connsiteX2" fmla="*/ 1617456 w 1617715"/>
              <a:gd name="connsiteY2" fmla="*/ 1522044 h 2028497"/>
              <a:gd name="connsiteX3" fmla="*/ 692423 w 1617715"/>
              <a:gd name="connsiteY3" fmla="*/ 0 h 2028497"/>
              <a:gd name="connsiteX0" fmla="*/ 7751 w 1584319"/>
              <a:gd name="connsiteY0" fmla="*/ 2304943 h 2304943"/>
              <a:gd name="connsiteX1" fmla="*/ 550012 w 1584319"/>
              <a:gd name="connsiteY1" fmla="*/ 650174 h 2304943"/>
              <a:gd name="connsiteX2" fmla="*/ 1584060 w 1584319"/>
              <a:gd name="connsiteY2" fmla="*/ 1522044 h 2304943"/>
              <a:gd name="connsiteX3" fmla="*/ 659027 w 1584319"/>
              <a:gd name="connsiteY3" fmla="*/ 0 h 2304943"/>
              <a:gd name="connsiteX0" fmla="*/ 0 w 1576568"/>
              <a:gd name="connsiteY0" fmla="*/ 2304943 h 2304943"/>
              <a:gd name="connsiteX1" fmla="*/ 542261 w 1576568"/>
              <a:gd name="connsiteY1" fmla="*/ 650174 h 2304943"/>
              <a:gd name="connsiteX2" fmla="*/ 1576309 w 1576568"/>
              <a:gd name="connsiteY2" fmla="*/ 1522044 h 2304943"/>
              <a:gd name="connsiteX3" fmla="*/ 651276 w 1576568"/>
              <a:gd name="connsiteY3" fmla="*/ 0 h 2304943"/>
              <a:gd name="connsiteX0" fmla="*/ 0 w 1576738"/>
              <a:gd name="connsiteY0" fmla="*/ 2304943 h 2304943"/>
              <a:gd name="connsiteX1" fmla="*/ 510363 w 1576738"/>
              <a:gd name="connsiteY1" fmla="*/ 650174 h 2304943"/>
              <a:gd name="connsiteX2" fmla="*/ 1576309 w 1576738"/>
              <a:gd name="connsiteY2" fmla="*/ 1522044 h 2304943"/>
              <a:gd name="connsiteX3" fmla="*/ 651276 w 1576738"/>
              <a:gd name="connsiteY3" fmla="*/ 0 h 2304943"/>
              <a:gd name="connsiteX0" fmla="*/ 0 w 1576738"/>
              <a:gd name="connsiteY0" fmla="*/ 2304943 h 2304943"/>
              <a:gd name="connsiteX1" fmla="*/ 510363 w 1576738"/>
              <a:gd name="connsiteY1" fmla="*/ 650174 h 2304943"/>
              <a:gd name="connsiteX2" fmla="*/ 1576309 w 1576738"/>
              <a:gd name="connsiteY2" fmla="*/ 1522044 h 2304943"/>
              <a:gd name="connsiteX3" fmla="*/ 651276 w 1576738"/>
              <a:gd name="connsiteY3" fmla="*/ 0 h 2304943"/>
              <a:gd name="connsiteX0" fmla="*/ 0 w 1594673"/>
              <a:gd name="connsiteY0" fmla="*/ 2304943 h 2304943"/>
              <a:gd name="connsiteX1" fmla="*/ 510363 w 1594673"/>
              <a:gd name="connsiteY1" fmla="*/ 650174 h 2304943"/>
              <a:gd name="connsiteX2" fmla="*/ 1576309 w 1594673"/>
              <a:gd name="connsiteY2" fmla="*/ 1522044 h 2304943"/>
              <a:gd name="connsiteX3" fmla="*/ 651276 w 1594673"/>
              <a:gd name="connsiteY3" fmla="*/ 0 h 2304943"/>
              <a:gd name="connsiteX0" fmla="*/ 0 w 1592531"/>
              <a:gd name="connsiteY0" fmla="*/ 2560124 h 2560124"/>
              <a:gd name="connsiteX1" fmla="*/ 510363 w 1592531"/>
              <a:gd name="connsiteY1" fmla="*/ 905355 h 2560124"/>
              <a:gd name="connsiteX2" fmla="*/ 1576309 w 1592531"/>
              <a:gd name="connsiteY2" fmla="*/ 1777225 h 2560124"/>
              <a:gd name="connsiteX3" fmla="*/ 1182904 w 1592531"/>
              <a:gd name="connsiteY3" fmla="*/ 0 h 2560124"/>
              <a:gd name="connsiteX0" fmla="*/ 0 w 1594440"/>
              <a:gd name="connsiteY0" fmla="*/ 2560124 h 2560124"/>
              <a:gd name="connsiteX1" fmla="*/ 510363 w 1594440"/>
              <a:gd name="connsiteY1" fmla="*/ 905355 h 2560124"/>
              <a:gd name="connsiteX2" fmla="*/ 1576309 w 1594440"/>
              <a:gd name="connsiteY2" fmla="*/ 1777225 h 2560124"/>
              <a:gd name="connsiteX3" fmla="*/ 1182904 w 1594440"/>
              <a:gd name="connsiteY3" fmla="*/ 0 h 2560124"/>
              <a:gd name="connsiteX0" fmla="*/ 0 w 1591460"/>
              <a:gd name="connsiteY0" fmla="*/ 2560124 h 2560124"/>
              <a:gd name="connsiteX1" fmla="*/ 510363 w 1591460"/>
              <a:gd name="connsiteY1" fmla="*/ 905355 h 2560124"/>
              <a:gd name="connsiteX2" fmla="*/ 1576309 w 1591460"/>
              <a:gd name="connsiteY2" fmla="*/ 1777225 h 2560124"/>
              <a:gd name="connsiteX3" fmla="*/ 1182904 w 1591460"/>
              <a:gd name="connsiteY3" fmla="*/ 0 h 2560124"/>
              <a:gd name="connsiteX0" fmla="*/ 0 w 1592250"/>
              <a:gd name="connsiteY0" fmla="*/ 2560124 h 2560124"/>
              <a:gd name="connsiteX1" fmla="*/ 510363 w 1592250"/>
              <a:gd name="connsiteY1" fmla="*/ 905355 h 2560124"/>
              <a:gd name="connsiteX2" fmla="*/ 1576309 w 1592250"/>
              <a:gd name="connsiteY2" fmla="*/ 1777225 h 2560124"/>
              <a:gd name="connsiteX3" fmla="*/ 1182904 w 1592250"/>
              <a:gd name="connsiteY3" fmla="*/ 0 h 2560124"/>
              <a:gd name="connsiteX0" fmla="*/ 0 w 1622812"/>
              <a:gd name="connsiteY0" fmla="*/ 2560124 h 2560124"/>
              <a:gd name="connsiteX1" fmla="*/ 510363 w 1622812"/>
              <a:gd name="connsiteY1" fmla="*/ 905355 h 2560124"/>
              <a:gd name="connsiteX2" fmla="*/ 1576309 w 1622812"/>
              <a:gd name="connsiteY2" fmla="*/ 1777225 h 2560124"/>
              <a:gd name="connsiteX3" fmla="*/ 1182904 w 1622812"/>
              <a:gd name="connsiteY3" fmla="*/ 0 h 2560124"/>
              <a:gd name="connsiteX0" fmla="*/ 0 w 1593105"/>
              <a:gd name="connsiteY0" fmla="*/ 2560124 h 2560124"/>
              <a:gd name="connsiteX1" fmla="*/ 489098 w 1593105"/>
              <a:gd name="connsiteY1" fmla="*/ 628908 h 2560124"/>
              <a:gd name="connsiteX2" fmla="*/ 1576309 w 1593105"/>
              <a:gd name="connsiteY2" fmla="*/ 1777225 h 2560124"/>
              <a:gd name="connsiteX3" fmla="*/ 1182904 w 1593105"/>
              <a:gd name="connsiteY3" fmla="*/ 0 h 2560124"/>
              <a:gd name="connsiteX0" fmla="*/ 0 w 1593105"/>
              <a:gd name="connsiteY0" fmla="*/ 2560124 h 2560124"/>
              <a:gd name="connsiteX1" fmla="*/ 489098 w 1593105"/>
              <a:gd name="connsiteY1" fmla="*/ 628908 h 2560124"/>
              <a:gd name="connsiteX2" fmla="*/ 1576309 w 1593105"/>
              <a:gd name="connsiteY2" fmla="*/ 1777225 h 2560124"/>
              <a:gd name="connsiteX3" fmla="*/ 1182904 w 1593105"/>
              <a:gd name="connsiteY3" fmla="*/ 0 h 2560124"/>
              <a:gd name="connsiteX0" fmla="*/ 0 w 1623965"/>
              <a:gd name="connsiteY0" fmla="*/ 2560124 h 2560124"/>
              <a:gd name="connsiteX1" fmla="*/ 489098 w 1623965"/>
              <a:gd name="connsiteY1" fmla="*/ 628908 h 2560124"/>
              <a:gd name="connsiteX2" fmla="*/ 1576309 w 1623965"/>
              <a:gd name="connsiteY2" fmla="*/ 1777225 h 2560124"/>
              <a:gd name="connsiteX3" fmla="*/ 1182904 w 1623965"/>
              <a:gd name="connsiteY3" fmla="*/ 0 h 2560124"/>
              <a:gd name="connsiteX0" fmla="*/ 0 w 1524571"/>
              <a:gd name="connsiteY0" fmla="*/ 2560124 h 2560124"/>
              <a:gd name="connsiteX1" fmla="*/ 489098 w 1524571"/>
              <a:gd name="connsiteY1" fmla="*/ 628908 h 2560124"/>
              <a:gd name="connsiteX2" fmla="*/ 1469305 w 1524571"/>
              <a:gd name="connsiteY2" fmla="*/ 2010689 h 2560124"/>
              <a:gd name="connsiteX3" fmla="*/ 1182904 w 1524571"/>
              <a:gd name="connsiteY3" fmla="*/ 0 h 2560124"/>
              <a:gd name="connsiteX0" fmla="*/ 165645 w 1690216"/>
              <a:gd name="connsiteY0" fmla="*/ 2560124 h 2560124"/>
              <a:gd name="connsiteX1" fmla="*/ 90539 w 1690216"/>
              <a:gd name="connsiteY1" fmla="*/ 1183384 h 2560124"/>
              <a:gd name="connsiteX2" fmla="*/ 1634950 w 1690216"/>
              <a:gd name="connsiteY2" fmla="*/ 2010689 h 2560124"/>
              <a:gd name="connsiteX3" fmla="*/ 1348549 w 1690216"/>
              <a:gd name="connsiteY3" fmla="*/ 0 h 2560124"/>
              <a:gd name="connsiteX0" fmla="*/ 284985 w 1809556"/>
              <a:gd name="connsiteY0" fmla="*/ 2560124 h 2560124"/>
              <a:gd name="connsiteX1" fmla="*/ 209879 w 1809556"/>
              <a:gd name="connsiteY1" fmla="*/ 1183384 h 2560124"/>
              <a:gd name="connsiteX2" fmla="*/ 1754290 w 1809556"/>
              <a:gd name="connsiteY2" fmla="*/ 2010689 h 2560124"/>
              <a:gd name="connsiteX3" fmla="*/ 1467889 w 1809556"/>
              <a:gd name="connsiteY3" fmla="*/ 0 h 2560124"/>
              <a:gd name="connsiteX0" fmla="*/ 218205 w 1674683"/>
              <a:gd name="connsiteY0" fmla="*/ 2550396 h 2550396"/>
              <a:gd name="connsiteX1" fmla="*/ 75006 w 1674683"/>
              <a:gd name="connsiteY1" fmla="*/ 1183384 h 2550396"/>
              <a:gd name="connsiteX2" fmla="*/ 1619417 w 1674683"/>
              <a:gd name="connsiteY2" fmla="*/ 2010689 h 2550396"/>
              <a:gd name="connsiteX3" fmla="*/ 1333016 w 1674683"/>
              <a:gd name="connsiteY3" fmla="*/ 0 h 2550396"/>
              <a:gd name="connsiteX0" fmla="*/ 292220 w 1748698"/>
              <a:gd name="connsiteY0" fmla="*/ 2550396 h 2550396"/>
              <a:gd name="connsiteX1" fmla="*/ 149021 w 1748698"/>
              <a:gd name="connsiteY1" fmla="*/ 1183384 h 2550396"/>
              <a:gd name="connsiteX2" fmla="*/ 1693432 w 1748698"/>
              <a:gd name="connsiteY2" fmla="*/ 2010689 h 2550396"/>
              <a:gd name="connsiteX3" fmla="*/ 1407031 w 1748698"/>
              <a:gd name="connsiteY3" fmla="*/ 0 h 2550396"/>
              <a:gd name="connsiteX0" fmla="*/ 292220 w 1748698"/>
              <a:gd name="connsiteY0" fmla="*/ 2550396 h 2550396"/>
              <a:gd name="connsiteX1" fmla="*/ 149021 w 1748698"/>
              <a:gd name="connsiteY1" fmla="*/ 1183384 h 2550396"/>
              <a:gd name="connsiteX2" fmla="*/ 1693432 w 1748698"/>
              <a:gd name="connsiteY2" fmla="*/ 2010689 h 2550396"/>
              <a:gd name="connsiteX3" fmla="*/ 1407031 w 1748698"/>
              <a:gd name="connsiteY3" fmla="*/ 0 h 2550396"/>
              <a:gd name="connsiteX0" fmla="*/ 292220 w 1748698"/>
              <a:gd name="connsiteY0" fmla="*/ 2550396 h 2550396"/>
              <a:gd name="connsiteX1" fmla="*/ 149021 w 1748698"/>
              <a:gd name="connsiteY1" fmla="*/ 1183384 h 2550396"/>
              <a:gd name="connsiteX2" fmla="*/ 1693432 w 1748698"/>
              <a:gd name="connsiteY2" fmla="*/ 2010689 h 2550396"/>
              <a:gd name="connsiteX3" fmla="*/ 1407031 w 1748698"/>
              <a:gd name="connsiteY3" fmla="*/ 0 h 2550396"/>
              <a:gd name="connsiteX0" fmla="*/ 292220 w 1812273"/>
              <a:gd name="connsiteY0" fmla="*/ 2550396 h 2550396"/>
              <a:gd name="connsiteX1" fmla="*/ 149021 w 1812273"/>
              <a:gd name="connsiteY1" fmla="*/ 1183384 h 2550396"/>
              <a:gd name="connsiteX2" fmla="*/ 1693432 w 1812273"/>
              <a:gd name="connsiteY2" fmla="*/ 2010689 h 2550396"/>
              <a:gd name="connsiteX3" fmla="*/ 1407031 w 1812273"/>
              <a:gd name="connsiteY3" fmla="*/ 0 h 2550396"/>
              <a:gd name="connsiteX0" fmla="*/ 292220 w 1744319"/>
              <a:gd name="connsiteY0" fmla="*/ 2890864 h 2890864"/>
              <a:gd name="connsiteX1" fmla="*/ 149021 w 1744319"/>
              <a:gd name="connsiteY1" fmla="*/ 1523852 h 2890864"/>
              <a:gd name="connsiteX2" fmla="*/ 1693432 w 1744319"/>
              <a:gd name="connsiteY2" fmla="*/ 2351157 h 2890864"/>
              <a:gd name="connsiteX3" fmla="*/ 1407031 w 1744319"/>
              <a:gd name="connsiteY3" fmla="*/ 0 h 2890864"/>
              <a:gd name="connsiteX0" fmla="*/ 292220 w 1744319"/>
              <a:gd name="connsiteY0" fmla="*/ 2890864 h 2890864"/>
              <a:gd name="connsiteX1" fmla="*/ 149021 w 1744319"/>
              <a:gd name="connsiteY1" fmla="*/ 1523852 h 2890864"/>
              <a:gd name="connsiteX2" fmla="*/ 1693432 w 1744319"/>
              <a:gd name="connsiteY2" fmla="*/ 2351157 h 2890864"/>
              <a:gd name="connsiteX3" fmla="*/ 1407031 w 1744319"/>
              <a:gd name="connsiteY3" fmla="*/ 0 h 2890864"/>
              <a:gd name="connsiteX0" fmla="*/ 292220 w 1830957"/>
              <a:gd name="connsiteY0" fmla="*/ 2890864 h 2890864"/>
              <a:gd name="connsiteX1" fmla="*/ 149021 w 1830957"/>
              <a:gd name="connsiteY1" fmla="*/ 1523852 h 2890864"/>
              <a:gd name="connsiteX2" fmla="*/ 1693432 w 1830957"/>
              <a:gd name="connsiteY2" fmla="*/ 2351157 h 2890864"/>
              <a:gd name="connsiteX3" fmla="*/ 1407031 w 1830957"/>
              <a:gd name="connsiteY3" fmla="*/ 0 h 2890864"/>
            </a:gdLst>
            <a:ahLst/>
            <a:cxnLst>
              <a:cxn ang="0">
                <a:pos x="connsiteX0" y="connsiteY0"/>
              </a:cxn>
              <a:cxn ang="0">
                <a:pos x="connsiteX1" y="connsiteY1"/>
              </a:cxn>
              <a:cxn ang="0">
                <a:pos x="connsiteX2" y="connsiteY2"/>
              </a:cxn>
              <a:cxn ang="0">
                <a:pos x="connsiteX3" y="connsiteY3"/>
              </a:cxn>
            </a:cxnLst>
            <a:rect l="l" t="t" r="r" b="b"/>
            <a:pathLst>
              <a:path w="1830957" h="2890864">
                <a:moveTo>
                  <a:pt x="292220" y="2890864"/>
                </a:moveTo>
                <a:cubicBezTo>
                  <a:pt x="302853" y="2144343"/>
                  <a:pt x="-259612" y="1672169"/>
                  <a:pt x="149021" y="1523852"/>
                </a:cubicBezTo>
                <a:cubicBezTo>
                  <a:pt x="557654" y="1375535"/>
                  <a:pt x="1260028" y="2819141"/>
                  <a:pt x="1693432" y="2351157"/>
                </a:cubicBezTo>
                <a:cubicBezTo>
                  <a:pt x="2126836" y="1883173"/>
                  <a:pt x="1396399" y="1138816"/>
                  <a:pt x="1407031" y="0"/>
                </a:cubicBezTo>
              </a:path>
            </a:pathLst>
          </a:custGeom>
          <a:noFill/>
          <a:ln w="57150">
            <a:solidFill>
              <a:srgbClr val="C7000B"/>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0" name="TextBox 46"/>
          <p:cNvSpPr txBox="1"/>
          <p:nvPr/>
        </p:nvSpPr>
        <p:spPr bwMode="gray">
          <a:xfrm>
            <a:off x="3962232" y="5038065"/>
            <a:ext cx="845103" cy="276999"/>
          </a:xfrm>
          <a:prstGeom prst="rect">
            <a:avLst/>
          </a:prstGeom>
          <a:noFill/>
        </p:spPr>
        <p:txBody>
          <a:bodyPr wrap="none" rtlCol="0">
            <a:spAutoFit/>
          </a:bodyPr>
          <a:lstStyle/>
          <a:p>
            <a:r>
              <a:rPr lang="zh-CN" altLang="en-US" sz="1200" b="1" dirty="0" smtClean="0">
                <a:solidFill>
                  <a:srgbClr val="C7000B"/>
                </a:solidFill>
                <a:cs typeface="+mn-ea"/>
                <a:sym typeface="+mn-lt"/>
              </a:rPr>
              <a:t>漫游后</a:t>
            </a:r>
            <a:r>
              <a:rPr lang="en-US" altLang="zh-CN" sz="1200" b="1" dirty="0" smtClean="0">
                <a:solidFill>
                  <a:srgbClr val="C7000B"/>
                </a:solidFill>
                <a:cs typeface="+mn-ea"/>
                <a:sym typeface="+mn-lt"/>
              </a:rPr>
              <a:t>AP</a:t>
            </a:r>
            <a:endParaRPr lang="zh-CN" altLang="en-US" sz="1200" b="1" dirty="0">
              <a:solidFill>
                <a:srgbClr val="C7000B"/>
              </a:solidFill>
              <a:cs typeface="+mn-ea"/>
              <a:sym typeface="+mn-lt"/>
            </a:endParaRPr>
          </a:p>
        </p:txBody>
      </p:sp>
      <p:sp>
        <p:nvSpPr>
          <p:cNvPr id="131" name="TextBox 46"/>
          <p:cNvSpPr txBox="1"/>
          <p:nvPr/>
        </p:nvSpPr>
        <p:spPr bwMode="gray">
          <a:xfrm>
            <a:off x="1889823" y="5038065"/>
            <a:ext cx="691215" cy="276999"/>
          </a:xfrm>
          <a:prstGeom prst="rect">
            <a:avLst/>
          </a:prstGeom>
          <a:noFill/>
        </p:spPr>
        <p:txBody>
          <a:bodyPr wrap="none" rtlCol="0">
            <a:spAutoFit/>
          </a:bodyPr>
          <a:lstStyle/>
          <a:p>
            <a:r>
              <a:rPr lang="zh-CN" altLang="en-US" sz="1200" b="1" dirty="0">
                <a:solidFill>
                  <a:srgbClr val="C7000B"/>
                </a:solidFill>
                <a:cs typeface="+mn-ea"/>
                <a:sym typeface="+mn-lt"/>
              </a:rPr>
              <a:t>上线</a:t>
            </a:r>
            <a:r>
              <a:rPr lang="en-US" altLang="zh-CN" sz="1200" b="1" dirty="0">
                <a:solidFill>
                  <a:srgbClr val="C7000B"/>
                </a:solidFill>
                <a:cs typeface="+mn-ea"/>
                <a:sym typeface="+mn-lt"/>
              </a:rPr>
              <a:t>AP</a:t>
            </a:r>
            <a:endParaRPr lang="zh-CN" altLang="en-US" sz="1200" b="1" dirty="0">
              <a:solidFill>
                <a:srgbClr val="C7000B"/>
              </a:solidFill>
              <a:cs typeface="+mn-ea"/>
              <a:sym typeface="+mn-lt"/>
            </a:endParaRPr>
          </a:p>
        </p:txBody>
      </p:sp>
      <p:sp>
        <p:nvSpPr>
          <p:cNvPr id="132" name="TextBox 46"/>
          <p:cNvSpPr txBox="1"/>
          <p:nvPr/>
        </p:nvSpPr>
        <p:spPr bwMode="gray">
          <a:xfrm>
            <a:off x="2229991" y="4112466"/>
            <a:ext cx="502061" cy="276999"/>
          </a:xfrm>
          <a:prstGeom prst="rect">
            <a:avLst/>
          </a:prstGeom>
          <a:noFill/>
        </p:spPr>
        <p:txBody>
          <a:bodyPr wrap="none" rtlCol="0">
            <a:spAutoFit/>
          </a:bodyPr>
          <a:lstStyle/>
          <a:p>
            <a:r>
              <a:rPr lang="en-US" altLang="zh-CN" sz="1200" b="1" dirty="0">
                <a:solidFill>
                  <a:srgbClr val="C7000B"/>
                </a:solidFill>
                <a:cs typeface="+mn-ea"/>
                <a:sym typeface="+mn-lt"/>
              </a:rPr>
              <a:t>HAP</a:t>
            </a:r>
            <a:endParaRPr lang="zh-CN" altLang="en-US" sz="1200" b="1" dirty="0">
              <a:solidFill>
                <a:srgbClr val="C7000B"/>
              </a:solidFill>
              <a:cs typeface="+mn-ea"/>
              <a:sym typeface="+mn-lt"/>
            </a:endParaRPr>
          </a:p>
        </p:txBody>
      </p:sp>
      <p:sp>
        <p:nvSpPr>
          <p:cNvPr id="133" name="任意多边形 132"/>
          <p:cNvSpPr/>
          <p:nvPr/>
        </p:nvSpPr>
        <p:spPr bwMode="gray">
          <a:xfrm>
            <a:off x="714762" y="3998424"/>
            <a:ext cx="3513062" cy="1530489"/>
          </a:xfrm>
          <a:custGeom>
            <a:avLst/>
            <a:gdLst>
              <a:gd name="connsiteX0" fmla="*/ 1445348 w 3650295"/>
              <a:gd name="connsiteY0" fmla="*/ 2411363 h 2422073"/>
              <a:gd name="connsiteX1" fmla="*/ 906334 w 3650295"/>
              <a:gd name="connsiteY1" fmla="*/ 2295860 h 2422073"/>
              <a:gd name="connsiteX2" fmla="*/ 271066 w 3650295"/>
              <a:gd name="connsiteY2" fmla="*/ 1448836 h 2422073"/>
              <a:gd name="connsiteX3" fmla="*/ 88186 w 3650295"/>
              <a:gd name="connsiteY3" fmla="*/ 803944 h 2422073"/>
              <a:gd name="connsiteX4" fmla="*/ 49685 w 3650295"/>
              <a:gd name="connsiteY4" fmla="*/ 139801 h 2422073"/>
              <a:gd name="connsiteX5" fmla="*/ 781205 w 3650295"/>
              <a:gd name="connsiteY5" fmla="*/ 53173 h 2422073"/>
              <a:gd name="connsiteX6" fmla="*/ 1916986 w 3650295"/>
              <a:gd name="connsiteY6" fmla="*/ 784693 h 2422073"/>
              <a:gd name="connsiteX7" fmla="*/ 2600380 w 3650295"/>
              <a:gd name="connsiteY7" fmla="*/ 1160079 h 2422073"/>
              <a:gd name="connsiteX8" fmla="*/ 3620658 w 3650295"/>
              <a:gd name="connsiteY8" fmla="*/ 1650967 h 2422073"/>
              <a:gd name="connsiteX9" fmla="*/ 3235647 w 3650295"/>
              <a:gd name="connsiteY9" fmla="*/ 2276609 h 2422073"/>
              <a:gd name="connsiteX10" fmla="*/ 1811108 w 3650295"/>
              <a:gd name="connsiteY10" fmla="*/ 2401737 h 2422073"/>
              <a:gd name="connsiteX11" fmla="*/ 1445348 w 3650295"/>
              <a:gd name="connsiteY11" fmla="*/ 2411363 h 2422073"/>
              <a:gd name="connsiteX0" fmla="*/ 1454242 w 3659189"/>
              <a:gd name="connsiteY0" fmla="*/ 2435890 h 2446600"/>
              <a:gd name="connsiteX1" fmla="*/ 915228 w 3659189"/>
              <a:gd name="connsiteY1" fmla="*/ 2320387 h 2446600"/>
              <a:gd name="connsiteX2" fmla="*/ 279960 w 3659189"/>
              <a:gd name="connsiteY2" fmla="*/ 1473363 h 2446600"/>
              <a:gd name="connsiteX3" fmla="*/ 70868 w 3659189"/>
              <a:gd name="connsiteY3" fmla="*/ 1346021 h 2446600"/>
              <a:gd name="connsiteX4" fmla="*/ 58579 w 3659189"/>
              <a:gd name="connsiteY4" fmla="*/ 164328 h 2446600"/>
              <a:gd name="connsiteX5" fmla="*/ 790099 w 3659189"/>
              <a:gd name="connsiteY5" fmla="*/ 77700 h 2446600"/>
              <a:gd name="connsiteX6" fmla="*/ 1925880 w 3659189"/>
              <a:gd name="connsiteY6" fmla="*/ 809220 h 2446600"/>
              <a:gd name="connsiteX7" fmla="*/ 2609274 w 3659189"/>
              <a:gd name="connsiteY7" fmla="*/ 1184606 h 2446600"/>
              <a:gd name="connsiteX8" fmla="*/ 3629552 w 3659189"/>
              <a:gd name="connsiteY8" fmla="*/ 1675494 h 2446600"/>
              <a:gd name="connsiteX9" fmla="*/ 3244541 w 3659189"/>
              <a:gd name="connsiteY9" fmla="*/ 2301136 h 2446600"/>
              <a:gd name="connsiteX10" fmla="*/ 1820002 w 3659189"/>
              <a:gd name="connsiteY10" fmla="*/ 2426264 h 2446600"/>
              <a:gd name="connsiteX11" fmla="*/ 1454242 w 3659189"/>
              <a:gd name="connsiteY11" fmla="*/ 2435890 h 2446600"/>
              <a:gd name="connsiteX0" fmla="*/ 1455350 w 3660297"/>
              <a:gd name="connsiteY0" fmla="*/ 2435890 h 2446600"/>
              <a:gd name="connsiteX1" fmla="*/ 916336 w 3660297"/>
              <a:gd name="connsiteY1" fmla="*/ 2320387 h 2446600"/>
              <a:gd name="connsiteX2" fmla="*/ 307281 w 3660297"/>
              <a:gd name="connsiteY2" fmla="*/ 1833399 h 2446600"/>
              <a:gd name="connsiteX3" fmla="*/ 71976 w 3660297"/>
              <a:gd name="connsiteY3" fmla="*/ 1346021 h 2446600"/>
              <a:gd name="connsiteX4" fmla="*/ 59687 w 3660297"/>
              <a:gd name="connsiteY4" fmla="*/ 164328 h 2446600"/>
              <a:gd name="connsiteX5" fmla="*/ 791207 w 3660297"/>
              <a:gd name="connsiteY5" fmla="*/ 77700 h 2446600"/>
              <a:gd name="connsiteX6" fmla="*/ 1926988 w 3660297"/>
              <a:gd name="connsiteY6" fmla="*/ 809220 h 2446600"/>
              <a:gd name="connsiteX7" fmla="*/ 2610382 w 3660297"/>
              <a:gd name="connsiteY7" fmla="*/ 1184606 h 2446600"/>
              <a:gd name="connsiteX8" fmla="*/ 3630660 w 3660297"/>
              <a:gd name="connsiteY8" fmla="*/ 1675494 h 2446600"/>
              <a:gd name="connsiteX9" fmla="*/ 3245649 w 3660297"/>
              <a:gd name="connsiteY9" fmla="*/ 2301136 h 2446600"/>
              <a:gd name="connsiteX10" fmla="*/ 1821110 w 3660297"/>
              <a:gd name="connsiteY10" fmla="*/ 2426264 h 2446600"/>
              <a:gd name="connsiteX11" fmla="*/ 1455350 w 3660297"/>
              <a:gd name="connsiteY11" fmla="*/ 2435890 h 2446600"/>
              <a:gd name="connsiteX0" fmla="*/ 1455350 w 3660297"/>
              <a:gd name="connsiteY0" fmla="*/ 2345882 h 2426816"/>
              <a:gd name="connsiteX1" fmla="*/ 916336 w 3660297"/>
              <a:gd name="connsiteY1" fmla="*/ 2320387 h 2426816"/>
              <a:gd name="connsiteX2" fmla="*/ 307281 w 3660297"/>
              <a:gd name="connsiteY2" fmla="*/ 1833399 h 2426816"/>
              <a:gd name="connsiteX3" fmla="*/ 71976 w 3660297"/>
              <a:gd name="connsiteY3" fmla="*/ 1346021 h 2426816"/>
              <a:gd name="connsiteX4" fmla="*/ 59687 w 3660297"/>
              <a:gd name="connsiteY4" fmla="*/ 164328 h 2426816"/>
              <a:gd name="connsiteX5" fmla="*/ 791207 w 3660297"/>
              <a:gd name="connsiteY5" fmla="*/ 77700 h 2426816"/>
              <a:gd name="connsiteX6" fmla="*/ 1926988 w 3660297"/>
              <a:gd name="connsiteY6" fmla="*/ 809220 h 2426816"/>
              <a:gd name="connsiteX7" fmla="*/ 2610382 w 3660297"/>
              <a:gd name="connsiteY7" fmla="*/ 1184606 h 2426816"/>
              <a:gd name="connsiteX8" fmla="*/ 3630660 w 3660297"/>
              <a:gd name="connsiteY8" fmla="*/ 1675494 h 2426816"/>
              <a:gd name="connsiteX9" fmla="*/ 3245649 w 3660297"/>
              <a:gd name="connsiteY9" fmla="*/ 2301136 h 2426816"/>
              <a:gd name="connsiteX10" fmla="*/ 1821110 w 3660297"/>
              <a:gd name="connsiteY10" fmla="*/ 2426264 h 2426816"/>
              <a:gd name="connsiteX11" fmla="*/ 1455350 w 3660297"/>
              <a:gd name="connsiteY11" fmla="*/ 2345882 h 2426816"/>
              <a:gd name="connsiteX0" fmla="*/ 1455350 w 3658950"/>
              <a:gd name="connsiteY0" fmla="*/ 2345882 h 2431610"/>
              <a:gd name="connsiteX1" fmla="*/ 916336 w 3658950"/>
              <a:gd name="connsiteY1" fmla="*/ 2320387 h 2431610"/>
              <a:gd name="connsiteX2" fmla="*/ 307281 w 3658950"/>
              <a:gd name="connsiteY2" fmla="*/ 1833399 h 2431610"/>
              <a:gd name="connsiteX3" fmla="*/ 71976 w 3658950"/>
              <a:gd name="connsiteY3" fmla="*/ 1346021 h 2431610"/>
              <a:gd name="connsiteX4" fmla="*/ 59687 w 3658950"/>
              <a:gd name="connsiteY4" fmla="*/ 164328 h 2431610"/>
              <a:gd name="connsiteX5" fmla="*/ 791207 w 3658950"/>
              <a:gd name="connsiteY5" fmla="*/ 77700 h 2431610"/>
              <a:gd name="connsiteX6" fmla="*/ 1926988 w 3658950"/>
              <a:gd name="connsiteY6" fmla="*/ 809220 h 2431610"/>
              <a:gd name="connsiteX7" fmla="*/ 2610382 w 3658950"/>
              <a:gd name="connsiteY7" fmla="*/ 1184606 h 2431610"/>
              <a:gd name="connsiteX8" fmla="*/ 3630660 w 3658950"/>
              <a:gd name="connsiteY8" fmla="*/ 1675494 h 2431610"/>
              <a:gd name="connsiteX9" fmla="*/ 3236912 w 3658950"/>
              <a:gd name="connsiteY9" fmla="*/ 2177374 h 2431610"/>
              <a:gd name="connsiteX10" fmla="*/ 1821110 w 3658950"/>
              <a:gd name="connsiteY10" fmla="*/ 2426264 h 2431610"/>
              <a:gd name="connsiteX11" fmla="*/ 1455350 w 3658950"/>
              <a:gd name="connsiteY11" fmla="*/ 2345882 h 2431610"/>
              <a:gd name="connsiteX0" fmla="*/ 1386393 w 3589993"/>
              <a:gd name="connsiteY0" fmla="*/ 2269856 h 2355585"/>
              <a:gd name="connsiteX1" fmla="*/ 847379 w 3589993"/>
              <a:gd name="connsiteY1" fmla="*/ 2244361 h 2355585"/>
              <a:gd name="connsiteX2" fmla="*/ 238324 w 3589993"/>
              <a:gd name="connsiteY2" fmla="*/ 1757373 h 2355585"/>
              <a:gd name="connsiteX3" fmla="*/ 3019 w 3589993"/>
              <a:gd name="connsiteY3" fmla="*/ 1269995 h 2355585"/>
              <a:gd name="connsiteX4" fmla="*/ 148007 w 3589993"/>
              <a:gd name="connsiteY4" fmla="*/ 954636 h 2355585"/>
              <a:gd name="connsiteX5" fmla="*/ 722250 w 3589993"/>
              <a:gd name="connsiteY5" fmla="*/ 1674 h 2355585"/>
              <a:gd name="connsiteX6" fmla="*/ 1858031 w 3589993"/>
              <a:gd name="connsiteY6" fmla="*/ 733194 h 2355585"/>
              <a:gd name="connsiteX7" fmla="*/ 2541425 w 3589993"/>
              <a:gd name="connsiteY7" fmla="*/ 1108580 h 2355585"/>
              <a:gd name="connsiteX8" fmla="*/ 3561703 w 3589993"/>
              <a:gd name="connsiteY8" fmla="*/ 1599468 h 2355585"/>
              <a:gd name="connsiteX9" fmla="*/ 3167955 w 3589993"/>
              <a:gd name="connsiteY9" fmla="*/ 2101348 h 2355585"/>
              <a:gd name="connsiteX10" fmla="*/ 1752153 w 3589993"/>
              <a:gd name="connsiteY10" fmla="*/ 2350238 h 2355585"/>
              <a:gd name="connsiteX11" fmla="*/ 1386393 w 3589993"/>
              <a:gd name="connsiteY11" fmla="*/ 2269856 h 2355585"/>
              <a:gd name="connsiteX0" fmla="*/ 1388240 w 3591840"/>
              <a:gd name="connsiteY0" fmla="*/ 1541340 h 1627069"/>
              <a:gd name="connsiteX1" fmla="*/ 849226 w 3591840"/>
              <a:gd name="connsiteY1" fmla="*/ 1515845 h 1627069"/>
              <a:gd name="connsiteX2" fmla="*/ 240171 w 3591840"/>
              <a:gd name="connsiteY2" fmla="*/ 1028857 h 1627069"/>
              <a:gd name="connsiteX3" fmla="*/ 4866 w 3591840"/>
              <a:gd name="connsiteY3" fmla="*/ 541479 h 1627069"/>
              <a:gd name="connsiteX4" fmla="*/ 149854 w 3591840"/>
              <a:gd name="connsiteY4" fmla="*/ 226120 h 1627069"/>
              <a:gd name="connsiteX5" fmla="*/ 890111 w 3591840"/>
              <a:gd name="connsiteY5" fmla="*/ 173246 h 1627069"/>
              <a:gd name="connsiteX6" fmla="*/ 1859878 w 3591840"/>
              <a:gd name="connsiteY6" fmla="*/ 4678 h 1627069"/>
              <a:gd name="connsiteX7" fmla="*/ 2543272 w 3591840"/>
              <a:gd name="connsiteY7" fmla="*/ 380064 h 1627069"/>
              <a:gd name="connsiteX8" fmla="*/ 3563550 w 3591840"/>
              <a:gd name="connsiteY8" fmla="*/ 870952 h 1627069"/>
              <a:gd name="connsiteX9" fmla="*/ 3169802 w 3591840"/>
              <a:gd name="connsiteY9" fmla="*/ 1372832 h 1627069"/>
              <a:gd name="connsiteX10" fmla="*/ 1754000 w 3591840"/>
              <a:gd name="connsiteY10" fmla="*/ 1621722 h 1627069"/>
              <a:gd name="connsiteX11" fmla="*/ 1388240 w 3591840"/>
              <a:gd name="connsiteY11" fmla="*/ 1541340 h 1627069"/>
              <a:gd name="connsiteX0" fmla="*/ 1388240 w 3591840"/>
              <a:gd name="connsiteY0" fmla="*/ 1394005 h 1479734"/>
              <a:gd name="connsiteX1" fmla="*/ 849226 w 3591840"/>
              <a:gd name="connsiteY1" fmla="*/ 1368510 h 1479734"/>
              <a:gd name="connsiteX2" fmla="*/ 240171 w 3591840"/>
              <a:gd name="connsiteY2" fmla="*/ 881522 h 1479734"/>
              <a:gd name="connsiteX3" fmla="*/ 4866 w 3591840"/>
              <a:gd name="connsiteY3" fmla="*/ 394144 h 1479734"/>
              <a:gd name="connsiteX4" fmla="*/ 149854 w 3591840"/>
              <a:gd name="connsiteY4" fmla="*/ 78785 h 1479734"/>
              <a:gd name="connsiteX5" fmla="*/ 890111 w 3591840"/>
              <a:gd name="connsiteY5" fmla="*/ 25911 h 1479734"/>
              <a:gd name="connsiteX6" fmla="*/ 1859878 w 3591840"/>
              <a:gd name="connsiteY6" fmla="*/ 14858 h 1479734"/>
              <a:gd name="connsiteX7" fmla="*/ 2543272 w 3591840"/>
              <a:gd name="connsiteY7" fmla="*/ 232729 h 1479734"/>
              <a:gd name="connsiteX8" fmla="*/ 3563550 w 3591840"/>
              <a:gd name="connsiteY8" fmla="*/ 723617 h 1479734"/>
              <a:gd name="connsiteX9" fmla="*/ 3169802 w 3591840"/>
              <a:gd name="connsiteY9" fmla="*/ 1225497 h 1479734"/>
              <a:gd name="connsiteX10" fmla="*/ 1754000 w 3591840"/>
              <a:gd name="connsiteY10" fmla="*/ 1474387 h 1479734"/>
              <a:gd name="connsiteX11" fmla="*/ 1388240 w 3591840"/>
              <a:gd name="connsiteY11" fmla="*/ 1394005 h 1479734"/>
              <a:gd name="connsiteX0" fmla="*/ 1388240 w 3591840"/>
              <a:gd name="connsiteY0" fmla="*/ 1394005 h 1423588"/>
              <a:gd name="connsiteX1" fmla="*/ 849226 w 3591840"/>
              <a:gd name="connsiteY1" fmla="*/ 1368510 h 1423588"/>
              <a:gd name="connsiteX2" fmla="*/ 240171 w 3591840"/>
              <a:gd name="connsiteY2" fmla="*/ 881522 h 1423588"/>
              <a:gd name="connsiteX3" fmla="*/ 4866 w 3591840"/>
              <a:gd name="connsiteY3" fmla="*/ 394144 h 1423588"/>
              <a:gd name="connsiteX4" fmla="*/ 149854 w 3591840"/>
              <a:gd name="connsiteY4" fmla="*/ 78785 h 1423588"/>
              <a:gd name="connsiteX5" fmla="*/ 890111 w 3591840"/>
              <a:gd name="connsiteY5" fmla="*/ 25911 h 1423588"/>
              <a:gd name="connsiteX6" fmla="*/ 1859878 w 3591840"/>
              <a:gd name="connsiteY6" fmla="*/ 14858 h 1423588"/>
              <a:gd name="connsiteX7" fmla="*/ 2543272 w 3591840"/>
              <a:gd name="connsiteY7" fmla="*/ 232729 h 1423588"/>
              <a:gd name="connsiteX8" fmla="*/ 3563550 w 3591840"/>
              <a:gd name="connsiteY8" fmla="*/ 723617 h 1423588"/>
              <a:gd name="connsiteX9" fmla="*/ 3169802 w 3591840"/>
              <a:gd name="connsiteY9" fmla="*/ 1225497 h 1423588"/>
              <a:gd name="connsiteX10" fmla="*/ 2269517 w 3591840"/>
              <a:gd name="connsiteY10" fmla="*/ 1204361 h 1423588"/>
              <a:gd name="connsiteX11" fmla="*/ 1388240 w 3591840"/>
              <a:gd name="connsiteY11" fmla="*/ 1394005 h 1423588"/>
              <a:gd name="connsiteX0" fmla="*/ 1388240 w 3568710"/>
              <a:gd name="connsiteY0" fmla="*/ 1734542 h 1764125"/>
              <a:gd name="connsiteX1" fmla="*/ 849226 w 3568710"/>
              <a:gd name="connsiteY1" fmla="*/ 1709047 h 1764125"/>
              <a:gd name="connsiteX2" fmla="*/ 240171 w 3568710"/>
              <a:gd name="connsiteY2" fmla="*/ 1222059 h 1764125"/>
              <a:gd name="connsiteX3" fmla="*/ 4866 w 3568710"/>
              <a:gd name="connsiteY3" fmla="*/ 734681 h 1764125"/>
              <a:gd name="connsiteX4" fmla="*/ 149854 w 3568710"/>
              <a:gd name="connsiteY4" fmla="*/ 419322 h 1764125"/>
              <a:gd name="connsiteX5" fmla="*/ 890111 w 3568710"/>
              <a:gd name="connsiteY5" fmla="*/ 366448 h 1764125"/>
              <a:gd name="connsiteX6" fmla="*/ 1859878 w 3568710"/>
              <a:gd name="connsiteY6" fmla="*/ 355395 h 1764125"/>
              <a:gd name="connsiteX7" fmla="*/ 2971414 w 3568710"/>
              <a:gd name="connsiteY7" fmla="*/ 21963 h 1764125"/>
              <a:gd name="connsiteX8" fmla="*/ 3563550 w 3568710"/>
              <a:gd name="connsiteY8" fmla="*/ 1064154 h 1764125"/>
              <a:gd name="connsiteX9" fmla="*/ 3169802 w 3568710"/>
              <a:gd name="connsiteY9" fmla="*/ 1566034 h 1764125"/>
              <a:gd name="connsiteX10" fmla="*/ 2269517 w 3568710"/>
              <a:gd name="connsiteY10" fmla="*/ 1544898 h 1764125"/>
              <a:gd name="connsiteX11" fmla="*/ 1388240 w 3568710"/>
              <a:gd name="connsiteY11" fmla="*/ 1734542 h 1764125"/>
              <a:gd name="connsiteX0" fmla="*/ 1388240 w 3568709"/>
              <a:gd name="connsiteY0" fmla="*/ 1769505 h 1799088"/>
              <a:gd name="connsiteX1" fmla="*/ 849226 w 3568709"/>
              <a:gd name="connsiteY1" fmla="*/ 1744010 h 1799088"/>
              <a:gd name="connsiteX2" fmla="*/ 240171 w 3568709"/>
              <a:gd name="connsiteY2" fmla="*/ 1257022 h 1799088"/>
              <a:gd name="connsiteX3" fmla="*/ 4866 w 3568709"/>
              <a:gd name="connsiteY3" fmla="*/ 769644 h 1799088"/>
              <a:gd name="connsiteX4" fmla="*/ 149854 w 3568709"/>
              <a:gd name="connsiteY4" fmla="*/ 454285 h 1799088"/>
              <a:gd name="connsiteX5" fmla="*/ 890111 w 3568709"/>
              <a:gd name="connsiteY5" fmla="*/ 401411 h 1799088"/>
              <a:gd name="connsiteX6" fmla="*/ 1859878 w 3568709"/>
              <a:gd name="connsiteY6" fmla="*/ 165337 h 1799088"/>
              <a:gd name="connsiteX7" fmla="*/ 2971414 w 3568709"/>
              <a:gd name="connsiteY7" fmla="*/ 56926 h 1799088"/>
              <a:gd name="connsiteX8" fmla="*/ 3563550 w 3568709"/>
              <a:gd name="connsiteY8" fmla="*/ 1099117 h 1799088"/>
              <a:gd name="connsiteX9" fmla="*/ 3169802 w 3568709"/>
              <a:gd name="connsiteY9" fmla="*/ 1600997 h 1799088"/>
              <a:gd name="connsiteX10" fmla="*/ 2269517 w 3568709"/>
              <a:gd name="connsiteY10" fmla="*/ 1579861 h 1799088"/>
              <a:gd name="connsiteX11" fmla="*/ 1388240 w 3568709"/>
              <a:gd name="connsiteY11" fmla="*/ 1769505 h 1799088"/>
              <a:gd name="connsiteX0" fmla="*/ 1387271 w 3567740"/>
              <a:gd name="connsiteY0" fmla="*/ 1769505 h 1799088"/>
              <a:gd name="connsiteX1" fmla="*/ 848257 w 3567740"/>
              <a:gd name="connsiteY1" fmla="*/ 1744010 h 1799088"/>
              <a:gd name="connsiteX2" fmla="*/ 239202 w 3567740"/>
              <a:gd name="connsiteY2" fmla="*/ 1257022 h 1799088"/>
              <a:gd name="connsiteX3" fmla="*/ 3897 w 3567740"/>
              <a:gd name="connsiteY3" fmla="*/ 769644 h 1799088"/>
              <a:gd name="connsiteX4" fmla="*/ 148885 w 3567740"/>
              <a:gd name="connsiteY4" fmla="*/ 454285 h 1799088"/>
              <a:gd name="connsiteX5" fmla="*/ 816849 w 3567740"/>
              <a:gd name="connsiteY5" fmla="*/ 241559 h 1799088"/>
              <a:gd name="connsiteX6" fmla="*/ 889142 w 3567740"/>
              <a:gd name="connsiteY6" fmla="*/ 401411 h 1799088"/>
              <a:gd name="connsiteX7" fmla="*/ 1858909 w 3567740"/>
              <a:gd name="connsiteY7" fmla="*/ 165337 h 1799088"/>
              <a:gd name="connsiteX8" fmla="*/ 2970445 w 3567740"/>
              <a:gd name="connsiteY8" fmla="*/ 56926 h 1799088"/>
              <a:gd name="connsiteX9" fmla="*/ 3562581 w 3567740"/>
              <a:gd name="connsiteY9" fmla="*/ 1099117 h 1799088"/>
              <a:gd name="connsiteX10" fmla="*/ 3168833 w 3567740"/>
              <a:gd name="connsiteY10" fmla="*/ 1600997 h 1799088"/>
              <a:gd name="connsiteX11" fmla="*/ 2268548 w 3567740"/>
              <a:gd name="connsiteY11" fmla="*/ 1579861 h 1799088"/>
              <a:gd name="connsiteX12" fmla="*/ 1387271 w 3567740"/>
              <a:gd name="connsiteY12" fmla="*/ 1769505 h 1799088"/>
              <a:gd name="connsiteX0" fmla="*/ 1387271 w 3567740"/>
              <a:gd name="connsiteY0" fmla="*/ 1765635 h 1795218"/>
              <a:gd name="connsiteX1" fmla="*/ 848257 w 3567740"/>
              <a:gd name="connsiteY1" fmla="*/ 1740140 h 1795218"/>
              <a:gd name="connsiteX2" fmla="*/ 239202 w 3567740"/>
              <a:gd name="connsiteY2" fmla="*/ 1253152 h 1795218"/>
              <a:gd name="connsiteX3" fmla="*/ 3897 w 3567740"/>
              <a:gd name="connsiteY3" fmla="*/ 765774 h 1795218"/>
              <a:gd name="connsiteX4" fmla="*/ 148885 w 3567740"/>
              <a:gd name="connsiteY4" fmla="*/ 450415 h 1795218"/>
              <a:gd name="connsiteX5" fmla="*/ 816849 w 3567740"/>
              <a:gd name="connsiteY5" fmla="*/ 237689 h 1795218"/>
              <a:gd name="connsiteX6" fmla="*/ 1858909 w 3567740"/>
              <a:gd name="connsiteY6" fmla="*/ 161467 h 1795218"/>
              <a:gd name="connsiteX7" fmla="*/ 2970445 w 3567740"/>
              <a:gd name="connsiteY7" fmla="*/ 53056 h 1795218"/>
              <a:gd name="connsiteX8" fmla="*/ 3562581 w 3567740"/>
              <a:gd name="connsiteY8" fmla="*/ 1095247 h 1795218"/>
              <a:gd name="connsiteX9" fmla="*/ 3168833 w 3567740"/>
              <a:gd name="connsiteY9" fmla="*/ 1597127 h 1795218"/>
              <a:gd name="connsiteX10" fmla="*/ 2268548 w 3567740"/>
              <a:gd name="connsiteY10" fmla="*/ 1575991 h 1795218"/>
              <a:gd name="connsiteX11" fmla="*/ 1387271 w 3567740"/>
              <a:gd name="connsiteY11" fmla="*/ 1765635 h 1795218"/>
              <a:gd name="connsiteX0" fmla="*/ 1535809 w 3567740"/>
              <a:gd name="connsiteY0" fmla="*/ 1675626 h 1763651"/>
              <a:gd name="connsiteX1" fmla="*/ 848257 w 3567740"/>
              <a:gd name="connsiteY1" fmla="*/ 1740140 h 1763651"/>
              <a:gd name="connsiteX2" fmla="*/ 239202 w 3567740"/>
              <a:gd name="connsiteY2" fmla="*/ 1253152 h 1763651"/>
              <a:gd name="connsiteX3" fmla="*/ 3897 w 3567740"/>
              <a:gd name="connsiteY3" fmla="*/ 765774 h 1763651"/>
              <a:gd name="connsiteX4" fmla="*/ 148885 w 3567740"/>
              <a:gd name="connsiteY4" fmla="*/ 450415 h 1763651"/>
              <a:gd name="connsiteX5" fmla="*/ 816849 w 3567740"/>
              <a:gd name="connsiteY5" fmla="*/ 237689 h 1763651"/>
              <a:gd name="connsiteX6" fmla="*/ 1858909 w 3567740"/>
              <a:gd name="connsiteY6" fmla="*/ 161467 h 1763651"/>
              <a:gd name="connsiteX7" fmla="*/ 2970445 w 3567740"/>
              <a:gd name="connsiteY7" fmla="*/ 53056 h 1763651"/>
              <a:gd name="connsiteX8" fmla="*/ 3562581 w 3567740"/>
              <a:gd name="connsiteY8" fmla="*/ 1095247 h 1763651"/>
              <a:gd name="connsiteX9" fmla="*/ 3168833 w 3567740"/>
              <a:gd name="connsiteY9" fmla="*/ 1597127 h 1763651"/>
              <a:gd name="connsiteX10" fmla="*/ 2268548 w 3567740"/>
              <a:gd name="connsiteY10" fmla="*/ 1575991 h 1763651"/>
              <a:gd name="connsiteX11" fmla="*/ 1535809 w 3567740"/>
              <a:gd name="connsiteY11" fmla="*/ 1675626 h 1763651"/>
              <a:gd name="connsiteX0" fmla="*/ 1535809 w 3567740"/>
              <a:gd name="connsiteY0" fmla="*/ 1675626 h 1701030"/>
              <a:gd name="connsiteX1" fmla="*/ 769619 w 3567740"/>
              <a:gd name="connsiteY1" fmla="*/ 1661383 h 1701030"/>
              <a:gd name="connsiteX2" fmla="*/ 239202 w 3567740"/>
              <a:gd name="connsiteY2" fmla="*/ 1253152 h 1701030"/>
              <a:gd name="connsiteX3" fmla="*/ 3897 w 3567740"/>
              <a:gd name="connsiteY3" fmla="*/ 765774 h 1701030"/>
              <a:gd name="connsiteX4" fmla="*/ 148885 w 3567740"/>
              <a:gd name="connsiteY4" fmla="*/ 450415 h 1701030"/>
              <a:gd name="connsiteX5" fmla="*/ 816849 w 3567740"/>
              <a:gd name="connsiteY5" fmla="*/ 237689 h 1701030"/>
              <a:gd name="connsiteX6" fmla="*/ 1858909 w 3567740"/>
              <a:gd name="connsiteY6" fmla="*/ 161467 h 1701030"/>
              <a:gd name="connsiteX7" fmla="*/ 2970445 w 3567740"/>
              <a:gd name="connsiteY7" fmla="*/ 53056 h 1701030"/>
              <a:gd name="connsiteX8" fmla="*/ 3562581 w 3567740"/>
              <a:gd name="connsiteY8" fmla="*/ 1095247 h 1701030"/>
              <a:gd name="connsiteX9" fmla="*/ 3168833 w 3567740"/>
              <a:gd name="connsiteY9" fmla="*/ 1597127 h 1701030"/>
              <a:gd name="connsiteX10" fmla="*/ 2268548 w 3567740"/>
              <a:gd name="connsiteY10" fmla="*/ 1575991 h 1701030"/>
              <a:gd name="connsiteX11" fmla="*/ 1535809 w 3567740"/>
              <a:gd name="connsiteY11" fmla="*/ 1675626 h 1701030"/>
              <a:gd name="connsiteX0" fmla="*/ 1535809 w 3567740"/>
              <a:gd name="connsiteY0" fmla="*/ 1675626 h 1708024"/>
              <a:gd name="connsiteX1" fmla="*/ 769619 w 3567740"/>
              <a:gd name="connsiteY1" fmla="*/ 1661383 h 1708024"/>
              <a:gd name="connsiteX2" fmla="*/ 239202 w 3567740"/>
              <a:gd name="connsiteY2" fmla="*/ 1253152 h 1708024"/>
              <a:gd name="connsiteX3" fmla="*/ 3897 w 3567740"/>
              <a:gd name="connsiteY3" fmla="*/ 765774 h 1708024"/>
              <a:gd name="connsiteX4" fmla="*/ 148885 w 3567740"/>
              <a:gd name="connsiteY4" fmla="*/ 450415 h 1708024"/>
              <a:gd name="connsiteX5" fmla="*/ 816849 w 3567740"/>
              <a:gd name="connsiteY5" fmla="*/ 237689 h 1708024"/>
              <a:gd name="connsiteX6" fmla="*/ 1858909 w 3567740"/>
              <a:gd name="connsiteY6" fmla="*/ 161467 h 1708024"/>
              <a:gd name="connsiteX7" fmla="*/ 2970445 w 3567740"/>
              <a:gd name="connsiteY7" fmla="*/ 53056 h 1708024"/>
              <a:gd name="connsiteX8" fmla="*/ 3562581 w 3567740"/>
              <a:gd name="connsiteY8" fmla="*/ 1095247 h 1708024"/>
              <a:gd name="connsiteX9" fmla="*/ 3168833 w 3567740"/>
              <a:gd name="connsiteY9" fmla="*/ 1597127 h 1708024"/>
              <a:gd name="connsiteX10" fmla="*/ 2294761 w 3567740"/>
              <a:gd name="connsiteY10" fmla="*/ 1452229 h 1708024"/>
              <a:gd name="connsiteX11" fmla="*/ 1535809 w 3567740"/>
              <a:gd name="connsiteY11" fmla="*/ 1675626 h 1708024"/>
              <a:gd name="connsiteX0" fmla="*/ 1535809 w 3585169"/>
              <a:gd name="connsiteY0" fmla="*/ 1675626 h 1708025"/>
              <a:gd name="connsiteX1" fmla="*/ 769619 w 3585169"/>
              <a:gd name="connsiteY1" fmla="*/ 1661383 h 1708025"/>
              <a:gd name="connsiteX2" fmla="*/ 239202 w 3585169"/>
              <a:gd name="connsiteY2" fmla="*/ 1253152 h 1708025"/>
              <a:gd name="connsiteX3" fmla="*/ 3897 w 3585169"/>
              <a:gd name="connsiteY3" fmla="*/ 765774 h 1708025"/>
              <a:gd name="connsiteX4" fmla="*/ 148885 w 3585169"/>
              <a:gd name="connsiteY4" fmla="*/ 450415 h 1708025"/>
              <a:gd name="connsiteX5" fmla="*/ 816849 w 3585169"/>
              <a:gd name="connsiteY5" fmla="*/ 237689 h 1708025"/>
              <a:gd name="connsiteX6" fmla="*/ 1858909 w 3585169"/>
              <a:gd name="connsiteY6" fmla="*/ 161467 h 1708025"/>
              <a:gd name="connsiteX7" fmla="*/ 2970445 w 3585169"/>
              <a:gd name="connsiteY7" fmla="*/ 53056 h 1708025"/>
              <a:gd name="connsiteX8" fmla="*/ 3562581 w 3585169"/>
              <a:gd name="connsiteY8" fmla="*/ 1095247 h 1708025"/>
              <a:gd name="connsiteX9" fmla="*/ 3291159 w 3585169"/>
              <a:gd name="connsiteY9" fmla="*/ 1552123 h 1708025"/>
              <a:gd name="connsiteX10" fmla="*/ 2294761 w 3585169"/>
              <a:gd name="connsiteY10" fmla="*/ 1452229 h 1708025"/>
              <a:gd name="connsiteX11" fmla="*/ 1535809 w 3585169"/>
              <a:gd name="connsiteY11" fmla="*/ 1675626 h 1708025"/>
              <a:gd name="connsiteX0" fmla="*/ 1535809 w 3490171"/>
              <a:gd name="connsiteY0" fmla="*/ 1656292 h 1688691"/>
              <a:gd name="connsiteX1" fmla="*/ 769619 w 3490171"/>
              <a:gd name="connsiteY1" fmla="*/ 1642049 h 1688691"/>
              <a:gd name="connsiteX2" fmla="*/ 239202 w 3490171"/>
              <a:gd name="connsiteY2" fmla="*/ 1233818 h 1688691"/>
              <a:gd name="connsiteX3" fmla="*/ 3897 w 3490171"/>
              <a:gd name="connsiteY3" fmla="*/ 746440 h 1688691"/>
              <a:gd name="connsiteX4" fmla="*/ 148885 w 3490171"/>
              <a:gd name="connsiteY4" fmla="*/ 431081 h 1688691"/>
              <a:gd name="connsiteX5" fmla="*/ 816849 w 3490171"/>
              <a:gd name="connsiteY5" fmla="*/ 218355 h 1688691"/>
              <a:gd name="connsiteX6" fmla="*/ 1858909 w 3490171"/>
              <a:gd name="connsiteY6" fmla="*/ 142133 h 1688691"/>
              <a:gd name="connsiteX7" fmla="*/ 2970445 w 3490171"/>
              <a:gd name="connsiteY7" fmla="*/ 33722 h 1688691"/>
              <a:gd name="connsiteX8" fmla="*/ 3422780 w 3490171"/>
              <a:gd name="connsiteY8" fmla="*/ 794636 h 1688691"/>
              <a:gd name="connsiteX9" fmla="*/ 3291159 w 3490171"/>
              <a:gd name="connsiteY9" fmla="*/ 1532789 h 1688691"/>
              <a:gd name="connsiteX10" fmla="*/ 2294761 w 3490171"/>
              <a:gd name="connsiteY10" fmla="*/ 1432895 h 1688691"/>
              <a:gd name="connsiteX11" fmla="*/ 1535809 w 3490171"/>
              <a:gd name="connsiteY11" fmla="*/ 1656292 h 1688691"/>
              <a:gd name="connsiteX0" fmla="*/ 1535809 w 3490171"/>
              <a:gd name="connsiteY0" fmla="*/ 1656292 h 1656292"/>
              <a:gd name="connsiteX1" fmla="*/ 239202 w 3490171"/>
              <a:gd name="connsiteY1" fmla="*/ 1233818 h 1656292"/>
              <a:gd name="connsiteX2" fmla="*/ 3897 w 3490171"/>
              <a:gd name="connsiteY2" fmla="*/ 746440 h 1656292"/>
              <a:gd name="connsiteX3" fmla="*/ 148885 w 3490171"/>
              <a:gd name="connsiteY3" fmla="*/ 431081 h 1656292"/>
              <a:gd name="connsiteX4" fmla="*/ 816849 w 3490171"/>
              <a:gd name="connsiteY4" fmla="*/ 218355 h 1656292"/>
              <a:gd name="connsiteX5" fmla="*/ 1858909 w 3490171"/>
              <a:gd name="connsiteY5" fmla="*/ 142133 h 1656292"/>
              <a:gd name="connsiteX6" fmla="*/ 2970445 w 3490171"/>
              <a:gd name="connsiteY6" fmla="*/ 33722 h 1656292"/>
              <a:gd name="connsiteX7" fmla="*/ 3422780 w 3490171"/>
              <a:gd name="connsiteY7" fmla="*/ 794636 h 1656292"/>
              <a:gd name="connsiteX8" fmla="*/ 3291159 w 3490171"/>
              <a:gd name="connsiteY8" fmla="*/ 1532789 h 1656292"/>
              <a:gd name="connsiteX9" fmla="*/ 2294761 w 3490171"/>
              <a:gd name="connsiteY9" fmla="*/ 1432895 h 1656292"/>
              <a:gd name="connsiteX10" fmla="*/ 1535809 w 3490171"/>
              <a:gd name="connsiteY10" fmla="*/ 1656292 h 1656292"/>
              <a:gd name="connsiteX0" fmla="*/ 1574171 w 3528533"/>
              <a:gd name="connsiteY0" fmla="*/ 1656292 h 2207918"/>
              <a:gd name="connsiteX1" fmla="*/ 835282 w 3528533"/>
              <a:gd name="connsiteY1" fmla="*/ 2181782 h 2207918"/>
              <a:gd name="connsiteX2" fmla="*/ 42259 w 3528533"/>
              <a:gd name="connsiteY2" fmla="*/ 746440 h 2207918"/>
              <a:gd name="connsiteX3" fmla="*/ 187247 w 3528533"/>
              <a:gd name="connsiteY3" fmla="*/ 431081 h 2207918"/>
              <a:gd name="connsiteX4" fmla="*/ 855211 w 3528533"/>
              <a:gd name="connsiteY4" fmla="*/ 218355 h 2207918"/>
              <a:gd name="connsiteX5" fmla="*/ 1897271 w 3528533"/>
              <a:gd name="connsiteY5" fmla="*/ 142133 h 2207918"/>
              <a:gd name="connsiteX6" fmla="*/ 3008807 w 3528533"/>
              <a:gd name="connsiteY6" fmla="*/ 33722 h 2207918"/>
              <a:gd name="connsiteX7" fmla="*/ 3461142 w 3528533"/>
              <a:gd name="connsiteY7" fmla="*/ 794636 h 2207918"/>
              <a:gd name="connsiteX8" fmla="*/ 3329521 w 3528533"/>
              <a:gd name="connsiteY8" fmla="*/ 1532789 h 2207918"/>
              <a:gd name="connsiteX9" fmla="*/ 2333123 w 3528533"/>
              <a:gd name="connsiteY9" fmla="*/ 1432895 h 2207918"/>
              <a:gd name="connsiteX10" fmla="*/ 1574171 w 3528533"/>
              <a:gd name="connsiteY10" fmla="*/ 1656292 h 2207918"/>
              <a:gd name="connsiteX0" fmla="*/ 1628141 w 3582503"/>
              <a:gd name="connsiteY0" fmla="*/ 1656292 h 1656292"/>
              <a:gd name="connsiteX1" fmla="*/ 96229 w 3582503"/>
              <a:gd name="connsiteY1" fmla="*/ 746440 h 1656292"/>
              <a:gd name="connsiteX2" fmla="*/ 241217 w 3582503"/>
              <a:gd name="connsiteY2" fmla="*/ 431081 h 1656292"/>
              <a:gd name="connsiteX3" fmla="*/ 909181 w 3582503"/>
              <a:gd name="connsiteY3" fmla="*/ 218355 h 1656292"/>
              <a:gd name="connsiteX4" fmla="*/ 1951241 w 3582503"/>
              <a:gd name="connsiteY4" fmla="*/ 142133 h 1656292"/>
              <a:gd name="connsiteX5" fmla="*/ 3062777 w 3582503"/>
              <a:gd name="connsiteY5" fmla="*/ 33722 h 1656292"/>
              <a:gd name="connsiteX6" fmla="*/ 3515112 w 3582503"/>
              <a:gd name="connsiteY6" fmla="*/ 794636 h 1656292"/>
              <a:gd name="connsiteX7" fmla="*/ 3383491 w 3582503"/>
              <a:gd name="connsiteY7" fmla="*/ 1532789 h 1656292"/>
              <a:gd name="connsiteX8" fmla="*/ 2387093 w 3582503"/>
              <a:gd name="connsiteY8" fmla="*/ 1432895 h 1656292"/>
              <a:gd name="connsiteX9" fmla="*/ 1628141 w 3582503"/>
              <a:gd name="connsiteY9" fmla="*/ 1656292 h 1656292"/>
              <a:gd name="connsiteX0" fmla="*/ 1389048 w 3343410"/>
              <a:gd name="connsiteY0" fmla="*/ 1656292 h 2473686"/>
              <a:gd name="connsiteX1" fmla="*/ 883337 w 3343410"/>
              <a:gd name="connsiteY1" fmla="*/ 2441284 h 2473686"/>
              <a:gd name="connsiteX2" fmla="*/ 2124 w 3343410"/>
              <a:gd name="connsiteY2" fmla="*/ 431081 h 2473686"/>
              <a:gd name="connsiteX3" fmla="*/ 670088 w 3343410"/>
              <a:gd name="connsiteY3" fmla="*/ 218355 h 2473686"/>
              <a:gd name="connsiteX4" fmla="*/ 1712148 w 3343410"/>
              <a:gd name="connsiteY4" fmla="*/ 142133 h 2473686"/>
              <a:gd name="connsiteX5" fmla="*/ 2823684 w 3343410"/>
              <a:gd name="connsiteY5" fmla="*/ 33722 h 2473686"/>
              <a:gd name="connsiteX6" fmla="*/ 3276019 w 3343410"/>
              <a:gd name="connsiteY6" fmla="*/ 794636 h 2473686"/>
              <a:gd name="connsiteX7" fmla="*/ 3144398 w 3343410"/>
              <a:gd name="connsiteY7" fmla="*/ 1532789 h 2473686"/>
              <a:gd name="connsiteX8" fmla="*/ 2148000 w 3343410"/>
              <a:gd name="connsiteY8" fmla="*/ 1432895 h 2473686"/>
              <a:gd name="connsiteX9" fmla="*/ 1389048 w 3343410"/>
              <a:gd name="connsiteY9" fmla="*/ 1656292 h 2473686"/>
              <a:gd name="connsiteX0" fmla="*/ 1812913 w 3343410"/>
              <a:gd name="connsiteY0" fmla="*/ 2087183 h 2527278"/>
              <a:gd name="connsiteX1" fmla="*/ 883337 w 3343410"/>
              <a:gd name="connsiteY1" fmla="*/ 2441284 h 2527278"/>
              <a:gd name="connsiteX2" fmla="*/ 2124 w 3343410"/>
              <a:gd name="connsiteY2" fmla="*/ 431081 h 2527278"/>
              <a:gd name="connsiteX3" fmla="*/ 670088 w 3343410"/>
              <a:gd name="connsiteY3" fmla="*/ 218355 h 2527278"/>
              <a:gd name="connsiteX4" fmla="*/ 1712148 w 3343410"/>
              <a:gd name="connsiteY4" fmla="*/ 142133 h 2527278"/>
              <a:gd name="connsiteX5" fmla="*/ 2823684 w 3343410"/>
              <a:gd name="connsiteY5" fmla="*/ 33722 h 2527278"/>
              <a:gd name="connsiteX6" fmla="*/ 3276019 w 3343410"/>
              <a:gd name="connsiteY6" fmla="*/ 794636 h 2527278"/>
              <a:gd name="connsiteX7" fmla="*/ 3144398 w 3343410"/>
              <a:gd name="connsiteY7" fmla="*/ 1532789 h 2527278"/>
              <a:gd name="connsiteX8" fmla="*/ 2148000 w 3343410"/>
              <a:gd name="connsiteY8" fmla="*/ 1432895 h 2527278"/>
              <a:gd name="connsiteX9" fmla="*/ 1812913 w 3343410"/>
              <a:gd name="connsiteY9" fmla="*/ 2087183 h 2527278"/>
              <a:gd name="connsiteX0" fmla="*/ 1812913 w 3343410"/>
              <a:gd name="connsiteY0" fmla="*/ 2087183 h 2513408"/>
              <a:gd name="connsiteX1" fmla="*/ 883337 w 3343410"/>
              <a:gd name="connsiteY1" fmla="*/ 2441284 h 2513408"/>
              <a:gd name="connsiteX2" fmla="*/ 2124 w 3343410"/>
              <a:gd name="connsiteY2" fmla="*/ 431081 h 2513408"/>
              <a:gd name="connsiteX3" fmla="*/ 670088 w 3343410"/>
              <a:gd name="connsiteY3" fmla="*/ 218355 h 2513408"/>
              <a:gd name="connsiteX4" fmla="*/ 1712148 w 3343410"/>
              <a:gd name="connsiteY4" fmla="*/ 142133 h 2513408"/>
              <a:gd name="connsiteX5" fmla="*/ 2823684 w 3343410"/>
              <a:gd name="connsiteY5" fmla="*/ 33722 h 2513408"/>
              <a:gd name="connsiteX6" fmla="*/ 3276019 w 3343410"/>
              <a:gd name="connsiteY6" fmla="*/ 794636 h 2513408"/>
              <a:gd name="connsiteX7" fmla="*/ 3144398 w 3343410"/>
              <a:gd name="connsiteY7" fmla="*/ 1532789 h 2513408"/>
              <a:gd name="connsiteX8" fmla="*/ 3051503 w 3343410"/>
              <a:gd name="connsiteY8" fmla="*/ 2280317 h 2513408"/>
              <a:gd name="connsiteX9" fmla="*/ 1812913 w 3343410"/>
              <a:gd name="connsiteY9" fmla="*/ 2087183 h 2513408"/>
              <a:gd name="connsiteX0" fmla="*/ 1812913 w 4249543"/>
              <a:gd name="connsiteY0" fmla="*/ 2087183 h 2513408"/>
              <a:gd name="connsiteX1" fmla="*/ 883337 w 4249543"/>
              <a:gd name="connsiteY1" fmla="*/ 2441284 h 2513408"/>
              <a:gd name="connsiteX2" fmla="*/ 2124 w 4249543"/>
              <a:gd name="connsiteY2" fmla="*/ 431081 h 2513408"/>
              <a:gd name="connsiteX3" fmla="*/ 670088 w 4249543"/>
              <a:gd name="connsiteY3" fmla="*/ 218355 h 2513408"/>
              <a:gd name="connsiteX4" fmla="*/ 1712148 w 4249543"/>
              <a:gd name="connsiteY4" fmla="*/ 142133 h 2513408"/>
              <a:gd name="connsiteX5" fmla="*/ 2823684 w 4249543"/>
              <a:gd name="connsiteY5" fmla="*/ 33722 h 2513408"/>
              <a:gd name="connsiteX6" fmla="*/ 3276019 w 4249543"/>
              <a:gd name="connsiteY6" fmla="*/ 794636 h 2513408"/>
              <a:gd name="connsiteX7" fmla="*/ 4192908 w 4249543"/>
              <a:gd name="connsiteY7" fmla="*/ 1906229 h 2513408"/>
              <a:gd name="connsiteX8" fmla="*/ 3051503 w 4249543"/>
              <a:gd name="connsiteY8" fmla="*/ 2280317 h 2513408"/>
              <a:gd name="connsiteX9" fmla="*/ 1812913 w 4249543"/>
              <a:gd name="connsiteY9" fmla="*/ 2087183 h 2513408"/>
              <a:gd name="connsiteX0" fmla="*/ 1812913 w 3291254"/>
              <a:gd name="connsiteY0" fmla="*/ 2087183 h 2513408"/>
              <a:gd name="connsiteX1" fmla="*/ 883337 w 3291254"/>
              <a:gd name="connsiteY1" fmla="*/ 2441284 h 2513408"/>
              <a:gd name="connsiteX2" fmla="*/ 2124 w 3291254"/>
              <a:gd name="connsiteY2" fmla="*/ 431081 h 2513408"/>
              <a:gd name="connsiteX3" fmla="*/ 670088 w 3291254"/>
              <a:gd name="connsiteY3" fmla="*/ 218355 h 2513408"/>
              <a:gd name="connsiteX4" fmla="*/ 1712148 w 3291254"/>
              <a:gd name="connsiteY4" fmla="*/ 142133 h 2513408"/>
              <a:gd name="connsiteX5" fmla="*/ 2823684 w 3291254"/>
              <a:gd name="connsiteY5" fmla="*/ 33722 h 2513408"/>
              <a:gd name="connsiteX6" fmla="*/ 3276019 w 3291254"/>
              <a:gd name="connsiteY6" fmla="*/ 794636 h 2513408"/>
              <a:gd name="connsiteX7" fmla="*/ 3051503 w 3291254"/>
              <a:gd name="connsiteY7" fmla="*/ 2280317 h 2513408"/>
              <a:gd name="connsiteX8" fmla="*/ 1812913 w 3291254"/>
              <a:gd name="connsiteY8" fmla="*/ 2087183 h 2513408"/>
              <a:gd name="connsiteX0" fmla="*/ 1812913 w 3372061"/>
              <a:gd name="connsiteY0" fmla="*/ 1980537 h 2406762"/>
              <a:gd name="connsiteX1" fmla="*/ 883337 w 3372061"/>
              <a:gd name="connsiteY1" fmla="*/ 2334638 h 2406762"/>
              <a:gd name="connsiteX2" fmla="*/ 2124 w 3372061"/>
              <a:gd name="connsiteY2" fmla="*/ 324435 h 2406762"/>
              <a:gd name="connsiteX3" fmla="*/ 670088 w 3372061"/>
              <a:gd name="connsiteY3" fmla="*/ 111709 h 2406762"/>
              <a:gd name="connsiteX4" fmla="*/ 1712148 w 3372061"/>
              <a:gd name="connsiteY4" fmla="*/ 35487 h 2406762"/>
              <a:gd name="connsiteX5" fmla="*/ 3276019 w 3372061"/>
              <a:gd name="connsiteY5" fmla="*/ 687990 h 2406762"/>
              <a:gd name="connsiteX6" fmla="*/ 3051503 w 3372061"/>
              <a:gd name="connsiteY6" fmla="*/ 2173671 h 2406762"/>
              <a:gd name="connsiteX7" fmla="*/ 1812913 w 3372061"/>
              <a:gd name="connsiteY7" fmla="*/ 1980537 h 2406762"/>
              <a:gd name="connsiteX0" fmla="*/ 1815546 w 3451572"/>
              <a:gd name="connsiteY0" fmla="*/ 1927198 h 2353423"/>
              <a:gd name="connsiteX1" fmla="*/ 885970 w 3451572"/>
              <a:gd name="connsiteY1" fmla="*/ 2281299 h 2353423"/>
              <a:gd name="connsiteX2" fmla="*/ 4757 w 3451572"/>
              <a:gd name="connsiteY2" fmla="*/ 271096 h 2353423"/>
              <a:gd name="connsiteX3" fmla="*/ 672721 w 3451572"/>
              <a:gd name="connsiteY3" fmla="*/ 58370 h 2353423"/>
              <a:gd name="connsiteX4" fmla="*/ 3278652 w 3451572"/>
              <a:gd name="connsiteY4" fmla="*/ 634651 h 2353423"/>
              <a:gd name="connsiteX5" fmla="*/ 3054136 w 3451572"/>
              <a:gd name="connsiteY5" fmla="*/ 2120332 h 2353423"/>
              <a:gd name="connsiteX6" fmla="*/ 1815546 w 3451572"/>
              <a:gd name="connsiteY6" fmla="*/ 1927198 h 2353423"/>
              <a:gd name="connsiteX0" fmla="*/ 1811382 w 3421869"/>
              <a:gd name="connsiteY0" fmla="*/ 1868593 h 2294818"/>
              <a:gd name="connsiteX1" fmla="*/ 881806 w 3421869"/>
              <a:gd name="connsiteY1" fmla="*/ 2222694 h 2294818"/>
              <a:gd name="connsiteX2" fmla="*/ 593 w 3421869"/>
              <a:gd name="connsiteY2" fmla="*/ 212491 h 2294818"/>
              <a:gd name="connsiteX3" fmla="*/ 1014342 w 3421869"/>
              <a:gd name="connsiteY3" fmla="*/ 100307 h 2294818"/>
              <a:gd name="connsiteX4" fmla="*/ 3274488 w 3421869"/>
              <a:gd name="connsiteY4" fmla="*/ 576046 h 2294818"/>
              <a:gd name="connsiteX5" fmla="*/ 3049972 w 3421869"/>
              <a:gd name="connsiteY5" fmla="*/ 2061727 h 2294818"/>
              <a:gd name="connsiteX6" fmla="*/ 1811382 w 3421869"/>
              <a:gd name="connsiteY6" fmla="*/ 1868593 h 2294818"/>
              <a:gd name="connsiteX0" fmla="*/ 1833106 w 3382754"/>
              <a:gd name="connsiteY0" fmla="*/ 2088927 h 2515152"/>
              <a:gd name="connsiteX1" fmla="*/ 903530 w 3382754"/>
              <a:gd name="connsiteY1" fmla="*/ 2443028 h 2515152"/>
              <a:gd name="connsiteX2" fmla="*/ 22317 w 3382754"/>
              <a:gd name="connsiteY2" fmla="*/ 432825 h 2515152"/>
              <a:gd name="connsiteX3" fmla="*/ 1861489 w 3382754"/>
              <a:gd name="connsiteY3" fmla="*/ 19016 h 2515152"/>
              <a:gd name="connsiteX4" fmla="*/ 3296212 w 3382754"/>
              <a:gd name="connsiteY4" fmla="*/ 796380 h 2515152"/>
              <a:gd name="connsiteX5" fmla="*/ 3071696 w 3382754"/>
              <a:gd name="connsiteY5" fmla="*/ 2282061 h 2515152"/>
              <a:gd name="connsiteX6" fmla="*/ 1833106 w 3382754"/>
              <a:gd name="connsiteY6" fmla="*/ 2088927 h 2515152"/>
              <a:gd name="connsiteX0" fmla="*/ 1876800 w 3426448"/>
              <a:gd name="connsiteY0" fmla="*/ 2077119 h 2497206"/>
              <a:gd name="connsiteX1" fmla="*/ 947224 w 3426448"/>
              <a:gd name="connsiteY1" fmla="*/ 2431220 h 2497206"/>
              <a:gd name="connsiteX2" fmla="*/ 21394 w 3426448"/>
              <a:gd name="connsiteY2" fmla="*/ 521560 h 2497206"/>
              <a:gd name="connsiteX3" fmla="*/ 1905183 w 3426448"/>
              <a:gd name="connsiteY3" fmla="*/ 7208 h 2497206"/>
              <a:gd name="connsiteX4" fmla="*/ 3339906 w 3426448"/>
              <a:gd name="connsiteY4" fmla="*/ 784572 h 2497206"/>
              <a:gd name="connsiteX5" fmla="*/ 3115390 w 3426448"/>
              <a:gd name="connsiteY5" fmla="*/ 2270253 h 2497206"/>
              <a:gd name="connsiteX6" fmla="*/ 1876800 w 3426448"/>
              <a:gd name="connsiteY6" fmla="*/ 2077119 h 2497206"/>
              <a:gd name="connsiteX0" fmla="*/ 1876800 w 3914385"/>
              <a:gd name="connsiteY0" fmla="*/ 2096711 h 2516798"/>
              <a:gd name="connsiteX1" fmla="*/ 947224 w 3914385"/>
              <a:gd name="connsiteY1" fmla="*/ 2450812 h 2516798"/>
              <a:gd name="connsiteX2" fmla="*/ 21394 w 3914385"/>
              <a:gd name="connsiteY2" fmla="*/ 541152 h 2516798"/>
              <a:gd name="connsiteX3" fmla="*/ 1905183 w 3914385"/>
              <a:gd name="connsiteY3" fmla="*/ 26800 h 2516798"/>
              <a:gd name="connsiteX4" fmla="*/ 3875315 w 3914385"/>
              <a:gd name="connsiteY4" fmla="*/ 1177605 h 2516798"/>
              <a:gd name="connsiteX5" fmla="*/ 3115390 w 3914385"/>
              <a:gd name="connsiteY5" fmla="*/ 2289845 h 2516798"/>
              <a:gd name="connsiteX6" fmla="*/ 1876800 w 3914385"/>
              <a:gd name="connsiteY6" fmla="*/ 2096711 h 2516798"/>
              <a:gd name="connsiteX0" fmla="*/ 1876800 w 3818587"/>
              <a:gd name="connsiteY0" fmla="*/ 2083975 h 2504062"/>
              <a:gd name="connsiteX1" fmla="*/ 947224 w 3818587"/>
              <a:gd name="connsiteY1" fmla="*/ 2438076 h 2504062"/>
              <a:gd name="connsiteX2" fmla="*/ 21394 w 3818587"/>
              <a:gd name="connsiteY2" fmla="*/ 528416 h 2504062"/>
              <a:gd name="connsiteX3" fmla="*/ 1905183 w 3818587"/>
              <a:gd name="connsiteY3" fmla="*/ 14064 h 2504062"/>
              <a:gd name="connsiteX4" fmla="*/ 3774925 w 3818587"/>
              <a:gd name="connsiteY4" fmla="*/ 935059 h 2504062"/>
              <a:gd name="connsiteX5" fmla="*/ 3115390 w 3818587"/>
              <a:gd name="connsiteY5" fmla="*/ 2277109 h 2504062"/>
              <a:gd name="connsiteX6" fmla="*/ 1876800 w 3818587"/>
              <a:gd name="connsiteY6" fmla="*/ 2083975 h 2504062"/>
              <a:gd name="connsiteX0" fmla="*/ 1876800 w 3916854"/>
              <a:gd name="connsiteY0" fmla="*/ 2083974 h 2613413"/>
              <a:gd name="connsiteX1" fmla="*/ 947224 w 3916854"/>
              <a:gd name="connsiteY1" fmla="*/ 2438075 h 2613413"/>
              <a:gd name="connsiteX2" fmla="*/ 21394 w 3916854"/>
              <a:gd name="connsiteY2" fmla="*/ 528415 h 2613413"/>
              <a:gd name="connsiteX3" fmla="*/ 1905183 w 3916854"/>
              <a:gd name="connsiteY3" fmla="*/ 14063 h 2613413"/>
              <a:gd name="connsiteX4" fmla="*/ 3774925 w 3916854"/>
              <a:gd name="connsiteY4" fmla="*/ 935058 h 2613413"/>
              <a:gd name="connsiteX5" fmla="*/ 3572720 w 3916854"/>
              <a:gd name="connsiteY5" fmla="*/ 2578732 h 2613413"/>
              <a:gd name="connsiteX6" fmla="*/ 1876800 w 3916854"/>
              <a:gd name="connsiteY6" fmla="*/ 2083974 h 2613413"/>
              <a:gd name="connsiteX0" fmla="*/ 1966381 w 3913609"/>
              <a:gd name="connsiteY0" fmla="*/ 2974486 h 2978289"/>
              <a:gd name="connsiteX1" fmla="*/ 947569 w 3913609"/>
              <a:gd name="connsiteY1" fmla="*/ 2438075 h 2978289"/>
              <a:gd name="connsiteX2" fmla="*/ 21739 w 3913609"/>
              <a:gd name="connsiteY2" fmla="*/ 528415 h 2978289"/>
              <a:gd name="connsiteX3" fmla="*/ 1905528 w 3913609"/>
              <a:gd name="connsiteY3" fmla="*/ 14063 h 2978289"/>
              <a:gd name="connsiteX4" fmla="*/ 3775270 w 3913609"/>
              <a:gd name="connsiteY4" fmla="*/ 935058 h 2978289"/>
              <a:gd name="connsiteX5" fmla="*/ 3573065 w 3913609"/>
              <a:gd name="connsiteY5" fmla="*/ 2578732 h 2978289"/>
              <a:gd name="connsiteX6" fmla="*/ 1966381 w 3913609"/>
              <a:gd name="connsiteY6" fmla="*/ 2974486 h 2978289"/>
              <a:gd name="connsiteX0" fmla="*/ 1854410 w 3917684"/>
              <a:gd name="connsiteY0" fmla="*/ 3060664 h 3063016"/>
              <a:gd name="connsiteX1" fmla="*/ 947140 w 3917684"/>
              <a:gd name="connsiteY1" fmla="*/ 2438075 h 3063016"/>
              <a:gd name="connsiteX2" fmla="*/ 21310 w 3917684"/>
              <a:gd name="connsiteY2" fmla="*/ 528415 h 3063016"/>
              <a:gd name="connsiteX3" fmla="*/ 1905099 w 3917684"/>
              <a:gd name="connsiteY3" fmla="*/ 14063 h 3063016"/>
              <a:gd name="connsiteX4" fmla="*/ 3774841 w 3917684"/>
              <a:gd name="connsiteY4" fmla="*/ 935058 h 3063016"/>
              <a:gd name="connsiteX5" fmla="*/ 3572636 w 3917684"/>
              <a:gd name="connsiteY5" fmla="*/ 2578732 h 3063016"/>
              <a:gd name="connsiteX6" fmla="*/ 1854410 w 3917684"/>
              <a:gd name="connsiteY6" fmla="*/ 3060664 h 3063016"/>
              <a:gd name="connsiteX0" fmla="*/ 3581694 w 3969385"/>
              <a:gd name="connsiteY0" fmla="*/ 2578732 h 2736203"/>
              <a:gd name="connsiteX1" fmla="*/ 956198 w 3969385"/>
              <a:gd name="connsiteY1" fmla="*/ 2438075 h 2736203"/>
              <a:gd name="connsiteX2" fmla="*/ 30368 w 3969385"/>
              <a:gd name="connsiteY2" fmla="*/ 528415 h 2736203"/>
              <a:gd name="connsiteX3" fmla="*/ 1914157 w 3969385"/>
              <a:gd name="connsiteY3" fmla="*/ 14063 h 2736203"/>
              <a:gd name="connsiteX4" fmla="*/ 3783899 w 3969385"/>
              <a:gd name="connsiteY4" fmla="*/ 935058 h 2736203"/>
              <a:gd name="connsiteX5" fmla="*/ 3581694 w 3969385"/>
              <a:gd name="connsiteY5" fmla="*/ 2578732 h 2736203"/>
              <a:gd name="connsiteX0" fmla="*/ 3577705 w 3963067"/>
              <a:gd name="connsiteY0" fmla="*/ 2577030 h 2656840"/>
              <a:gd name="connsiteX1" fmla="*/ 996825 w 3963067"/>
              <a:gd name="connsiteY1" fmla="*/ 2206564 h 2656840"/>
              <a:gd name="connsiteX2" fmla="*/ 26379 w 3963067"/>
              <a:gd name="connsiteY2" fmla="*/ 526713 h 2656840"/>
              <a:gd name="connsiteX3" fmla="*/ 1910168 w 3963067"/>
              <a:gd name="connsiteY3" fmla="*/ 12361 h 2656840"/>
              <a:gd name="connsiteX4" fmla="*/ 3779910 w 3963067"/>
              <a:gd name="connsiteY4" fmla="*/ 933356 h 2656840"/>
              <a:gd name="connsiteX5" fmla="*/ 3577705 w 3963067"/>
              <a:gd name="connsiteY5" fmla="*/ 2577030 h 2656840"/>
              <a:gd name="connsiteX0" fmla="*/ 3584027 w 3969389"/>
              <a:gd name="connsiteY0" fmla="*/ 2594626 h 2674437"/>
              <a:gd name="connsiteX1" fmla="*/ 1003147 w 3969389"/>
              <a:gd name="connsiteY1" fmla="*/ 2224160 h 2674437"/>
              <a:gd name="connsiteX2" fmla="*/ 32701 w 3969389"/>
              <a:gd name="connsiteY2" fmla="*/ 544309 h 2674437"/>
              <a:gd name="connsiteX3" fmla="*/ 1916490 w 3969389"/>
              <a:gd name="connsiteY3" fmla="*/ 29957 h 2674437"/>
              <a:gd name="connsiteX4" fmla="*/ 3786232 w 3969389"/>
              <a:gd name="connsiteY4" fmla="*/ 950952 h 2674437"/>
              <a:gd name="connsiteX5" fmla="*/ 3584027 w 3969389"/>
              <a:gd name="connsiteY5" fmla="*/ 2594626 h 2674437"/>
              <a:gd name="connsiteX0" fmla="*/ 3685347 w 4206134"/>
              <a:gd name="connsiteY0" fmla="*/ 2124424 h 2204235"/>
              <a:gd name="connsiteX1" fmla="*/ 1104467 w 4206134"/>
              <a:gd name="connsiteY1" fmla="*/ 1753958 h 2204235"/>
              <a:gd name="connsiteX2" fmla="*/ 134021 w 4206134"/>
              <a:gd name="connsiteY2" fmla="*/ 74107 h 2204235"/>
              <a:gd name="connsiteX3" fmla="*/ 3887552 w 4206134"/>
              <a:gd name="connsiteY3" fmla="*/ 480750 h 2204235"/>
              <a:gd name="connsiteX4" fmla="*/ 3685347 w 4206134"/>
              <a:gd name="connsiteY4" fmla="*/ 2124424 h 2204235"/>
              <a:gd name="connsiteX0" fmla="*/ 3644842 w 4162378"/>
              <a:gd name="connsiteY0" fmla="*/ 2400513 h 2488442"/>
              <a:gd name="connsiteX1" fmla="*/ 1063962 w 4162378"/>
              <a:gd name="connsiteY1" fmla="*/ 2030047 h 2488442"/>
              <a:gd name="connsiteX2" fmla="*/ 138133 w 4162378"/>
              <a:gd name="connsiteY2" fmla="*/ 48572 h 2488442"/>
              <a:gd name="connsiteX3" fmla="*/ 3847047 w 4162378"/>
              <a:gd name="connsiteY3" fmla="*/ 756839 h 2488442"/>
              <a:gd name="connsiteX4" fmla="*/ 3644842 w 4162378"/>
              <a:gd name="connsiteY4" fmla="*/ 2400513 h 2488442"/>
              <a:gd name="connsiteX0" fmla="*/ 3653611 w 4171147"/>
              <a:gd name="connsiteY0" fmla="*/ 2622239 h 2710168"/>
              <a:gd name="connsiteX1" fmla="*/ 1072731 w 4171147"/>
              <a:gd name="connsiteY1" fmla="*/ 2251773 h 2710168"/>
              <a:gd name="connsiteX2" fmla="*/ 146902 w 4171147"/>
              <a:gd name="connsiteY2" fmla="*/ 270298 h 2710168"/>
              <a:gd name="connsiteX3" fmla="*/ 3855816 w 4171147"/>
              <a:gd name="connsiteY3" fmla="*/ 978565 h 2710168"/>
              <a:gd name="connsiteX4" fmla="*/ 3653611 w 4171147"/>
              <a:gd name="connsiteY4" fmla="*/ 2622239 h 2710168"/>
              <a:gd name="connsiteX0" fmla="*/ 3693988 w 4214774"/>
              <a:gd name="connsiteY0" fmla="*/ 2426917 h 2508561"/>
              <a:gd name="connsiteX1" fmla="*/ 1113108 w 4214774"/>
              <a:gd name="connsiteY1" fmla="*/ 2056451 h 2508561"/>
              <a:gd name="connsiteX2" fmla="*/ 142662 w 4214774"/>
              <a:gd name="connsiteY2" fmla="*/ 304784 h 2508561"/>
              <a:gd name="connsiteX3" fmla="*/ 3896193 w 4214774"/>
              <a:gd name="connsiteY3" fmla="*/ 783243 h 2508561"/>
              <a:gd name="connsiteX4" fmla="*/ 3693988 w 4214774"/>
              <a:gd name="connsiteY4" fmla="*/ 2426917 h 2508561"/>
              <a:gd name="connsiteX0" fmla="*/ 3683915 w 4188827"/>
              <a:gd name="connsiteY0" fmla="*/ 2300796 h 2408305"/>
              <a:gd name="connsiteX1" fmla="*/ 1103035 w 4188827"/>
              <a:gd name="connsiteY1" fmla="*/ 1930330 h 2408305"/>
              <a:gd name="connsiteX2" fmla="*/ 132589 w 4188827"/>
              <a:gd name="connsiteY2" fmla="*/ 178663 h 2408305"/>
              <a:gd name="connsiteX3" fmla="*/ 3863811 w 4188827"/>
              <a:gd name="connsiteY3" fmla="*/ 298043 h 2408305"/>
              <a:gd name="connsiteX4" fmla="*/ 3683915 w 4188827"/>
              <a:gd name="connsiteY4" fmla="*/ 2300796 h 2408305"/>
              <a:gd name="connsiteX0" fmla="*/ 3695249 w 4193640"/>
              <a:gd name="connsiteY0" fmla="*/ 2058956 h 2217803"/>
              <a:gd name="connsiteX1" fmla="*/ 1103215 w 4193640"/>
              <a:gd name="connsiteY1" fmla="*/ 1918299 h 2217803"/>
              <a:gd name="connsiteX2" fmla="*/ 132769 w 4193640"/>
              <a:gd name="connsiteY2" fmla="*/ 166632 h 2217803"/>
              <a:gd name="connsiteX3" fmla="*/ 3863991 w 4193640"/>
              <a:gd name="connsiteY3" fmla="*/ 286012 h 2217803"/>
              <a:gd name="connsiteX4" fmla="*/ 3695249 w 4193640"/>
              <a:gd name="connsiteY4" fmla="*/ 2058956 h 2217803"/>
              <a:gd name="connsiteX0" fmla="*/ 3731619 w 4239113"/>
              <a:gd name="connsiteY0" fmla="*/ 2060991 h 2232494"/>
              <a:gd name="connsiteX1" fmla="*/ 949961 w 4239113"/>
              <a:gd name="connsiteY1" fmla="*/ 1949060 h 2232494"/>
              <a:gd name="connsiteX2" fmla="*/ 169139 w 4239113"/>
              <a:gd name="connsiteY2" fmla="*/ 168667 h 2232494"/>
              <a:gd name="connsiteX3" fmla="*/ 3900361 w 4239113"/>
              <a:gd name="connsiteY3" fmla="*/ 288047 h 2232494"/>
              <a:gd name="connsiteX4" fmla="*/ 3731619 w 4239113"/>
              <a:gd name="connsiteY4" fmla="*/ 2060991 h 2232494"/>
              <a:gd name="connsiteX0" fmla="*/ 3690237 w 4197731"/>
              <a:gd name="connsiteY0" fmla="*/ 2179321 h 2350824"/>
              <a:gd name="connsiteX1" fmla="*/ 908579 w 4197731"/>
              <a:gd name="connsiteY1" fmla="*/ 2067390 h 2350824"/>
              <a:gd name="connsiteX2" fmla="*/ 127757 w 4197731"/>
              <a:gd name="connsiteY2" fmla="*/ 286997 h 2350824"/>
              <a:gd name="connsiteX3" fmla="*/ 3858979 w 4197731"/>
              <a:gd name="connsiteY3" fmla="*/ 406377 h 2350824"/>
              <a:gd name="connsiteX4" fmla="*/ 3690237 w 4197731"/>
              <a:gd name="connsiteY4" fmla="*/ 2179321 h 2350824"/>
              <a:gd name="connsiteX0" fmla="*/ 3667743 w 4175237"/>
              <a:gd name="connsiteY0" fmla="*/ 2236133 h 2407636"/>
              <a:gd name="connsiteX1" fmla="*/ 886085 w 4175237"/>
              <a:gd name="connsiteY1" fmla="*/ 2124202 h 2407636"/>
              <a:gd name="connsiteX2" fmla="*/ 105263 w 4175237"/>
              <a:gd name="connsiteY2" fmla="*/ 343809 h 2407636"/>
              <a:gd name="connsiteX3" fmla="*/ 3836485 w 4175237"/>
              <a:gd name="connsiteY3" fmla="*/ 463189 h 2407636"/>
              <a:gd name="connsiteX4" fmla="*/ 3667743 w 4175237"/>
              <a:gd name="connsiteY4" fmla="*/ 2236133 h 2407636"/>
              <a:gd name="connsiteX0" fmla="*/ 3588450 w 4089547"/>
              <a:gd name="connsiteY0" fmla="*/ 2246695 h 2418940"/>
              <a:gd name="connsiteX1" fmla="*/ 806792 w 4089547"/>
              <a:gd name="connsiteY1" fmla="*/ 2134764 h 2418940"/>
              <a:gd name="connsiteX2" fmla="*/ 115204 w 4089547"/>
              <a:gd name="connsiteY2" fmla="*/ 340009 h 2418940"/>
              <a:gd name="connsiteX3" fmla="*/ 3757192 w 4089547"/>
              <a:gd name="connsiteY3" fmla="*/ 473751 h 2418940"/>
              <a:gd name="connsiteX4" fmla="*/ 3588450 w 4089547"/>
              <a:gd name="connsiteY4" fmla="*/ 2246695 h 2418940"/>
              <a:gd name="connsiteX0" fmla="*/ 3625806 w 4126903"/>
              <a:gd name="connsiteY0" fmla="*/ 2272059 h 2444304"/>
              <a:gd name="connsiteX1" fmla="*/ 844148 w 4126903"/>
              <a:gd name="connsiteY1" fmla="*/ 2160128 h 2444304"/>
              <a:gd name="connsiteX2" fmla="*/ 152560 w 4126903"/>
              <a:gd name="connsiteY2" fmla="*/ 365373 h 2444304"/>
              <a:gd name="connsiteX3" fmla="*/ 3794548 w 4126903"/>
              <a:gd name="connsiteY3" fmla="*/ 499115 h 2444304"/>
              <a:gd name="connsiteX4" fmla="*/ 3625806 w 4126903"/>
              <a:gd name="connsiteY4" fmla="*/ 2272059 h 2444304"/>
              <a:gd name="connsiteX0" fmla="*/ 3625806 w 4201676"/>
              <a:gd name="connsiteY0" fmla="*/ 2272059 h 2314180"/>
              <a:gd name="connsiteX1" fmla="*/ 844148 w 4201676"/>
              <a:gd name="connsiteY1" fmla="*/ 2160128 h 2314180"/>
              <a:gd name="connsiteX2" fmla="*/ 152560 w 4201676"/>
              <a:gd name="connsiteY2" fmla="*/ 365373 h 2314180"/>
              <a:gd name="connsiteX3" fmla="*/ 3794548 w 4201676"/>
              <a:gd name="connsiteY3" fmla="*/ 499115 h 2314180"/>
              <a:gd name="connsiteX4" fmla="*/ 3625806 w 4201676"/>
              <a:gd name="connsiteY4" fmla="*/ 2272059 h 2314180"/>
              <a:gd name="connsiteX0" fmla="*/ 3625806 w 4203691"/>
              <a:gd name="connsiteY0" fmla="*/ 2272059 h 2332322"/>
              <a:gd name="connsiteX1" fmla="*/ 844148 w 4203691"/>
              <a:gd name="connsiteY1" fmla="*/ 2160128 h 2332322"/>
              <a:gd name="connsiteX2" fmla="*/ 152560 w 4203691"/>
              <a:gd name="connsiteY2" fmla="*/ 365373 h 2332322"/>
              <a:gd name="connsiteX3" fmla="*/ 3794548 w 4203691"/>
              <a:gd name="connsiteY3" fmla="*/ 499115 h 2332322"/>
              <a:gd name="connsiteX4" fmla="*/ 3625806 w 4203691"/>
              <a:gd name="connsiteY4" fmla="*/ 2272059 h 2332322"/>
              <a:gd name="connsiteX0" fmla="*/ 3625806 w 4207741"/>
              <a:gd name="connsiteY0" fmla="*/ 2272059 h 2358077"/>
              <a:gd name="connsiteX1" fmla="*/ 844148 w 4207741"/>
              <a:gd name="connsiteY1" fmla="*/ 2160128 h 2358077"/>
              <a:gd name="connsiteX2" fmla="*/ 152560 w 4207741"/>
              <a:gd name="connsiteY2" fmla="*/ 365373 h 2358077"/>
              <a:gd name="connsiteX3" fmla="*/ 3794548 w 4207741"/>
              <a:gd name="connsiteY3" fmla="*/ 499115 h 2358077"/>
              <a:gd name="connsiteX4" fmla="*/ 3625806 w 4207741"/>
              <a:gd name="connsiteY4" fmla="*/ 2272059 h 2358077"/>
              <a:gd name="connsiteX0" fmla="*/ 3524475 w 4156670"/>
              <a:gd name="connsiteY0" fmla="*/ 2301205 h 2374786"/>
              <a:gd name="connsiteX1" fmla="*/ 841843 w 4156670"/>
              <a:gd name="connsiteY1" fmla="*/ 2161309 h 2374786"/>
              <a:gd name="connsiteX2" fmla="*/ 150255 w 4156670"/>
              <a:gd name="connsiteY2" fmla="*/ 366554 h 2374786"/>
              <a:gd name="connsiteX3" fmla="*/ 3792243 w 4156670"/>
              <a:gd name="connsiteY3" fmla="*/ 500296 h 2374786"/>
              <a:gd name="connsiteX4" fmla="*/ 3524475 w 4156670"/>
              <a:gd name="connsiteY4" fmla="*/ 2301205 h 2374786"/>
              <a:gd name="connsiteX0" fmla="*/ 3464892 w 4128905"/>
              <a:gd name="connsiteY0" fmla="*/ 2301205 h 2374786"/>
              <a:gd name="connsiteX1" fmla="*/ 840511 w 4128905"/>
              <a:gd name="connsiteY1" fmla="*/ 2161309 h 2374786"/>
              <a:gd name="connsiteX2" fmla="*/ 148923 w 4128905"/>
              <a:gd name="connsiteY2" fmla="*/ 366554 h 2374786"/>
              <a:gd name="connsiteX3" fmla="*/ 3790911 w 4128905"/>
              <a:gd name="connsiteY3" fmla="*/ 500296 h 2374786"/>
              <a:gd name="connsiteX4" fmla="*/ 3464892 w 4128905"/>
              <a:gd name="connsiteY4" fmla="*/ 2301205 h 2374786"/>
              <a:gd name="connsiteX0" fmla="*/ 3435108 w 4115652"/>
              <a:gd name="connsiteY0" fmla="*/ 2293918 h 2370488"/>
              <a:gd name="connsiteX1" fmla="*/ 839852 w 4115652"/>
              <a:gd name="connsiteY1" fmla="*/ 2161014 h 2370488"/>
              <a:gd name="connsiteX2" fmla="*/ 148264 w 4115652"/>
              <a:gd name="connsiteY2" fmla="*/ 366259 h 2370488"/>
              <a:gd name="connsiteX3" fmla="*/ 3790252 w 4115652"/>
              <a:gd name="connsiteY3" fmla="*/ 500001 h 2370488"/>
              <a:gd name="connsiteX4" fmla="*/ 3435108 w 4115652"/>
              <a:gd name="connsiteY4" fmla="*/ 2293918 h 2370488"/>
              <a:gd name="connsiteX0" fmla="*/ 2876987 w 3935229"/>
              <a:gd name="connsiteY0" fmla="*/ 1875810 h 2220255"/>
              <a:gd name="connsiteX1" fmla="*/ 828295 w 3935229"/>
              <a:gd name="connsiteY1" fmla="*/ 2144538 h 2220255"/>
              <a:gd name="connsiteX2" fmla="*/ 136707 w 3935229"/>
              <a:gd name="connsiteY2" fmla="*/ 349783 h 2220255"/>
              <a:gd name="connsiteX3" fmla="*/ 3778695 w 3935229"/>
              <a:gd name="connsiteY3" fmla="*/ 483525 h 2220255"/>
              <a:gd name="connsiteX4" fmla="*/ 2876987 w 3935229"/>
              <a:gd name="connsiteY4" fmla="*/ 1875810 h 2220255"/>
              <a:gd name="connsiteX0" fmla="*/ 2876987 w 4046083"/>
              <a:gd name="connsiteY0" fmla="*/ 1875809 h 2182028"/>
              <a:gd name="connsiteX1" fmla="*/ 828295 w 4046083"/>
              <a:gd name="connsiteY1" fmla="*/ 2144537 h 2182028"/>
              <a:gd name="connsiteX2" fmla="*/ 136707 w 4046083"/>
              <a:gd name="connsiteY2" fmla="*/ 349782 h 2182028"/>
              <a:gd name="connsiteX3" fmla="*/ 3778695 w 4046083"/>
              <a:gd name="connsiteY3" fmla="*/ 483524 h 2182028"/>
              <a:gd name="connsiteX4" fmla="*/ 2876987 w 4046083"/>
              <a:gd name="connsiteY4" fmla="*/ 1875809 h 2182028"/>
              <a:gd name="connsiteX0" fmla="*/ 3138775 w 4159643"/>
              <a:gd name="connsiteY0" fmla="*/ 1889731 h 2183521"/>
              <a:gd name="connsiteX1" fmla="*/ 833533 w 4159643"/>
              <a:gd name="connsiteY1" fmla="*/ 2145070 h 2183521"/>
              <a:gd name="connsiteX2" fmla="*/ 141945 w 4159643"/>
              <a:gd name="connsiteY2" fmla="*/ 350315 h 2183521"/>
              <a:gd name="connsiteX3" fmla="*/ 3783933 w 4159643"/>
              <a:gd name="connsiteY3" fmla="*/ 484057 h 2183521"/>
              <a:gd name="connsiteX4" fmla="*/ 3138775 w 4159643"/>
              <a:gd name="connsiteY4" fmla="*/ 1889731 h 2183521"/>
              <a:gd name="connsiteX0" fmla="*/ 3161554 w 4170747"/>
              <a:gd name="connsiteY0" fmla="*/ 1959352 h 2191331"/>
              <a:gd name="connsiteX1" fmla="*/ 834003 w 4170747"/>
              <a:gd name="connsiteY1" fmla="*/ 2147752 h 2191331"/>
              <a:gd name="connsiteX2" fmla="*/ 142415 w 4170747"/>
              <a:gd name="connsiteY2" fmla="*/ 352997 h 2191331"/>
              <a:gd name="connsiteX3" fmla="*/ 3784403 w 4170747"/>
              <a:gd name="connsiteY3" fmla="*/ 486739 h 2191331"/>
              <a:gd name="connsiteX4" fmla="*/ 3161554 w 4170747"/>
              <a:gd name="connsiteY4" fmla="*/ 1959352 h 2191331"/>
              <a:gd name="connsiteX0" fmla="*/ 3124893 w 3923762"/>
              <a:gd name="connsiteY0" fmla="*/ 1959352 h 2193783"/>
              <a:gd name="connsiteX1" fmla="*/ 1143128 w 3923762"/>
              <a:gd name="connsiteY1" fmla="*/ 2027263 h 2193783"/>
              <a:gd name="connsiteX2" fmla="*/ 105754 w 3923762"/>
              <a:gd name="connsiteY2" fmla="*/ 352997 h 2193783"/>
              <a:gd name="connsiteX3" fmla="*/ 3747742 w 3923762"/>
              <a:gd name="connsiteY3" fmla="*/ 486739 h 2193783"/>
              <a:gd name="connsiteX4" fmla="*/ 3124893 w 3923762"/>
              <a:gd name="connsiteY4" fmla="*/ 1959352 h 2193783"/>
              <a:gd name="connsiteX0" fmla="*/ 3134581 w 3936058"/>
              <a:gd name="connsiteY0" fmla="*/ 1959352 h 2193783"/>
              <a:gd name="connsiteX1" fmla="*/ 1041272 w 3936058"/>
              <a:gd name="connsiteY1" fmla="*/ 2027264 h 2193783"/>
              <a:gd name="connsiteX2" fmla="*/ 115442 w 3936058"/>
              <a:gd name="connsiteY2" fmla="*/ 352997 h 2193783"/>
              <a:gd name="connsiteX3" fmla="*/ 3757430 w 3936058"/>
              <a:gd name="connsiteY3" fmla="*/ 486739 h 2193783"/>
              <a:gd name="connsiteX4" fmla="*/ 3134581 w 3936058"/>
              <a:gd name="connsiteY4" fmla="*/ 1959352 h 2193783"/>
              <a:gd name="connsiteX0" fmla="*/ 3143984 w 3945460"/>
              <a:gd name="connsiteY0" fmla="*/ 1959352 h 2068592"/>
              <a:gd name="connsiteX1" fmla="*/ 1050675 w 3945460"/>
              <a:gd name="connsiteY1" fmla="*/ 2027264 h 2068592"/>
              <a:gd name="connsiteX2" fmla="*/ 124845 w 3945460"/>
              <a:gd name="connsiteY2" fmla="*/ 352997 h 2068592"/>
              <a:gd name="connsiteX3" fmla="*/ 3766833 w 3945460"/>
              <a:gd name="connsiteY3" fmla="*/ 486739 h 2068592"/>
              <a:gd name="connsiteX4" fmla="*/ 3143984 w 3945460"/>
              <a:gd name="connsiteY4" fmla="*/ 1959352 h 2068592"/>
              <a:gd name="connsiteX0" fmla="*/ 3083435 w 3880985"/>
              <a:gd name="connsiteY0" fmla="*/ 1890132 h 2118049"/>
              <a:gd name="connsiteX1" fmla="*/ 990126 w 3880985"/>
              <a:gd name="connsiteY1" fmla="*/ 1958044 h 2118049"/>
              <a:gd name="connsiteX2" fmla="*/ 120068 w 3880985"/>
              <a:gd name="connsiteY2" fmla="*/ 377490 h 2118049"/>
              <a:gd name="connsiteX3" fmla="*/ 3706284 w 3880985"/>
              <a:gd name="connsiteY3" fmla="*/ 417519 h 2118049"/>
              <a:gd name="connsiteX4" fmla="*/ 3083435 w 3880985"/>
              <a:gd name="connsiteY4" fmla="*/ 1890132 h 2118049"/>
              <a:gd name="connsiteX0" fmla="*/ 3083435 w 3880985"/>
              <a:gd name="connsiteY0" fmla="*/ 1833464 h 2055830"/>
              <a:gd name="connsiteX1" fmla="*/ 990126 w 3880985"/>
              <a:gd name="connsiteY1" fmla="*/ 1901376 h 2055830"/>
              <a:gd name="connsiteX2" fmla="*/ 120068 w 3880985"/>
              <a:gd name="connsiteY2" fmla="*/ 401148 h 2055830"/>
              <a:gd name="connsiteX3" fmla="*/ 3706284 w 3880985"/>
              <a:gd name="connsiteY3" fmla="*/ 360851 h 2055830"/>
              <a:gd name="connsiteX4" fmla="*/ 3083435 w 3880985"/>
              <a:gd name="connsiteY4" fmla="*/ 1833464 h 2055830"/>
              <a:gd name="connsiteX0" fmla="*/ 3083435 w 3880985"/>
              <a:gd name="connsiteY0" fmla="*/ 1839221 h 2061587"/>
              <a:gd name="connsiteX1" fmla="*/ 990126 w 3880985"/>
              <a:gd name="connsiteY1" fmla="*/ 1907133 h 2061587"/>
              <a:gd name="connsiteX2" fmla="*/ 120068 w 3880985"/>
              <a:gd name="connsiteY2" fmla="*/ 406905 h 2061587"/>
              <a:gd name="connsiteX3" fmla="*/ 3706284 w 3880985"/>
              <a:gd name="connsiteY3" fmla="*/ 366608 h 2061587"/>
              <a:gd name="connsiteX4" fmla="*/ 3083435 w 3880985"/>
              <a:gd name="connsiteY4" fmla="*/ 1839221 h 2061587"/>
              <a:gd name="connsiteX0" fmla="*/ 3071892 w 3869442"/>
              <a:gd name="connsiteY0" fmla="*/ 1839221 h 1961982"/>
              <a:gd name="connsiteX1" fmla="*/ 978583 w 3869442"/>
              <a:gd name="connsiteY1" fmla="*/ 1907133 h 1961982"/>
              <a:gd name="connsiteX2" fmla="*/ 108525 w 3869442"/>
              <a:gd name="connsiteY2" fmla="*/ 406905 h 1961982"/>
              <a:gd name="connsiteX3" fmla="*/ 3694741 w 3869442"/>
              <a:gd name="connsiteY3" fmla="*/ 366608 h 1961982"/>
              <a:gd name="connsiteX4" fmla="*/ 3071892 w 3869442"/>
              <a:gd name="connsiteY4" fmla="*/ 1839221 h 1961982"/>
              <a:gd name="connsiteX0" fmla="*/ 3050525 w 3840979"/>
              <a:gd name="connsiteY0" fmla="*/ 1839221 h 2013444"/>
              <a:gd name="connsiteX1" fmla="*/ 1269538 w 3840979"/>
              <a:gd name="connsiteY1" fmla="*/ 1960684 h 2013444"/>
              <a:gd name="connsiteX2" fmla="*/ 87158 w 3840979"/>
              <a:gd name="connsiteY2" fmla="*/ 406905 h 2013444"/>
              <a:gd name="connsiteX3" fmla="*/ 3673374 w 3840979"/>
              <a:gd name="connsiteY3" fmla="*/ 366608 h 2013444"/>
              <a:gd name="connsiteX4" fmla="*/ 3050525 w 3840979"/>
              <a:gd name="connsiteY4" fmla="*/ 1839221 h 2013444"/>
              <a:gd name="connsiteX0" fmla="*/ 3066110 w 3856564"/>
              <a:gd name="connsiteY0" fmla="*/ 1839221 h 1986899"/>
              <a:gd name="connsiteX1" fmla="*/ 1285123 w 3856564"/>
              <a:gd name="connsiteY1" fmla="*/ 1960684 h 1986899"/>
              <a:gd name="connsiteX2" fmla="*/ 102743 w 3856564"/>
              <a:gd name="connsiteY2" fmla="*/ 406905 h 1986899"/>
              <a:gd name="connsiteX3" fmla="*/ 3688959 w 3856564"/>
              <a:gd name="connsiteY3" fmla="*/ 366608 h 1986899"/>
              <a:gd name="connsiteX4" fmla="*/ 3066110 w 3856564"/>
              <a:gd name="connsiteY4" fmla="*/ 1839221 h 1986899"/>
              <a:gd name="connsiteX0" fmla="*/ 3067811 w 3858755"/>
              <a:gd name="connsiteY0" fmla="*/ 1839221 h 1934566"/>
              <a:gd name="connsiteX1" fmla="*/ 1264516 w 3858755"/>
              <a:gd name="connsiteY1" fmla="*/ 1907134 h 1934566"/>
              <a:gd name="connsiteX2" fmla="*/ 104444 w 3858755"/>
              <a:gd name="connsiteY2" fmla="*/ 406905 h 1934566"/>
              <a:gd name="connsiteX3" fmla="*/ 3690660 w 3858755"/>
              <a:gd name="connsiteY3" fmla="*/ 366608 h 1934566"/>
              <a:gd name="connsiteX4" fmla="*/ 3067811 w 3858755"/>
              <a:gd name="connsiteY4" fmla="*/ 1839221 h 1934566"/>
              <a:gd name="connsiteX0" fmla="*/ 3067811 w 3961725"/>
              <a:gd name="connsiteY0" fmla="*/ 1839221 h 1934566"/>
              <a:gd name="connsiteX1" fmla="*/ 1264516 w 3961725"/>
              <a:gd name="connsiteY1" fmla="*/ 1907134 h 1934566"/>
              <a:gd name="connsiteX2" fmla="*/ 104444 w 3961725"/>
              <a:gd name="connsiteY2" fmla="*/ 406905 h 1934566"/>
              <a:gd name="connsiteX3" fmla="*/ 3690660 w 3961725"/>
              <a:gd name="connsiteY3" fmla="*/ 366608 h 1934566"/>
              <a:gd name="connsiteX4" fmla="*/ 3067811 w 3961725"/>
              <a:gd name="connsiteY4" fmla="*/ 1839221 h 1934566"/>
              <a:gd name="connsiteX0" fmla="*/ 3067811 w 3937744"/>
              <a:gd name="connsiteY0" fmla="*/ 1839221 h 1946915"/>
              <a:gd name="connsiteX1" fmla="*/ 1264516 w 3937744"/>
              <a:gd name="connsiteY1" fmla="*/ 1907134 h 1946915"/>
              <a:gd name="connsiteX2" fmla="*/ 104444 w 3937744"/>
              <a:gd name="connsiteY2" fmla="*/ 406905 h 1946915"/>
              <a:gd name="connsiteX3" fmla="*/ 3690660 w 3937744"/>
              <a:gd name="connsiteY3" fmla="*/ 366608 h 1946915"/>
              <a:gd name="connsiteX4" fmla="*/ 3067811 w 3937744"/>
              <a:gd name="connsiteY4" fmla="*/ 1839221 h 1946915"/>
              <a:gd name="connsiteX0" fmla="*/ 3067811 w 3878265"/>
              <a:gd name="connsiteY0" fmla="*/ 1925537 h 2047176"/>
              <a:gd name="connsiteX1" fmla="*/ 1264516 w 3878265"/>
              <a:gd name="connsiteY1" fmla="*/ 1993450 h 2047176"/>
              <a:gd name="connsiteX2" fmla="*/ 104444 w 3878265"/>
              <a:gd name="connsiteY2" fmla="*/ 493221 h 2047176"/>
              <a:gd name="connsiteX3" fmla="*/ 3690660 w 3878265"/>
              <a:gd name="connsiteY3" fmla="*/ 452924 h 2047176"/>
              <a:gd name="connsiteX4" fmla="*/ 3067811 w 3878265"/>
              <a:gd name="connsiteY4" fmla="*/ 1925537 h 2047176"/>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62528"/>
              <a:gd name="connsiteY0" fmla="*/ 1934962 h 2058180"/>
              <a:gd name="connsiteX1" fmla="*/ 1264516 w 3962528"/>
              <a:gd name="connsiteY1" fmla="*/ 2002875 h 2058180"/>
              <a:gd name="connsiteX2" fmla="*/ 104444 w 3962528"/>
              <a:gd name="connsiteY2" fmla="*/ 502646 h 2058180"/>
              <a:gd name="connsiteX3" fmla="*/ 3690660 w 3962528"/>
              <a:gd name="connsiteY3" fmla="*/ 462349 h 2058180"/>
              <a:gd name="connsiteX4" fmla="*/ 3067811 w 3962528"/>
              <a:gd name="connsiteY4" fmla="*/ 1934962 h 2058180"/>
              <a:gd name="connsiteX0" fmla="*/ 3100043 w 3994760"/>
              <a:gd name="connsiteY0" fmla="*/ 1934963 h 2058181"/>
              <a:gd name="connsiteX1" fmla="*/ 1296748 w 3994760"/>
              <a:gd name="connsiteY1" fmla="*/ 2002876 h 2058181"/>
              <a:gd name="connsiteX2" fmla="*/ 136676 w 3994760"/>
              <a:gd name="connsiteY2" fmla="*/ 502647 h 2058181"/>
              <a:gd name="connsiteX3" fmla="*/ 3722892 w 3994760"/>
              <a:gd name="connsiteY3" fmla="*/ 462350 h 2058181"/>
              <a:gd name="connsiteX4" fmla="*/ 3100043 w 3994760"/>
              <a:gd name="connsiteY4" fmla="*/ 1934963 h 2058181"/>
              <a:gd name="connsiteX0" fmla="*/ 3133588 w 4028305"/>
              <a:gd name="connsiteY0" fmla="*/ 1966913 h 2090131"/>
              <a:gd name="connsiteX1" fmla="*/ 1330293 w 4028305"/>
              <a:gd name="connsiteY1" fmla="*/ 2034826 h 2090131"/>
              <a:gd name="connsiteX2" fmla="*/ 170221 w 4028305"/>
              <a:gd name="connsiteY2" fmla="*/ 534597 h 2090131"/>
              <a:gd name="connsiteX3" fmla="*/ 3756437 w 4028305"/>
              <a:gd name="connsiteY3" fmla="*/ 494300 h 2090131"/>
              <a:gd name="connsiteX4" fmla="*/ 3133588 w 4028305"/>
              <a:gd name="connsiteY4" fmla="*/ 1966913 h 2090131"/>
              <a:gd name="connsiteX0" fmla="*/ 3133588 w 4028305"/>
              <a:gd name="connsiteY0" fmla="*/ 1983116 h 2106334"/>
              <a:gd name="connsiteX1" fmla="*/ 1330293 w 4028305"/>
              <a:gd name="connsiteY1" fmla="*/ 2051029 h 2106334"/>
              <a:gd name="connsiteX2" fmla="*/ 170221 w 4028305"/>
              <a:gd name="connsiteY2" fmla="*/ 550800 h 2106334"/>
              <a:gd name="connsiteX3" fmla="*/ 3756437 w 4028305"/>
              <a:gd name="connsiteY3" fmla="*/ 510503 h 2106334"/>
              <a:gd name="connsiteX4" fmla="*/ 3133588 w 4028305"/>
              <a:gd name="connsiteY4" fmla="*/ 1983116 h 2106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8305" h="2106334">
                <a:moveTo>
                  <a:pt x="3133588" y="1983116"/>
                </a:moveTo>
                <a:cubicBezTo>
                  <a:pt x="2283056" y="1423222"/>
                  <a:pt x="1946887" y="1847952"/>
                  <a:pt x="1330293" y="2051029"/>
                </a:cubicBezTo>
                <a:cubicBezTo>
                  <a:pt x="713699" y="2254106"/>
                  <a:pt x="-433056" y="1421129"/>
                  <a:pt x="170221" y="550800"/>
                </a:cubicBezTo>
                <a:cubicBezTo>
                  <a:pt x="773498" y="-319529"/>
                  <a:pt x="3206771" y="-22745"/>
                  <a:pt x="3756437" y="510503"/>
                </a:cubicBezTo>
                <a:cubicBezTo>
                  <a:pt x="4306103" y="1043751"/>
                  <a:pt x="3984120" y="2543010"/>
                  <a:pt x="3133588" y="1983116"/>
                </a:cubicBezTo>
                <a:close/>
              </a:path>
            </a:pathLst>
          </a:custGeom>
          <a:noFill/>
          <a:ln w="19050">
            <a:solidFill>
              <a:schemeClr val="bg1">
                <a:lumMod val="65000"/>
              </a:schemeClr>
            </a:solidFill>
            <a:prstDash val="sysDot"/>
          </a:ln>
          <a:effectLst/>
          <a:ex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en-US" altLang="zh-CN" sz="1800" b="0" i="0" u="none" strike="noStrike" kern="0" cap="none" spc="0" normalizeH="0" baseline="0" noProof="0" dirty="0" smtClean="0">
              <a:ln>
                <a:noFill/>
              </a:ln>
              <a:solidFill>
                <a:srgbClr val="990000"/>
              </a:solidFill>
              <a:effectLst/>
              <a:uLnTx/>
              <a:uFillTx/>
              <a:latin typeface="Huawei Sans" panose="020C0503030203020204" pitchFamily="34" charset="0"/>
            </a:endParaRPr>
          </a:p>
        </p:txBody>
      </p:sp>
      <p:sp>
        <p:nvSpPr>
          <p:cNvPr id="57" name="任意多边形 56"/>
          <p:cNvSpPr/>
          <p:nvPr/>
        </p:nvSpPr>
        <p:spPr bwMode="gray">
          <a:xfrm>
            <a:off x="649823" y="2275225"/>
            <a:ext cx="417169" cy="279140"/>
          </a:xfrm>
          <a:custGeom>
            <a:avLst/>
            <a:gdLst>
              <a:gd name="connsiteX0" fmla="*/ 1445348 w 3650295"/>
              <a:gd name="connsiteY0" fmla="*/ 2411363 h 2422073"/>
              <a:gd name="connsiteX1" fmla="*/ 906334 w 3650295"/>
              <a:gd name="connsiteY1" fmla="*/ 2295860 h 2422073"/>
              <a:gd name="connsiteX2" fmla="*/ 271066 w 3650295"/>
              <a:gd name="connsiteY2" fmla="*/ 1448836 h 2422073"/>
              <a:gd name="connsiteX3" fmla="*/ 88186 w 3650295"/>
              <a:gd name="connsiteY3" fmla="*/ 803944 h 2422073"/>
              <a:gd name="connsiteX4" fmla="*/ 49685 w 3650295"/>
              <a:gd name="connsiteY4" fmla="*/ 139801 h 2422073"/>
              <a:gd name="connsiteX5" fmla="*/ 781205 w 3650295"/>
              <a:gd name="connsiteY5" fmla="*/ 53173 h 2422073"/>
              <a:gd name="connsiteX6" fmla="*/ 1916986 w 3650295"/>
              <a:gd name="connsiteY6" fmla="*/ 784693 h 2422073"/>
              <a:gd name="connsiteX7" fmla="*/ 2600380 w 3650295"/>
              <a:gd name="connsiteY7" fmla="*/ 1160079 h 2422073"/>
              <a:gd name="connsiteX8" fmla="*/ 3620658 w 3650295"/>
              <a:gd name="connsiteY8" fmla="*/ 1650967 h 2422073"/>
              <a:gd name="connsiteX9" fmla="*/ 3235647 w 3650295"/>
              <a:gd name="connsiteY9" fmla="*/ 2276609 h 2422073"/>
              <a:gd name="connsiteX10" fmla="*/ 1811108 w 3650295"/>
              <a:gd name="connsiteY10" fmla="*/ 2401737 h 2422073"/>
              <a:gd name="connsiteX11" fmla="*/ 1445348 w 3650295"/>
              <a:gd name="connsiteY11" fmla="*/ 2411363 h 2422073"/>
              <a:gd name="connsiteX0" fmla="*/ 1454242 w 3659189"/>
              <a:gd name="connsiteY0" fmla="*/ 2435890 h 2446600"/>
              <a:gd name="connsiteX1" fmla="*/ 915228 w 3659189"/>
              <a:gd name="connsiteY1" fmla="*/ 2320387 h 2446600"/>
              <a:gd name="connsiteX2" fmla="*/ 279960 w 3659189"/>
              <a:gd name="connsiteY2" fmla="*/ 1473363 h 2446600"/>
              <a:gd name="connsiteX3" fmla="*/ 70868 w 3659189"/>
              <a:gd name="connsiteY3" fmla="*/ 1346021 h 2446600"/>
              <a:gd name="connsiteX4" fmla="*/ 58579 w 3659189"/>
              <a:gd name="connsiteY4" fmla="*/ 164328 h 2446600"/>
              <a:gd name="connsiteX5" fmla="*/ 790099 w 3659189"/>
              <a:gd name="connsiteY5" fmla="*/ 77700 h 2446600"/>
              <a:gd name="connsiteX6" fmla="*/ 1925880 w 3659189"/>
              <a:gd name="connsiteY6" fmla="*/ 809220 h 2446600"/>
              <a:gd name="connsiteX7" fmla="*/ 2609274 w 3659189"/>
              <a:gd name="connsiteY7" fmla="*/ 1184606 h 2446600"/>
              <a:gd name="connsiteX8" fmla="*/ 3629552 w 3659189"/>
              <a:gd name="connsiteY8" fmla="*/ 1675494 h 2446600"/>
              <a:gd name="connsiteX9" fmla="*/ 3244541 w 3659189"/>
              <a:gd name="connsiteY9" fmla="*/ 2301136 h 2446600"/>
              <a:gd name="connsiteX10" fmla="*/ 1820002 w 3659189"/>
              <a:gd name="connsiteY10" fmla="*/ 2426264 h 2446600"/>
              <a:gd name="connsiteX11" fmla="*/ 1454242 w 3659189"/>
              <a:gd name="connsiteY11" fmla="*/ 2435890 h 2446600"/>
              <a:gd name="connsiteX0" fmla="*/ 1455350 w 3660297"/>
              <a:gd name="connsiteY0" fmla="*/ 2435890 h 2446600"/>
              <a:gd name="connsiteX1" fmla="*/ 916336 w 3660297"/>
              <a:gd name="connsiteY1" fmla="*/ 2320387 h 2446600"/>
              <a:gd name="connsiteX2" fmla="*/ 307281 w 3660297"/>
              <a:gd name="connsiteY2" fmla="*/ 1833399 h 2446600"/>
              <a:gd name="connsiteX3" fmla="*/ 71976 w 3660297"/>
              <a:gd name="connsiteY3" fmla="*/ 1346021 h 2446600"/>
              <a:gd name="connsiteX4" fmla="*/ 59687 w 3660297"/>
              <a:gd name="connsiteY4" fmla="*/ 164328 h 2446600"/>
              <a:gd name="connsiteX5" fmla="*/ 791207 w 3660297"/>
              <a:gd name="connsiteY5" fmla="*/ 77700 h 2446600"/>
              <a:gd name="connsiteX6" fmla="*/ 1926988 w 3660297"/>
              <a:gd name="connsiteY6" fmla="*/ 809220 h 2446600"/>
              <a:gd name="connsiteX7" fmla="*/ 2610382 w 3660297"/>
              <a:gd name="connsiteY7" fmla="*/ 1184606 h 2446600"/>
              <a:gd name="connsiteX8" fmla="*/ 3630660 w 3660297"/>
              <a:gd name="connsiteY8" fmla="*/ 1675494 h 2446600"/>
              <a:gd name="connsiteX9" fmla="*/ 3245649 w 3660297"/>
              <a:gd name="connsiteY9" fmla="*/ 2301136 h 2446600"/>
              <a:gd name="connsiteX10" fmla="*/ 1821110 w 3660297"/>
              <a:gd name="connsiteY10" fmla="*/ 2426264 h 2446600"/>
              <a:gd name="connsiteX11" fmla="*/ 1455350 w 3660297"/>
              <a:gd name="connsiteY11" fmla="*/ 2435890 h 2446600"/>
              <a:gd name="connsiteX0" fmla="*/ 1455350 w 3660297"/>
              <a:gd name="connsiteY0" fmla="*/ 2345882 h 2426816"/>
              <a:gd name="connsiteX1" fmla="*/ 916336 w 3660297"/>
              <a:gd name="connsiteY1" fmla="*/ 2320387 h 2426816"/>
              <a:gd name="connsiteX2" fmla="*/ 307281 w 3660297"/>
              <a:gd name="connsiteY2" fmla="*/ 1833399 h 2426816"/>
              <a:gd name="connsiteX3" fmla="*/ 71976 w 3660297"/>
              <a:gd name="connsiteY3" fmla="*/ 1346021 h 2426816"/>
              <a:gd name="connsiteX4" fmla="*/ 59687 w 3660297"/>
              <a:gd name="connsiteY4" fmla="*/ 164328 h 2426816"/>
              <a:gd name="connsiteX5" fmla="*/ 791207 w 3660297"/>
              <a:gd name="connsiteY5" fmla="*/ 77700 h 2426816"/>
              <a:gd name="connsiteX6" fmla="*/ 1926988 w 3660297"/>
              <a:gd name="connsiteY6" fmla="*/ 809220 h 2426816"/>
              <a:gd name="connsiteX7" fmla="*/ 2610382 w 3660297"/>
              <a:gd name="connsiteY7" fmla="*/ 1184606 h 2426816"/>
              <a:gd name="connsiteX8" fmla="*/ 3630660 w 3660297"/>
              <a:gd name="connsiteY8" fmla="*/ 1675494 h 2426816"/>
              <a:gd name="connsiteX9" fmla="*/ 3245649 w 3660297"/>
              <a:gd name="connsiteY9" fmla="*/ 2301136 h 2426816"/>
              <a:gd name="connsiteX10" fmla="*/ 1821110 w 3660297"/>
              <a:gd name="connsiteY10" fmla="*/ 2426264 h 2426816"/>
              <a:gd name="connsiteX11" fmla="*/ 1455350 w 3660297"/>
              <a:gd name="connsiteY11" fmla="*/ 2345882 h 2426816"/>
              <a:gd name="connsiteX0" fmla="*/ 1455350 w 3658950"/>
              <a:gd name="connsiteY0" fmla="*/ 2345882 h 2431610"/>
              <a:gd name="connsiteX1" fmla="*/ 916336 w 3658950"/>
              <a:gd name="connsiteY1" fmla="*/ 2320387 h 2431610"/>
              <a:gd name="connsiteX2" fmla="*/ 307281 w 3658950"/>
              <a:gd name="connsiteY2" fmla="*/ 1833399 h 2431610"/>
              <a:gd name="connsiteX3" fmla="*/ 71976 w 3658950"/>
              <a:gd name="connsiteY3" fmla="*/ 1346021 h 2431610"/>
              <a:gd name="connsiteX4" fmla="*/ 59687 w 3658950"/>
              <a:gd name="connsiteY4" fmla="*/ 164328 h 2431610"/>
              <a:gd name="connsiteX5" fmla="*/ 791207 w 3658950"/>
              <a:gd name="connsiteY5" fmla="*/ 77700 h 2431610"/>
              <a:gd name="connsiteX6" fmla="*/ 1926988 w 3658950"/>
              <a:gd name="connsiteY6" fmla="*/ 809220 h 2431610"/>
              <a:gd name="connsiteX7" fmla="*/ 2610382 w 3658950"/>
              <a:gd name="connsiteY7" fmla="*/ 1184606 h 2431610"/>
              <a:gd name="connsiteX8" fmla="*/ 3630660 w 3658950"/>
              <a:gd name="connsiteY8" fmla="*/ 1675494 h 2431610"/>
              <a:gd name="connsiteX9" fmla="*/ 3236912 w 3658950"/>
              <a:gd name="connsiteY9" fmla="*/ 2177374 h 2431610"/>
              <a:gd name="connsiteX10" fmla="*/ 1821110 w 3658950"/>
              <a:gd name="connsiteY10" fmla="*/ 2426264 h 2431610"/>
              <a:gd name="connsiteX11" fmla="*/ 1455350 w 3658950"/>
              <a:gd name="connsiteY11" fmla="*/ 2345882 h 2431610"/>
              <a:gd name="connsiteX0" fmla="*/ 1386393 w 3589993"/>
              <a:gd name="connsiteY0" fmla="*/ 2269856 h 2355585"/>
              <a:gd name="connsiteX1" fmla="*/ 847379 w 3589993"/>
              <a:gd name="connsiteY1" fmla="*/ 2244361 h 2355585"/>
              <a:gd name="connsiteX2" fmla="*/ 238324 w 3589993"/>
              <a:gd name="connsiteY2" fmla="*/ 1757373 h 2355585"/>
              <a:gd name="connsiteX3" fmla="*/ 3019 w 3589993"/>
              <a:gd name="connsiteY3" fmla="*/ 1269995 h 2355585"/>
              <a:gd name="connsiteX4" fmla="*/ 148007 w 3589993"/>
              <a:gd name="connsiteY4" fmla="*/ 954636 h 2355585"/>
              <a:gd name="connsiteX5" fmla="*/ 722250 w 3589993"/>
              <a:gd name="connsiteY5" fmla="*/ 1674 h 2355585"/>
              <a:gd name="connsiteX6" fmla="*/ 1858031 w 3589993"/>
              <a:gd name="connsiteY6" fmla="*/ 733194 h 2355585"/>
              <a:gd name="connsiteX7" fmla="*/ 2541425 w 3589993"/>
              <a:gd name="connsiteY7" fmla="*/ 1108580 h 2355585"/>
              <a:gd name="connsiteX8" fmla="*/ 3561703 w 3589993"/>
              <a:gd name="connsiteY8" fmla="*/ 1599468 h 2355585"/>
              <a:gd name="connsiteX9" fmla="*/ 3167955 w 3589993"/>
              <a:gd name="connsiteY9" fmla="*/ 2101348 h 2355585"/>
              <a:gd name="connsiteX10" fmla="*/ 1752153 w 3589993"/>
              <a:gd name="connsiteY10" fmla="*/ 2350238 h 2355585"/>
              <a:gd name="connsiteX11" fmla="*/ 1386393 w 3589993"/>
              <a:gd name="connsiteY11" fmla="*/ 2269856 h 2355585"/>
              <a:gd name="connsiteX0" fmla="*/ 1388240 w 3591840"/>
              <a:gd name="connsiteY0" fmla="*/ 1541340 h 1627069"/>
              <a:gd name="connsiteX1" fmla="*/ 849226 w 3591840"/>
              <a:gd name="connsiteY1" fmla="*/ 1515845 h 1627069"/>
              <a:gd name="connsiteX2" fmla="*/ 240171 w 3591840"/>
              <a:gd name="connsiteY2" fmla="*/ 1028857 h 1627069"/>
              <a:gd name="connsiteX3" fmla="*/ 4866 w 3591840"/>
              <a:gd name="connsiteY3" fmla="*/ 541479 h 1627069"/>
              <a:gd name="connsiteX4" fmla="*/ 149854 w 3591840"/>
              <a:gd name="connsiteY4" fmla="*/ 226120 h 1627069"/>
              <a:gd name="connsiteX5" fmla="*/ 890111 w 3591840"/>
              <a:gd name="connsiteY5" fmla="*/ 173246 h 1627069"/>
              <a:gd name="connsiteX6" fmla="*/ 1859878 w 3591840"/>
              <a:gd name="connsiteY6" fmla="*/ 4678 h 1627069"/>
              <a:gd name="connsiteX7" fmla="*/ 2543272 w 3591840"/>
              <a:gd name="connsiteY7" fmla="*/ 380064 h 1627069"/>
              <a:gd name="connsiteX8" fmla="*/ 3563550 w 3591840"/>
              <a:gd name="connsiteY8" fmla="*/ 870952 h 1627069"/>
              <a:gd name="connsiteX9" fmla="*/ 3169802 w 3591840"/>
              <a:gd name="connsiteY9" fmla="*/ 1372832 h 1627069"/>
              <a:gd name="connsiteX10" fmla="*/ 1754000 w 3591840"/>
              <a:gd name="connsiteY10" fmla="*/ 1621722 h 1627069"/>
              <a:gd name="connsiteX11" fmla="*/ 1388240 w 3591840"/>
              <a:gd name="connsiteY11" fmla="*/ 1541340 h 1627069"/>
              <a:gd name="connsiteX0" fmla="*/ 1388240 w 3591840"/>
              <a:gd name="connsiteY0" fmla="*/ 1394005 h 1479734"/>
              <a:gd name="connsiteX1" fmla="*/ 849226 w 3591840"/>
              <a:gd name="connsiteY1" fmla="*/ 1368510 h 1479734"/>
              <a:gd name="connsiteX2" fmla="*/ 240171 w 3591840"/>
              <a:gd name="connsiteY2" fmla="*/ 881522 h 1479734"/>
              <a:gd name="connsiteX3" fmla="*/ 4866 w 3591840"/>
              <a:gd name="connsiteY3" fmla="*/ 394144 h 1479734"/>
              <a:gd name="connsiteX4" fmla="*/ 149854 w 3591840"/>
              <a:gd name="connsiteY4" fmla="*/ 78785 h 1479734"/>
              <a:gd name="connsiteX5" fmla="*/ 890111 w 3591840"/>
              <a:gd name="connsiteY5" fmla="*/ 25911 h 1479734"/>
              <a:gd name="connsiteX6" fmla="*/ 1859878 w 3591840"/>
              <a:gd name="connsiteY6" fmla="*/ 14858 h 1479734"/>
              <a:gd name="connsiteX7" fmla="*/ 2543272 w 3591840"/>
              <a:gd name="connsiteY7" fmla="*/ 232729 h 1479734"/>
              <a:gd name="connsiteX8" fmla="*/ 3563550 w 3591840"/>
              <a:gd name="connsiteY8" fmla="*/ 723617 h 1479734"/>
              <a:gd name="connsiteX9" fmla="*/ 3169802 w 3591840"/>
              <a:gd name="connsiteY9" fmla="*/ 1225497 h 1479734"/>
              <a:gd name="connsiteX10" fmla="*/ 1754000 w 3591840"/>
              <a:gd name="connsiteY10" fmla="*/ 1474387 h 1479734"/>
              <a:gd name="connsiteX11" fmla="*/ 1388240 w 3591840"/>
              <a:gd name="connsiteY11" fmla="*/ 1394005 h 1479734"/>
              <a:gd name="connsiteX0" fmla="*/ 1388240 w 3591840"/>
              <a:gd name="connsiteY0" fmla="*/ 1394005 h 1423588"/>
              <a:gd name="connsiteX1" fmla="*/ 849226 w 3591840"/>
              <a:gd name="connsiteY1" fmla="*/ 1368510 h 1423588"/>
              <a:gd name="connsiteX2" fmla="*/ 240171 w 3591840"/>
              <a:gd name="connsiteY2" fmla="*/ 881522 h 1423588"/>
              <a:gd name="connsiteX3" fmla="*/ 4866 w 3591840"/>
              <a:gd name="connsiteY3" fmla="*/ 394144 h 1423588"/>
              <a:gd name="connsiteX4" fmla="*/ 149854 w 3591840"/>
              <a:gd name="connsiteY4" fmla="*/ 78785 h 1423588"/>
              <a:gd name="connsiteX5" fmla="*/ 890111 w 3591840"/>
              <a:gd name="connsiteY5" fmla="*/ 25911 h 1423588"/>
              <a:gd name="connsiteX6" fmla="*/ 1859878 w 3591840"/>
              <a:gd name="connsiteY6" fmla="*/ 14858 h 1423588"/>
              <a:gd name="connsiteX7" fmla="*/ 2543272 w 3591840"/>
              <a:gd name="connsiteY7" fmla="*/ 232729 h 1423588"/>
              <a:gd name="connsiteX8" fmla="*/ 3563550 w 3591840"/>
              <a:gd name="connsiteY8" fmla="*/ 723617 h 1423588"/>
              <a:gd name="connsiteX9" fmla="*/ 3169802 w 3591840"/>
              <a:gd name="connsiteY9" fmla="*/ 1225497 h 1423588"/>
              <a:gd name="connsiteX10" fmla="*/ 2269517 w 3591840"/>
              <a:gd name="connsiteY10" fmla="*/ 1204361 h 1423588"/>
              <a:gd name="connsiteX11" fmla="*/ 1388240 w 3591840"/>
              <a:gd name="connsiteY11" fmla="*/ 1394005 h 1423588"/>
              <a:gd name="connsiteX0" fmla="*/ 1388240 w 3568710"/>
              <a:gd name="connsiteY0" fmla="*/ 1734542 h 1764125"/>
              <a:gd name="connsiteX1" fmla="*/ 849226 w 3568710"/>
              <a:gd name="connsiteY1" fmla="*/ 1709047 h 1764125"/>
              <a:gd name="connsiteX2" fmla="*/ 240171 w 3568710"/>
              <a:gd name="connsiteY2" fmla="*/ 1222059 h 1764125"/>
              <a:gd name="connsiteX3" fmla="*/ 4866 w 3568710"/>
              <a:gd name="connsiteY3" fmla="*/ 734681 h 1764125"/>
              <a:gd name="connsiteX4" fmla="*/ 149854 w 3568710"/>
              <a:gd name="connsiteY4" fmla="*/ 419322 h 1764125"/>
              <a:gd name="connsiteX5" fmla="*/ 890111 w 3568710"/>
              <a:gd name="connsiteY5" fmla="*/ 366448 h 1764125"/>
              <a:gd name="connsiteX6" fmla="*/ 1859878 w 3568710"/>
              <a:gd name="connsiteY6" fmla="*/ 355395 h 1764125"/>
              <a:gd name="connsiteX7" fmla="*/ 2971414 w 3568710"/>
              <a:gd name="connsiteY7" fmla="*/ 21963 h 1764125"/>
              <a:gd name="connsiteX8" fmla="*/ 3563550 w 3568710"/>
              <a:gd name="connsiteY8" fmla="*/ 1064154 h 1764125"/>
              <a:gd name="connsiteX9" fmla="*/ 3169802 w 3568710"/>
              <a:gd name="connsiteY9" fmla="*/ 1566034 h 1764125"/>
              <a:gd name="connsiteX10" fmla="*/ 2269517 w 3568710"/>
              <a:gd name="connsiteY10" fmla="*/ 1544898 h 1764125"/>
              <a:gd name="connsiteX11" fmla="*/ 1388240 w 3568710"/>
              <a:gd name="connsiteY11" fmla="*/ 1734542 h 1764125"/>
              <a:gd name="connsiteX0" fmla="*/ 1388240 w 3568709"/>
              <a:gd name="connsiteY0" fmla="*/ 1769505 h 1799088"/>
              <a:gd name="connsiteX1" fmla="*/ 849226 w 3568709"/>
              <a:gd name="connsiteY1" fmla="*/ 1744010 h 1799088"/>
              <a:gd name="connsiteX2" fmla="*/ 240171 w 3568709"/>
              <a:gd name="connsiteY2" fmla="*/ 1257022 h 1799088"/>
              <a:gd name="connsiteX3" fmla="*/ 4866 w 3568709"/>
              <a:gd name="connsiteY3" fmla="*/ 769644 h 1799088"/>
              <a:gd name="connsiteX4" fmla="*/ 149854 w 3568709"/>
              <a:gd name="connsiteY4" fmla="*/ 454285 h 1799088"/>
              <a:gd name="connsiteX5" fmla="*/ 890111 w 3568709"/>
              <a:gd name="connsiteY5" fmla="*/ 401411 h 1799088"/>
              <a:gd name="connsiteX6" fmla="*/ 1859878 w 3568709"/>
              <a:gd name="connsiteY6" fmla="*/ 165337 h 1799088"/>
              <a:gd name="connsiteX7" fmla="*/ 2971414 w 3568709"/>
              <a:gd name="connsiteY7" fmla="*/ 56926 h 1799088"/>
              <a:gd name="connsiteX8" fmla="*/ 3563550 w 3568709"/>
              <a:gd name="connsiteY8" fmla="*/ 1099117 h 1799088"/>
              <a:gd name="connsiteX9" fmla="*/ 3169802 w 3568709"/>
              <a:gd name="connsiteY9" fmla="*/ 1600997 h 1799088"/>
              <a:gd name="connsiteX10" fmla="*/ 2269517 w 3568709"/>
              <a:gd name="connsiteY10" fmla="*/ 1579861 h 1799088"/>
              <a:gd name="connsiteX11" fmla="*/ 1388240 w 3568709"/>
              <a:gd name="connsiteY11" fmla="*/ 1769505 h 1799088"/>
              <a:gd name="connsiteX0" fmla="*/ 1387271 w 3567740"/>
              <a:gd name="connsiteY0" fmla="*/ 1769505 h 1799088"/>
              <a:gd name="connsiteX1" fmla="*/ 848257 w 3567740"/>
              <a:gd name="connsiteY1" fmla="*/ 1744010 h 1799088"/>
              <a:gd name="connsiteX2" fmla="*/ 239202 w 3567740"/>
              <a:gd name="connsiteY2" fmla="*/ 1257022 h 1799088"/>
              <a:gd name="connsiteX3" fmla="*/ 3897 w 3567740"/>
              <a:gd name="connsiteY3" fmla="*/ 769644 h 1799088"/>
              <a:gd name="connsiteX4" fmla="*/ 148885 w 3567740"/>
              <a:gd name="connsiteY4" fmla="*/ 454285 h 1799088"/>
              <a:gd name="connsiteX5" fmla="*/ 816849 w 3567740"/>
              <a:gd name="connsiteY5" fmla="*/ 241559 h 1799088"/>
              <a:gd name="connsiteX6" fmla="*/ 889142 w 3567740"/>
              <a:gd name="connsiteY6" fmla="*/ 401411 h 1799088"/>
              <a:gd name="connsiteX7" fmla="*/ 1858909 w 3567740"/>
              <a:gd name="connsiteY7" fmla="*/ 165337 h 1799088"/>
              <a:gd name="connsiteX8" fmla="*/ 2970445 w 3567740"/>
              <a:gd name="connsiteY8" fmla="*/ 56926 h 1799088"/>
              <a:gd name="connsiteX9" fmla="*/ 3562581 w 3567740"/>
              <a:gd name="connsiteY9" fmla="*/ 1099117 h 1799088"/>
              <a:gd name="connsiteX10" fmla="*/ 3168833 w 3567740"/>
              <a:gd name="connsiteY10" fmla="*/ 1600997 h 1799088"/>
              <a:gd name="connsiteX11" fmla="*/ 2268548 w 3567740"/>
              <a:gd name="connsiteY11" fmla="*/ 1579861 h 1799088"/>
              <a:gd name="connsiteX12" fmla="*/ 1387271 w 3567740"/>
              <a:gd name="connsiteY12" fmla="*/ 1769505 h 1799088"/>
              <a:gd name="connsiteX0" fmla="*/ 1387271 w 3567740"/>
              <a:gd name="connsiteY0" fmla="*/ 1765635 h 1795218"/>
              <a:gd name="connsiteX1" fmla="*/ 848257 w 3567740"/>
              <a:gd name="connsiteY1" fmla="*/ 1740140 h 1795218"/>
              <a:gd name="connsiteX2" fmla="*/ 239202 w 3567740"/>
              <a:gd name="connsiteY2" fmla="*/ 1253152 h 1795218"/>
              <a:gd name="connsiteX3" fmla="*/ 3897 w 3567740"/>
              <a:gd name="connsiteY3" fmla="*/ 765774 h 1795218"/>
              <a:gd name="connsiteX4" fmla="*/ 148885 w 3567740"/>
              <a:gd name="connsiteY4" fmla="*/ 450415 h 1795218"/>
              <a:gd name="connsiteX5" fmla="*/ 816849 w 3567740"/>
              <a:gd name="connsiteY5" fmla="*/ 237689 h 1795218"/>
              <a:gd name="connsiteX6" fmla="*/ 1858909 w 3567740"/>
              <a:gd name="connsiteY6" fmla="*/ 161467 h 1795218"/>
              <a:gd name="connsiteX7" fmla="*/ 2970445 w 3567740"/>
              <a:gd name="connsiteY7" fmla="*/ 53056 h 1795218"/>
              <a:gd name="connsiteX8" fmla="*/ 3562581 w 3567740"/>
              <a:gd name="connsiteY8" fmla="*/ 1095247 h 1795218"/>
              <a:gd name="connsiteX9" fmla="*/ 3168833 w 3567740"/>
              <a:gd name="connsiteY9" fmla="*/ 1597127 h 1795218"/>
              <a:gd name="connsiteX10" fmla="*/ 2268548 w 3567740"/>
              <a:gd name="connsiteY10" fmla="*/ 1575991 h 1795218"/>
              <a:gd name="connsiteX11" fmla="*/ 1387271 w 3567740"/>
              <a:gd name="connsiteY11" fmla="*/ 1765635 h 1795218"/>
              <a:gd name="connsiteX0" fmla="*/ 1535809 w 3567740"/>
              <a:gd name="connsiteY0" fmla="*/ 1675626 h 1763651"/>
              <a:gd name="connsiteX1" fmla="*/ 848257 w 3567740"/>
              <a:gd name="connsiteY1" fmla="*/ 1740140 h 1763651"/>
              <a:gd name="connsiteX2" fmla="*/ 239202 w 3567740"/>
              <a:gd name="connsiteY2" fmla="*/ 1253152 h 1763651"/>
              <a:gd name="connsiteX3" fmla="*/ 3897 w 3567740"/>
              <a:gd name="connsiteY3" fmla="*/ 765774 h 1763651"/>
              <a:gd name="connsiteX4" fmla="*/ 148885 w 3567740"/>
              <a:gd name="connsiteY4" fmla="*/ 450415 h 1763651"/>
              <a:gd name="connsiteX5" fmla="*/ 816849 w 3567740"/>
              <a:gd name="connsiteY5" fmla="*/ 237689 h 1763651"/>
              <a:gd name="connsiteX6" fmla="*/ 1858909 w 3567740"/>
              <a:gd name="connsiteY6" fmla="*/ 161467 h 1763651"/>
              <a:gd name="connsiteX7" fmla="*/ 2970445 w 3567740"/>
              <a:gd name="connsiteY7" fmla="*/ 53056 h 1763651"/>
              <a:gd name="connsiteX8" fmla="*/ 3562581 w 3567740"/>
              <a:gd name="connsiteY8" fmla="*/ 1095247 h 1763651"/>
              <a:gd name="connsiteX9" fmla="*/ 3168833 w 3567740"/>
              <a:gd name="connsiteY9" fmla="*/ 1597127 h 1763651"/>
              <a:gd name="connsiteX10" fmla="*/ 2268548 w 3567740"/>
              <a:gd name="connsiteY10" fmla="*/ 1575991 h 1763651"/>
              <a:gd name="connsiteX11" fmla="*/ 1535809 w 3567740"/>
              <a:gd name="connsiteY11" fmla="*/ 1675626 h 1763651"/>
              <a:gd name="connsiteX0" fmla="*/ 1535809 w 3567740"/>
              <a:gd name="connsiteY0" fmla="*/ 1675626 h 1701030"/>
              <a:gd name="connsiteX1" fmla="*/ 769619 w 3567740"/>
              <a:gd name="connsiteY1" fmla="*/ 1661383 h 1701030"/>
              <a:gd name="connsiteX2" fmla="*/ 239202 w 3567740"/>
              <a:gd name="connsiteY2" fmla="*/ 1253152 h 1701030"/>
              <a:gd name="connsiteX3" fmla="*/ 3897 w 3567740"/>
              <a:gd name="connsiteY3" fmla="*/ 765774 h 1701030"/>
              <a:gd name="connsiteX4" fmla="*/ 148885 w 3567740"/>
              <a:gd name="connsiteY4" fmla="*/ 450415 h 1701030"/>
              <a:gd name="connsiteX5" fmla="*/ 816849 w 3567740"/>
              <a:gd name="connsiteY5" fmla="*/ 237689 h 1701030"/>
              <a:gd name="connsiteX6" fmla="*/ 1858909 w 3567740"/>
              <a:gd name="connsiteY6" fmla="*/ 161467 h 1701030"/>
              <a:gd name="connsiteX7" fmla="*/ 2970445 w 3567740"/>
              <a:gd name="connsiteY7" fmla="*/ 53056 h 1701030"/>
              <a:gd name="connsiteX8" fmla="*/ 3562581 w 3567740"/>
              <a:gd name="connsiteY8" fmla="*/ 1095247 h 1701030"/>
              <a:gd name="connsiteX9" fmla="*/ 3168833 w 3567740"/>
              <a:gd name="connsiteY9" fmla="*/ 1597127 h 1701030"/>
              <a:gd name="connsiteX10" fmla="*/ 2268548 w 3567740"/>
              <a:gd name="connsiteY10" fmla="*/ 1575991 h 1701030"/>
              <a:gd name="connsiteX11" fmla="*/ 1535809 w 3567740"/>
              <a:gd name="connsiteY11" fmla="*/ 1675626 h 1701030"/>
              <a:gd name="connsiteX0" fmla="*/ 1535809 w 3567740"/>
              <a:gd name="connsiteY0" fmla="*/ 1675626 h 1708024"/>
              <a:gd name="connsiteX1" fmla="*/ 769619 w 3567740"/>
              <a:gd name="connsiteY1" fmla="*/ 1661383 h 1708024"/>
              <a:gd name="connsiteX2" fmla="*/ 239202 w 3567740"/>
              <a:gd name="connsiteY2" fmla="*/ 1253152 h 1708024"/>
              <a:gd name="connsiteX3" fmla="*/ 3897 w 3567740"/>
              <a:gd name="connsiteY3" fmla="*/ 765774 h 1708024"/>
              <a:gd name="connsiteX4" fmla="*/ 148885 w 3567740"/>
              <a:gd name="connsiteY4" fmla="*/ 450415 h 1708024"/>
              <a:gd name="connsiteX5" fmla="*/ 816849 w 3567740"/>
              <a:gd name="connsiteY5" fmla="*/ 237689 h 1708024"/>
              <a:gd name="connsiteX6" fmla="*/ 1858909 w 3567740"/>
              <a:gd name="connsiteY6" fmla="*/ 161467 h 1708024"/>
              <a:gd name="connsiteX7" fmla="*/ 2970445 w 3567740"/>
              <a:gd name="connsiteY7" fmla="*/ 53056 h 1708024"/>
              <a:gd name="connsiteX8" fmla="*/ 3562581 w 3567740"/>
              <a:gd name="connsiteY8" fmla="*/ 1095247 h 1708024"/>
              <a:gd name="connsiteX9" fmla="*/ 3168833 w 3567740"/>
              <a:gd name="connsiteY9" fmla="*/ 1597127 h 1708024"/>
              <a:gd name="connsiteX10" fmla="*/ 2294761 w 3567740"/>
              <a:gd name="connsiteY10" fmla="*/ 1452229 h 1708024"/>
              <a:gd name="connsiteX11" fmla="*/ 1535809 w 3567740"/>
              <a:gd name="connsiteY11" fmla="*/ 1675626 h 1708024"/>
              <a:gd name="connsiteX0" fmla="*/ 1535809 w 3585169"/>
              <a:gd name="connsiteY0" fmla="*/ 1675626 h 1708025"/>
              <a:gd name="connsiteX1" fmla="*/ 769619 w 3585169"/>
              <a:gd name="connsiteY1" fmla="*/ 1661383 h 1708025"/>
              <a:gd name="connsiteX2" fmla="*/ 239202 w 3585169"/>
              <a:gd name="connsiteY2" fmla="*/ 1253152 h 1708025"/>
              <a:gd name="connsiteX3" fmla="*/ 3897 w 3585169"/>
              <a:gd name="connsiteY3" fmla="*/ 765774 h 1708025"/>
              <a:gd name="connsiteX4" fmla="*/ 148885 w 3585169"/>
              <a:gd name="connsiteY4" fmla="*/ 450415 h 1708025"/>
              <a:gd name="connsiteX5" fmla="*/ 816849 w 3585169"/>
              <a:gd name="connsiteY5" fmla="*/ 237689 h 1708025"/>
              <a:gd name="connsiteX6" fmla="*/ 1858909 w 3585169"/>
              <a:gd name="connsiteY6" fmla="*/ 161467 h 1708025"/>
              <a:gd name="connsiteX7" fmla="*/ 2970445 w 3585169"/>
              <a:gd name="connsiteY7" fmla="*/ 53056 h 1708025"/>
              <a:gd name="connsiteX8" fmla="*/ 3562581 w 3585169"/>
              <a:gd name="connsiteY8" fmla="*/ 1095247 h 1708025"/>
              <a:gd name="connsiteX9" fmla="*/ 3291159 w 3585169"/>
              <a:gd name="connsiteY9" fmla="*/ 1552123 h 1708025"/>
              <a:gd name="connsiteX10" fmla="*/ 2294761 w 3585169"/>
              <a:gd name="connsiteY10" fmla="*/ 1452229 h 1708025"/>
              <a:gd name="connsiteX11" fmla="*/ 1535809 w 3585169"/>
              <a:gd name="connsiteY11" fmla="*/ 1675626 h 1708025"/>
              <a:gd name="connsiteX0" fmla="*/ 1535809 w 3490171"/>
              <a:gd name="connsiteY0" fmla="*/ 1656292 h 1688691"/>
              <a:gd name="connsiteX1" fmla="*/ 769619 w 3490171"/>
              <a:gd name="connsiteY1" fmla="*/ 1642049 h 1688691"/>
              <a:gd name="connsiteX2" fmla="*/ 239202 w 3490171"/>
              <a:gd name="connsiteY2" fmla="*/ 1233818 h 1688691"/>
              <a:gd name="connsiteX3" fmla="*/ 3897 w 3490171"/>
              <a:gd name="connsiteY3" fmla="*/ 746440 h 1688691"/>
              <a:gd name="connsiteX4" fmla="*/ 148885 w 3490171"/>
              <a:gd name="connsiteY4" fmla="*/ 431081 h 1688691"/>
              <a:gd name="connsiteX5" fmla="*/ 816849 w 3490171"/>
              <a:gd name="connsiteY5" fmla="*/ 218355 h 1688691"/>
              <a:gd name="connsiteX6" fmla="*/ 1858909 w 3490171"/>
              <a:gd name="connsiteY6" fmla="*/ 142133 h 1688691"/>
              <a:gd name="connsiteX7" fmla="*/ 2970445 w 3490171"/>
              <a:gd name="connsiteY7" fmla="*/ 33722 h 1688691"/>
              <a:gd name="connsiteX8" fmla="*/ 3422780 w 3490171"/>
              <a:gd name="connsiteY8" fmla="*/ 794636 h 1688691"/>
              <a:gd name="connsiteX9" fmla="*/ 3291159 w 3490171"/>
              <a:gd name="connsiteY9" fmla="*/ 1532789 h 1688691"/>
              <a:gd name="connsiteX10" fmla="*/ 2294761 w 3490171"/>
              <a:gd name="connsiteY10" fmla="*/ 1432895 h 1688691"/>
              <a:gd name="connsiteX11" fmla="*/ 1535809 w 3490171"/>
              <a:gd name="connsiteY11" fmla="*/ 1656292 h 1688691"/>
              <a:gd name="connsiteX0" fmla="*/ 1535809 w 3490171"/>
              <a:gd name="connsiteY0" fmla="*/ 1656292 h 1656292"/>
              <a:gd name="connsiteX1" fmla="*/ 239202 w 3490171"/>
              <a:gd name="connsiteY1" fmla="*/ 1233818 h 1656292"/>
              <a:gd name="connsiteX2" fmla="*/ 3897 w 3490171"/>
              <a:gd name="connsiteY2" fmla="*/ 746440 h 1656292"/>
              <a:gd name="connsiteX3" fmla="*/ 148885 w 3490171"/>
              <a:gd name="connsiteY3" fmla="*/ 431081 h 1656292"/>
              <a:gd name="connsiteX4" fmla="*/ 816849 w 3490171"/>
              <a:gd name="connsiteY4" fmla="*/ 218355 h 1656292"/>
              <a:gd name="connsiteX5" fmla="*/ 1858909 w 3490171"/>
              <a:gd name="connsiteY5" fmla="*/ 142133 h 1656292"/>
              <a:gd name="connsiteX6" fmla="*/ 2970445 w 3490171"/>
              <a:gd name="connsiteY6" fmla="*/ 33722 h 1656292"/>
              <a:gd name="connsiteX7" fmla="*/ 3422780 w 3490171"/>
              <a:gd name="connsiteY7" fmla="*/ 794636 h 1656292"/>
              <a:gd name="connsiteX8" fmla="*/ 3291159 w 3490171"/>
              <a:gd name="connsiteY8" fmla="*/ 1532789 h 1656292"/>
              <a:gd name="connsiteX9" fmla="*/ 2294761 w 3490171"/>
              <a:gd name="connsiteY9" fmla="*/ 1432895 h 1656292"/>
              <a:gd name="connsiteX10" fmla="*/ 1535809 w 3490171"/>
              <a:gd name="connsiteY10" fmla="*/ 1656292 h 1656292"/>
              <a:gd name="connsiteX0" fmla="*/ 1574171 w 3528533"/>
              <a:gd name="connsiteY0" fmla="*/ 1656292 h 2207918"/>
              <a:gd name="connsiteX1" fmla="*/ 835282 w 3528533"/>
              <a:gd name="connsiteY1" fmla="*/ 2181782 h 2207918"/>
              <a:gd name="connsiteX2" fmla="*/ 42259 w 3528533"/>
              <a:gd name="connsiteY2" fmla="*/ 746440 h 2207918"/>
              <a:gd name="connsiteX3" fmla="*/ 187247 w 3528533"/>
              <a:gd name="connsiteY3" fmla="*/ 431081 h 2207918"/>
              <a:gd name="connsiteX4" fmla="*/ 855211 w 3528533"/>
              <a:gd name="connsiteY4" fmla="*/ 218355 h 2207918"/>
              <a:gd name="connsiteX5" fmla="*/ 1897271 w 3528533"/>
              <a:gd name="connsiteY5" fmla="*/ 142133 h 2207918"/>
              <a:gd name="connsiteX6" fmla="*/ 3008807 w 3528533"/>
              <a:gd name="connsiteY6" fmla="*/ 33722 h 2207918"/>
              <a:gd name="connsiteX7" fmla="*/ 3461142 w 3528533"/>
              <a:gd name="connsiteY7" fmla="*/ 794636 h 2207918"/>
              <a:gd name="connsiteX8" fmla="*/ 3329521 w 3528533"/>
              <a:gd name="connsiteY8" fmla="*/ 1532789 h 2207918"/>
              <a:gd name="connsiteX9" fmla="*/ 2333123 w 3528533"/>
              <a:gd name="connsiteY9" fmla="*/ 1432895 h 2207918"/>
              <a:gd name="connsiteX10" fmla="*/ 1574171 w 3528533"/>
              <a:gd name="connsiteY10" fmla="*/ 1656292 h 2207918"/>
              <a:gd name="connsiteX0" fmla="*/ 1628141 w 3582503"/>
              <a:gd name="connsiteY0" fmla="*/ 1656292 h 1656292"/>
              <a:gd name="connsiteX1" fmla="*/ 96229 w 3582503"/>
              <a:gd name="connsiteY1" fmla="*/ 746440 h 1656292"/>
              <a:gd name="connsiteX2" fmla="*/ 241217 w 3582503"/>
              <a:gd name="connsiteY2" fmla="*/ 431081 h 1656292"/>
              <a:gd name="connsiteX3" fmla="*/ 909181 w 3582503"/>
              <a:gd name="connsiteY3" fmla="*/ 218355 h 1656292"/>
              <a:gd name="connsiteX4" fmla="*/ 1951241 w 3582503"/>
              <a:gd name="connsiteY4" fmla="*/ 142133 h 1656292"/>
              <a:gd name="connsiteX5" fmla="*/ 3062777 w 3582503"/>
              <a:gd name="connsiteY5" fmla="*/ 33722 h 1656292"/>
              <a:gd name="connsiteX6" fmla="*/ 3515112 w 3582503"/>
              <a:gd name="connsiteY6" fmla="*/ 794636 h 1656292"/>
              <a:gd name="connsiteX7" fmla="*/ 3383491 w 3582503"/>
              <a:gd name="connsiteY7" fmla="*/ 1532789 h 1656292"/>
              <a:gd name="connsiteX8" fmla="*/ 2387093 w 3582503"/>
              <a:gd name="connsiteY8" fmla="*/ 1432895 h 1656292"/>
              <a:gd name="connsiteX9" fmla="*/ 1628141 w 3582503"/>
              <a:gd name="connsiteY9" fmla="*/ 1656292 h 1656292"/>
              <a:gd name="connsiteX0" fmla="*/ 1389048 w 3343410"/>
              <a:gd name="connsiteY0" fmla="*/ 1656292 h 2473686"/>
              <a:gd name="connsiteX1" fmla="*/ 883337 w 3343410"/>
              <a:gd name="connsiteY1" fmla="*/ 2441284 h 2473686"/>
              <a:gd name="connsiteX2" fmla="*/ 2124 w 3343410"/>
              <a:gd name="connsiteY2" fmla="*/ 431081 h 2473686"/>
              <a:gd name="connsiteX3" fmla="*/ 670088 w 3343410"/>
              <a:gd name="connsiteY3" fmla="*/ 218355 h 2473686"/>
              <a:gd name="connsiteX4" fmla="*/ 1712148 w 3343410"/>
              <a:gd name="connsiteY4" fmla="*/ 142133 h 2473686"/>
              <a:gd name="connsiteX5" fmla="*/ 2823684 w 3343410"/>
              <a:gd name="connsiteY5" fmla="*/ 33722 h 2473686"/>
              <a:gd name="connsiteX6" fmla="*/ 3276019 w 3343410"/>
              <a:gd name="connsiteY6" fmla="*/ 794636 h 2473686"/>
              <a:gd name="connsiteX7" fmla="*/ 3144398 w 3343410"/>
              <a:gd name="connsiteY7" fmla="*/ 1532789 h 2473686"/>
              <a:gd name="connsiteX8" fmla="*/ 2148000 w 3343410"/>
              <a:gd name="connsiteY8" fmla="*/ 1432895 h 2473686"/>
              <a:gd name="connsiteX9" fmla="*/ 1389048 w 3343410"/>
              <a:gd name="connsiteY9" fmla="*/ 1656292 h 2473686"/>
              <a:gd name="connsiteX0" fmla="*/ 1812913 w 3343410"/>
              <a:gd name="connsiteY0" fmla="*/ 2087183 h 2527278"/>
              <a:gd name="connsiteX1" fmla="*/ 883337 w 3343410"/>
              <a:gd name="connsiteY1" fmla="*/ 2441284 h 2527278"/>
              <a:gd name="connsiteX2" fmla="*/ 2124 w 3343410"/>
              <a:gd name="connsiteY2" fmla="*/ 431081 h 2527278"/>
              <a:gd name="connsiteX3" fmla="*/ 670088 w 3343410"/>
              <a:gd name="connsiteY3" fmla="*/ 218355 h 2527278"/>
              <a:gd name="connsiteX4" fmla="*/ 1712148 w 3343410"/>
              <a:gd name="connsiteY4" fmla="*/ 142133 h 2527278"/>
              <a:gd name="connsiteX5" fmla="*/ 2823684 w 3343410"/>
              <a:gd name="connsiteY5" fmla="*/ 33722 h 2527278"/>
              <a:gd name="connsiteX6" fmla="*/ 3276019 w 3343410"/>
              <a:gd name="connsiteY6" fmla="*/ 794636 h 2527278"/>
              <a:gd name="connsiteX7" fmla="*/ 3144398 w 3343410"/>
              <a:gd name="connsiteY7" fmla="*/ 1532789 h 2527278"/>
              <a:gd name="connsiteX8" fmla="*/ 2148000 w 3343410"/>
              <a:gd name="connsiteY8" fmla="*/ 1432895 h 2527278"/>
              <a:gd name="connsiteX9" fmla="*/ 1812913 w 3343410"/>
              <a:gd name="connsiteY9" fmla="*/ 2087183 h 2527278"/>
              <a:gd name="connsiteX0" fmla="*/ 1812913 w 3343410"/>
              <a:gd name="connsiteY0" fmla="*/ 2087183 h 2513408"/>
              <a:gd name="connsiteX1" fmla="*/ 883337 w 3343410"/>
              <a:gd name="connsiteY1" fmla="*/ 2441284 h 2513408"/>
              <a:gd name="connsiteX2" fmla="*/ 2124 w 3343410"/>
              <a:gd name="connsiteY2" fmla="*/ 431081 h 2513408"/>
              <a:gd name="connsiteX3" fmla="*/ 670088 w 3343410"/>
              <a:gd name="connsiteY3" fmla="*/ 218355 h 2513408"/>
              <a:gd name="connsiteX4" fmla="*/ 1712148 w 3343410"/>
              <a:gd name="connsiteY4" fmla="*/ 142133 h 2513408"/>
              <a:gd name="connsiteX5" fmla="*/ 2823684 w 3343410"/>
              <a:gd name="connsiteY5" fmla="*/ 33722 h 2513408"/>
              <a:gd name="connsiteX6" fmla="*/ 3276019 w 3343410"/>
              <a:gd name="connsiteY6" fmla="*/ 794636 h 2513408"/>
              <a:gd name="connsiteX7" fmla="*/ 3144398 w 3343410"/>
              <a:gd name="connsiteY7" fmla="*/ 1532789 h 2513408"/>
              <a:gd name="connsiteX8" fmla="*/ 3051503 w 3343410"/>
              <a:gd name="connsiteY8" fmla="*/ 2280317 h 2513408"/>
              <a:gd name="connsiteX9" fmla="*/ 1812913 w 3343410"/>
              <a:gd name="connsiteY9" fmla="*/ 2087183 h 2513408"/>
              <a:gd name="connsiteX0" fmla="*/ 1812913 w 4249543"/>
              <a:gd name="connsiteY0" fmla="*/ 2087183 h 2513408"/>
              <a:gd name="connsiteX1" fmla="*/ 883337 w 4249543"/>
              <a:gd name="connsiteY1" fmla="*/ 2441284 h 2513408"/>
              <a:gd name="connsiteX2" fmla="*/ 2124 w 4249543"/>
              <a:gd name="connsiteY2" fmla="*/ 431081 h 2513408"/>
              <a:gd name="connsiteX3" fmla="*/ 670088 w 4249543"/>
              <a:gd name="connsiteY3" fmla="*/ 218355 h 2513408"/>
              <a:gd name="connsiteX4" fmla="*/ 1712148 w 4249543"/>
              <a:gd name="connsiteY4" fmla="*/ 142133 h 2513408"/>
              <a:gd name="connsiteX5" fmla="*/ 2823684 w 4249543"/>
              <a:gd name="connsiteY5" fmla="*/ 33722 h 2513408"/>
              <a:gd name="connsiteX6" fmla="*/ 3276019 w 4249543"/>
              <a:gd name="connsiteY6" fmla="*/ 794636 h 2513408"/>
              <a:gd name="connsiteX7" fmla="*/ 4192908 w 4249543"/>
              <a:gd name="connsiteY7" fmla="*/ 1906229 h 2513408"/>
              <a:gd name="connsiteX8" fmla="*/ 3051503 w 4249543"/>
              <a:gd name="connsiteY8" fmla="*/ 2280317 h 2513408"/>
              <a:gd name="connsiteX9" fmla="*/ 1812913 w 4249543"/>
              <a:gd name="connsiteY9" fmla="*/ 2087183 h 2513408"/>
              <a:gd name="connsiteX0" fmla="*/ 1812913 w 3291254"/>
              <a:gd name="connsiteY0" fmla="*/ 2087183 h 2513408"/>
              <a:gd name="connsiteX1" fmla="*/ 883337 w 3291254"/>
              <a:gd name="connsiteY1" fmla="*/ 2441284 h 2513408"/>
              <a:gd name="connsiteX2" fmla="*/ 2124 w 3291254"/>
              <a:gd name="connsiteY2" fmla="*/ 431081 h 2513408"/>
              <a:gd name="connsiteX3" fmla="*/ 670088 w 3291254"/>
              <a:gd name="connsiteY3" fmla="*/ 218355 h 2513408"/>
              <a:gd name="connsiteX4" fmla="*/ 1712148 w 3291254"/>
              <a:gd name="connsiteY4" fmla="*/ 142133 h 2513408"/>
              <a:gd name="connsiteX5" fmla="*/ 2823684 w 3291254"/>
              <a:gd name="connsiteY5" fmla="*/ 33722 h 2513408"/>
              <a:gd name="connsiteX6" fmla="*/ 3276019 w 3291254"/>
              <a:gd name="connsiteY6" fmla="*/ 794636 h 2513408"/>
              <a:gd name="connsiteX7" fmla="*/ 3051503 w 3291254"/>
              <a:gd name="connsiteY7" fmla="*/ 2280317 h 2513408"/>
              <a:gd name="connsiteX8" fmla="*/ 1812913 w 3291254"/>
              <a:gd name="connsiteY8" fmla="*/ 2087183 h 2513408"/>
              <a:gd name="connsiteX0" fmla="*/ 1812913 w 3372061"/>
              <a:gd name="connsiteY0" fmla="*/ 1980537 h 2406762"/>
              <a:gd name="connsiteX1" fmla="*/ 883337 w 3372061"/>
              <a:gd name="connsiteY1" fmla="*/ 2334638 h 2406762"/>
              <a:gd name="connsiteX2" fmla="*/ 2124 w 3372061"/>
              <a:gd name="connsiteY2" fmla="*/ 324435 h 2406762"/>
              <a:gd name="connsiteX3" fmla="*/ 670088 w 3372061"/>
              <a:gd name="connsiteY3" fmla="*/ 111709 h 2406762"/>
              <a:gd name="connsiteX4" fmla="*/ 1712148 w 3372061"/>
              <a:gd name="connsiteY4" fmla="*/ 35487 h 2406762"/>
              <a:gd name="connsiteX5" fmla="*/ 3276019 w 3372061"/>
              <a:gd name="connsiteY5" fmla="*/ 687990 h 2406762"/>
              <a:gd name="connsiteX6" fmla="*/ 3051503 w 3372061"/>
              <a:gd name="connsiteY6" fmla="*/ 2173671 h 2406762"/>
              <a:gd name="connsiteX7" fmla="*/ 1812913 w 3372061"/>
              <a:gd name="connsiteY7" fmla="*/ 1980537 h 2406762"/>
              <a:gd name="connsiteX0" fmla="*/ 1815546 w 3451572"/>
              <a:gd name="connsiteY0" fmla="*/ 1927198 h 2353423"/>
              <a:gd name="connsiteX1" fmla="*/ 885970 w 3451572"/>
              <a:gd name="connsiteY1" fmla="*/ 2281299 h 2353423"/>
              <a:gd name="connsiteX2" fmla="*/ 4757 w 3451572"/>
              <a:gd name="connsiteY2" fmla="*/ 271096 h 2353423"/>
              <a:gd name="connsiteX3" fmla="*/ 672721 w 3451572"/>
              <a:gd name="connsiteY3" fmla="*/ 58370 h 2353423"/>
              <a:gd name="connsiteX4" fmla="*/ 3278652 w 3451572"/>
              <a:gd name="connsiteY4" fmla="*/ 634651 h 2353423"/>
              <a:gd name="connsiteX5" fmla="*/ 3054136 w 3451572"/>
              <a:gd name="connsiteY5" fmla="*/ 2120332 h 2353423"/>
              <a:gd name="connsiteX6" fmla="*/ 1815546 w 3451572"/>
              <a:gd name="connsiteY6" fmla="*/ 1927198 h 2353423"/>
              <a:gd name="connsiteX0" fmla="*/ 1811382 w 3421869"/>
              <a:gd name="connsiteY0" fmla="*/ 1868593 h 2294818"/>
              <a:gd name="connsiteX1" fmla="*/ 881806 w 3421869"/>
              <a:gd name="connsiteY1" fmla="*/ 2222694 h 2294818"/>
              <a:gd name="connsiteX2" fmla="*/ 593 w 3421869"/>
              <a:gd name="connsiteY2" fmla="*/ 212491 h 2294818"/>
              <a:gd name="connsiteX3" fmla="*/ 1014342 w 3421869"/>
              <a:gd name="connsiteY3" fmla="*/ 100307 h 2294818"/>
              <a:gd name="connsiteX4" fmla="*/ 3274488 w 3421869"/>
              <a:gd name="connsiteY4" fmla="*/ 576046 h 2294818"/>
              <a:gd name="connsiteX5" fmla="*/ 3049972 w 3421869"/>
              <a:gd name="connsiteY5" fmla="*/ 2061727 h 2294818"/>
              <a:gd name="connsiteX6" fmla="*/ 1811382 w 3421869"/>
              <a:gd name="connsiteY6" fmla="*/ 1868593 h 2294818"/>
              <a:gd name="connsiteX0" fmla="*/ 1833106 w 3382754"/>
              <a:gd name="connsiteY0" fmla="*/ 2088927 h 2515152"/>
              <a:gd name="connsiteX1" fmla="*/ 903530 w 3382754"/>
              <a:gd name="connsiteY1" fmla="*/ 2443028 h 2515152"/>
              <a:gd name="connsiteX2" fmla="*/ 22317 w 3382754"/>
              <a:gd name="connsiteY2" fmla="*/ 432825 h 2515152"/>
              <a:gd name="connsiteX3" fmla="*/ 1861489 w 3382754"/>
              <a:gd name="connsiteY3" fmla="*/ 19016 h 2515152"/>
              <a:gd name="connsiteX4" fmla="*/ 3296212 w 3382754"/>
              <a:gd name="connsiteY4" fmla="*/ 796380 h 2515152"/>
              <a:gd name="connsiteX5" fmla="*/ 3071696 w 3382754"/>
              <a:gd name="connsiteY5" fmla="*/ 2282061 h 2515152"/>
              <a:gd name="connsiteX6" fmla="*/ 1833106 w 3382754"/>
              <a:gd name="connsiteY6" fmla="*/ 2088927 h 2515152"/>
              <a:gd name="connsiteX0" fmla="*/ 1876800 w 3426448"/>
              <a:gd name="connsiteY0" fmla="*/ 2077119 h 2497206"/>
              <a:gd name="connsiteX1" fmla="*/ 947224 w 3426448"/>
              <a:gd name="connsiteY1" fmla="*/ 2431220 h 2497206"/>
              <a:gd name="connsiteX2" fmla="*/ 21394 w 3426448"/>
              <a:gd name="connsiteY2" fmla="*/ 521560 h 2497206"/>
              <a:gd name="connsiteX3" fmla="*/ 1905183 w 3426448"/>
              <a:gd name="connsiteY3" fmla="*/ 7208 h 2497206"/>
              <a:gd name="connsiteX4" fmla="*/ 3339906 w 3426448"/>
              <a:gd name="connsiteY4" fmla="*/ 784572 h 2497206"/>
              <a:gd name="connsiteX5" fmla="*/ 3115390 w 3426448"/>
              <a:gd name="connsiteY5" fmla="*/ 2270253 h 2497206"/>
              <a:gd name="connsiteX6" fmla="*/ 1876800 w 3426448"/>
              <a:gd name="connsiteY6" fmla="*/ 2077119 h 2497206"/>
              <a:gd name="connsiteX0" fmla="*/ 1876800 w 3914385"/>
              <a:gd name="connsiteY0" fmla="*/ 2096711 h 2516798"/>
              <a:gd name="connsiteX1" fmla="*/ 947224 w 3914385"/>
              <a:gd name="connsiteY1" fmla="*/ 2450812 h 2516798"/>
              <a:gd name="connsiteX2" fmla="*/ 21394 w 3914385"/>
              <a:gd name="connsiteY2" fmla="*/ 541152 h 2516798"/>
              <a:gd name="connsiteX3" fmla="*/ 1905183 w 3914385"/>
              <a:gd name="connsiteY3" fmla="*/ 26800 h 2516798"/>
              <a:gd name="connsiteX4" fmla="*/ 3875315 w 3914385"/>
              <a:gd name="connsiteY4" fmla="*/ 1177605 h 2516798"/>
              <a:gd name="connsiteX5" fmla="*/ 3115390 w 3914385"/>
              <a:gd name="connsiteY5" fmla="*/ 2289845 h 2516798"/>
              <a:gd name="connsiteX6" fmla="*/ 1876800 w 3914385"/>
              <a:gd name="connsiteY6" fmla="*/ 2096711 h 2516798"/>
              <a:gd name="connsiteX0" fmla="*/ 1876800 w 3818587"/>
              <a:gd name="connsiteY0" fmla="*/ 2083975 h 2504062"/>
              <a:gd name="connsiteX1" fmla="*/ 947224 w 3818587"/>
              <a:gd name="connsiteY1" fmla="*/ 2438076 h 2504062"/>
              <a:gd name="connsiteX2" fmla="*/ 21394 w 3818587"/>
              <a:gd name="connsiteY2" fmla="*/ 528416 h 2504062"/>
              <a:gd name="connsiteX3" fmla="*/ 1905183 w 3818587"/>
              <a:gd name="connsiteY3" fmla="*/ 14064 h 2504062"/>
              <a:gd name="connsiteX4" fmla="*/ 3774925 w 3818587"/>
              <a:gd name="connsiteY4" fmla="*/ 935059 h 2504062"/>
              <a:gd name="connsiteX5" fmla="*/ 3115390 w 3818587"/>
              <a:gd name="connsiteY5" fmla="*/ 2277109 h 2504062"/>
              <a:gd name="connsiteX6" fmla="*/ 1876800 w 3818587"/>
              <a:gd name="connsiteY6" fmla="*/ 2083975 h 2504062"/>
              <a:gd name="connsiteX0" fmla="*/ 1876800 w 3916854"/>
              <a:gd name="connsiteY0" fmla="*/ 2083974 h 2613413"/>
              <a:gd name="connsiteX1" fmla="*/ 947224 w 3916854"/>
              <a:gd name="connsiteY1" fmla="*/ 2438075 h 2613413"/>
              <a:gd name="connsiteX2" fmla="*/ 21394 w 3916854"/>
              <a:gd name="connsiteY2" fmla="*/ 528415 h 2613413"/>
              <a:gd name="connsiteX3" fmla="*/ 1905183 w 3916854"/>
              <a:gd name="connsiteY3" fmla="*/ 14063 h 2613413"/>
              <a:gd name="connsiteX4" fmla="*/ 3774925 w 3916854"/>
              <a:gd name="connsiteY4" fmla="*/ 935058 h 2613413"/>
              <a:gd name="connsiteX5" fmla="*/ 3572720 w 3916854"/>
              <a:gd name="connsiteY5" fmla="*/ 2578732 h 2613413"/>
              <a:gd name="connsiteX6" fmla="*/ 1876800 w 3916854"/>
              <a:gd name="connsiteY6" fmla="*/ 2083974 h 2613413"/>
              <a:gd name="connsiteX0" fmla="*/ 1966381 w 3913609"/>
              <a:gd name="connsiteY0" fmla="*/ 2974486 h 2978289"/>
              <a:gd name="connsiteX1" fmla="*/ 947569 w 3913609"/>
              <a:gd name="connsiteY1" fmla="*/ 2438075 h 2978289"/>
              <a:gd name="connsiteX2" fmla="*/ 21739 w 3913609"/>
              <a:gd name="connsiteY2" fmla="*/ 528415 h 2978289"/>
              <a:gd name="connsiteX3" fmla="*/ 1905528 w 3913609"/>
              <a:gd name="connsiteY3" fmla="*/ 14063 h 2978289"/>
              <a:gd name="connsiteX4" fmla="*/ 3775270 w 3913609"/>
              <a:gd name="connsiteY4" fmla="*/ 935058 h 2978289"/>
              <a:gd name="connsiteX5" fmla="*/ 3573065 w 3913609"/>
              <a:gd name="connsiteY5" fmla="*/ 2578732 h 2978289"/>
              <a:gd name="connsiteX6" fmla="*/ 1966381 w 3913609"/>
              <a:gd name="connsiteY6" fmla="*/ 2974486 h 2978289"/>
              <a:gd name="connsiteX0" fmla="*/ 1854410 w 3917684"/>
              <a:gd name="connsiteY0" fmla="*/ 3060664 h 3063016"/>
              <a:gd name="connsiteX1" fmla="*/ 947140 w 3917684"/>
              <a:gd name="connsiteY1" fmla="*/ 2438075 h 3063016"/>
              <a:gd name="connsiteX2" fmla="*/ 21310 w 3917684"/>
              <a:gd name="connsiteY2" fmla="*/ 528415 h 3063016"/>
              <a:gd name="connsiteX3" fmla="*/ 1905099 w 3917684"/>
              <a:gd name="connsiteY3" fmla="*/ 14063 h 3063016"/>
              <a:gd name="connsiteX4" fmla="*/ 3774841 w 3917684"/>
              <a:gd name="connsiteY4" fmla="*/ 935058 h 3063016"/>
              <a:gd name="connsiteX5" fmla="*/ 3572636 w 3917684"/>
              <a:gd name="connsiteY5" fmla="*/ 2578732 h 3063016"/>
              <a:gd name="connsiteX6" fmla="*/ 1854410 w 3917684"/>
              <a:gd name="connsiteY6" fmla="*/ 3060664 h 3063016"/>
              <a:gd name="connsiteX0" fmla="*/ 3581694 w 3969385"/>
              <a:gd name="connsiteY0" fmla="*/ 2578732 h 2736203"/>
              <a:gd name="connsiteX1" fmla="*/ 956198 w 3969385"/>
              <a:gd name="connsiteY1" fmla="*/ 2438075 h 2736203"/>
              <a:gd name="connsiteX2" fmla="*/ 30368 w 3969385"/>
              <a:gd name="connsiteY2" fmla="*/ 528415 h 2736203"/>
              <a:gd name="connsiteX3" fmla="*/ 1914157 w 3969385"/>
              <a:gd name="connsiteY3" fmla="*/ 14063 h 2736203"/>
              <a:gd name="connsiteX4" fmla="*/ 3783899 w 3969385"/>
              <a:gd name="connsiteY4" fmla="*/ 935058 h 2736203"/>
              <a:gd name="connsiteX5" fmla="*/ 3581694 w 3969385"/>
              <a:gd name="connsiteY5" fmla="*/ 2578732 h 2736203"/>
              <a:gd name="connsiteX0" fmla="*/ 3577705 w 3963067"/>
              <a:gd name="connsiteY0" fmla="*/ 2577030 h 2656840"/>
              <a:gd name="connsiteX1" fmla="*/ 996825 w 3963067"/>
              <a:gd name="connsiteY1" fmla="*/ 2206564 h 2656840"/>
              <a:gd name="connsiteX2" fmla="*/ 26379 w 3963067"/>
              <a:gd name="connsiteY2" fmla="*/ 526713 h 2656840"/>
              <a:gd name="connsiteX3" fmla="*/ 1910168 w 3963067"/>
              <a:gd name="connsiteY3" fmla="*/ 12361 h 2656840"/>
              <a:gd name="connsiteX4" fmla="*/ 3779910 w 3963067"/>
              <a:gd name="connsiteY4" fmla="*/ 933356 h 2656840"/>
              <a:gd name="connsiteX5" fmla="*/ 3577705 w 3963067"/>
              <a:gd name="connsiteY5" fmla="*/ 2577030 h 2656840"/>
              <a:gd name="connsiteX0" fmla="*/ 3584027 w 3969389"/>
              <a:gd name="connsiteY0" fmla="*/ 2594626 h 2674437"/>
              <a:gd name="connsiteX1" fmla="*/ 1003147 w 3969389"/>
              <a:gd name="connsiteY1" fmla="*/ 2224160 h 2674437"/>
              <a:gd name="connsiteX2" fmla="*/ 32701 w 3969389"/>
              <a:gd name="connsiteY2" fmla="*/ 544309 h 2674437"/>
              <a:gd name="connsiteX3" fmla="*/ 1916490 w 3969389"/>
              <a:gd name="connsiteY3" fmla="*/ 29957 h 2674437"/>
              <a:gd name="connsiteX4" fmla="*/ 3786232 w 3969389"/>
              <a:gd name="connsiteY4" fmla="*/ 950952 h 2674437"/>
              <a:gd name="connsiteX5" fmla="*/ 3584027 w 3969389"/>
              <a:gd name="connsiteY5" fmla="*/ 2594626 h 2674437"/>
              <a:gd name="connsiteX0" fmla="*/ 3685347 w 4206134"/>
              <a:gd name="connsiteY0" fmla="*/ 2124424 h 2204235"/>
              <a:gd name="connsiteX1" fmla="*/ 1104467 w 4206134"/>
              <a:gd name="connsiteY1" fmla="*/ 1753958 h 2204235"/>
              <a:gd name="connsiteX2" fmla="*/ 134021 w 4206134"/>
              <a:gd name="connsiteY2" fmla="*/ 74107 h 2204235"/>
              <a:gd name="connsiteX3" fmla="*/ 3887552 w 4206134"/>
              <a:gd name="connsiteY3" fmla="*/ 480750 h 2204235"/>
              <a:gd name="connsiteX4" fmla="*/ 3685347 w 4206134"/>
              <a:gd name="connsiteY4" fmla="*/ 2124424 h 2204235"/>
              <a:gd name="connsiteX0" fmla="*/ 3644842 w 4162378"/>
              <a:gd name="connsiteY0" fmla="*/ 2400513 h 2488442"/>
              <a:gd name="connsiteX1" fmla="*/ 1063962 w 4162378"/>
              <a:gd name="connsiteY1" fmla="*/ 2030047 h 2488442"/>
              <a:gd name="connsiteX2" fmla="*/ 138133 w 4162378"/>
              <a:gd name="connsiteY2" fmla="*/ 48572 h 2488442"/>
              <a:gd name="connsiteX3" fmla="*/ 3847047 w 4162378"/>
              <a:gd name="connsiteY3" fmla="*/ 756839 h 2488442"/>
              <a:gd name="connsiteX4" fmla="*/ 3644842 w 4162378"/>
              <a:gd name="connsiteY4" fmla="*/ 2400513 h 2488442"/>
              <a:gd name="connsiteX0" fmla="*/ 3653611 w 4171147"/>
              <a:gd name="connsiteY0" fmla="*/ 2622239 h 2710168"/>
              <a:gd name="connsiteX1" fmla="*/ 1072731 w 4171147"/>
              <a:gd name="connsiteY1" fmla="*/ 2251773 h 2710168"/>
              <a:gd name="connsiteX2" fmla="*/ 146902 w 4171147"/>
              <a:gd name="connsiteY2" fmla="*/ 270298 h 2710168"/>
              <a:gd name="connsiteX3" fmla="*/ 3855816 w 4171147"/>
              <a:gd name="connsiteY3" fmla="*/ 978565 h 2710168"/>
              <a:gd name="connsiteX4" fmla="*/ 3653611 w 4171147"/>
              <a:gd name="connsiteY4" fmla="*/ 2622239 h 2710168"/>
              <a:gd name="connsiteX0" fmla="*/ 3693988 w 4214774"/>
              <a:gd name="connsiteY0" fmla="*/ 2426917 h 2508561"/>
              <a:gd name="connsiteX1" fmla="*/ 1113108 w 4214774"/>
              <a:gd name="connsiteY1" fmla="*/ 2056451 h 2508561"/>
              <a:gd name="connsiteX2" fmla="*/ 142662 w 4214774"/>
              <a:gd name="connsiteY2" fmla="*/ 304784 h 2508561"/>
              <a:gd name="connsiteX3" fmla="*/ 3896193 w 4214774"/>
              <a:gd name="connsiteY3" fmla="*/ 783243 h 2508561"/>
              <a:gd name="connsiteX4" fmla="*/ 3693988 w 4214774"/>
              <a:gd name="connsiteY4" fmla="*/ 2426917 h 2508561"/>
              <a:gd name="connsiteX0" fmla="*/ 3683915 w 4188827"/>
              <a:gd name="connsiteY0" fmla="*/ 2300796 h 2408305"/>
              <a:gd name="connsiteX1" fmla="*/ 1103035 w 4188827"/>
              <a:gd name="connsiteY1" fmla="*/ 1930330 h 2408305"/>
              <a:gd name="connsiteX2" fmla="*/ 132589 w 4188827"/>
              <a:gd name="connsiteY2" fmla="*/ 178663 h 2408305"/>
              <a:gd name="connsiteX3" fmla="*/ 3863811 w 4188827"/>
              <a:gd name="connsiteY3" fmla="*/ 298043 h 2408305"/>
              <a:gd name="connsiteX4" fmla="*/ 3683915 w 4188827"/>
              <a:gd name="connsiteY4" fmla="*/ 2300796 h 2408305"/>
              <a:gd name="connsiteX0" fmla="*/ 3695249 w 4193640"/>
              <a:gd name="connsiteY0" fmla="*/ 2058956 h 2217803"/>
              <a:gd name="connsiteX1" fmla="*/ 1103215 w 4193640"/>
              <a:gd name="connsiteY1" fmla="*/ 1918299 h 2217803"/>
              <a:gd name="connsiteX2" fmla="*/ 132769 w 4193640"/>
              <a:gd name="connsiteY2" fmla="*/ 166632 h 2217803"/>
              <a:gd name="connsiteX3" fmla="*/ 3863991 w 4193640"/>
              <a:gd name="connsiteY3" fmla="*/ 286012 h 2217803"/>
              <a:gd name="connsiteX4" fmla="*/ 3695249 w 4193640"/>
              <a:gd name="connsiteY4" fmla="*/ 2058956 h 2217803"/>
              <a:gd name="connsiteX0" fmla="*/ 3731619 w 4239113"/>
              <a:gd name="connsiteY0" fmla="*/ 2060991 h 2232494"/>
              <a:gd name="connsiteX1" fmla="*/ 949961 w 4239113"/>
              <a:gd name="connsiteY1" fmla="*/ 1949060 h 2232494"/>
              <a:gd name="connsiteX2" fmla="*/ 169139 w 4239113"/>
              <a:gd name="connsiteY2" fmla="*/ 168667 h 2232494"/>
              <a:gd name="connsiteX3" fmla="*/ 3900361 w 4239113"/>
              <a:gd name="connsiteY3" fmla="*/ 288047 h 2232494"/>
              <a:gd name="connsiteX4" fmla="*/ 3731619 w 4239113"/>
              <a:gd name="connsiteY4" fmla="*/ 2060991 h 2232494"/>
              <a:gd name="connsiteX0" fmla="*/ 3690237 w 4197731"/>
              <a:gd name="connsiteY0" fmla="*/ 2179321 h 2350824"/>
              <a:gd name="connsiteX1" fmla="*/ 908579 w 4197731"/>
              <a:gd name="connsiteY1" fmla="*/ 2067390 h 2350824"/>
              <a:gd name="connsiteX2" fmla="*/ 127757 w 4197731"/>
              <a:gd name="connsiteY2" fmla="*/ 286997 h 2350824"/>
              <a:gd name="connsiteX3" fmla="*/ 3858979 w 4197731"/>
              <a:gd name="connsiteY3" fmla="*/ 406377 h 2350824"/>
              <a:gd name="connsiteX4" fmla="*/ 3690237 w 4197731"/>
              <a:gd name="connsiteY4" fmla="*/ 2179321 h 2350824"/>
              <a:gd name="connsiteX0" fmla="*/ 3667743 w 4175237"/>
              <a:gd name="connsiteY0" fmla="*/ 2236133 h 2407636"/>
              <a:gd name="connsiteX1" fmla="*/ 886085 w 4175237"/>
              <a:gd name="connsiteY1" fmla="*/ 2124202 h 2407636"/>
              <a:gd name="connsiteX2" fmla="*/ 105263 w 4175237"/>
              <a:gd name="connsiteY2" fmla="*/ 343809 h 2407636"/>
              <a:gd name="connsiteX3" fmla="*/ 3836485 w 4175237"/>
              <a:gd name="connsiteY3" fmla="*/ 463189 h 2407636"/>
              <a:gd name="connsiteX4" fmla="*/ 3667743 w 4175237"/>
              <a:gd name="connsiteY4" fmla="*/ 2236133 h 2407636"/>
              <a:gd name="connsiteX0" fmla="*/ 3588450 w 4089547"/>
              <a:gd name="connsiteY0" fmla="*/ 2246695 h 2418940"/>
              <a:gd name="connsiteX1" fmla="*/ 806792 w 4089547"/>
              <a:gd name="connsiteY1" fmla="*/ 2134764 h 2418940"/>
              <a:gd name="connsiteX2" fmla="*/ 115204 w 4089547"/>
              <a:gd name="connsiteY2" fmla="*/ 340009 h 2418940"/>
              <a:gd name="connsiteX3" fmla="*/ 3757192 w 4089547"/>
              <a:gd name="connsiteY3" fmla="*/ 473751 h 2418940"/>
              <a:gd name="connsiteX4" fmla="*/ 3588450 w 4089547"/>
              <a:gd name="connsiteY4" fmla="*/ 2246695 h 2418940"/>
              <a:gd name="connsiteX0" fmla="*/ 3625806 w 4126903"/>
              <a:gd name="connsiteY0" fmla="*/ 2272059 h 2444304"/>
              <a:gd name="connsiteX1" fmla="*/ 844148 w 4126903"/>
              <a:gd name="connsiteY1" fmla="*/ 2160128 h 2444304"/>
              <a:gd name="connsiteX2" fmla="*/ 152560 w 4126903"/>
              <a:gd name="connsiteY2" fmla="*/ 365373 h 2444304"/>
              <a:gd name="connsiteX3" fmla="*/ 3794548 w 4126903"/>
              <a:gd name="connsiteY3" fmla="*/ 499115 h 2444304"/>
              <a:gd name="connsiteX4" fmla="*/ 3625806 w 4126903"/>
              <a:gd name="connsiteY4" fmla="*/ 2272059 h 2444304"/>
              <a:gd name="connsiteX0" fmla="*/ 3625806 w 4201676"/>
              <a:gd name="connsiteY0" fmla="*/ 2272059 h 2314180"/>
              <a:gd name="connsiteX1" fmla="*/ 844148 w 4201676"/>
              <a:gd name="connsiteY1" fmla="*/ 2160128 h 2314180"/>
              <a:gd name="connsiteX2" fmla="*/ 152560 w 4201676"/>
              <a:gd name="connsiteY2" fmla="*/ 365373 h 2314180"/>
              <a:gd name="connsiteX3" fmla="*/ 3794548 w 4201676"/>
              <a:gd name="connsiteY3" fmla="*/ 499115 h 2314180"/>
              <a:gd name="connsiteX4" fmla="*/ 3625806 w 4201676"/>
              <a:gd name="connsiteY4" fmla="*/ 2272059 h 2314180"/>
              <a:gd name="connsiteX0" fmla="*/ 3625806 w 4203691"/>
              <a:gd name="connsiteY0" fmla="*/ 2272059 h 2332322"/>
              <a:gd name="connsiteX1" fmla="*/ 844148 w 4203691"/>
              <a:gd name="connsiteY1" fmla="*/ 2160128 h 2332322"/>
              <a:gd name="connsiteX2" fmla="*/ 152560 w 4203691"/>
              <a:gd name="connsiteY2" fmla="*/ 365373 h 2332322"/>
              <a:gd name="connsiteX3" fmla="*/ 3794548 w 4203691"/>
              <a:gd name="connsiteY3" fmla="*/ 499115 h 2332322"/>
              <a:gd name="connsiteX4" fmla="*/ 3625806 w 4203691"/>
              <a:gd name="connsiteY4" fmla="*/ 2272059 h 2332322"/>
              <a:gd name="connsiteX0" fmla="*/ 3625806 w 4207741"/>
              <a:gd name="connsiteY0" fmla="*/ 2272059 h 2358077"/>
              <a:gd name="connsiteX1" fmla="*/ 844148 w 4207741"/>
              <a:gd name="connsiteY1" fmla="*/ 2160128 h 2358077"/>
              <a:gd name="connsiteX2" fmla="*/ 152560 w 4207741"/>
              <a:gd name="connsiteY2" fmla="*/ 365373 h 2358077"/>
              <a:gd name="connsiteX3" fmla="*/ 3794548 w 4207741"/>
              <a:gd name="connsiteY3" fmla="*/ 499115 h 2358077"/>
              <a:gd name="connsiteX4" fmla="*/ 3625806 w 4207741"/>
              <a:gd name="connsiteY4" fmla="*/ 2272059 h 2358077"/>
              <a:gd name="connsiteX0" fmla="*/ 3524475 w 4156670"/>
              <a:gd name="connsiteY0" fmla="*/ 2301205 h 2374786"/>
              <a:gd name="connsiteX1" fmla="*/ 841843 w 4156670"/>
              <a:gd name="connsiteY1" fmla="*/ 2161309 h 2374786"/>
              <a:gd name="connsiteX2" fmla="*/ 150255 w 4156670"/>
              <a:gd name="connsiteY2" fmla="*/ 366554 h 2374786"/>
              <a:gd name="connsiteX3" fmla="*/ 3792243 w 4156670"/>
              <a:gd name="connsiteY3" fmla="*/ 500296 h 2374786"/>
              <a:gd name="connsiteX4" fmla="*/ 3524475 w 4156670"/>
              <a:gd name="connsiteY4" fmla="*/ 2301205 h 2374786"/>
              <a:gd name="connsiteX0" fmla="*/ 3464892 w 4128905"/>
              <a:gd name="connsiteY0" fmla="*/ 2301205 h 2374786"/>
              <a:gd name="connsiteX1" fmla="*/ 840511 w 4128905"/>
              <a:gd name="connsiteY1" fmla="*/ 2161309 h 2374786"/>
              <a:gd name="connsiteX2" fmla="*/ 148923 w 4128905"/>
              <a:gd name="connsiteY2" fmla="*/ 366554 h 2374786"/>
              <a:gd name="connsiteX3" fmla="*/ 3790911 w 4128905"/>
              <a:gd name="connsiteY3" fmla="*/ 500296 h 2374786"/>
              <a:gd name="connsiteX4" fmla="*/ 3464892 w 4128905"/>
              <a:gd name="connsiteY4" fmla="*/ 2301205 h 2374786"/>
              <a:gd name="connsiteX0" fmla="*/ 3435108 w 4115652"/>
              <a:gd name="connsiteY0" fmla="*/ 2293918 h 2370488"/>
              <a:gd name="connsiteX1" fmla="*/ 839852 w 4115652"/>
              <a:gd name="connsiteY1" fmla="*/ 2161014 h 2370488"/>
              <a:gd name="connsiteX2" fmla="*/ 148264 w 4115652"/>
              <a:gd name="connsiteY2" fmla="*/ 366259 h 2370488"/>
              <a:gd name="connsiteX3" fmla="*/ 3790252 w 4115652"/>
              <a:gd name="connsiteY3" fmla="*/ 500001 h 2370488"/>
              <a:gd name="connsiteX4" fmla="*/ 3435108 w 4115652"/>
              <a:gd name="connsiteY4" fmla="*/ 2293918 h 2370488"/>
              <a:gd name="connsiteX0" fmla="*/ 2876987 w 3935229"/>
              <a:gd name="connsiteY0" fmla="*/ 1875810 h 2220255"/>
              <a:gd name="connsiteX1" fmla="*/ 828295 w 3935229"/>
              <a:gd name="connsiteY1" fmla="*/ 2144538 h 2220255"/>
              <a:gd name="connsiteX2" fmla="*/ 136707 w 3935229"/>
              <a:gd name="connsiteY2" fmla="*/ 349783 h 2220255"/>
              <a:gd name="connsiteX3" fmla="*/ 3778695 w 3935229"/>
              <a:gd name="connsiteY3" fmla="*/ 483525 h 2220255"/>
              <a:gd name="connsiteX4" fmla="*/ 2876987 w 3935229"/>
              <a:gd name="connsiteY4" fmla="*/ 1875810 h 2220255"/>
              <a:gd name="connsiteX0" fmla="*/ 2876987 w 4046083"/>
              <a:gd name="connsiteY0" fmla="*/ 1875809 h 2182028"/>
              <a:gd name="connsiteX1" fmla="*/ 828295 w 4046083"/>
              <a:gd name="connsiteY1" fmla="*/ 2144537 h 2182028"/>
              <a:gd name="connsiteX2" fmla="*/ 136707 w 4046083"/>
              <a:gd name="connsiteY2" fmla="*/ 349782 h 2182028"/>
              <a:gd name="connsiteX3" fmla="*/ 3778695 w 4046083"/>
              <a:gd name="connsiteY3" fmla="*/ 483524 h 2182028"/>
              <a:gd name="connsiteX4" fmla="*/ 2876987 w 4046083"/>
              <a:gd name="connsiteY4" fmla="*/ 1875809 h 2182028"/>
              <a:gd name="connsiteX0" fmla="*/ 3138775 w 4159643"/>
              <a:gd name="connsiteY0" fmla="*/ 1889731 h 2183521"/>
              <a:gd name="connsiteX1" fmla="*/ 833533 w 4159643"/>
              <a:gd name="connsiteY1" fmla="*/ 2145070 h 2183521"/>
              <a:gd name="connsiteX2" fmla="*/ 141945 w 4159643"/>
              <a:gd name="connsiteY2" fmla="*/ 350315 h 2183521"/>
              <a:gd name="connsiteX3" fmla="*/ 3783933 w 4159643"/>
              <a:gd name="connsiteY3" fmla="*/ 484057 h 2183521"/>
              <a:gd name="connsiteX4" fmla="*/ 3138775 w 4159643"/>
              <a:gd name="connsiteY4" fmla="*/ 1889731 h 2183521"/>
              <a:gd name="connsiteX0" fmla="*/ 3161554 w 4170747"/>
              <a:gd name="connsiteY0" fmla="*/ 1959352 h 2191331"/>
              <a:gd name="connsiteX1" fmla="*/ 834003 w 4170747"/>
              <a:gd name="connsiteY1" fmla="*/ 2147752 h 2191331"/>
              <a:gd name="connsiteX2" fmla="*/ 142415 w 4170747"/>
              <a:gd name="connsiteY2" fmla="*/ 352997 h 2191331"/>
              <a:gd name="connsiteX3" fmla="*/ 3784403 w 4170747"/>
              <a:gd name="connsiteY3" fmla="*/ 486739 h 2191331"/>
              <a:gd name="connsiteX4" fmla="*/ 3161554 w 4170747"/>
              <a:gd name="connsiteY4" fmla="*/ 1959352 h 2191331"/>
              <a:gd name="connsiteX0" fmla="*/ 3124893 w 3923762"/>
              <a:gd name="connsiteY0" fmla="*/ 1959352 h 2193783"/>
              <a:gd name="connsiteX1" fmla="*/ 1143128 w 3923762"/>
              <a:gd name="connsiteY1" fmla="*/ 2027263 h 2193783"/>
              <a:gd name="connsiteX2" fmla="*/ 105754 w 3923762"/>
              <a:gd name="connsiteY2" fmla="*/ 352997 h 2193783"/>
              <a:gd name="connsiteX3" fmla="*/ 3747742 w 3923762"/>
              <a:gd name="connsiteY3" fmla="*/ 486739 h 2193783"/>
              <a:gd name="connsiteX4" fmla="*/ 3124893 w 3923762"/>
              <a:gd name="connsiteY4" fmla="*/ 1959352 h 2193783"/>
              <a:gd name="connsiteX0" fmla="*/ 3134581 w 3936058"/>
              <a:gd name="connsiteY0" fmla="*/ 1959352 h 2193783"/>
              <a:gd name="connsiteX1" fmla="*/ 1041272 w 3936058"/>
              <a:gd name="connsiteY1" fmla="*/ 2027264 h 2193783"/>
              <a:gd name="connsiteX2" fmla="*/ 115442 w 3936058"/>
              <a:gd name="connsiteY2" fmla="*/ 352997 h 2193783"/>
              <a:gd name="connsiteX3" fmla="*/ 3757430 w 3936058"/>
              <a:gd name="connsiteY3" fmla="*/ 486739 h 2193783"/>
              <a:gd name="connsiteX4" fmla="*/ 3134581 w 3936058"/>
              <a:gd name="connsiteY4" fmla="*/ 1959352 h 2193783"/>
              <a:gd name="connsiteX0" fmla="*/ 3143984 w 3945460"/>
              <a:gd name="connsiteY0" fmla="*/ 1959352 h 2068592"/>
              <a:gd name="connsiteX1" fmla="*/ 1050675 w 3945460"/>
              <a:gd name="connsiteY1" fmla="*/ 2027264 h 2068592"/>
              <a:gd name="connsiteX2" fmla="*/ 124845 w 3945460"/>
              <a:gd name="connsiteY2" fmla="*/ 352997 h 2068592"/>
              <a:gd name="connsiteX3" fmla="*/ 3766833 w 3945460"/>
              <a:gd name="connsiteY3" fmla="*/ 486739 h 2068592"/>
              <a:gd name="connsiteX4" fmla="*/ 3143984 w 3945460"/>
              <a:gd name="connsiteY4" fmla="*/ 1959352 h 2068592"/>
              <a:gd name="connsiteX0" fmla="*/ 3083435 w 3880985"/>
              <a:gd name="connsiteY0" fmla="*/ 1890132 h 2118049"/>
              <a:gd name="connsiteX1" fmla="*/ 990126 w 3880985"/>
              <a:gd name="connsiteY1" fmla="*/ 1958044 h 2118049"/>
              <a:gd name="connsiteX2" fmla="*/ 120068 w 3880985"/>
              <a:gd name="connsiteY2" fmla="*/ 377490 h 2118049"/>
              <a:gd name="connsiteX3" fmla="*/ 3706284 w 3880985"/>
              <a:gd name="connsiteY3" fmla="*/ 417519 h 2118049"/>
              <a:gd name="connsiteX4" fmla="*/ 3083435 w 3880985"/>
              <a:gd name="connsiteY4" fmla="*/ 1890132 h 2118049"/>
              <a:gd name="connsiteX0" fmla="*/ 3083435 w 3880985"/>
              <a:gd name="connsiteY0" fmla="*/ 1833464 h 2055830"/>
              <a:gd name="connsiteX1" fmla="*/ 990126 w 3880985"/>
              <a:gd name="connsiteY1" fmla="*/ 1901376 h 2055830"/>
              <a:gd name="connsiteX2" fmla="*/ 120068 w 3880985"/>
              <a:gd name="connsiteY2" fmla="*/ 401148 h 2055830"/>
              <a:gd name="connsiteX3" fmla="*/ 3706284 w 3880985"/>
              <a:gd name="connsiteY3" fmla="*/ 360851 h 2055830"/>
              <a:gd name="connsiteX4" fmla="*/ 3083435 w 3880985"/>
              <a:gd name="connsiteY4" fmla="*/ 1833464 h 2055830"/>
              <a:gd name="connsiteX0" fmla="*/ 3083435 w 3880985"/>
              <a:gd name="connsiteY0" fmla="*/ 1839221 h 2061587"/>
              <a:gd name="connsiteX1" fmla="*/ 990126 w 3880985"/>
              <a:gd name="connsiteY1" fmla="*/ 1907133 h 2061587"/>
              <a:gd name="connsiteX2" fmla="*/ 120068 w 3880985"/>
              <a:gd name="connsiteY2" fmla="*/ 406905 h 2061587"/>
              <a:gd name="connsiteX3" fmla="*/ 3706284 w 3880985"/>
              <a:gd name="connsiteY3" fmla="*/ 366608 h 2061587"/>
              <a:gd name="connsiteX4" fmla="*/ 3083435 w 3880985"/>
              <a:gd name="connsiteY4" fmla="*/ 1839221 h 2061587"/>
              <a:gd name="connsiteX0" fmla="*/ 3071892 w 3869442"/>
              <a:gd name="connsiteY0" fmla="*/ 1839221 h 1961982"/>
              <a:gd name="connsiteX1" fmla="*/ 978583 w 3869442"/>
              <a:gd name="connsiteY1" fmla="*/ 1907133 h 1961982"/>
              <a:gd name="connsiteX2" fmla="*/ 108525 w 3869442"/>
              <a:gd name="connsiteY2" fmla="*/ 406905 h 1961982"/>
              <a:gd name="connsiteX3" fmla="*/ 3694741 w 3869442"/>
              <a:gd name="connsiteY3" fmla="*/ 366608 h 1961982"/>
              <a:gd name="connsiteX4" fmla="*/ 3071892 w 3869442"/>
              <a:gd name="connsiteY4" fmla="*/ 1839221 h 1961982"/>
              <a:gd name="connsiteX0" fmla="*/ 3050525 w 3840979"/>
              <a:gd name="connsiteY0" fmla="*/ 1839221 h 2013444"/>
              <a:gd name="connsiteX1" fmla="*/ 1269538 w 3840979"/>
              <a:gd name="connsiteY1" fmla="*/ 1960684 h 2013444"/>
              <a:gd name="connsiteX2" fmla="*/ 87158 w 3840979"/>
              <a:gd name="connsiteY2" fmla="*/ 406905 h 2013444"/>
              <a:gd name="connsiteX3" fmla="*/ 3673374 w 3840979"/>
              <a:gd name="connsiteY3" fmla="*/ 366608 h 2013444"/>
              <a:gd name="connsiteX4" fmla="*/ 3050525 w 3840979"/>
              <a:gd name="connsiteY4" fmla="*/ 1839221 h 2013444"/>
              <a:gd name="connsiteX0" fmla="*/ 3066110 w 3856564"/>
              <a:gd name="connsiteY0" fmla="*/ 1839221 h 1986899"/>
              <a:gd name="connsiteX1" fmla="*/ 1285123 w 3856564"/>
              <a:gd name="connsiteY1" fmla="*/ 1960684 h 1986899"/>
              <a:gd name="connsiteX2" fmla="*/ 102743 w 3856564"/>
              <a:gd name="connsiteY2" fmla="*/ 406905 h 1986899"/>
              <a:gd name="connsiteX3" fmla="*/ 3688959 w 3856564"/>
              <a:gd name="connsiteY3" fmla="*/ 366608 h 1986899"/>
              <a:gd name="connsiteX4" fmla="*/ 3066110 w 3856564"/>
              <a:gd name="connsiteY4" fmla="*/ 1839221 h 1986899"/>
              <a:gd name="connsiteX0" fmla="*/ 3067811 w 3858755"/>
              <a:gd name="connsiteY0" fmla="*/ 1839221 h 1934566"/>
              <a:gd name="connsiteX1" fmla="*/ 1264516 w 3858755"/>
              <a:gd name="connsiteY1" fmla="*/ 1907134 h 1934566"/>
              <a:gd name="connsiteX2" fmla="*/ 104444 w 3858755"/>
              <a:gd name="connsiteY2" fmla="*/ 406905 h 1934566"/>
              <a:gd name="connsiteX3" fmla="*/ 3690660 w 3858755"/>
              <a:gd name="connsiteY3" fmla="*/ 366608 h 1934566"/>
              <a:gd name="connsiteX4" fmla="*/ 3067811 w 3858755"/>
              <a:gd name="connsiteY4" fmla="*/ 1839221 h 1934566"/>
              <a:gd name="connsiteX0" fmla="*/ 3067811 w 3961725"/>
              <a:gd name="connsiteY0" fmla="*/ 1839221 h 1934566"/>
              <a:gd name="connsiteX1" fmla="*/ 1264516 w 3961725"/>
              <a:gd name="connsiteY1" fmla="*/ 1907134 h 1934566"/>
              <a:gd name="connsiteX2" fmla="*/ 104444 w 3961725"/>
              <a:gd name="connsiteY2" fmla="*/ 406905 h 1934566"/>
              <a:gd name="connsiteX3" fmla="*/ 3690660 w 3961725"/>
              <a:gd name="connsiteY3" fmla="*/ 366608 h 1934566"/>
              <a:gd name="connsiteX4" fmla="*/ 3067811 w 3961725"/>
              <a:gd name="connsiteY4" fmla="*/ 1839221 h 1934566"/>
              <a:gd name="connsiteX0" fmla="*/ 3067811 w 3937744"/>
              <a:gd name="connsiteY0" fmla="*/ 1839221 h 1946915"/>
              <a:gd name="connsiteX1" fmla="*/ 1264516 w 3937744"/>
              <a:gd name="connsiteY1" fmla="*/ 1907134 h 1946915"/>
              <a:gd name="connsiteX2" fmla="*/ 104444 w 3937744"/>
              <a:gd name="connsiteY2" fmla="*/ 406905 h 1946915"/>
              <a:gd name="connsiteX3" fmla="*/ 3690660 w 3937744"/>
              <a:gd name="connsiteY3" fmla="*/ 366608 h 1946915"/>
              <a:gd name="connsiteX4" fmla="*/ 3067811 w 3937744"/>
              <a:gd name="connsiteY4" fmla="*/ 1839221 h 1946915"/>
              <a:gd name="connsiteX0" fmla="*/ 3067811 w 3878265"/>
              <a:gd name="connsiteY0" fmla="*/ 1925537 h 2047176"/>
              <a:gd name="connsiteX1" fmla="*/ 1264516 w 3878265"/>
              <a:gd name="connsiteY1" fmla="*/ 1993450 h 2047176"/>
              <a:gd name="connsiteX2" fmla="*/ 104444 w 3878265"/>
              <a:gd name="connsiteY2" fmla="*/ 493221 h 2047176"/>
              <a:gd name="connsiteX3" fmla="*/ 3690660 w 3878265"/>
              <a:gd name="connsiteY3" fmla="*/ 452924 h 2047176"/>
              <a:gd name="connsiteX4" fmla="*/ 3067811 w 3878265"/>
              <a:gd name="connsiteY4" fmla="*/ 1925537 h 2047176"/>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62528"/>
              <a:gd name="connsiteY0" fmla="*/ 1934962 h 2058180"/>
              <a:gd name="connsiteX1" fmla="*/ 1264516 w 3962528"/>
              <a:gd name="connsiteY1" fmla="*/ 2002875 h 2058180"/>
              <a:gd name="connsiteX2" fmla="*/ 104444 w 3962528"/>
              <a:gd name="connsiteY2" fmla="*/ 502646 h 2058180"/>
              <a:gd name="connsiteX3" fmla="*/ 3690660 w 3962528"/>
              <a:gd name="connsiteY3" fmla="*/ 462349 h 2058180"/>
              <a:gd name="connsiteX4" fmla="*/ 3067811 w 3962528"/>
              <a:gd name="connsiteY4" fmla="*/ 1934962 h 2058180"/>
              <a:gd name="connsiteX0" fmla="*/ 3100043 w 3994760"/>
              <a:gd name="connsiteY0" fmla="*/ 1934963 h 2058181"/>
              <a:gd name="connsiteX1" fmla="*/ 1296748 w 3994760"/>
              <a:gd name="connsiteY1" fmla="*/ 2002876 h 2058181"/>
              <a:gd name="connsiteX2" fmla="*/ 136676 w 3994760"/>
              <a:gd name="connsiteY2" fmla="*/ 502647 h 2058181"/>
              <a:gd name="connsiteX3" fmla="*/ 3722892 w 3994760"/>
              <a:gd name="connsiteY3" fmla="*/ 462350 h 2058181"/>
              <a:gd name="connsiteX4" fmla="*/ 3100043 w 3994760"/>
              <a:gd name="connsiteY4" fmla="*/ 1934963 h 2058181"/>
              <a:gd name="connsiteX0" fmla="*/ 3133588 w 4028305"/>
              <a:gd name="connsiteY0" fmla="*/ 1966913 h 2090131"/>
              <a:gd name="connsiteX1" fmla="*/ 1330293 w 4028305"/>
              <a:gd name="connsiteY1" fmla="*/ 2034826 h 2090131"/>
              <a:gd name="connsiteX2" fmla="*/ 170221 w 4028305"/>
              <a:gd name="connsiteY2" fmla="*/ 534597 h 2090131"/>
              <a:gd name="connsiteX3" fmla="*/ 3756437 w 4028305"/>
              <a:gd name="connsiteY3" fmla="*/ 494300 h 2090131"/>
              <a:gd name="connsiteX4" fmla="*/ 3133588 w 4028305"/>
              <a:gd name="connsiteY4" fmla="*/ 1966913 h 2090131"/>
              <a:gd name="connsiteX0" fmla="*/ 3133588 w 4028305"/>
              <a:gd name="connsiteY0" fmla="*/ 1983116 h 2106334"/>
              <a:gd name="connsiteX1" fmla="*/ 1330293 w 4028305"/>
              <a:gd name="connsiteY1" fmla="*/ 2051029 h 2106334"/>
              <a:gd name="connsiteX2" fmla="*/ 170221 w 4028305"/>
              <a:gd name="connsiteY2" fmla="*/ 550800 h 2106334"/>
              <a:gd name="connsiteX3" fmla="*/ 3756437 w 4028305"/>
              <a:gd name="connsiteY3" fmla="*/ 510503 h 2106334"/>
              <a:gd name="connsiteX4" fmla="*/ 3133588 w 4028305"/>
              <a:gd name="connsiteY4" fmla="*/ 1983116 h 2106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8305" h="2106334">
                <a:moveTo>
                  <a:pt x="3133588" y="1983116"/>
                </a:moveTo>
                <a:cubicBezTo>
                  <a:pt x="2283056" y="1423222"/>
                  <a:pt x="1946887" y="1847952"/>
                  <a:pt x="1330293" y="2051029"/>
                </a:cubicBezTo>
                <a:cubicBezTo>
                  <a:pt x="713699" y="2254106"/>
                  <a:pt x="-433056" y="1421129"/>
                  <a:pt x="170221" y="550800"/>
                </a:cubicBezTo>
                <a:cubicBezTo>
                  <a:pt x="773498" y="-319529"/>
                  <a:pt x="3206771" y="-22745"/>
                  <a:pt x="3756437" y="510503"/>
                </a:cubicBezTo>
                <a:cubicBezTo>
                  <a:pt x="4306103" y="1043751"/>
                  <a:pt x="3984120" y="2543010"/>
                  <a:pt x="3133588" y="1983116"/>
                </a:cubicBezTo>
                <a:close/>
              </a:path>
            </a:pathLst>
          </a:custGeom>
          <a:noFill/>
          <a:ln w="19050">
            <a:solidFill>
              <a:schemeClr val="bg1">
                <a:lumMod val="65000"/>
              </a:schemeClr>
            </a:solidFill>
            <a:prstDash val="sysDot"/>
          </a:ln>
          <a:effectLst/>
          <a:ex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en-US" altLang="zh-CN" sz="1800" b="0" i="0" u="none" strike="noStrike" kern="0" cap="none" spc="0" normalizeH="0" baseline="0" noProof="0" dirty="0" smtClean="0">
              <a:ln>
                <a:noFill/>
              </a:ln>
              <a:solidFill>
                <a:srgbClr val="990000"/>
              </a:solidFill>
              <a:effectLst/>
              <a:uLnTx/>
              <a:uFillTx/>
              <a:latin typeface="Huawei Sans" panose="020C0503030203020204" pitchFamily="34" charset="0"/>
            </a:endParaRPr>
          </a:p>
        </p:txBody>
      </p:sp>
      <p:sp>
        <p:nvSpPr>
          <p:cNvPr id="58" name="椭圆 57"/>
          <p:cNvSpPr>
            <a:spLocks noChangeAspect="1"/>
          </p:cNvSpPr>
          <p:nvPr/>
        </p:nvSpPr>
        <p:spPr bwMode="grayWhite">
          <a:xfrm>
            <a:off x="713701" y="1692723"/>
            <a:ext cx="287773" cy="287773"/>
          </a:xfrm>
          <a:prstGeom prst="ellipse">
            <a:avLst/>
          </a:prstGeom>
          <a:solidFill>
            <a:srgbClr val="56C4D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 name="椭圆 61"/>
          <p:cNvSpPr>
            <a:spLocks noChangeAspect="1"/>
          </p:cNvSpPr>
          <p:nvPr/>
        </p:nvSpPr>
        <p:spPr bwMode="invGray">
          <a:xfrm>
            <a:off x="713701" y="1397198"/>
            <a:ext cx="287773" cy="287773"/>
          </a:xfrm>
          <a:prstGeom prst="ellipse">
            <a:avLst/>
          </a:prstGeom>
          <a:solidFill>
            <a:srgbClr val="FDD351">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4" name="TextBox 33"/>
          <p:cNvSpPr txBox="1"/>
          <p:nvPr/>
        </p:nvSpPr>
        <p:spPr bwMode="gray">
          <a:xfrm>
            <a:off x="1061218" y="1518831"/>
            <a:ext cx="909289" cy="461665"/>
          </a:xfrm>
          <a:prstGeom prst="rect">
            <a:avLst/>
          </a:prstGeom>
          <a:noFill/>
        </p:spPr>
        <p:txBody>
          <a:bodyPr wrap="square" rtlCol="0">
            <a:spAutoFit/>
          </a:bodyPr>
          <a:lstStyle/>
          <a:p>
            <a:r>
              <a:rPr lang="zh-CN" altLang="en-US" sz="1200" dirty="0" smtClean="0">
                <a:cs typeface="+mn-ea"/>
                <a:sym typeface="+mn-lt"/>
              </a:rPr>
              <a:t>相同</a:t>
            </a:r>
            <a:r>
              <a:rPr lang="en-US" altLang="zh-CN" sz="1200" dirty="0" smtClean="0">
                <a:cs typeface="+mn-ea"/>
                <a:sym typeface="+mn-lt"/>
              </a:rPr>
              <a:t>VLAN</a:t>
            </a:r>
            <a:r>
              <a:rPr lang="zh-CN" altLang="en-US" sz="1200" dirty="0" smtClean="0">
                <a:cs typeface="+mn-ea"/>
                <a:sym typeface="+mn-lt"/>
              </a:rPr>
              <a:t>区域</a:t>
            </a:r>
            <a:endParaRPr lang="zh-CN" altLang="en-US" sz="1200" dirty="0">
              <a:cs typeface="+mn-ea"/>
              <a:sym typeface="+mn-lt"/>
            </a:endParaRPr>
          </a:p>
        </p:txBody>
      </p:sp>
      <p:sp>
        <p:nvSpPr>
          <p:cNvPr id="65" name="TextBox 33"/>
          <p:cNvSpPr txBox="1"/>
          <p:nvPr/>
        </p:nvSpPr>
        <p:spPr bwMode="gray">
          <a:xfrm>
            <a:off x="1061218" y="2168327"/>
            <a:ext cx="909289" cy="461665"/>
          </a:xfrm>
          <a:prstGeom prst="rect">
            <a:avLst/>
          </a:prstGeom>
          <a:noFill/>
        </p:spPr>
        <p:txBody>
          <a:bodyPr wrap="square" rtlCol="0">
            <a:spAutoFit/>
          </a:bodyPr>
          <a:lstStyle/>
          <a:p>
            <a:r>
              <a:rPr lang="zh-CN" altLang="en-US" sz="1200">
                <a:cs typeface="+mn-ea"/>
                <a:sym typeface="+mn-lt"/>
              </a:rPr>
              <a:t>上线</a:t>
            </a:r>
            <a:r>
              <a:rPr lang="en-US" altLang="zh-CN" sz="1200">
                <a:cs typeface="+mn-ea"/>
                <a:sym typeface="+mn-lt"/>
              </a:rPr>
              <a:t>AP</a:t>
            </a:r>
            <a:r>
              <a:rPr lang="zh-CN" altLang="en-US" sz="1200">
                <a:cs typeface="+mn-ea"/>
                <a:sym typeface="+mn-lt"/>
              </a:rPr>
              <a:t>的漫游邻居</a:t>
            </a:r>
          </a:p>
        </p:txBody>
      </p:sp>
      <p:grpSp>
        <p:nvGrpSpPr>
          <p:cNvPr id="3" name="组合 2"/>
          <p:cNvGrpSpPr/>
          <p:nvPr/>
        </p:nvGrpSpPr>
        <p:grpSpPr bwMode="gray">
          <a:xfrm>
            <a:off x="7608888" y="114714"/>
            <a:ext cx="4138612" cy="213120"/>
            <a:chOff x="6624433" y="114714"/>
            <a:chExt cx="4138612" cy="213120"/>
          </a:xfrm>
        </p:grpSpPr>
        <p:sp>
          <p:nvSpPr>
            <p:cNvPr id="48" name="五边形 47"/>
            <p:cNvSpPr/>
            <p:nvPr/>
          </p:nvSpPr>
          <p:spPr bwMode="gray">
            <a:xfrm>
              <a:off x="6624433"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7434086"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gray">
            <a:xfrm>
              <a:off x="8243739"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9053392"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9863045"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7" name="TextBox 11"/>
          <p:cNvSpPr txBox="1"/>
          <p:nvPr/>
        </p:nvSpPr>
        <p:spPr bwMode="auto">
          <a:xfrm>
            <a:off x="612857" y="5462098"/>
            <a:ext cx="992579" cy="461665"/>
          </a:xfrm>
          <a:prstGeom prst="rect">
            <a:avLst/>
          </a:prstGeom>
          <a:noFill/>
        </p:spPr>
        <p:txBody>
          <a:bodyPr wrap="none" rtlCol="0">
            <a:spAutoFit/>
          </a:bodyPr>
          <a:lstStyle/>
          <a:p>
            <a:pPr algn="ctr"/>
            <a:r>
              <a:rPr lang="en-US" altLang="zh-CN" sz="1200" b="1" dirty="0">
                <a:solidFill>
                  <a:srgbClr val="F28944"/>
                </a:solidFill>
                <a:cs typeface="+mn-ea"/>
                <a:sym typeface="+mn-lt"/>
              </a:rPr>
              <a:t>SSID Guest</a:t>
            </a:r>
          </a:p>
          <a:p>
            <a:pPr algn="ctr"/>
            <a:r>
              <a:rPr lang="en-US" altLang="zh-CN" sz="1200" b="1" dirty="0">
                <a:solidFill>
                  <a:srgbClr val="F28944"/>
                </a:solidFill>
                <a:cs typeface="+mn-ea"/>
                <a:sym typeface="+mn-lt"/>
              </a:rPr>
              <a:t>VLAN 100</a:t>
            </a:r>
          </a:p>
        </p:txBody>
      </p:sp>
      <p:sp>
        <p:nvSpPr>
          <p:cNvPr id="78" name="TextBox 11"/>
          <p:cNvSpPr txBox="1"/>
          <p:nvPr/>
        </p:nvSpPr>
        <p:spPr bwMode="auto">
          <a:xfrm>
            <a:off x="3860278" y="5462099"/>
            <a:ext cx="992579" cy="461665"/>
          </a:xfrm>
          <a:prstGeom prst="rect">
            <a:avLst/>
          </a:prstGeom>
          <a:noFill/>
        </p:spPr>
        <p:txBody>
          <a:bodyPr wrap="none" rtlCol="0">
            <a:spAutoFit/>
          </a:bodyPr>
          <a:lstStyle/>
          <a:p>
            <a:pPr algn="ctr"/>
            <a:r>
              <a:rPr lang="en-US" altLang="zh-CN" sz="1200" b="1" dirty="0">
                <a:solidFill>
                  <a:srgbClr val="56C4D2"/>
                </a:solidFill>
                <a:cs typeface="+mn-ea"/>
                <a:sym typeface="+mn-lt"/>
              </a:rPr>
              <a:t>SSID Guest</a:t>
            </a:r>
          </a:p>
          <a:p>
            <a:pPr algn="ctr"/>
            <a:r>
              <a:rPr lang="en-US" altLang="zh-CN" sz="1200" b="1" dirty="0">
                <a:solidFill>
                  <a:srgbClr val="56C4D2"/>
                </a:solidFill>
                <a:cs typeface="+mn-ea"/>
                <a:sym typeface="+mn-lt"/>
              </a:rPr>
              <a:t>VLAN 200</a:t>
            </a:r>
          </a:p>
        </p:txBody>
      </p:sp>
    </p:spTree>
    <p:extLst>
      <p:ext uri="{BB962C8B-B14F-4D97-AF65-F5344CB8AC3E}">
        <p14:creationId xmlns:p14="http://schemas.microsoft.com/office/powerpoint/2010/main" val="1553786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latin typeface="+mn-lt"/>
                <a:ea typeface="+mn-ea"/>
                <a:cs typeface="+mn-ea"/>
                <a:sym typeface="+mn-lt"/>
              </a:rPr>
              <a:t>无线漫游</a:t>
            </a:r>
            <a:r>
              <a:rPr lang="zh-CN" altLang="en-US" dirty="0" smtClean="0">
                <a:latin typeface="+mn-lt"/>
                <a:ea typeface="+mn-ea"/>
                <a:cs typeface="+mn-ea"/>
                <a:sym typeface="+mn-lt"/>
              </a:rPr>
              <a:t>：三层</a:t>
            </a:r>
            <a:r>
              <a:rPr lang="zh-CN" altLang="en-US" dirty="0">
                <a:latin typeface="+mn-lt"/>
                <a:ea typeface="+mn-ea"/>
                <a:cs typeface="+mn-ea"/>
                <a:sym typeface="+mn-lt"/>
              </a:rPr>
              <a:t>漫游</a:t>
            </a:r>
            <a:r>
              <a:rPr lang="zh-CN" altLang="en-US" dirty="0" smtClean="0">
                <a:latin typeface="+mn-lt"/>
                <a:ea typeface="+mn-ea"/>
                <a:cs typeface="+mn-ea"/>
                <a:sym typeface="+mn-lt"/>
              </a:rPr>
              <a:t>设计 </a:t>
            </a:r>
            <a:r>
              <a:rPr lang="en-US" altLang="zh-CN" dirty="0" smtClean="0">
                <a:cs typeface="+mn-ea"/>
                <a:sym typeface="+mn-lt"/>
              </a:rPr>
              <a:t>(2)</a:t>
            </a:r>
            <a:endParaRPr lang="zh-CN" altLang="en-US" dirty="0">
              <a:latin typeface="+mn-lt"/>
              <a:ea typeface="+mn-ea"/>
              <a:cs typeface="+mn-ea"/>
              <a:sym typeface="+mn-lt"/>
            </a:endParaRPr>
          </a:p>
        </p:txBody>
      </p:sp>
      <p:sp>
        <p:nvSpPr>
          <p:cNvPr id="71" name="矩形 70"/>
          <p:cNvSpPr/>
          <p:nvPr/>
        </p:nvSpPr>
        <p:spPr bwMode="gray">
          <a:xfrm>
            <a:off x="5176755" y="2616704"/>
            <a:ext cx="6283407" cy="2015936"/>
          </a:xfrm>
          <a:prstGeom prst="rect">
            <a:avLst/>
          </a:prstGeom>
        </p:spPr>
        <p:txBody>
          <a:bodyPr wrap="square">
            <a:spAutoFit/>
          </a:bodyPr>
          <a:lstStyle/>
          <a:p>
            <a:pPr algn="just">
              <a:lnSpc>
                <a:spcPts val="2400"/>
              </a:lnSpc>
              <a:spcAft>
                <a:spcPts val="300"/>
              </a:spcAft>
            </a:pPr>
            <a:r>
              <a:rPr lang="zh-CN" altLang="en-US" sz="1400" b="1" dirty="0" smtClean="0">
                <a:cs typeface="+mn-ea"/>
                <a:sym typeface="+mn-lt"/>
              </a:rPr>
              <a:t>三</a:t>
            </a:r>
            <a:r>
              <a:rPr lang="zh-CN" altLang="en-US" sz="1400" b="1" dirty="0">
                <a:cs typeface="+mn-ea"/>
                <a:sym typeface="+mn-lt"/>
              </a:rPr>
              <a:t>层漫游设计</a:t>
            </a:r>
            <a:r>
              <a:rPr lang="zh-CN" altLang="en-US" sz="1400" b="1" dirty="0" smtClean="0">
                <a:cs typeface="+mn-ea"/>
                <a:sym typeface="+mn-lt"/>
              </a:rPr>
              <a:t>点</a:t>
            </a:r>
            <a:endParaRPr lang="zh-CN" altLang="en-US" sz="1400" b="1" dirty="0">
              <a:cs typeface="+mn-ea"/>
              <a:sym typeface="+mn-lt"/>
            </a:endParaRPr>
          </a:p>
          <a:p>
            <a:pPr marL="285750" indent="-285750" algn="just">
              <a:lnSpc>
                <a:spcPts val="2400"/>
              </a:lnSpc>
              <a:spcAft>
                <a:spcPts val="300"/>
              </a:spcAft>
              <a:buFont typeface="Arial" panose="020B0604020202020204" pitchFamily="34" charset="0"/>
              <a:buChar char="•"/>
            </a:pPr>
            <a:r>
              <a:rPr lang="zh-CN" altLang="en-US" sz="1400" dirty="0">
                <a:cs typeface="+mn-ea"/>
                <a:sym typeface="+mn-lt"/>
              </a:rPr>
              <a:t>由于三层漫游的流量会迂回到</a:t>
            </a:r>
            <a:r>
              <a:rPr lang="en-US" altLang="zh-CN" sz="1400" dirty="0">
                <a:cs typeface="+mn-ea"/>
                <a:sym typeface="+mn-lt"/>
              </a:rPr>
              <a:t>HAP</a:t>
            </a:r>
            <a:r>
              <a:rPr lang="zh-CN" altLang="en-US" sz="1400" dirty="0">
                <a:cs typeface="+mn-ea"/>
                <a:sym typeface="+mn-lt"/>
              </a:rPr>
              <a:t>，</a:t>
            </a:r>
            <a:r>
              <a:rPr lang="zh-CN" altLang="en-US" sz="1400" dirty="0" smtClean="0">
                <a:cs typeface="+mn-ea"/>
                <a:sym typeface="+mn-lt"/>
              </a:rPr>
              <a:t>在门厅处（入口处）尽可能</a:t>
            </a:r>
            <a:r>
              <a:rPr lang="zh-CN" altLang="en-US" sz="1400" dirty="0">
                <a:cs typeface="+mn-ea"/>
                <a:sym typeface="+mn-lt"/>
              </a:rPr>
              <a:t>规划较大的二层域，以便漫游时迂回的流量可以分散到不同的</a:t>
            </a:r>
            <a:r>
              <a:rPr lang="en-US" altLang="zh-CN" sz="1400" dirty="0" smtClean="0">
                <a:cs typeface="+mn-ea"/>
                <a:sym typeface="+mn-lt"/>
              </a:rPr>
              <a:t>AP</a:t>
            </a:r>
            <a:r>
              <a:rPr lang="zh-CN" altLang="en-US" sz="1400" dirty="0">
                <a:cs typeface="+mn-ea"/>
                <a:sym typeface="+mn-lt"/>
              </a:rPr>
              <a:t>。</a:t>
            </a:r>
          </a:p>
          <a:p>
            <a:pPr marL="285750" indent="-285750" algn="just">
              <a:lnSpc>
                <a:spcPts val="2400"/>
              </a:lnSpc>
              <a:spcAft>
                <a:spcPts val="300"/>
              </a:spcAft>
              <a:buFont typeface="Arial" panose="020B0604020202020204" pitchFamily="34" charset="0"/>
              <a:buChar char="•"/>
            </a:pPr>
            <a:r>
              <a:rPr lang="zh-CN" altLang="en-US" sz="1400" dirty="0">
                <a:cs typeface="+mn-ea"/>
                <a:sym typeface="+mn-lt"/>
              </a:rPr>
              <a:t>每个</a:t>
            </a:r>
            <a:r>
              <a:rPr lang="en-US" altLang="zh-CN" sz="1400" dirty="0">
                <a:cs typeface="+mn-ea"/>
                <a:sym typeface="+mn-lt"/>
              </a:rPr>
              <a:t>AP</a:t>
            </a:r>
            <a:r>
              <a:rPr lang="zh-CN" altLang="en-US" sz="1400" dirty="0">
                <a:cs typeface="+mn-ea"/>
                <a:sym typeface="+mn-lt"/>
              </a:rPr>
              <a:t>仅支持</a:t>
            </a:r>
            <a:r>
              <a:rPr lang="en-US" altLang="zh-CN" sz="1400" dirty="0">
                <a:cs typeface="+mn-ea"/>
                <a:sym typeface="+mn-lt"/>
              </a:rPr>
              <a:t>64</a:t>
            </a:r>
            <a:r>
              <a:rPr lang="zh-CN" altLang="en-US" sz="1400" dirty="0">
                <a:cs typeface="+mn-ea"/>
                <a:sym typeface="+mn-lt"/>
              </a:rPr>
              <a:t>个漫游迂回的用户，</a:t>
            </a:r>
            <a:r>
              <a:rPr lang="en-US" altLang="zh-CN" sz="1400" dirty="0">
                <a:cs typeface="+mn-ea"/>
                <a:sym typeface="+mn-lt"/>
              </a:rPr>
              <a:t>3</a:t>
            </a:r>
            <a:r>
              <a:rPr lang="zh-CN" altLang="en-US" sz="1400" dirty="0">
                <a:cs typeface="+mn-ea"/>
                <a:sym typeface="+mn-lt"/>
              </a:rPr>
              <a:t>层用户比较多时，会导致漫游失败，需要下线重新上线（实际部署中根据业务</a:t>
            </a:r>
            <a:r>
              <a:rPr lang="en-US" altLang="zh-CN" sz="1400" dirty="0">
                <a:cs typeface="+mn-ea"/>
                <a:sym typeface="+mn-lt"/>
              </a:rPr>
              <a:t>VLAN</a:t>
            </a:r>
            <a:r>
              <a:rPr lang="zh-CN" altLang="en-US" sz="1400" dirty="0">
                <a:cs typeface="+mn-ea"/>
                <a:sym typeface="+mn-lt"/>
              </a:rPr>
              <a:t>的规划，同楼层</a:t>
            </a:r>
            <a:r>
              <a:rPr lang="en-US" altLang="zh-CN" sz="1400" dirty="0">
                <a:cs typeface="+mn-ea"/>
                <a:sym typeface="+mn-lt"/>
              </a:rPr>
              <a:t>/</a:t>
            </a:r>
            <a:r>
              <a:rPr lang="zh-CN" altLang="en-US" sz="1400" dirty="0">
                <a:cs typeface="+mn-ea"/>
                <a:sym typeface="+mn-lt"/>
              </a:rPr>
              <a:t>同区域尽量部署二层漫游，减少三层漫游的发生）</a:t>
            </a:r>
            <a:r>
              <a:rPr lang="zh-CN" altLang="en-US" sz="1400" dirty="0" smtClean="0">
                <a:cs typeface="+mn-ea"/>
                <a:sym typeface="+mn-lt"/>
              </a:rPr>
              <a:t>。</a:t>
            </a:r>
            <a:endParaRPr lang="zh-CN" altLang="en-US" sz="1400" dirty="0">
              <a:cs typeface="+mn-ea"/>
              <a:sym typeface="+mn-lt"/>
            </a:endParaRPr>
          </a:p>
        </p:txBody>
      </p:sp>
      <p:sp>
        <p:nvSpPr>
          <p:cNvPr id="49" name="圆角矩形 48"/>
          <p:cNvSpPr/>
          <p:nvPr/>
        </p:nvSpPr>
        <p:spPr bwMode="grayWhite">
          <a:xfrm>
            <a:off x="2747853" y="4150260"/>
            <a:ext cx="2113484" cy="2022361"/>
          </a:xfrm>
          <a:prstGeom prst="roundRect">
            <a:avLst>
              <a:gd name="adj" fmla="val 5736"/>
            </a:avLst>
          </a:prstGeom>
          <a:solidFill>
            <a:srgbClr val="56C4D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50" name="圆角矩形 49"/>
          <p:cNvSpPr/>
          <p:nvPr/>
        </p:nvSpPr>
        <p:spPr bwMode="invGray">
          <a:xfrm>
            <a:off x="636813" y="4150260"/>
            <a:ext cx="2053427" cy="2022361"/>
          </a:xfrm>
          <a:prstGeom prst="roundRect">
            <a:avLst>
              <a:gd name="adj" fmla="val 5736"/>
            </a:avLst>
          </a:prstGeom>
          <a:solidFill>
            <a:srgbClr val="FDD351">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cxnSp>
        <p:nvCxnSpPr>
          <p:cNvPr id="57" name="直接连接符 56"/>
          <p:cNvCxnSpPr/>
          <p:nvPr/>
        </p:nvCxnSpPr>
        <p:spPr bwMode="gray">
          <a:xfrm>
            <a:off x="2803876" y="2176013"/>
            <a:ext cx="0" cy="4531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任意多边形 57"/>
          <p:cNvSpPr/>
          <p:nvPr/>
        </p:nvSpPr>
        <p:spPr bwMode="gray">
          <a:xfrm>
            <a:off x="2314074" y="1628674"/>
            <a:ext cx="979604" cy="65499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Network</a:t>
            </a:r>
            <a:endParaRPr lang="zh-CN" altLang="en-US" sz="1400" b="1">
              <a:cs typeface="+mn-ea"/>
              <a:sym typeface="+mn-lt"/>
            </a:endParaRPr>
          </a:p>
        </p:txBody>
      </p:sp>
      <p:pic>
        <p:nvPicPr>
          <p:cNvPr id="62" name="图片 87" descr="汇聚交换机.png"/>
          <p:cNvPicPr>
            <a:picLocks noChangeAspect="1"/>
          </p:cNvPicPr>
          <p:nvPr/>
        </p:nvPicPr>
        <p:blipFill>
          <a:blip r:embed="rId3" cstate="print"/>
          <a:stretch>
            <a:fillRect/>
          </a:stretch>
        </p:blipFill>
        <p:spPr bwMode="gray">
          <a:xfrm>
            <a:off x="2613144" y="2622887"/>
            <a:ext cx="405710" cy="331945"/>
          </a:xfrm>
          <a:prstGeom prst="rect">
            <a:avLst/>
          </a:prstGeom>
        </p:spPr>
      </p:pic>
      <p:pic>
        <p:nvPicPr>
          <p:cNvPr id="64" name="图片 76" descr="接入交换机.png"/>
          <p:cNvPicPr>
            <a:picLocks noChangeAspect="1"/>
          </p:cNvPicPr>
          <p:nvPr/>
        </p:nvPicPr>
        <p:blipFill>
          <a:blip r:embed="rId4" cstate="print"/>
          <a:stretch>
            <a:fillRect/>
          </a:stretch>
        </p:blipFill>
        <p:spPr bwMode="gray">
          <a:xfrm>
            <a:off x="1516014" y="3548826"/>
            <a:ext cx="405710" cy="331945"/>
          </a:xfrm>
          <a:prstGeom prst="rect">
            <a:avLst/>
          </a:prstGeom>
        </p:spPr>
      </p:pic>
      <p:pic>
        <p:nvPicPr>
          <p:cNvPr id="65" name="图片 76" descr="接入交换机.png"/>
          <p:cNvPicPr>
            <a:picLocks noChangeAspect="1"/>
          </p:cNvPicPr>
          <p:nvPr/>
        </p:nvPicPr>
        <p:blipFill>
          <a:blip r:embed="rId4" cstate="print"/>
          <a:stretch>
            <a:fillRect/>
          </a:stretch>
        </p:blipFill>
        <p:spPr bwMode="gray">
          <a:xfrm>
            <a:off x="3601945" y="3548826"/>
            <a:ext cx="405710" cy="331945"/>
          </a:xfrm>
          <a:prstGeom prst="rect">
            <a:avLst/>
          </a:prstGeom>
        </p:spPr>
      </p:pic>
      <p:pic>
        <p:nvPicPr>
          <p:cNvPr id="67" name="图片 105" descr="AP.png"/>
          <p:cNvPicPr>
            <a:picLocks noChangeAspect="1"/>
          </p:cNvPicPr>
          <p:nvPr/>
        </p:nvPicPr>
        <p:blipFill>
          <a:blip r:embed="rId5" cstate="print"/>
          <a:stretch>
            <a:fillRect/>
          </a:stretch>
        </p:blipFill>
        <p:spPr bwMode="gray">
          <a:xfrm>
            <a:off x="874340" y="4383570"/>
            <a:ext cx="405710" cy="331945"/>
          </a:xfrm>
          <a:prstGeom prst="rect">
            <a:avLst/>
          </a:prstGeom>
        </p:spPr>
      </p:pic>
      <p:pic>
        <p:nvPicPr>
          <p:cNvPr id="74" name="图片 105" descr="AP.png"/>
          <p:cNvPicPr>
            <a:picLocks noChangeAspect="1"/>
          </p:cNvPicPr>
          <p:nvPr/>
        </p:nvPicPr>
        <p:blipFill>
          <a:blip r:embed="rId5" cstate="print"/>
          <a:stretch>
            <a:fillRect/>
          </a:stretch>
        </p:blipFill>
        <p:spPr bwMode="gray">
          <a:xfrm>
            <a:off x="1516014" y="5077848"/>
            <a:ext cx="405710" cy="331945"/>
          </a:xfrm>
          <a:prstGeom prst="rect">
            <a:avLst/>
          </a:prstGeom>
        </p:spPr>
      </p:pic>
      <p:pic>
        <p:nvPicPr>
          <p:cNvPr id="76" name="图片 105" descr="AP.png"/>
          <p:cNvPicPr>
            <a:picLocks noChangeAspect="1"/>
          </p:cNvPicPr>
          <p:nvPr/>
        </p:nvPicPr>
        <p:blipFill>
          <a:blip r:embed="rId5" cstate="print"/>
          <a:stretch>
            <a:fillRect/>
          </a:stretch>
        </p:blipFill>
        <p:spPr bwMode="gray">
          <a:xfrm>
            <a:off x="2157687" y="4383569"/>
            <a:ext cx="405710" cy="331945"/>
          </a:xfrm>
          <a:prstGeom prst="rect">
            <a:avLst/>
          </a:prstGeom>
        </p:spPr>
      </p:pic>
      <p:pic>
        <p:nvPicPr>
          <p:cNvPr id="77" name="图片 105" descr="AP.png"/>
          <p:cNvPicPr>
            <a:picLocks noChangeAspect="1"/>
          </p:cNvPicPr>
          <p:nvPr/>
        </p:nvPicPr>
        <p:blipFill>
          <a:blip r:embed="rId5" cstate="print"/>
          <a:stretch>
            <a:fillRect/>
          </a:stretch>
        </p:blipFill>
        <p:spPr bwMode="gray">
          <a:xfrm>
            <a:off x="2960272" y="4383570"/>
            <a:ext cx="405710" cy="331945"/>
          </a:xfrm>
          <a:prstGeom prst="rect">
            <a:avLst/>
          </a:prstGeom>
        </p:spPr>
      </p:pic>
      <p:pic>
        <p:nvPicPr>
          <p:cNvPr id="78" name="图片 105" descr="AP.png"/>
          <p:cNvPicPr>
            <a:picLocks noChangeAspect="1"/>
          </p:cNvPicPr>
          <p:nvPr/>
        </p:nvPicPr>
        <p:blipFill>
          <a:blip r:embed="rId5" cstate="print"/>
          <a:stretch>
            <a:fillRect/>
          </a:stretch>
        </p:blipFill>
        <p:spPr bwMode="gray">
          <a:xfrm>
            <a:off x="3601946" y="5077848"/>
            <a:ext cx="405710" cy="331945"/>
          </a:xfrm>
          <a:prstGeom prst="rect">
            <a:avLst/>
          </a:prstGeom>
        </p:spPr>
      </p:pic>
      <p:pic>
        <p:nvPicPr>
          <p:cNvPr id="80" name="图片 105" descr="AP.png"/>
          <p:cNvPicPr>
            <a:picLocks noChangeAspect="1"/>
          </p:cNvPicPr>
          <p:nvPr/>
        </p:nvPicPr>
        <p:blipFill>
          <a:blip r:embed="rId5" cstate="print"/>
          <a:stretch>
            <a:fillRect/>
          </a:stretch>
        </p:blipFill>
        <p:spPr bwMode="gray">
          <a:xfrm>
            <a:off x="4243619" y="4383569"/>
            <a:ext cx="405710" cy="331945"/>
          </a:xfrm>
          <a:prstGeom prst="rect">
            <a:avLst/>
          </a:prstGeom>
        </p:spPr>
      </p:pic>
      <p:cxnSp>
        <p:nvCxnSpPr>
          <p:cNvPr id="81" name="直接连接符 80"/>
          <p:cNvCxnSpPr>
            <a:stCxn id="62" idx="2"/>
            <a:endCxn id="64" idx="0"/>
          </p:cNvCxnSpPr>
          <p:nvPr/>
        </p:nvCxnSpPr>
        <p:spPr bwMode="gray">
          <a:xfrm flipH="1">
            <a:off x="1718869" y="2954832"/>
            <a:ext cx="1097130" cy="5939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62" idx="2"/>
            <a:endCxn id="65" idx="0"/>
          </p:cNvCxnSpPr>
          <p:nvPr/>
        </p:nvCxnSpPr>
        <p:spPr bwMode="gray">
          <a:xfrm>
            <a:off x="2815999" y="2954832"/>
            <a:ext cx="988801" cy="5939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64" idx="2"/>
            <a:endCxn id="67" idx="0"/>
          </p:cNvCxnSpPr>
          <p:nvPr/>
        </p:nvCxnSpPr>
        <p:spPr bwMode="gray">
          <a:xfrm flipH="1">
            <a:off x="1077195" y="3880771"/>
            <a:ext cx="641674" cy="50279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64" idx="2"/>
            <a:endCxn id="74" idx="0"/>
          </p:cNvCxnSpPr>
          <p:nvPr/>
        </p:nvCxnSpPr>
        <p:spPr bwMode="gray">
          <a:xfrm>
            <a:off x="1718869" y="3880771"/>
            <a:ext cx="0" cy="119707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64" idx="2"/>
            <a:endCxn id="76" idx="0"/>
          </p:cNvCxnSpPr>
          <p:nvPr/>
        </p:nvCxnSpPr>
        <p:spPr bwMode="gray">
          <a:xfrm>
            <a:off x="1718869" y="3880771"/>
            <a:ext cx="641673" cy="502798"/>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65" idx="2"/>
            <a:endCxn id="77" idx="0"/>
          </p:cNvCxnSpPr>
          <p:nvPr/>
        </p:nvCxnSpPr>
        <p:spPr bwMode="gray">
          <a:xfrm flipH="1">
            <a:off x="3163127" y="3880771"/>
            <a:ext cx="641673" cy="50279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65" idx="2"/>
            <a:endCxn id="78" idx="0"/>
          </p:cNvCxnSpPr>
          <p:nvPr/>
        </p:nvCxnSpPr>
        <p:spPr bwMode="gray">
          <a:xfrm>
            <a:off x="3804800" y="3880771"/>
            <a:ext cx="1" cy="119707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65" idx="2"/>
            <a:endCxn id="80" idx="0"/>
          </p:cNvCxnSpPr>
          <p:nvPr/>
        </p:nvCxnSpPr>
        <p:spPr bwMode="gray">
          <a:xfrm>
            <a:off x="3804800" y="3880771"/>
            <a:ext cx="641674" cy="502798"/>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0" name="图片 158" descr="SAN网络-蓝.png"/>
          <p:cNvPicPr>
            <a:picLocks noChangeAspect="1"/>
          </p:cNvPicPr>
          <p:nvPr/>
        </p:nvPicPr>
        <p:blipFill>
          <a:blip r:embed="rId6" cstate="print"/>
          <a:stretch>
            <a:fillRect/>
          </a:stretch>
        </p:blipFill>
        <p:spPr bwMode="gray">
          <a:xfrm>
            <a:off x="1970507" y="5377728"/>
            <a:ext cx="243218" cy="398465"/>
          </a:xfrm>
          <a:prstGeom prst="rect">
            <a:avLst/>
          </a:prstGeom>
        </p:spPr>
      </p:pic>
      <p:pic>
        <p:nvPicPr>
          <p:cNvPr id="91" name="图片 158" descr="SAN网络-蓝.png"/>
          <p:cNvPicPr>
            <a:picLocks noChangeAspect="1"/>
          </p:cNvPicPr>
          <p:nvPr/>
        </p:nvPicPr>
        <p:blipFill>
          <a:blip r:embed="rId6" cstate="print"/>
          <a:stretch>
            <a:fillRect/>
          </a:stretch>
        </p:blipFill>
        <p:spPr bwMode="gray">
          <a:xfrm>
            <a:off x="3291672" y="5377728"/>
            <a:ext cx="243218" cy="398465"/>
          </a:xfrm>
          <a:prstGeom prst="rect">
            <a:avLst/>
          </a:prstGeom>
        </p:spPr>
      </p:pic>
      <p:sp>
        <p:nvSpPr>
          <p:cNvPr id="92" name="TextBox 33"/>
          <p:cNvSpPr txBox="1"/>
          <p:nvPr/>
        </p:nvSpPr>
        <p:spPr bwMode="gray">
          <a:xfrm>
            <a:off x="1519657" y="5812052"/>
            <a:ext cx="1079142" cy="276999"/>
          </a:xfrm>
          <a:prstGeom prst="rect">
            <a:avLst/>
          </a:prstGeom>
          <a:noFill/>
        </p:spPr>
        <p:txBody>
          <a:bodyPr wrap="none" rtlCol="0">
            <a:spAutoFit/>
          </a:bodyPr>
          <a:lstStyle/>
          <a:p>
            <a:r>
              <a:rPr lang="en-US" altLang="zh-CN" sz="1200" smtClean="0">
                <a:cs typeface="+mn-ea"/>
                <a:sym typeface="+mn-lt"/>
              </a:rPr>
              <a:t>192.168.1.25</a:t>
            </a:r>
            <a:endParaRPr lang="zh-CN" altLang="en-US" sz="1200">
              <a:cs typeface="+mn-ea"/>
              <a:sym typeface="+mn-lt"/>
            </a:endParaRPr>
          </a:p>
        </p:txBody>
      </p:sp>
      <p:sp>
        <p:nvSpPr>
          <p:cNvPr id="93" name="TextBox 34"/>
          <p:cNvSpPr txBox="1"/>
          <p:nvPr/>
        </p:nvSpPr>
        <p:spPr bwMode="gray">
          <a:xfrm>
            <a:off x="2909906" y="5812052"/>
            <a:ext cx="1079142" cy="276999"/>
          </a:xfrm>
          <a:prstGeom prst="rect">
            <a:avLst/>
          </a:prstGeom>
          <a:noFill/>
        </p:spPr>
        <p:txBody>
          <a:bodyPr wrap="none" rtlCol="0">
            <a:spAutoFit/>
          </a:bodyPr>
          <a:lstStyle/>
          <a:p>
            <a:r>
              <a:rPr lang="en-US" altLang="zh-CN" sz="1200" smtClean="0">
                <a:cs typeface="+mn-ea"/>
                <a:sym typeface="+mn-lt"/>
              </a:rPr>
              <a:t>192.168.1.25</a:t>
            </a:r>
            <a:endParaRPr lang="zh-CN" altLang="en-US" sz="1200">
              <a:cs typeface="+mn-ea"/>
              <a:sym typeface="+mn-lt"/>
            </a:endParaRPr>
          </a:p>
        </p:txBody>
      </p:sp>
      <p:cxnSp>
        <p:nvCxnSpPr>
          <p:cNvPr id="94" name="Straight Arrow Connector 35"/>
          <p:cNvCxnSpPr/>
          <p:nvPr/>
        </p:nvCxnSpPr>
        <p:spPr bwMode="gray">
          <a:xfrm>
            <a:off x="2320033" y="5671538"/>
            <a:ext cx="902957" cy="0"/>
          </a:xfrm>
          <a:prstGeom prst="straightConnector1">
            <a:avLst/>
          </a:prstGeom>
          <a:noFill/>
          <a:ln w="38100" cap="rnd">
            <a:gradFill flip="none" rotWithShape="1">
              <a:gsLst>
                <a:gs pos="100000">
                  <a:srgbClr val="30B5C5"/>
                </a:gs>
                <a:gs pos="0">
                  <a:srgbClr val="ED6D00"/>
                </a:gs>
              </a:gsLst>
              <a:lin ang="0" scaled="1"/>
              <a:tileRect/>
            </a:gradFill>
            <a:prstDash val="solid"/>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95" name="TextBox 11"/>
          <p:cNvSpPr txBox="1"/>
          <p:nvPr/>
        </p:nvSpPr>
        <p:spPr bwMode="auto">
          <a:xfrm>
            <a:off x="612857" y="5462098"/>
            <a:ext cx="992579" cy="461665"/>
          </a:xfrm>
          <a:prstGeom prst="rect">
            <a:avLst/>
          </a:prstGeom>
          <a:noFill/>
        </p:spPr>
        <p:txBody>
          <a:bodyPr wrap="none" rtlCol="0">
            <a:spAutoFit/>
          </a:bodyPr>
          <a:lstStyle/>
          <a:p>
            <a:pPr algn="ctr"/>
            <a:r>
              <a:rPr lang="en-US" altLang="zh-CN" sz="1200" b="1" dirty="0">
                <a:solidFill>
                  <a:srgbClr val="F28944"/>
                </a:solidFill>
                <a:cs typeface="+mn-ea"/>
                <a:sym typeface="+mn-lt"/>
              </a:rPr>
              <a:t>SSID Guest</a:t>
            </a:r>
          </a:p>
          <a:p>
            <a:pPr algn="ctr"/>
            <a:r>
              <a:rPr lang="en-US" altLang="zh-CN" sz="1200" b="1" dirty="0">
                <a:solidFill>
                  <a:srgbClr val="F28944"/>
                </a:solidFill>
                <a:cs typeface="+mn-ea"/>
                <a:sym typeface="+mn-lt"/>
              </a:rPr>
              <a:t>VLAN 100</a:t>
            </a:r>
          </a:p>
        </p:txBody>
      </p:sp>
      <p:sp>
        <p:nvSpPr>
          <p:cNvPr id="96" name="TextBox 11"/>
          <p:cNvSpPr txBox="1"/>
          <p:nvPr/>
        </p:nvSpPr>
        <p:spPr bwMode="auto">
          <a:xfrm>
            <a:off x="3860278" y="5462099"/>
            <a:ext cx="992579" cy="461665"/>
          </a:xfrm>
          <a:prstGeom prst="rect">
            <a:avLst/>
          </a:prstGeom>
          <a:noFill/>
        </p:spPr>
        <p:txBody>
          <a:bodyPr wrap="none" rtlCol="0">
            <a:spAutoFit/>
          </a:bodyPr>
          <a:lstStyle/>
          <a:p>
            <a:pPr algn="ctr"/>
            <a:r>
              <a:rPr lang="en-US" altLang="zh-CN" sz="1200" b="1" dirty="0">
                <a:solidFill>
                  <a:srgbClr val="56C4D2"/>
                </a:solidFill>
                <a:cs typeface="+mn-ea"/>
                <a:sym typeface="+mn-lt"/>
              </a:rPr>
              <a:t>SSID Guest</a:t>
            </a:r>
          </a:p>
          <a:p>
            <a:pPr algn="ctr"/>
            <a:r>
              <a:rPr lang="en-US" altLang="zh-CN" sz="1200" b="1" dirty="0">
                <a:solidFill>
                  <a:srgbClr val="56C4D2"/>
                </a:solidFill>
                <a:cs typeface="+mn-ea"/>
                <a:sym typeface="+mn-lt"/>
              </a:rPr>
              <a:t>VLAN 200</a:t>
            </a:r>
          </a:p>
        </p:txBody>
      </p:sp>
      <p:sp>
        <p:nvSpPr>
          <p:cNvPr id="97" name="任意多边形 96"/>
          <p:cNvSpPr/>
          <p:nvPr/>
        </p:nvSpPr>
        <p:spPr bwMode="gray">
          <a:xfrm flipH="1">
            <a:off x="2096462" y="2179240"/>
            <a:ext cx="1830957" cy="2890864"/>
          </a:xfrm>
          <a:custGeom>
            <a:avLst/>
            <a:gdLst>
              <a:gd name="connsiteX0" fmla="*/ 0 w 683173"/>
              <a:gd name="connsiteY0" fmla="*/ 2028497 h 2028497"/>
              <a:gd name="connsiteX1" fmla="*/ 0 w 683173"/>
              <a:gd name="connsiteY1" fmla="*/ 777765 h 2028497"/>
              <a:gd name="connsiteX2" fmla="*/ 683173 w 683173"/>
              <a:gd name="connsiteY2" fmla="*/ 777765 h 2028497"/>
              <a:gd name="connsiteX3" fmla="*/ 683173 w 683173"/>
              <a:gd name="connsiteY3" fmla="*/ 0 h 2028497"/>
              <a:gd name="connsiteX0" fmla="*/ 0 w 733778"/>
              <a:gd name="connsiteY0" fmla="*/ 2028497 h 2028497"/>
              <a:gd name="connsiteX1" fmla="*/ 0 w 733778"/>
              <a:gd name="connsiteY1" fmla="*/ 777765 h 2028497"/>
              <a:gd name="connsiteX2" fmla="*/ 683173 w 733778"/>
              <a:gd name="connsiteY2" fmla="*/ 777765 h 2028497"/>
              <a:gd name="connsiteX3" fmla="*/ 683173 w 733778"/>
              <a:gd name="connsiteY3" fmla="*/ 0 h 2028497"/>
              <a:gd name="connsiteX0" fmla="*/ 50605 w 784383"/>
              <a:gd name="connsiteY0" fmla="*/ 2028497 h 2028497"/>
              <a:gd name="connsiteX1" fmla="*/ 50605 w 784383"/>
              <a:gd name="connsiteY1" fmla="*/ 777765 h 2028497"/>
              <a:gd name="connsiteX2" fmla="*/ 733778 w 784383"/>
              <a:gd name="connsiteY2" fmla="*/ 777765 h 2028497"/>
              <a:gd name="connsiteX3" fmla="*/ 733778 w 784383"/>
              <a:gd name="connsiteY3" fmla="*/ 0 h 2028497"/>
              <a:gd name="connsiteX0" fmla="*/ 67895 w 801673"/>
              <a:gd name="connsiteY0" fmla="*/ 2028497 h 2028497"/>
              <a:gd name="connsiteX1" fmla="*/ 67895 w 801673"/>
              <a:gd name="connsiteY1" fmla="*/ 777765 h 2028497"/>
              <a:gd name="connsiteX2" fmla="*/ 751068 w 801673"/>
              <a:gd name="connsiteY2" fmla="*/ 777765 h 2028497"/>
              <a:gd name="connsiteX3" fmla="*/ 751068 w 801673"/>
              <a:gd name="connsiteY3" fmla="*/ 0 h 2028497"/>
              <a:gd name="connsiteX0" fmla="*/ 63485 w 757620"/>
              <a:gd name="connsiteY0" fmla="*/ 2028497 h 2028497"/>
              <a:gd name="connsiteX1" fmla="*/ 63485 w 757620"/>
              <a:gd name="connsiteY1" fmla="*/ 777765 h 2028497"/>
              <a:gd name="connsiteX2" fmla="*/ 682863 w 757620"/>
              <a:gd name="connsiteY2" fmla="*/ 767132 h 2028497"/>
              <a:gd name="connsiteX3" fmla="*/ 746658 w 757620"/>
              <a:gd name="connsiteY3" fmla="*/ 0 h 2028497"/>
              <a:gd name="connsiteX0" fmla="*/ 134609 w 1751534"/>
              <a:gd name="connsiteY0" fmla="*/ 2028497 h 2028497"/>
              <a:gd name="connsiteX1" fmla="*/ 134609 w 1751534"/>
              <a:gd name="connsiteY1" fmla="*/ 777765 h 2028497"/>
              <a:gd name="connsiteX2" fmla="*/ 1742815 w 1751534"/>
              <a:gd name="connsiteY2" fmla="*/ 1522044 h 2028497"/>
              <a:gd name="connsiteX3" fmla="*/ 817782 w 1751534"/>
              <a:gd name="connsiteY3" fmla="*/ 0 h 2028497"/>
              <a:gd name="connsiteX0" fmla="*/ 12441 w 1622386"/>
              <a:gd name="connsiteY0" fmla="*/ 2028497 h 2028497"/>
              <a:gd name="connsiteX1" fmla="*/ 405846 w 1622386"/>
              <a:gd name="connsiteY1" fmla="*/ 1011681 h 2028497"/>
              <a:gd name="connsiteX2" fmla="*/ 1620647 w 1622386"/>
              <a:gd name="connsiteY2" fmla="*/ 1522044 h 2028497"/>
              <a:gd name="connsiteX3" fmla="*/ 695614 w 1622386"/>
              <a:gd name="connsiteY3" fmla="*/ 0 h 2028497"/>
              <a:gd name="connsiteX0" fmla="*/ 7267 w 1615732"/>
              <a:gd name="connsiteY0" fmla="*/ 2028497 h 2028497"/>
              <a:gd name="connsiteX1" fmla="*/ 581425 w 1615732"/>
              <a:gd name="connsiteY1" fmla="*/ 650174 h 2028497"/>
              <a:gd name="connsiteX2" fmla="*/ 1615473 w 1615732"/>
              <a:gd name="connsiteY2" fmla="*/ 1522044 h 2028497"/>
              <a:gd name="connsiteX3" fmla="*/ 690440 w 1615732"/>
              <a:gd name="connsiteY3" fmla="*/ 0 h 2028497"/>
              <a:gd name="connsiteX0" fmla="*/ 9250 w 1617715"/>
              <a:gd name="connsiteY0" fmla="*/ 2028497 h 2028497"/>
              <a:gd name="connsiteX1" fmla="*/ 583408 w 1617715"/>
              <a:gd name="connsiteY1" fmla="*/ 650174 h 2028497"/>
              <a:gd name="connsiteX2" fmla="*/ 1617456 w 1617715"/>
              <a:gd name="connsiteY2" fmla="*/ 1522044 h 2028497"/>
              <a:gd name="connsiteX3" fmla="*/ 692423 w 1617715"/>
              <a:gd name="connsiteY3" fmla="*/ 0 h 2028497"/>
              <a:gd name="connsiteX0" fmla="*/ 7751 w 1584319"/>
              <a:gd name="connsiteY0" fmla="*/ 2304943 h 2304943"/>
              <a:gd name="connsiteX1" fmla="*/ 550012 w 1584319"/>
              <a:gd name="connsiteY1" fmla="*/ 650174 h 2304943"/>
              <a:gd name="connsiteX2" fmla="*/ 1584060 w 1584319"/>
              <a:gd name="connsiteY2" fmla="*/ 1522044 h 2304943"/>
              <a:gd name="connsiteX3" fmla="*/ 659027 w 1584319"/>
              <a:gd name="connsiteY3" fmla="*/ 0 h 2304943"/>
              <a:gd name="connsiteX0" fmla="*/ 0 w 1576568"/>
              <a:gd name="connsiteY0" fmla="*/ 2304943 h 2304943"/>
              <a:gd name="connsiteX1" fmla="*/ 542261 w 1576568"/>
              <a:gd name="connsiteY1" fmla="*/ 650174 h 2304943"/>
              <a:gd name="connsiteX2" fmla="*/ 1576309 w 1576568"/>
              <a:gd name="connsiteY2" fmla="*/ 1522044 h 2304943"/>
              <a:gd name="connsiteX3" fmla="*/ 651276 w 1576568"/>
              <a:gd name="connsiteY3" fmla="*/ 0 h 2304943"/>
              <a:gd name="connsiteX0" fmla="*/ 0 w 1576738"/>
              <a:gd name="connsiteY0" fmla="*/ 2304943 h 2304943"/>
              <a:gd name="connsiteX1" fmla="*/ 510363 w 1576738"/>
              <a:gd name="connsiteY1" fmla="*/ 650174 h 2304943"/>
              <a:gd name="connsiteX2" fmla="*/ 1576309 w 1576738"/>
              <a:gd name="connsiteY2" fmla="*/ 1522044 h 2304943"/>
              <a:gd name="connsiteX3" fmla="*/ 651276 w 1576738"/>
              <a:gd name="connsiteY3" fmla="*/ 0 h 2304943"/>
              <a:gd name="connsiteX0" fmla="*/ 0 w 1576738"/>
              <a:gd name="connsiteY0" fmla="*/ 2304943 h 2304943"/>
              <a:gd name="connsiteX1" fmla="*/ 510363 w 1576738"/>
              <a:gd name="connsiteY1" fmla="*/ 650174 h 2304943"/>
              <a:gd name="connsiteX2" fmla="*/ 1576309 w 1576738"/>
              <a:gd name="connsiteY2" fmla="*/ 1522044 h 2304943"/>
              <a:gd name="connsiteX3" fmla="*/ 651276 w 1576738"/>
              <a:gd name="connsiteY3" fmla="*/ 0 h 2304943"/>
              <a:gd name="connsiteX0" fmla="*/ 0 w 1594673"/>
              <a:gd name="connsiteY0" fmla="*/ 2304943 h 2304943"/>
              <a:gd name="connsiteX1" fmla="*/ 510363 w 1594673"/>
              <a:gd name="connsiteY1" fmla="*/ 650174 h 2304943"/>
              <a:gd name="connsiteX2" fmla="*/ 1576309 w 1594673"/>
              <a:gd name="connsiteY2" fmla="*/ 1522044 h 2304943"/>
              <a:gd name="connsiteX3" fmla="*/ 651276 w 1594673"/>
              <a:gd name="connsiteY3" fmla="*/ 0 h 2304943"/>
              <a:gd name="connsiteX0" fmla="*/ 0 w 1592531"/>
              <a:gd name="connsiteY0" fmla="*/ 2560124 h 2560124"/>
              <a:gd name="connsiteX1" fmla="*/ 510363 w 1592531"/>
              <a:gd name="connsiteY1" fmla="*/ 905355 h 2560124"/>
              <a:gd name="connsiteX2" fmla="*/ 1576309 w 1592531"/>
              <a:gd name="connsiteY2" fmla="*/ 1777225 h 2560124"/>
              <a:gd name="connsiteX3" fmla="*/ 1182904 w 1592531"/>
              <a:gd name="connsiteY3" fmla="*/ 0 h 2560124"/>
              <a:gd name="connsiteX0" fmla="*/ 0 w 1594440"/>
              <a:gd name="connsiteY0" fmla="*/ 2560124 h 2560124"/>
              <a:gd name="connsiteX1" fmla="*/ 510363 w 1594440"/>
              <a:gd name="connsiteY1" fmla="*/ 905355 h 2560124"/>
              <a:gd name="connsiteX2" fmla="*/ 1576309 w 1594440"/>
              <a:gd name="connsiteY2" fmla="*/ 1777225 h 2560124"/>
              <a:gd name="connsiteX3" fmla="*/ 1182904 w 1594440"/>
              <a:gd name="connsiteY3" fmla="*/ 0 h 2560124"/>
              <a:gd name="connsiteX0" fmla="*/ 0 w 1591460"/>
              <a:gd name="connsiteY0" fmla="*/ 2560124 h 2560124"/>
              <a:gd name="connsiteX1" fmla="*/ 510363 w 1591460"/>
              <a:gd name="connsiteY1" fmla="*/ 905355 h 2560124"/>
              <a:gd name="connsiteX2" fmla="*/ 1576309 w 1591460"/>
              <a:gd name="connsiteY2" fmla="*/ 1777225 h 2560124"/>
              <a:gd name="connsiteX3" fmla="*/ 1182904 w 1591460"/>
              <a:gd name="connsiteY3" fmla="*/ 0 h 2560124"/>
              <a:gd name="connsiteX0" fmla="*/ 0 w 1592250"/>
              <a:gd name="connsiteY0" fmla="*/ 2560124 h 2560124"/>
              <a:gd name="connsiteX1" fmla="*/ 510363 w 1592250"/>
              <a:gd name="connsiteY1" fmla="*/ 905355 h 2560124"/>
              <a:gd name="connsiteX2" fmla="*/ 1576309 w 1592250"/>
              <a:gd name="connsiteY2" fmla="*/ 1777225 h 2560124"/>
              <a:gd name="connsiteX3" fmla="*/ 1182904 w 1592250"/>
              <a:gd name="connsiteY3" fmla="*/ 0 h 2560124"/>
              <a:gd name="connsiteX0" fmla="*/ 0 w 1622812"/>
              <a:gd name="connsiteY0" fmla="*/ 2560124 h 2560124"/>
              <a:gd name="connsiteX1" fmla="*/ 510363 w 1622812"/>
              <a:gd name="connsiteY1" fmla="*/ 905355 h 2560124"/>
              <a:gd name="connsiteX2" fmla="*/ 1576309 w 1622812"/>
              <a:gd name="connsiteY2" fmla="*/ 1777225 h 2560124"/>
              <a:gd name="connsiteX3" fmla="*/ 1182904 w 1622812"/>
              <a:gd name="connsiteY3" fmla="*/ 0 h 2560124"/>
              <a:gd name="connsiteX0" fmla="*/ 0 w 1593105"/>
              <a:gd name="connsiteY0" fmla="*/ 2560124 h 2560124"/>
              <a:gd name="connsiteX1" fmla="*/ 489098 w 1593105"/>
              <a:gd name="connsiteY1" fmla="*/ 628908 h 2560124"/>
              <a:gd name="connsiteX2" fmla="*/ 1576309 w 1593105"/>
              <a:gd name="connsiteY2" fmla="*/ 1777225 h 2560124"/>
              <a:gd name="connsiteX3" fmla="*/ 1182904 w 1593105"/>
              <a:gd name="connsiteY3" fmla="*/ 0 h 2560124"/>
              <a:gd name="connsiteX0" fmla="*/ 0 w 1593105"/>
              <a:gd name="connsiteY0" fmla="*/ 2560124 h 2560124"/>
              <a:gd name="connsiteX1" fmla="*/ 489098 w 1593105"/>
              <a:gd name="connsiteY1" fmla="*/ 628908 h 2560124"/>
              <a:gd name="connsiteX2" fmla="*/ 1576309 w 1593105"/>
              <a:gd name="connsiteY2" fmla="*/ 1777225 h 2560124"/>
              <a:gd name="connsiteX3" fmla="*/ 1182904 w 1593105"/>
              <a:gd name="connsiteY3" fmla="*/ 0 h 2560124"/>
              <a:gd name="connsiteX0" fmla="*/ 0 w 1623965"/>
              <a:gd name="connsiteY0" fmla="*/ 2560124 h 2560124"/>
              <a:gd name="connsiteX1" fmla="*/ 489098 w 1623965"/>
              <a:gd name="connsiteY1" fmla="*/ 628908 h 2560124"/>
              <a:gd name="connsiteX2" fmla="*/ 1576309 w 1623965"/>
              <a:gd name="connsiteY2" fmla="*/ 1777225 h 2560124"/>
              <a:gd name="connsiteX3" fmla="*/ 1182904 w 1623965"/>
              <a:gd name="connsiteY3" fmla="*/ 0 h 2560124"/>
              <a:gd name="connsiteX0" fmla="*/ 0 w 1524571"/>
              <a:gd name="connsiteY0" fmla="*/ 2560124 h 2560124"/>
              <a:gd name="connsiteX1" fmla="*/ 489098 w 1524571"/>
              <a:gd name="connsiteY1" fmla="*/ 628908 h 2560124"/>
              <a:gd name="connsiteX2" fmla="*/ 1469305 w 1524571"/>
              <a:gd name="connsiteY2" fmla="*/ 2010689 h 2560124"/>
              <a:gd name="connsiteX3" fmla="*/ 1182904 w 1524571"/>
              <a:gd name="connsiteY3" fmla="*/ 0 h 2560124"/>
              <a:gd name="connsiteX0" fmla="*/ 165645 w 1690216"/>
              <a:gd name="connsiteY0" fmla="*/ 2560124 h 2560124"/>
              <a:gd name="connsiteX1" fmla="*/ 90539 w 1690216"/>
              <a:gd name="connsiteY1" fmla="*/ 1183384 h 2560124"/>
              <a:gd name="connsiteX2" fmla="*/ 1634950 w 1690216"/>
              <a:gd name="connsiteY2" fmla="*/ 2010689 h 2560124"/>
              <a:gd name="connsiteX3" fmla="*/ 1348549 w 1690216"/>
              <a:gd name="connsiteY3" fmla="*/ 0 h 2560124"/>
              <a:gd name="connsiteX0" fmla="*/ 284985 w 1809556"/>
              <a:gd name="connsiteY0" fmla="*/ 2560124 h 2560124"/>
              <a:gd name="connsiteX1" fmla="*/ 209879 w 1809556"/>
              <a:gd name="connsiteY1" fmla="*/ 1183384 h 2560124"/>
              <a:gd name="connsiteX2" fmla="*/ 1754290 w 1809556"/>
              <a:gd name="connsiteY2" fmla="*/ 2010689 h 2560124"/>
              <a:gd name="connsiteX3" fmla="*/ 1467889 w 1809556"/>
              <a:gd name="connsiteY3" fmla="*/ 0 h 2560124"/>
              <a:gd name="connsiteX0" fmla="*/ 218205 w 1674683"/>
              <a:gd name="connsiteY0" fmla="*/ 2550396 h 2550396"/>
              <a:gd name="connsiteX1" fmla="*/ 75006 w 1674683"/>
              <a:gd name="connsiteY1" fmla="*/ 1183384 h 2550396"/>
              <a:gd name="connsiteX2" fmla="*/ 1619417 w 1674683"/>
              <a:gd name="connsiteY2" fmla="*/ 2010689 h 2550396"/>
              <a:gd name="connsiteX3" fmla="*/ 1333016 w 1674683"/>
              <a:gd name="connsiteY3" fmla="*/ 0 h 2550396"/>
              <a:gd name="connsiteX0" fmla="*/ 292220 w 1748698"/>
              <a:gd name="connsiteY0" fmla="*/ 2550396 h 2550396"/>
              <a:gd name="connsiteX1" fmla="*/ 149021 w 1748698"/>
              <a:gd name="connsiteY1" fmla="*/ 1183384 h 2550396"/>
              <a:gd name="connsiteX2" fmla="*/ 1693432 w 1748698"/>
              <a:gd name="connsiteY2" fmla="*/ 2010689 h 2550396"/>
              <a:gd name="connsiteX3" fmla="*/ 1407031 w 1748698"/>
              <a:gd name="connsiteY3" fmla="*/ 0 h 2550396"/>
              <a:gd name="connsiteX0" fmla="*/ 292220 w 1748698"/>
              <a:gd name="connsiteY0" fmla="*/ 2550396 h 2550396"/>
              <a:gd name="connsiteX1" fmla="*/ 149021 w 1748698"/>
              <a:gd name="connsiteY1" fmla="*/ 1183384 h 2550396"/>
              <a:gd name="connsiteX2" fmla="*/ 1693432 w 1748698"/>
              <a:gd name="connsiteY2" fmla="*/ 2010689 h 2550396"/>
              <a:gd name="connsiteX3" fmla="*/ 1407031 w 1748698"/>
              <a:gd name="connsiteY3" fmla="*/ 0 h 2550396"/>
              <a:gd name="connsiteX0" fmla="*/ 292220 w 1748698"/>
              <a:gd name="connsiteY0" fmla="*/ 2550396 h 2550396"/>
              <a:gd name="connsiteX1" fmla="*/ 149021 w 1748698"/>
              <a:gd name="connsiteY1" fmla="*/ 1183384 h 2550396"/>
              <a:gd name="connsiteX2" fmla="*/ 1693432 w 1748698"/>
              <a:gd name="connsiteY2" fmla="*/ 2010689 h 2550396"/>
              <a:gd name="connsiteX3" fmla="*/ 1407031 w 1748698"/>
              <a:gd name="connsiteY3" fmla="*/ 0 h 2550396"/>
              <a:gd name="connsiteX0" fmla="*/ 292220 w 1812273"/>
              <a:gd name="connsiteY0" fmla="*/ 2550396 h 2550396"/>
              <a:gd name="connsiteX1" fmla="*/ 149021 w 1812273"/>
              <a:gd name="connsiteY1" fmla="*/ 1183384 h 2550396"/>
              <a:gd name="connsiteX2" fmla="*/ 1693432 w 1812273"/>
              <a:gd name="connsiteY2" fmla="*/ 2010689 h 2550396"/>
              <a:gd name="connsiteX3" fmla="*/ 1407031 w 1812273"/>
              <a:gd name="connsiteY3" fmla="*/ 0 h 2550396"/>
              <a:gd name="connsiteX0" fmla="*/ 292220 w 1744319"/>
              <a:gd name="connsiteY0" fmla="*/ 2890864 h 2890864"/>
              <a:gd name="connsiteX1" fmla="*/ 149021 w 1744319"/>
              <a:gd name="connsiteY1" fmla="*/ 1523852 h 2890864"/>
              <a:gd name="connsiteX2" fmla="*/ 1693432 w 1744319"/>
              <a:gd name="connsiteY2" fmla="*/ 2351157 h 2890864"/>
              <a:gd name="connsiteX3" fmla="*/ 1407031 w 1744319"/>
              <a:gd name="connsiteY3" fmla="*/ 0 h 2890864"/>
              <a:gd name="connsiteX0" fmla="*/ 292220 w 1744319"/>
              <a:gd name="connsiteY0" fmla="*/ 2890864 h 2890864"/>
              <a:gd name="connsiteX1" fmla="*/ 149021 w 1744319"/>
              <a:gd name="connsiteY1" fmla="*/ 1523852 h 2890864"/>
              <a:gd name="connsiteX2" fmla="*/ 1693432 w 1744319"/>
              <a:gd name="connsiteY2" fmla="*/ 2351157 h 2890864"/>
              <a:gd name="connsiteX3" fmla="*/ 1407031 w 1744319"/>
              <a:gd name="connsiteY3" fmla="*/ 0 h 2890864"/>
              <a:gd name="connsiteX0" fmla="*/ 292220 w 1830957"/>
              <a:gd name="connsiteY0" fmla="*/ 2890864 h 2890864"/>
              <a:gd name="connsiteX1" fmla="*/ 149021 w 1830957"/>
              <a:gd name="connsiteY1" fmla="*/ 1523852 h 2890864"/>
              <a:gd name="connsiteX2" fmla="*/ 1693432 w 1830957"/>
              <a:gd name="connsiteY2" fmla="*/ 2351157 h 2890864"/>
              <a:gd name="connsiteX3" fmla="*/ 1407031 w 1830957"/>
              <a:gd name="connsiteY3" fmla="*/ 0 h 2890864"/>
            </a:gdLst>
            <a:ahLst/>
            <a:cxnLst>
              <a:cxn ang="0">
                <a:pos x="connsiteX0" y="connsiteY0"/>
              </a:cxn>
              <a:cxn ang="0">
                <a:pos x="connsiteX1" y="connsiteY1"/>
              </a:cxn>
              <a:cxn ang="0">
                <a:pos x="connsiteX2" y="connsiteY2"/>
              </a:cxn>
              <a:cxn ang="0">
                <a:pos x="connsiteX3" y="connsiteY3"/>
              </a:cxn>
            </a:cxnLst>
            <a:rect l="l" t="t" r="r" b="b"/>
            <a:pathLst>
              <a:path w="1830957" h="2890864">
                <a:moveTo>
                  <a:pt x="292220" y="2890864"/>
                </a:moveTo>
                <a:cubicBezTo>
                  <a:pt x="302853" y="2144343"/>
                  <a:pt x="-259612" y="1672169"/>
                  <a:pt x="149021" y="1523852"/>
                </a:cubicBezTo>
                <a:cubicBezTo>
                  <a:pt x="557654" y="1375535"/>
                  <a:pt x="1260028" y="2819141"/>
                  <a:pt x="1693432" y="2351157"/>
                </a:cubicBezTo>
                <a:cubicBezTo>
                  <a:pt x="2126836" y="1883173"/>
                  <a:pt x="1396399" y="1138816"/>
                  <a:pt x="1407031" y="0"/>
                </a:cubicBezTo>
              </a:path>
            </a:pathLst>
          </a:custGeom>
          <a:noFill/>
          <a:ln w="57150">
            <a:solidFill>
              <a:srgbClr val="C7000B"/>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8" name="TextBox 46"/>
          <p:cNvSpPr txBox="1"/>
          <p:nvPr/>
        </p:nvSpPr>
        <p:spPr bwMode="gray">
          <a:xfrm>
            <a:off x="3962232" y="5038065"/>
            <a:ext cx="845103" cy="276999"/>
          </a:xfrm>
          <a:prstGeom prst="rect">
            <a:avLst/>
          </a:prstGeom>
          <a:noFill/>
        </p:spPr>
        <p:txBody>
          <a:bodyPr wrap="none" rtlCol="0">
            <a:spAutoFit/>
          </a:bodyPr>
          <a:lstStyle/>
          <a:p>
            <a:r>
              <a:rPr lang="zh-CN" altLang="en-US" sz="1200" b="1" dirty="0" smtClean="0">
                <a:solidFill>
                  <a:srgbClr val="C7000B"/>
                </a:solidFill>
                <a:cs typeface="+mn-ea"/>
                <a:sym typeface="+mn-lt"/>
              </a:rPr>
              <a:t>漫游后</a:t>
            </a:r>
            <a:r>
              <a:rPr lang="en-US" altLang="zh-CN" sz="1200" b="1" dirty="0" smtClean="0">
                <a:solidFill>
                  <a:srgbClr val="C7000B"/>
                </a:solidFill>
                <a:cs typeface="+mn-ea"/>
                <a:sym typeface="+mn-lt"/>
              </a:rPr>
              <a:t>AP</a:t>
            </a:r>
            <a:endParaRPr lang="zh-CN" altLang="en-US" sz="1200" b="1" dirty="0">
              <a:solidFill>
                <a:srgbClr val="C7000B"/>
              </a:solidFill>
              <a:cs typeface="+mn-ea"/>
              <a:sym typeface="+mn-lt"/>
            </a:endParaRPr>
          </a:p>
        </p:txBody>
      </p:sp>
      <p:sp>
        <p:nvSpPr>
          <p:cNvPr id="99" name="TextBox 46"/>
          <p:cNvSpPr txBox="1"/>
          <p:nvPr/>
        </p:nvSpPr>
        <p:spPr bwMode="gray">
          <a:xfrm>
            <a:off x="1889823" y="5038065"/>
            <a:ext cx="691215" cy="276999"/>
          </a:xfrm>
          <a:prstGeom prst="rect">
            <a:avLst/>
          </a:prstGeom>
          <a:noFill/>
        </p:spPr>
        <p:txBody>
          <a:bodyPr wrap="none" rtlCol="0">
            <a:spAutoFit/>
          </a:bodyPr>
          <a:lstStyle/>
          <a:p>
            <a:r>
              <a:rPr lang="zh-CN" altLang="en-US" sz="1200" b="1" dirty="0">
                <a:solidFill>
                  <a:srgbClr val="C7000B"/>
                </a:solidFill>
                <a:cs typeface="+mn-ea"/>
                <a:sym typeface="+mn-lt"/>
              </a:rPr>
              <a:t>上线</a:t>
            </a:r>
            <a:r>
              <a:rPr lang="en-US" altLang="zh-CN" sz="1200" b="1" dirty="0">
                <a:solidFill>
                  <a:srgbClr val="C7000B"/>
                </a:solidFill>
                <a:cs typeface="+mn-ea"/>
                <a:sym typeface="+mn-lt"/>
              </a:rPr>
              <a:t>AP</a:t>
            </a:r>
            <a:endParaRPr lang="zh-CN" altLang="en-US" sz="1200" b="1" dirty="0">
              <a:solidFill>
                <a:srgbClr val="C7000B"/>
              </a:solidFill>
              <a:cs typeface="+mn-ea"/>
              <a:sym typeface="+mn-lt"/>
            </a:endParaRPr>
          </a:p>
        </p:txBody>
      </p:sp>
      <p:sp>
        <p:nvSpPr>
          <p:cNvPr id="100" name="TextBox 46"/>
          <p:cNvSpPr txBox="1"/>
          <p:nvPr/>
        </p:nvSpPr>
        <p:spPr bwMode="gray">
          <a:xfrm>
            <a:off x="2229991" y="4112466"/>
            <a:ext cx="502061" cy="276999"/>
          </a:xfrm>
          <a:prstGeom prst="rect">
            <a:avLst/>
          </a:prstGeom>
          <a:noFill/>
        </p:spPr>
        <p:txBody>
          <a:bodyPr wrap="none" rtlCol="0">
            <a:spAutoFit/>
          </a:bodyPr>
          <a:lstStyle/>
          <a:p>
            <a:r>
              <a:rPr lang="en-US" altLang="zh-CN" sz="1200" b="1" dirty="0">
                <a:solidFill>
                  <a:srgbClr val="C7000B"/>
                </a:solidFill>
                <a:cs typeface="+mn-ea"/>
                <a:sym typeface="+mn-lt"/>
              </a:rPr>
              <a:t>HAP</a:t>
            </a:r>
            <a:endParaRPr lang="zh-CN" altLang="en-US" sz="1200" b="1" dirty="0">
              <a:solidFill>
                <a:srgbClr val="C7000B"/>
              </a:solidFill>
              <a:cs typeface="+mn-ea"/>
              <a:sym typeface="+mn-lt"/>
            </a:endParaRPr>
          </a:p>
        </p:txBody>
      </p:sp>
      <p:sp>
        <p:nvSpPr>
          <p:cNvPr id="101" name="任意多边形 100"/>
          <p:cNvSpPr/>
          <p:nvPr/>
        </p:nvSpPr>
        <p:spPr bwMode="gray">
          <a:xfrm>
            <a:off x="706601" y="3998424"/>
            <a:ext cx="3513062" cy="1530489"/>
          </a:xfrm>
          <a:custGeom>
            <a:avLst/>
            <a:gdLst>
              <a:gd name="connsiteX0" fmla="*/ 1445348 w 3650295"/>
              <a:gd name="connsiteY0" fmla="*/ 2411363 h 2422073"/>
              <a:gd name="connsiteX1" fmla="*/ 906334 w 3650295"/>
              <a:gd name="connsiteY1" fmla="*/ 2295860 h 2422073"/>
              <a:gd name="connsiteX2" fmla="*/ 271066 w 3650295"/>
              <a:gd name="connsiteY2" fmla="*/ 1448836 h 2422073"/>
              <a:gd name="connsiteX3" fmla="*/ 88186 w 3650295"/>
              <a:gd name="connsiteY3" fmla="*/ 803944 h 2422073"/>
              <a:gd name="connsiteX4" fmla="*/ 49685 w 3650295"/>
              <a:gd name="connsiteY4" fmla="*/ 139801 h 2422073"/>
              <a:gd name="connsiteX5" fmla="*/ 781205 w 3650295"/>
              <a:gd name="connsiteY5" fmla="*/ 53173 h 2422073"/>
              <a:gd name="connsiteX6" fmla="*/ 1916986 w 3650295"/>
              <a:gd name="connsiteY6" fmla="*/ 784693 h 2422073"/>
              <a:gd name="connsiteX7" fmla="*/ 2600380 w 3650295"/>
              <a:gd name="connsiteY7" fmla="*/ 1160079 h 2422073"/>
              <a:gd name="connsiteX8" fmla="*/ 3620658 w 3650295"/>
              <a:gd name="connsiteY8" fmla="*/ 1650967 h 2422073"/>
              <a:gd name="connsiteX9" fmla="*/ 3235647 w 3650295"/>
              <a:gd name="connsiteY9" fmla="*/ 2276609 h 2422073"/>
              <a:gd name="connsiteX10" fmla="*/ 1811108 w 3650295"/>
              <a:gd name="connsiteY10" fmla="*/ 2401737 h 2422073"/>
              <a:gd name="connsiteX11" fmla="*/ 1445348 w 3650295"/>
              <a:gd name="connsiteY11" fmla="*/ 2411363 h 2422073"/>
              <a:gd name="connsiteX0" fmla="*/ 1454242 w 3659189"/>
              <a:gd name="connsiteY0" fmla="*/ 2435890 h 2446600"/>
              <a:gd name="connsiteX1" fmla="*/ 915228 w 3659189"/>
              <a:gd name="connsiteY1" fmla="*/ 2320387 h 2446600"/>
              <a:gd name="connsiteX2" fmla="*/ 279960 w 3659189"/>
              <a:gd name="connsiteY2" fmla="*/ 1473363 h 2446600"/>
              <a:gd name="connsiteX3" fmla="*/ 70868 w 3659189"/>
              <a:gd name="connsiteY3" fmla="*/ 1346021 h 2446600"/>
              <a:gd name="connsiteX4" fmla="*/ 58579 w 3659189"/>
              <a:gd name="connsiteY4" fmla="*/ 164328 h 2446600"/>
              <a:gd name="connsiteX5" fmla="*/ 790099 w 3659189"/>
              <a:gd name="connsiteY5" fmla="*/ 77700 h 2446600"/>
              <a:gd name="connsiteX6" fmla="*/ 1925880 w 3659189"/>
              <a:gd name="connsiteY6" fmla="*/ 809220 h 2446600"/>
              <a:gd name="connsiteX7" fmla="*/ 2609274 w 3659189"/>
              <a:gd name="connsiteY7" fmla="*/ 1184606 h 2446600"/>
              <a:gd name="connsiteX8" fmla="*/ 3629552 w 3659189"/>
              <a:gd name="connsiteY8" fmla="*/ 1675494 h 2446600"/>
              <a:gd name="connsiteX9" fmla="*/ 3244541 w 3659189"/>
              <a:gd name="connsiteY9" fmla="*/ 2301136 h 2446600"/>
              <a:gd name="connsiteX10" fmla="*/ 1820002 w 3659189"/>
              <a:gd name="connsiteY10" fmla="*/ 2426264 h 2446600"/>
              <a:gd name="connsiteX11" fmla="*/ 1454242 w 3659189"/>
              <a:gd name="connsiteY11" fmla="*/ 2435890 h 2446600"/>
              <a:gd name="connsiteX0" fmla="*/ 1455350 w 3660297"/>
              <a:gd name="connsiteY0" fmla="*/ 2435890 h 2446600"/>
              <a:gd name="connsiteX1" fmla="*/ 916336 w 3660297"/>
              <a:gd name="connsiteY1" fmla="*/ 2320387 h 2446600"/>
              <a:gd name="connsiteX2" fmla="*/ 307281 w 3660297"/>
              <a:gd name="connsiteY2" fmla="*/ 1833399 h 2446600"/>
              <a:gd name="connsiteX3" fmla="*/ 71976 w 3660297"/>
              <a:gd name="connsiteY3" fmla="*/ 1346021 h 2446600"/>
              <a:gd name="connsiteX4" fmla="*/ 59687 w 3660297"/>
              <a:gd name="connsiteY4" fmla="*/ 164328 h 2446600"/>
              <a:gd name="connsiteX5" fmla="*/ 791207 w 3660297"/>
              <a:gd name="connsiteY5" fmla="*/ 77700 h 2446600"/>
              <a:gd name="connsiteX6" fmla="*/ 1926988 w 3660297"/>
              <a:gd name="connsiteY6" fmla="*/ 809220 h 2446600"/>
              <a:gd name="connsiteX7" fmla="*/ 2610382 w 3660297"/>
              <a:gd name="connsiteY7" fmla="*/ 1184606 h 2446600"/>
              <a:gd name="connsiteX8" fmla="*/ 3630660 w 3660297"/>
              <a:gd name="connsiteY8" fmla="*/ 1675494 h 2446600"/>
              <a:gd name="connsiteX9" fmla="*/ 3245649 w 3660297"/>
              <a:gd name="connsiteY9" fmla="*/ 2301136 h 2446600"/>
              <a:gd name="connsiteX10" fmla="*/ 1821110 w 3660297"/>
              <a:gd name="connsiteY10" fmla="*/ 2426264 h 2446600"/>
              <a:gd name="connsiteX11" fmla="*/ 1455350 w 3660297"/>
              <a:gd name="connsiteY11" fmla="*/ 2435890 h 2446600"/>
              <a:gd name="connsiteX0" fmla="*/ 1455350 w 3660297"/>
              <a:gd name="connsiteY0" fmla="*/ 2345882 h 2426816"/>
              <a:gd name="connsiteX1" fmla="*/ 916336 w 3660297"/>
              <a:gd name="connsiteY1" fmla="*/ 2320387 h 2426816"/>
              <a:gd name="connsiteX2" fmla="*/ 307281 w 3660297"/>
              <a:gd name="connsiteY2" fmla="*/ 1833399 h 2426816"/>
              <a:gd name="connsiteX3" fmla="*/ 71976 w 3660297"/>
              <a:gd name="connsiteY3" fmla="*/ 1346021 h 2426816"/>
              <a:gd name="connsiteX4" fmla="*/ 59687 w 3660297"/>
              <a:gd name="connsiteY4" fmla="*/ 164328 h 2426816"/>
              <a:gd name="connsiteX5" fmla="*/ 791207 w 3660297"/>
              <a:gd name="connsiteY5" fmla="*/ 77700 h 2426816"/>
              <a:gd name="connsiteX6" fmla="*/ 1926988 w 3660297"/>
              <a:gd name="connsiteY6" fmla="*/ 809220 h 2426816"/>
              <a:gd name="connsiteX7" fmla="*/ 2610382 w 3660297"/>
              <a:gd name="connsiteY7" fmla="*/ 1184606 h 2426816"/>
              <a:gd name="connsiteX8" fmla="*/ 3630660 w 3660297"/>
              <a:gd name="connsiteY8" fmla="*/ 1675494 h 2426816"/>
              <a:gd name="connsiteX9" fmla="*/ 3245649 w 3660297"/>
              <a:gd name="connsiteY9" fmla="*/ 2301136 h 2426816"/>
              <a:gd name="connsiteX10" fmla="*/ 1821110 w 3660297"/>
              <a:gd name="connsiteY10" fmla="*/ 2426264 h 2426816"/>
              <a:gd name="connsiteX11" fmla="*/ 1455350 w 3660297"/>
              <a:gd name="connsiteY11" fmla="*/ 2345882 h 2426816"/>
              <a:gd name="connsiteX0" fmla="*/ 1455350 w 3658950"/>
              <a:gd name="connsiteY0" fmla="*/ 2345882 h 2431610"/>
              <a:gd name="connsiteX1" fmla="*/ 916336 w 3658950"/>
              <a:gd name="connsiteY1" fmla="*/ 2320387 h 2431610"/>
              <a:gd name="connsiteX2" fmla="*/ 307281 w 3658950"/>
              <a:gd name="connsiteY2" fmla="*/ 1833399 h 2431610"/>
              <a:gd name="connsiteX3" fmla="*/ 71976 w 3658950"/>
              <a:gd name="connsiteY3" fmla="*/ 1346021 h 2431610"/>
              <a:gd name="connsiteX4" fmla="*/ 59687 w 3658950"/>
              <a:gd name="connsiteY4" fmla="*/ 164328 h 2431610"/>
              <a:gd name="connsiteX5" fmla="*/ 791207 w 3658950"/>
              <a:gd name="connsiteY5" fmla="*/ 77700 h 2431610"/>
              <a:gd name="connsiteX6" fmla="*/ 1926988 w 3658950"/>
              <a:gd name="connsiteY6" fmla="*/ 809220 h 2431610"/>
              <a:gd name="connsiteX7" fmla="*/ 2610382 w 3658950"/>
              <a:gd name="connsiteY7" fmla="*/ 1184606 h 2431610"/>
              <a:gd name="connsiteX8" fmla="*/ 3630660 w 3658950"/>
              <a:gd name="connsiteY8" fmla="*/ 1675494 h 2431610"/>
              <a:gd name="connsiteX9" fmla="*/ 3236912 w 3658950"/>
              <a:gd name="connsiteY9" fmla="*/ 2177374 h 2431610"/>
              <a:gd name="connsiteX10" fmla="*/ 1821110 w 3658950"/>
              <a:gd name="connsiteY10" fmla="*/ 2426264 h 2431610"/>
              <a:gd name="connsiteX11" fmla="*/ 1455350 w 3658950"/>
              <a:gd name="connsiteY11" fmla="*/ 2345882 h 2431610"/>
              <a:gd name="connsiteX0" fmla="*/ 1386393 w 3589993"/>
              <a:gd name="connsiteY0" fmla="*/ 2269856 h 2355585"/>
              <a:gd name="connsiteX1" fmla="*/ 847379 w 3589993"/>
              <a:gd name="connsiteY1" fmla="*/ 2244361 h 2355585"/>
              <a:gd name="connsiteX2" fmla="*/ 238324 w 3589993"/>
              <a:gd name="connsiteY2" fmla="*/ 1757373 h 2355585"/>
              <a:gd name="connsiteX3" fmla="*/ 3019 w 3589993"/>
              <a:gd name="connsiteY3" fmla="*/ 1269995 h 2355585"/>
              <a:gd name="connsiteX4" fmla="*/ 148007 w 3589993"/>
              <a:gd name="connsiteY4" fmla="*/ 954636 h 2355585"/>
              <a:gd name="connsiteX5" fmla="*/ 722250 w 3589993"/>
              <a:gd name="connsiteY5" fmla="*/ 1674 h 2355585"/>
              <a:gd name="connsiteX6" fmla="*/ 1858031 w 3589993"/>
              <a:gd name="connsiteY6" fmla="*/ 733194 h 2355585"/>
              <a:gd name="connsiteX7" fmla="*/ 2541425 w 3589993"/>
              <a:gd name="connsiteY7" fmla="*/ 1108580 h 2355585"/>
              <a:gd name="connsiteX8" fmla="*/ 3561703 w 3589993"/>
              <a:gd name="connsiteY8" fmla="*/ 1599468 h 2355585"/>
              <a:gd name="connsiteX9" fmla="*/ 3167955 w 3589993"/>
              <a:gd name="connsiteY9" fmla="*/ 2101348 h 2355585"/>
              <a:gd name="connsiteX10" fmla="*/ 1752153 w 3589993"/>
              <a:gd name="connsiteY10" fmla="*/ 2350238 h 2355585"/>
              <a:gd name="connsiteX11" fmla="*/ 1386393 w 3589993"/>
              <a:gd name="connsiteY11" fmla="*/ 2269856 h 2355585"/>
              <a:gd name="connsiteX0" fmla="*/ 1388240 w 3591840"/>
              <a:gd name="connsiteY0" fmla="*/ 1541340 h 1627069"/>
              <a:gd name="connsiteX1" fmla="*/ 849226 w 3591840"/>
              <a:gd name="connsiteY1" fmla="*/ 1515845 h 1627069"/>
              <a:gd name="connsiteX2" fmla="*/ 240171 w 3591840"/>
              <a:gd name="connsiteY2" fmla="*/ 1028857 h 1627069"/>
              <a:gd name="connsiteX3" fmla="*/ 4866 w 3591840"/>
              <a:gd name="connsiteY3" fmla="*/ 541479 h 1627069"/>
              <a:gd name="connsiteX4" fmla="*/ 149854 w 3591840"/>
              <a:gd name="connsiteY4" fmla="*/ 226120 h 1627069"/>
              <a:gd name="connsiteX5" fmla="*/ 890111 w 3591840"/>
              <a:gd name="connsiteY5" fmla="*/ 173246 h 1627069"/>
              <a:gd name="connsiteX6" fmla="*/ 1859878 w 3591840"/>
              <a:gd name="connsiteY6" fmla="*/ 4678 h 1627069"/>
              <a:gd name="connsiteX7" fmla="*/ 2543272 w 3591840"/>
              <a:gd name="connsiteY7" fmla="*/ 380064 h 1627069"/>
              <a:gd name="connsiteX8" fmla="*/ 3563550 w 3591840"/>
              <a:gd name="connsiteY8" fmla="*/ 870952 h 1627069"/>
              <a:gd name="connsiteX9" fmla="*/ 3169802 w 3591840"/>
              <a:gd name="connsiteY9" fmla="*/ 1372832 h 1627069"/>
              <a:gd name="connsiteX10" fmla="*/ 1754000 w 3591840"/>
              <a:gd name="connsiteY10" fmla="*/ 1621722 h 1627069"/>
              <a:gd name="connsiteX11" fmla="*/ 1388240 w 3591840"/>
              <a:gd name="connsiteY11" fmla="*/ 1541340 h 1627069"/>
              <a:gd name="connsiteX0" fmla="*/ 1388240 w 3591840"/>
              <a:gd name="connsiteY0" fmla="*/ 1394005 h 1479734"/>
              <a:gd name="connsiteX1" fmla="*/ 849226 w 3591840"/>
              <a:gd name="connsiteY1" fmla="*/ 1368510 h 1479734"/>
              <a:gd name="connsiteX2" fmla="*/ 240171 w 3591840"/>
              <a:gd name="connsiteY2" fmla="*/ 881522 h 1479734"/>
              <a:gd name="connsiteX3" fmla="*/ 4866 w 3591840"/>
              <a:gd name="connsiteY3" fmla="*/ 394144 h 1479734"/>
              <a:gd name="connsiteX4" fmla="*/ 149854 w 3591840"/>
              <a:gd name="connsiteY4" fmla="*/ 78785 h 1479734"/>
              <a:gd name="connsiteX5" fmla="*/ 890111 w 3591840"/>
              <a:gd name="connsiteY5" fmla="*/ 25911 h 1479734"/>
              <a:gd name="connsiteX6" fmla="*/ 1859878 w 3591840"/>
              <a:gd name="connsiteY6" fmla="*/ 14858 h 1479734"/>
              <a:gd name="connsiteX7" fmla="*/ 2543272 w 3591840"/>
              <a:gd name="connsiteY7" fmla="*/ 232729 h 1479734"/>
              <a:gd name="connsiteX8" fmla="*/ 3563550 w 3591840"/>
              <a:gd name="connsiteY8" fmla="*/ 723617 h 1479734"/>
              <a:gd name="connsiteX9" fmla="*/ 3169802 w 3591840"/>
              <a:gd name="connsiteY9" fmla="*/ 1225497 h 1479734"/>
              <a:gd name="connsiteX10" fmla="*/ 1754000 w 3591840"/>
              <a:gd name="connsiteY10" fmla="*/ 1474387 h 1479734"/>
              <a:gd name="connsiteX11" fmla="*/ 1388240 w 3591840"/>
              <a:gd name="connsiteY11" fmla="*/ 1394005 h 1479734"/>
              <a:gd name="connsiteX0" fmla="*/ 1388240 w 3591840"/>
              <a:gd name="connsiteY0" fmla="*/ 1394005 h 1423588"/>
              <a:gd name="connsiteX1" fmla="*/ 849226 w 3591840"/>
              <a:gd name="connsiteY1" fmla="*/ 1368510 h 1423588"/>
              <a:gd name="connsiteX2" fmla="*/ 240171 w 3591840"/>
              <a:gd name="connsiteY2" fmla="*/ 881522 h 1423588"/>
              <a:gd name="connsiteX3" fmla="*/ 4866 w 3591840"/>
              <a:gd name="connsiteY3" fmla="*/ 394144 h 1423588"/>
              <a:gd name="connsiteX4" fmla="*/ 149854 w 3591840"/>
              <a:gd name="connsiteY4" fmla="*/ 78785 h 1423588"/>
              <a:gd name="connsiteX5" fmla="*/ 890111 w 3591840"/>
              <a:gd name="connsiteY5" fmla="*/ 25911 h 1423588"/>
              <a:gd name="connsiteX6" fmla="*/ 1859878 w 3591840"/>
              <a:gd name="connsiteY6" fmla="*/ 14858 h 1423588"/>
              <a:gd name="connsiteX7" fmla="*/ 2543272 w 3591840"/>
              <a:gd name="connsiteY7" fmla="*/ 232729 h 1423588"/>
              <a:gd name="connsiteX8" fmla="*/ 3563550 w 3591840"/>
              <a:gd name="connsiteY8" fmla="*/ 723617 h 1423588"/>
              <a:gd name="connsiteX9" fmla="*/ 3169802 w 3591840"/>
              <a:gd name="connsiteY9" fmla="*/ 1225497 h 1423588"/>
              <a:gd name="connsiteX10" fmla="*/ 2269517 w 3591840"/>
              <a:gd name="connsiteY10" fmla="*/ 1204361 h 1423588"/>
              <a:gd name="connsiteX11" fmla="*/ 1388240 w 3591840"/>
              <a:gd name="connsiteY11" fmla="*/ 1394005 h 1423588"/>
              <a:gd name="connsiteX0" fmla="*/ 1388240 w 3568710"/>
              <a:gd name="connsiteY0" fmla="*/ 1734542 h 1764125"/>
              <a:gd name="connsiteX1" fmla="*/ 849226 w 3568710"/>
              <a:gd name="connsiteY1" fmla="*/ 1709047 h 1764125"/>
              <a:gd name="connsiteX2" fmla="*/ 240171 w 3568710"/>
              <a:gd name="connsiteY2" fmla="*/ 1222059 h 1764125"/>
              <a:gd name="connsiteX3" fmla="*/ 4866 w 3568710"/>
              <a:gd name="connsiteY3" fmla="*/ 734681 h 1764125"/>
              <a:gd name="connsiteX4" fmla="*/ 149854 w 3568710"/>
              <a:gd name="connsiteY4" fmla="*/ 419322 h 1764125"/>
              <a:gd name="connsiteX5" fmla="*/ 890111 w 3568710"/>
              <a:gd name="connsiteY5" fmla="*/ 366448 h 1764125"/>
              <a:gd name="connsiteX6" fmla="*/ 1859878 w 3568710"/>
              <a:gd name="connsiteY6" fmla="*/ 355395 h 1764125"/>
              <a:gd name="connsiteX7" fmla="*/ 2971414 w 3568710"/>
              <a:gd name="connsiteY7" fmla="*/ 21963 h 1764125"/>
              <a:gd name="connsiteX8" fmla="*/ 3563550 w 3568710"/>
              <a:gd name="connsiteY8" fmla="*/ 1064154 h 1764125"/>
              <a:gd name="connsiteX9" fmla="*/ 3169802 w 3568710"/>
              <a:gd name="connsiteY9" fmla="*/ 1566034 h 1764125"/>
              <a:gd name="connsiteX10" fmla="*/ 2269517 w 3568710"/>
              <a:gd name="connsiteY10" fmla="*/ 1544898 h 1764125"/>
              <a:gd name="connsiteX11" fmla="*/ 1388240 w 3568710"/>
              <a:gd name="connsiteY11" fmla="*/ 1734542 h 1764125"/>
              <a:gd name="connsiteX0" fmla="*/ 1388240 w 3568709"/>
              <a:gd name="connsiteY0" fmla="*/ 1769505 h 1799088"/>
              <a:gd name="connsiteX1" fmla="*/ 849226 w 3568709"/>
              <a:gd name="connsiteY1" fmla="*/ 1744010 h 1799088"/>
              <a:gd name="connsiteX2" fmla="*/ 240171 w 3568709"/>
              <a:gd name="connsiteY2" fmla="*/ 1257022 h 1799088"/>
              <a:gd name="connsiteX3" fmla="*/ 4866 w 3568709"/>
              <a:gd name="connsiteY3" fmla="*/ 769644 h 1799088"/>
              <a:gd name="connsiteX4" fmla="*/ 149854 w 3568709"/>
              <a:gd name="connsiteY4" fmla="*/ 454285 h 1799088"/>
              <a:gd name="connsiteX5" fmla="*/ 890111 w 3568709"/>
              <a:gd name="connsiteY5" fmla="*/ 401411 h 1799088"/>
              <a:gd name="connsiteX6" fmla="*/ 1859878 w 3568709"/>
              <a:gd name="connsiteY6" fmla="*/ 165337 h 1799088"/>
              <a:gd name="connsiteX7" fmla="*/ 2971414 w 3568709"/>
              <a:gd name="connsiteY7" fmla="*/ 56926 h 1799088"/>
              <a:gd name="connsiteX8" fmla="*/ 3563550 w 3568709"/>
              <a:gd name="connsiteY8" fmla="*/ 1099117 h 1799088"/>
              <a:gd name="connsiteX9" fmla="*/ 3169802 w 3568709"/>
              <a:gd name="connsiteY9" fmla="*/ 1600997 h 1799088"/>
              <a:gd name="connsiteX10" fmla="*/ 2269517 w 3568709"/>
              <a:gd name="connsiteY10" fmla="*/ 1579861 h 1799088"/>
              <a:gd name="connsiteX11" fmla="*/ 1388240 w 3568709"/>
              <a:gd name="connsiteY11" fmla="*/ 1769505 h 1799088"/>
              <a:gd name="connsiteX0" fmla="*/ 1387271 w 3567740"/>
              <a:gd name="connsiteY0" fmla="*/ 1769505 h 1799088"/>
              <a:gd name="connsiteX1" fmla="*/ 848257 w 3567740"/>
              <a:gd name="connsiteY1" fmla="*/ 1744010 h 1799088"/>
              <a:gd name="connsiteX2" fmla="*/ 239202 w 3567740"/>
              <a:gd name="connsiteY2" fmla="*/ 1257022 h 1799088"/>
              <a:gd name="connsiteX3" fmla="*/ 3897 w 3567740"/>
              <a:gd name="connsiteY3" fmla="*/ 769644 h 1799088"/>
              <a:gd name="connsiteX4" fmla="*/ 148885 w 3567740"/>
              <a:gd name="connsiteY4" fmla="*/ 454285 h 1799088"/>
              <a:gd name="connsiteX5" fmla="*/ 816849 w 3567740"/>
              <a:gd name="connsiteY5" fmla="*/ 241559 h 1799088"/>
              <a:gd name="connsiteX6" fmla="*/ 889142 w 3567740"/>
              <a:gd name="connsiteY6" fmla="*/ 401411 h 1799088"/>
              <a:gd name="connsiteX7" fmla="*/ 1858909 w 3567740"/>
              <a:gd name="connsiteY7" fmla="*/ 165337 h 1799088"/>
              <a:gd name="connsiteX8" fmla="*/ 2970445 w 3567740"/>
              <a:gd name="connsiteY8" fmla="*/ 56926 h 1799088"/>
              <a:gd name="connsiteX9" fmla="*/ 3562581 w 3567740"/>
              <a:gd name="connsiteY9" fmla="*/ 1099117 h 1799088"/>
              <a:gd name="connsiteX10" fmla="*/ 3168833 w 3567740"/>
              <a:gd name="connsiteY10" fmla="*/ 1600997 h 1799088"/>
              <a:gd name="connsiteX11" fmla="*/ 2268548 w 3567740"/>
              <a:gd name="connsiteY11" fmla="*/ 1579861 h 1799088"/>
              <a:gd name="connsiteX12" fmla="*/ 1387271 w 3567740"/>
              <a:gd name="connsiteY12" fmla="*/ 1769505 h 1799088"/>
              <a:gd name="connsiteX0" fmla="*/ 1387271 w 3567740"/>
              <a:gd name="connsiteY0" fmla="*/ 1765635 h 1795218"/>
              <a:gd name="connsiteX1" fmla="*/ 848257 w 3567740"/>
              <a:gd name="connsiteY1" fmla="*/ 1740140 h 1795218"/>
              <a:gd name="connsiteX2" fmla="*/ 239202 w 3567740"/>
              <a:gd name="connsiteY2" fmla="*/ 1253152 h 1795218"/>
              <a:gd name="connsiteX3" fmla="*/ 3897 w 3567740"/>
              <a:gd name="connsiteY3" fmla="*/ 765774 h 1795218"/>
              <a:gd name="connsiteX4" fmla="*/ 148885 w 3567740"/>
              <a:gd name="connsiteY4" fmla="*/ 450415 h 1795218"/>
              <a:gd name="connsiteX5" fmla="*/ 816849 w 3567740"/>
              <a:gd name="connsiteY5" fmla="*/ 237689 h 1795218"/>
              <a:gd name="connsiteX6" fmla="*/ 1858909 w 3567740"/>
              <a:gd name="connsiteY6" fmla="*/ 161467 h 1795218"/>
              <a:gd name="connsiteX7" fmla="*/ 2970445 w 3567740"/>
              <a:gd name="connsiteY7" fmla="*/ 53056 h 1795218"/>
              <a:gd name="connsiteX8" fmla="*/ 3562581 w 3567740"/>
              <a:gd name="connsiteY8" fmla="*/ 1095247 h 1795218"/>
              <a:gd name="connsiteX9" fmla="*/ 3168833 w 3567740"/>
              <a:gd name="connsiteY9" fmla="*/ 1597127 h 1795218"/>
              <a:gd name="connsiteX10" fmla="*/ 2268548 w 3567740"/>
              <a:gd name="connsiteY10" fmla="*/ 1575991 h 1795218"/>
              <a:gd name="connsiteX11" fmla="*/ 1387271 w 3567740"/>
              <a:gd name="connsiteY11" fmla="*/ 1765635 h 1795218"/>
              <a:gd name="connsiteX0" fmla="*/ 1535809 w 3567740"/>
              <a:gd name="connsiteY0" fmla="*/ 1675626 h 1763651"/>
              <a:gd name="connsiteX1" fmla="*/ 848257 w 3567740"/>
              <a:gd name="connsiteY1" fmla="*/ 1740140 h 1763651"/>
              <a:gd name="connsiteX2" fmla="*/ 239202 w 3567740"/>
              <a:gd name="connsiteY2" fmla="*/ 1253152 h 1763651"/>
              <a:gd name="connsiteX3" fmla="*/ 3897 w 3567740"/>
              <a:gd name="connsiteY3" fmla="*/ 765774 h 1763651"/>
              <a:gd name="connsiteX4" fmla="*/ 148885 w 3567740"/>
              <a:gd name="connsiteY4" fmla="*/ 450415 h 1763651"/>
              <a:gd name="connsiteX5" fmla="*/ 816849 w 3567740"/>
              <a:gd name="connsiteY5" fmla="*/ 237689 h 1763651"/>
              <a:gd name="connsiteX6" fmla="*/ 1858909 w 3567740"/>
              <a:gd name="connsiteY6" fmla="*/ 161467 h 1763651"/>
              <a:gd name="connsiteX7" fmla="*/ 2970445 w 3567740"/>
              <a:gd name="connsiteY7" fmla="*/ 53056 h 1763651"/>
              <a:gd name="connsiteX8" fmla="*/ 3562581 w 3567740"/>
              <a:gd name="connsiteY8" fmla="*/ 1095247 h 1763651"/>
              <a:gd name="connsiteX9" fmla="*/ 3168833 w 3567740"/>
              <a:gd name="connsiteY9" fmla="*/ 1597127 h 1763651"/>
              <a:gd name="connsiteX10" fmla="*/ 2268548 w 3567740"/>
              <a:gd name="connsiteY10" fmla="*/ 1575991 h 1763651"/>
              <a:gd name="connsiteX11" fmla="*/ 1535809 w 3567740"/>
              <a:gd name="connsiteY11" fmla="*/ 1675626 h 1763651"/>
              <a:gd name="connsiteX0" fmla="*/ 1535809 w 3567740"/>
              <a:gd name="connsiteY0" fmla="*/ 1675626 h 1701030"/>
              <a:gd name="connsiteX1" fmla="*/ 769619 w 3567740"/>
              <a:gd name="connsiteY1" fmla="*/ 1661383 h 1701030"/>
              <a:gd name="connsiteX2" fmla="*/ 239202 w 3567740"/>
              <a:gd name="connsiteY2" fmla="*/ 1253152 h 1701030"/>
              <a:gd name="connsiteX3" fmla="*/ 3897 w 3567740"/>
              <a:gd name="connsiteY3" fmla="*/ 765774 h 1701030"/>
              <a:gd name="connsiteX4" fmla="*/ 148885 w 3567740"/>
              <a:gd name="connsiteY4" fmla="*/ 450415 h 1701030"/>
              <a:gd name="connsiteX5" fmla="*/ 816849 w 3567740"/>
              <a:gd name="connsiteY5" fmla="*/ 237689 h 1701030"/>
              <a:gd name="connsiteX6" fmla="*/ 1858909 w 3567740"/>
              <a:gd name="connsiteY6" fmla="*/ 161467 h 1701030"/>
              <a:gd name="connsiteX7" fmla="*/ 2970445 w 3567740"/>
              <a:gd name="connsiteY7" fmla="*/ 53056 h 1701030"/>
              <a:gd name="connsiteX8" fmla="*/ 3562581 w 3567740"/>
              <a:gd name="connsiteY8" fmla="*/ 1095247 h 1701030"/>
              <a:gd name="connsiteX9" fmla="*/ 3168833 w 3567740"/>
              <a:gd name="connsiteY9" fmla="*/ 1597127 h 1701030"/>
              <a:gd name="connsiteX10" fmla="*/ 2268548 w 3567740"/>
              <a:gd name="connsiteY10" fmla="*/ 1575991 h 1701030"/>
              <a:gd name="connsiteX11" fmla="*/ 1535809 w 3567740"/>
              <a:gd name="connsiteY11" fmla="*/ 1675626 h 1701030"/>
              <a:gd name="connsiteX0" fmla="*/ 1535809 w 3567740"/>
              <a:gd name="connsiteY0" fmla="*/ 1675626 h 1708024"/>
              <a:gd name="connsiteX1" fmla="*/ 769619 w 3567740"/>
              <a:gd name="connsiteY1" fmla="*/ 1661383 h 1708024"/>
              <a:gd name="connsiteX2" fmla="*/ 239202 w 3567740"/>
              <a:gd name="connsiteY2" fmla="*/ 1253152 h 1708024"/>
              <a:gd name="connsiteX3" fmla="*/ 3897 w 3567740"/>
              <a:gd name="connsiteY3" fmla="*/ 765774 h 1708024"/>
              <a:gd name="connsiteX4" fmla="*/ 148885 w 3567740"/>
              <a:gd name="connsiteY4" fmla="*/ 450415 h 1708024"/>
              <a:gd name="connsiteX5" fmla="*/ 816849 w 3567740"/>
              <a:gd name="connsiteY5" fmla="*/ 237689 h 1708024"/>
              <a:gd name="connsiteX6" fmla="*/ 1858909 w 3567740"/>
              <a:gd name="connsiteY6" fmla="*/ 161467 h 1708024"/>
              <a:gd name="connsiteX7" fmla="*/ 2970445 w 3567740"/>
              <a:gd name="connsiteY7" fmla="*/ 53056 h 1708024"/>
              <a:gd name="connsiteX8" fmla="*/ 3562581 w 3567740"/>
              <a:gd name="connsiteY8" fmla="*/ 1095247 h 1708024"/>
              <a:gd name="connsiteX9" fmla="*/ 3168833 w 3567740"/>
              <a:gd name="connsiteY9" fmla="*/ 1597127 h 1708024"/>
              <a:gd name="connsiteX10" fmla="*/ 2294761 w 3567740"/>
              <a:gd name="connsiteY10" fmla="*/ 1452229 h 1708024"/>
              <a:gd name="connsiteX11" fmla="*/ 1535809 w 3567740"/>
              <a:gd name="connsiteY11" fmla="*/ 1675626 h 1708024"/>
              <a:gd name="connsiteX0" fmla="*/ 1535809 w 3585169"/>
              <a:gd name="connsiteY0" fmla="*/ 1675626 h 1708025"/>
              <a:gd name="connsiteX1" fmla="*/ 769619 w 3585169"/>
              <a:gd name="connsiteY1" fmla="*/ 1661383 h 1708025"/>
              <a:gd name="connsiteX2" fmla="*/ 239202 w 3585169"/>
              <a:gd name="connsiteY2" fmla="*/ 1253152 h 1708025"/>
              <a:gd name="connsiteX3" fmla="*/ 3897 w 3585169"/>
              <a:gd name="connsiteY3" fmla="*/ 765774 h 1708025"/>
              <a:gd name="connsiteX4" fmla="*/ 148885 w 3585169"/>
              <a:gd name="connsiteY4" fmla="*/ 450415 h 1708025"/>
              <a:gd name="connsiteX5" fmla="*/ 816849 w 3585169"/>
              <a:gd name="connsiteY5" fmla="*/ 237689 h 1708025"/>
              <a:gd name="connsiteX6" fmla="*/ 1858909 w 3585169"/>
              <a:gd name="connsiteY6" fmla="*/ 161467 h 1708025"/>
              <a:gd name="connsiteX7" fmla="*/ 2970445 w 3585169"/>
              <a:gd name="connsiteY7" fmla="*/ 53056 h 1708025"/>
              <a:gd name="connsiteX8" fmla="*/ 3562581 w 3585169"/>
              <a:gd name="connsiteY8" fmla="*/ 1095247 h 1708025"/>
              <a:gd name="connsiteX9" fmla="*/ 3291159 w 3585169"/>
              <a:gd name="connsiteY9" fmla="*/ 1552123 h 1708025"/>
              <a:gd name="connsiteX10" fmla="*/ 2294761 w 3585169"/>
              <a:gd name="connsiteY10" fmla="*/ 1452229 h 1708025"/>
              <a:gd name="connsiteX11" fmla="*/ 1535809 w 3585169"/>
              <a:gd name="connsiteY11" fmla="*/ 1675626 h 1708025"/>
              <a:gd name="connsiteX0" fmla="*/ 1535809 w 3490171"/>
              <a:gd name="connsiteY0" fmla="*/ 1656292 h 1688691"/>
              <a:gd name="connsiteX1" fmla="*/ 769619 w 3490171"/>
              <a:gd name="connsiteY1" fmla="*/ 1642049 h 1688691"/>
              <a:gd name="connsiteX2" fmla="*/ 239202 w 3490171"/>
              <a:gd name="connsiteY2" fmla="*/ 1233818 h 1688691"/>
              <a:gd name="connsiteX3" fmla="*/ 3897 w 3490171"/>
              <a:gd name="connsiteY3" fmla="*/ 746440 h 1688691"/>
              <a:gd name="connsiteX4" fmla="*/ 148885 w 3490171"/>
              <a:gd name="connsiteY4" fmla="*/ 431081 h 1688691"/>
              <a:gd name="connsiteX5" fmla="*/ 816849 w 3490171"/>
              <a:gd name="connsiteY5" fmla="*/ 218355 h 1688691"/>
              <a:gd name="connsiteX6" fmla="*/ 1858909 w 3490171"/>
              <a:gd name="connsiteY6" fmla="*/ 142133 h 1688691"/>
              <a:gd name="connsiteX7" fmla="*/ 2970445 w 3490171"/>
              <a:gd name="connsiteY7" fmla="*/ 33722 h 1688691"/>
              <a:gd name="connsiteX8" fmla="*/ 3422780 w 3490171"/>
              <a:gd name="connsiteY8" fmla="*/ 794636 h 1688691"/>
              <a:gd name="connsiteX9" fmla="*/ 3291159 w 3490171"/>
              <a:gd name="connsiteY9" fmla="*/ 1532789 h 1688691"/>
              <a:gd name="connsiteX10" fmla="*/ 2294761 w 3490171"/>
              <a:gd name="connsiteY10" fmla="*/ 1432895 h 1688691"/>
              <a:gd name="connsiteX11" fmla="*/ 1535809 w 3490171"/>
              <a:gd name="connsiteY11" fmla="*/ 1656292 h 1688691"/>
              <a:gd name="connsiteX0" fmla="*/ 1535809 w 3490171"/>
              <a:gd name="connsiteY0" fmla="*/ 1656292 h 1656292"/>
              <a:gd name="connsiteX1" fmla="*/ 239202 w 3490171"/>
              <a:gd name="connsiteY1" fmla="*/ 1233818 h 1656292"/>
              <a:gd name="connsiteX2" fmla="*/ 3897 w 3490171"/>
              <a:gd name="connsiteY2" fmla="*/ 746440 h 1656292"/>
              <a:gd name="connsiteX3" fmla="*/ 148885 w 3490171"/>
              <a:gd name="connsiteY3" fmla="*/ 431081 h 1656292"/>
              <a:gd name="connsiteX4" fmla="*/ 816849 w 3490171"/>
              <a:gd name="connsiteY4" fmla="*/ 218355 h 1656292"/>
              <a:gd name="connsiteX5" fmla="*/ 1858909 w 3490171"/>
              <a:gd name="connsiteY5" fmla="*/ 142133 h 1656292"/>
              <a:gd name="connsiteX6" fmla="*/ 2970445 w 3490171"/>
              <a:gd name="connsiteY6" fmla="*/ 33722 h 1656292"/>
              <a:gd name="connsiteX7" fmla="*/ 3422780 w 3490171"/>
              <a:gd name="connsiteY7" fmla="*/ 794636 h 1656292"/>
              <a:gd name="connsiteX8" fmla="*/ 3291159 w 3490171"/>
              <a:gd name="connsiteY8" fmla="*/ 1532789 h 1656292"/>
              <a:gd name="connsiteX9" fmla="*/ 2294761 w 3490171"/>
              <a:gd name="connsiteY9" fmla="*/ 1432895 h 1656292"/>
              <a:gd name="connsiteX10" fmla="*/ 1535809 w 3490171"/>
              <a:gd name="connsiteY10" fmla="*/ 1656292 h 1656292"/>
              <a:gd name="connsiteX0" fmla="*/ 1574171 w 3528533"/>
              <a:gd name="connsiteY0" fmla="*/ 1656292 h 2207918"/>
              <a:gd name="connsiteX1" fmla="*/ 835282 w 3528533"/>
              <a:gd name="connsiteY1" fmla="*/ 2181782 h 2207918"/>
              <a:gd name="connsiteX2" fmla="*/ 42259 w 3528533"/>
              <a:gd name="connsiteY2" fmla="*/ 746440 h 2207918"/>
              <a:gd name="connsiteX3" fmla="*/ 187247 w 3528533"/>
              <a:gd name="connsiteY3" fmla="*/ 431081 h 2207918"/>
              <a:gd name="connsiteX4" fmla="*/ 855211 w 3528533"/>
              <a:gd name="connsiteY4" fmla="*/ 218355 h 2207918"/>
              <a:gd name="connsiteX5" fmla="*/ 1897271 w 3528533"/>
              <a:gd name="connsiteY5" fmla="*/ 142133 h 2207918"/>
              <a:gd name="connsiteX6" fmla="*/ 3008807 w 3528533"/>
              <a:gd name="connsiteY6" fmla="*/ 33722 h 2207918"/>
              <a:gd name="connsiteX7" fmla="*/ 3461142 w 3528533"/>
              <a:gd name="connsiteY7" fmla="*/ 794636 h 2207918"/>
              <a:gd name="connsiteX8" fmla="*/ 3329521 w 3528533"/>
              <a:gd name="connsiteY8" fmla="*/ 1532789 h 2207918"/>
              <a:gd name="connsiteX9" fmla="*/ 2333123 w 3528533"/>
              <a:gd name="connsiteY9" fmla="*/ 1432895 h 2207918"/>
              <a:gd name="connsiteX10" fmla="*/ 1574171 w 3528533"/>
              <a:gd name="connsiteY10" fmla="*/ 1656292 h 2207918"/>
              <a:gd name="connsiteX0" fmla="*/ 1628141 w 3582503"/>
              <a:gd name="connsiteY0" fmla="*/ 1656292 h 1656292"/>
              <a:gd name="connsiteX1" fmla="*/ 96229 w 3582503"/>
              <a:gd name="connsiteY1" fmla="*/ 746440 h 1656292"/>
              <a:gd name="connsiteX2" fmla="*/ 241217 w 3582503"/>
              <a:gd name="connsiteY2" fmla="*/ 431081 h 1656292"/>
              <a:gd name="connsiteX3" fmla="*/ 909181 w 3582503"/>
              <a:gd name="connsiteY3" fmla="*/ 218355 h 1656292"/>
              <a:gd name="connsiteX4" fmla="*/ 1951241 w 3582503"/>
              <a:gd name="connsiteY4" fmla="*/ 142133 h 1656292"/>
              <a:gd name="connsiteX5" fmla="*/ 3062777 w 3582503"/>
              <a:gd name="connsiteY5" fmla="*/ 33722 h 1656292"/>
              <a:gd name="connsiteX6" fmla="*/ 3515112 w 3582503"/>
              <a:gd name="connsiteY6" fmla="*/ 794636 h 1656292"/>
              <a:gd name="connsiteX7" fmla="*/ 3383491 w 3582503"/>
              <a:gd name="connsiteY7" fmla="*/ 1532789 h 1656292"/>
              <a:gd name="connsiteX8" fmla="*/ 2387093 w 3582503"/>
              <a:gd name="connsiteY8" fmla="*/ 1432895 h 1656292"/>
              <a:gd name="connsiteX9" fmla="*/ 1628141 w 3582503"/>
              <a:gd name="connsiteY9" fmla="*/ 1656292 h 1656292"/>
              <a:gd name="connsiteX0" fmla="*/ 1389048 w 3343410"/>
              <a:gd name="connsiteY0" fmla="*/ 1656292 h 2473686"/>
              <a:gd name="connsiteX1" fmla="*/ 883337 w 3343410"/>
              <a:gd name="connsiteY1" fmla="*/ 2441284 h 2473686"/>
              <a:gd name="connsiteX2" fmla="*/ 2124 w 3343410"/>
              <a:gd name="connsiteY2" fmla="*/ 431081 h 2473686"/>
              <a:gd name="connsiteX3" fmla="*/ 670088 w 3343410"/>
              <a:gd name="connsiteY3" fmla="*/ 218355 h 2473686"/>
              <a:gd name="connsiteX4" fmla="*/ 1712148 w 3343410"/>
              <a:gd name="connsiteY4" fmla="*/ 142133 h 2473686"/>
              <a:gd name="connsiteX5" fmla="*/ 2823684 w 3343410"/>
              <a:gd name="connsiteY5" fmla="*/ 33722 h 2473686"/>
              <a:gd name="connsiteX6" fmla="*/ 3276019 w 3343410"/>
              <a:gd name="connsiteY6" fmla="*/ 794636 h 2473686"/>
              <a:gd name="connsiteX7" fmla="*/ 3144398 w 3343410"/>
              <a:gd name="connsiteY7" fmla="*/ 1532789 h 2473686"/>
              <a:gd name="connsiteX8" fmla="*/ 2148000 w 3343410"/>
              <a:gd name="connsiteY8" fmla="*/ 1432895 h 2473686"/>
              <a:gd name="connsiteX9" fmla="*/ 1389048 w 3343410"/>
              <a:gd name="connsiteY9" fmla="*/ 1656292 h 2473686"/>
              <a:gd name="connsiteX0" fmla="*/ 1812913 w 3343410"/>
              <a:gd name="connsiteY0" fmla="*/ 2087183 h 2527278"/>
              <a:gd name="connsiteX1" fmla="*/ 883337 w 3343410"/>
              <a:gd name="connsiteY1" fmla="*/ 2441284 h 2527278"/>
              <a:gd name="connsiteX2" fmla="*/ 2124 w 3343410"/>
              <a:gd name="connsiteY2" fmla="*/ 431081 h 2527278"/>
              <a:gd name="connsiteX3" fmla="*/ 670088 w 3343410"/>
              <a:gd name="connsiteY3" fmla="*/ 218355 h 2527278"/>
              <a:gd name="connsiteX4" fmla="*/ 1712148 w 3343410"/>
              <a:gd name="connsiteY4" fmla="*/ 142133 h 2527278"/>
              <a:gd name="connsiteX5" fmla="*/ 2823684 w 3343410"/>
              <a:gd name="connsiteY5" fmla="*/ 33722 h 2527278"/>
              <a:gd name="connsiteX6" fmla="*/ 3276019 w 3343410"/>
              <a:gd name="connsiteY6" fmla="*/ 794636 h 2527278"/>
              <a:gd name="connsiteX7" fmla="*/ 3144398 w 3343410"/>
              <a:gd name="connsiteY7" fmla="*/ 1532789 h 2527278"/>
              <a:gd name="connsiteX8" fmla="*/ 2148000 w 3343410"/>
              <a:gd name="connsiteY8" fmla="*/ 1432895 h 2527278"/>
              <a:gd name="connsiteX9" fmla="*/ 1812913 w 3343410"/>
              <a:gd name="connsiteY9" fmla="*/ 2087183 h 2527278"/>
              <a:gd name="connsiteX0" fmla="*/ 1812913 w 3343410"/>
              <a:gd name="connsiteY0" fmla="*/ 2087183 h 2513408"/>
              <a:gd name="connsiteX1" fmla="*/ 883337 w 3343410"/>
              <a:gd name="connsiteY1" fmla="*/ 2441284 h 2513408"/>
              <a:gd name="connsiteX2" fmla="*/ 2124 w 3343410"/>
              <a:gd name="connsiteY2" fmla="*/ 431081 h 2513408"/>
              <a:gd name="connsiteX3" fmla="*/ 670088 w 3343410"/>
              <a:gd name="connsiteY3" fmla="*/ 218355 h 2513408"/>
              <a:gd name="connsiteX4" fmla="*/ 1712148 w 3343410"/>
              <a:gd name="connsiteY4" fmla="*/ 142133 h 2513408"/>
              <a:gd name="connsiteX5" fmla="*/ 2823684 w 3343410"/>
              <a:gd name="connsiteY5" fmla="*/ 33722 h 2513408"/>
              <a:gd name="connsiteX6" fmla="*/ 3276019 w 3343410"/>
              <a:gd name="connsiteY6" fmla="*/ 794636 h 2513408"/>
              <a:gd name="connsiteX7" fmla="*/ 3144398 w 3343410"/>
              <a:gd name="connsiteY7" fmla="*/ 1532789 h 2513408"/>
              <a:gd name="connsiteX8" fmla="*/ 3051503 w 3343410"/>
              <a:gd name="connsiteY8" fmla="*/ 2280317 h 2513408"/>
              <a:gd name="connsiteX9" fmla="*/ 1812913 w 3343410"/>
              <a:gd name="connsiteY9" fmla="*/ 2087183 h 2513408"/>
              <a:gd name="connsiteX0" fmla="*/ 1812913 w 4249543"/>
              <a:gd name="connsiteY0" fmla="*/ 2087183 h 2513408"/>
              <a:gd name="connsiteX1" fmla="*/ 883337 w 4249543"/>
              <a:gd name="connsiteY1" fmla="*/ 2441284 h 2513408"/>
              <a:gd name="connsiteX2" fmla="*/ 2124 w 4249543"/>
              <a:gd name="connsiteY2" fmla="*/ 431081 h 2513408"/>
              <a:gd name="connsiteX3" fmla="*/ 670088 w 4249543"/>
              <a:gd name="connsiteY3" fmla="*/ 218355 h 2513408"/>
              <a:gd name="connsiteX4" fmla="*/ 1712148 w 4249543"/>
              <a:gd name="connsiteY4" fmla="*/ 142133 h 2513408"/>
              <a:gd name="connsiteX5" fmla="*/ 2823684 w 4249543"/>
              <a:gd name="connsiteY5" fmla="*/ 33722 h 2513408"/>
              <a:gd name="connsiteX6" fmla="*/ 3276019 w 4249543"/>
              <a:gd name="connsiteY6" fmla="*/ 794636 h 2513408"/>
              <a:gd name="connsiteX7" fmla="*/ 4192908 w 4249543"/>
              <a:gd name="connsiteY7" fmla="*/ 1906229 h 2513408"/>
              <a:gd name="connsiteX8" fmla="*/ 3051503 w 4249543"/>
              <a:gd name="connsiteY8" fmla="*/ 2280317 h 2513408"/>
              <a:gd name="connsiteX9" fmla="*/ 1812913 w 4249543"/>
              <a:gd name="connsiteY9" fmla="*/ 2087183 h 2513408"/>
              <a:gd name="connsiteX0" fmla="*/ 1812913 w 3291254"/>
              <a:gd name="connsiteY0" fmla="*/ 2087183 h 2513408"/>
              <a:gd name="connsiteX1" fmla="*/ 883337 w 3291254"/>
              <a:gd name="connsiteY1" fmla="*/ 2441284 h 2513408"/>
              <a:gd name="connsiteX2" fmla="*/ 2124 w 3291254"/>
              <a:gd name="connsiteY2" fmla="*/ 431081 h 2513408"/>
              <a:gd name="connsiteX3" fmla="*/ 670088 w 3291254"/>
              <a:gd name="connsiteY3" fmla="*/ 218355 h 2513408"/>
              <a:gd name="connsiteX4" fmla="*/ 1712148 w 3291254"/>
              <a:gd name="connsiteY4" fmla="*/ 142133 h 2513408"/>
              <a:gd name="connsiteX5" fmla="*/ 2823684 w 3291254"/>
              <a:gd name="connsiteY5" fmla="*/ 33722 h 2513408"/>
              <a:gd name="connsiteX6" fmla="*/ 3276019 w 3291254"/>
              <a:gd name="connsiteY6" fmla="*/ 794636 h 2513408"/>
              <a:gd name="connsiteX7" fmla="*/ 3051503 w 3291254"/>
              <a:gd name="connsiteY7" fmla="*/ 2280317 h 2513408"/>
              <a:gd name="connsiteX8" fmla="*/ 1812913 w 3291254"/>
              <a:gd name="connsiteY8" fmla="*/ 2087183 h 2513408"/>
              <a:gd name="connsiteX0" fmla="*/ 1812913 w 3372061"/>
              <a:gd name="connsiteY0" fmla="*/ 1980537 h 2406762"/>
              <a:gd name="connsiteX1" fmla="*/ 883337 w 3372061"/>
              <a:gd name="connsiteY1" fmla="*/ 2334638 h 2406762"/>
              <a:gd name="connsiteX2" fmla="*/ 2124 w 3372061"/>
              <a:gd name="connsiteY2" fmla="*/ 324435 h 2406762"/>
              <a:gd name="connsiteX3" fmla="*/ 670088 w 3372061"/>
              <a:gd name="connsiteY3" fmla="*/ 111709 h 2406762"/>
              <a:gd name="connsiteX4" fmla="*/ 1712148 w 3372061"/>
              <a:gd name="connsiteY4" fmla="*/ 35487 h 2406762"/>
              <a:gd name="connsiteX5" fmla="*/ 3276019 w 3372061"/>
              <a:gd name="connsiteY5" fmla="*/ 687990 h 2406762"/>
              <a:gd name="connsiteX6" fmla="*/ 3051503 w 3372061"/>
              <a:gd name="connsiteY6" fmla="*/ 2173671 h 2406762"/>
              <a:gd name="connsiteX7" fmla="*/ 1812913 w 3372061"/>
              <a:gd name="connsiteY7" fmla="*/ 1980537 h 2406762"/>
              <a:gd name="connsiteX0" fmla="*/ 1815546 w 3451572"/>
              <a:gd name="connsiteY0" fmla="*/ 1927198 h 2353423"/>
              <a:gd name="connsiteX1" fmla="*/ 885970 w 3451572"/>
              <a:gd name="connsiteY1" fmla="*/ 2281299 h 2353423"/>
              <a:gd name="connsiteX2" fmla="*/ 4757 w 3451572"/>
              <a:gd name="connsiteY2" fmla="*/ 271096 h 2353423"/>
              <a:gd name="connsiteX3" fmla="*/ 672721 w 3451572"/>
              <a:gd name="connsiteY3" fmla="*/ 58370 h 2353423"/>
              <a:gd name="connsiteX4" fmla="*/ 3278652 w 3451572"/>
              <a:gd name="connsiteY4" fmla="*/ 634651 h 2353423"/>
              <a:gd name="connsiteX5" fmla="*/ 3054136 w 3451572"/>
              <a:gd name="connsiteY5" fmla="*/ 2120332 h 2353423"/>
              <a:gd name="connsiteX6" fmla="*/ 1815546 w 3451572"/>
              <a:gd name="connsiteY6" fmla="*/ 1927198 h 2353423"/>
              <a:gd name="connsiteX0" fmla="*/ 1811382 w 3421869"/>
              <a:gd name="connsiteY0" fmla="*/ 1868593 h 2294818"/>
              <a:gd name="connsiteX1" fmla="*/ 881806 w 3421869"/>
              <a:gd name="connsiteY1" fmla="*/ 2222694 h 2294818"/>
              <a:gd name="connsiteX2" fmla="*/ 593 w 3421869"/>
              <a:gd name="connsiteY2" fmla="*/ 212491 h 2294818"/>
              <a:gd name="connsiteX3" fmla="*/ 1014342 w 3421869"/>
              <a:gd name="connsiteY3" fmla="*/ 100307 h 2294818"/>
              <a:gd name="connsiteX4" fmla="*/ 3274488 w 3421869"/>
              <a:gd name="connsiteY4" fmla="*/ 576046 h 2294818"/>
              <a:gd name="connsiteX5" fmla="*/ 3049972 w 3421869"/>
              <a:gd name="connsiteY5" fmla="*/ 2061727 h 2294818"/>
              <a:gd name="connsiteX6" fmla="*/ 1811382 w 3421869"/>
              <a:gd name="connsiteY6" fmla="*/ 1868593 h 2294818"/>
              <a:gd name="connsiteX0" fmla="*/ 1833106 w 3382754"/>
              <a:gd name="connsiteY0" fmla="*/ 2088927 h 2515152"/>
              <a:gd name="connsiteX1" fmla="*/ 903530 w 3382754"/>
              <a:gd name="connsiteY1" fmla="*/ 2443028 h 2515152"/>
              <a:gd name="connsiteX2" fmla="*/ 22317 w 3382754"/>
              <a:gd name="connsiteY2" fmla="*/ 432825 h 2515152"/>
              <a:gd name="connsiteX3" fmla="*/ 1861489 w 3382754"/>
              <a:gd name="connsiteY3" fmla="*/ 19016 h 2515152"/>
              <a:gd name="connsiteX4" fmla="*/ 3296212 w 3382754"/>
              <a:gd name="connsiteY4" fmla="*/ 796380 h 2515152"/>
              <a:gd name="connsiteX5" fmla="*/ 3071696 w 3382754"/>
              <a:gd name="connsiteY5" fmla="*/ 2282061 h 2515152"/>
              <a:gd name="connsiteX6" fmla="*/ 1833106 w 3382754"/>
              <a:gd name="connsiteY6" fmla="*/ 2088927 h 2515152"/>
              <a:gd name="connsiteX0" fmla="*/ 1876800 w 3426448"/>
              <a:gd name="connsiteY0" fmla="*/ 2077119 h 2497206"/>
              <a:gd name="connsiteX1" fmla="*/ 947224 w 3426448"/>
              <a:gd name="connsiteY1" fmla="*/ 2431220 h 2497206"/>
              <a:gd name="connsiteX2" fmla="*/ 21394 w 3426448"/>
              <a:gd name="connsiteY2" fmla="*/ 521560 h 2497206"/>
              <a:gd name="connsiteX3" fmla="*/ 1905183 w 3426448"/>
              <a:gd name="connsiteY3" fmla="*/ 7208 h 2497206"/>
              <a:gd name="connsiteX4" fmla="*/ 3339906 w 3426448"/>
              <a:gd name="connsiteY4" fmla="*/ 784572 h 2497206"/>
              <a:gd name="connsiteX5" fmla="*/ 3115390 w 3426448"/>
              <a:gd name="connsiteY5" fmla="*/ 2270253 h 2497206"/>
              <a:gd name="connsiteX6" fmla="*/ 1876800 w 3426448"/>
              <a:gd name="connsiteY6" fmla="*/ 2077119 h 2497206"/>
              <a:gd name="connsiteX0" fmla="*/ 1876800 w 3914385"/>
              <a:gd name="connsiteY0" fmla="*/ 2096711 h 2516798"/>
              <a:gd name="connsiteX1" fmla="*/ 947224 w 3914385"/>
              <a:gd name="connsiteY1" fmla="*/ 2450812 h 2516798"/>
              <a:gd name="connsiteX2" fmla="*/ 21394 w 3914385"/>
              <a:gd name="connsiteY2" fmla="*/ 541152 h 2516798"/>
              <a:gd name="connsiteX3" fmla="*/ 1905183 w 3914385"/>
              <a:gd name="connsiteY3" fmla="*/ 26800 h 2516798"/>
              <a:gd name="connsiteX4" fmla="*/ 3875315 w 3914385"/>
              <a:gd name="connsiteY4" fmla="*/ 1177605 h 2516798"/>
              <a:gd name="connsiteX5" fmla="*/ 3115390 w 3914385"/>
              <a:gd name="connsiteY5" fmla="*/ 2289845 h 2516798"/>
              <a:gd name="connsiteX6" fmla="*/ 1876800 w 3914385"/>
              <a:gd name="connsiteY6" fmla="*/ 2096711 h 2516798"/>
              <a:gd name="connsiteX0" fmla="*/ 1876800 w 3818587"/>
              <a:gd name="connsiteY0" fmla="*/ 2083975 h 2504062"/>
              <a:gd name="connsiteX1" fmla="*/ 947224 w 3818587"/>
              <a:gd name="connsiteY1" fmla="*/ 2438076 h 2504062"/>
              <a:gd name="connsiteX2" fmla="*/ 21394 w 3818587"/>
              <a:gd name="connsiteY2" fmla="*/ 528416 h 2504062"/>
              <a:gd name="connsiteX3" fmla="*/ 1905183 w 3818587"/>
              <a:gd name="connsiteY3" fmla="*/ 14064 h 2504062"/>
              <a:gd name="connsiteX4" fmla="*/ 3774925 w 3818587"/>
              <a:gd name="connsiteY4" fmla="*/ 935059 h 2504062"/>
              <a:gd name="connsiteX5" fmla="*/ 3115390 w 3818587"/>
              <a:gd name="connsiteY5" fmla="*/ 2277109 h 2504062"/>
              <a:gd name="connsiteX6" fmla="*/ 1876800 w 3818587"/>
              <a:gd name="connsiteY6" fmla="*/ 2083975 h 2504062"/>
              <a:gd name="connsiteX0" fmla="*/ 1876800 w 3916854"/>
              <a:gd name="connsiteY0" fmla="*/ 2083974 h 2613413"/>
              <a:gd name="connsiteX1" fmla="*/ 947224 w 3916854"/>
              <a:gd name="connsiteY1" fmla="*/ 2438075 h 2613413"/>
              <a:gd name="connsiteX2" fmla="*/ 21394 w 3916854"/>
              <a:gd name="connsiteY2" fmla="*/ 528415 h 2613413"/>
              <a:gd name="connsiteX3" fmla="*/ 1905183 w 3916854"/>
              <a:gd name="connsiteY3" fmla="*/ 14063 h 2613413"/>
              <a:gd name="connsiteX4" fmla="*/ 3774925 w 3916854"/>
              <a:gd name="connsiteY4" fmla="*/ 935058 h 2613413"/>
              <a:gd name="connsiteX5" fmla="*/ 3572720 w 3916854"/>
              <a:gd name="connsiteY5" fmla="*/ 2578732 h 2613413"/>
              <a:gd name="connsiteX6" fmla="*/ 1876800 w 3916854"/>
              <a:gd name="connsiteY6" fmla="*/ 2083974 h 2613413"/>
              <a:gd name="connsiteX0" fmla="*/ 1966381 w 3913609"/>
              <a:gd name="connsiteY0" fmla="*/ 2974486 h 2978289"/>
              <a:gd name="connsiteX1" fmla="*/ 947569 w 3913609"/>
              <a:gd name="connsiteY1" fmla="*/ 2438075 h 2978289"/>
              <a:gd name="connsiteX2" fmla="*/ 21739 w 3913609"/>
              <a:gd name="connsiteY2" fmla="*/ 528415 h 2978289"/>
              <a:gd name="connsiteX3" fmla="*/ 1905528 w 3913609"/>
              <a:gd name="connsiteY3" fmla="*/ 14063 h 2978289"/>
              <a:gd name="connsiteX4" fmla="*/ 3775270 w 3913609"/>
              <a:gd name="connsiteY4" fmla="*/ 935058 h 2978289"/>
              <a:gd name="connsiteX5" fmla="*/ 3573065 w 3913609"/>
              <a:gd name="connsiteY5" fmla="*/ 2578732 h 2978289"/>
              <a:gd name="connsiteX6" fmla="*/ 1966381 w 3913609"/>
              <a:gd name="connsiteY6" fmla="*/ 2974486 h 2978289"/>
              <a:gd name="connsiteX0" fmla="*/ 1854410 w 3917684"/>
              <a:gd name="connsiteY0" fmla="*/ 3060664 h 3063016"/>
              <a:gd name="connsiteX1" fmla="*/ 947140 w 3917684"/>
              <a:gd name="connsiteY1" fmla="*/ 2438075 h 3063016"/>
              <a:gd name="connsiteX2" fmla="*/ 21310 w 3917684"/>
              <a:gd name="connsiteY2" fmla="*/ 528415 h 3063016"/>
              <a:gd name="connsiteX3" fmla="*/ 1905099 w 3917684"/>
              <a:gd name="connsiteY3" fmla="*/ 14063 h 3063016"/>
              <a:gd name="connsiteX4" fmla="*/ 3774841 w 3917684"/>
              <a:gd name="connsiteY4" fmla="*/ 935058 h 3063016"/>
              <a:gd name="connsiteX5" fmla="*/ 3572636 w 3917684"/>
              <a:gd name="connsiteY5" fmla="*/ 2578732 h 3063016"/>
              <a:gd name="connsiteX6" fmla="*/ 1854410 w 3917684"/>
              <a:gd name="connsiteY6" fmla="*/ 3060664 h 3063016"/>
              <a:gd name="connsiteX0" fmla="*/ 3581694 w 3969385"/>
              <a:gd name="connsiteY0" fmla="*/ 2578732 h 2736203"/>
              <a:gd name="connsiteX1" fmla="*/ 956198 w 3969385"/>
              <a:gd name="connsiteY1" fmla="*/ 2438075 h 2736203"/>
              <a:gd name="connsiteX2" fmla="*/ 30368 w 3969385"/>
              <a:gd name="connsiteY2" fmla="*/ 528415 h 2736203"/>
              <a:gd name="connsiteX3" fmla="*/ 1914157 w 3969385"/>
              <a:gd name="connsiteY3" fmla="*/ 14063 h 2736203"/>
              <a:gd name="connsiteX4" fmla="*/ 3783899 w 3969385"/>
              <a:gd name="connsiteY4" fmla="*/ 935058 h 2736203"/>
              <a:gd name="connsiteX5" fmla="*/ 3581694 w 3969385"/>
              <a:gd name="connsiteY5" fmla="*/ 2578732 h 2736203"/>
              <a:gd name="connsiteX0" fmla="*/ 3577705 w 3963067"/>
              <a:gd name="connsiteY0" fmla="*/ 2577030 h 2656840"/>
              <a:gd name="connsiteX1" fmla="*/ 996825 w 3963067"/>
              <a:gd name="connsiteY1" fmla="*/ 2206564 h 2656840"/>
              <a:gd name="connsiteX2" fmla="*/ 26379 w 3963067"/>
              <a:gd name="connsiteY2" fmla="*/ 526713 h 2656840"/>
              <a:gd name="connsiteX3" fmla="*/ 1910168 w 3963067"/>
              <a:gd name="connsiteY3" fmla="*/ 12361 h 2656840"/>
              <a:gd name="connsiteX4" fmla="*/ 3779910 w 3963067"/>
              <a:gd name="connsiteY4" fmla="*/ 933356 h 2656840"/>
              <a:gd name="connsiteX5" fmla="*/ 3577705 w 3963067"/>
              <a:gd name="connsiteY5" fmla="*/ 2577030 h 2656840"/>
              <a:gd name="connsiteX0" fmla="*/ 3584027 w 3969389"/>
              <a:gd name="connsiteY0" fmla="*/ 2594626 h 2674437"/>
              <a:gd name="connsiteX1" fmla="*/ 1003147 w 3969389"/>
              <a:gd name="connsiteY1" fmla="*/ 2224160 h 2674437"/>
              <a:gd name="connsiteX2" fmla="*/ 32701 w 3969389"/>
              <a:gd name="connsiteY2" fmla="*/ 544309 h 2674437"/>
              <a:gd name="connsiteX3" fmla="*/ 1916490 w 3969389"/>
              <a:gd name="connsiteY3" fmla="*/ 29957 h 2674437"/>
              <a:gd name="connsiteX4" fmla="*/ 3786232 w 3969389"/>
              <a:gd name="connsiteY4" fmla="*/ 950952 h 2674437"/>
              <a:gd name="connsiteX5" fmla="*/ 3584027 w 3969389"/>
              <a:gd name="connsiteY5" fmla="*/ 2594626 h 2674437"/>
              <a:gd name="connsiteX0" fmla="*/ 3685347 w 4206134"/>
              <a:gd name="connsiteY0" fmla="*/ 2124424 h 2204235"/>
              <a:gd name="connsiteX1" fmla="*/ 1104467 w 4206134"/>
              <a:gd name="connsiteY1" fmla="*/ 1753958 h 2204235"/>
              <a:gd name="connsiteX2" fmla="*/ 134021 w 4206134"/>
              <a:gd name="connsiteY2" fmla="*/ 74107 h 2204235"/>
              <a:gd name="connsiteX3" fmla="*/ 3887552 w 4206134"/>
              <a:gd name="connsiteY3" fmla="*/ 480750 h 2204235"/>
              <a:gd name="connsiteX4" fmla="*/ 3685347 w 4206134"/>
              <a:gd name="connsiteY4" fmla="*/ 2124424 h 2204235"/>
              <a:gd name="connsiteX0" fmla="*/ 3644842 w 4162378"/>
              <a:gd name="connsiteY0" fmla="*/ 2400513 h 2488442"/>
              <a:gd name="connsiteX1" fmla="*/ 1063962 w 4162378"/>
              <a:gd name="connsiteY1" fmla="*/ 2030047 h 2488442"/>
              <a:gd name="connsiteX2" fmla="*/ 138133 w 4162378"/>
              <a:gd name="connsiteY2" fmla="*/ 48572 h 2488442"/>
              <a:gd name="connsiteX3" fmla="*/ 3847047 w 4162378"/>
              <a:gd name="connsiteY3" fmla="*/ 756839 h 2488442"/>
              <a:gd name="connsiteX4" fmla="*/ 3644842 w 4162378"/>
              <a:gd name="connsiteY4" fmla="*/ 2400513 h 2488442"/>
              <a:gd name="connsiteX0" fmla="*/ 3653611 w 4171147"/>
              <a:gd name="connsiteY0" fmla="*/ 2622239 h 2710168"/>
              <a:gd name="connsiteX1" fmla="*/ 1072731 w 4171147"/>
              <a:gd name="connsiteY1" fmla="*/ 2251773 h 2710168"/>
              <a:gd name="connsiteX2" fmla="*/ 146902 w 4171147"/>
              <a:gd name="connsiteY2" fmla="*/ 270298 h 2710168"/>
              <a:gd name="connsiteX3" fmla="*/ 3855816 w 4171147"/>
              <a:gd name="connsiteY3" fmla="*/ 978565 h 2710168"/>
              <a:gd name="connsiteX4" fmla="*/ 3653611 w 4171147"/>
              <a:gd name="connsiteY4" fmla="*/ 2622239 h 2710168"/>
              <a:gd name="connsiteX0" fmla="*/ 3693988 w 4214774"/>
              <a:gd name="connsiteY0" fmla="*/ 2426917 h 2508561"/>
              <a:gd name="connsiteX1" fmla="*/ 1113108 w 4214774"/>
              <a:gd name="connsiteY1" fmla="*/ 2056451 h 2508561"/>
              <a:gd name="connsiteX2" fmla="*/ 142662 w 4214774"/>
              <a:gd name="connsiteY2" fmla="*/ 304784 h 2508561"/>
              <a:gd name="connsiteX3" fmla="*/ 3896193 w 4214774"/>
              <a:gd name="connsiteY3" fmla="*/ 783243 h 2508561"/>
              <a:gd name="connsiteX4" fmla="*/ 3693988 w 4214774"/>
              <a:gd name="connsiteY4" fmla="*/ 2426917 h 2508561"/>
              <a:gd name="connsiteX0" fmla="*/ 3683915 w 4188827"/>
              <a:gd name="connsiteY0" fmla="*/ 2300796 h 2408305"/>
              <a:gd name="connsiteX1" fmla="*/ 1103035 w 4188827"/>
              <a:gd name="connsiteY1" fmla="*/ 1930330 h 2408305"/>
              <a:gd name="connsiteX2" fmla="*/ 132589 w 4188827"/>
              <a:gd name="connsiteY2" fmla="*/ 178663 h 2408305"/>
              <a:gd name="connsiteX3" fmla="*/ 3863811 w 4188827"/>
              <a:gd name="connsiteY3" fmla="*/ 298043 h 2408305"/>
              <a:gd name="connsiteX4" fmla="*/ 3683915 w 4188827"/>
              <a:gd name="connsiteY4" fmla="*/ 2300796 h 2408305"/>
              <a:gd name="connsiteX0" fmla="*/ 3695249 w 4193640"/>
              <a:gd name="connsiteY0" fmla="*/ 2058956 h 2217803"/>
              <a:gd name="connsiteX1" fmla="*/ 1103215 w 4193640"/>
              <a:gd name="connsiteY1" fmla="*/ 1918299 h 2217803"/>
              <a:gd name="connsiteX2" fmla="*/ 132769 w 4193640"/>
              <a:gd name="connsiteY2" fmla="*/ 166632 h 2217803"/>
              <a:gd name="connsiteX3" fmla="*/ 3863991 w 4193640"/>
              <a:gd name="connsiteY3" fmla="*/ 286012 h 2217803"/>
              <a:gd name="connsiteX4" fmla="*/ 3695249 w 4193640"/>
              <a:gd name="connsiteY4" fmla="*/ 2058956 h 2217803"/>
              <a:gd name="connsiteX0" fmla="*/ 3731619 w 4239113"/>
              <a:gd name="connsiteY0" fmla="*/ 2060991 h 2232494"/>
              <a:gd name="connsiteX1" fmla="*/ 949961 w 4239113"/>
              <a:gd name="connsiteY1" fmla="*/ 1949060 h 2232494"/>
              <a:gd name="connsiteX2" fmla="*/ 169139 w 4239113"/>
              <a:gd name="connsiteY2" fmla="*/ 168667 h 2232494"/>
              <a:gd name="connsiteX3" fmla="*/ 3900361 w 4239113"/>
              <a:gd name="connsiteY3" fmla="*/ 288047 h 2232494"/>
              <a:gd name="connsiteX4" fmla="*/ 3731619 w 4239113"/>
              <a:gd name="connsiteY4" fmla="*/ 2060991 h 2232494"/>
              <a:gd name="connsiteX0" fmla="*/ 3690237 w 4197731"/>
              <a:gd name="connsiteY0" fmla="*/ 2179321 h 2350824"/>
              <a:gd name="connsiteX1" fmla="*/ 908579 w 4197731"/>
              <a:gd name="connsiteY1" fmla="*/ 2067390 h 2350824"/>
              <a:gd name="connsiteX2" fmla="*/ 127757 w 4197731"/>
              <a:gd name="connsiteY2" fmla="*/ 286997 h 2350824"/>
              <a:gd name="connsiteX3" fmla="*/ 3858979 w 4197731"/>
              <a:gd name="connsiteY3" fmla="*/ 406377 h 2350824"/>
              <a:gd name="connsiteX4" fmla="*/ 3690237 w 4197731"/>
              <a:gd name="connsiteY4" fmla="*/ 2179321 h 2350824"/>
              <a:gd name="connsiteX0" fmla="*/ 3667743 w 4175237"/>
              <a:gd name="connsiteY0" fmla="*/ 2236133 h 2407636"/>
              <a:gd name="connsiteX1" fmla="*/ 886085 w 4175237"/>
              <a:gd name="connsiteY1" fmla="*/ 2124202 h 2407636"/>
              <a:gd name="connsiteX2" fmla="*/ 105263 w 4175237"/>
              <a:gd name="connsiteY2" fmla="*/ 343809 h 2407636"/>
              <a:gd name="connsiteX3" fmla="*/ 3836485 w 4175237"/>
              <a:gd name="connsiteY3" fmla="*/ 463189 h 2407636"/>
              <a:gd name="connsiteX4" fmla="*/ 3667743 w 4175237"/>
              <a:gd name="connsiteY4" fmla="*/ 2236133 h 2407636"/>
              <a:gd name="connsiteX0" fmla="*/ 3588450 w 4089547"/>
              <a:gd name="connsiteY0" fmla="*/ 2246695 h 2418940"/>
              <a:gd name="connsiteX1" fmla="*/ 806792 w 4089547"/>
              <a:gd name="connsiteY1" fmla="*/ 2134764 h 2418940"/>
              <a:gd name="connsiteX2" fmla="*/ 115204 w 4089547"/>
              <a:gd name="connsiteY2" fmla="*/ 340009 h 2418940"/>
              <a:gd name="connsiteX3" fmla="*/ 3757192 w 4089547"/>
              <a:gd name="connsiteY3" fmla="*/ 473751 h 2418940"/>
              <a:gd name="connsiteX4" fmla="*/ 3588450 w 4089547"/>
              <a:gd name="connsiteY4" fmla="*/ 2246695 h 2418940"/>
              <a:gd name="connsiteX0" fmla="*/ 3625806 w 4126903"/>
              <a:gd name="connsiteY0" fmla="*/ 2272059 h 2444304"/>
              <a:gd name="connsiteX1" fmla="*/ 844148 w 4126903"/>
              <a:gd name="connsiteY1" fmla="*/ 2160128 h 2444304"/>
              <a:gd name="connsiteX2" fmla="*/ 152560 w 4126903"/>
              <a:gd name="connsiteY2" fmla="*/ 365373 h 2444304"/>
              <a:gd name="connsiteX3" fmla="*/ 3794548 w 4126903"/>
              <a:gd name="connsiteY3" fmla="*/ 499115 h 2444304"/>
              <a:gd name="connsiteX4" fmla="*/ 3625806 w 4126903"/>
              <a:gd name="connsiteY4" fmla="*/ 2272059 h 2444304"/>
              <a:gd name="connsiteX0" fmla="*/ 3625806 w 4201676"/>
              <a:gd name="connsiteY0" fmla="*/ 2272059 h 2314180"/>
              <a:gd name="connsiteX1" fmla="*/ 844148 w 4201676"/>
              <a:gd name="connsiteY1" fmla="*/ 2160128 h 2314180"/>
              <a:gd name="connsiteX2" fmla="*/ 152560 w 4201676"/>
              <a:gd name="connsiteY2" fmla="*/ 365373 h 2314180"/>
              <a:gd name="connsiteX3" fmla="*/ 3794548 w 4201676"/>
              <a:gd name="connsiteY3" fmla="*/ 499115 h 2314180"/>
              <a:gd name="connsiteX4" fmla="*/ 3625806 w 4201676"/>
              <a:gd name="connsiteY4" fmla="*/ 2272059 h 2314180"/>
              <a:gd name="connsiteX0" fmla="*/ 3625806 w 4203691"/>
              <a:gd name="connsiteY0" fmla="*/ 2272059 h 2332322"/>
              <a:gd name="connsiteX1" fmla="*/ 844148 w 4203691"/>
              <a:gd name="connsiteY1" fmla="*/ 2160128 h 2332322"/>
              <a:gd name="connsiteX2" fmla="*/ 152560 w 4203691"/>
              <a:gd name="connsiteY2" fmla="*/ 365373 h 2332322"/>
              <a:gd name="connsiteX3" fmla="*/ 3794548 w 4203691"/>
              <a:gd name="connsiteY3" fmla="*/ 499115 h 2332322"/>
              <a:gd name="connsiteX4" fmla="*/ 3625806 w 4203691"/>
              <a:gd name="connsiteY4" fmla="*/ 2272059 h 2332322"/>
              <a:gd name="connsiteX0" fmla="*/ 3625806 w 4207741"/>
              <a:gd name="connsiteY0" fmla="*/ 2272059 h 2358077"/>
              <a:gd name="connsiteX1" fmla="*/ 844148 w 4207741"/>
              <a:gd name="connsiteY1" fmla="*/ 2160128 h 2358077"/>
              <a:gd name="connsiteX2" fmla="*/ 152560 w 4207741"/>
              <a:gd name="connsiteY2" fmla="*/ 365373 h 2358077"/>
              <a:gd name="connsiteX3" fmla="*/ 3794548 w 4207741"/>
              <a:gd name="connsiteY3" fmla="*/ 499115 h 2358077"/>
              <a:gd name="connsiteX4" fmla="*/ 3625806 w 4207741"/>
              <a:gd name="connsiteY4" fmla="*/ 2272059 h 2358077"/>
              <a:gd name="connsiteX0" fmla="*/ 3524475 w 4156670"/>
              <a:gd name="connsiteY0" fmla="*/ 2301205 h 2374786"/>
              <a:gd name="connsiteX1" fmla="*/ 841843 w 4156670"/>
              <a:gd name="connsiteY1" fmla="*/ 2161309 h 2374786"/>
              <a:gd name="connsiteX2" fmla="*/ 150255 w 4156670"/>
              <a:gd name="connsiteY2" fmla="*/ 366554 h 2374786"/>
              <a:gd name="connsiteX3" fmla="*/ 3792243 w 4156670"/>
              <a:gd name="connsiteY3" fmla="*/ 500296 h 2374786"/>
              <a:gd name="connsiteX4" fmla="*/ 3524475 w 4156670"/>
              <a:gd name="connsiteY4" fmla="*/ 2301205 h 2374786"/>
              <a:gd name="connsiteX0" fmla="*/ 3464892 w 4128905"/>
              <a:gd name="connsiteY0" fmla="*/ 2301205 h 2374786"/>
              <a:gd name="connsiteX1" fmla="*/ 840511 w 4128905"/>
              <a:gd name="connsiteY1" fmla="*/ 2161309 h 2374786"/>
              <a:gd name="connsiteX2" fmla="*/ 148923 w 4128905"/>
              <a:gd name="connsiteY2" fmla="*/ 366554 h 2374786"/>
              <a:gd name="connsiteX3" fmla="*/ 3790911 w 4128905"/>
              <a:gd name="connsiteY3" fmla="*/ 500296 h 2374786"/>
              <a:gd name="connsiteX4" fmla="*/ 3464892 w 4128905"/>
              <a:gd name="connsiteY4" fmla="*/ 2301205 h 2374786"/>
              <a:gd name="connsiteX0" fmla="*/ 3435108 w 4115652"/>
              <a:gd name="connsiteY0" fmla="*/ 2293918 h 2370488"/>
              <a:gd name="connsiteX1" fmla="*/ 839852 w 4115652"/>
              <a:gd name="connsiteY1" fmla="*/ 2161014 h 2370488"/>
              <a:gd name="connsiteX2" fmla="*/ 148264 w 4115652"/>
              <a:gd name="connsiteY2" fmla="*/ 366259 h 2370488"/>
              <a:gd name="connsiteX3" fmla="*/ 3790252 w 4115652"/>
              <a:gd name="connsiteY3" fmla="*/ 500001 h 2370488"/>
              <a:gd name="connsiteX4" fmla="*/ 3435108 w 4115652"/>
              <a:gd name="connsiteY4" fmla="*/ 2293918 h 2370488"/>
              <a:gd name="connsiteX0" fmla="*/ 2876987 w 3935229"/>
              <a:gd name="connsiteY0" fmla="*/ 1875810 h 2220255"/>
              <a:gd name="connsiteX1" fmla="*/ 828295 w 3935229"/>
              <a:gd name="connsiteY1" fmla="*/ 2144538 h 2220255"/>
              <a:gd name="connsiteX2" fmla="*/ 136707 w 3935229"/>
              <a:gd name="connsiteY2" fmla="*/ 349783 h 2220255"/>
              <a:gd name="connsiteX3" fmla="*/ 3778695 w 3935229"/>
              <a:gd name="connsiteY3" fmla="*/ 483525 h 2220255"/>
              <a:gd name="connsiteX4" fmla="*/ 2876987 w 3935229"/>
              <a:gd name="connsiteY4" fmla="*/ 1875810 h 2220255"/>
              <a:gd name="connsiteX0" fmla="*/ 2876987 w 4046083"/>
              <a:gd name="connsiteY0" fmla="*/ 1875809 h 2182028"/>
              <a:gd name="connsiteX1" fmla="*/ 828295 w 4046083"/>
              <a:gd name="connsiteY1" fmla="*/ 2144537 h 2182028"/>
              <a:gd name="connsiteX2" fmla="*/ 136707 w 4046083"/>
              <a:gd name="connsiteY2" fmla="*/ 349782 h 2182028"/>
              <a:gd name="connsiteX3" fmla="*/ 3778695 w 4046083"/>
              <a:gd name="connsiteY3" fmla="*/ 483524 h 2182028"/>
              <a:gd name="connsiteX4" fmla="*/ 2876987 w 4046083"/>
              <a:gd name="connsiteY4" fmla="*/ 1875809 h 2182028"/>
              <a:gd name="connsiteX0" fmla="*/ 3138775 w 4159643"/>
              <a:gd name="connsiteY0" fmla="*/ 1889731 h 2183521"/>
              <a:gd name="connsiteX1" fmla="*/ 833533 w 4159643"/>
              <a:gd name="connsiteY1" fmla="*/ 2145070 h 2183521"/>
              <a:gd name="connsiteX2" fmla="*/ 141945 w 4159643"/>
              <a:gd name="connsiteY2" fmla="*/ 350315 h 2183521"/>
              <a:gd name="connsiteX3" fmla="*/ 3783933 w 4159643"/>
              <a:gd name="connsiteY3" fmla="*/ 484057 h 2183521"/>
              <a:gd name="connsiteX4" fmla="*/ 3138775 w 4159643"/>
              <a:gd name="connsiteY4" fmla="*/ 1889731 h 2183521"/>
              <a:gd name="connsiteX0" fmla="*/ 3161554 w 4170747"/>
              <a:gd name="connsiteY0" fmla="*/ 1959352 h 2191331"/>
              <a:gd name="connsiteX1" fmla="*/ 834003 w 4170747"/>
              <a:gd name="connsiteY1" fmla="*/ 2147752 h 2191331"/>
              <a:gd name="connsiteX2" fmla="*/ 142415 w 4170747"/>
              <a:gd name="connsiteY2" fmla="*/ 352997 h 2191331"/>
              <a:gd name="connsiteX3" fmla="*/ 3784403 w 4170747"/>
              <a:gd name="connsiteY3" fmla="*/ 486739 h 2191331"/>
              <a:gd name="connsiteX4" fmla="*/ 3161554 w 4170747"/>
              <a:gd name="connsiteY4" fmla="*/ 1959352 h 2191331"/>
              <a:gd name="connsiteX0" fmla="*/ 3124893 w 3923762"/>
              <a:gd name="connsiteY0" fmla="*/ 1959352 h 2193783"/>
              <a:gd name="connsiteX1" fmla="*/ 1143128 w 3923762"/>
              <a:gd name="connsiteY1" fmla="*/ 2027263 h 2193783"/>
              <a:gd name="connsiteX2" fmla="*/ 105754 w 3923762"/>
              <a:gd name="connsiteY2" fmla="*/ 352997 h 2193783"/>
              <a:gd name="connsiteX3" fmla="*/ 3747742 w 3923762"/>
              <a:gd name="connsiteY3" fmla="*/ 486739 h 2193783"/>
              <a:gd name="connsiteX4" fmla="*/ 3124893 w 3923762"/>
              <a:gd name="connsiteY4" fmla="*/ 1959352 h 2193783"/>
              <a:gd name="connsiteX0" fmla="*/ 3134581 w 3936058"/>
              <a:gd name="connsiteY0" fmla="*/ 1959352 h 2193783"/>
              <a:gd name="connsiteX1" fmla="*/ 1041272 w 3936058"/>
              <a:gd name="connsiteY1" fmla="*/ 2027264 h 2193783"/>
              <a:gd name="connsiteX2" fmla="*/ 115442 w 3936058"/>
              <a:gd name="connsiteY2" fmla="*/ 352997 h 2193783"/>
              <a:gd name="connsiteX3" fmla="*/ 3757430 w 3936058"/>
              <a:gd name="connsiteY3" fmla="*/ 486739 h 2193783"/>
              <a:gd name="connsiteX4" fmla="*/ 3134581 w 3936058"/>
              <a:gd name="connsiteY4" fmla="*/ 1959352 h 2193783"/>
              <a:gd name="connsiteX0" fmla="*/ 3143984 w 3945460"/>
              <a:gd name="connsiteY0" fmla="*/ 1959352 h 2068592"/>
              <a:gd name="connsiteX1" fmla="*/ 1050675 w 3945460"/>
              <a:gd name="connsiteY1" fmla="*/ 2027264 h 2068592"/>
              <a:gd name="connsiteX2" fmla="*/ 124845 w 3945460"/>
              <a:gd name="connsiteY2" fmla="*/ 352997 h 2068592"/>
              <a:gd name="connsiteX3" fmla="*/ 3766833 w 3945460"/>
              <a:gd name="connsiteY3" fmla="*/ 486739 h 2068592"/>
              <a:gd name="connsiteX4" fmla="*/ 3143984 w 3945460"/>
              <a:gd name="connsiteY4" fmla="*/ 1959352 h 2068592"/>
              <a:gd name="connsiteX0" fmla="*/ 3083435 w 3880985"/>
              <a:gd name="connsiteY0" fmla="*/ 1890132 h 2118049"/>
              <a:gd name="connsiteX1" fmla="*/ 990126 w 3880985"/>
              <a:gd name="connsiteY1" fmla="*/ 1958044 h 2118049"/>
              <a:gd name="connsiteX2" fmla="*/ 120068 w 3880985"/>
              <a:gd name="connsiteY2" fmla="*/ 377490 h 2118049"/>
              <a:gd name="connsiteX3" fmla="*/ 3706284 w 3880985"/>
              <a:gd name="connsiteY3" fmla="*/ 417519 h 2118049"/>
              <a:gd name="connsiteX4" fmla="*/ 3083435 w 3880985"/>
              <a:gd name="connsiteY4" fmla="*/ 1890132 h 2118049"/>
              <a:gd name="connsiteX0" fmla="*/ 3083435 w 3880985"/>
              <a:gd name="connsiteY0" fmla="*/ 1833464 h 2055830"/>
              <a:gd name="connsiteX1" fmla="*/ 990126 w 3880985"/>
              <a:gd name="connsiteY1" fmla="*/ 1901376 h 2055830"/>
              <a:gd name="connsiteX2" fmla="*/ 120068 w 3880985"/>
              <a:gd name="connsiteY2" fmla="*/ 401148 h 2055830"/>
              <a:gd name="connsiteX3" fmla="*/ 3706284 w 3880985"/>
              <a:gd name="connsiteY3" fmla="*/ 360851 h 2055830"/>
              <a:gd name="connsiteX4" fmla="*/ 3083435 w 3880985"/>
              <a:gd name="connsiteY4" fmla="*/ 1833464 h 2055830"/>
              <a:gd name="connsiteX0" fmla="*/ 3083435 w 3880985"/>
              <a:gd name="connsiteY0" fmla="*/ 1839221 h 2061587"/>
              <a:gd name="connsiteX1" fmla="*/ 990126 w 3880985"/>
              <a:gd name="connsiteY1" fmla="*/ 1907133 h 2061587"/>
              <a:gd name="connsiteX2" fmla="*/ 120068 w 3880985"/>
              <a:gd name="connsiteY2" fmla="*/ 406905 h 2061587"/>
              <a:gd name="connsiteX3" fmla="*/ 3706284 w 3880985"/>
              <a:gd name="connsiteY3" fmla="*/ 366608 h 2061587"/>
              <a:gd name="connsiteX4" fmla="*/ 3083435 w 3880985"/>
              <a:gd name="connsiteY4" fmla="*/ 1839221 h 2061587"/>
              <a:gd name="connsiteX0" fmla="*/ 3071892 w 3869442"/>
              <a:gd name="connsiteY0" fmla="*/ 1839221 h 1961982"/>
              <a:gd name="connsiteX1" fmla="*/ 978583 w 3869442"/>
              <a:gd name="connsiteY1" fmla="*/ 1907133 h 1961982"/>
              <a:gd name="connsiteX2" fmla="*/ 108525 w 3869442"/>
              <a:gd name="connsiteY2" fmla="*/ 406905 h 1961982"/>
              <a:gd name="connsiteX3" fmla="*/ 3694741 w 3869442"/>
              <a:gd name="connsiteY3" fmla="*/ 366608 h 1961982"/>
              <a:gd name="connsiteX4" fmla="*/ 3071892 w 3869442"/>
              <a:gd name="connsiteY4" fmla="*/ 1839221 h 1961982"/>
              <a:gd name="connsiteX0" fmla="*/ 3050525 w 3840979"/>
              <a:gd name="connsiteY0" fmla="*/ 1839221 h 2013444"/>
              <a:gd name="connsiteX1" fmla="*/ 1269538 w 3840979"/>
              <a:gd name="connsiteY1" fmla="*/ 1960684 h 2013444"/>
              <a:gd name="connsiteX2" fmla="*/ 87158 w 3840979"/>
              <a:gd name="connsiteY2" fmla="*/ 406905 h 2013444"/>
              <a:gd name="connsiteX3" fmla="*/ 3673374 w 3840979"/>
              <a:gd name="connsiteY3" fmla="*/ 366608 h 2013444"/>
              <a:gd name="connsiteX4" fmla="*/ 3050525 w 3840979"/>
              <a:gd name="connsiteY4" fmla="*/ 1839221 h 2013444"/>
              <a:gd name="connsiteX0" fmla="*/ 3066110 w 3856564"/>
              <a:gd name="connsiteY0" fmla="*/ 1839221 h 1986899"/>
              <a:gd name="connsiteX1" fmla="*/ 1285123 w 3856564"/>
              <a:gd name="connsiteY1" fmla="*/ 1960684 h 1986899"/>
              <a:gd name="connsiteX2" fmla="*/ 102743 w 3856564"/>
              <a:gd name="connsiteY2" fmla="*/ 406905 h 1986899"/>
              <a:gd name="connsiteX3" fmla="*/ 3688959 w 3856564"/>
              <a:gd name="connsiteY3" fmla="*/ 366608 h 1986899"/>
              <a:gd name="connsiteX4" fmla="*/ 3066110 w 3856564"/>
              <a:gd name="connsiteY4" fmla="*/ 1839221 h 1986899"/>
              <a:gd name="connsiteX0" fmla="*/ 3067811 w 3858755"/>
              <a:gd name="connsiteY0" fmla="*/ 1839221 h 1934566"/>
              <a:gd name="connsiteX1" fmla="*/ 1264516 w 3858755"/>
              <a:gd name="connsiteY1" fmla="*/ 1907134 h 1934566"/>
              <a:gd name="connsiteX2" fmla="*/ 104444 w 3858755"/>
              <a:gd name="connsiteY2" fmla="*/ 406905 h 1934566"/>
              <a:gd name="connsiteX3" fmla="*/ 3690660 w 3858755"/>
              <a:gd name="connsiteY3" fmla="*/ 366608 h 1934566"/>
              <a:gd name="connsiteX4" fmla="*/ 3067811 w 3858755"/>
              <a:gd name="connsiteY4" fmla="*/ 1839221 h 1934566"/>
              <a:gd name="connsiteX0" fmla="*/ 3067811 w 3961725"/>
              <a:gd name="connsiteY0" fmla="*/ 1839221 h 1934566"/>
              <a:gd name="connsiteX1" fmla="*/ 1264516 w 3961725"/>
              <a:gd name="connsiteY1" fmla="*/ 1907134 h 1934566"/>
              <a:gd name="connsiteX2" fmla="*/ 104444 w 3961725"/>
              <a:gd name="connsiteY2" fmla="*/ 406905 h 1934566"/>
              <a:gd name="connsiteX3" fmla="*/ 3690660 w 3961725"/>
              <a:gd name="connsiteY3" fmla="*/ 366608 h 1934566"/>
              <a:gd name="connsiteX4" fmla="*/ 3067811 w 3961725"/>
              <a:gd name="connsiteY4" fmla="*/ 1839221 h 1934566"/>
              <a:gd name="connsiteX0" fmla="*/ 3067811 w 3937744"/>
              <a:gd name="connsiteY0" fmla="*/ 1839221 h 1946915"/>
              <a:gd name="connsiteX1" fmla="*/ 1264516 w 3937744"/>
              <a:gd name="connsiteY1" fmla="*/ 1907134 h 1946915"/>
              <a:gd name="connsiteX2" fmla="*/ 104444 w 3937744"/>
              <a:gd name="connsiteY2" fmla="*/ 406905 h 1946915"/>
              <a:gd name="connsiteX3" fmla="*/ 3690660 w 3937744"/>
              <a:gd name="connsiteY3" fmla="*/ 366608 h 1946915"/>
              <a:gd name="connsiteX4" fmla="*/ 3067811 w 3937744"/>
              <a:gd name="connsiteY4" fmla="*/ 1839221 h 1946915"/>
              <a:gd name="connsiteX0" fmla="*/ 3067811 w 3878265"/>
              <a:gd name="connsiteY0" fmla="*/ 1925537 h 2047176"/>
              <a:gd name="connsiteX1" fmla="*/ 1264516 w 3878265"/>
              <a:gd name="connsiteY1" fmla="*/ 1993450 h 2047176"/>
              <a:gd name="connsiteX2" fmla="*/ 104444 w 3878265"/>
              <a:gd name="connsiteY2" fmla="*/ 493221 h 2047176"/>
              <a:gd name="connsiteX3" fmla="*/ 3690660 w 3878265"/>
              <a:gd name="connsiteY3" fmla="*/ 452924 h 2047176"/>
              <a:gd name="connsiteX4" fmla="*/ 3067811 w 3878265"/>
              <a:gd name="connsiteY4" fmla="*/ 1925537 h 2047176"/>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62528"/>
              <a:gd name="connsiteY0" fmla="*/ 1934962 h 2058180"/>
              <a:gd name="connsiteX1" fmla="*/ 1264516 w 3962528"/>
              <a:gd name="connsiteY1" fmla="*/ 2002875 h 2058180"/>
              <a:gd name="connsiteX2" fmla="*/ 104444 w 3962528"/>
              <a:gd name="connsiteY2" fmla="*/ 502646 h 2058180"/>
              <a:gd name="connsiteX3" fmla="*/ 3690660 w 3962528"/>
              <a:gd name="connsiteY3" fmla="*/ 462349 h 2058180"/>
              <a:gd name="connsiteX4" fmla="*/ 3067811 w 3962528"/>
              <a:gd name="connsiteY4" fmla="*/ 1934962 h 2058180"/>
              <a:gd name="connsiteX0" fmla="*/ 3100043 w 3994760"/>
              <a:gd name="connsiteY0" fmla="*/ 1934963 h 2058181"/>
              <a:gd name="connsiteX1" fmla="*/ 1296748 w 3994760"/>
              <a:gd name="connsiteY1" fmla="*/ 2002876 h 2058181"/>
              <a:gd name="connsiteX2" fmla="*/ 136676 w 3994760"/>
              <a:gd name="connsiteY2" fmla="*/ 502647 h 2058181"/>
              <a:gd name="connsiteX3" fmla="*/ 3722892 w 3994760"/>
              <a:gd name="connsiteY3" fmla="*/ 462350 h 2058181"/>
              <a:gd name="connsiteX4" fmla="*/ 3100043 w 3994760"/>
              <a:gd name="connsiteY4" fmla="*/ 1934963 h 2058181"/>
              <a:gd name="connsiteX0" fmla="*/ 3133588 w 4028305"/>
              <a:gd name="connsiteY0" fmla="*/ 1966913 h 2090131"/>
              <a:gd name="connsiteX1" fmla="*/ 1330293 w 4028305"/>
              <a:gd name="connsiteY1" fmla="*/ 2034826 h 2090131"/>
              <a:gd name="connsiteX2" fmla="*/ 170221 w 4028305"/>
              <a:gd name="connsiteY2" fmla="*/ 534597 h 2090131"/>
              <a:gd name="connsiteX3" fmla="*/ 3756437 w 4028305"/>
              <a:gd name="connsiteY3" fmla="*/ 494300 h 2090131"/>
              <a:gd name="connsiteX4" fmla="*/ 3133588 w 4028305"/>
              <a:gd name="connsiteY4" fmla="*/ 1966913 h 2090131"/>
              <a:gd name="connsiteX0" fmla="*/ 3133588 w 4028305"/>
              <a:gd name="connsiteY0" fmla="*/ 1983116 h 2106334"/>
              <a:gd name="connsiteX1" fmla="*/ 1330293 w 4028305"/>
              <a:gd name="connsiteY1" fmla="*/ 2051029 h 2106334"/>
              <a:gd name="connsiteX2" fmla="*/ 170221 w 4028305"/>
              <a:gd name="connsiteY2" fmla="*/ 550800 h 2106334"/>
              <a:gd name="connsiteX3" fmla="*/ 3756437 w 4028305"/>
              <a:gd name="connsiteY3" fmla="*/ 510503 h 2106334"/>
              <a:gd name="connsiteX4" fmla="*/ 3133588 w 4028305"/>
              <a:gd name="connsiteY4" fmla="*/ 1983116 h 2106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8305" h="2106334">
                <a:moveTo>
                  <a:pt x="3133588" y="1983116"/>
                </a:moveTo>
                <a:cubicBezTo>
                  <a:pt x="2283056" y="1423222"/>
                  <a:pt x="1946887" y="1847952"/>
                  <a:pt x="1330293" y="2051029"/>
                </a:cubicBezTo>
                <a:cubicBezTo>
                  <a:pt x="713699" y="2254106"/>
                  <a:pt x="-433056" y="1421129"/>
                  <a:pt x="170221" y="550800"/>
                </a:cubicBezTo>
                <a:cubicBezTo>
                  <a:pt x="773498" y="-319529"/>
                  <a:pt x="3206771" y="-22745"/>
                  <a:pt x="3756437" y="510503"/>
                </a:cubicBezTo>
                <a:cubicBezTo>
                  <a:pt x="4306103" y="1043751"/>
                  <a:pt x="3984120" y="2543010"/>
                  <a:pt x="3133588" y="1983116"/>
                </a:cubicBezTo>
                <a:close/>
              </a:path>
            </a:pathLst>
          </a:custGeom>
          <a:noFill/>
          <a:ln w="19050">
            <a:solidFill>
              <a:schemeClr val="bg1">
                <a:lumMod val="65000"/>
              </a:schemeClr>
            </a:solidFill>
            <a:prstDash val="sysDot"/>
          </a:ln>
          <a:effectLst/>
          <a:ex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en-US" altLang="zh-CN" sz="1800" b="0" i="0" u="none" strike="noStrike" kern="0" cap="none" spc="0" normalizeH="0" baseline="0" noProof="0" dirty="0" smtClean="0">
              <a:ln>
                <a:noFill/>
              </a:ln>
              <a:solidFill>
                <a:srgbClr val="990000"/>
              </a:solidFill>
              <a:effectLst/>
              <a:uLnTx/>
              <a:uFillTx/>
              <a:latin typeface="Huawei Sans" panose="020C0503030203020204" pitchFamily="34" charset="0"/>
            </a:endParaRPr>
          </a:p>
        </p:txBody>
      </p:sp>
      <p:sp>
        <p:nvSpPr>
          <p:cNvPr id="102" name="任意多边形 101"/>
          <p:cNvSpPr/>
          <p:nvPr/>
        </p:nvSpPr>
        <p:spPr bwMode="gray">
          <a:xfrm>
            <a:off x="649823" y="2275225"/>
            <a:ext cx="417169" cy="279140"/>
          </a:xfrm>
          <a:custGeom>
            <a:avLst/>
            <a:gdLst>
              <a:gd name="connsiteX0" fmla="*/ 1445348 w 3650295"/>
              <a:gd name="connsiteY0" fmla="*/ 2411363 h 2422073"/>
              <a:gd name="connsiteX1" fmla="*/ 906334 w 3650295"/>
              <a:gd name="connsiteY1" fmla="*/ 2295860 h 2422073"/>
              <a:gd name="connsiteX2" fmla="*/ 271066 w 3650295"/>
              <a:gd name="connsiteY2" fmla="*/ 1448836 h 2422073"/>
              <a:gd name="connsiteX3" fmla="*/ 88186 w 3650295"/>
              <a:gd name="connsiteY3" fmla="*/ 803944 h 2422073"/>
              <a:gd name="connsiteX4" fmla="*/ 49685 w 3650295"/>
              <a:gd name="connsiteY4" fmla="*/ 139801 h 2422073"/>
              <a:gd name="connsiteX5" fmla="*/ 781205 w 3650295"/>
              <a:gd name="connsiteY5" fmla="*/ 53173 h 2422073"/>
              <a:gd name="connsiteX6" fmla="*/ 1916986 w 3650295"/>
              <a:gd name="connsiteY6" fmla="*/ 784693 h 2422073"/>
              <a:gd name="connsiteX7" fmla="*/ 2600380 w 3650295"/>
              <a:gd name="connsiteY7" fmla="*/ 1160079 h 2422073"/>
              <a:gd name="connsiteX8" fmla="*/ 3620658 w 3650295"/>
              <a:gd name="connsiteY8" fmla="*/ 1650967 h 2422073"/>
              <a:gd name="connsiteX9" fmla="*/ 3235647 w 3650295"/>
              <a:gd name="connsiteY9" fmla="*/ 2276609 h 2422073"/>
              <a:gd name="connsiteX10" fmla="*/ 1811108 w 3650295"/>
              <a:gd name="connsiteY10" fmla="*/ 2401737 h 2422073"/>
              <a:gd name="connsiteX11" fmla="*/ 1445348 w 3650295"/>
              <a:gd name="connsiteY11" fmla="*/ 2411363 h 2422073"/>
              <a:gd name="connsiteX0" fmla="*/ 1454242 w 3659189"/>
              <a:gd name="connsiteY0" fmla="*/ 2435890 h 2446600"/>
              <a:gd name="connsiteX1" fmla="*/ 915228 w 3659189"/>
              <a:gd name="connsiteY1" fmla="*/ 2320387 h 2446600"/>
              <a:gd name="connsiteX2" fmla="*/ 279960 w 3659189"/>
              <a:gd name="connsiteY2" fmla="*/ 1473363 h 2446600"/>
              <a:gd name="connsiteX3" fmla="*/ 70868 w 3659189"/>
              <a:gd name="connsiteY3" fmla="*/ 1346021 h 2446600"/>
              <a:gd name="connsiteX4" fmla="*/ 58579 w 3659189"/>
              <a:gd name="connsiteY4" fmla="*/ 164328 h 2446600"/>
              <a:gd name="connsiteX5" fmla="*/ 790099 w 3659189"/>
              <a:gd name="connsiteY5" fmla="*/ 77700 h 2446600"/>
              <a:gd name="connsiteX6" fmla="*/ 1925880 w 3659189"/>
              <a:gd name="connsiteY6" fmla="*/ 809220 h 2446600"/>
              <a:gd name="connsiteX7" fmla="*/ 2609274 w 3659189"/>
              <a:gd name="connsiteY7" fmla="*/ 1184606 h 2446600"/>
              <a:gd name="connsiteX8" fmla="*/ 3629552 w 3659189"/>
              <a:gd name="connsiteY8" fmla="*/ 1675494 h 2446600"/>
              <a:gd name="connsiteX9" fmla="*/ 3244541 w 3659189"/>
              <a:gd name="connsiteY9" fmla="*/ 2301136 h 2446600"/>
              <a:gd name="connsiteX10" fmla="*/ 1820002 w 3659189"/>
              <a:gd name="connsiteY10" fmla="*/ 2426264 h 2446600"/>
              <a:gd name="connsiteX11" fmla="*/ 1454242 w 3659189"/>
              <a:gd name="connsiteY11" fmla="*/ 2435890 h 2446600"/>
              <a:gd name="connsiteX0" fmla="*/ 1455350 w 3660297"/>
              <a:gd name="connsiteY0" fmla="*/ 2435890 h 2446600"/>
              <a:gd name="connsiteX1" fmla="*/ 916336 w 3660297"/>
              <a:gd name="connsiteY1" fmla="*/ 2320387 h 2446600"/>
              <a:gd name="connsiteX2" fmla="*/ 307281 w 3660297"/>
              <a:gd name="connsiteY2" fmla="*/ 1833399 h 2446600"/>
              <a:gd name="connsiteX3" fmla="*/ 71976 w 3660297"/>
              <a:gd name="connsiteY3" fmla="*/ 1346021 h 2446600"/>
              <a:gd name="connsiteX4" fmla="*/ 59687 w 3660297"/>
              <a:gd name="connsiteY4" fmla="*/ 164328 h 2446600"/>
              <a:gd name="connsiteX5" fmla="*/ 791207 w 3660297"/>
              <a:gd name="connsiteY5" fmla="*/ 77700 h 2446600"/>
              <a:gd name="connsiteX6" fmla="*/ 1926988 w 3660297"/>
              <a:gd name="connsiteY6" fmla="*/ 809220 h 2446600"/>
              <a:gd name="connsiteX7" fmla="*/ 2610382 w 3660297"/>
              <a:gd name="connsiteY7" fmla="*/ 1184606 h 2446600"/>
              <a:gd name="connsiteX8" fmla="*/ 3630660 w 3660297"/>
              <a:gd name="connsiteY8" fmla="*/ 1675494 h 2446600"/>
              <a:gd name="connsiteX9" fmla="*/ 3245649 w 3660297"/>
              <a:gd name="connsiteY9" fmla="*/ 2301136 h 2446600"/>
              <a:gd name="connsiteX10" fmla="*/ 1821110 w 3660297"/>
              <a:gd name="connsiteY10" fmla="*/ 2426264 h 2446600"/>
              <a:gd name="connsiteX11" fmla="*/ 1455350 w 3660297"/>
              <a:gd name="connsiteY11" fmla="*/ 2435890 h 2446600"/>
              <a:gd name="connsiteX0" fmla="*/ 1455350 w 3660297"/>
              <a:gd name="connsiteY0" fmla="*/ 2345882 h 2426816"/>
              <a:gd name="connsiteX1" fmla="*/ 916336 w 3660297"/>
              <a:gd name="connsiteY1" fmla="*/ 2320387 h 2426816"/>
              <a:gd name="connsiteX2" fmla="*/ 307281 w 3660297"/>
              <a:gd name="connsiteY2" fmla="*/ 1833399 h 2426816"/>
              <a:gd name="connsiteX3" fmla="*/ 71976 w 3660297"/>
              <a:gd name="connsiteY3" fmla="*/ 1346021 h 2426816"/>
              <a:gd name="connsiteX4" fmla="*/ 59687 w 3660297"/>
              <a:gd name="connsiteY4" fmla="*/ 164328 h 2426816"/>
              <a:gd name="connsiteX5" fmla="*/ 791207 w 3660297"/>
              <a:gd name="connsiteY5" fmla="*/ 77700 h 2426816"/>
              <a:gd name="connsiteX6" fmla="*/ 1926988 w 3660297"/>
              <a:gd name="connsiteY6" fmla="*/ 809220 h 2426816"/>
              <a:gd name="connsiteX7" fmla="*/ 2610382 w 3660297"/>
              <a:gd name="connsiteY7" fmla="*/ 1184606 h 2426816"/>
              <a:gd name="connsiteX8" fmla="*/ 3630660 w 3660297"/>
              <a:gd name="connsiteY8" fmla="*/ 1675494 h 2426816"/>
              <a:gd name="connsiteX9" fmla="*/ 3245649 w 3660297"/>
              <a:gd name="connsiteY9" fmla="*/ 2301136 h 2426816"/>
              <a:gd name="connsiteX10" fmla="*/ 1821110 w 3660297"/>
              <a:gd name="connsiteY10" fmla="*/ 2426264 h 2426816"/>
              <a:gd name="connsiteX11" fmla="*/ 1455350 w 3660297"/>
              <a:gd name="connsiteY11" fmla="*/ 2345882 h 2426816"/>
              <a:gd name="connsiteX0" fmla="*/ 1455350 w 3658950"/>
              <a:gd name="connsiteY0" fmla="*/ 2345882 h 2431610"/>
              <a:gd name="connsiteX1" fmla="*/ 916336 w 3658950"/>
              <a:gd name="connsiteY1" fmla="*/ 2320387 h 2431610"/>
              <a:gd name="connsiteX2" fmla="*/ 307281 w 3658950"/>
              <a:gd name="connsiteY2" fmla="*/ 1833399 h 2431610"/>
              <a:gd name="connsiteX3" fmla="*/ 71976 w 3658950"/>
              <a:gd name="connsiteY3" fmla="*/ 1346021 h 2431610"/>
              <a:gd name="connsiteX4" fmla="*/ 59687 w 3658950"/>
              <a:gd name="connsiteY4" fmla="*/ 164328 h 2431610"/>
              <a:gd name="connsiteX5" fmla="*/ 791207 w 3658950"/>
              <a:gd name="connsiteY5" fmla="*/ 77700 h 2431610"/>
              <a:gd name="connsiteX6" fmla="*/ 1926988 w 3658950"/>
              <a:gd name="connsiteY6" fmla="*/ 809220 h 2431610"/>
              <a:gd name="connsiteX7" fmla="*/ 2610382 w 3658950"/>
              <a:gd name="connsiteY7" fmla="*/ 1184606 h 2431610"/>
              <a:gd name="connsiteX8" fmla="*/ 3630660 w 3658950"/>
              <a:gd name="connsiteY8" fmla="*/ 1675494 h 2431610"/>
              <a:gd name="connsiteX9" fmla="*/ 3236912 w 3658950"/>
              <a:gd name="connsiteY9" fmla="*/ 2177374 h 2431610"/>
              <a:gd name="connsiteX10" fmla="*/ 1821110 w 3658950"/>
              <a:gd name="connsiteY10" fmla="*/ 2426264 h 2431610"/>
              <a:gd name="connsiteX11" fmla="*/ 1455350 w 3658950"/>
              <a:gd name="connsiteY11" fmla="*/ 2345882 h 2431610"/>
              <a:gd name="connsiteX0" fmla="*/ 1386393 w 3589993"/>
              <a:gd name="connsiteY0" fmla="*/ 2269856 h 2355585"/>
              <a:gd name="connsiteX1" fmla="*/ 847379 w 3589993"/>
              <a:gd name="connsiteY1" fmla="*/ 2244361 h 2355585"/>
              <a:gd name="connsiteX2" fmla="*/ 238324 w 3589993"/>
              <a:gd name="connsiteY2" fmla="*/ 1757373 h 2355585"/>
              <a:gd name="connsiteX3" fmla="*/ 3019 w 3589993"/>
              <a:gd name="connsiteY3" fmla="*/ 1269995 h 2355585"/>
              <a:gd name="connsiteX4" fmla="*/ 148007 w 3589993"/>
              <a:gd name="connsiteY4" fmla="*/ 954636 h 2355585"/>
              <a:gd name="connsiteX5" fmla="*/ 722250 w 3589993"/>
              <a:gd name="connsiteY5" fmla="*/ 1674 h 2355585"/>
              <a:gd name="connsiteX6" fmla="*/ 1858031 w 3589993"/>
              <a:gd name="connsiteY6" fmla="*/ 733194 h 2355585"/>
              <a:gd name="connsiteX7" fmla="*/ 2541425 w 3589993"/>
              <a:gd name="connsiteY7" fmla="*/ 1108580 h 2355585"/>
              <a:gd name="connsiteX8" fmla="*/ 3561703 w 3589993"/>
              <a:gd name="connsiteY8" fmla="*/ 1599468 h 2355585"/>
              <a:gd name="connsiteX9" fmla="*/ 3167955 w 3589993"/>
              <a:gd name="connsiteY9" fmla="*/ 2101348 h 2355585"/>
              <a:gd name="connsiteX10" fmla="*/ 1752153 w 3589993"/>
              <a:gd name="connsiteY10" fmla="*/ 2350238 h 2355585"/>
              <a:gd name="connsiteX11" fmla="*/ 1386393 w 3589993"/>
              <a:gd name="connsiteY11" fmla="*/ 2269856 h 2355585"/>
              <a:gd name="connsiteX0" fmla="*/ 1388240 w 3591840"/>
              <a:gd name="connsiteY0" fmla="*/ 1541340 h 1627069"/>
              <a:gd name="connsiteX1" fmla="*/ 849226 w 3591840"/>
              <a:gd name="connsiteY1" fmla="*/ 1515845 h 1627069"/>
              <a:gd name="connsiteX2" fmla="*/ 240171 w 3591840"/>
              <a:gd name="connsiteY2" fmla="*/ 1028857 h 1627069"/>
              <a:gd name="connsiteX3" fmla="*/ 4866 w 3591840"/>
              <a:gd name="connsiteY3" fmla="*/ 541479 h 1627069"/>
              <a:gd name="connsiteX4" fmla="*/ 149854 w 3591840"/>
              <a:gd name="connsiteY4" fmla="*/ 226120 h 1627069"/>
              <a:gd name="connsiteX5" fmla="*/ 890111 w 3591840"/>
              <a:gd name="connsiteY5" fmla="*/ 173246 h 1627069"/>
              <a:gd name="connsiteX6" fmla="*/ 1859878 w 3591840"/>
              <a:gd name="connsiteY6" fmla="*/ 4678 h 1627069"/>
              <a:gd name="connsiteX7" fmla="*/ 2543272 w 3591840"/>
              <a:gd name="connsiteY7" fmla="*/ 380064 h 1627069"/>
              <a:gd name="connsiteX8" fmla="*/ 3563550 w 3591840"/>
              <a:gd name="connsiteY8" fmla="*/ 870952 h 1627069"/>
              <a:gd name="connsiteX9" fmla="*/ 3169802 w 3591840"/>
              <a:gd name="connsiteY9" fmla="*/ 1372832 h 1627069"/>
              <a:gd name="connsiteX10" fmla="*/ 1754000 w 3591840"/>
              <a:gd name="connsiteY10" fmla="*/ 1621722 h 1627069"/>
              <a:gd name="connsiteX11" fmla="*/ 1388240 w 3591840"/>
              <a:gd name="connsiteY11" fmla="*/ 1541340 h 1627069"/>
              <a:gd name="connsiteX0" fmla="*/ 1388240 w 3591840"/>
              <a:gd name="connsiteY0" fmla="*/ 1394005 h 1479734"/>
              <a:gd name="connsiteX1" fmla="*/ 849226 w 3591840"/>
              <a:gd name="connsiteY1" fmla="*/ 1368510 h 1479734"/>
              <a:gd name="connsiteX2" fmla="*/ 240171 w 3591840"/>
              <a:gd name="connsiteY2" fmla="*/ 881522 h 1479734"/>
              <a:gd name="connsiteX3" fmla="*/ 4866 w 3591840"/>
              <a:gd name="connsiteY3" fmla="*/ 394144 h 1479734"/>
              <a:gd name="connsiteX4" fmla="*/ 149854 w 3591840"/>
              <a:gd name="connsiteY4" fmla="*/ 78785 h 1479734"/>
              <a:gd name="connsiteX5" fmla="*/ 890111 w 3591840"/>
              <a:gd name="connsiteY5" fmla="*/ 25911 h 1479734"/>
              <a:gd name="connsiteX6" fmla="*/ 1859878 w 3591840"/>
              <a:gd name="connsiteY6" fmla="*/ 14858 h 1479734"/>
              <a:gd name="connsiteX7" fmla="*/ 2543272 w 3591840"/>
              <a:gd name="connsiteY7" fmla="*/ 232729 h 1479734"/>
              <a:gd name="connsiteX8" fmla="*/ 3563550 w 3591840"/>
              <a:gd name="connsiteY8" fmla="*/ 723617 h 1479734"/>
              <a:gd name="connsiteX9" fmla="*/ 3169802 w 3591840"/>
              <a:gd name="connsiteY9" fmla="*/ 1225497 h 1479734"/>
              <a:gd name="connsiteX10" fmla="*/ 1754000 w 3591840"/>
              <a:gd name="connsiteY10" fmla="*/ 1474387 h 1479734"/>
              <a:gd name="connsiteX11" fmla="*/ 1388240 w 3591840"/>
              <a:gd name="connsiteY11" fmla="*/ 1394005 h 1479734"/>
              <a:gd name="connsiteX0" fmla="*/ 1388240 w 3591840"/>
              <a:gd name="connsiteY0" fmla="*/ 1394005 h 1423588"/>
              <a:gd name="connsiteX1" fmla="*/ 849226 w 3591840"/>
              <a:gd name="connsiteY1" fmla="*/ 1368510 h 1423588"/>
              <a:gd name="connsiteX2" fmla="*/ 240171 w 3591840"/>
              <a:gd name="connsiteY2" fmla="*/ 881522 h 1423588"/>
              <a:gd name="connsiteX3" fmla="*/ 4866 w 3591840"/>
              <a:gd name="connsiteY3" fmla="*/ 394144 h 1423588"/>
              <a:gd name="connsiteX4" fmla="*/ 149854 w 3591840"/>
              <a:gd name="connsiteY4" fmla="*/ 78785 h 1423588"/>
              <a:gd name="connsiteX5" fmla="*/ 890111 w 3591840"/>
              <a:gd name="connsiteY5" fmla="*/ 25911 h 1423588"/>
              <a:gd name="connsiteX6" fmla="*/ 1859878 w 3591840"/>
              <a:gd name="connsiteY6" fmla="*/ 14858 h 1423588"/>
              <a:gd name="connsiteX7" fmla="*/ 2543272 w 3591840"/>
              <a:gd name="connsiteY7" fmla="*/ 232729 h 1423588"/>
              <a:gd name="connsiteX8" fmla="*/ 3563550 w 3591840"/>
              <a:gd name="connsiteY8" fmla="*/ 723617 h 1423588"/>
              <a:gd name="connsiteX9" fmla="*/ 3169802 w 3591840"/>
              <a:gd name="connsiteY9" fmla="*/ 1225497 h 1423588"/>
              <a:gd name="connsiteX10" fmla="*/ 2269517 w 3591840"/>
              <a:gd name="connsiteY10" fmla="*/ 1204361 h 1423588"/>
              <a:gd name="connsiteX11" fmla="*/ 1388240 w 3591840"/>
              <a:gd name="connsiteY11" fmla="*/ 1394005 h 1423588"/>
              <a:gd name="connsiteX0" fmla="*/ 1388240 w 3568710"/>
              <a:gd name="connsiteY0" fmla="*/ 1734542 h 1764125"/>
              <a:gd name="connsiteX1" fmla="*/ 849226 w 3568710"/>
              <a:gd name="connsiteY1" fmla="*/ 1709047 h 1764125"/>
              <a:gd name="connsiteX2" fmla="*/ 240171 w 3568710"/>
              <a:gd name="connsiteY2" fmla="*/ 1222059 h 1764125"/>
              <a:gd name="connsiteX3" fmla="*/ 4866 w 3568710"/>
              <a:gd name="connsiteY3" fmla="*/ 734681 h 1764125"/>
              <a:gd name="connsiteX4" fmla="*/ 149854 w 3568710"/>
              <a:gd name="connsiteY4" fmla="*/ 419322 h 1764125"/>
              <a:gd name="connsiteX5" fmla="*/ 890111 w 3568710"/>
              <a:gd name="connsiteY5" fmla="*/ 366448 h 1764125"/>
              <a:gd name="connsiteX6" fmla="*/ 1859878 w 3568710"/>
              <a:gd name="connsiteY6" fmla="*/ 355395 h 1764125"/>
              <a:gd name="connsiteX7" fmla="*/ 2971414 w 3568710"/>
              <a:gd name="connsiteY7" fmla="*/ 21963 h 1764125"/>
              <a:gd name="connsiteX8" fmla="*/ 3563550 w 3568710"/>
              <a:gd name="connsiteY8" fmla="*/ 1064154 h 1764125"/>
              <a:gd name="connsiteX9" fmla="*/ 3169802 w 3568710"/>
              <a:gd name="connsiteY9" fmla="*/ 1566034 h 1764125"/>
              <a:gd name="connsiteX10" fmla="*/ 2269517 w 3568710"/>
              <a:gd name="connsiteY10" fmla="*/ 1544898 h 1764125"/>
              <a:gd name="connsiteX11" fmla="*/ 1388240 w 3568710"/>
              <a:gd name="connsiteY11" fmla="*/ 1734542 h 1764125"/>
              <a:gd name="connsiteX0" fmla="*/ 1388240 w 3568709"/>
              <a:gd name="connsiteY0" fmla="*/ 1769505 h 1799088"/>
              <a:gd name="connsiteX1" fmla="*/ 849226 w 3568709"/>
              <a:gd name="connsiteY1" fmla="*/ 1744010 h 1799088"/>
              <a:gd name="connsiteX2" fmla="*/ 240171 w 3568709"/>
              <a:gd name="connsiteY2" fmla="*/ 1257022 h 1799088"/>
              <a:gd name="connsiteX3" fmla="*/ 4866 w 3568709"/>
              <a:gd name="connsiteY3" fmla="*/ 769644 h 1799088"/>
              <a:gd name="connsiteX4" fmla="*/ 149854 w 3568709"/>
              <a:gd name="connsiteY4" fmla="*/ 454285 h 1799088"/>
              <a:gd name="connsiteX5" fmla="*/ 890111 w 3568709"/>
              <a:gd name="connsiteY5" fmla="*/ 401411 h 1799088"/>
              <a:gd name="connsiteX6" fmla="*/ 1859878 w 3568709"/>
              <a:gd name="connsiteY6" fmla="*/ 165337 h 1799088"/>
              <a:gd name="connsiteX7" fmla="*/ 2971414 w 3568709"/>
              <a:gd name="connsiteY7" fmla="*/ 56926 h 1799088"/>
              <a:gd name="connsiteX8" fmla="*/ 3563550 w 3568709"/>
              <a:gd name="connsiteY8" fmla="*/ 1099117 h 1799088"/>
              <a:gd name="connsiteX9" fmla="*/ 3169802 w 3568709"/>
              <a:gd name="connsiteY9" fmla="*/ 1600997 h 1799088"/>
              <a:gd name="connsiteX10" fmla="*/ 2269517 w 3568709"/>
              <a:gd name="connsiteY10" fmla="*/ 1579861 h 1799088"/>
              <a:gd name="connsiteX11" fmla="*/ 1388240 w 3568709"/>
              <a:gd name="connsiteY11" fmla="*/ 1769505 h 1799088"/>
              <a:gd name="connsiteX0" fmla="*/ 1387271 w 3567740"/>
              <a:gd name="connsiteY0" fmla="*/ 1769505 h 1799088"/>
              <a:gd name="connsiteX1" fmla="*/ 848257 w 3567740"/>
              <a:gd name="connsiteY1" fmla="*/ 1744010 h 1799088"/>
              <a:gd name="connsiteX2" fmla="*/ 239202 w 3567740"/>
              <a:gd name="connsiteY2" fmla="*/ 1257022 h 1799088"/>
              <a:gd name="connsiteX3" fmla="*/ 3897 w 3567740"/>
              <a:gd name="connsiteY3" fmla="*/ 769644 h 1799088"/>
              <a:gd name="connsiteX4" fmla="*/ 148885 w 3567740"/>
              <a:gd name="connsiteY4" fmla="*/ 454285 h 1799088"/>
              <a:gd name="connsiteX5" fmla="*/ 816849 w 3567740"/>
              <a:gd name="connsiteY5" fmla="*/ 241559 h 1799088"/>
              <a:gd name="connsiteX6" fmla="*/ 889142 w 3567740"/>
              <a:gd name="connsiteY6" fmla="*/ 401411 h 1799088"/>
              <a:gd name="connsiteX7" fmla="*/ 1858909 w 3567740"/>
              <a:gd name="connsiteY7" fmla="*/ 165337 h 1799088"/>
              <a:gd name="connsiteX8" fmla="*/ 2970445 w 3567740"/>
              <a:gd name="connsiteY8" fmla="*/ 56926 h 1799088"/>
              <a:gd name="connsiteX9" fmla="*/ 3562581 w 3567740"/>
              <a:gd name="connsiteY9" fmla="*/ 1099117 h 1799088"/>
              <a:gd name="connsiteX10" fmla="*/ 3168833 w 3567740"/>
              <a:gd name="connsiteY10" fmla="*/ 1600997 h 1799088"/>
              <a:gd name="connsiteX11" fmla="*/ 2268548 w 3567740"/>
              <a:gd name="connsiteY11" fmla="*/ 1579861 h 1799088"/>
              <a:gd name="connsiteX12" fmla="*/ 1387271 w 3567740"/>
              <a:gd name="connsiteY12" fmla="*/ 1769505 h 1799088"/>
              <a:gd name="connsiteX0" fmla="*/ 1387271 w 3567740"/>
              <a:gd name="connsiteY0" fmla="*/ 1765635 h 1795218"/>
              <a:gd name="connsiteX1" fmla="*/ 848257 w 3567740"/>
              <a:gd name="connsiteY1" fmla="*/ 1740140 h 1795218"/>
              <a:gd name="connsiteX2" fmla="*/ 239202 w 3567740"/>
              <a:gd name="connsiteY2" fmla="*/ 1253152 h 1795218"/>
              <a:gd name="connsiteX3" fmla="*/ 3897 w 3567740"/>
              <a:gd name="connsiteY3" fmla="*/ 765774 h 1795218"/>
              <a:gd name="connsiteX4" fmla="*/ 148885 w 3567740"/>
              <a:gd name="connsiteY4" fmla="*/ 450415 h 1795218"/>
              <a:gd name="connsiteX5" fmla="*/ 816849 w 3567740"/>
              <a:gd name="connsiteY5" fmla="*/ 237689 h 1795218"/>
              <a:gd name="connsiteX6" fmla="*/ 1858909 w 3567740"/>
              <a:gd name="connsiteY6" fmla="*/ 161467 h 1795218"/>
              <a:gd name="connsiteX7" fmla="*/ 2970445 w 3567740"/>
              <a:gd name="connsiteY7" fmla="*/ 53056 h 1795218"/>
              <a:gd name="connsiteX8" fmla="*/ 3562581 w 3567740"/>
              <a:gd name="connsiteY8" fmla="*/ 1095247 h 1795218"/>
              <a:gd name="connsiteX9" fmla="*/ 3168833 w 3567740"/>
              <a:gd name="connsiteY9" fmla="*/ 1597127 h 1795218"/>
              <a:gd name="connsiteX10" fmla="*/ 2268548 w 3567740"/>
              <a:gd name="connsiteY10" fmla="*/ 1575991 h 1795218"/>
              <a:gd name="connsiteX11" fmla="*/ 1387271 w 3567740"/>
              <a:gd name="connsiteY11" fmla="*/ 1765635 h 1795218"/>
              <a:gd name="connsiteX0" fmla="*/ 1535809 w 3567740"/>
              <a:gd name="connsiteY0" fmla="*/ 1675626 h 1763651"/>
              <a:gd name="connsiteX1" fmla="*/ 848257 w 3567740"/>
              <a:gd name="connsiteY1" fmla="*/ 1740140 h 1763651"/>
              <a:gd name="connsiteX2" fmla="*/ 239202 w 3567740"/>
              <a:gd name="connsiteY2" fmla="*/ 1253152 h 1763651"/>
              <a:gd name="connsiteX3" fmla="*/ 3897 w 3567740"/>
              <a:gd name="connsiteY3" fmla="*/ 765774 h 1763651"/>
              <a:gd name="connsiteX4" fmla="*/ 148885 w 3567740"/>
              <a:gd name="connsiteY4" fmla="*/ 450415 h 1763651"/>
              <a:gd name="connsiteX5" fmla="*/ 816849 w 3567740"/>
              <a:gd name="connsiteY5" fmla="*/ 237689 h 1763651"/>
              <a:gd name="connsiteX6" fmla="*/ 1858909 w 3567740"/>
              <a:gd name="connsiteY6" fmla="*/ 161467 h 1763651"/>
              <a:gd name="connsiteX7" fmla="*/ 2970445 w 3567740"/>
              <a:gd name="connsiteY7" fmla="*/ 53056 h 1763651"/>
              <a:gd name="connsiteX8" fmla="*/ 3562581 w 3567740"/>
              <a:gd name="connsiteY8" fmla="*/ 1095247 h 1763651"/>
              <a:gd name="connsiteX9" fmla="*/ 3168833 w 3567740"/>
              <a:gd name="connsiteY9" fmla="*/ 1597127 h 1763651"/>
              <a:gd name="connsiteX10" fmla="*/ 2268548 w 3567740"/>
              <a:gd name="connsiteY10" fmla="*/ 1575991 h 1763651"/>
              <a:gd name="connsiteX11" fmla="*/ 1535809 w 3567740"/>
              <a:gd name="connsiteY11" fmla="*/ 1675626 h 1763651"/>
              <a:gd name="connsiteX0" fmla="*/ 1535809 w 3567740"/>
              <a:gd name="connsiteY0" fmla="*/ 1675626 h 1701030"/>
              <a:gd name="connsiteX1" fmla="*/ 769619 w 3567740"/>
              <a:gd name="connsiteY1" fmla="*/ 1661383 h 1701030"/>
              <a:gd name="connsiteX2" fmla="*/ 239202 w 3567740"/>
              <a:gd name="connsiteY2" fmla="*/ 1253152 h 1701030"/>
              <a:gd name="connsiteX3" fmla="*/ 3897 w 3567740"/>
              <a:gd name="connsiteY3" fmla="*/ 765774 h 1701030"/>
              <a:gd name="connsiteX4" fmla="*/ 148885 w 3567740"/>
              <a:gd name="connsiteY4" fmla="*/ 450415 h 1701030"/>
              <a:gd name="connsiteX5" fmla="*/ 816849 w 3567740"/>
              <a:gd name="connsiteY5" fmla="*/ 237689 h 1701030"/>
              <a:gd name="connsiteX6" fmla="*/ 1858909 w 3567740"/>
              <a:gd name="connsiteY6" fmla="*/ 161467 h 1701030"/>
              <a:gd name="connsiteX7" fmla="*/ 2970445 w 3567740"/>
              <a:gd name="connsiteY7" fmla="*/ 53056 h 1701030"/>
              <a:gd name="connsiteX8" fmla="*/ 3562581 w 3567740"/>
              <a:gd name="connsiteY8" fmla="*/ 1095247 h 1701030"/>
              <a:gd name="connsiteX9" fmla="*/ 3168833 w 3567740"/>
              <a:gd name="connsiteY9" fmla="*/ 1597127 h 1701030"/>
              <a:gd name="connsiteX10" fmla="*/ 2268548 w 3567740"/>
              <a:gd name="connsiteY10" fmla="*/ 1575991 h 1701030"/>
              <a:gd name="connsiteX11" fmla="*/ 1535809 w 3567740"/>
              <a:gd name="connsiteY11" fmla="*/ 1675626 h 1701030"/>
              <a:gd name="connsiteX0" fmla="*/ 1535809 w 3567740"/>
              <a:gd name="connsiteY0" fmla="*/ 1675626 h 1708024"/>
              <a:gd name="connsiteX1" fmla="*/ 769619 w 3567740"/>
              <a:gd name="connsiteY1" fmla="*/ 1661383 h 1708024"/>
              <a:gd name="connsiteX2" fmla="*/ 239202 w 3567740"/>
              <a:gd name="connsiteY2" fmla="*/ 1253152 h 1708024"/>
              <a:gd name="connsiteX3" fmla="*/ 3897 w 3567740"/>
              <a:gd name="connsiteY3" fmla="*/ 765774 h 1708024"/>
              <a:gd name="connsiteX4" fmla="*/ 148885 w 3567740"/>
              <a:gd name="connsiteY4" fmla="*/ 450415 h 1708024"/>
              <a:gd name="connsiteX5" fmla="*/ 816849 w 3567740"/>
              <a:gd name="connsiteY5" fmla="*/ 237689 h 1708024"/>
              <a:gd name="connsiteX6" fmla="*/ 1858909 w 3567740"/>
              <a:gd name="connsiteY6" fmla="*/ 161467 h 1708024"/>
              <a:gd name="connsiteX7" fmla="*/ 2970445 w 3567740"/>
              <a:gd name="connsiteY7" fmla="*/ 53056 h 1708024"/>
              <a:gd name="connsiteX8" fmla="*/ 3562581 w 3567740"/>
              <a:gd name="connsiteY8" fmla="*/ 1095247 h 1708024"/>
              <a:gd name="connsiteX9" fmla="*/ 3168833 w 3567740"/>
              <a:gd name="connsiteY9" fmla="*/ 1597127 h 1708024"/>
              <a:gd name="connsiteX10" fmla="*/ 2294761 w 3567740"/>
              <a:gd name="connsiteY10" fmla="*/ 1452229 h 1708024"/>
              <a:gd name="connsiteX11" fmla="*/ 1535809 w 3567740"/>
              <a:gd name="connsiteY11" fmla="*/ 1675626 h 1708024"/>
              <a:gd name="connsiteX0" fmla="*/ 1535809 w 3585169"/>
              <a:gd name="connsiteY0" fmla="*/ 1675626 h 1708025"/>
              <a:gd name="connsiteX1" fmla="*/ 769619 w 3585169"/>
              <a:gd name="connsiteY1" fmla="*/ 1661383 h 1708025"/>
              <a:gd name="connsiteX2" fmla="*/ 239202 w 3585169"/>
              <a:gd name="connsiteY2" fmla="*/ 1253152 h 1708025"/>
              <a:gd name="connsiteX3" fmla="*/ 3897 w 3585169"/>
              <a:gd name="connsiteY3" fmla="*/ 765774 h 1708025"/>
              <a:gd name="connsiteX4" fmla="*/ 148885 w 3585169"/>
              <a:gd name="connsiteY4" fmla="*/ 450415 h 1708025"/>
              <a:gd name="connsiteX5" fmla="*/ 816849 w 3585169"/>
              <a:gd name="connsiteY5" fmla="*/ 237689 h 1708025"/>
              <a:gd name="connsiteX6" fmla="*/ 1858909 w 3585169"/>
              <a:gd name="connsiteY6" fmla="*/ 161467 h 1708025"/>
              <a:gd name="connsiteX7" fmla="*/ 2970445 w 3585169"/>
              <a:gd name="connsiteY7" fmla="*/ 53056 h 1708025"/>
              <a:gd name="connsiteX8" fmla="*/ 3562581 w 3585169"/>
              <a:gd name="connsiteY8" fmla="*/ 1095247 h 1708025"/>
              <a:gd name="connsiteX9" fmla="*/ 3291159 w 3585169"/>
              <a:gd name="connsiteY9" fmla="*/ 1552123 h 1708025"/>
              <a:gd name="connsiteX10" fmla="*/ 2294761 w 3585169"/>
              <a:gd name="connsiteY10" fmla="*/ 1452229 h 1708025"/>
              <a:gd name="connsiteX11" fmla="*/ 1535809 w 3585169"/>
              <a:gd name="connsiteY11" fmla="*/ 1675626 h 1708025"/>
              <a:gd name="connsiteX0" fmla="*/ 1535809 w 3490171"/>
              <a:gd name="connsiteY0" fmla="*/ 1656292 h 1688691"/>
              <a:gd name="connsiteX1" fmla="*/ 769619 w 3490171"/>
              <a:gd name="connsiteY1" fmla="*/ 1642049 h 1688691"/>
              <a:gd name="connsiteX2" fmla="*/ 239202 w 3490171"/>
              <a:gd name="connsiteY2" fmla="*/ 1233818 h 1688691"/>
              <a:gd name="connsiteX3" fmla="*/ 3897 w 3490171"/>
              <a:gd name="connsiteY3" fmla="*/ 746440 h 1688691"/>
              <a:gd name="connsiteX4" fmla="*/ 148885 w 3490171"/>
              <a:gd name="connsiteY4" fmla="*/ 431081 h 1688691"/>
              <a:gd name="connsiteX5" fmla="*/ 816849 w 3490171"/>
              <a:gd name="connsiteY5" fmla="*/ 218355 h 1688691"/>
              <a:gd name="connsiteX6" fmla="*/ 1858909 w 3490171"/>
              <a:gd name="connsiteY6" fmla="*/ 142133 h 1688691"/>
              <a:gd name="connsiteX7" fmla="*/ 2970445 w 3490171"/>
              <a:gd name="connsiteY7" fmla="*/ 33722 h 1688691"/>
              <a:gd name="connsiteX8" fmla="*/ 3422780 w 3490171"/>
              <a:gd name="connsiteY8" fmla="*/ 794636 h 1688691"/>
              <a:gd name="connsiteX9" fmla="*/ 3291159 w 3490171"/>
              <a:gd name="connsiteY9" fmla="*/ 1532789 h 1688691"/>
              <a:gd name="connsiteX10" fmla="*/ 2294761 w 3490171"/>
              <a:gd name="connsiteY10" fmla="*/ 1432895 h 1688691"/>
              <a:gd name="connsiteX11" fmla="*/ 1535809 w 3490171"/>
              <a:gd name="connsiteY11" fmla="*/ 1656292 h 1688691"/>
              <a:gd name="connsiteX0" fmla="*/ 1535809 w 3490171"/>
              <a:gd name="connsiteY0" fmla="*/ 1656292 h 1656292"/>
              <a:gd name="connsiteX1" fmla="*/ 239202 w 3490171"/>
              <a:gd name="connsiteY1" fmla="*/ 1233818 h 1656292"/>
              <a:gd name="connsiteX2" fmla="*/ 3897 w 3490171"/>
              <a:gd name="connsiteY2" fmla="*/ 746440 h 1656292"/>
              <a:gd name="connsiteX3" fmla="*/ 148885 w 3490171"/>
              <a:gd name="connsiteY3" fmla="*/ 431081 h 1656292"/>
              <a:gd name="connsiteX4" fmla="*/ 816849 w 3490171"/>
              <a:gd name="connsiteY4" fmla="*/ 218355 h 1656292"/>
              <a:gd name="connsiteX5" fmla="*/ 1858909 w 3490171"/>
              <a:gd name="connsiteY5" fmla="*/ 142133 h 1656292"/>
              <a:gd name="connsiteX6" fmla="*/ 2970445 w 3490171"/>
              <a:gd name="connsiteY6" fmla="*/ 33722 h 1656292"/>
              <a:gd name="connsiteX7" fmla="*/ 3422780 w 3490171"/>
              <a:gd name="connsiteY7" fmla="*/ 794636 h 1656292"/>
              <a:gd name="connsiteX8" fmla="*/ 3291159 w 3490171"/>
              <a:gd name="connsiteY8" fmla="*/ 1532789 h 1656292"/>
              <a:gd name="connsiteX9" fmla="*/ 2294761 w 3490171"/>
              <a:gd name="connsiteY9" fmla="*/ 1432895 h 1656292"/>
              <a:gd name="connsiteX10" fmla="*/ 1535809 w 3490171"/>
              <a:gd name="connsiteY10" fmla="*/ 1656292 h 1656292"/>
              <a:gd name="connsiteX0" fmla="*/ 1574171 w 3528533"/>
              <a:gd name="connsiteY0" fmla="*/ 1656292 h 2207918"/>
              <a:gd name="connsiteX1" fmla="*/ 835282 w 3528533"/>
              <a:gd name="connsiteY1" fmla="*/ 2181782 h 2207918"/>
              <a:gd name="connsiteX2" fmla="*/ 42259 w 3528533"/>
              <a:gd name="connsiteY2" fmla="*/ 746440 h 2207918"/>
              <a:gd name="connsiteX3" fmla="*/ 187247 w 3528533"/>
              <a:gd name="connsiteY3" fmla="*/ 431081 h 2207918"/>
              <a:gd name="connsiteX4" fmla="*/ 855211 w 3528533"/>
              <a:gd name="connsiteY4" fmla="*/ 218355 h 2207918"/>
              <a:gd name="connsiteX5" fmla="*/ 1897271 w 3528533"/>
              <a:gd name="connsiteY5" fmla="*/ 142133 h 2207918"/>
              <a:gd name="connsiteX6" fmla="*/ 3008807 w 3528533"/>
              <a:gd name="connsiteY6" fmla="*/ 33722 h 2207918"/>
              <a:gd name="connsiteX7" fmla="*/ 3461142 w 3528533"/>
              <a:gd name="connsiteY7" fmla="*/ 794636 h 2207918"/>
              <a:gd name="connsiteX8" fmla="*/ 3329521 w 3528533"/>
              <a:gd name="connsiteY8" fmla="*/ 1532789 h 2207918"/>
              <a:gd name="connsiteX9" fmla="*/ 2333123 w 3528533"/>
              <a:gd name="connsiteY9" fmla="*/ 1432895 h 2207918"/>
              <a:gd name="connsiteX10" fmla="*/ 1574171 w 3528533"/>
              <a:gd name="connsiteY10" fmla="*/ 1656292 h 2207918"/>
              <a:gd name="connsiteX0" fmla="*/ 1628141 w 3582503"/>
              <a:gd name="connsiteY0" fmla="*/ 1656292 h 1656292"/>
              <a:gd name="connsiteX1" fmla="*/ 96229 w 3582503"/>
              <a:gd name="connsiteY1" fmla="*/ 746440 h 1656292"/>
              <a:gd name="connsiteX2" fmla="*/ 241217 w 3582503"/>
              <a:gd name="connsiteY2" fmla="*/ 431081 h 1656292"/>
              <a:gd name="connsiteX3" fmla="*/ 909181 w 3582503"/>
              <a:gd name="connsiteY3" fmla="*/ 218355 h 1656292"/>
              <a:gd name="connsiteX4" fmla="*/ 1951241 w 3582503"/>
              <a:gd name="connsiteY4" fmla="*/ 142133 h 1656292"/>
              <a:gd name="connsiteX5" fmla="*/ 3062777 w 3582503"/>
              <a:gd name="connsiteY5" fmla="*/ 33722 h 1656292"/>
              <a:gd name="connsiteX6" fmla="*/ 3515112 w 3582503"/>
              <a:gd name="connsiteY6" fmla="*/ 794636 h 1656292"/>
              <a:gd name="connsiteX7" fmla="*/ 3383491 w 3582503"/>
              <a:gd name="connsiteY7" fmla="*/ 1532789 h 1656292"/>
              <a:gd name="connsiteX8" fmla="*/ 2387093 w 3582503"/>
              <a:gd name="connsiteY8" fmla="*/ 1432895 h 1656292"/>
              <a:gd name="connsiteX9" fmla="*/ 1628141 w 3582503"/>
              <a:gd name="connsiteY9" fmla="*/ 1656292 h 1656292"/>
              <a:gd name="connsiteX0" fmla="*/ 1389048 w 3343410"/>
              <a:gd name="connsiteY0" fmla="*/ 1656292 h 2473686"/>
              <a:gd name="connsiteX1" fmla="*/ 883337 w 3343410"/>
              <a:gd name="connsiteY1" fmla="*/ 2441284 h 2473686"/>
              <a:gd name="connsiteX2" fmla="*/ 2124 w 3343410"/>
              <a:gd name="connsiteY2" fmla="*/ 431081 h 2473686"/>
              <a:gd name="connsiteX3" fmla="*/ 670088 w 3343410"/>
              <a:gd name="connsiteY3" fmla="*/ 218355 h 2473686"/>
              <a:gd name="connsiteX4" fmla="*/ 1712148 w 3343410"/>
              <a:gd name="connsiteY4" fmla="*/ 142133 h 2473686"/>
              <a:gd name="connsiteX5" fmla="*/ 2823684 w 3343410"/>
              <a:gd name="connsiteY5" fmla="*/ 33722 h 2473686"/>
              <a:gd name="connsiteX6" fmla="*/ 3276019 w 3343410"/>
              <a:gd name="connsiteY6" fmla="*/ 794636 h 2473686"/>
              <a:gd name="connsiteX7" fmla="*/ 3144398 w 3343410"/>
              <a:gd name="connsiteY7" fmla="*/ 1532789 h 2473686"/>
              <a:gd name="connsiteX8" fmla="*/ 2148000 w 3343410"/>
              <a:gd name="connsiteY8" fmla="*/ 1432895 h 2473686"/>
              <a:gd name="connsiteX9" fmla="*/ 1389048 w 3343410"/>
              <a:gd name="connsiteY9" fmla="*/ 1656292 h 2473686"/>
              <a:gd name="connsiteX0" fmla="*/ 1812913 w 3343410"/>
              <a:gd name="connsiteY0" fmla="*/ 2087183 h 2527278"/>
              <a:gd name="connsiteX1" fmla="*/ 883337 w 3343410"/>
              <a:gd name="connsiteY1" fmla="*/ 2441284 h 2527278"/>
              <a:gd name="connsiteX2" fmla="*/ 2124 w 3343410"/>
              <a:gd name="connsiteY2" fmla="*/ 431081 h 2527278"/>
              <a:gd name="connsiteX3" fmla="*/ 670088 w 3343410"/>
              <a:gd name="connsiteY3" fmla="*/ 218355 h 2527278"/>
              <a:gd name="connsiteX4" fmla="*/ 1712148 w 3343410"/>
              <a:gd name="connsiteY4" fmla="*/ 142133 h 2527278"/>
              <a:gd name="connsiteX5" fmla="*/ 2823684 w 3343410"/>
              <a:gd name="connsiteY5" fmla="*/ 33722 h 2527278"/>
              <a:gd name="connsiteX6" fmla="*/ 3276019 w 3343410"/>
              <a:gd name="connsiteY6" fmla="*/ 794636 h 2527278"/>
              <a:gd name="connsiteX7" fmla="*/ 3144398 w 3343410"/>
              <a:gd name="connsiteY7" fmla="*/ 1532789 h 2527278"/>
              <a:gd name="connsiteX8" fmla="*/ 2148000 w 3343410"/>
              <a:gd name="connsiteY8" fmla="*/ 1432895 h 2527278"/>
              <a:gd name="connsiteX9" fmla="*/ 1812913 w 3343410"/>
              <a:gd name="connsiteY9" fmla="*/ 2087183 h 2527278"/>
              <a:gd name="connsiteX0" fmla="*/ 1812913 w 3343410"/>
              <a:gd name="connsiteY0" fmla="*/ 2087183 h 2513408"/>
              <a:gd name="connsiteX1" fmla="*/ 883337 w 3343410"/>
              <a:gd name="connsiteY1" fmla="*/ 2441284 h 2513408"/>
              <a:gd name="connsiteX2" fmla="*/ 2124 w 3343410"/>
              <a:gd name="connsiteY2" fmla="*/ 431081 h 2513408"/>
              <a:gd name="connsiteX3" fmla="*/ 670088 w 3343410"/>
              <a:gd name="connsiteY3" fmla="*/ 218355 h 2513408"/>
              <a:gd name="connsiteX4" fmla="*/ 1712148 w 3343410"/>
              <a:gd name="connsiteY4" fmla="*/ 142133 h 2513408"/>
              <a:gd name="connsiteX5" fmla="*/ 2823684 w 3343410"/>
              <a:gd name="connsiteY5" fmla="*/ 33722 h 2513408"/>
              <a:gd name="connsiteX6" fmla="*/ 3276019 w 3343410"/>
              <a:gd name="connsiteY6" fmla="*/ 794636 h 2513408"/>
              <a:gd name="connsiteX7" fmla="*/ 3144398 w 3343410"/>
              <a:gd name="connsiteY7" fmla="*/ 1532789 h 2513408"/>
              <a:gd name="connsiteX8" fmla="*/ 3051503 w 3343410"/>
              <a:gd name="connsiteY8" fmla="*/ 2280317 h 2513408"/>
              <a:gd name="connsiteX9" fmla="*/ 1812913 w 3343410"/>
              <a:gd name="connsiteY9" fmla="*/ 2087183 h 2513408"/>
              <a:gd name="connsiteX0" fmla="*/ 1812913 w 4249543"/>
              <a:gd name="connsiteY0" fmla="*/ 2087183 h 2513408"/>
              <a:gd name="connsiteX1" fmla="*/ 883337 w 4249543"/>
              <a:gd name="connsiteY1" fmla="*/ 2441284 h 2513408"/>
              <a:gd name="connsiteX2" fmla="*/ 2124 w 4249543"/>
              <a:gd name="connsiteY2" fmla="*/ 431081 h 2513408"/>
              <a:gd name="connsiteX3" fmla="*/ 670088 w 4249543"/>
              <a:gd name="connsiteY3" fmla="*/ 218355 h 2513408"/>
              <a:gd name="connsiteX4" fmla="*/ 1712148 w 4249543"/>
              <a:gd name="connsiteY4" fmla="*/ 142133 h 2513408"/>
              <a:gd name="connsiteX5" fmla="*/ 2823684 w 4249543"/>
              <a:gd name="connsiteY5" fmla="*/ 33722 h 2513408"/>
              <a:gd name="connsiteX6" fmla="*/ 3276019 w 4249543"/>
              <a:gd name="connsiteY6" fmla="*/ 794636 h 2513408"/>
              <a:gd name="connsiteX7" fmla="*/ 4192908 w 4249543"/>
              <a:gd name="connsiteY7" fmla="*/ 1906229 h 2513408"/>
              <a:gd name="connsiteX8" fmla="*/ 3051503 w 4249543"/>
              <a:gd name="connsiteY8" fmla="*/ 2280317 h 2513408"/>
              <a:gd name="connsiteX9" fmla="*/ 1812913 w 4249543"/>
              <a:gd name="connsiteY9" fmla="*/ 2087183 h 2513408"/>
              <a:gd name="connsiteX0" fmla="*/ 1812913 w 3291254"/>
              <a:gd name="connsiteY0" fmla="*/ 2087183 h 2513408"/>
              <a:gd name="connsiteX1" fmla="*/ 883337 w 3291254"/>
              <a:gd name="connsiteY1" fmla="*/ 2441284 h 2513408"/>
              <a:gd name="connsiteX2" fmla="*/ 2124 w 3291254"/>
              <a:gd name="connsiteY2" fmla="*/ 431081 h 2513408"/>
              <a:gd name="connsiteX3" fmla="*/ 670088 w 3291254"/>
              <a:gd name="connsiteY3" fmla="*/ 218355 h 2513408"/>
              <a:gd name="connsiteX4" fmla="*/ 1712148 w 3291254"/>
              <a:gd name="connsiteY4" fmla="*/ 142133 h 2513408"/>
              <a:gd name="connsiteX5" fmla="*/ 2823684 w 3291254"/>
              <a:gd name="connsiteY5" fmla="*/ 33722 h 2513408"/>
              <a:gd name="connsiteX6" fmla="*/ 3276019 w 3291254"/>
              <a:gd name="connsiteY6" fmla="*/ 794636 h 2513408"/>
              <a:gd name="connsiteX7" fmla="*/ 3051503 w 3291254"/>
              <a:gd name="connsiteY7" fmla="*/ 2280317 h 2513408"/>
              <a:gd name="connsiteX8" fmla="*/ 1812913 w 3291254"/>
              <a:gd name="connsiteY8" fmla="*/ 2087183 h 2513408"/>
              <a:gd name="connsiteX0" fmla="*/ 1812913 w 3372061"/>
              <a:gd name="connsiteY0" fmla="*/ 1980537 h 2406762"/>
              <a:gd name="connsiteX1" fmla="*/ 883337 w 3372061"/>
              <a:gd name="connsiteY1" fmla="*/ 2334638 h 2406762"/>
              <a:gd name="connsiteX2" fmla="*/ 2124 w 3372061"/>
              <a:gd name="connsiteY2" fmla="*/ 324435 h 2406762"/>
              <a:gd name="connsiteX3" fmla="*/ 670088 w 3372061"/>
              <a:gd name="connsiteY3" fmla="*/ 111709 h 2406762"/>
              <a:gd name="connsiteX4" fmla="*/ 1712148 w 3372061"/>
              <a:gd name="connsiteY4" fmla="*/ 35487 h 2406762"/>
              <a:gd name="connsiteX5" fmla="*/ 3276019 w 3372061"/>
              <a:gd name="connsiteY5" fmla="*/ 687990 h 2406762"/>
              <a:gd name="connsiteX6" fmla="*/ 3051503 w 3372061"/>
              <a:gd name="connsiteY6" fmla="*/ 2173671 h 2406762"/>
              <a:gd name="connsiteX7" fmla="*/ 1812913 w 3372061"/>
              <a:gd name="connsiteY7" fmla="*/ 1980537 h 2406762"/>
              <a:gd name="connsiteX0" fmla="*/ 1815546 w 3451572"/>
              <a:gd name="connsiteY0" fmla="*/ 1927198 h 2353423"/>
              <a:gd name="connsiteX1" fmla="*/ 885970 w 3451572"/>
              <a:gd name="connsiteY1" fmla="*/ 2281299 h 2353423"/>
              <a:gd name="connsiteX2" fmla="*/ 4757 w 3451572"/>
              <a:gd name="connsiteY2" fmla="*/ 271096 h 2353423"/>
              <a:gd name="connsiteX3" fmla="*/ 672721 w 3451572"/>
              <a:gd name="connsiteY3" fmla="*/ 58370 h 2353423"/>
              <a:gd name="connsiteX4" fmla="*/ 3278652 w 3451572"/>
              <a:gd name="connsiteY4" fmla="*/ 634651 h 2353423"/>
              <a:gd name="connsiteX5" fmla="*/ 3054136 w 3451572"/>
              <a:gd name="connsiteY5" fmla="*/ 2120332 h 2353423"/>
              <a:gd name="connsiteX6" fmla="*/ 1815546 w 3451572"/>
              <a:gd name="connsiteY6" fmla="*/ 1927198 h 2353423"/>
              <a:gd name="connsiteX0" fmla="*/ 1811382 w 3421869"/>
              <a:gd name="connsiteY0" fmla="*/ 1868593 h 2294818"/>
              <a:gd name="connsiteX1" fmla="*/ 881806 w 3421869"/>
              <a:gd name="connsiteY1" fmla="*/ 2222694 h 2294818"/>
              <a:gd name="connsiteX2" fmla="*/ 593 w 3421869"/>
              <a:gd name="connsiteY2" fmla="*/ 212491 h 2294818"/>
              <a:gd name="connsiteX3" fmla="*/ 1014342 w 3421869"/>
              <a:gd name="connsiteY3" fmla="*/ 100307 h 2294818"/>
              <a:gd name="connsiteX4" fmla="*/ 3274488 w 3421869"/>
              <a:gd name="connsiteY4" fmla="*/ 576046 h 2294818"/>
              <a:gd name="connsiteX5" fmla="*/ 3049972 w 3421869"/>
              <a:gd name="connsiteY5" fmla="*/ 2061727 h 2294818"/>
              <a:gd name="connsiteX6" fmla="*/ 1811382 w 3421869"/>
              <a:gd name="connsiteY6" fmla="*/ 1868593 h 2294818"/>
              <a:gd name="connsiteX0" fmla="*/ 1833106 w 3382754"/>
              <a:gd name="connsiteY0" fmla="*/ 2088927 h 2515152"/>
              <a:gd name="connsiteX1" fmla="*/ 903530 w 3382754"/>
              <a:gd name="connsiteY1" fmla="*/ 2443028 h 2515152"/>
              <a:gd name="connsiteX2" fmla="*/ 22317 w 3382754"/>
              <a:gd name="connsiteY2" fmla="*/ 432825 h 2515152"/>
              <a:gd name="connsiteX3" fmla="*/ 1861489 w 3382754"/>
              <a:gd name="connsiteY3" fmla="*/ 19016 h 2515152"/>
              <a:gd name="connsiteX4" fmla="*/ 3296212 w 3382754"/>
              <a:gd name="connsiteY4" fmla="*/ 796380 h 2515152"/>
              <a:gd name="connsiteX5" fmla="*/ 3071696 w 3382754"/>
              <a:gd name="connsiteY5" fmla="*/ 2282061 h 2515152"/>
              <a:gd name="connsiteX6" fmla="*/ 1833106 w 3382754"/>
              <a:gd name="connsiteY6" fmla="*/ 2088927 h 2515152"/>
              <a:gd name="connsiteX0" fmla="*/ 1876800 w 3426448"/>
              <a:gd name="connsiteY0" fmla="*/ 2077119 h 2497206"/>
              <a:gd name="connsiteX1" fmla="*/ 947224 w 3426448"/>
              <a:gd name="connsiteY1" fmla="*/ 2431220 h 2497206"/>
              <a:gd name="connsiteX2" fmla="*/ 21394 w 3426448"/>
              <a:gd name="connsiteY2" fmla="*/ 521560 h 2497206"/>
              <a:gd name="connsiteX3" fmla="*/ 1905183 w 3426448"/>
              <a:gd name="connsiteY3" fmla="*/ 7208 h 2497206"/>
              <a:gd name="connsiteX4" fmla="*/ 3339906 w 3426448"/>
              <a:gd name="connsiteY4" fmla="*/ 784572 h 2497206"/>
              <a:gd name="connsiteX5" fmla="*/ 3115390 w 3426448"/>
              <a:gd name="connsiteY5" fmla="*/ 2270253 h 2497206"/>
              <a:gd name="connsiteX6" fmla="*/ 1876800 w 3426448"/>
              <a:gd name="connsiteY6" fmla="*/ 2077119 h 2497206"/>
              <a:gd name="connsiteX0" fmla="*/ 1876800 w 3914385"/>
              <a:gd name="connsiteY0" fmla="*/ 2096711 h 2516798"/>
              <a:gd name="connsiteX1" fmla="*/ 947224 w 3914385"/>
              <a:gd name="connsiteY1" fmla="*/ 2450812 h 2516798"/>
              <a:gd name="connsiteX2" fmla="*/ 21394 w 3914385"/>
              <a:gd name="connsiteY2" fmla="*/ 541152 h 2516798"/>
              <a:gd name="connsiteX3" fmla="*/ 1905183 w 3914385"/>
              <a:gd name="connsiteY3" fmla="*/ 26800 h 2516798"/>
              <a:gd name="connsiteX4" fmla="*/ 3875315 w 3914385"/>
              <a:gd name="connsiteY4" fmla="*/ 1177605 h 2516798"/>
              <a:gd name="connsiteX5" fmla="*/ 3115390 w 3914385"/>
              <a:gd name="connsiteY5" fmla="*/ 2289845 h 2516798"/>
              <a:gd name="connsiteX6" fmla="*/ 1876800 w 3914385"/>
              <a:gd name="connsiteY6" fmla="*/ 2096711 h 2516798"/>
              <a:gd name="connsiteX0" fmla="*/ 1876800 w 3818587"/>
              <a:gd name="connsiteY0" fmla="*/ 2083975 h 2504062"/>
              <a:gd name="connsiteX1" fmla="*/ 947224 w 3818587"/>
              <a:gd name="connsiteY1" fmla="*/ 2438076 h 2504062"/>
              <a:gd name="connsiteX2" fmla="*/ 21394 w 3818587"/>
              <a:gd name="connsiteY2" fmla="*/ 528416 h 2504062"/>
              <a:gd name="connsiteX3" fmla="*/ 1905183 w 3818587"/>
              <a:gd name="connsiteY3" fmla="*/ 14064 h 2504062"/>
              <a:gd name="connsiteX4" fmla="*/ 3774925 w 3818587"/>
              <a:gd name="connsiteY4" fmla="*/ 935059 h 2504062"/>
              <a:gd name="connsiteX5" fmla="*/ 3115390 w 3818587"/>
              <a:gd name="connsiteY5" fmla="*/ 2277109 h 2504062"/>
              <a:gd name="connsiteX6" fmla="*/ 1876800 w 3818587"/>
              <a:gd name="connsiteY6" fmla="*/ 2083975 h 2504062"/>
              <a:gd name="connsiteX0" fmla="*/ 1876800 w 3916854"/>
              <a:gd name="connsiteY0" fmla="*/ 2083974 h 2613413"/>
              <a:gd name="connsiteX1" fmla="*/ 947224 w 3916854"/>
              <a:gd name="connsiteY1" fmla="*/ 2438075 h 2613413"/>
              <a:gd name="connsiteX2" fmla="*/ 21394 w 3916854"/>
              <a:gd name="connsiteY2" fmla="*/ 528415 h 2613413"/>
              <a:gd name="connsiteX3" fmla="*/ 1905183 w 3916854"/>
              <a:gd name="connsiteY3" fmla="*/ 14063 h 2613413"/>
              <a:gd name="connsiteX4" fmla="*/ 3774925 w 3916854"/>
              <a:gd name="connsiteY4" fmla="*/ 935058 h 2613413"/>
              <a:gd name="connsiteX5" fmla="*/ 3572720 w 3916854"/>
              <a:gd name="connsiteY5" fmla="*/ 2578732 h 2613413"/>
              <a:gd name="connsiteX6" fmla="*/ 1876800 w 3916854"/>
              <a:gd name="connsiteY6" fmla="*/ 2083974 h 2613413"/>
              <a:gd name="connsiteX0" fmla="*/ 1966381 w 3913609"/>
              <a:gd name="connsiteY0" fmla="*/ 2974486 h 2978289"/>
              <a:gd name="connsiteX1" fmla="*/ 947569 w 3913609"/>
              <a:gd name="connsiteY1" fmla="*/ 2438075 h 2978289"/>
              <a:gd name="connsiteX2" fmla="*/ 21739 w 3913609"/>
              <a:gd name="connsiteY2" fmla="*/ 528415 h 2978289"/>
              <a:gd name="connsiteX3" fmla="*/ 1905528 w 3913609"/>
              <a:gd name="connsiteY3" fmla="*/ 14063 h 2978289"/>
              <a:gd name="connsiteX4" fmla="*/ 3775270 w 3913609"/>
              <a:gd name="connsiteY4" fmla="*/ 935058 h 2978289"/>
              <a:gd name="connsiteX5" fmla="*/ 3573065 w 3913609"/>
              <a:gd name="connsiteY5" fmla="*/ 2578732 h 2978289"/>
              <a:gd name="connsiteX6" fmla="*/ 1966381 w 3913609"/>
              <a:gd name="connsiteY6" fmla="*/ 2974486 h 2978289"/>
              <a:gd name="connsiteX0" fmla="*/ 1854410 w 3917684"/>
              <a:gd name="connsiteY0" fmla="*/ 3060664 h 3063016"/>
              <a:gd name="connsiteX1" fmla="*/ 947140 w 3917684"/>
              <a:gd name="connsiteY1" fmla="*/ 2438075 h 3063016"/>
              <a:gd name="connsiteX2" fmla="*/ 21310 w 3917684"/>
              <a:gd name="connsiteY2" fmla="*/ 528415 h 3063016"/>
              <a:gd name="connsiteX3" fmla="*/ 1905099 w 3917684"/>
              <a:gd name="connsiteY3" fmla="*/ 14063 h 3063016"/>
              <a:gd name="connsiteX4" fmla="*/ 3774841 w 3917684"/>
              <a:gd name="connsiteY4" fmla="*/ 935058 h 3063016"/>
              <a:gd name="connsiteX5" fmla="*/ 3572636 w 3917684"/>
              <a:gd name="connsiteY5" fmla="*/ 2578732 h 3063016"/>
              <a:gd name="connsiteX6" fmla="*/ 1854410 w 3917684"/>
              <a:gd name="connsiteY6" fmla="*/ 3060664 h 3063016"/>
              <a:gd name="connsiteX0" fmla="*/ 3581694 w 3969385"/>
              <a:gd name="connsiteY0" fmla="*/ 2578732 h 2736203"/>
              <a:gd name="connsiteX1" fmla="*/ 956198 w 3969385"/>
              <a:gd name="connsiteY1" fmla="*/ 2438075 h 2736203"/>
              <a:gd name="connsiteX2" fmla="*/ 30368 w 3969385"/>
              <a:gd name="connsiteY2" fmla="*/ 528415 h 2736203"/>
              <a:gd name="connsiteX3" fmla="*/ 1914157 w 3969385"/>
              <a:gd name="connsiteY3" fmla="*/ 14063 h 2736203"/>
              <a:gd name="connsiteX4" fmla="*/ 3783899 w 3969385"/>
              <a:gd name="connsiteY4" fmla="*/ 935058 h 2736203"/>
              <a:gd name="connsiteX5" fmla="*/ 3581694 w 3969385"/>
              <a:gd name="connsiteY5" fmla="*/ 2578732 h 2736203"/>
              <a:gd name="connsiteX0" fmla="*/ 3577705 w 3963067"/>
              <a:gd name="connsiteY0" fmla="*/ 2577030 h 2656840"/>
              <a:gd name="connsiteX1" fmla="*/ 996825 w 3963067"/>
              <a:gd name="connsiteY1" fmla="*/ 2206564 h 2656840"/>
              <a:gd name="connsiteX2" fmla="*/ 26379 w 3963067"/>
              <a:gd name="connsiteY2" fmla="*/ 526713 h 2656840"/>
              <a:gd name="connsiteX3" fmla="*/ 1910168 w 3963067"/>
              <a:gd name="connsiteY3" fmla="*/ 12361 h 2656840"/>
              <a:gd name="connsiteX4" fmla="*/ 3779910 w 3963067"/>
              <a:gd name="connsiteY4" fmla="*/ 933356 h 2656840"/>
              <a:gd name="connsiteX5" fmla="*/ 3577705 w 3963067"/>
              <a:gd name="connsiteY5" fmla="*/ 2577030 h 2656840"/>
              <a:gd name="connsiteX0" fmla="*/ 3584027 w 3969389"/>
              <a:gd name="connsiteY0" fmla="*/ 2594626 h 2674437"/>
              <a:gd name="connsiteX1" fmla="*/ 1003147 w 3969389"/>
              <a:gd name="connsiteY1" fmla="*/ 2224160 h 2674437"/>
              <a:gd name="connsiteX2" fmla="*/ 32701 w 3969389"/>
              <a:gd name="connsiteY2" fmla="*/ 544309 h 2674437"/>
              <a:gd name="connsiteX3" fmla="*/ 1916490 w 3969389"/>
              <a:gd name="connsiteY3" fmla="*/ 29957 h 2674437"/>
              <a:gd name="connsiteX4" fmla="*/ 3786232 w 3969389"/>
              <a:gd name="connsiteY4" fmla="*/ 950952 h 2674437"/>
              <a:gd name="connsiteX5" fmla="*/ 3584027 w 3969389"/>
              <a:gd name="connsiteY5" fmla="*/ 2594626 h 2674437"/>
              <a:gd name="connsiteX0" fmla="*/ 3685347 w 4206134"/>
              <a:gd name="connsiteY0" fmla="*/ 2124424 h 2204235"/>
              <a:gd name="connsiteX1" fmla="*/ 1104467 w 4206134"/>
              <a:gd name="connsiteY1" fmla="*/ 1753958 h 2204235"/>
              <a:gd name="connsiteX2" fmla="*/ 134021 w 4206134"/>
              <a:gd name="connsiteY2" fmla="*/ 74107 h 2204235"/>
              <a:gd name="connsiteX3" fmla="*/ 3887552 w 4206134"/>
              <a:gd name="connsiteY3" fmla="*/ 480750 h 2204235"/>
              <a:gd name="connsiteX4" fmla="*/ 3685347 w 4206134"/>
              <a:gd name="connsiteY4" fmla="*/ 2124424 h 2204235"/>
              <a:gd name="connsiteX0" fmla="*/ 3644842 w 4162378"/>
              <a:gd name="connsiteY0" fmla="*/ 2400513 h 2488442"/>
              <a:gd name="connsiteX1" fmla="*/ 1063962 w 4162378"/>
              <a:gd name="connsiteY1" fmla="*/ 2030047 h 2488442"/>
              <a:gd name="connsiteX2" fmla="*/ 138133 w 4162378"/>
              <a:gd name="connsiteY2" fmla="*/ 48572 h 2488442"/>
              <a:gd name="connsiteX3" fmla="*/ 3847047 w 4162378"/>
              <a:gd name="connsiteY3" fmla="*/ 756839 h 2488442"/>
              <a:gd name="connsiteX4" fmla="*/ 3644842 w 4162378"/>
              <a:gd name="connsiteY4" fmla="*/ 2400513 h 2488442"/>
              <a:gd name="connsiteX0" fmla="*/ 3653611 w 4171147"/>
              <a:gd name="connsiteY0" fmla="*/ 2622239 h 2710168"/>
              <a:gd name="connsiteX1" fmla="*/ 1072731 w 4171147"/>
              <a:gd name="connsiteY1" fmla="*/ 2251773 h 2710168"/>
              <a:gd name="connsiteX2" fmla="*/ 146902 w 4171147"/>
              <a:gd name="connsiteY2" fmla="*/ 270298 h 2710168"/>
              <a:gd name="connsiteX3" fmla="*/ 3855816 w 4171147"/>
              <a:gd name="connsiteY3" fmla="*/ 978565 h 2710168"/>
              <a:gd name="connsiteX4" fmla="*/ 3653611 w 4171147"/>
              <a:gd name="connsiteY4" fmla="*/ 2622239 h 2710168"/>
              <a:gd name="connsiteX0" fmla="*/ 3693988 w 4214774"/>
              <a:gd name="connsiteY0" fmla="*/ 2426917 h 2508561"/>
              <a:gd name="connsiteX1" fmla="*/ 1113108 w 4214774"/>
              <a:gd name="connsiteY1" fmla="*/ 2056451 h 2508561"/>
              <a:gd name="connsiteX2" fmla="*/ 142662 w 4214774"/>
              <a:gd name="connsiteY2" fmla="*/ 304784 h 2508561"/>
              <a:gd name="connsiteX3" fmla="*/ 3896193 w 4214774"/>
              <a:gd name="connsiteY3" fmla="*/ 783243 h 2508561"/>
              <a:gd name="connsiteX4" fmla="*/ 3693988 w 4214774"/>
              <a:gd name="connsiteY4" fmla="*/ 2426917 h 2508561"/>
              <a:gd name="connsiteX0" fmla="*/ 3683915 w 4188827"/>
              <a:gd name="connsiteY0" fmla="*/ 2300796 h 2408305"/>
              <a:gd name="connsiteX1" fmla="*/ 1103035 w 4188827"/>
              <a:gd name="connsiteY1" fmla="*/ 1930330 h 2408305"/>
              <a:gd name="connsiteX2" fmla="*/ 132589 w 4188827"/>
              <a:gd name="connsiteY2" fmla="*/ 178663 h 2408305"/>
              <a:gd name="connsiteX3" fmla="*/ 3863811 w 4188827"/>
              <a:gd name="connsiteY3" fmla="*/ 298043 h 2408305"/>
              <a:gd name="connsiteX4" fmla="*/ 3683915 w 4188827"/>
              <a:gd name="connsiteY4" fmla="*/ 2300796 h 2408305"/>
              <a:gd name="connsiteX0" fmla="*/ 3695249 w 4193640"/>
              <a:gd name="connsiteY0" fmla="*/ 2058956 h 2217803"/>
              <a:gd name="connsiteX1" fmla="*/ 1103215 w 4193640"/>
              <a:gd name="connsiteY1" fmla="*/ 1918299 h 2217803"/>
              <a:gd name="connsiteX2" fmla="*/ 132769 w 4193640"/>
              <a:gd name="connsiteY2" fmla="*/ 166632 h 2217803"/>
              <a:gd name="connsiteX3" fmla="*/ 3863991 w 4193640"/>
              <a:gd name="connsiteY3" fmla="*/ 286012 h 2217803"/>
              <a:gd name="connsiteX4" fmla="*/ 3695249 w 4193640"/>
              <a:gd name="connsiteY4" fmla="*/ 2058956 h 2217803"/>
              <a:gd name="connsiteX0" fmla="*/ 3731619 w 4239113"/>
              <a:gd name="connsiteY0" fmla="*/ 2060991 h 2232494"/>
              <a:gd name="connsiteX1" fmla="*/ 949961 w 4239113"/>
              <a:gd name="connsiteY1" fmla="*/ 1949060 h 2232494"/>
              <a:gd name="connsiteX2" fmla="*/ 169139 w 4239113"/>
              <a:gd name="connsiteY2" fmla="*/ 168667 h 2232494"/>
              <a:gd name="connsiteX3" fmla="*/ 3900361 w 4239113"/>
              <a:gd name="connsiteY3" fmla="*/ 288047 h 2232494"/>
              <a:gd name="connsiteX4" fmla="*/ 3731619 w 4239113"/>
              <a:gd name="connsiteY4" fmla="*/ 2060991 h 2232494"/>
              <a:gd name="connsiteX0" fmla="*/ 3690237 w 4197731"/>
              <a:gd name="connsiteY0" fmla="*/ 2179321 h 2350824"/>
              <a:gd name="connsiteX1" fmla="*/ 908579 w 4197731"/>
              <a:gd name="connsiteY1" fmla="*/ 2067390 h 2350824"/>
              <a:gd name="connsiteX2" fmla="*/ 127757 w 4197731"/>
              <a:gd name="connsiteY2" fmla="*/ 286997 h 2350824"/>
              <a:gd name="connsiteX3" fmla="*/ 3858979 w 4197731"/>
              <a:gd name="connsiteY3" fmla="*/ 406377 h 2350824"/>
              <a:gd name="connsiteX4" fmla="*/ 3690237 w 4197731"/>
              <a:gd name="connsiteY4" fmla="*/ 2179321 h 2350824"/>
              <a:gd name="connsiteX0" fmla="*/ 3667743 w 4175237"/>
              <a:gd name="connsiteY0" fmla="*/ 2236133 h 2407636"/>
              <a:gd name="connsiteX1" fmla="*/ 886085 w 4175237"/>
              <a:gd name="connsiteY1" fmla="*/ 2124202 h 2407636"/>
              <a:gd name="connsiteX2" fmla="*/ 105263 w 4175237"/>
              <a:gd name="connsiteY2" fmla="*/ 343809 h 2407636"/>
              <a:gd name="connsiteX3" fmla="*/ 3836485 w 4175237"/>
              <a:gd name="connsiteY3" fmla="*/ 463189 h 2407636"/>
              <a:gd name="connsiteX4" fmla="*/ 3667743 w 4175237"/>
              <a:gd name="connsiteY4" fmla="*/ 2236133 h 2407636"/>
              <a:gd name="connsiteX0" fmla="*/ 3588450 w 4089547"/>
              <a:gd name="connsiteY0" fmla="*/ 2246695 h 2418940"/>
              <a:gd name="connsiteX1" fmla="*/ 806792 w 4089547"/>
              <a:gd name="connsiteY1" fmla="*/ 2134764 h 2418940"/>
              <a:gd name="connsiteX2" fmla="*/ 115204 w 4089547"/>
              <a:gd name="connsiteY2" fmla="*/ 340009 h 2418940"/>
              <a:gd name="connsiteX3" fmla="*/ 3757192 w 4089547"/>
              <a:gd name="connsiteY3" fmla="*/ 473751 h 2418940"/>
              <a:gd name="connsiteX4" fmla="*/ 3588450 w 4089547"/>
              <a:gd name="connsiteY4" fmla="*/ 2246695 h 2418940"/>
              <a:gd name="connsiteX0" fmla="*/ 3625806 w 4126903"/>
              <a:gd name="connsiteY0" fmla="*/ 2272059 h 2444304"/>
              <a:gd name="connsiteX1" fmla="*/ 844148 w 4126903"/>
              <a:gd name="connsiteY1" fmla="*/ 2160128 h 2444304"/>
              <a:gd name="connsiteX2" fmla="*/ 152560 w 4126903"/>
              <a:gd name="connsiteY2" fmla="*/ 365373 h 2444304"/>
              <a:gd name="connsiteX3" fmla="*/ 3794548 w 4126903"/>
              <a:gd name="connsiteY3" fmla="*/ 499115 h 2444304"/>
              <a:gd name="connsiteX4" fmla="*/ 3625806 w 4126903"/>
              <a:gd name="connsiteY4" fmla="*/ 2272059 h 2444304"/>
              <a:gd name="connsiteX0" fmla="*/ 3625806 w 4201676"/>
              <a:gd name="connsiteY0" fmla="*/ 2272059 h 2314180"/>
              <a:gd name="connsiteX1" fmla="*/ 844148 w 4201676"/>
              <a:gd name="connsiteY1" fmla="*/ 2160128 h 2314180"/>
              <a:gd name="connsiteX2" fmla="*/ 152560 w 4201676"/>
              <a:gd name="connsiteY2" fmla="*/ 365373 h 2314180"/>
              <a:gd name="connsiteX3" fmla="*/ 3794548 w 4201676"/>
              <a:gd name="connsiteY3" fmla="*/ 499115 h 2314180"/>
              <a:gd name="connsiteX4" fmla="*/ 3625806 w 4201676"/>
              <a:gd name="connsiteY4" fmla="*/ 2272059 h 2314180"/>
              <a:gd name="connsiteX0" fmla="*/ 3625806 w 4203691"/>
              <a:gd name="connsiteY0" fmla="*/ 2272059 h 2332322"/>
              <a:gd name="connsiteX1" fmla="*/ 844148 w 4203691"/>
              <a:gd name="connsiteY1" fmla="*/ 2160128 h 2332322"/>
              <a:gd name="connsiteX2" fmla="*/ 152560 w 4203691"/>
              <a:gd name="connsiteY2" fmla="*/ 365373 h 2332322"/>
              <a:gd name="connsiteX3" fmla="*/ 3794548 w 4203691"/>
              <a:gd name="connsiteY3" fmla="*/ 499115 h 2332322"/>
              <a:gd name="connsiteX4" fmla="*/ 3625806 w 4203691"/>
              <a:gd name="connsiteY4" fmla="*/ 2272059 h 2332322"/>
              <a:gd name="connsiteX0" fmla="*/ 3625806 w 4207741"/>
              <a:gd name="connsiteY0" fmla="*/ 2272059 h 2358077"/>
              <a:gd name="connsiteX1" fmla="*/ 844148 w 4207741"/>
              <a:gd name="connsiteY1" fmla="*/ 2160128 h 2358077"/>
              <a:gd name="connsiteX2" fmla="*/ 152560 w 4207741"/>
              <a:gd name="connsiteY2" fmla="*/ 365373 h 2358077"/>
              <a:gd name="connsiteX3" fmla="*/ 3794548 w 4207741"/>
              <a:gd name="connsiteY3" fmla="*/ 499115 h 2358077"/>
              <a:gd name="connsiteX4" fmla="*/ 3625806 w 4207741"/>
              <a:gd name="connsiteY4" fmla="*/ 2272059 h 2358077"/>
              <a:gd name="connsiteX0" fmla="*/ 3524475 w 4156670"/>
              <a:gd name="connsiteY0" fmla="*/ 2301205 h 2374786"/>
              <a:gd name="connsiteX1" fmla="*/ 841843 w 4156670"/>
              <a:gd name="connsiteY1" fmla="*/ 2161309 h 2374786"/>
              <a:gd name="connsiteX2" fmla="*/ 150255 w 4156670"/>
              <a:gd name="connsiteY2" fmla="*/ 366554 h 2374786"/>
              <a:gd name="connsiteX3" fmla="*/ 3792243 w 4156670"/>
              <a:gd name="connsiteY3" fmla="*/ 500296 h 2374786"/>
              <a:gd name="connsiteX4" fmla="*/ 3524475 w 4156670"/>
              <a:gd name="connsiteY4" fmla="*/ 2301205 h 2374786"/>
              <a:gd name="connsiteX0" fmla="*/ 3464892 w 4128905"/>
              <a:gd name="connsiteY0" fmla="*/ 2301205 h 2374786"/>
              <a:gd name="connsiteX1" fmla="*/ 840511 w 4128905"/>
              <a:gd name="connsiteY1" fmla="*/ 2161309 h 2374786"/>
              <a:gd name="connsiteX2" fmla="*/ 148923 w 4128905"/>
              <a:gd name="connsiteY2" fmla="*/ 366554 h 2374786"/>
              <a:gd name="connsiteX3" fmla="*/ 3790911 w 4128905"/>
              <a:gd name="connsiteY3" fmla="*/ 500296 h 2374786"/>
              <a:gd name="connsiteX4" fmla="*/ 3464892 w 4128905"/>
              <a:gd name="connsiteY4" fmla="*/ 2301205 h 2374786"/>
              <a:gd name="connsiteX0" fmla="*/ 3435108 w 4115652"/>
              <a:gd name="connsiteY0" fmla="*/ 2293918 h 2370488"/>
              <a:gd name="connsiteX1" fmla="*/ 839852 w 4115652"/>
              <a:gd name="connsiteY1" fmla="*/ 2161014 h 2370488"/>
              <a:gd name="connsiteX2" fmla="*/ 148264 w 4115652"/>
              <a:gd name="connsiteY2" fmla="*/ 366259 h 2370488"/>
              <a:gd name="connsiteX3" fmla="*/ 3790252 w 4115652"/>
              <a:gd name="connsiteY3" fmla="*/ 500001 h 2370488"/>
              <a:gd name="connsiteX4" fmla="*/ 3435108 w 4115652"/>
              <a:gd name="connsiteY4" fmla="*/ 2293918 h 2370488"/>
              <a:gd name="connsiteX0" fmla="*/ 2876987 w 3935229"/>
              <a:gd name="connsiteY0" fmla="*/ 1875810 h 2220255"/>
              <a:gd name="connsiteX1" fmla="*/ 828295 w 3935229"/>
              <a:gd name="connsiteY1" fmla="*/ 2144538 h 2220255"/>
              <a:gd name="connsiteX2" fmla="*/ 136707 w 3935229"/>
              <a:gd name="connsiteY2" fmla="*/ 349783 h 2220255"/>
              <a:gd name="connsiteX3" fmla="*/ 3778695 w 3935229"/>
              <a:gd name="connsiteY3" fmla="*/ 483525 h 2220255"/>
              <a:gd name="connsiteX4" fmla="*/ 2876987 w 3935229"/>
              <a:gd name="connsiteY4" fmla="*/ 1875810 h 2220255"/>
              <a:gd name="connsiteX0" fmla="*/ 2876987 w 4046083"/>
              <a:gd name="connsiteY0" fmla="*/ 1875809 h 2182028"/>
              <a:gd name="connsiteX1" fmla="*/ 828295 w 4046083"/>
              <a:gd name="connsiteY1" fmla="*/ 2144537 h 2182028"/>
              <a:gd name="connsiteX2" fmla="*/ 136707 w 4046083"/>
              <a:gd name="connsiteY2" fmla="*/ 349782 h 2182028"/>
              <a:gd name="connsiteX3" fmla="*/ 3778695 w 4046083"/>
              <a:gd name="connsiteY3" fmla="*/ 483524 h 2182028"/>
              <a:gd name="connsiteX4" fmla="*/ 2876987 w 4046083"/>
              <a:gd name="connsiteY4" fmla="*/ 1875809 h 2182028"/>
              <a:gd name="connsiteX0" fmla="*/ 3138775 w 4159643"/>
              <a:gd name="connsiteY0" fmla="*/ 1889731 h 2183521"/>
              <a:gd name="connsiteX1" fmla="*/ 833533 w 4159643"/>
              <a:gd name="connsiteY1" fmla="*/ 2145070 h 2183521"/>
              <a:gd name="connsiteX2" fmla="*/ 141945 w 4159643"/>
              <a:gd name="connsiteY2" fmla="*/ 350315 h 2183521"/>
              <a:gd name="connsiteX3" fmla="*/ 3783933 w 4159643"/>
              <a:gd name="connsiteY3" fmla="*/ 484057 h 2183521"/>
              <a:gd name="connsiteX4" fmla="*/ 3138775 w 4159643"/>
              <a:gd name="connsiteY4" fmla="*/ 1889731 h 2183521"/>
              <a:gd name="connsiteX0" fmla="*/ 3161554 w 4170747"/>
              <a:gd name="connsiteY0" fmla="*/ 1959352 h 2191331"/>
              <a:gd name="connsiteX1" fmla="*/ 834003 w 4170747"/>
              <a:gd name="connsiteY1" fmla="*/ 2147752 h 2191331"/>
              <a:gd name="connsiteX2" fmla="*/ 142415 w 4170747"/>
              <a:gd name="connsiteY2" fmla="*/ 352997 h 2191331"/>
              <a:gd name="connsiteX3" fmla="*/ 3784403 w 4170747"/>
              <a:gd name="connsiteY3" fmla="*/ 486739 h 2191331"/>
              <a:gd name="connsiteX4" fmla="*/ 3161554 w 4170747"/>
              <a:gd name="connsiteY4" fmla="*/ 1959352 h 2191331"/>
              <a:gd name="connsiteX0" fmla="*/ 3124893 w 3923762"/>
              <a:gd name="connsiteY0" fmla="*/ 1959352 h 2193783"/>
              <a:gd name="connsiteX1" fmla="*/ 1143128 w 3923762"/>
              <a:gd name="connsiteY1" fmla="*/ 2027263 h 2193783"/>
              <a:gd name="connsiteX2" fmla="*/ 105754 w 3923762"/>
              <a:gd name="connsiteY2" fmla="*/ 352997 h 2193783"/>
              <a:gd name="connsiteX3" fmla="*/ 3747742 w 3923762"/>
              <a:gd name="connsiteY3" fmla="*/ 486739 h 2193783"/>
              <a:gd name="connsiteX4" fmla="*/ 3124893 w 3923762"/>
              <a:gd name="connsiteY4" fmla="*/ 1959352 h 2193783"/>
              <a:gd name="connsiteX0" fmla="*/ 3134581 w 3936058"/>
              <a:gd name="connsiteY0" fmla="*/ 1959352 h 2193783"/>
              <a:gd name="connsiteX1" fmla="*/ 1041272 w 3936058"/>
              <a:gd name="connsiteY1" fmla="*/ 2027264 h 2193783"/>
              <a:gd name="connsiteX2" fmla="*/ 115442 w 3936058"/>
              <a:gd name="connsiteY2" fmla="*/ 352997 h 2193783"/>
              <a:gd name="connsiteX3" fmla="*/ 3757430 w 3936058"/>
              <a:gd name="connsiteY3" fmla="*/ 486739 h 2193783"/>
              <a:gd name="connsiteX4" fmla="*/ 3134581 w 3936058"/>
              <a:gd name="connsiteY4" fmla="*/ 1959352 h 2193783"/>
              <a:gd name="connsiteX0" fmla="*/ 3143984 w 3945460"/>
              <a:gd name="connsiteY0" fmla="*/ 1959352 h 2068592"/>
              <a:gd name="connsiteX1" fmla="*/ 1050675 w 3945460"/>
              <a:gd name="connsiteY1" fmla="*/ 2027264 h 2068592"/>
              <a:gd name="connsiteX2" fmla="*/ 124845 w 3945460"/>
              <a:gd name="connsiteY2" fmla="*/ 352997 h 2068592"/>
              <a:gd name="connsiteX3" fmla="*/ 3766833 w 3945460"/>
              <a:gd name="connsiteY3" fmla="*/ 486739 h 2068592"/>
              <a:gd name="connsiteX4" fmla="*/ 3143984 w 3945460"/>
              <a:gd name="connsiteY4" fmla="*/ 1959352 h 2068592"/>
              <a:gd name="connsiteX0" fmla="*/ 3083435 w 3880985"/>
              <a:gd name="connsiteY0" fmla="*/ 1890132 h 2118049"/>
              <a:gd name="connsiteX1" fmla="*/ 990126 w 3880985"/>
              <a:gd name="connsiteY1" fmla="*/ 1958044 h 2118049"/>
              <a:gd name="connsiteX2" fmla="*/ 120068 w 3880985"/>
              <a:gd name="connsiteY2" fmla="*/ 377490 h 2118049"/>
              <a:gd name="connsiteX3" fmla="*/ 3706284 w 3880985"/>
              <a:gd name="connsiteY3" fmla="*/ 417519 h 2118049"/>
              <a:gd name="connsiteX4" fmla="*/ 3083435 w 3880985"/>
              <a:gd name="connsiteY4" fmla="*/ 1890132 h 2118049"/>
              <a:gd name="connsiteX0" fmla="*/ 3083435 w 3880985"/>
              <a:gd name="connsiteY0" fmla="*/ 1833464 h 2055830"/>
              <a:gd name="connsiteX1" fmla="*/ 990126 w 3880985"/>
              <a:gd name="connsiteY1" fmla="*/ 1901376 h 2055830"/>
              <a:gd name="connsiteX2" fmla="*/ 120068 w 3880985"/>
              <a:gd name="connsiteY2" fmla="*/ 401148 h 2055830"/>
              <a:gd name="connsiteX3" fmla="*/ 3706284 w 3880985"/>
              <a:gd name="connsiteY3" fmla="*/ 360851 h 2055830"/>
              <a:gd name="connsiteX4" fmla="*/ 3083435 w 3880985"/>
              <a:gd name="connsiteY4" fmla="*/ 1833464 h 2055830"/>
              <a:gd name="connsiteX0" fmla="*/ 3083435 w 3880985"/>
              <a:gd name="connsiteY0" fmla="*/ 1839221 h 2061587"/>
              <a:gd name="connsiteX1" fmla="*/ 990126 w 3880985"/>
              <a:gd name="connsiteY1" fmla="*/ 1907133 h 2061587"/>
              <a:gd name="connsiteX2" fmla="*/ 120068 w 3880985"/>
              <a:gd name="connsiteY2" fmla="*/ 406905 h 2061587"/>
              <a:gd name="connsiteX3" fmla="*/ 3706284 w 3880985"/>
              <a:gd name="connsiteY3" fmla="*/ 366608 h 2061587"/>
              <a:gd name="connsiteX4" fmla="*/ 3083435 w 3880985"/>
              <a:gd name="connsiteY4" fmla="*/ 1839221 h 2061587"/>
              <a:gd name="connsiteX0" fmla="*/ 3071892 w 3869442"/>
              <a:gd name="connsiteY0" fmla="*/ 1839221 h 1961982"/>
              <a:gd name="connsiteX1" fmla="*/ 978583 w 3869442"/>
              <a:gd name="connsiteY1" fmla="*/ 1907133 h 1961982"/>
              <a:gd name="connsiteX2" fmla="*/ 108525 w 3869442"/>
              <a:gd name="connsiteY2" fmla="*/ 406905 h 1961982"/>
              <a:gd name="connsiteX3" fmla="*/ 3694741 w 3869442"/>
              <a:gd name="connsiteY3" fmla="*/ 366608 h 1961982"/>
              <a:gd name="connsiteX4" fmla="*/ 3071892 w 3869442"/>
              <a:gd name="connsiteY4" fmla="*/ 1839221 h 1961982"/>
              <a:gd name="connsiteX0" fmla="*/ 3050525 w 3840979"/>
              <a:gd name="connsiteY0" fmla="*/ 1839221 h 2013444"/>
              <a:gd name="connsiteX1" fmla="*/ 1269538 w 3840979"/>
              <a:gd name="connsiteY1" fmla="*/ 1960684 h 2013444"/>
              <a:gd name="connsiteX2" fmla="*/ 87158 w 3840979"/>
              <a:gd name="connsiteY2" fmla="*/ 406905 h 2013444"/>
              <a:gd name="connsiteX3" fmla="*/ 3673374 w 3840979"/>
              <a:gd name="connsiteY3" fmla="*/ 366608 h 2013444"/>
              <a:gd name="connsiteX4" fmla="*/ 3050525 w 3840979"/>
              <a:gd name="connsiteY4" fmla="*/ 1839221 h 2013444"/>
              <a:gd name="connsiteX0" fmla="*/ 3066110 w 3856564"/>
              <a:gd name="connsiteY0" fmla="*/ 1839221 h 1986899"/>
              <a:gd name="connsiteX1" fmla="*/ 1285123 w 3856564"/>
              <a:gd name="connsiteY1" fmla="*/ 1960684 h 1986899"/>
              <a:gd name="connsiteX2" fmla="*/ 102743 w 3856564"/>
              <a:gd name="connsiteY2" fmla="*/ 406905 h 1986899"/>
              <a:gd name="connsiteX3" fmla="*/ 3688959 w 3856564"/>
              <a:gd name="connsiteY3" fmla="*/ 366608 h 1986899"/>
              <a:gd name="connsiteX4" fmla="*/ 3066110 w 3856564"/>
              <a:gd name="connsiteY4" fmla="*/ 1839221 h 1986899"/>
              <a:gd name="connsiteX0" fmla="*/ 3067811 w 3858755"/>
              <a:gd name="connsiteY0" fmla="*/ 1839221 h 1934566"/>
              <a:gd name="connsiteX1" fmla="*/ 1264516 w 3858755"/>
              <a:gd name="connsiteY1" fmla="*/ 1907134 h 1934566"/>
              <a:gd name="connsiteX2" fmla="*/ 104444 w 3858755"/>
              <a:gd name="connsiteY2" fmla="*/ 406905 h 1934566"/>
              <a:gd name="connsiteX3" fmla="*/ 3690660 w 3858755"/>
              <a:gd name="connsiteY3" fmla="*/ 366608 h 1934566"/>
              <a:gd name="connsiteX4" fmla="*/ 3067811 w 3858755"/>
              <a:gd name="connsiteY4" fmla="*/ 1839221 h 1934566"/>
              <a:gd name="connsiteX0" fmla="*/ 3067811 w 3961725"/>
              <a:gd name="connsiteY0" fmla="*/ 1839221 h 1934566"/>
              <a:gd name="connsiteX1" fmla="*/ 1264516 w 3961725"/>
              <a:gd name="connsiteY1" fmla="*/ 1907134 h 1934566"/>
              <a:gd name="connsiteX2" fmla="*/ 104444 w 3961725"/>
              <a:gd name="connsiteY2" fmla="*/ 406905 h 1934566"/>
              <a:gd name="connsiteX3" fmla="*/ 3690660 w 3961725"/>
              <a:gd name="connsiteY3" fmla="*/ 366608 h 1934566"/>
              <a:gd name="connsiteX4" fmla="*/ 3067811 w 3961725"/>
              <a:gd name="connsiteY4" fmla="*/ 1839221 h 1934566"/>
              <a:gd name="connsiteX0" fmla="*/ 3067811 w 3937744"/>
              <a:gd name="connsiteY0" fmla="*/ 1839221 h 1946915"/>
              <a:gd name="connsiteX1" fmla="*/ 1264516 w 3937744"/>
              <a:gd name="connsiteY1" fmla="*/ 1907134 h 1946915"/>
              <a:gd name="connsiteX2" fmla="*/ 104444 w 3937744"/>
              <a:gd name="connsiteY2" fmla="*/ 406905 h 1946915"/>
              <a:gd name="connsiteX3" fmla="*/ 3690660 w 3937744"/>
              <a:gd name="connsiteY3" fmla="*/ 366608 h 1946915"/>
              <a:gd name="connsiteX4" fmla="*/ 3067811 w 3937744"/>
              <a:gd name="connsiteY4" fmla="*/ 1839221 h 1946915"/>
              <a:gd name="connsiteX0" fmla="*/ 3067811 w 3878265"/>
              <a:gd name="connsiteY0" fmla="*/ 1925537 h 2047176"/>
              <a:gd name="connsiteX1" fmla="*/ 1264516 w 3878265"/>
              <a:gd name="connsiteY1" fmla="*/ 1993450 h 2047176"/>
              <a:gd name="connsiteX2" fmla="*/ 104444 w 3878265"/>
              <a:gd name="connsiteY2" fmla="*/ 493221 h 2047176"/>
              <a:gd name="connsiteX3" fmla="*/ 3690660 w 3878265"/>
              <a:gd name="connsiteY3" fmla="*/ 452924 h 2047176"/>
              <a:gd name="connsiteX4" fmla="*/ 3067811 w 3878265"/>
              <a:gd name="connsiteY4" fmla="*/ 1925537 h 2047176"/>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52614"/>
              <a:gd name="connsiteY0" fmla="*/ 1916240 h 2036339"/>
              <a:gd name="connsiteX1" fmla="*/ 1264516 w 3952614"/>
              <a:gd name="connsiteY1" fmla="*/ 1984153 h 2036339"/>
              <a:gd name="connsiteX2" fmla="*/ 104444 w 3952614"/>
              <a:gd name="connsiteY2" fmla="*/ 483924 h 2036339"/>
              <a:gd name="connsiteX3" fmla="*/ 3690660 w 3952614"/>
              <a:gd name="connsiteY3" fmla="*/ 443627 h 2036339"/>
              <a:gd name="connsiteX4" fmla="*/ 3067811 w 3952614"/>
              <a:gd name="connsiteY4" fmla="*/ 1916240 h 2036339"/>
              <a:gd name="connsiteX0" fmla="*/ 3067811 w 3962528"/>
              <a:gd name="connsiteY0" fmla="*/ 1934962 h 2058180"/>
              <a:gd name="connsiteX1" fmla="*/ 1264516 w 3962528"/>
              <a:gd name="connsiteY1" fmla="*/ 2002875 h 2058180"/>
              <a:gd name="connsiteX2" fmla="*/ 104444 w 3962528"/>
              <a:gd name="connsiteY2" fmla="*/ 502646 h 2058180"/>
              <a:gd name="connsiteX3" fmla="*/ 3690660 w 3962528"/>
              <a:gd name="connsiteY3" fmla="*/ 462349 h 2058180"/>
              <a:gd name="connsiteX4" fmla="*/ 3067811 w 3962528"/>
              <a:gd name="connsiteY4" fmla="*/ 1934962 h 2058180"/>
              <a:gd name="connsiteX0" fmla="*/ 3100043 w 3994760"/>
              <a:gd name="connsiteY0" fmla="*/ 1934963 h 2058181"/>
              <a:gd name="connsiteX1" fmla="*/ 1296748 w 3994760"/>
              <a:gd name="connsiteY1" fmla="*/ 2002876 h 2058181"/>
              <a:gd name="connsiteX2" fmla="*/ 136676 w 3994760"/>
              <a:gd name="connsiteY2" fmla="*/ 502647 h 2058181"/>
              <a:gd name="connsiteX3" fmla="*/ 3722892 w 3994760"/>
              <a:gd name="connsiteY3" fmla="*/ 462350 h 2058181"/>
              <a:gd name="connsiteX4" fmla="*/ 3100043 w 3994760"/>
              <a:gd name="connsiteY4" fmla="*/ 1934963 h 2058181"/>
              <a:gd name="connsiteX0" fmla="*/ 3133588 w 4028305"/>
              <a:gd name="connsiteY0" fmla="*/ 1966913 h 2090131"/>
              <a:gd name="connsiteX1" fmla="*/ 1330293 w 4028305"/>
              <a:gd name="connsiteY1" fmla="*/ 2034826 h 2090131"/>
              <a:gd name="connsiteX2" fmla="*/ 170221 w 4028305"/>
              <a:gd name="connsiteY2" fmla="*/ 534597 h 2090131"/>
              <a:gd name="connsiteX3" fmla="*/ 3756437 w 4028305"/>
              <a:gd name="connsiteY3" fmla="*/ 494300 h 2090131"/>
              <a:gd name="connsiteX4" fmla="*/ 3133588 w 4028305"/>
              <a:gd name="connsiteY4" fmla="*/ 1966913 h 2090131"/>
              <a:gd name="connsiteX0" fmla="*/ 3133588 w 4028305"/>
              <a:gd name="connsiteY0" fmla="*/ 1983116 h 2106334"/>
              <a:gd name="connsiteX1" fmla="*/ 1330293 w 4028305"/>
              <a:gd name="connsiteY1" fmla="*/ 2051029 h 2106334"/>
              <a:gd name="connsiteX2" fmla="*/ 170221 w 4028305"/>
              <a:gd name="connsiteY2" fmla="*/ 550800 h 2106334"/>
              <a:gd name="connsiteX3" fmla="*/ 3756437 w 4028305"/>
              <a:gd name="connsiteY3" fmla="*/ 510503 h 2106334"/>
              <a:gd name="connsiteX4" fmla="*/ 3133588 w 4028305"/>
              <a:gd name="connsiteY4" fmla="*/ 1983116 h 2106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8305" h="2106334">
                <a:moveTo>
                  <a:pt x="3133588" y="1983116"/>
                </a:moveTo>
                <a:cubicBezTo>
                  <a:pt x="2283056" y="1423222"/>
                  <a:pt x="1946887" y="1847952"/>
                  <a:pt x="1330293" y="2051029"/>
                </a:cubicBezTo>
                <a:cubicBezTo>
                  <a:pt x="713699" y="2254106"/>
                  <a:pt x="-433056" y="1421129"/>
                  <a:pt x="170221" y="550800"/>
                </a:cubicBezTo>
                <a:cubicBezTo>
                  <a:pt x="773498" y="-319529"/>
                  <a:pt x="3206771" y="-22745"/>
                  <a:pt x="3756437" y="510503"/>
                </a:cubicBezTo>
                <a:cubicBezTo>
                  <a:pt x="4306103" y="1043751"/>
                  <a:pt x="3984120" y="2543010"/>
                  <a:pt x="3133588" y="1983116"/>
                </a:cubicBezTo>
                <a:close/>
              </a:path>
            </a:pathLst>
          </a:custGeom>
          <a:noFill/>
          <a:ln w="19050">
            <a:solidFill>
              <a:schemeClr val="bg1">
                <a:lumMod val="65000"/>
              </a:schemeClr>
            </a:solidFill>
            <a:prstDash val="sysDot"/>
          </a:ln>
          <a:effectLst/>
          <a:ex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en-US" altLang="zh-CN" sz="1800" b="0" i="0" u="none" strike="noStrike" kern="0" cap="none" spc="0" normalizeH="0" baseline="0" noProof="0" dirty="0" smtClean="0">
              <a:ln>
                <a:noFill/>
              </a:ln>
              <a:solidFill>
                <a:srgbClr val="990000"/>
              </a:solidFill>
              <a:effectLst/>
              <a:uLnTx/>
              <a:uFillTx/>
              <a:latin typeface="Huawei Sans" panose="020C0503030203020204" pitchFamily="34" charset="0"/>
            </a:endParaRPr>
          </a:p>
        </p:txBody>
      </p:sp>
      <p:sp>
        <p:nvSpPr>
          <p:cNvPr id="103" name="椭圆 102"/>
          <p:cNvSpPr>
            <a:spLocks noChangeAspect="1"/>
          </p:cNvSpPr>
          <p:nvPr/>
        </p:nvSpPr>
        <p:spPr bwMode="grayWhite">
          <a:xfrm>
            <a:off x="713701" y="1692723"/>
            <a:ext cx="287773" cy="287773"/>
          </a:xfrm>
          <a:prstGeom prst="ellipse">
            <a:avLst/>
          </a:prstGeom>
          <a:solidFill>
            <a:srgbClr val="56C4D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4" name="椭圆 103"/>
          <p:cNvSpPr>
            <a:spLocks noChangeAspect="1"/>
          </p:cNvSpPr>
          <p:nvPr/>
        </p:nvSpPr>
        <p:spPr bwMode="invGray">
          <a:xfrm>
            <a:off x="713701" y="1397198"/>
            <a:ext cx="287773" cy="287773"/>
          </a:xfrm>
          <a:prstGeom prst="ellipse">
            <a:avLst/>
          </a:prstGeom>
          <a:solidFill>
            <a:srgbClr val="FDD351">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5" name="TextBox 33"/>
          <p:cNvSpPr txBox="1"/>
          <p:nvPr/>
        </p:nvSpPr>
        <p:spPr bwMode="gray">
          <a:xfrm>
            <a:off x="1061218" y="1518831"/>
            <a:ext cx="909289" cy="461665"/>
          </a:xfrm>
          <a:prstGeom prst="rect">
            <a:avLst/>
          </a:prstGeom>
          <a:noFill/>
        </p:spPr>
        <p:txBody>
          <a:bodyPr wrap="square" rtlCol="0">
            <a:spAutoFit/>
          </a:bodyPr>
          <a:lstStyle/>
          <a:p>
            <a:r>
              <a:rPr lang="zh-CN" altLang="en-US" sz="1200" dirty="0" smtClean="0">
                <a:cs typeface="+mn-ea"/>
                <a:sym typeface="+mn-lt"/>
              </a:rPr>
              <a:t>相同</a:t>
            </a:r>
            <a:r>
              <a:rPr lang="en-US" altLang="zh-CN" sz="1200" dirty="0" smtClean="0">
                <a:cs typeface="+mn-ea"/>
                <a:sym typeface="+mn-lt"/>
              </a:rPr>
              <a:t>VLAN</a:t>
            </a:r>
            <a:r>
              <a:rPr lang="zh-CN" altLang="en-US" sz="1200" dirty="0" smtClean="0">
                <a:cs typeface="+mn-ea"/>
                <a:sym typeface="+mn-lt"/>
              </a:rPr>
              <a:t>区域</a:t>
            </a:r>
            <a:endParaRPr lang="zh-CN" altLang="en-US" sz="1200" dirty="0">
              <a:cs typeface="+mn-ea"/>
              <a:sym typeface="+mn-lt"/>
            </a:endParaRPr>
          </a:p>
        </p:txBody>
      </p:sp>
      <p:sp>
        <p:nvSpPr>
          <p:cNvPr id="106" name="TextBox 33"/>
          <p:cNvSpPr txBox="1"/>
          <p:nvPr/>
        </p:nvSpPr>
        <p:spPr bwMode="gray">
          <a:xfrm>
            <a:off x="1061218" y="2168327"/>
            <a:ext cx="909289" cy="461665"/>
          </a:xfrm>
          <a:prstGeom prst="rect">
            <a:avLst/>
          </a:prstGeom>
          <a:noFill/>
        </p:spPr>
        <p:txBody>
          <a:bodyPr wrap="square" rtlCol="0">
            <a:spAutoFit/>
          </a:bodyPr>
          <a:lstStyle/>
          <a:p>
            <a:r>
              <a:rPr lang="zh-CN" altLang="en-US" sz="1200" dirty="0">
                <a:cs typeface="+mn-ea"/>
                <a:sym typeface="+mn-lt"/>
              </a:rPr>
              <a:t>上线</a:t>
            </a:r>
            <a:r>
              <a:rPr lang="en-US" altLang="zh-CN" sz="1200" dirty="0">
                <a:cs typeface="+mn-ea"/>
                <a:sym typeface="+mn-lt"/>
              </a:rPr>
              <a:t>AP</a:t>
            </a:r>
            <a:r>
              <a:rPr lang="zh-CN" altLang="en-US" sz="1200" dirty="0">
                <a:cs typeface="+mn-ea"/>
                <a:sym typeface="+mn-lt"/>
              </a:rPr>
              <a:t>的漫游邻居</a:t>
            </a:r>
          </a:p>
        </p:txBody>
      </p:sp>
      <p:grpSp>
        <p:nvGrpSpPr>
          <p:cNvPr id="3" name="组合 2"/>
          <p:cNvGrpSpPr/>
          <p:nvPr/>
        </p:nvGrpSpPr>
        <p:grpSpPr bwMode="gray">
          <a:xfrm>
            <a:off x="7608888" y="114714"/>
            <a:ext cx="4138612" cy="213120"/>
            <a:chOff x="6624433" y="114714"/>
            <a:chExt cx="4138612" cy="213120"/>
          </a:xfrm>
        </p:grpSpPr>
        <p:sp>
          <p:nvSpPr>
            <p:cNvPr id="56" name="五边形 55"/>
            <p:cNvSpPr/>
            <p:nvPr/>
          </p:nvSpPr>
          <p:spPr bwMode="gray">
            <a:xfrm>
              <a:off x="6624433"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7434086"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gray">
            <a:xfrm>
              <a:off x="8243739"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gray">
            <a:xfrm>
              <a:off x="9053392"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65"/>
            <p:cNvSpPr/>
            <p:nvPr/>
          </p:nvSpPr>
          <p:spPr bwMode="gray">
            <a:xfrm>
              <a:off x="9863045"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514061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latin typeface="+mn-lt"/>
                <a:ea typeface="+mn-ea"/>
                <a:cs typeface="+mn-ea"/>
                <a:sym typeface="+mn-lt"/>
              </a:rPr>
              <a:t>射频调</a:t>
            </a:r>
            <a:r>
              <a:rPr lang="zh-CN" altLang="en-US" smtClean="0">
                <a:latin typeface="+mn-lt"/>
                <a:ea typeface="+mn-ea"/>
                <a:cs typeface="+mn-ea"/>
                <a:sym typeface="+mn-lt"/>
              </a:rPr>
              <a:t>优：</a:t>
            </a:r>
            <a:r>
              <a:rPr lang="en-US" altLang="zh-CN" smtClean="0">
                <a:latin typeface="+mn-lt"/>
                <a:ea typeface="+mn-ea"/>
                <a:cs typeface="+mn-ea"/>
                <a:sym typeface="+mn-lt"/>
              </a:rPr>
              <a:t>AP</a:t>
            </a:r>
            <a:r>
              <a:rPr lang="zh-CN" altLang="en-US" smtClean="0">
                <a:latin typeface="+mn-lt"/>
                <a:ea typeface="+mn-ea"/>
                <a:cs typeface="+mn-ea"/>
                <a:sym typeface="+mn-lt"/>
              </a:rPr>
              <a:t>分组设计</a:t>
            </a:r>
            <a:endParaRPr lang="zh-CN" altLang="en-US">
              <a:latin typeface="+mn-lt"/>
              <a:ea typeface="+mn-ea"/>
              <a:cs typeface="+mn-ea"/>
              <a:sym typeface="+mn-lt"/>
            </a:endParaRPr>
          </a:p>
        </p:txBody>
      </p:sp>
      <p:sp>
        <p:nvSpPr>
          <p:cNvPr id="3" name="文本占位符 2"/>
          <p:cNvSpPr>
            <a:spLocks noGrp="1"/>
          </p:cNvSpPr>
          <p:nvPr>
            <p:ph type="body" sz="quarter" idx="10"/>
          </p:nvPr>
        </p:nvSpPr>
        <p:spPr bwMode="gray">
          <a:xfrm>
            <a:off x="455612" y="1047751"/>
            <a:ext cx="11293475" cy="2102548"/>
          </a:xfrm>
          <a:prstGeom prst="rect">
            <a:avLst/>
          </a:prstGeom>
        </p:spPr>
        <p:txBody>
          <a:bodyPr/>
          <a:lstStyle/>
          <a:p>
            <a:r>
              <a:rPr lang="en-US" altLang="zh-CN" sz="1600" dirty="0">
                <a:latin typeface="+mn-lt"/>
                <a:ea typeface="+mn-ea"/>
                <a:cs typeface="+mn-ea"/>
                <a:sym typeface="+mn-lt"/>
              </a:rPr>
              <a:t>Leader AP</a:t>
            </a:r>
            <a:r>
              <a:rPr lang="zh-CN" altLang="en-US" sz="1600" dirty="0">
                <a:latin typeface="+mn-lt"/>
                <a:ea typeface="+mn-ea"/>
                <a:cs typeface="+mn-ea"/>
                <a:sym typeface="+mn-lt"/>
              </a:rPr>
              <a:t>的管理能力（支持管理的</a:t>
            </a:r>
            <a:r>
              <a:rPr lang="en-US" altLang="zh-CN" sz="1600" dirty="0">
                <a:latin typeface="+mn-lt"/>
                <a:ea typeface="+mn-ea"/>
                <a:cs typeface="+mn-ea"/>
                <a:sym typeface="+mn-lt"/>
              </a:rPr>
              <a:t>AP</a:t>
            </a:r>
            <a:r>
              <a:rPr lang="zh-CN" altLang="en-US" sz="1600" dirty="0">
                <a:latin typeface="+mn-lt"/>
                <a:ea typeface="+mn-ea"/>
                <a:cs typeface="+mn-ea"/>
                <a:sym typeface="+mn-lt"/>
              </a:rPr>
              <a:t>数量）是</a:t>
            </a:r>
            <a:r>
              <a:rPr lang="zh-CN" altLang="en-US" sz="1600" dirty="0" smtClean="0">
                <a:latin typeface="+mn-lt"/>
                <a:ea typeface="+mn-ea"/>
                <a:cs typeface="+mn-ea"/>
                <a:sym typeface="+mn-lt"/>
              </a:rPr>
              <a:t>有限的</a:t>
            </a:r>
            <a:r>
              <a:rPr lang="zh-CN" altLang="en-US" sz="1600" dirty="0">
                <a:latin typeface="+mn-lt"/>
                <a:ea typeface="+mn-ea"/>
                <a:cs typeface="+mn-ea"/>
                <a:sym typeface="+mn-lt"/>
              </a:rPr>
              <a:t>；</a:t>
            </a:r>
            <a:endParaRPr lang="en-US" altLang="zh-CN" sz="1600" dirty="0">
              <a:latin typeface="+mn-lt"/>
              <a:ea typeface="+mn-ea"/>
              <a:cs typeface="+mn-ea"/>
              <a:sym typeface="+mn-lt"/>
            </a:endParaRPr>
          </a:p>
          <a:p>
            <a:r>
              <a:rPr lang="zh-CN" altLang="en-US" sz="1600" dirty="0">
                <a:latin typeface="+mn-lt"/>
                <a:ea typeface="+mn-ea"/>
                <a:cs typeface="+mn-ea"/>
                <a:sym typeface="+mn-lt"/>
              </a:rPr>
              <a:t>对于</a:t>
            </a:r>
            <a:r>
              <a:rPr lang="en-US" altLang="zh-CN" sz="1600" dirty="0">
                <a:latin typeface="+mn-lt"/>
                <a:ea typeface="+mn-ea"/>
                <a:cs typeface="+mn-ea"/>
                <a:sym typeface="+mn-lt"/>
              </a:rPr>
              <a:t>AP</a:t>
            </a:r>
            <a:r>
              <a:rPr lang="zh-CN" altLang="en-US" sz="1600" dirty="0">
                <a:latin typeface="+mn-lt"/>
                <a:ea typeface="+mn-ea"/>
                <a:cs typeface="+mn-ea"/>
                <a:sym typeface="+mn-lt"/>
              </a:rPr>
              <a:t>数量超过单个</a:t>
            </a:r>
            <a:r>
              <a:rPr lang="en-US" altLang="zh-CN" sz="1600" dirty="0">
                <a:latin typeface="+mn-lt"/>
                <a:ea typeface="+mn-ea"/>
                <a:cs typeface="+mn-ea"/>
                <a:sym typeface="+mn-lt"/>
              </a:rPr>
              <a:t>Leader AP</a:t>
            </a:r>
            <a:r>
              <a:rPr lang="zh-CN" altLang="en-US" sz="1600" dirty="0">
                <a:latin typeface="+mn-lt"/>
                <a:ea typeface="+mn-ea"/>
                <a:cs typeface="+mn-ea"/>
                <a:sym typeface="+mn-lt"/>
              </a:rPr>
              <a:t>的管理能力时，需要进行网络规划（通过规划</a:t>
            </a:r>
            <a:r>
              <a:rPr lang="en-US" altLang="zh-CN" sz="1600" dirty="0">
                <a:latin typeface="+mn-lt"/>
                <a:ea typeface="+mn-ea"/>
                <a:cs typeface="+mn-ea"/>
                <a:sym typeface="+mn-lt"/>
              </a:rPr>
              <a:t>AP</a:t>
            </a:r>
            <a:r>
              <a:rPr lang="zh-CN" altLang="en-US" sz="1600" dirty="0">
                <a:latin typeface="+mn-lt"/>
                <a:ea typeface="+mn-ea"/>
                <a:cs typeface="+mn-ea"/>
                <a:sym typeface="+mn-lt"/>
              </a:rPr>
              <a:t>的管理</a:t>
            </a:r>
            <a:r>
              <a:rPr lang="en-US" altLang="zh-CN" sz="1600" dirty="0">
                <a:latin typeface="+mn-lt"/>
                <a:ea typeface="+mn-ea"/>
                <a:cs typeface="+mn-ea"/>
                <a:sym typeface="+mn-lt"/>
              </a:rPr>
              <a:t>VLAN</a:t>
            </a:r>
            <a:r>
              <a:rPr lang="zh-CN" altLang="en-US" sz="1600" dirty="0">
                <a:latin typeface="+mn-lt"/>
                <a:ea typeface="+mn-ea"/>
                <a:cs typeface="+mn-ea"/>
                <a:sym typeface="+mn-lt"/>
              </a:rPr>
              <a:t>以实现分组，当一个管理</a:t>
            </a:r>
            <a:r>
              <a:rPr lang="en-US" altLang="zh-CN" sz="1600" dirty="0">
                <a:latin typeface="+mn-lt"/>
                <a:ea typeface="+mn-ea"/>
                <a:cs typeface="+mn-ea"/>
                <a:sym typeface="+mn-lt"/>
              </a:rPr>
              <a:t>VLAN</a:t>
            </a:r>
            <a:r>
              <a:rPr lang="zh-CN" altLang="en-US" sz="1600" dirty="0">
                <a:latin typeface="+mn-lt"/>
                <a:ea typeface="+mn-ea"/>
                <a:cs typeface="+mn-ea"/>
                <a:sym typeface="+mn-lt"/>
              </a:rPr>
              <a:t>下的</a:t>
            </a:r>
            <a:r>
              <a:rPr lang="en-US" altLang="zh-CN" sz="1600" dirty="0">
                <a:latin typeface="+mn-lt"/>
                <a:ea typeface="+mn-ea"/>
                <a:cs typeface="+mn-ea"/>
                <a:sym typeface="+mn-lt"/>
              </a:rPr>
              <a:t>AP</a:t>
            </a:r>
            <a:r>
              <a:rPr lang="zh-CN" altLang="en-US" sz="1600" dirty="0">
                <a:latin typeface="+mn-lt"/>
                <a:ea typeface="+mn-ea"/>
                <a:cs typeface="+mn-ea"/>
                <a:sym typeface="+mn-lt"/>
              </a:rPr>
              <a:t>数量较多时，会自动划分为多个组</a:t>
            </a:r>
            <a:r>
              <a:rPr lang="zh-CN" altLang="en-US" sz="1600" dirty="0" smtClean="0">
                <a:latin typeface="+mn-lt"/>
                <a:ea typeface="+mn-ea"/>
                <a:cs typeface="+mn-ea"/>
                <a:sym typeface="+mn-lt"/>
              </a:rPr>
              <a:t>）；</a:t>
            </a:r>
            <a:endParaRPr lang="zh-CN" altLang="en-US" sz="1600" dirty="0">
              <a:latin typeface="+mn-lt"/>
              <a:ea typeface="+mn-ea"/>
              <a:cs typeface="+mn-ea"/>
              <a:sym typeface="+mn-lt"/>
            </a:endParaRPr>
          </a:p>
          <a:p>
            <a:r>
              <a:rPr lang="zh-CN" altLang="en-US" sz="1600" dirty="0">
                <a:latin typeface="+mn-lt"/>
                <a:ea typeface="+mn-ea"/>
                <a:cs typeface="+mn-ea"/>
                <a:sym typeface="+mn-lt"/>
              </a:rPr>
              <a:t>射频调优是对一个连续区域的无线网络进行调优的，因此建议</a:t>
            </a:r>
            <a:r>
              <a:rPr lang="en-US" altLang="zh-CN" sz="1600" dirty="0">
                <a:latin typeface="+mn-lt"/>
                <a:ea typeface="+mn-ea"/>
                <a:cs typeface="+mn-ea"/>
                <a:sym typeface="+mn-lt"/>
              </a:rPr>
              <a:t>AP</a:t>
            </a:r>
            <a:r>
              <a:rPr lang="zh-CN" altLang="en-US" sz="1600" dirty="0">
                <a:latin typeface="+mn-lt"/>
                <a:ea typeface="+mn-ea"/>
                <a:cs typeface="+mn-ea"/>
                <a:sym typeface="+mn-lt"/>
              </a:rPr>
              <a:t>分组时按照例如楼层的方式进行分组，确保一个组内的</a:t>
            </a:r>
            <a:r>
              <a:rPr lang="en-US" altLang="zh-CN" sz="1600" dirty="0">
                <a:latin typeface="+mn-lt"/>
                <a:ea typeface="+mn-ea"/>
                <a:cs typeface="+mn-ea"/>
                <a:sym typeface="+mn-lt"/>
              </a:rPr>
              <a:t>AP</a:t>
            </a:r>
            <a:r>
              <a:rPr lang="zh-CN" altLang="en-US" sz="1600" dirty="0">
                <a:latin typeface="+mn-lt"/>
                <a:ea typeface="+mn-ea"/>
                <a:cs typeface="+mn-ea"/>
                <a:sym typeface="+mn-lt"/>
              </a:rPr>
              <a:t>是同一个区域的，保证调优效果。</a:t>
            </a:r>
          </a:p>
        </p:txBody>
      </p:sp>
      <p:sp>
        <p:nvSpPr>
          <p:cNvPr id="4" name="圆角矩形 3"/>
          <p:cNvSpPr/>
          <p:nvPr/>
        </p:nvSpPr>
        <p:spPr bwMode="gray">
          <a:xfrm>
            <a:off x="6871078" y="5070948"/>
            <a:ext cx="4490871" cy="529176"/>
          </a:xfrm>
          <a:prstGeom prst="roundRect">
            <a:avLst>
              <a:gd name="adj" fmla="val 778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圆角矩形 4"/>
          <p:cNvSpPr/>
          <p:nvPr/>
        </p:nvSpPr>
        <p:spPr bwMode="gray">
          <a:xfrm>
            <a:off x="6871078" y="4429510"/>
            <a:ext cx="4490871" cy="529176"/>
          </a:xfrm>
          <a:prstGeom prst="roundRect">
            <a:avLst>
              <a:gd name="adj" fmla="val 778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圆角矩形 5"/>
          <p:cNvSpPr/>
          <p:nvPr/>
        </p:nvSpPr>
        <p:spPr bwMode="gray">
          <a:xfrm>
            <a:off x="1094456" y="3762939"/>
            <a:ext cx="1453050" cy="1149269"/>
          </a:xfrm>
          <a:prstGeom prst="roundRect">
            <a:avLst>
              <a:gd name="adj" fmla="val 778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圆角矩形 6"/>
          <p:cNvSpPr/>
          <p:nvPr/>
        </p:nvSpPr>
        <p:spPr bwMode="gray">
          <a:xfrm>
            <a:off x="2804311" y="3762940"/>
            <a:ext cx="1207330" cy="1149268"/>
          </a:xfrm>
          <a:prstGeom prst="roundRect">
            <a:avLst>
              <a:gd name="adj" fmla="val 535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圆角矩形 7"/>
          <p:cNvSpPr/>
          <p:nvPr/>
        </p:nvSpPr>
        <p:spPr bwMode="gray">
          <a:xfrm>
            <a:off x="2659072" y="3762939"/>
            <a:ext cx="626715" cy="1589799"/>
          </a:xfrm>
          <a:prstGeom prst="roundRect">
            <a:avLst>
              <a:gd name="adj" fmla="val 778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圆角矩形 8"/>
          <p:cNvSpPr/>
          <p:nvPr/>
        </p:nvSpPr>
        <p:spPr bwMode="gray">
          <a:xfrm>
            <a:off x="1094456" y="5064999"/>
            <a:ext cx="2191332" cy="521419"/>
          </a:xfrm>
          <a:prstGeom prst="roundRect">
            <a:avLst>
              <a:gd name="adj" fmla="val 102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圆角矩形 9"/>
          <p:cNvSpPr/>
          <p:nvPr/>
        </p:nvSpPr>
        <p:spPr bwMode="gray">
          <a:xfrm>
            <a:off x="3419682" y="5064999"/>
            <a:ext cx="1379463" cy="521419"/>
          </a:xfrm>
          <a:prstGeom prst="roundRect">
            <a:avLst>
              <a:gd name="adj" fmla="val 102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圆角矩形 10"/>
          <p:cNvSpPr/>
          <p:nvPr/>
        </p:nvSpPr>
        <p:spPr bwMode="gray">
          <a:xfrm>
            <a:off x="4159978" y="3762940"/>
            <a:ext cx="1379463" cy="1823477"/>
          </a:xfrm>
          <a:prstGeom prst="roundRect">
            <a:avLst>
              <a:gd name="adj" fmla="val 432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圆角矩形 11"/>
          <p:cNvSpPr/>
          <p:nvPr/>
        </p:nvSpPr>
        <p:spPr bwMode="gray">
          <a:xfrm>
            <a:off x="752059" y="3220653"/>
            <a:ext cx="4933507" cy="360000"/>
          </a:xfrm>
          <a:prstGeom prst="roundRect">
            <a:avLst>
              <a:gd name="adj" fmla="val 9432"/>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随机分组</a:t>
            </a:r>
          </a:p>
        </p:txBody>
      </p:sp>
      <p:sp>
        <p:nvSpPr>
          <p:cNvPr id="13" name="Rounded Rectangle 8"/>
          <p:cNvSpPr/>
          <p:nvPr/>
        </p:nvSpPr>
        <p:spPr bwMode="gray">
          <a:xfrm>
            <a:off x="741726" y="3642074"/>
            <a:ext cx="4946052" cy="2021532"/>
          </a:xfrm>
          <a:prstGeom prst="roundRect">
            <a:avLst>
              <a:gd name="adj" fmla="val 348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4" name="图片 105" descr="AP.png"/>
          <p:cNvPicPr>
            <a:picLocks noChangeAspect="1"/>
          </p:cNvPicPr>
          <p:nvPr/>
        </p:nvPicPr>
        <p:blipFill>
          <a:blip r:embed="rId3" cstate="print"/>
          <a:stretch>
            <a:fillRect/>
          </a:stretch>
        </p:blipFill>
        <p:spPr bwMode="gray">
          <a:xfrm>
            <a:off x="1245920" y="3903533"/>
            <a:ext cx="368827" cy="301768"/>
          </a:xfrm>
          <a:prstGeom prst="rect">
            <a:avLst/>
          </a:prstGeom>
        </p:spPr>
      </p:pic>
      <p:pic>
        <p:nvPicPr>
          <p:cNvPr id="15" name="图片 105" descr="AP.png"/>
          <p:cNvPicPr>
            <a:picLocks noChangeAspect="1"/>
          </p:cNvPicPr>
          <p:nvPr/>
        </p:nvPicPr>
        <p:blipFill>
          <a:blip r:embed="rId3" cstate="print"/>
          <a:stretch>
            <a:fillRect/>
          </a:stretch>
        </p:blipFill>
        <p:spPr bwMode="gray">
          <a:xfrm>
            <a:off x="2771172" y="3903533"/>
            <a:ext cx="368827" cy="301768"/>
          </a:xfrm>
          <a:prstGeom prst="rect">
            <a:avLst/>
          </a:prstGeom>
        </p:spPr>
      </p:pic>
      <p:pic>
        <p:nvPicPr>
          <p:cNvPr id="16" name="图片 105" descr="AP.png"/>
          <p:cNvPicPr>
            <a:picLocks noChangeAspect="1"/>
          </p:cNvPicPr>
          <p:nvPr/>
        </p:nvPicPr>
        <p:blipFill>
          <a:blip r:embed="rId3" cstate="print"/>
          <a:stretch>
            <a:fillRect/>
          </a:stretch>
        </p:blipFill>
        <p:spPr bwMode="gray">
          <a:xfrm>
            <a:off x="4296424" y="3903533"/>
            <a:ext cx="368827" cy="301768"/>
          </a:xfrm>
          <a:prstGeom prst="rect">
            <a:avLst/>
          </a:prstGeom>
        </p:spPr>
      </p:pic>
      <p:pic>
        <p:nvPicPr>
          <p:cNvPr id="18" name="图片 105" descr="AP.png"/>
          <p:cNvPicPr>
            <a:picLocks noChangeAspect="1"/>
          </p:cNvPicPr>
          <p:nvPr/>
        </p:nvPicPr>
        <p:blipFill>
          <a:blip r:embed="rId3" cstate="print"/>
          <a:stretch>
            <a:fillRect/>
          </a:stretch>
        </p:blipFill>
        <p:spPr bwMode="gray">
          <a:xfrm>
            <a:off x="5059048" y="3903533"/>
            <a:ext cx="368827" cy="301768"/>
          </a:xfrm>
          <a:prstGeom prst="rect">
            <a:avLst/>
          </a:prstGeom>
        </p:spPr>
      </p:pic>
      <p:pic>
        <p:nvPicPr>
          <p:cNvPr id="19" name="图片 105" descr="AP.png"/>
          <p:cNvPicPr>
            <a:picLocks noChangeAspect="1"/>
          </p:cNvPicPr>
          <p:nvPr/>
        </p:nvPicPr>
        <p:blipFill>
          <a:blip r:embed="rId3" cstate="print"/>
          <a:stretch>
            <a:fillRect/>
          </a:stretch>
        </p:blipFill>
        <p:spPr bwMode="gray">
          <a:xfrm>
            <a:off x="3533798" y="3903533"/>
            <a:ext cx="368827" cy="301768"/>
          </a:xfrm>
          <a:prstGeom prst="rect">
            <a:avLst/>
          </a:prstGeom>
        </p:spPr>
      </p:pic>
      <p:pic>
        <p:nvPicPr>
          <p:cNvPr id="20" name="图片 105" descr="AP.png"/>
          <p:cNvPicPr>
            <a:picLocks noChangeAspect="1"/>
          </p:cNvPicPr>
          <p:nvPr/>
        </p:nvPicPr>
        <p:blipFill>
          <a:blip r:embed="rId3" cstate="print"/>
          <a:stretch>
            <a:fillRect/>
          </a:stretch>
        </p:blipFill>
        <p:spPr bwMode="gray">
          <a:xfrm>
            <a:off x="1245920" y="4546078"/>
            <a:ext cx="368827" cy="301768"/>
          </a:xfrm>
          <a:prstGeom prst="rect">
            <a:avLst/>
          </a:prstGeom>
        </p:spPr>
      </p:pic>
      <p:pic>
        <p:nvPicPr>
          <p:cNvPr id="21" name="图片 105" descr="AP.png"/>
          <p:cNvPicPr>
            <a:picLocks noChangeAspect="1"/>
          </p:cNvPicPr>
          <p:nvPr/>
        </p:nvPicPr>
        <p:blipFill>
          <a:blip r:embed="rId3" cstate="print"/>
          <a:stretch>
            <a:fillRect/>
          </a:stretch>
        </p:blipFill>
        <p:spPr bwMode="gray">
          <a:xfrm>
            <a:off x="2771172" y="4546078"/>
            <a:ext cx="368827" cy="301768"/>
          </a:xfrm>
          <a:prstGeom prst="rect">
            <a:avLst/>
          </a:prstGeom>
        </p:spPr>
      </p:pic>
      <p:pic>
        <p:nvPicPr>
          <p:cNvPr id="22" name="图片 105" descr="AP.png"/>
          <p:cNvPicPr>
            <a:picLocks noChangeAspect="1"/>
          </p:cNvPicPr>
          <p:nvPr/>
        </p:nvPicPr>
        <p:blipFill>
          <a:blip r:embed="rId3" cstate="print"/>
          <a:stretch>
            <a:fillRect/>
          </a:stretch>
        </p:blipFill>
        <p:spPr bwMode="gray">
          <a:xfrm>
            <a:off x="4296424" y="4546078"/>
            <a:ext cx="368827" cy="301768"/>
          </a:xfrm>
          <a:prstGeom prst="rect">
            <a:avLst/>
          </a:prstGeom>
        </p:spPr>
      </p:pic>
      <p:pic>
        <p:nvPicPr>
          <p:cNvPr id="23" name="图片 105" descr="AP.png"/>
          <p:cNvPicPr>
            <a:picLocks noChangeAspect="1"/>
          </p:cNvPicPr>
          <p:nvPr/>
        </p:nvPicPr>
        <p:blipFill>
          <a:blip r:embed="rId3" cstate="print"/>
          <a:stretch>
            <a:fillRect/>
          </a:stretch>
        </p:blipFill>
        <p:spPr bwMode="gray">
          <a:xfrm>
            <a:off x="2008546" y="4546078"/>
            <a:ext cx="368827" cy="301768"/>
          </a:xfrm>
          <a:prstGeom prst="rect">
            <a:avLst/>
          </a:prstGeom>
        </p:spPr>
      </p:pic>
      <p:pic>
        <p:nvPicPr>
          <p:cNvPr id="24" name="图片 105" descr="AP.png"/>
          <p:cNvPicPr>
            <a:picLocks noChangeAspect="1"/>
          </p:cNvPicPr>
          <p:nvPr/>
        </p:nvPicPr>
        <p:blipFill>
          <a:blip r:embed="rId3" cstate="print"/>
          <a:stretch>
            <a:fillRect/>
          </a:stretch>
        </p:blipFill>
        <p:spPr bwMode="gray">
          <a:xfrm>
            <a:off x="5059048" y="4546078"/>
            <a:ext cx="368827" cy="301768"/>
          </a:xfrm>
          <a:prstGeom prst="rect">
            <a:avLst/>
          </a:prstGeom>
        </p:spPr>
      </p:pic>
      <p:pic>
        <p:nvPicPr>
          <p:cNvPr id="26" name="图片 105" descr="AP.png"/>
          <p:cNvPicPr>
            <a:picLocks noChangeAspect="1"/>
          </p:cNvPicPr>
          <p:nvPr/>
        </p:nvPicPr>
        <p:blipFill>
          <a:blip r:embed="rId3" cstate="print"/>
          <a:stretch>
            <a:fillRect/>
          </a:stretch>
        </p:blipFill>
        <p:spPr bwMode="gray">
          <a:xfrm>
            <a:off x="1245920" y="5184652"/>
            <a:ext cx="368827" cy="301768"/>
          </a:xfrm>
          <a:prstGeom prst="rect">
            <a:avLst/>
          </a:prstGeom>
        </p:spPr>
      </p:pic>
      <p:pic>
        <p:nvPicPr>
          <p:cNvPr id="27" name="图片 105" descr="AP.png"/>
          <p:cNvPicPr>
            <a:picLocks noChangeAspect="1"/>
          </p:cNvPicPr>
          <p:nvPr/>
        </p:nvPicPr>
        <p:blipFill>
          <a:blip r:embed="rId3" cstate="print"/>
          <a:stretch>
            <a:fillRect/>
          </a:stretch>
        </p:blipFill>
        <p:spPr bwMode="gray">
          <a:xfrm>
            <a:off x="2771172" y="5184652"/>
            <a:ext cx="368827" cy="301768"/>
          </a:xfrm>
          <a:prstGeom prst="rect">
            <a:avLst/>
          </a:prstGeom>
        </p:spPr>
      </p:pic>
      <p:pic>
        <p:nvPicPr>
          <p:cNvPr id="29" name="图片 105" descr="AP.png"/>
          <p:cNvPicPr>
            <a:picLocks noChangeAspect="1"/>
          </p:cNvPicPr>
          <p:nvPr/>
        </p:nvPicPr>
        <p:blipFill>
          <a:blip r:embed="rId3" cstate="print"/>
          <a:stretch>
            <a:fillRect/>
          </a:stretch>
        </p:blipFill>
        <p:spPr bwMode="gray">
          <a:xfrm>
            <a:off x="2008546" y="5184652"/>
            <a:ext cx="368827" cy="301768"/>
          </a:xfrm>
          <a:prstGeom prst="rect">
            <a:avLst/>
          </a:prstGeom>
        </p:spPr>
      </p:pic>
      <p:pic>
        <p:nvPicPr>
          <p:cNvPr id="30" name="图片 105" descr="AP.png"/>
          <p:cNvPicPr>
            <a:picLocks noChangeAspect="1"/>
          </p:cNvPicPr>
          <p:nvPr/>
        </p:nvPicPr>
        <p:blipFill>
          <a:blip r:embed="rId3" cstate="print"/>
          <a:stretch>
            <a:fillRect/>
          </a:stretch>
        </p:blipFill>
        <p:spPr bwMode="gray">
          <a:xfrm>
            <a:off x="5059048" y="5184652"/>
            <a:ext cx="368827" cy="301768"/>
          </a:xfrm>
          <a:prstGeom prst="rect">
            <a:avLst/>
          </a:prstGeom>
        </p:spPr>
      </p:pic>
      <p:pic>
        <p:nvPicPr>
          <p:cNvPr id="31" name="图片 105" descr="AP.png"/>
          <p:cNvPicPr>
            <a:picLocks noChangeAspect="1"/>
          </p:cNvPicPr>
          <p:nvPr/>
        </p:nvPicPr>
        <p:blipFill>
          <a:blip r:embed="rId3" cstate="print"/>
          <a:stretch>
            <a:fillRect/>
          </a:stretch>
        </p:blipFill>
        <p:spPr bwMode="gray">
          <a:xfrm>
            <a:off x="3533798" y="5184652"/>
            <a:ext cx="368827" cy="301768"/>
          </a:xfrm>
          <a:prstGeom prst="rect">
            <a:avLst/>
          </a:prstGeom>
        </p:spPr>
      </p:pic>
      <p:sp>
        <p:nvSpPr>
          <p:cNvPr id="32" name="TextBox 30"/>
          <p:cNvSpPr txBox="1"/>
          <p:nvPr/>
        </p:nvSpPr>
        <p:spPr bwMode="gray">
          <a:xfrm>
            <a:off x="713407" y="3915918"/>
            <a:ext cx="364202" cy="276999"/>
          </a:xfrm>
          <a:prstGeom prst="rect">
            <a:avLst/>
          </a:prstGeom>
          <a:noFill/>
        </p:spPr>
        <p:txBody>
          <a:bodyPr wrap="none" rtlCol="0">
            <a:spAutoFit/>
          </a:bodyPr>
          <a:lstStyle/>
          <a:p>
            <a:r>
              <a:rPr lang="en-US" altLang="zh-CN" sz="1200" smtClean="0">
                <a:solidFill>
                  <a:schemeClr val="bg1">
                    <a:lumMod val="50000"/>
                  </a:schemeClr>
                </a:solidFill>
                <a:cs typeface="+mn-ea"/>
                <a:sym typeface="+mn-lt"/>
              </a:rPr>
              <a:t>F1</a:t>
            </a:r>
            <a:endParaRPr lang="zh-CN" altLang="en-US" sz="1200">
              <a:solidFill>
                <a:schemeClr val="bg1">
                  <a:lumMod val="50000"/>
                </a:schemeClr>
              </a:solidFill>
              <a:cs typeface="+mn-ea"/>
              <a:sym typeface="+mn-lt"/>
            </a:endParaRPr>
          </a:p>
        </p:txBody>
      </p:sp>
      <p:sp>
        <p:nvSpPr>
          <p:cNvPr id="33" name="TextBox 31"/>
          <p:cNvSpPr txBox="1"/>
          <p:nvPr/>
        </p:nvSpPr>
        <p:spPr bwMode="gray">
          <a:xfrm>
            <a:off x="713407" y="4558463"/>
            <a:ext cx="364202" cy="276999"/>
          </a:xfrm>
          <a:prstGeom prst="rect">
            <a:avLst/>
          </a:prstGeom>
          <a:noFill/>
        </p:spPr>
        <p:txBody>
          <a:bodyPr wrap="none" rtlCol="0">
            <a:spAutoFit/>
          </a:bodyPr>
          <a:lstStyle/>
          <a:p>
            <a:r>
              <a:rPr lang="en-US" altLang="zh-CN" sz="1200" smtClean="0">
                <a:solidFill>
                  <a:schemeClr val="bg1">
                    <a:lumMod val="50000"/>
                  </a:schemeClr>
                </a:solidFill>
                <a:cs typeface="+mn-ea"/>
                <a:sym typeface="+mn-lt"/>
              </a:rPr>
              <a:t>F2</a:t>
            </a:r>
            <a:endParaRPr lang="zh-CN" altLang="en-US" sz="1200">
              <a:solidFill>
                <a:schemeClr val="bg1">
                  <a:lumMod val="50000"/>
                </a:schemeClr>
              </a:solidFill>
              <a:cs typeface="+mn-ea"/>
              <a:sym typeface="+mn-lt"/>
            </a:endParaRPr>
          </a:p>
        </p:txBody>
      </p:sp>
      <p:sp>
        <p:nvSpPr>
          <p:cNvPr id="34" name="TextBox 32"/>
          <p:cNvSpPr txBox="1"/>
          <p:nvPr/>
        </p:nvSpPr>
        <p:spPr bwMode="gray">
          <a:xfrm>
            <a:off x="713407" y="5197037"/>
            <a:ext cx="364202" cy="276999"/>
          </a:xfrm>
          <a:prstGeom prst="rect">
            <a:avLst/>
          </a:prstGeom>
          <a:noFill/>
        </p:spPr>
        <p:txBody>
          <a:bodyPr wrap="none" rtlCol="0">
            <a:spAutoFit/>
          </a:bodyPr>
          <a:lstStyle/>
          <a:p>
            <a:r>
              <a:rPr lang="en-US" altLang="zh-CN" sz="1200" dirty="0" smtClean="0">
                <a:solidFill>
                  <a:schemeClr val="bg1">
                    <a:lumMod val="50000"/>
                  </a:schemeClr>
                </a:solidFill>
                <a:cs typeface="+mn-ea"/>
                <a:sym typeface="+mn-lt"/>
              </a:rPr>
              <a:t>F3</a:t>
            </a:r>
            <a:endParaRPr lang="zh-CN" altLang="en-US" sz="1200" dirty="0">
              <a:solidFill>
                <a:schemeClr val="bg1">
                  <a:lumMod val="50000"/>
                </a:schemeClr>
              </a:solidFill>
              <a:cs typeface="+mn-ea"/>
              <a:sym typeface="+mn-lt"/>
            </a:endParaRPr>
          </a:p>
        </p:txBody>
      </p:sp>
      <p:grpSp>
        <p:nvGrpSpPr>
          <p:cNvPr id="35" name="Group 27"/>
          <p:cNvGrpSpPr/>
          <p:nvPr/>
        </p:nvGrpSpPr>
        <p:grpSpPr bwMode="gray">
          <a:xfrm>
            <a:off x="752059" y="4353536"/>
            <a:ext cx="4935719" cy="635860"/>
            <a:chOff x="1116623" y="3980102"/>
            <a:chExt cx="4510454" cy="635860"/>
          </a:xfrm>
        </p:grpSpPr>
        <p:cxnSp>
          <p:nvCxnSpPr>
            <p:cNvPr id="36" name="Straight Connector 28"/>
            <p:cNvCxnSpPr/>
            <p:nvPr/>
          </p:nvCxnSpPr>
          <p:spPr bwMode="gray">
            <a:xfrm>
              <a:off x="1116623" y="3980102"/>
              <a:ext cx="4510454" cy="0"/>
            </a:xfrm>
            <a:prstGeom prst="lin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29"/>
            <p:cNvCxnSpPr/>
            <p:nvPr/>
          </p:nvCxnSpPr>
          <p:spPr bwMode="gray">
            <a:xfrm>
              <a:off x="1116623" y="4615962"/>
              <a:ext cx="4510454" cy="0"/>
            </a:xfrm>
            <a:prstGeom prst="lin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38" name="圆角矩形 37"/>
          <p:cNvSpPr/>
          <p:nvPr/>
        </p:nvSpPr>
        <p:spPr bwMode="gray">
          <a:xfrm>
            <a:off x="6871078" y="3762940"/>
            <a:ext cx="4490871" cy="529176"/>
          </a:xfrm>
          <a:prstGeom prst="roundRect">
            <a:avLst>
              <a:gd name="adj" fmla="val 778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圆角矩形 38"/>
          <p:cNvSpPr/>
          <p:nvPr/>
        </p:nvSpPr>
        <p:spPr bwMode="gray">
          <a:xfrm>
            <a:off x="6528682" y="3220653"/>
            <a:ext cx="4933507" cy="360000"/>
          </a:xfrm>
          <a:prstGeom prst="roundRect">
            <a:avLst>
              <a:gd name="adj" fmla="val 9432"/>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根据管理</a:t>
            </a:r>
            <a:r>
              <a:rPr lang="en-US" altLang="zh-CN" sz="1600">
                <a:solidFill>
                  <a:srgbClr val="30B5C5"/>
                </a:solidFill>
                <a:latin typeface="Huawei Sans" panose="020C0503030203020204" pitchFamily="34" charset="0"/>
                <a:ea typeface="方正兰亭黑简体" panose="02000000000000000000" pitchFamily="2" charset="-122"/>
                <a:sym typeface="+mn-lt"/>
              </a:rPr>
              <a:t>VLAN</a:t>
            </a:r>
            <a:r>
              <a:rPr lang="zh-CN" altLang="en-US" sz="1600">
                <a:solidFill>
                  <a:srgbClr val="30B5C5"/>
                </a:solidFill>
                <a:latin typeface="Huawei Sans" panose="020C0503030203020204" pitchFamily="34" charset="0"/>
                <a:ea typeface="方正兰亭黑简体" panose="02000000000000000000" pitchFamily="2" charset="-122"/>
                <a:sym typeface="+mn-lt"/>
              </a:rPr>
              <a:t>分组</a:t>
            </a:r>
          </a:p>
        </p:txBody>
      </p:sp>
      <p:sp>
        <p:nvSpPr>
          <p:cNvPr id="40" name="Rounded Rectangle 8"/>
          <p:cNvSpPr/>
          <p:nvPr/>
        </p:nvSpPr>
        <p:spPr bwMode="gray">
          <a:xfrm>
            <a:off x="6518349" y="3642074"/>
            <a:ext cx="4946052" cy="2021532"/>
          </a:xfrm>
          <a:prstGeom prst="roundRect">
            <a:avLst>
              <a:gd name="adj" fmla="val 348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42" name="图片 105" descr="AP.png"/>
          <p:cNvPicPr>
            <a:picLocks noChangeAspect="1"/>
          </p:cNvPicPr>
          <p:nvPr/>
        </p:nvPicPr>
        <p:blipFill>
          <a:blip r:embed="rId3" cstate="print"/>
          <a:stretch>
            <a:fillRect/>
          </a:stretch>
        </p:blipFill>
        <p:spPr bwMode="gray">
          <a:xfrm>
            <a:off x="8547795" y="3903533"/>
            <a:ext cx="368827" cy="301768"/>
          </a:xfrm>
          <a:prstGeom prst="rect">
            <a:avLst/>
          </a:prstGeom>
        </p:spPr>
      </p:pic>
      <p:pic>
        <p:nvPicPr>
          <p:cNvPr id="43" name="图片 105" descr="AP.png"/>
          <p:cNvPicPr>
            <a:picLocks noChangeAspect="1"/>
          </p:cNvPicPr>
          <p:nvPr/>
        </p:nvPicPr>
        <p:blipFill>
          <a:blip r:embed="rId3" cstate="print"/>
          <a:stretch>
            <a:fillRect/>
          </a:stretch>
        </p:blipFill>
        <p:spPr bwMode="gray">
          <a:xfrm>
            <a:off x="10073047" y="3903533"/>
            <a:ext cx="368827" cy="301768"/>
          </a:xfrm>
          <a:prstGeom prst="rect">
            <a:avLst/>
          </a:prstGeom>
        </p:spPr>
      </p:pic>
      <p:pic>
        <p:nvPicPr>
          <p:cNvPr id="44" name="图片 105" descr="AP.png"/>
          <p:cNvPicPr>
            <a:picLocks noChangeAspect="1"/>
          </p:cNvPicPr>
          <p:nvPr/>
        </p:nvPicPr>
        <p:blipFill>
          <a:blip r:embed="rId3" cstate="print"/>
          <a:stretch>
            <a:fillRect/>
          </a:stretch>
        </p:blipFill>
        <p:spPr bwMode="gray">
          <a:xfrm>
            <a:off x="7785169" y="3903533"/>
            <a:ext cx="368827" cy="301768"/>
          </a:xfrm>
          <a:prstGeom prst="rect">
            <a:avLst/>
          </a:prstGeom>
        </p:spPr>
      </p:pic>
      <p:pic>
        <p:nvPicPr>
          <p:cNvPr id="45" name="图片 105" descr="AP.png"/>
          <p:cNvPicPr>
            <a:picLocks noChangeAspect="1"/>
          </p:cNvPicPr>
          <p:nvPr/>
        </p:nvPicPr>
        <p:blipFill>
          <a:blip r:embed="rId3" cstate="print"/>
          <a:stretch>
            <a:fillRect/>
          </a:stretch>
        </p:blipFill>
        <p:spPr bwMode="gray">
          <a:xfrm>
            <a:off x="10835671" y="3903533"/>
            <a:ext cx="368827" cy="301768"/>
          </a:xfrm>
          <a:prstGeom prst="rect">
            <a:avLst/>
          </a:prstGeom>
        </p:spPr>
      </p:pic>
      <p:pic>
        <p:nvPicPr>
          <p:cNvPr id="46" name="图片 105" descr="AP.png"/>
          <p:cNvPicPr>
            <a:picLocks noChangeAspect="1"/>
          </p:cNvPicPr>
          <p:nvPr/>
        </p:nvPicPr>
        <p:blipFill>
          <a:blip r:embed="rId3" cstate="print"/>
          <a:stretch>
            <a:fillRect/>
          </a:stretch>
        </p:blipFill>
        <p:spPr bwMode="gray">
          <a:xfrm>
            <a:off x="9310421" y="3903533"/>
            <a:ext cx="368827" cy="301768"/>
          </a:xfrm>
          <a:prstGeom prst="rect">
            <a:avLst/>
          </a:prstGeom>
        </p:spPr>
      </p:pic>
      <p:pic>
        <p:nvPicPr>
          <p:cNvPr id="47" name="图片 105" descr="AP.png"/>
          <p:cNvPicPr>
            <a:picLocks noChangeAspect="1"/>
          </p:cNvPicPr>
          <p:nvPr/>
        </p:nvPicPr>
        <p:blipFill>
          <a:blip r:embed="rId3" cstate="print"/>
          <a:stretch>
            <a:fillRect/>
          </a:stretch>
        </p:blipFill>
        <p:spPr bwMode="gray">
          <a:xfrm>
            <a:off x="7022543" y="4546078"/>
            <a:ext cx="368827" cy="301768"/>
          </a:xfrm>
          <a:prstGeom prst="rect">
            <a:avLst/>
          </a:prstGeom>
        </p:spPr>
      </p:pic>
      <p:pic>
        <p:nvPicPr>
          <p:cNvPr id="48" name="图片 105" descr="AP.png"/>
          <p:cNvPicPr>
            <a:picLocks noChangeAspect="1"/>
          </p:cNvPicPr>
          <p:nvPr/>
        </p:nvPicPr>
        <p:blipFill>
          <a:blip r:embed="rId3" cstate="print"/>
          <a:stretch>
            <a:fillRect/>
          </a:stretch>
        </p:blipFill>
        <p:spPr bwMode="gray">
          <a:xfrm>
            <a:off x="8547795" y="4546078"/>
            <a:ext cx="368827" cy="301768"/>
          </a:xfrm>
          <a:prstGeom prst="rect">
            <a:avLst/>
          </a:prstGeom>
        </p:spPr>
      </p:pic>
      <p:pic>
        <p:nvPicPr>
          <p:cNvPr id="49" name="图片 105" descr="AP.png"/>
          <p:cNvPicPr>
            <a:picLocks noChangeAspect="1"/>
          </p:cNvPicPr>
          <p:nvPr/>
        </p:nvPicPr>
        <p:blipFill>
          <a:blip r:embed="rId3" cstate="print"/>
          <a:stretch>
            <a:fillRect/>
          </a:stretch>
        </p:blipFill>
        <p:spPr bwMode="gray">
          <a:xfrm>
            <a:off x="10073047" y="4546078"/>
            <a:ext cx="368827" cy="301768"/>
          </a:xfrm>
          <a:prstGeom prst="rect">
            <a:avLst/>
          </a:prstGeom>
        </p:spPr>
      </p:pic>
      <p:pic>
        <p:nvPicPr>
          <p:cNvPr id="51" name="图片 105" descr="AP.png"/>
          <p:cNvPicPr>
            <a:picLocks noChangeAspect="1"/>
          </p:cNvPicPr>
          <p:nvPr/>
        </p:nvPicPr>
        <p:blipFill>
          <a:blip r:embed="rId3" cstate="print"/>
          <a:stretch>
            <a:fillRect/>
          </a:stretch>
        </p:blipFill>
        <p:spPr bwMode="gray">
          <a:xfrm>
            <a:off x="10835671" y="4546078"/>
            <a:ext cx="368827" cy="301768"/>
          </a:xfrm>
          <a:prstGeom prst="rect">
            <a:avLst/>
          </a:prstGeom>
        </p:spPr>
      </p:pic>
      <p:pic>
        <p:nvPicPr>
          <p:cNvPr id="52" name="图片 105" descr="AP.png"/>
          <p:cNvPicPr>
            <a:picLocks noChangeAspect="1"/>
          </p:cNvPicPr>
          <p:nvPr/>
        </p:nvPicPr>
        <p:blipFill>
          <a:blip r:embed="rId3" cstate="print"/>
          <a:stretch>
            <a:fillRect/>
          </a:stretch>
        </p:blipFill>
        <p:spPr bwMode="gray">
          <a:xfrm>
            <a:off x="9310421" y="4546078"/>
            <a:ext cx="368827" cy="301768"/>
          </a:xfrm>
          <a:prstGeom prst="rect">
            <a:avLst/>
          </a:prstGeom>
        </p:spPr>
      </p:pic>
      <p:pic>
        <p:nvPicPr>
          <p:cNvPr id="53" name="图片 105" descr="AP.png"/>
          <p:cNvPicPr>
            <a:picLocks noChangeAspect="1"/>
          </p:cNvPicPr>
          <p:nvPr/>
        </p:nvPicPr>
        <p:blipFill>
          <a:blip r:embed="rId3" cstate="print"/>
          <a:stretch>
            <a:fillRect/>
          </a:stretch>
        </p:blipFill>
        <p:spPr bwMode="gray">
          <a:xfrm>
            <a:off x="7022543" y="5184652"/>
            <a:ext cx="368827" cy="301768"/>
          </a:xfrm>
          <a:prstGeom prst="rect">
            <a:avLst/>
          </a:prstGeom>
        </p:spPr>
      </p:pic>
      <p:pic>
        <p:nvPicPr>
          <p:cNvPr id="54" name="图片 105" descr="AP.png"/>
          <p:cNvPicPr>
            <a:picLocks noChangeAspect="1"/>
          </p:cNvPicPr>
          <p:nvPr/>
        </p:nvPicPr>
        <p:blipFill>
          <a:blip r:embed="rId3" cstate="print"/>
          <a:stretch>
            <a:fillRect/>
          </a:stretch>
        </p:blipFill>
        <p:spPr bwMode="gray">
          <a:xfrm>
            <a:off x="8547795" y="5184652"/>
            <a:ext cx="368827" cy="301768"/>
          </a:xfrm>
          <a:prstGeom prst="rect">
            <a:avLst/>
          </a:prstGeom>
        </p:spPr>
      </p:pic>
      <p:pic>
        <p:nvPicPr>
          <p:cNvPr id="56" name="图片 105" descr="AP.png"/>
          <p:cNvPicPr>
            <a:picLocks noChangeAspect="1"/>
          </p:cNvPicPr>
          <p:nvPr/>
        </p:nvPicPr>
        <p:blipFill>
          <a:blip r:embed="rId3" cstate="print"/>
          <a:stretch>
            <a:fillRect/>
          </a:stretch>
        </p:blipFill>
        <p:spPr bwMode="gray">
          <a:xfrm>
            <a:off x="7785169" y="5184652"/>
            <a:ext cx="368827" cy="301768"/>
          </a:xfrm>
          <a:prstGeom prst="rect">
            <a:avLst/>
          </a:prstGeom>
        </p:spPr>
      </p:pic>
      <p:pic>
        <p:nvPicPr>
          <p:cNvPr id="57" name="图片 105" descr="AP.png"/>
          <p:cNvPicPr>
            <a:picLocks noChangeAspect="1"/>
          </p:cNvPicPr>
          <p:nvPr/>
        </p:nvPicPr>
        <p:blipFill>
          <a:blip r:embed="rId3" cstate="print"/>
          <a:stretch>
            <a:fillRect/>
          </a:stretch>
        </p:blipFill>
        <p:spPr bwMode="gray">
          <a:xfrm>
            <a:off x="10835671" y="5184652"/>
            <a:ext cx="368827" cy="301768"/>
          </a:xfrm>
          <a:prstGeom prst="rect">
            <a:avLst/>
          </a:prstGeom>
        </p:spPr>
      </p:pic>
      <p:pic>
        <p:nvPicPr>
          <p:cNvPr id="58" name="图片 105" descr="AP.png"/>
          <p:cNvPicPr>
            <a:picLocks noChangeAspect="1"/>
          </p:cNvPicPr>
          <p:nvPr/>
        </p:nvPicPr>
        <p:blipFill>
          <a:blip r:embed="rId3" cstate="print"/>
          <a:stretch>
            <a:fillRect/>
          </a:stretch>
        </p:blipFill>
        <p:spPr bwMode="gray">
          <a:xfrm>
            <a:off x="9310421" y="5184652"/>
            <a:ext cx="368827" cy="301768"/>
          </a:xfrm>
          <a:prstGeom prst="rect">
            <a:avLst/>
          </a:prstGeom>
        </p:spPr>
      </p:pic>
      <p:sp>
        <p:nvSpPr>
          <p:cNvPr id="59" name="TextBox 30"/>
          <p:cNvSpPr txBox="1"/>
          <p:nvPr/>
        </p:nvSpPr>
        <p:spPr bwMode="gray">
          <a:xfrm>
            <a:off x="6490030" y="3915918"/>
            <a:ext cx="364202" cy="276999"/>
          </a:xfrm>
          <a:prstGeom prst="rect">
            <a:avLst/>
          </a:prstGeom>
          <a:noFill/>
        </p:spPr>
        <p:txBody>
          <a:bodyPr wrap="none" rtlCol="0">
            <a:spAutoFit/>
          </a:bodyPr>
          <a:lstStyle/>
          <a:p>
            <a:r>
              <a:rPr lang="en-US" altLang="zh-CN" sz="1200" smtClean="0">
                <a:solidFill>
                  <a:schemeClr val="bg1">
                    <a:lumMod val="50000"/>
                  </a:schemeClr>
                </a:solidFill>
                <a:cs typeface="+mn-ea"/>
                <a:sym typeface="+mn-lt"/>
              </a:rPr>
              <a:t>F1</a:t>
            </a:r>
            <a:endParaRPr lang="zh-CN" altLang="en-US" sz="1200">
              <a:solidFill>
                <a:schemeClr val="bg1">
                  <a:lumMod val="50000"/>
                </a:schemeClr>
              </a:solidFill>
              <a:cs typeface="+mn-ea"/>
              <a:sym typeface="+mn-lt"/>
            </a:endParaRPr>
          </a:p>
        </p:txBody>
      </p:sp>
      <p:sp>
        <p:nvSpPr>
          <p:cNvPr id="60" name="TextBox 31"/>
          <p:cNvSpPr txBox="1"/>
          <p:nvPr/>
        </p:nvSpPr>
        <p:spPr bwMode="gray">
          <a:xfrm>
            <a:off x="6490030" y="4558463"/>
            <a:ext cx="364202" cy="276999"/>
          </a:xfrm>
          <a:prstGeom prst="rect">
            <a:avLst/>
          </a:prstGeom>
          <a:noFill/>
        </p:spPr>
        <p:txBody>
          <a:bodyPr wrap="none" rtlCol="0">
            <a:spAutoFit/>
          </a:bodyPr>
          <a:lstStyle/>
          <a:p>
            <a:r>
              <a:rPr lang="en-US" altLang="zh-CN" sz="1200" smtClean="0">
                <a:solidFill>
                  <a:schemeClr val="bg1">
                    <a:lumMod val="50000"/>
                  </a:schemeClr>
                </a:solidFill>
                <a:cs typeface="+mn-ea"/>
                <a:sym typeface="+mn-lt"/>
              </a:rPr>
              <a:t>F2</a:t>
            </a:r>
            <a:endParaRPr lang="zh-CN" altLang="en-US" sz="1200">
              <a:solidFill>
                <a:schemeClr val="bg1">
                  <a:lumMod val="50000"/>
                </a:schemeClr>
              </a:solidFill>
              <a:cs typeface="+mn-ea"/>
              <a:sym typeface="+mn-lt"/>
            </a:endParaRPr>
          </a:p>
        </p:txBody>
      </p:sp>
      <p:sp>
        <p:nvSpPr>
          <p:cNvPr id="61" name="TextBox 32"/>
          <p:cNvSpPr txBox="1"/>
          <p:nvPr/>
        </p:nvSpPr>
        <p:spPr bwMode="gray">
          <a:xfrm>
            <a:off x="6490030" y="5197037"/>
            <a:ext cx="364202" cy="276999"/>
          </a:xfrm>
          <a:prstGeom prst="rect">
            <a:avLst/>
          </a:prstGeom>
          <a:noFill/>
        </p:spPr>
        <p:txBody>
          <a:bodyPr wrap="none" rtlCol="0">
            <a:spAutoFit/>
          </a:bodyPr>
          <a:lstStyle/>
          <a:p>
            <a:r>
              <a:rPr lang="en-US" altLang="zh-CN" sz="1200" smtClean="0">
                <a:solidFill>
                  <a:schemeClr val="bg1">
                    <a:lumMod val="50000"/>
                  </a:schemeClr>
                </a:solidFill>
                <a:cs typeface="+mn-ea"/>
                <a:sym typeface="+mn-lt"/>
              </a:rPr>
              <a:t>F3</a:t>
            </a:r>
            <a:endParaRPr lang="zh-CN" altLang="en-US" sz="1200">
              <a:solidFill>
                <a:schemeClr val="bg1">
                  <a:lumMod val="50000"/>
                </a:schemeClr>
              </a:solidFill>
              <a:cs typeface="+mn-ea"/>
              <a:sym typeface="+mn-lt"/>
            </a:endParaRPr>
          </a:p>
        </p:txBody>
      </p:sp>
      <p:grpSp>
        <p:nvGrpSpPr>
          <p:cNvPr id="62" name="Group 27"/>
          <p:cNvGrpSpPr/>
          <p:nvPr/>
        </p:nvGrpSpPr>
        <p:grpSpPr bwMode="gray">
          <a:xfrm>
            <a:off x="6528682" y="4353536"/>
            <a:ext cx="4935719" cy="635860"/>
            <a:chOff x="1116623" y="3980102"/>
            <a:chExt cx="4510454" cy="635860"/>
          </a:xfrm>
        </p:grpSpPr>
        <p:cxnSp>
          <p:nvCxnSpPr>
            <p:cNvPr id="63" name="Straight Connector 28"/>
            <p:cNvCxnSpPr/>
            <p:nvPr/>
          </p:nvCxnSpPr>
          <p:spPr bwMode="gray">
            <a:xfrm>
              <a:off x="1116623" y="3980102"/>
              <a:ext cx="4510454" cy="0"/>
            </a:xfrm>
            <a:prstGeom prst="lin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29"/>
            <p:cNvCxnSpPr/>
            <p:nvPr/>
          </p:nvCxnSpPr>
          <p:spPr bwMode="gray">
            <a:xfrm>
              <a:off x="1116623" y="4615962"/>
              <a:ext cx="4510454" cy="0"/>
            </a:xfrm>
            <a:prstGeom prst="lin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65" name="TextBox 32"/>
          <p:cNvSpPr txBox="1"/>
          <p:nvPr/>
        </p:nvSpPr>
        <p:spPr bwMode="gray">
          <a:xfrm>
            <a:off x="10500360" y="3643952"/>
            <a:ext cx="925253" cy="276999"/>
          </a:xfrm>
          <a:prstGeom prst="rect">
            <a:avLst/>
          </a:prstGeom>
          <a:noFill/>
        </p:spPr>
        <p:txBody>
          <a:bodyPr wrap="none" rtlCol="0">
            <a:spAutoFit/>
          </a:bodyPr>
          <a:lstStyle/>
          <a:p>
            <a:r>
              <a:rPr lang="en-US" altLang="zh-CN" sz="1200" dirty="0" smtClean="0">
                <a:solidFill>
                  <a:schemeClr val="tx1">
                    <a:lumMod val="75000"/>
                    <a:lumOff val="25000"/>
                  </a:schemeClr>
                </a:solidFill>
                <a:cs typeface="+mn-ea"/>
                <a:sym typeface="+mn-lt"/>
              </a:rPr>
              <a:t>VLAN1000</a:t>
            </a:r>
            <a:endParaRPr lang="zh-CN" altLang="en-US" sz="1200" dirty="0">
              <a:solidFill>
                <a:schemeClr val="tx1">
                  <a:lumMod val="75000"/>
                  <a:lumOff val="25000"/>
                </a:schemeClr>
              </a:solidFill>
              <a:cs typeface="+mn-ea"/>
              <a:sym typeface="+mn-lt"/>
            </a:endParaRPr>
          </a:p>
        </p:txBody>
      </p:sp>
      <p:sp>
        <p:nvSpPr>
          <p:cNvPr id="66" name="TextBox 32"/>
          <p:cNvSpPr txBox="1"/>
          <p:nvPr/>
        </p:nvSpPr>
        <p:spPr bwMode="gray">
          <a:xfrm>
            <a:off x="10500360" y="4310492"/>
            <a:ext cx="925253" cy="276999"/>
          </a:xfrm>
          <a:prstGeom prst="rect">
            <a:avLst/>
          </a:prstGeom>
          <a:noFill/>
        </p:spPr>
        <p:txBody>
          <a:bodyPr wrap="none" rtlCol="0">
            <a:spAutoFit/>
          </a:bodyPr>
          <a:lstStyle/>
          <a:p>
            <a:r>
              <a:rPr lang="en-US" altLang="zh-CN" sz="1200" smtClean="0">
                <a:solidFill>
                  <a:schemeClr val="tx1">
                    <a:lumMod val="75000"/>
                    <a:lumOff val="25000"/>
                  </a:schemeClr>
                </a:solidFill>
                <a:cs typeface="+mn-ea"/>
                <a:sym typeface="+mn-lt"/>
              </a:rPr>
              <a:t>VLAN1001</a:t>
            </a:r>
            <a:endParaRPr lang="zh-CN" altLang="en-US" sz="1200">
              <a:solidFill>
                <a:schemeClr val="tx1">
                  <a:lumMod val="75000"/>
                  <a:lumOff val="25000"/>
                </a:schemeClr>
              </a:solidFill>
              <a:cs typeface="+mn-ea"/>
              <a:sym typeface="+mn-lt"/>
            </a:endParaRPr>
          </a:p>
        </p:txBody>
      </p:sp>
      <p:sp>
        <p:nvSpPr>
          <p:cNvPr id="67" name="TextBox 32"/>
          <p:cNvSpPr txBox="1"/>
          <p:nvPr/>
        </p:nvSpPr>
        <p:spPr bwMode="gray">
          <a:xfrm>
            <a:off x="10500360" y="4958093"/>
            <a:ext cx="925253" cy="276999"/>
          </a:xfrm>
          <a:prstGeom prst="rect">
            <a:avLst/>
          </a:prstGeom>
          <a:noFill/>
        </p:spPr>
        <p:txBody>
          <a:bodyPr wrap="none" rtlCol="0">
            <a:spAutoFit/>
          </a:bodyPr>
          <a:lstStyle/>
          <a:p>
            <a:r>
              <a:rPr lang="en-US" altLang="zh-CN" sz="1200" smtClean="0">
                <a:solidFill>
                  <a:schemeClr val="tx1">
                    <a:lumMod val="75000"/>
                    <a:lumOff val="25000"/>
                  </a:schemeClr>
                </a:solidFill>
                <a:cs typeface="+mn-ea"/>
                <a:sym typeface="+mn-lt"/>
              </a:rPr>
              <a:t>VLAN1002</a:t>
            </a:r>
            <a:endParaRPr lang="zh-CN" altLang="en-US" sz="1200">
              <a:solidFill>
                <a:schemeClr val="tx1">
                  <a:lumMod val="75000"/>
                  <a:lumOff val="25000"/>
                </a:schemeClr>
              </a:solidFill>
              <a:cs typeface="+mn-ea"/>
              <a:sym typeface="+mn-lt"/>
            </a:endParaRPr>
          </a:p>
        </p:txBody>
      </p:sp>
      <p:sp>
        <p:nvSpPr>
          <p:cNvPr id="68" name="TextBox 31"/>
          <p:cNvSpPr txBox="1"/>
          <p:nvPr/>
        </p:nvSpPr>
        <p:spPr bwMode="gray">
          <a:xfrm>
            <a:off x="664782" y="5734652"/>
            <a:ext cx="5144358" cy="276999"/>
          </a:xfrm>
          <a:prstGeom prst="rect">
            <a:avLst/>
          </a:prstGeom>
          <a:noFill/>
        </p:spPr>
        <p:txBody>
          <a:bodyPr wrap="none" rtlCol="0">
            <a:spAutoFit/>
          </a:bodyPr>
          <a:lstStyle/>
          <a:p>
            <a:pPr algn="ctr"/>
            <a:r>
              <a:rPr lang="zh-CN" altLang="en-US" sz="1200" dirty="0">
                <a:cs typeface="+mn-ea"/>
                <a:sym typeface="+mn-lt"/>
              </a:rPr>
              <a:t>当超过规格限制时，如果不进行干预，则</a:t>
            </a:r>
            <a:r>
              <a:rPr lang="en-US" altLang="zh-CN" sz="1200" dirty="0">
                <a:cs typeface="+mn-ea"/>
                <a:sym typeface="+mn-lt"/>
              </a:rPr>
              <a:t>AP</a:t>
            </a:r>
            <a:r>
              <a:rPr lang="zh-CN" altLang="en-US" sz="1200" dirty="0">
                <a:cs typeface="+mn-ea"/>
                <a:sym typeface="+mn-lt"/>
              </a:rPr>
              <a:t>会随机建</a:t>
            </a:r>
            <a:r>
              <a:rPr lang="zh-CN" altLang="en-US" sz="1200" dirty="0" smtClean="0">
                <a:cs typeface="+mn-ea"/>
                <a:sym typeface="+mn-lt"/>
              </a:rPr>
              <a:t>组，影响调优效果。</a:t>
            </a:r>
            <a:endParaRPr lang="zh-CN" altLang="en-US" sz="1200" dirty="0">
              <a:cs typeface="+mn-ea"/>
              <a:sym typeface="+mn-lt"/>
            </a:endParaRPr>
          </a:p>
        </p:txBody>
      </p:sp>
      <p:sp>
        <p:nvSpPr>
          <p:cNvPr id="69" name="TextBox 31"/>
          <p:cNvSpPr txBox="1"/>
          <p:nvPr/>
        </p:nvSpPr>
        <p:spPr bwMode="gray">
          <a:xfrm>
            <a:off x="6518349" y="5746427"/>
            <a:ext cx="4943840" cy="461665"/>
          </a:xfrm>
          <a:prstGeom prst="rect">
            <a:avLst/>
          </a:prstGeom>
          <a:noFill/>
        </p:spPr>
        <p:txBody>
          <a:bodyPr wrap="square" rtlCol="0">
            <a:spAutoFit/>
          </a:bodyPr>
          <a:lstStyle/>
          <a:p>
            <a:r>
              <a:rPr lang="zh-CN" altLang="en-US" sz="1200" dirty="0">
                <a:cs typeface="+mn-ea"/>
                <a:sym typeface="+mn-lt"/>
              </a:rPr>
              <a:t>连续区域</a:t>
            </a:r>
            <a:r>
              <a:rPr lang="zh-CN" altLang="en-US" sz="1200" dirty="0" smtClean="0">
                <a:cs typeface="+mn-ea"/>
                <a:sym typeface="+mn-lt"/>
              </a:rPr>
              <a:t>内的</a:t>
            </a:r>
            <a:r>
              <a:rPr lang="en-US" altLang="zh-CN" sz="1200" dirty="0" smtClean="0">
                <a:cs typeface="+mn-ea"/>
                <a:sym typeface="+mn-lt"/>
              </a:rPr>
              <a:t>AP</a:t>
            </a:r>
            <a:r>
              <a:rPr lang="zh-CN" altLang="en-US" sz="1200" dirty="0" smtClean="0">
                <a:cs typeface="+mn-ea"/>
                <a:sym typeface="+mn-lt"/>
              </a:rPr>
              <a:t>（例如相邻</a:t>
            </a:r>
            <a:r>
              <a:rPr lang="zh-CN" altLang="en-US" sz="1200" dirty="0">
                <a:cs typeface="+mn-ea"/>
                <a:sym typeface="+mn-lt"/>
              </a:rPr>
              <a:t>的</a:t>
            </a:r>
            <a:r>
              <a:rPr lang="en-US" altLang="zh-CN" sz="1200" dirty="0">
                <a:cs typeface="+mn-ea"/>
                <a:sym typeface="+mn-lt"/>
              </a:rPr>
              <a:t>AP</a:t>
            </a:r>
            <a:r>
              <a:rPr lang="zh-CN" altLang="en-US" sz="1200" dirty="0">
                <a:cs typeface="+mn-ea"/>
                <a:sym typeface="+mn-lt"/>
              </a:rPr>
              <a:t>、同楼层的</a:t>
            </a:r>
            <a:r>
              <a:rPr lang="en-US" altLang="zh-CN" sz="1200" dirty="0">
                <a:cs typeface="+mn-ea"/>
                <a:sym typeface="+mn-lt"/>
              </a:rPr>
              <a:t>AP</a:t>
            </a:r>
            <a:r>
              <a:rPr lang="zh-CN" altLang="en-US" sz="1200" dirty="0" smtClean="0">
                <a:cs typeface="+mn-ea"/>
                <a:sym typeface="+mn-lt"/>
              </a:rPr>
              <a:t>）通过规划管理</a:t>
            </a:r>
            <a:r>
              <a:rPr lang="en-US" altLang="zh-CN" sz="1200" dirty="0" smtClean="0">
                <a:cs typeface="+mn-ea"/>
                <a:sym typeface="+mn-lt"/>
              </a:rPr>
              <a:t>VLAN</a:t>
            </a:r>
            <a:r>
              <a:rPr lang="zh-CN" altLang="en-US" sz="1200" dirty="0" smtClean="0">
                <a:cs typeface="+mn-ea"/>
                <a:sym typeface="+mn-lt"/>
              </a:rPr>
              <a:t>，划分到同一个组里，每个组内选举自己的</a:t>
            </a:r>
            <a:r>
              <a:rPr lang="en-US" altLang="zh-CN" sz="1200" dirty="0" smtClean="0">
                <a:cs typeface="+mn-ea"/>
                <a:sym typeface="+mn-lt"/>
              </a:rPr>
              <a:t>Leader AP</a:t>
            </a:r>
            <a:r>
              <a:rPr lang="zh-CN" altLang="en-US" sz="1200" dirty="0" smtClean="0">
                <a:cs typeface="+mn-ea"/>
                <a:sym typeface="+mn-lt"/>
              </a:rPr>
              <a:t>。</a:t>
            </a:r>
            <a:endParaRPr lang="zh-CN" altLang="en-US" sz="1200" dirty="0">
              <a:cs typeface="+mn-ea"/>
              <a:sym typeface="+mn-lt"/>
            </a:endParaRPr>
          </a:p>
        </p:txBody>
      </p:sp>
      <p:pic>
        <p:nvPicPr>
          <p:cNvPr id="76" name="图片 75" descr="AP.png"/>
          <p:cNvPicPr>
            <a:picLocks noChangeAspect="1"/>
          </p:cNvPicPr>
          <p:nvPr/>
        </p:nvPicPr>
        <p:blipFill>
          <a:blip r:embed="rId4" cstate="print"/>
          <a:stretch>
            <a:fillRect/>
          </a:stretch>
        </p:blipFill>
        <p:spPr bwMode="gray">
          <a:xfrm>
            <a:off x="7022543" y="3902395"/>
            <a:ext cx="368827" cy="301769"/>
          </a:xfrm>
          <a:prstGeom prst="rect">
            <a:avLst/>
          </a:prstGeom>
        </p:spPr>
      </p:pic>
      <p:pic>
        <p:nvPicPr>
          <p:cNvPr id="77" name="图片 76" descr="AP.png"/>
          <p:cNvPicPr>
            <a:picLocks noChangeAspect="1"/>
          </p:cNvPicPr>
          <p:nvPr/>
        </p:nvPicPr>
        <p:blipFill>
          <a:blip r:embed="rId4" cstate="print"/>
          <a:stretch>
            <a:fillRect/>
          </a:stretch>
        </p:blipFill>
        <p:spPr bwMode="gray">
          <a:xfrm>
            <a:off x="7785167" y="4546793"/>
            <a:ext cx="368827" cy="301769"/>
          </a:xfrm>
          <a:prstGeom prst="rect">
            <a:avLst/>
          </a:prstGeom>
        </p:spPr>
      </p:pic>
      <p:pic>
        <p:nvPicPr>
          <p:cNvPr id="78" name="图片 77" descr="AP.png"/>
          <p:cNvPicPr>
            <a:picLocks noChangeAspect="1"/>
          </p:cNvPicPr>
          <p:nvPr/>
        </p:nvPicPr>
        <p:blipFill>
          <a:blip r:embed="rId4" cstate="print"/>
          <a:stretch>
            <a:fillRect/>
          </a:stretch>
        </p:blipFill>
        <p:spPr bwMode="gray">
          <a:xfrm>
            <a:off x="10074535" y="5184651"/>
            <a:ext cx="368827" cy="301769"/>
          </a:xfrm>
          <a:prstGeom prst="rect">
            <a:avLst/>
          </a:prstGeom>
        </p:spPr>
      </p:pic>
      <p:pic>
        <p:nvPicPr>
          <p:cNvPr id="79" name="图片 72" descr="AP.png"/>
          <p:cNvPicPr>
            <a:picLocks noChangeAspect="1"/>
          </p:cNvPicPr>
          <p:nvPr/>
        </p:nvPicPr>
        <p:blipFill>
          <a:blip r:embed="rId4" cstate="print"/>
          <a:stretch>
            <a:fillRect/>
          </a:stretch>
        </p:blipFill>
        <p:spPr bwMode="gray">
          <a:xfrm>
            <a:off x="2007534" y="3903334"/>
            <a:ext cx="368827" cy="301769"/>
          </a:xfrm>
          <a:prstGeom prst="rect">
            <a:avLst/>
          </a:prstGeom>
        </p:spPr>
      </p:pic>
      <p:pic>
        <p:nvPicPr>
          <p:cNvPr id="80" name="图片 72" descr="AP.png"/>
          <p:cNvPicPr>
            <a:picLocks noChangeAspect="1"/>
          </p:cNvPicPr>
          <p:nvPr/>
        </p:nvPicPr>
        <p:blipFill>
          <a:blip r:embed="rId4" cstate="print"/>
          <a:stretch>
            <a:fillRect/>
          </a:stretch>
        </p:blipFill>
        <p:spPr bwMode="gray">
          <a:xfrm>
            <a:off x="3532093" y="4550245"/>
            <a:ext cx="368827" cy="301769"/>
          </a:xfrm>
          <a:prstGeom prst="rect">
            <a:avLst/>
          </a:prstGeom>
        </p:spPr>
      </p:pic>
      <p:pic>
        <p:nvPicPr>
          <p:cNvPr id="81" name="图片 72" descr="AP.png"/>
          <p:cNvPicPr>
            <a:picLocks noChangeAspect="1"/>
          </p:cNvPicPr>
          <p:nvPr/>
        </p:nvPicPr>
        <p:blipFill>
          <a:blip r:embed="rId4" cstate="print"/>
          <a:stretch>
            <a:fillRect/>
          </a:stretch>
        </p:blipFill>
        <p:spPr bwMode="gray">
          <a:xfrm>
            <a:off x="4294719" y="5184829"/>
            <a:ext cx="368827" cy="301769"/>
          </a:xfrm>
          <a:prstGeom prst="rect">
            <a:avLst/>
          </a:prstGeom>
        </p:spPr>
      </p:pic>
      <p:sp>
        <p:nvSpPr>
          <p:cNvPr id="88" name="五边形 87"/>
          <p:cNvSpPr/>
          <p:nvPr/>
        </p:nvSpPr>
        <p:spPr bwMode="gray">
          <a:xfrm>
            <a:off x="7608888"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燕尾形 88"/>
          <p:cNvSpPr/>
          <p:nvPr/>
        </p:nvSpPr>
        <p:spPr bwMode="gray">
          <a:xfrm>
            <a:off x="8418541"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gray">
          <a:xfrm>
            <a:off x="9228194"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燕尾形 91"/>
          <p:cNvSpPr/>
          <p:nvPr/>
        </p:nvSpPr>
        <p:spPr bwMode="gray">
          <a:xfrm>
            <a:off x="100378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燕尾形 92"/>
          <p:cNvSpPr/>
          <p:nvPr/>
        </p:nvSpPr>
        <p:spPr bwMode="gray">
          <a:xfrm>
            <a:off x="10847500"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39063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mtClean="0">
                <a:sym typeface="+mn-lt"/>
              </a:rPr>
              <a:t>射频调优：调优方式选择</a:t>
            </a:r>
            <a:endParaRPr lang="zh-CN" altLang="en-US">
              <a:sym typeface="+mn-lt"/>
            </a:endParaRPr>
          </a:p>
        </p:txBody>
      </p:sp>
      <p:sp>
        <p:nvSpPr>
          <p:cNvPr id="2" name="文本占位符 1"/>
          <p:cNvSpPr>
            <a:spLocks noGrp="1"/>
          </p:cNvSpPr>
          <p:nvPr>
            <p:ph type="body" sz="quarter" idx="10"/>
          </p:nvPr>
        </p:nvSpPr>
        <p:spPr>
          <a:xfrm>
            <a:off x="5878371" y="1449388"/>
            <a:ext cx="5870716" cy="4751387"/>
          </a:xfrm>
        </p:spPr>
        <p:txBody>
          <a:bodyPr/>
          <a:lstStyle/>
          <a:p>
            <a:r>
              <a:rPr lang="zh-CN" altLang="en-US" sz="1600" dirty="0" smtClean="0">
                <a:sym typeface="+mn-lt"/>
              </a:rPr>
              <a:t>支持三种射频调优方式：</a:t>
            </a:r>
          </a:p>
          <a:p>
            <a:pPr lvl="1"/>
            <a:r>
              <a:rPr lang="zh-CN" altLang="en-US" sz="1400" dirty="0" smtClean="0">
                <a:sym typeface="+mn-lt"/>
              </a:rPr>
              <a:t>自动模式：指定设备根据调优时间与间隔进行周期性的全局调优；</a:t>
            </a:r>
          </a:p>
          <a:p>
            <a:pPr lvl="1"/>
            <a:r>
              <a:rPr lang="zh-CN" altLang="en-US" sz="1400" dirty="0" smtClean="0">
                <a:sym typeface="+mn-lt"/>
              </a:rPr>
              <a:t>手动模式：设备不会主动进行调优，用户需在</a:t>
            </a:r>
            <a:r>
              <a:rPr lang="en-US" altLang="zh-CN" sz="1400" dirty="0" err="1" smtClean="0">
                <a:sym typeface="+mn-lt"/>
              </a:rPr>
              <a:t>iMaster</a:t>
            </a:r>
            <a:r>
              <a:rPr lang="en-US" altLang="zh-CN" sz="1400" dirty="0" smtClean="0">
                <a:sym typeface="+mn-lt"/>
              </a:rPr>
              <a:t> NCE-Campus</a:t>
            </a:r>
            <a:r>
              <a:rPr lang="zh-CN" altLang="en-US" sz="1400" dirty="0" smtClean="0">
                <a:sym typeface="+mn-lt"/>
              </a:rPr>
              <a:t>上手动对站点内的</a:t>
            </a:r>
            <a:r>
              <a:rPr lang="en-US" altLang="zh-CN" sz="1400" dirty="0" smtClean="0">
                <a:sym typeface="+mn-lt"/>
              </a:rPr>
              <a:t>AP</a:t>
            </a:r>
            <a:r>
              <a:rPr lang="zh-CN" altLang="en-US" sz="1400" dirty="0" smtClean="0">
                <a:sym typeface="+mn-lt"/>
              </a:rPr>
              <a:t>进行全局或者局部调优；</a:t>
            </a:r>
          </a:p>
          <a:p>
            <a:pPr lvl="1"/>
            <a:r>
              <a:rPr lang="zh-CN" altLang="en-US" sz="1400" dirty="0" smtClean="0">
                <a:sym typeface="+mn-lt"/>
              </a:rPr>
              <a:t>定时模式：指定设备仅在每天指定时刻触发全局调优。 </a:t>
            </a:r>
          </a:p>
          <a:p>
            <a:r>
              <a:rPr lang="en-US" altLang="zh-CN" sz="1600" dirty="0" smtClean="0">
                <a:sym typeface="+mn-lt"/>
              </a:rPr>
              <a:t>AP</a:t>
            </a:r>
            <a:r>
              <a:rPr lang="zh-CN" altLang="en-US" sz="1600" dirty="0" smtClean="0">
                <a:sym typeface="+mn-lt"/>
              </a:rPr>
              <a:t>上根据配置模式执行相应的调优探测，切换信道扫描周边邻居信息（扫描持续</a:t>
            </a:r>
            <a:r>
              <a:rPr lang="en-US" altLang="zh-CN" sz="1600" dirty="0" smtClean="0">
                <a:sym typeface="+mn-lt"/>
              </a:rPr>
              <a:t>15</a:t>
            </a:r>
            <a:r>
              <a:rPr lang="zh-CN" altLang="en-US" sz="1600" dirty="0" smtClean="0">
                <a:sym typeface="+mn-lt"/>
              </a:rPr>
              <a:t>分钟）；</a:t>
            </a:r>
          </a:p>
          <a:p>
            <a:r>
              <a:rPr lang="en-US" altLang="zh-CN" sz="1600" dirty="0" smtClean="0">
                <a:sym typeface="+mn-lt"/>
              </a:rPr>
              <a:t>AP</a:t>
            </a:r>
            <a:r>
              <a:rPr lang="zh-CN" altLang="en-US" sz="1600" dirty="0" smtClean="0">
                <a:sym typeface="+mn-lt"/>
              </a:rPr>
              <a:t>在探测期间，每</a:t>
            </a:r>
            <a:r>
              <a:rPr lang="en-US" altLang="zh-CN" sz="1600" dirty="0" smtClean="0">
                <a:sym typeface="+mn-lt"/>
              </a:rPr>
              <a:t>10</a:t>
            </a:r>
            <a:r>
              <a:rPr lang="zh-CN" altLang="en-US" sz="1600" dirty="0" smtClean="0">
                <a:sym typeface="+mn-lt"/>
              </a:rPr>
              <a:t>秒会将探测到的数据上报</a:t>
            </a:r>
            <a:r>
              <a:rPr lang="en-US" altLang="zh-CN" sz="1600" dirty="0" smtClean="0">
                <a:sym typeface="+mn-lt"/>
              </a:rPr>
              <a:t>Leader</a:t>
            </a:r>
            <a:r>
              <a:rPr lang="zh-CN" altLang="en-US" sz="1600" dirty="0" smtClean="0">
                <a:sym typeface="+mn-lt"/>
              </a:rPr>
              <a:t>；</a:t>
            </a:r>
          </a:p>
          <a:p>
            <a:r>
              <a:rPr lang="en-US" altLang="zh-CN" sz="1600" dirty="0" smtClean="0">
                <a:sym typeface="+mn-lt"/>
              </a:rPr>
              <a:t>Leader AP</a:t>
            </a:r>
            <a:r>
              <a:rPr lang="zh-CN" altLang="en-US" sz="1600" dirty="0" smtClean="0">
                <a:sym typeface="+mn-lt"/>
              </a:rPr>
              <a:t>每</a:t>
            </a:r>
            <a:r>
              <a:rPr lang="en-US" altLang="zh-CN" sz="1600" dirty="0" smtClean="0">
                <a:sym typeface="+mn-lt"/>
              </a:rPr>
              <a:t>5</a:t>
            </a:r>
            <a:r>
              <a:rPr lang="zh-CN" altLang="en-US" sz="1600" dirty="0" smtClean="0">
                <a:sym typeface="+mn-lt"/>
              </a:rPr>
              <a:t>分钟计算一次调优，共计算</a:t>
            </a:r>
            <a:r>
              <a:rPr lang="en-US" altLang="zh-CN" sz="1600" dirty="0" smtClean="0">
                <a:sym typeface="+mn-lt"/>
              </a:rPr>
              <a:t>3</a:t>
            </a:r>
            <a:r>
              <a:rPr lang="zh-CN" altLang="en-US" sz="1600" dirty="0" smtClean="0">
                <a:sym typeface="+mn-lt"/>
              </a:rPr>
              <a:t>次以达到算法收敛的效果；</a:t>
            </a:r>
          </a:p>
          <a:p>
            <a:r>
              <a:rPr lang="en-US" altLang="zh-CN" sz="1600" dirty="0" smtClean="0">
                <a:sym typeface="+mn-lt"/>
              </a:rPr>
              <a:t>Leader AP</a:t>
            </a:r>
            <a:r>
              <a:rPr lang="zh-CN" altLang="en-US" sz="1600" dirty="0" smtClean="0">
                <a:sym typeface="+mn-lt"/>
              </a:rPr>
              <a:t>将调优结果下发到组内的各个</a:t>
            </a:r>
            <a:r>
              <a:rPr lang="en-US" altLang="zh-CN" sz="1600" dirty="0" smtClean="0">
                <a:sym typeface="+mn-lt"/>
              </a:rPr>
              <a:t>AP</a:t>
            </a:r>
            <a:r>
              <a:rPr lang="zh-CN" altLang="en-US" sz="1600" dirty="0" smtClean="0">
                <a:sym typeface="+mn-lt"/>
              </a:rPr>
              <a:t>，包括计算好的信道、功率等。</a:t>
            </a:r>
          </a:p>
        </p:txBody>
      </p:sp>
      <p:sp>
        <p:nvSpPr>
          <p:cNvPr id="5" name="Oval 47"/>
          <p:cNvSpPr/>
          <p:nvPr/>
        </p:nvSpPr>
        <p:spPr bwMode="gray">
          <a:xfrm>
            <a:off x="1079135" y="3713204"/>
            <a:ext cx="3807070" cy="149287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Rounded Rectangle 50"/>
          <p:cNvSpPr/>
          <p:nvPr/>
        </p:nvSpPr>
        <p:spPr bwMode="gray">
          <a:xfrm>
            <a:off x="731838" y="3220109"/>
            <a:ext cx="4471447" cy="2286611"/>
          </a:xfrm>
          <a:prstGeom prst="roundRect">
            <a:avLst>
              <a:gd name="adj" fmla="val 348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图片 105" descr="AP.png"/>
          <p:cNvPicPr>
            <a:picLocks noChangeAspect="1"/>
          </p:cNvPicPr>
          <p:nvPr/>
        </p:nvPicPr>
        <p:blipFill>
          <a:blip r:embed="rId3" cstate="print"/>
          <a:stretch>
            <a:fillRect/>
          </a:stretch>
        </p:blipFill>
        <p:spPr bwMode="gray">
          <a:xfrm>
            <a:off x="1618056" y="4035728"/>
            <a:ext cx="405710" cy="331945"/>
          </a:xfrm>
          <a:prstGeom prst="rect">
            <a:avLst/>
          </a:prstGeom>
        </p:spPr>
      </p:pic>
      <p:pic>
        <p:nvPicPr>
          <p:cNvPr id="8" name="图片 105" descr="AP.png"/>
          <p:cNvPicPr>
            <a:picLocks noChangeAspect="1"/>
          </p:cNvPicPr>
          <p:nvPr/>
        </p:nvPicPr>
        <p:blipFill>
          <a:blip r:embed="rId3" cstate="print"/>
          <a:stretch>
            <a:fillRect/>
          </a:stretch>
        </p:blipFill>
        <p:spPr bwMode="gray">
          <a:xfrm>
            <a:off x="3167068" y="4035728"/>
            <a:ext cx="405710" cy="331945"/>
          </a:xfrm>
          <a:prstGeom prst="rect">
            <a:avLst/>
          </a:prstGeom>
        </p:spPr>
      </p:pic>
      <p:pic>
        <p:nvPicPr>
          <p:cNvPr id="9" name="图片 105" descr="AP.png"/>
          <p:cNvPicPr>
            <a:picLocks noChangeAspect="1"/>
          </p:cNvPicPr>
          <p:nvPr/>
        </p:nvPicPr>
        <p:blipFill>
          <a:blip r:embed="rId3" cstate="print"/>
          <a:stretch>
            <a:fillRect/>
          </a:stretch>
        </p:blipFill>
        <p:spPr bwMode="gray">
          <a:xfrm>
            <a:off x="3941575" y="4035728"/>
            <a:ext cx="405710" cy="331945"/>
          </a:xfrm>
          <a:prstGeom prst="rect">
            <a:avLst/>
          </a:prstGeom>
        </p:spPr>
      </p:pic>
      <p:sp>
        <p:nvSpPr>
          <p:cNvPr id="11" name="TextBox 55"/>
          <p:cNvSpPr txBox="1"/>
          <p:nvPr/>
        </p:nvSpPr>
        <p:spPr bwMode="gray">
          <a:xfrm>
            <a:off x="731839" y="3220109"/>
            <a:ext cx="747320" cy="276999"/>
          </a:xfrm>
          <a:prstGeom prst="rect">
            <a:avLst/>
          </a:prstGeom>
          <a:noFill/>
        </p:spPr>
        <p:txBody>
          <a:bodyPr wrap="none" rtlCol="0">
            <a:spAutoFit/>
          </a:bodyPr>
          <a:lstStyle/>
          <a:p>
            <a:r>
              <a:rPr lang="en-US" altLang="zh-CN" sz="1200" dirty="0" smtClean="0">
                <a:solidFill>
                  <a:schemeClr val="bg1">
                    <a:lumMod val="50000"/>
                  </a:schemeClr>
                </a:solidFill>
                <a:cs typeface="+mn-ea"/>
                <a:sym typeface="+mn-lt"/>
              </a:rPr>
              <a:t>Campus</a:t>
            </a:r>
            <a:endParaRPr lang="zh-CN" altLang="en-US" sz="1200" dirty="0">
              <a:solidFill>
                <a:schemeClr val="bg1">
                  <a:lumMod val="50000"/>
                </a:schemeClr>
              </a:solidFill>
              <a:cs typeface="+mn-ea"/>
              <a:sym typeface="+mn-lt"/>
            </a:endParaRPr>
          </a:p>
        </p:txBody>
      </p:sp>
      <p:pic>
        <p:nvPicPr>
          <p:cNvPr id="12" name="图片 72" descr="AP.png"/>
          <p:cNvPicPr>
            <a:picLocks noChangeAspect="1"/>
          </p:cNvPicPr>
          <p:nvPr/>
        </p:nvPicPr>
        <p:blipFill>
          <a:blip r:embed="rId4" cstate="print"/>
          <a:stretch>
            <a:fillRect/>
          </a:stretch>
        </p:blipFill>
        <p:spPr bwMode="gray">
          <a:xfrm>
            <a:off x="2393471" y="4036100"/>
            <a:ext cx="404800" cy="331200"/>
          </a:xfrm>
          <a:prstGeom prst="rect">
            <a:avLst/>
          </a:prstGeom>
        </p:spPr>
      </p:pic>
      <p:sp>
        <p:nvSpPr>
          <p:cNvPr id="14" name="Freeform 59"/>
          <p:cNvSpPr/>
          <p:nvPr/>
        </p:nvSpPr>
        <p:spPr bwMode="blackGray">
          <a:xfrm>
            <a:off x="1845965" y="2355334"/>
            <a:ext cx="1154011" cy="1546614"/>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3419 w 1183420"/>
              <a:gd name="connsiteY0" fmla="*/ 0 h 2497667"/>
              <a:gd name="connsiteX1" fmla="*/ 220187 w 1183420"/>
              <a:gd name="connsiteY1" fmla="*/ 1193800 h 2497667"/>
              <a:gd name="connsiteX2" fmla="*/ 55 w 1183420"/>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Lst>
            <a:ahLst/>
            <a:cxnLst>
              <a:cxn ang="0">
                <a:pos x="connsiteX0" y="connsiteY0"/>
              </a:cxn>
              <a:cxn ang="0">
                <a:pos x="connsiteX1" y="connsiteY1"/>
              </a:cxn>
              <a:cxn ang="0">
                <a:pos x="connsiteX2" y="connsiteY2"/>
              </a:cxn>
            </a:cxnLst>
            <a:rect l="l" t="t" r="r" b="b"/>
            <a:pathLst>
              <a:path w="1183419" h="2497667">
                <a:moveTo>
                  <a:pt x="1183419" y="0"/>
                </a:moveTo>
                <a:cubicBezTo>
                  <a:pt x="543338" y="568000"/>
                  <a:pt x="417414" y="777522"/>
                  <a:pt x="220187" y="1193800"/>
                </a:cubicBezTo>
                <a:cubicBezTo>
                  <a:pt x="22960" y="1610078"/>
                  <a:pt x="-1357" y="2171700"/>
                  <a:pt x="55" y="2497667"/>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Freeform 60"/>
          <p:cNvSpPr/>
          <p:nvPr/>
        </p:nvSpPr>
        <p:spPr bwMode="blackGray">
          <a:xfrm flipH="1">
            <a:off x="3006777" y="2355334"/>
            <a:ext cx="1122977" cy="1546614"/>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284851 w 1284851"/>
              <a:gd name="connsiteY0" fmla="*/ 0 h 2497667"/>
              <a:gd name="connsiteX1" fmla="*/ 220253 w 1284851"/>
              <a:gd name="connsiteY1" fmla="*/ 1193800 h 2497667"/>
              <a:gd name="connsiteX2" fmla="*/ 121 w 1284851"/>
              <a:gd name="connsiteY2" fmla="*/ 2497667 h 2497667"/>
              <a:gd name="connsiteX0" fmla="*/ 1284851 w 1284851"/>
              <a:gd name="connsiteY0" fmla="*/ 0 h 2497667"/>
              <a:gd name="connsiteX1" fmla="*/ 220253 w 1284851"/>
              <a:gd name="connsiteY1" fmla="*/ 1193800 h 2497667"/>
              <a:gd name="connsiteX2" fmla="*/ 121 w 1284851"/>
              <a:gd name="connsiteY2" fmla="*/ 2497667 h 2497667"/>
            </a:gdLst>
            <a:ahLst/>
            <a:cxnLst>
              <a:cxn ang="0">
                <a:pos x="connsiteX0" y="connsiteY0"/>
              </a:cxn>
              <a:cxn ang="0">
                <a:pos x="connsiteX1" y="connsiteY1"/>
              </a:cxn>
              <a:cxn ang="0">
                <a:pos x="connsiteX2" y="connsiteY2"/>
              </a:cxn>
            </a:cxnLst>
            <a:rect l="l" t="t" r="r" b="b"/>
            <a:pathLst>
              <a:path w="1284851" h="2497667">
                <a:moveTo>
                  <a:pt x="1284851" y="0"/>
                </a:moveTo>
                <a:cubicBezTo>
                  <a:pt x="647485" y="525992"/>
                  <a:pt x="434375" y="777522"/>
                  <a:pt x="220253" y="1193800"/>
                </a:cubicBezTo>
                <a:cubicBezTo>
                  <a:pt x="6131" y="1610078"/>
                  <a:pt x="-1291" y="2171700"/>
                  <a:pt x="121" y="2497667"/>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Freeform 61"/>
          <p:cNvSpPr/>
          <p:nvPr/>
        </p:nvSpPr>
        <p:spPr bwMode="blackGray">
          <a:xfrm>
            <a:off x="2605714" y="2355334"/>
            <a:ext cx="396757" cy="1546614"/>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Lst>
            <a:ahLst/>
            <a:cxnLst>
              <a:cxn ang="0">
                <a:pos x="connsiteX0" y="connsiteY0"/>
              </a:cxn>
              <a:cxn ang="0">
                <a:pos x="connsiteX1" y="connsiteY1"/>
              </a:cxn>
              <a:cxn ang="0">
                <a:pos x="connsiteX2" y="connsiteY2"/>
              </a:cxn>
            </a:cxnLst>
            <a:rect l="l" t="t" r="r" b="b"/>
            <a:pathLst>
              <a:path w="1092236" h="2497667">
                <a:moveTo>
                  <a:pt x="1092236" y="0"/>
                </a:moveTo>
                <a:cubicBezTo>
                  <a:pt x="585647" y="579967"/>
                  <a:pt x="402202" y="777522"/>
                  <a:pt x="220169" y="1193800"/>
                </a:cubicBezTo>
                <a:cubicBezTo>
                  <a:pt x="38136" y="1610078"/>
                  <a:pt x="-1375" y="2171700"/>
                  <a:pt x="37" y="2497667"/>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Freeform 62"/>
          <p:cNvSpPr/>
          <p:nvPr/>
        </p:nvSpPr>
        <p:spPr bwMode="blackGray">
          <a:xfrm flipH="1">
            <a:off x="3004966" y="2357301"/>
            <a:ext cx="434657" cy="1544648"/>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1128 w 1181127"/>
              <a:gd name="connsiteY0" fmla="*/ 0 h 2497667"/>
              <a:gd name="connsiteX1" fmla="*/ 220186 w 1181127"/>
              <a:gd name="connsiteY1" fmla="*/ 1193800 h 2497667"/>
              <a:gd name="connsiteX2" fmla="*/ 54 w 1181127"/>
              <a:gd name="connsiteY2" fmla="*/ 2497667 h 2497667"/>
              <a:gd name="connsiteX0" fmla="*/ 1216691 w 1216691"/>
              <a:gd name="connsiteY0" fmla="*/ 0 h 2494492"/>
              <a:gd name="connsiteX1" fmla="*/ 220200 w 1216691"/>
              <a:gd name="connsiteY1" fmla="*/ 1190625 h 2494492"/>
              <a:gd name="connsiteX2" fmla="*/ 68 w 1216691"/>
              <a:gd name="connsiteY2" fmla="*/ 2494492 h 2494492"/>
              <a:gd name="connsiteX0" fmla="*/ 1216691 w 1216691"/>
              <a:gd name="connsiteY0" fmla="*/ 0 h 2494492"/>
              <a:gd name="connsiteX1" fmla="*/ 220200 w 1216691"/>
              <a:gd name="connsiteY1" fmla="*/ 1190625 h 2494492"/>
              <a:gd name="connsiteX2" fmla="*/ 68 w 1216691"/>
              <a:gd name="connsiteY2" fmla="*/ 2494492 h 2494492"/>
            </a:gdLst>
            <a:ahLst/>
            <a:cxnLst>
              <a:cxn ang="0">
                <a:pos x="connsiteX0" y="connsiteY0"/>
              </a:cxn>
              <a:cxn ang="0">
                <a:pos x="connsiteX1" y="connsiteY1"/>
              </a:cxn>
              <a:cxn ang="0">
                <a:pos x="connsiteX2" y="connsiteY2"/>
              </a:cxn>
            </a:cxnLst>
            <a:rect l="l" t="t" r="r" b="b"/>
            <a:pathLst>
              <a:path w="1216691" h="2494492">
                <a:moveTo>
                  <a:pt x="1216691" y="0"/>
                </a:moveTo>
                <a:cubicBezTo>
                  <a:pt x="567904" y="592667"/>
                  <a:pt x="422970" y="774876"/>
                  <a:pt x="220200" y="1190625"/>
                </a:cubicBezTo>
                <a:cubicBezTo>
                  <a:pt x="17430" y="1606374"/>
                  <a:pt x="-1344" y="2168525"/>
                  <a:pt x="68" y="2494492"/>
                </a:cubicBezTo>
              </a:path>
            </a:pathLst>
          </a:custGeom>
          <a:noFill/>
          <a:ln w="19050">
            <a:solidFill>
              <a:srgbClr val="EC7061"/>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TextBox 63"/>
          <p:cNvSpPr txBox="1"/>
          <p:nvPr/>
        </p:nvSpPr>
        <p:spPr bwMode="gray">
          <a:xfrm>
            <a:off x="3577567" y="2494348"/>
            <a:ext cx="1107996" cy="276999"/>
          </a:xfrm>
          <a:prstGeom prst="rect">
            <a:avLst/>
          </a:prstGeom>
          <a:noFill/>
        </p:spPr>
        <p:txBody>
          <a:bodyPr wrap="none" rtlCol="0">
            <a:spAutoFit/>
          </a:bodyPr>
          <a:lstStyle/>
          <a:p>
            <a:r>
              <a:rPr lang="zh-CN" altLang="en-US" sz="1200" b="1" dirty="0" smtClean="0">
                <a:solidFill>
                  <a:srgbClr val="EC7061"/>
                </a:solidFill>
                <a:cs typeface="+mn-ea"/>
                <a:sym typeface="+mn-lt"/>
              </a:rPr>
              <a:t>下发调优命令</a:t>
            </a:r>
            <a:endParaRPr lang="zh-CN" altLang="en-US" sz="1200" b="1" dirty="0">
              <a:solidFill>
                <a:srgbClr val="EC7061"/>
              </a:solidFill>
              <a:cs typeface="+mn-ea"/>
              <a:sym typeface="+mn-lt"/>
            </a:endParaRPr>
          </a:p>
        </p:txBody>
      </p:sp>
      <p:sp>
        <p:nvSpPr>
          <p:cNvPr id="19" name="Oval 64"/>
          <p:cNvSpPr>
            <a:spLocks noChangeAspect="1"/>
          </p:cNvSpPr>
          <p:nvPr/>
        </p:nvSpPr>
        <p:spPr bwMode="gray">
          <a:xfrm>
            <a:off x="3400182" y="2515318"/>
            <a:ext cx="211977" cy="211977"/>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cs typeface="+mn-ea"/>
                <a:sym typeface="+mn-lt"/>
              </a:rPr>
              <a:t>1</a:t>
            </a:r>
            <a:endParaRPr lang="zh-CN" altLang="en-US" sz="1400" b="1">
              <a:solidFill>
                <a:schemeClr val="bg1"/>
              </a:solidFill>
              <a:cs typeface="+mn-ea"/>
              <a:sym typeface="+mn-lt"/>
            </a:endParaRPr>
          </a:p>
        </p:txBody>
      </p:sp>
      <p:sp>
        <p:nvSpPr>
          <p:cNvPr id="20" name="Oval 68"/>
          <p:cNvSpPr>
            <a:spLocks noChangeAspect="1"/>
          </p:cNvSpPr>
          <p:nvPr/>
        </p:nvSpPr>
        <p:spPr bwMode="gray">
          <a:xfrm>
            <a:off x="1112579" y="4242966"/>
            <a:ext cx="211977" cy="211977"/>
          </a:xfrm>
          <a:prstGeom prst="ellipse">
            <a:avLst/>
          </a:prstGeom>
          <a:solidFill>
            <a:srgbClr val="56C4D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cs typeface="+mn-ea"/>
                <a:sym typeface="+mn-lt"/>
              </a:rPr>
              <a:t>2</a:t>
            </a:r>
            <a:endParaRPr lang="zh-CN" altLang="en-US" sz="1400" b="1" dirty="0">
              <a:solidFill>
                <a:schemeClr val="bg1"/>
              </a:solidFill>
              <a:cs typeface="+mn-ea"/>
              <a:sym typeface="+mn-lt"/>
            </a:endParaRPr>
          </a:p>
        </p:txBody>
      </p:sp>
      <p:sp>
        <p:nvSpPr>
          <p:cNvPr id="21" name="TextBox 69"/>
          <p:cNvSpPr txBox="1"/>
          <p:nvPr/>
        </p:nvSpPr>
        <p:spPr bwMode="gray">
          <a:xfrm>
            <a:off x="751564" y="4474237"/>
            <a:ext cx="849283" cy="461665"/>
          </a:xfrm>
          <a:prstGeom prst="rect">
            <a:avLst/>
          </a:prstGeom>
          <a:noFill/>
        </p:spPr>
        <p:txBody>
          <a:bodyPr wrap="square" rtlCol="0">
            <a:spAutoFit/>
          </a:bodyPr>
          <a:lstStyle/>
          <a:p>
            <a:pPr algn="ctr"/>
            <a:r>
              <a:rPr lang="zh-CN" altLang="en-US" sz="1200" b="1" smtClean="0">
                <a:solidFill>
                  <a:srgbClr val="30B5C5"/>
                </a:solidFill>
                <a:cs typeface="+mn-ea"/>
                <a:sym typeface="+mn-lt"/>
              </a:rPr>
              <a:t>所有</a:t>
            </a:r>
            <a:r>
              <a:rPr lang="en-US" altLang="zh-CN" sz="1200" b="1" smtClean="0">
                <a:solidFill>
                  <a:srgbClr val="30B5C5"/>
                </a:solidFill>
                <a:cs typeface="+mn-ea"/>
                <a:sym typeface="+mn-lt"/>
              </a:rPr>
              <a:t>AP</a:t>
            </a:r>
            <a:r>
              <a:rPr lang="zh-CN" altLang="en-US" sz="1200" b="1">
                <a:solidFill>
                  <a:srgbClr val="30B5C5"/>
                </a:solidFill>
                <a:cs typeface="+mn-ea"/>
                <a:sym typeface="+mn-lt"/>
              </a:rPr>
              <a:t>进</a:t>
            </a:r>
            <a:r>
              <a:rPr lang="zh-CN" altLang="en-US" sz="1200" b="1" smtClean="0">
                <a:solidFill>
                  <a:srgbClr val="30B5C5"/>
                </a:solidFill>
                <a:cs typeface="+mn-ea"/>
                <a:sym typeface="+mn-lt"/>
              </a:rPr>
              <a:t>行探测</a:t>
            </a:r>
            <a:endParaRPr lang="zh-CN" altLang="en-US" sz="1200" b="1">
              <a:solidFill>
                <a:srgbClr val="30B5C5"/>
              </a:solidFill>
              <a:cs typeface="+mn-ea"/>
              <a:sym typeface="+mn-lt"/>
            </a:endParaRPr>
          </a:p>
        </p:txBody>
      </p:sp>
      <p:sp>
        <p:nvSpPr>
          <p:cNvPr id="22" name="Freeform 70"/>
          <p:cNvSpPr/>
          <p:nvPr/>
        </p:nvSpPr>
        <p:spPr bwMode="invGray">
          <a:xfrm>
            <a:off x="1845965" y="4384234"/>
            <a:ext cx="713799" cy="239935"/>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3419 w 1183420"/>
              <a:gd name="connsiteY0" fmla="*/ 0 h 2497667"/>
              <a:gd name="connsiteX1" fmla="*/ 220187 w 1183420"/>
              <a:gd name="connsiteY1" fmla="*/ 1193800 h 2497667"/>
              <a:gd name="connsiteX2" fmla="*/ 55 w 1183420"/>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866804 w 866804"/>
              <a:gd name="connsiteY0" fmla="*/ 0 h 2497667"/>
              <a:gd name="connsiteX1" fmla="*/ 220187 w 866804"/>
              <a:gd name="connsiteY1" fmla="*/ 1193800 h 2497667"/>
              <a:gd name="connsiteX2" fmla="*/ 55 w 866804"/>
              <a:gd name="connsiteY2" fmla="*/ 2497667 h 2497667"/>
              <a:gd name="connsiteX0" fmla="*/ 666053 w 1192411"/>
              <a:gd name="connsiteY0" fmla="*/ 70182 h 1322047"/>
              <a:gd name="connsiteX1" fmla="*/ 19436 w 1192411"/>
              <a:gd name="connsiteY1" fmla="*/ 1263982 h 1322047"/>
              <a:gd name="connsiteX2" fmla="*/ 1192411 w 1192411"/>
              <a:gd name="connsiteY2" fmla="*/ 36603 h 1322047"/>
              <a:gd name="connsiteX0" fmla="*/ 671047 w 1197405"/>
              <a:gd name="connsiteY0" fmla="*/ 33578 h 1330423"/>
              <a:gd name="connsiteX1" fmla="*/ 24430 w 1197405"/>
              <a:gd name="connsiteY1" fmla="*/ 1227378 h 1330423"/>
              <a:gd name="connsiteX2" fmla="*/ 1197405 w 1197405"/>
              <a:gd name="connsiteY2" fmla="*/ -1 h 1330423"/>
              <a:gd name="connsiteX0" fmla="*/ 272209 w 798567"/>
              <a:gd name="connsiteY0" fmla="*/ 33579 h 649159"/>
              <a:gd name="connsiteX1" fmla="*/ 151173 w 798567"/>
              <a:gd name="connsiteY1" fmla="*/ 407737 h 649159"/>
              <a:gd name="connsiteX2" fmla="*/ 798567 w 798567"/>
              <a:gd name="connsiteY2" fmla="*/ 0 h 649159"/>
              <a:gd name="connsiteX0" fmla="*/ 0 w 526358"/>
              <a:gd name="connsiteY0" fmla="*/ 33579 h 33579"/>
              <a:gd name="connsiteX1" fmla="*/ 526358 w 526358"/>
              <a:gd name="connsiteY1" fmla="*/ 0 h 33579"/>
              <a:gd name="connsiteX0" fmla="*/ 0 w 627675"/>
              <a:gd name="connsiteY0" fmla="*/ 21526 h 21526"/>
              <a:gd name="connsiteX1" fmla="*/ 627675 w 627675"/>
              <a:gd name="connsiteY1" fmla="*/ 0 h 21526"/>
              <a:gd name="connsiteX0" fmla="*/ 0 w 627675"/>
              <a:gd name="connsiteY0" fmla="*/ 21526 h 180523"/>
              <a:gd name="connsiteX1" fmla="*/ 627675 w 627675"/>
              <a:gd name="connsiteY1" fmla="*/ 0 h 180523"/>
              <a:gd name="connsiteX0" fmla="*/ 0 w 627675"/>
              <a:gd name="connsiteY0" fmla="*/ 21526 h 265291"/>
              <a:gd name="connsiteX1" fmla="*/ 627675 w 627675"/>
              <a:gd name="connsiteY1" fmla="*/ 0 h 265291"/>
              <a:gd name="connsiteX0" fmla="*/ 0 w 602346"/>
              <a:gd name="connsiteY0" fmla="*/ 33579 h 272063"/>
              <a:gd name="connsiteX1" fmla="*/ 602346 w 602346"/>
              <a:gd name="connsiteY1" fmla="*/ 0 h 272063"/>
              <a:gd name="connsiteX0" fmla="*/ 0 w 597035"/>
              <a:gd name="connsiteY0" fmla="*/ 15107 h 261748"/>
              <a:gd name="connsiteX1" fmla="*/ 597035 w 597035"/>
              <a:gd name="connsiteY1" fmla="*/ 0 h 261748"/>
            </a:gdLst>
            <a:ahLst/>
            <a:cxnLst>
              <a:cxn ang="0">
                <a:pos x="connsiteX0" y="connsiteY0"/>
              </a:cxn>
              <a:cxn ang="0">
                <a:pos x="connsiteX1" y="connsiteY1"/>
              </a:cxn>
            </a:cxnLst>
            <a:rect l="l" t="t" r="r" b="b"/>
            <a:pathLst>
              <a:path w="597035" h="261748">
                <a:moveTo>
                  <a:pt x="0" y="15107"/>
                </a:moveTo>
                <a:cubicBezTo>
                  <a:pt x="215557" y="381588"/>
                  <a:pt x="413140" y="308513"/>
                  <a:pt x="597035" y="0"/>
                </a:cubicBezTo>
              </a:path>
            </a:pathLst>
          </a:custGeom>
          <a:noFill/>
          <a:ln w="19050">
            <a:solidFill>
              <a:srgbClr val="00B050"/>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Freeform 71"/>
          <p:cNvSpPr/>
          <p:nvPr/>
        </p:nvSpPr>
        <p:spPr bwMode="invGray">
          <a:xfrm flipH="1">
            <a:off x="2666958" y="4384234"/>
            <a:ext cx="741116" cy="239935"/>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3419 w 1183420"/>
              <a:gd name="connsiteY0" fmla="*/ 0 h 2497667"/>
              <a:gd name="connsiteX1" fmla="*/ 220187 w 1183420"/>
              <a:gd name="connsiteY1" fmla="*/ 1193800 h 2497667"/>
              <a:gd name="connsiteX2" fmla="*/ 55 w 1183420"/>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866804 w 866804"/>
              <a:gd name="connsiteY0" fmla="*/ 0 h 2497667"/>
              <a:gd name="connsiteX1" fmla="*/ 220187 w 866804"/>
              <a:gd name="connsiteY1" fmla="*/ 1193800 h 2497667"/>
              <a:gd name="connsiteX2" fmla="*/ 55 w 866804"/>
              <a:gd name="connsiteY2" fmla="*/ 2497667 h 2497667"/>
              <a:gd name="connsiteX0" fmla="*/ 666053 w 1192411"/>
              <a:gd name="connsiteY0" fmla="*/ 70182 h 1322047"/>
              <a:gd name="connsiteX1" fmla="*/ 19436 w 1192411"/>
              <a:gd name="connsiteY1" fmla="*/ 1263982 h 1322047"/>
              <a:gd name="connsiteX2" fmla="*/ 1192411 w 1192411"/>
              <a:gd name="connsiteY2" fmla="*/ 36603 h 1322047"/>
              <a:gd name="connsiteX0" fmla="*/ 671047 w 1197405"/>
              <a:gd name="connsiteY0" fmla="*/ 33578 h 1330423"/>
              <a:gd name="connsiteX1" fmla="*/ 24430 w 1197405"/>
              <a:gd name="connsiteY1" fmla="*/ 1227378 h 1330423"/>
              <a:gd name="connsiteX2" fmla="*/ 1197405 w 1197405"/>
              <a:gd name="connsiteY2" fmla="*/ -1 h 1330423"/>
              <a:gd name="connsiteX0" fmla="*/ 272209 w 798567"/>
              <a:gd name="connsiteY0" fmla="*/ 33579 h 649159"/>
              <a:gd name="connsiteX1" fmla="*/ 151173 w 798567"/>
              <a:gd name="connsiteY1" fmla="*/ 407737 h 649159"/>
              <a:gd name="connsiteX2" fmla="*/ 798567 w 798567"/>
              <a:gd name="connsiteY2" fmla="*/ 0 h 649159"/>
              <a:gd name="connsiteX0" fmla="*/ 0 w 526358"/>
              <a:gd name="connsiteY0" fmla="*/ 33579 h 33579"/>
              <a:gd name="connsiteX1" fmla="*/ 526358 w 526358"/>
              <a:gd name="connsiteY1" fmla="*/ 0 h 33579"/>
              <a:gd name="connsiteX0" fmla="*/ 0 w 627675"/>
              <a:gd name="connsiteY0" fmla="*/ 21526 h 21526"/>
              <a:gd name="connsiteX1" fmla="*/ 627675 w 627675"/>
              <a:gd name="connsiteY1" fmla="*/ 0 h 21526"/>
              <a:gd name="connsiteX0" fmla="*/ 0 w 627675"/>
              <a:gd name="connsiteY0" fmla="*/ 21526 h 180523"/>
              <a:gd name="connsiteX1" fmla="*/ 627675 w 627675"/>
              <a:gd name="connsiteY1" fmla="*/ 0 h 180523"/>
              <a:gd name="connsiteX0" fmla="*/ 0 w 627675"/>
              <a:gd name="connsiteY0" fmla="*/ 21526 h 265291"/>
              <a:gd name="connsiteX1" fmla="*/ 627675 w 627675"/>
              <a:gd name="connsiteY1" fmla="*/ 0 h 265291"/>
              <a:gd name="connsiteX0" fmla="*/ 0 w 602346"/>
              <a:gd name="connsiteY0" fmla="*/ 33579 h 272063"/>
              <a:gd name="connsiteX1" fmla="*/ 602346 w 602346"/>
              <a:gd name="connsiteY1" fmla="*/ 0 h 272063"/>
              <a:gd name="connsiteX0" fmla="*/ 0 w 597035"/>
              <a:gd name="connsiteY0" fmla="*/ 15107 h 261748"/>
              <a:gd name="connsiteX1" fmla="*/ 597035 w 597035"/>
              <a:gd name="connsiteY1" fmla="*/ 0 h 261748"/>
            </a:gdLst>
            <a:ahLst/>
            <a:cxnLst>
              <a:cxn ang="0">
                <a:pos x="connsiteX0" y="connsiteY0"/>
              </a:cxn>
              <a:cxn ang="0">
                <a:pos x="connsiteX1" y="connsiteY1"/>
              </a:cxn>
            </a:cxnLst>
            <a:rect l="l" t="t" r="r" b="b"/>
            <a:pathLst>
              <a:path w="597035" h="261748">
                <a:moveTo>
                  <a:pt x="0" y="15107"/>
                </a:moveTo>
                <a:cubicBezTo>
                  <a:pt x="215557" y="381588"/>
                  <a:pt x="413140" y="308513"/>
                  <a:pt x="597035" y="0"/>
                </a:cubicBezTo>
              </a:path>
            </a:pathLst>
          </a:custGeom>
          <a:noFill/>
          <a:ln w="19050">
            <a:solidFill>
              <a:srgbClr val="00B050"/>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Freeform 72"/>
          <p:cNvSpPr/>
          <p:nvPr/>
        </p:nvSpPr>
        <p:spPr bwMode="invGray">
          <a:xfrm flipH="1">
            <a:off x="2593013" y="4388466"/>
            <a:ext cx="1566523" cy="455002"/>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3419 w 1183420"/>
              <a:gd name="connsiteY0" fmla="*/ 0 h 2497667"/>
              <a:gd name="connsiteX1" fmla="*/ 220187 w 1183420"/>
              <a:gd name="connsiteY1" fmla="*/ 1193800 h 2497667"/>
              <a:gd name="connsiteX2" fmla="*/ 55 w 1183420"/>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866804 w 866804"/>
              <a:gd name="connsiteY0" fmla="*/ 0 h 2497667"/>
              <a:gd name="connsiteX1" fmla="*/ 220187 w 866804"/>
              <a:gd name="connsiteY1" fmla="*/ 1193800 h 2497667"/>
              <a:gd name="connsiteX2" fmla="*/ 55 w 866804"/>
              <a:gd name="connsiteY2" fmla="*/ 2497667 h 2497667"/>
              <a:gd name="connsiteX0" fmla="*/ 666053 w 1192411"/>
              <a:gd name="connsiteY0" fmla="*/ 70182 h 1322047"/>
              <a:gd name="connsiteX1" fmla="*/ 19436 w 1192411"/>
              <a:gd name="connsiteY1" fmla="*/ 1263982 h 1322047"/>
              <a:gd name="connsiteX2" fmla="*/ 1192411 w 1192411"/>
              <a:gd name="connsiteY2" fmla="*/ 36603 h 1322047"/>
              <a:gd name="connsiteX0" fmla="*/ 671047 w 1197405"/>
              <a:gd name="connsiteY0" fmla="*/ 33578 h 1330423"/>
              <a:gd name="connsiteX1" fmla="*/ 24430 w 1197405"/>
              <a:gd name="connsiteY1" fmla="*/ 1227378 h 1330423"/>
              <a:gd name="connsiteX2" fmla="*/ 1197405 w 1197405"/>
              <a:gd name="connsiteY2" fmla="*/ -1 h 1330423"/>
              <a:gd name="connsiteX0" fmla="*/ 272209 w 798567"/>
              <a:gd name="connsiteY0" fmla="*/ 33579 h 649159"/>
              <a:gd name="connsiteX1" fmla="*/ 151173 w 798567"/>
              <a:gd name="connsiteY1" fmla="*/ 407737 h 649159"/>
              <a:gd name="connsiteX2" fmla="*/ 798567 w 798567"/>
              <a:gd name="connsiteY2" fmla="*/ 0 h 649159"/>
              <a:gd name="connsiteX0" fmla="*/ 0 w 526358"/>
              <a:gd name="connsiteY0" fmla="*/ 33579 h 33579"/>
              <a:gd name="connsiteX1" fmla="*/ 526358 w 526358"/>
              <a:gd name="connsiteY1" fmla="*/ 0 h 33579"/>
              <a:gd name="connsiteX0" fmla="*/ 0 w 627675"/>
              <a:gd name="connsiteY0" fmla="*/ 21526 h 21526"/>
              <a:gd name="connsiteX1" fmla="*/ 627675 w 627675"/>
              <a:gd name="connsiteY1" fmla="*/ 0 h 21526"/>
              <a:gd name="connsiteX0" fmla="*/ 0 w 627675"/>
              <a:gd name="connsiteY0" fmla="*/ 21526 h 180523"/>
              <a:gd name="connsiteX1" fmla="*/ 627675 w 627675"/>
              <a:gd name="connsiteY1" fmla="*/ 0 h 180523"/>
              <a:gd name="connsiteX0" fmla="*/ 0 w 627675"/>
              <a:gd name="connsiteY0" fmla="*/ 21526 h 265291"/>
              <a:gd name="connsiteX1" fmla="*/ 627675 w 627675"/>
              <a:gd name="connsiteY1" fmla="*/ 0 h 265291"/>
              <a:gd name="connsiteX0" fmla="*/ 0 w 602346"/>
              <a:gd name="connsiteY0" fmla="*/ 33579 h 272063"/>
              <a:gd name="connsiteX1" fmla="*/ 602346 w 602346"/>
              <a:gd name="connsiteY1" fmla="*/ 0 h 272063"/>
              <a:gd name="connsiteX0" fmla="*/ 0 w 597035"/>
              <a:gd name="connsiteY0" fmla="*/ 15107 h 261748"/>
              <a:gd name="connsiteX1" fmla="*/ 597035 w 597035"/>
              <a:gd name="connsiteY1" fmla="*/ 0 h 261748"/>
              <a:gd name="connsiteX0" fmla="*/ 0 w 594595"/>
              <a:gd name="connsiteY0" fmla="*/ 1867 h 254582"/>
              <a:gd name="connsiteX1" fmla="*/ 594595 w 594595"/>
              <a:gd name="connsiteY1" fmla="*/ 0 h 254582"/>
              <a:gd name="connsiteX0" fmla="*/ 0 w 594595"/>
              <a:gd name="connsiteY0" fmla="*/ 1867 h 252866"/>
              <a:gd name="connsiteX1" fmla="*/ 594595 w 594595"/>
              <a:gd name="connsiteY1" fmla="*/ 0 h 252866"/>
              <a:gd name="connsiteX0" fmla="*/ 0 w 603542"/>
              <a:gd name="connsiteY0" fmla="*/ 9089 h 256772"/>
              <a:gd name="connsiteX1" fmla="*/ 603542 w 603542"/>
              <a:gd name="connsiteY1" fmla="*/ 0 h 256772"/>
              <a:gd name="connsiteX0" fmla="*/ 0 w 596222"/>
              <a:gd name="connsiteY0" fmla="*/ 9089 h 256772"/>
              <a:gd name="connsiteX1" fmla="*/ 596222 w 596222"/>
              <a:gd name="connsiteY1" fmla="*/ 0 h 256772"/>
              <a:gd name="connsiteX0" fmla="*/ 0 w 601915"/>
              <a:gd name="connsiteY0" fmla="*/ 12700 h 258747"/>
              <a:gd name="connsiteX1" fmla="*/ 601915 w 601915"/>
              <a:gd name="connsiteY1" fmla="*/ 0 h 258747"/>
            </a:gdLst>
            <a:ahLst/>
            <a:cxnLst>
              <a:cxn ang="0">
                <a:pos x="connsiteX0" y="connsiteY0"/>
              </a:cxn>
              <a:cxn ang="0">
                <a:pos x="connsiteX1" y="connsiteY1"/>
              </a:cxn>
            </a:cxnLst>
            <a:rect l="l" t="t" r="r" b="b"/>
            <a:pathLst>
              <a:path w="601915" h="258747">
                <a:moveTo>
                  <a:pt x="0" y="12700"/>
                </a:moveTo>
                <a:cubicBezTo>
                  <a:pt x="215557" y="379181"/>
                  <a:pt x="452179" y="303698"/>
                  <a:pt x="601915" y="0"/>
                </a:cubicBezTo>
              </a:path>
            </a:pathLst>
          </a:custGeom>
          <a:noFill/>
          <a:ln w="19050">
            <a:solidFill>
              <a:srgbClr val="00B050"/>
            </a:solidFill>
            <a:prstDash val="solid"/>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Oval 75"/>
          <p:cNvSpPr>
            <a:spLocks noChangeAspect="1"/>
          </p:cNvSpPr>
          <p:nvPr/>
        </p:nvSpPr>
        <p:spPr bwMode="gray">
          <a:xfrm>
            <a:off x="2454981" y="4632537"/>
            <a:ext cx="211977" cy="211977"/>
          </a:xfrm>
          <a:prstGeom prst="ellipse">
            <a:avLst/>
          </a:prstGeom>
          <a:solidFill>
            <a:srgbClr val="FF993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cs typeface="+mn-ea"/>
                <a:sym typeface="+mn-lt"/>
              </a:rPr>
              <a:t>4</a:t>
            </a:r>
            <a:endParaRPr lang="zh-CN" altLang="en-US" sz="1400" b="1">
              <a:solidFill>
                <a:schemeClr val="bg1"/>
              </a:solidFill>
              <a:cs typeface="+mn-ea"/>
              <a:sym typeface="+mn-lt"/>
            </a:endParaRPr>
          </a:p>
        </p:txBody>
      </p:sp>
      <p:sp>
        <p:nvSpPr>
          <p:cNvPr id="26" name="TextBox 76"/>
          <p:cNvSpPr txBox="1"/>
          <p:nvPr/>
        </p:nvSpPr>
        <p:spPr bwMode="gray">
          <a:xfrm>
            <a:off x="1986488" y="4806800"/>
            <a:ext cx="1095199" cy="461665"/>
          </a:xfrm>
          <a:prstGeom prst="rect">
            <a:avLst/>
          </a:prstGeom>
          <a:noFill/>
        </p:spPr>
        <p:txBody>
          <a:bodyPr wrap="square" rtlCol="0">
            <a:spAutoFit/>
          </a:bodyPr>
          <a:lstStyle/>
          <a:p>
            <a:pPr algn="ctr"/>
            <a:r>
              <a:rPr lang="en-US" altLang="zh-CN" sz="1200" b="1" dirty="0" smtClean="0">
                <a:solidFill>
                  <a:srgbClr val="ED6D00"/>
                </a:solidFill>
                <a:cs typeface="+mn-ea"/>
                <a:sym typeface="+mn-lt"/>
              </a:rPr>
              <a:t>Leader AP </a:t>
            </a:r>
            <a:r>
              <a:rPr lang="zh-CN" altLang="en-US" sz="1200" b="1" dirty="0" smtClean="0">
                <a:solidFill>
                  <a:srgbClr val="ED6D00"/>
                </a:solidFill>
                <a:cs typeface="+mn-ea"/>
                <a:sym typeface="+mn-lt"/>
              </a:rPr>
              <a:t>调优计算</a:t>
            </a:r>
            <a:endParaRPr lang="zh-CN" altLang="en-US" sz="1200" b="1" dirty="0">
              <a:solidFill>
                <a:srgbClr val="ED6D00"/>
              </a:solidFill>
              <a:cs typeface="+mn-ea"/>
              <a:sym typeface="+mn-lt"/>
            </a:endParaRPr>
          </a:p>
        </p:txBody>
      </p:sp>
      <p:sp>
        <p:nvSpPr>
          <p:cNvPr id="27" name="Freeform 77"/>
          <p:cNvSpPr/>
          <p:nvPr/>
        </p:nvSpPr>
        <p:spPr bwMode="ltGray">
          <a:xfrm flipV="1">
            <a:off x="1845965" y="3918510"/>
            <a:ext cx="713799" cy="78867"/>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3419 w 1183420"/>
              <a:gd name="connsiteY0" fmla="*/ 0 h 2497667"/>
              <a:gd name="connsiteX1" fmla="*/ 220187 w 1183420"/>
              <a:gd name="connsiteY1" fmla="*/ 1193800 h 2497667"/>
              <a:gd name="connsiteX2" fmla="*/ 55 w 1183420"/>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866804 w 866804"/>
              <a:gd name="connsiteY0" fmla="*/ 0 h 2497667"/>
              <a:gd name="connsiteX1" fmla="*/ 220187 w 866804"/>
              <a:gd name="connsiteY1" fmla="*/ 1193800 h 2497667"/>
              <a:gd name="connsiteX2" fmla="*/ 55 w 866804"/>
              <a:gd name="connsiteY2" fmla="*/ 2497667 h 2497667"/>
              <a:gd name="connsiteX0" fmla="*/ 666053 w 1192411"/>
              <a:gd name="connsiteY0" fmla="*/ 70182 h 1322047"/>
              <a:gd name="connsiteX1" fmla="*/ 19436 w 1192411"/>
              <a:gd name="connsiteY1" fmla="*/ 1263982 h 1322047"/>
              <a:gd name="connsiteX2" fmla="*/ 1192411 w 1192411"/>
              <a:gd name="connsiteY2" fmla="*/ 36603 h 1322047"/>
              <a:gd name="connsiteX0" fmla="*/ 671047 w 1197405"/>
              <a:gd name="connsiteY0" fmla="*/ 33578 h 1330423"/>
              <a:gd name="connsiteX1" fmla="*/ 24430 w 1197405"/>
              <a:gd name="connsiteY1" fmla="*/ 1227378 h 1330423"/>
              <a:gd name="connsiteX2" fmla="*/ 1197405 w 1197405"/>
              <a:gd name="connsiteY2" fmla="*/ -1 h 1330423"/>
              <a:gd name="connsiteX0" fmla="*/ 272209 w 798567"/>
              <a:gd name="connsiteY0" fmla="*/ 33579 h 649159"/>
              <a:gd name="connsiteX1" fmla="*/ 151173 w 798567"/>
              <a:gd name="connsiteY1" fmla="*/ 407737 h 649159"/>
              <a:gd name="connsiteX2" fmla="*/ 798567 w 798567"/>
              <a:gd name="connsiteY2" fmla="*/ 0 h 649159"/>
              <a:gd name="connsiteX0" fmla="*/ 0 w 526358"/>
              <a:gd name="connsiteY0" fmla="*/ 33579 h 33579"/>
              <a:gd name="connsiteX1" fmla="*/ 526358 w 526358"/>
              <a:gd name="connsiteY1" fmla="*/ 0 h 33579"/>
              <a:gd name="connsiteX0" fmla="*/ 0 w 627675"/>
              <a:gd name="connsiteY0" fmla="*/ 21526 h 21526"/>
              <a:gd name="connsiteX1" fmla="*/ 627675 w 627675"/>
              <a:gd name="connsiteY1" fmla="*/ 0 h 21526"/>
              <a:gd name="connsiteX0" fmla="*/ 0 w 627675"/>
              <a:gd name="connsiteY0" fmla="*/ 21526 h 180523"/>
              <a:gd name="connsiteX1" fmla="*/ 627675 w 627675"/>
              <a:gd name="connsiteY1" fmla="*/ 0 h 180523"/>
              <a:gd name="connsiteX0" fmla="*/ 0 w 627675"/>
              <a:gd name="connsiteY0" fmla="*/ 21526 h 265291"/>
              <a:gd name="connsiteX1" fmla="*/ 627675 w 627675"/>
              <a:gd name="connsiteY1" fmla="*/ 0 h 265291"/>
              <a:gd name="connsiteX0" fmla="*/ 0 w 602346"/>
              <a:gd name="connsiteY0" fmla="*/ 33579 h 272063"/>
              <a:gd name="connsiteX1" fmla="*/ 602346 w 602346"/>
              <a:gd name="connsiteY1" fmla="*/ 0 h 272063"/>
              <a:gd name="connsiteX0" fmla="*/ 0 w 597035"/>
              <a:gd name="connsiteY0" fmla="*/ 15107 h 261748"/>
              <a:gd name="connsiteX1" fmla="*/ 597035 w 597035"/>
              <a:gd name="connsiteY1" fmla="*/ 0 h 261748"/>
            </a:gdLst>
            <a:ahLst/>
            <a:cxnLst>
              <a:cxn ang="0">
                <a:pos x="connsiteX0" y="connsiteY0"/>
              </a:cxn>
              <a:cxn ang="0">
                <a:pos x="connsiteX1" y="connsiteY1"/>
              </a:cxn>
            </a:cxnLst>
            <a:rect l="l" t="t" r="r" b="b"/>
            <a:pathLst>
              <a:path w="597035" h="261748">
                <a:moveTo>
                  <a:pt x="0" y="15107"/>
                </a:moveTo>
                <a:cubicBezTo>
                  <a:pt x="215557" y="381588"/>
                  <a:pt x="413140" y="308513"/>
                  <a:pt x="597035" y="0"/>
                </a:cubicBezTo>
              </a:path>
            </a:pathLst>
          </a:custGeom>
          <a:noFill/>
          <a:ln w="19050">
            <a:solidFill>
              <a:srgbClr val="FF3399"/>
            </a:solidFill>
            <a:prstDash val="lgDash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Freeform 78"/>
          <p:cNvSpPr/>
          <p:nvPr/>
        </p:nvSpPr>
        <p:spPr bwMode="ltGray">
          <a:xfrm flipH="1" flipV="1">
            <a:off x="2633935" y="3658022"/>
            <a:ext cx="1490912" cy="356538"/>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3419 w 1183420"/>
              <a:gd name="connsiteY0" fmla="*/ 0 h 2497667"/>
              <a:gd name="connsiteX1" fmla="*/ 220187 w 1183420"/>
              <a:gd name="connsiteY1" fmla="*/ 1193800 h 2497667"/>
              <a:gd name="connsiteX2" fmla="*/ 55 w 1183420"/>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866804 w 866804"/>
              <a:gd name="connsiteY0" fmla="*/ 0 h 2497667"/>
              <a:gd name="connsiteX1" fmla="*/ 220187 w 866804"/>
              <a:gd name="connsiteY1" fmla="*/ 1193800 h 2497667"/>
              <a:gd name="connsiteX2" fmla="*/ 55 w 866804"/>
              <a:gd name="connsiteY2" fmla="*/ 2497667 h 2497667"/>
              <a:gd name="connsiteX0" fmla="*/ 666053 w 1192411"/>
              <a:gd name="connsiteY0" fmla="*/ 70182 h 1322047"/>
              <a:gd name="connsiteX1" fmla="*/ 19436 w 1192411"/>
              <a:gd name="connsiteY1" fmla="*/ 1263982 h 1322047"/>
              <a:gd name="connsiteX2" fmla="*/ 1192411 w 1192411"/>
              <a:gd name="connsiteY2" fmla="*/ 36603 h 1322047"/>
              <a:gd name="connsiteX0" fmla="*/ 671047 w 1197405"/>
              <a:gd name="connsiteY0" fmla="*/ 33578 h 1330423"/>
              <a:gd name="connsiteX1" fmla="*/ 24430 w 1197405"/>
              <a:gd name="connsiteY1" fmla="*/ 1227378 h 1330423"/>
              <a:gd name="connsiteX2" fmla="*/ 1197405 w 1197405"/>
              <a:gd name="connsiteY2" fmla="*/ -1 h 1330423"/>
              <a:gd name="connsiteX0" fmla="*/ 272209 w 798567"/>
              <a:gd name="connsiteY0" fmla="*/ 33579 h 649159"/>
              <a:gd name="connsiteX1" fmla="*/ 151173 w 798567"/>
              <a:gd name="connsiteY1" fmla="*/ 407737 h 649159"/>
              <a:gd name="connsiteX2" fmla="*/ 798567 w 798567"/>
              <a:gd name="connsiteY2" fmla="*/ 0 h 649159"/>
              <a:gd name="connsiteX0" fmla="*/ 0 w 526358"/>
              <a:gd name="connsiteY0" fmla="*/ 33579 h 33579"/>
              <a:gd name="connsiteX1" fmla="*/ 526358 w 526358"/>
              <a:gd name="connsiteY1" fmla="*/ 0 h 33579"/>
              <a:gd name="connsiteX0" fmla="*/ 0 w 627675"/>
              <a:gd name="connsiteY0" fmla="*/ 21526 h 21526"/>
              <a:gd name="connsiteX1" fmla="*/ 627675 w 627675"/>
              <a:gd name="connsiteY1" fmla="*/ 0 h 21526"/>
              <a:gd name="connsiteX0" fmla="*/ 0 w 627675"/>
              <a:gd name="connsiteY0" fmla="*/ 21526 h 180523"/>
              <a:gd name="connsiteX1" fmla="*/ 627675 w 627675"/>
              <a:gd name="connsiteY1" fmla="*/ 0 h 180523"/>
              <a:gd name="connsiteX0" fmla="*/ 0 w 627675"/>
              <a:gd name="connsiteY0" fmla="*/ 21526 h 265291"/>
              <a:gd name="connsiteX1" fmla="*/ 627675 w 627675"/>
              <a:gd name="connsiteY1" fmla="*/ 0 h 265291"/>
              <a:gd name="connsiteX0" fmla="*/ 0 w 602346"/>
              <a:gd name="connsiteY0" fmla="*/ 33579 h 272063"/>
              <a:gd name="connsiteX1" fmla="*/ 602346 w 602346"/>
              <a:gd name="connsiteY1" fmla="*/ 0 h 272063"/>
              <a:gd name="connsiteX0" fmla="*/ 0 w 597035"/>
              <a:gd name="connsiteY0" fmla="*/ 15107 h 261748"/>
              <a:gd name="connsiteX1" fmla="*/ 597035 w 597035"/>
              <a:gd name="connsiteY1" fmla="*/ 0 h 261748"/>
            </a:gdLst>
            <a:ahLst/>
            <a:cxnLst>
              <a:cxn ang="0">
                <a:pos x="connsiteX0" y="connsiteY0"/>
              </a:cxn>
              <a:cxn ang="0">
                <a:pos x="connsiteX1" y="connsiteY1"/>
              </a:cxn>
            </a:cxnLst>
            <a:rect l="l" t="t" r="r" b="b"/>
            <a:pathLst>
              <a:path w="597035" h="261748">
                <a:moveTo>
                  <a:pt x="0" y="15107"/>
                </a:moveTo>
                <a:cubicBezTo>
                  <a:pt x="215557" y="381588"/>
                  <a:pt x="413140" y="308513"/>
                  <a:pt x="597035" y="0"/>
                </a:cubicBezTo>
              </a:path>
            </a:pathLst>
          </a:custGeom>
          <a:noFill/>
          <a:ln w="19050">
            <a:solidFill>
              <a:srgbClr val="FF3399"/>
            </a:solidFill>
            <a:prstDash val="lgDash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Freeform 79"/>
          <p:cNvSpPr/>
          <p:nvPr/>
        </p:nvSpPr>
        <p:spPr bwMode="ltGray">
          <a:xfrm flipH="1" flipV="1">
            <a:off x="2691572" y="3918509"/>
            <a:ext cx="748051" cy="96052"/>
          </a:xfrm>
          <a:custGeom>
            <a:avLst/>
            <a:gdLst>
              <a:gd name="connsiteX0" fmla="*/ 1134776 w 1134776"/>
              <a:gd name="connsiteY0" fmla="*/ 0 h 2540000"/>
              <a:gd name="connsiteX1" fmla="*/ 186509 w 1134776"/>
              <a:gd name="connsiteY1" fmla="*/ 1464733 h 2540000"/>
              <a:gd name="connsiteX2" fmla="*/ 243 w 1134776"/>
              <a:gd name="connsiteY2" fmla="*/ 2540000 h 2540000"/>
              <a:gd name="connsiteX0" fmla="*/ 1134547 w 1134547"/>
              <a:gd name="connsiteY0" fmla="*/ 0 h 2540000"/>
              <a:gd name="connsiteX1" fmla="*/ 296346 w 1134547"/>
              <a:gd name="connsiteY1" fmla="*/ 1193800 h 2540000"/>
              <a:gd name="connsiteX2" fmla="*/ 14 w 1134547"/>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34552 w 1134552"/>
              <a:gd name="connsiteY0" fmla="*/ 0 h 2540000"/>
              <a:gd name="connsiteX1" fmla="*/ 262485 w 1134552"/>
              <a:gd name="connsiteY1" fmla="*/ 1193800 h 2540000"/>
              <a:gd name="connsiteX2" fmla="*/ 19 w 1134552"/>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088 w 1126088"/>
              <a:gd name="connsiteY0" fmla="*/ 0 h 2540000"/>
              <a:gd name="connsiteX1" fmla="*/ 254021 w 1126088"/>
              <a:gd name="connsiteY1" fmla="*/ 1193800 h 2540000"/>
              <a:gd name="connsiteX2" fmla="*/ 22 w 1126088"/>
              <a:gd name="connsiteY2" fmla="*/ 2540000 h 2540000"/>
              <a:gd name="connsiteX0" fmla="*/ 1126118 w 1126118"/>
              <a:gd name="connsiteY0" fmla="*/ 0 h 2540000"/>
              <a:gd name="connsiteX1" fmla="*/ 254051 w 1126118"/>
              <a:gd name="connsiteY1" fmla="*/ 1193800 h 2540000"/>
              <a:gd name="connsiteX2" fmla="*/ 52 w 1126118"/>
              <a:gd name="connsiteY2" fmla="*/ 2540000 h 2540000"/>
              <a:gd name="connsiteX0" fmla="*/ 1132899 w 1132899"/>
              <a:gd name="connsiteY0" fmla="*/ 0 h 2540000"/>
              <a:gd name="connsiteX1" fmla="*/ 260832 w 1132899"/>
              <a:gd name="connsiteY1" fmla="*/ 1193800 h 2540000"/>
              <a:gd name="connsiteX2" fmla="*/ 6833 w 1132899"/>
              <a:gd name="connsiteY2" fmla="*/ 2540000 h 2540000"/>
              <a:gd name="connsiteX0" fmla="*/ 1092236 w 1092236"/>
              <a:gd name="connsiteY0" fmla="*/ 0 h 2497667"/>
              <a:gd name="connsiteX1" fmla="*/ 220169 w 1092236"/>
              <a:gd name="connsiteY1" fmla="*/ 1193800 h 2497667"/>
              <a:gd name="connsiteX2" fmla="*/ 37 w 1092236"/>
              <a:gd name="connsiteY2" fmla="*/ 2497667 h 2497667"/>
              <a:gd name="connsiteX0" fmla="*/ 1092236 w 1092236"/>
              <a:gd name="connsiteY0" fmla="*/ 0 h 2497667"/>
              <a:gd name="connsiteX1" fmla="*/ 220169 w 1092236"/>
              <a:gd name="connsiteY1" fmla="*/ 1193800 h 2497667"/>
              <a:gd name="connsiteX2" fmla="*/ 37 w 1092236"/>
              <a:gd name="connsiteY2" fmla="*/ 2497667 h 2497667"/>
              <a:gd name="connsiteX0" fmla="*/ 1183419 w 1183420"/>
              <a:gd name="connsiteY0" fmla="*/ 0 h 2497667"/>
              <a:gd name="connsiteX1" fmla="*/ 220187 w 1183420"/>
              <a:gd name="connsiteY1" fmla="*/ 1193800 h 2497667"/>
              <a:gd name="connsiteX2" fmla="*/ 55 w 1183420"/>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1183419 w 1183419"/>
              <a:gd name="connsiteY0" fmla="*/ 0 h 2497667"/>
              <a:gd name="connsiteX1" fmla="*/ 220187 w 1183419"/>
              <a:gd name="connsiteY1" fmla="*/ 1193800 h 2497667"/>
              <a:gd name="connsiteX2" fmla="*/ 55 w 1183419"/>
              <a:gd name="connsiteY2" fmla="*/ 2497667 h 2497667"/>
              <a:gd name="connsiteX0" fmla="*/ 866804 w 866804"/>
              <a:gd name="connsiteY0" fmla="*/ 0 h 2497667"/>
              <a:gd name="connsiteX1" fmla="*/ 220187 w 866804"/>
              <a:gd name="connsiteY1" fmla="*/ 1193800 h 2497667"/>
              <a:gd name="connsiteX2" fmla="*/ 55 w 866804"/>
              <a:gd name="connsiteY2" fmla="*/ 2497667 h 2497667"/>
              <a:gd name="connsiteX0" fmla="*/ 666053 w 1192411"/>
              <a:gd name="connsiteY0" fmla="*/ 70182 h 1322047"/>
              <a:gd name="connsiteX1" fmla="*/ 19436 w 1192411"/>
              <a:gd name="connsiteY1" fmla="*/ 1263982 h 1322047"/>
              <a:gd name="connsiteX2" fmla="*/ 1192411 w 1192411"/>
              <a:gd name="connsiteY2" fmla="*/ 36603 h 1322047"/>
              <a:gd name="connsiteX0" fmla="*/ 671047 w 1197405"/>
              <a:gd name="connsiteY0" fmla="*/ 33578 h 1330423"/>
              <a:gd name="connsiteX1" fmla="*/ 24430 w 1197405"/>
              <a:gd name="connsiteY1" fmla="*/ 1227378 h 1330423"/>
              <a:gd name="connsiteX2" fmla="*/ 1197405 w 1197405"/>
              <a:gd name="connsiteY2" fmla="*/ -1 h 1330423"/>
              <a:gd name="connsiteX0" fmla="*/ 272209 w 798567"/>
              <a:gd name="connsiteY0" fmla="*/ 33579 h 649159"/>
              <a:gd name="connsiteX1" fmla="*/ 151173 w 798567"/>
              <a:gd name="connsiteY1" fmla="*/ 407737 h 649159"/>
              <a:gd name="connsiteX2" fmla="*/ 798567 w 798567"/>
              <a:gd name="connsiteY2" fmla="*/ 0 h 649159"/>
              <a:gd name="connsiteX0" fmla="*/ 0 w 526358"/>
              <a:gd name="connsiteY0" fmla="*/ 33579 h 33579"/>
              <a:gd name="connsiteX1" fmla="*/ 526358 w 526358"/>
              <a:gd name="connsiteY1" fmla="*/ 0 h 33579"/>
              <a:gd name="connsiteX0" fmla="*/ 0 w 627675"/>
              <a:gd name="connsiteY0" fmla="*/ 21526 h 21526"/>
              <a:gd name="connsiteX1" fmla="*/ 627675 w 627675"/>
              <a:gd name="connsiteY1" fmla="*/ 0 h 21526"/>
              <a:gd name="connsiteX0" fmla="*/ 0 w 627675"/>
              <a:gd name="connsiteY0" fmla="*/ 21526 h 180523"/>
              <a:gd name="connsiteX1" fmla="*/ 627675 w 627675"/>
              <a:gd name="connsiteY1" fmla="*/ 0 h 180523"/>
              <a:gd name="connsiteX0" fmla="*/ 0 w 627675"/>
              <a:gd name="connsiteY0" fmla="*/ 21526 h 265291"/>
              <a:gd name="connsiteX1" fmla="*/ 627675 w 627675"/>
              <a:gd name="connsiteY1" fmla="*/ 0 h 265291"/>
              <a:gd name="connsiteX0" fmla="*/ 0 w 602346"/>
              <a:gd name="connsiteY0" fmla="*/ 33579 h 272063"/>
              <a:gd name="connsiteX1" fmla="*/ 602346 w 602346"/>
              <a:gd name="connsiteY1" fmla="*/ 0 h 272063"/>
              <a:gd name="connsiteX0" fmla="*/ 0 w 597035"/>
              <a:gd name="connsiteY0" fmla="*/ 15107 h 261748"/>
              <a:gd name="connsiteX1" fmla="*/ 597035 w 597035"/>
              <a:gd name="connsiteY1" fmla="*/ 0 h 261748"/>
            </a:gdLst>
            <a:ahLst/>
            <a:cxnLst>
              <a:cxn ang="0">
                <a:pos x="connsiteX0" y="connsiteY0"/>
              </a:cxn>
              <a:cxn ang="0">
                <a:pos x="connsiteX1" y="connsiteY1"/>
              </a:cxn>
            </a:cxnLst>
            <a:rect l="l" t="t" r="r" b="b"/>
            <a:pathLst>
              <a:path w="597035" h="261748">
                <a:moveTo>
                  <a:pt x="0" y="15107"/>
                </a:moveTo>
                <a:cubicBezTo>
                  <a:pt x="215557" y="381588"/>
                  <a:pt x="413140" y="308513"/>
                  <a:pt x="597035" y="0"/>
                </a:cubicBezTo>
              </a:path>
            </a:pathLst>
          </a:custGeom>
          <a:noFill/>
          <a:ln w="19050">
            <a:solidFill>
              <a:srgbClr val="FF3399"/>
            </a:solidFill>
            <a:prstDash val="lgDashDot"/>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Oval 80"/>
          <p:cNvSpPr>
            <a:spLocks noChangeAspect="1"/>
          </p:cNvSpPr>
          <p:nvPr/>
        </p:nvSpPr>
        <p:spPr bwMode="gray">
          <a:xfrm>
            <a:off x="2897812" y="3650873"/>
            <a:ext cx="211977" cy="211977"/>
          </a:xfrm>
          <a:prstGeom prst="ellipse">
            <a:avLst/>
          </a:prstGeom>
          <a:solidFill>
            <a:srgbClr val="FF3399"/>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cs typeface="+mn-ea"/>
                <a:sym typeface="+mn-lt"/>
              </a:rPr>
              <a:t>5</a:t>
            </a:r>
            <a:endParaRPr lang="zh-CN" altLang="en-US" sz="1400" b="1">
              <a:solidFill>
                <a:schemeClr val="bg1"/>
              </a:solidFill>
              <a:cs typeface="+mn-ea"/>
              <a:sym typeface="+mn-lt"/>
            </a:endParaRPr>
          </a:p>
        </p:txBody>
      </p:sp>
      <p:sp>
        <p:nvSpPr>
          <p:cNvPr id="31" name="TextBox 81"/>
          <p:cNvSpPr txBox="1"/>
          <p:nvPr/>
        </p:nvSpPr>
        <p:spPr bwMode="gray">
          <a:xfrm>
            <a:off x="2723190" y="2989618"/>
            <a:ext cx="623485" cy="646331"/>
          </a:xfrm>
          <a:prstGeom prst="rect">
            <a:avLst/>
          </a:prstGeom>
          <a:noFill/>
        </p:spPr>
        <p:txBody>
          <a:bodyPr wrap="square" rtlCol="0">
            <a:spAutoFit/>
          </a:bodyPr>
          <a:lstStyle/>
          <a:p>
            <a:r>
              <a:rPr lang="zh-CN" altLang="en-US" sz="1200" b="1" dirty="0" smtClean="0">
                <a:solidFill>
                  <a:srgbClr val="FF3399"/>
                </a:solidFill>
                <a:cs typeface="+mn-ea"/>
                <a:sym typeface="+mn-lt"/>
              </a:rPr>
              <a:t>调优结果下发</a:t>
            </a:r>
            <a:endParaRPr lang="zh-CN" altLang="en-US" sz="1200" b="1" dirty="0">
              <a:solidFill>
                <a:srgbClr val="FF3399"/>
              </a:solidFill>
              <a:cs typeface="+mn-ea"/>
              <a:sym typeface="+mn-lt"/>
            </a:endParaRPr>
          </a:p>
        </p:txBody>
      </p:sp>
      <p:sp>
        <p:nvSpPr>
          <p:cNvPr id="33" name="Oval 73"/>
          <p:cNvSpPr>
            <a:spLocks noChangeAspect="1"/>
          </p:cNvSpPr>
          <p:nvPr/>
        </p:nvSpPr>
        <p:spPr bwMode="gray">
          <a:xfrm>
            <a:off x="3704058" y="4613444"/>
            <a:ext cx="211977" cy="211977"/>
          </a:xfrm>
          <a:prstGeom prst="ellipse">
            <a:avLst/>
          </a:prstGeom>
          <a:solidFill>
            <a:srgbClr val="00B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cs typeface="+mn-ea"/>
                <a:sym typeface="+mn-lt"/>
              </a:rPr>
              <a:t>3</a:t>
            </a:r>
            <a:endParaRPr lang="zh-CN" altLang="en-US" sz="1400" b="1">
              <a:solidFill>
                <a:schemeClr val="bg1"/>
              </a:solidFill>
              <a:cs typeface="+mn-ea"/>
              <a:sym typeface="+mn-lt"/>
            </a:endParaRPr>
          </a:p>
        </p:txBody>
      </p:sp>
      <p:sp>
        <p:nvSpPr>
          <p:cNvPr id="34" name="TextBox 74"/>
          <p:cNvSpPr txBox="1"/>
          <p:nvPr/>
        </p:nvSpPr>
        <p:spPr bwMode="gray">
          <a:xfrm>
            <a:off x="3612159" y="4825421"/>
            <a:ext cx="1306768" cy="276999"/>
          </a:xfrm>
          <a:prstGeom prst="rect">
            <a:avLst/>
          </a:prstGeom>
          <a:noFill/>
        </p:spPr>
        <p:txBody>
          <a:bodyPr wrap="none" rtlCol="0">
            <a:spAutoFit/>
          </a:bodyPr>
          <a:lstStyle/>
          <a:p>
            <a:r>
              <a:rPr lang="en-US" altLang="zh-CN" sz="1200" b="1" smtClean="0">
                <a:solidFill>
                  <a:srgbClr val="00B050"/>
                </a:solidFill>
                <a:cs typeface="+mn-ea"/>
                <a:sym typeface="+mn-lt"/>
              </a:rPr>
              <a:t>AP</a:t>
            </a:r>
            <a:r>
              <a:rPr lang="zh-CN" altLang="en-US" sz="1200" b="1" smtClean="0">
                <a:solidFill>
                  <a:srgbClr val="00B050"/>
                </a:solidFill>
                <a:cs typeface="+mn-ea"/>
                <a:sym typeface="+mn-lt"/>
              </a:rPr>
              <a:t>上报探测数据</a:t>
            </a:r>
            <a:endParaRPr lang="zh-CN" altLang="en-US" sz="1200" b="1">
              <a:solidFill>
                <a:srgbClr val="00B050"/>
              </a:solidFill>
              <a:cs typeface="+mn-ea"/>
              <a:sym typeface="+mn-lt"/>
            </a:endParaRPr>
          </a:p>
        </p:txBody>
      </p:sp>
      <p:pic>
        <p:nvPicPr>
          <p:cNvPr id="41" name="图片 4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554563" y="1733383"/>
            <a:ext cx="951607" cy="540946"/>
          </a:xfrm>
          <a:prstGeom prst="rect">
            <a:avLst/>
          </a:prstGeom>
        </p:spPr>
      </p:pic>
      <p:sp>
        <p:nvSpPr>
          <p:cNvPr id="42" name="五边形 41"/>
          <p:cNvSpPr/>
          <p:nvPr/>
        </p:nvSpPr>
        <p:spPr bwMode="gray">
          <a:xfrm>
            <a:off x="7608888"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8418541"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gray">
          <a:xfrm>
            <a:off x="9228194"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100378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10847500"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4944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latin typeface="+mn-lt"/>
                <a:ea typeface="+mn-ea"/>
                <a:cs typeface="+mn-ea"/>
                <a:sym typeface="+mn-lt"/>
              </a:rPr>
              <a:t>射频调优：</a:t>
            </a:r>
            <a:r>
              <a:rPr lang="zh-CN" altLang="en-US" smtClean="0">
                <a:latin typeface="+mn-lt"/>
                <a:ea typeface="+mn-ea"/>
                <a:cs typeface="+mn-ea"/>
                <a:sym typeface="+mn-lt"/>
              </a:rPr>
              <a:t>信道</a:t>
            </a:r>
            <a:r>
              <a:rPr lang="zh-CN" altLang="en-US">
                <a:latin typeface="+mn-lt"/>
                <a:ea typeface="+mn-ea"/>
                <a:cs typeface="+mn-ea"/>
                <a:sym typeface="+mn-lt"/>
              </a:rPr>
              <a:t>及频宽选择</a:t>
            </a:r>
          </a:p>
        </p:txBody>
      </p:sp>
      <p:sp>
        <p:nvSpPr>
          <p:cNvPr id="3" name="圆角矩形 2"/>
          <p:cNvSpPr/>
          <p:nvPr/>
        </p:nvSpPr>
        <p:spPr bwMode="gray">
          <a:xfrm>
            <a:off x="1080739" y="2225827"/>
            <a:ext cx="5392978" cy="360000"/>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mn-lt"/>
              </a:rPr>
              <a:t>AP</a:t>
            </a:r>
            <a:r>
              <a:rPr lang="zh-CN" altLang="en-US" sz="1600">
                <a:solidFill>
                  <a:srgbClr val="30B5C5"/>
                </a:solidFill>
                <a:latin typeface="Huawei Sans" panose="020C0503030203020204" pitchFamily="34" charset="0"/>
                <a:ea typeface="方正兰亭黑简体" panose="02000000000000000000" pitchFamily="2" charset="-122"/>
                <a:sym typeface="+mn-lt"/>
              </a:rPr>
              <a:t>信道选择</a:t>
            </a:r>
          </a:p>
        </p:txBody>
      </p:sp>
      <p:sp>
        <p:nvSpPr>
          <p:cNvPr id="4" name="圆角矩形 3"/>
          <p:cNvSpPr/>
          <p:nvPr/>
        </p:nvSpPr>
        <p:spPr bwMode="gray">
          <a:xfrm>
            <a:off x="1080737" y="2632547"/>
            <a:ext cx="5392981" cy="2167582"/>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marL="285750" indent="-285750">
              <a:lnSpc>
                <a:spcPts val="2800"/>
              </a:lnSpc>
              <a:spcAft>
                <a:spcPts val="600"/>
              </a:spcAft>
              <a:buFont typeface="Arial" panose="020B0604020202020204" pitchFamily="34" charset="0"/>
              <a:buChar char="•"/>
            </a:pPr>
            <a:r>
              <a:rPr lang="zh-CN" altLang="en-US" sz="1600" b="1" dirty="0" smtClean="0">
                <a:solidFill>
                  <a:schemeClr val="tx1"/>
                </a:solidFill>
                <a:cs typeface="+mn-ea"/>
                <a:sym typeface="+mn-lt"/>
              </a:rPr>
              <a:t>对于</a:t>
            </a:r>
            <a:r>
              <a:rPr lang="en-US" altLang="zh-CN" sz="1600" b="1" dirty="0" smtClean="0">
                <a:solidFill>
                  <a:schemeClr val="tx1"/>
                </a:solidFill>
                <a:cs typeface="+mn-ea"/>
                <a:sym typeface="+mn-lt"/>
              </a:rPr>
              <a:t>2.4G</a:t>
            </a:r>
            <a:r>
              <a:rPr lang="zh-CN" altLang="en-US" sz="1600" b="1" dirty="0">
                <a:solidFill>
                  <a:schemeClr val="tx1"/>
                </a:solidFill>
                <a:cs typeface="+mn-ea"/>
                <a:sym typeface="+mn-lt"/>
              </a:rPr>
              <a:t>频段：</a:t>
            </a:r>
            <a:r>
              <a:rPr lang="zh-CN" altLang="en-US" sz="1600" dirty="0">
                <a:solidFill>
                  <a:schemeClr val="tx1"/>
                </a:solidFill>
                <a:cs typeface="+mn-ea"/>
                <a:sym typeface="+mn-lt"/>
              </a:rPr>
              <a:t>建议选择</a:t>
            </a:r>
            <a:r>
              <a:rPr lang="en-US" altLang="zh-CN" sz="1600" dirty="0">
                <a:solidFill>
                  <a:schemeClr val="tx1"/>
                </a:solidFill>
                <a:cs typeface="+mn-ea"/>
                <a:sym typeface="+mn-lt"/>
              </a:rPr>
              <a:t>1</a:t>
            </a:r>
            <a:r>
              <a:rPr lang="zh-CN" altLang="en-US" sz="1600" dirty="0">
                <a:solidFill>
                  <a:schemeClr val="tx1"/>
                </a:solidFill>
                <a:cs typeface="+mn-ea"/>
                <a:sym typeface="+mn-lt"/>
              </a:rPr>
              <a:t>、</a:t>
            </a:r>
            <a:r>
              <a:rPr lang="en-US" altLang="zh-CN" sz="1600" dirty="0">
                <a:solidFill>
                  <a:schemeClr val="tx1"/>
                </a:solidFill>
                <a:cs typeface="+mn-ea"/>
                <a:sym typeface="+mn-lt"/>
              </a:rPr>
              <a:t>6</a:t>
            </a:r>
            <a:r>
              <a:rPr lang="zh-CN" altLang="en-US" sz="1600" dirty="0">
                <a:solidFill>
                  <a:schemeClr val="tx1"/>
                </a:solidFill>
                <a:cs typeface="+mn-ea"/>
                <a:sym typeface="+mn-lt"/>
              </a:rPr>
              <a:t>、</a:t>
            </a:r>
            <a:r>
              <a:rPr lang="en-US" altLang="zh-CN" sz="1600" dirty="0">
                <a:solidFill>
                  <a:schemeClr val="tx1"/>
                </a:solidFill>
                <a:cs typeface="+mn-ea"/>
                <a:sym typeface="+mn-lt"/>
              </a:rPr>
              <a:t>11</a:t>
            </a:r>
            <a:r>
              <a:rPr lang="zh-CN" altLang="en-US" sz="1600" dirty="0">
                <a:solidFill>
                  <a:schemeClr val="tx1"/>
                </a:solidFill>
                <a:cs typeface="+mn-ea"/>
                <a:sym typeface="+mn-lt"/>
              </a:rPr>
              <a:t>信道集，如果</a:t>
            </a:r>
            <a:r>
              <a:rPr lang="en-US" altLang="zh-CN" sz="1600" dirty="0">
                <a:solidFill>
                  <a:schemeClr val="tx1"/>
                </a:solidFill>
                <a:cs typeface="+mn-ea"/>
                <a:sym typeface="+mn-lt"/>
              </a:rPr>
              <a:t>AP</a:t>
            </a:r>
            <a:r>
              <a:rPr lang="zh-CN" altLang="en-US" sz="1600" dirty="0">
                <a:solidFill>
                  <a:schemeClr val="tx1"/>
                </a:solidFill>
                <a:cs typeface="+mn-ea"/>
                <a:sym typeface="+mn-lt"/>
              </a:rPr>
              <a:t>部署比较密集的场景，建议选择</a:t>
            </a:r>
            <a:r>
              <a:rPr lang="en-US" altLang="zh-CN" sz="1600" dirty="0">
                <a:solidFill>
                  <a:schemeClr val="tx1"/>
                </a:solidFill>
                <a:cs typeface="+mn-ea"/>
                <a:sym typeface="+mn-lt"/>
              </a:rPr>
              <a:t>1</a:t>
            </a:r>
            <a:r>
              <a:rPr lang="zh-CN" altLang="en-US" sz="1600" dirty="0">
                <a:solidFill>
                  <a:schemeClr val="tx1"/>
                </a:solidFill>
                <a:cs typeface="+mn-ea"/>
                <a:sym typeface="+mn-lt"/>
              </a:rPr>
              <a:t>、</a:t>
            </a:r>
            <a:r>
              <a:rPr lang="en-US" altLang="zh-CN" sz="1600" dirty="0">
                <a:solidFill>
                  <a:schemeClr val="tx1"/>
                </a:solidFill>
                <a:cs typeface="+mn-ea"/>
                <a:sym typeface="+mn-lt"/>
              </a:rPr>
              <a:t>5</a:t>
            </a:r>
            <a:r>
              <a:rPr lang="zh-CN" altLang="en-US" sz="1600" dirty="0">
                <a:solidFill>
                  <a:schemeClr val="tx1"/>
                </a:solidFill>
                <a:cs typeface="+mn-ea"/>
                <a:sym typeface="+mn-lt"/>
              </a:rPr>
              <a:t>、</a:t>
            </a:r>
            <a:r>
              <a:rPr lang="en-US" altLang="zh-CN" sz="1600" dirty="0">
                <a:solidFill>
                  <a:schemeClr val="tx1"/>
                </a:solidFill>
                <a:cs typeface="+mn-ea"/>
                <a:sym typeface="+mn-lt"/>
              </a:rPr>
              <a:t>9</a:t>
            </a:r>
            <a:r>
              <a:rPr lang="zh-CN" altLang="en-US" sz="1600" dirty="0">
                <a:solidFill>
                  <a:schemeClr val="tx1"/>
                </a:solidFill>
                <a:cs typeface="+mn-ea"/>
                <a:sym typeface="+mn-lt"/>
              </a:rPr>
              <a:t>、</a:t>
            </a:r>
            <a:r>
              <a:rPr lang="en-US" altLang="zh-CN" sz="1600" dirty="0" smtClean="0">
                <a:solidFill>
                  <a:schemeClr val="tx1"/>
                </a:solidFill>
                <a:cs typeface="+mn-ea"/>
                <a:sym typeface="+mn-lt"/>
              </a:rPr>
              <a:t>13</a:t>
            </a:r>
            <a:r>
              <a:rPr lang="zh-CN" altLang="en-US" sz="1600" dirty="0">
                <a:solidFill>
                  <a:schemeClr val="tx1"/>
                </a:solidFill>
                <a:cs typeface="+mn-ea"/>
                <a:sym typeface="+mn-lt"/>
              </a:rPr>
              <a:t>；</a:t>
            </a:r>
          </a:p>
          <a:p>
            <a:pPr marL="285750" indent="-285750">
              <a:lnSpc>
                <a:spcPts val="2800"/>
              </a:lnSpc>
              <a:spcAft>
                <a:spcPts val="600"/>
              </a:spcAft>
              <a:buFont typeface="Arial" panose="020B0604020202020204" pitchFamily="34" charset="0"/>
              <a:buChar char="•"/>
            </a:pPr>
            <a:r>
              <a:rPr lang="zh-CN" altLang="en-US" sz="1600" b="1" dirty="0" smtClean="0">
                <a:solidFill>
                  <a:schemeClr val="tx1"/>
                </a:solidFill>
                <a:cs typeface="+mn-ea"/>
                <a:sym typeface="+mn-lt"/>
              </a:rPr>
              <a:t>对于</a:t>
            </a:r>
            <a:r>
              <a:rPr lang="en-US" altLang="zh-CN" sz="1600" b="1" dirty="0" smtClean="0">
                <a:solidFill>
                  <a:schemeClr val="tx1"/>
                </a:solidFill>
                <a:cs typeface="+mn-ea"/>
                <a:sym typeface="+mn-lt"/>
              </a:rPr>
              <a:t>5G</a:t>
            </a:r>
            <a:r>
              <a:rPr lang="zh-CN" altLang="en-US" sz="1600" b="1" dirty="0">
                <a:solidFill>
                  <a:schemeClr val="tx1"/>
                </a:solidFill>
                <a:cs typeface="+mn-ea"/>
                <a:sym typeface="+mn-lt"/>
              </a:rPr>
              <a:t>频段：</a:t>
            </a:r>
            <a:r>
              <a:rPr lang="zh-CN" altLang="en-US" sz="1600" dirty="0">
                <a:solidFill>
                  <a:schemeClr val="tx1"/>
                </a:solidFill>
                <a:cs typeface="+mn-ea"/>
                <a:sym typeface="+mn-lt"/>
              </a:rPr>
              <a:t>当</a:t>
            </a:r>
            <a:r>
              <a:rPr lang="en-US" altLang="zh-CN" sz="1600" dirty="0">
                <a:solidFill>
                  <a:schemeClr val="tx1"/>
                </a:solidFill>
                <a:cs typeface="+mn-ea"/>
                <a:sym typeface="+mn-lt"/>
              </a:rPr>
              <a:t>AP</a:t>
            </a:r>
            <a:r>
              <a:rPr lang="zh-CN" altLang="en-US" sz="1600" dirty="0">
                <a:solidFill>
                  <a:schemeClr val="tx1"/>
                </a:solidFill>
                <a:cs typeface="+mn-ea"/>
                <a:sym typeface="+mn-lt"/>
              </a:rPr>
              <a:t>使用单</a:t>
            </a:r>
            <a:r>
              <a:rPr lang="en-US" altLang="zh-CN" sz="1600" dirty="0" smtClean="0">
                <a:solidFill>
                  <a:schemeClr val="tx1"/>
                </a:solidFill>
                <a:cs typeface="+mn-ea"/>
                <a:sym typeface="+mn-lt"/>
              </a:rPr>
              <a:t>5G</a:t>
            </a:r>
            <a:r>
              <a:rPr lang="zh-CN" altLang="en-US" sz="1600" dirty="0">
                <a:solidFill>
                  <a:schemeClr val="tx1"/>
                </a:solidFill>
                <a:cs typeface="+mn-ea"/>
                <a:sym typeface="+mn-lt"/>
              </a:rPr>
              <a:t>射频时，建议相邻</a:t>
            </a:r>
            <a:r>
              <a:rPr lang="en-US" altLang="zh-CN" sz="1600" dirty="0">
                <a:solidFill>
                  <a:schemeClr val="tx1"/>
                </a:solidFill>
                <a:cs typeface="+mn-ea"/>
                <a:sym typeface="+mn-lt"/>
              </a:rPr>
              <a:t>AP</a:t>
            </a:r>
            <a:r>
              <a:rPr lang="zh-CN" altLang="en-US" sz="1600" dirty="0">
                <a:solidFill>
                  <a:schemeClr val="tx1"/>
                </a:solidFill>
                <a:cs typeface="+mn-ea"/>
                <a:sym typeface="+mn-lt"/>
              </a:rPr>
              <a:t>高低频信道错开，当</a:t>
            </a:r>
            <a:r>
              <a:rPr lang="en-US" altLang="zh-CN" sz="1600" dirty="0">
                <a:solidFill>
                  <a:schemeClr val="tx1"/>
                </a:solidFill>
                <a:cs typeface="+mn-ea"/>
                <a:sym typeface="+mn-lt"/>
              </a:rPr>
              <a:t>AP</a:t>
            </a:r>
            <a:r>
              <a:rPr lang="zh-CN" altLang="en-US" sz="1600" dirty="0">
                <a:solidFill>
                  <a:schemeClr val="tx1"/>
                </a:solidFill>
                <a:cs typeface="+mn-ea"/>
                <a:sym typeface="+mn-lt"/>
              </a:rPr>
              <a:t>使用双</a:t>
            </a:r>
            <a:r>
              <a:rPr lang="en-US" altLang="zh-CN" sz="1600" dirty="0" smtClean="0">
                <a:solidFill>
                  <a:schemeClr val="tx1"/>
                </a:solidFill>
                <a:cs typeface="+mn-ea"/>
                <a:sym typeface="+mn-lt"/>
              </a:rPr>
              <a:t>5G</a:t>
            </a:r>
            <a:r>
              <a:rPr lang="zh-CN" altLang="en-US" sz="1600" dirty="0">
                <a:solidFill>
                  <a:schemeClr val="tx1"/>
                </a:solidFill>
                <a:cs typeface="+mn-ea"/>
                <a:sym typeface="+mn-lt"/>
              </a:rPr>
              <a:t>射频时，则建议两个</a:t>
            </a:r>
            <a:r>
              <a:rPr lang="en-US" altLang="zh-CN" sz="1600" dirty="0" smtClean="0">
                <a:solidFill>
                  <a:schemeClr val="tx1"/>
                </a:solidFill>
                <a:cs typeface="+mn-ea"/>
                <a:sym typeface="+mn-lt"/>
              </a:rPr>
              <a:t>5G</a:t>
            </a:r>
            <a:r>
              <a:rPr lang="zh-CN" altLang="en-US" sz="1600" dirty="0">
                <a:solidFill>
                  <a:schemeClr val="tx1"/>
                </a:solidFill>
                <a:cs typeface="+mn-ea"/>
                <a:sym typeface="+mn-lt"/>
              </a:rPr>
              <a:t>射频分别在低频与高频进行信道规划。</a:t>
            </a:r>
          </a:p>
        </p:txBody>
      </p:sp>
      <p:sp>
        <p:nvSpPr>
          <p:cNvPr id="5" name="圆角矩形 4"/>
          <p:cNvSpPr/>
          <p:nvPr/>
        </p:nvSpPr>
        <p:spPr bwMode="gray">
          <a:xfrm>
            <a:off x="6632454" y="2225827"/>
            <a:ext cx="4161338" cy="360000"/>
          </a:xfrm>
          <a:prstGeom prst="roundRect">
            <a:avLst>
              <a:gd name="adj" fmla="val 1462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mn-lt"/>
              </a:rPr>
              <a:t>频宽选择</a:t>
            </a:r>
          </a:p>
        </p:txBody>
      </p:sp>
      <p:sp>
        <p:nvSpPr>
          <p:cNvPr id="6" name="圆角矩形 5"/>
          <p:cNvSpPr/>
          <p:nvPr/>
        </p:nvSpPr>
        <p:spPr bwMode="gray">
          <a:xfrm>
            <a:off x="6632453" y="2632547"/>
            <a:ext cx="4161340" cy="2167582"/>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t" anchorCtr="0"/>
          <a:lstStyle/>
          <a:p>
            <a:pPr marL="285750" indent="-285750">
              <a:lnSpc>
                <a:spcPts val="2800"/>
              </a:lnSpc>
              <a:spcAft>
                <a:spcPts val="600"/>
              </a:spcAft>
              <a:buFont typeface="Arial" panose="020B0604020202020204" pitchFamily="34" charset="0"/>
              <a:buChar char="•"/>
            </a:pPr>
            <a:r>
              <a:rPr lang="zh-CN" altLang="en-US" sz="1600" b="1" dirty="0" smtClean="0">
                <a:solidFill>
                  <a:schemeClr val="tx1"/>
                </a:solidFill>
                <a:cs typeface="+mn-ea"/>
                <a:sym typeface="+mn-lt"/>
              </a:rPr>
              <a:t>对于</a:t>
            </a:r>
            <a:r>
              <a:rPr lang="en-US" altLang="zh-CN" sz="1600" b="1" dirty="0" smtClean="0">
                <a:solidFill>
                  <a:schemeClr val="tx1"/>
                </a:solidFill>
                <a:cs typeface="+mn-ea"/>
                <a:sym typeface="+mn-lt"/>
              </a:rPr>
              <a:t>2.4G</a:t>
            </a:r>
            <a:r>
              <a:rPr lang="zh-CN" altLang="en-US" sz="1600" b="1" dirty="0">
                <a:solidFill>
                  <a:schemeClr val="tx1"/>
                </a:solidFill>
                <a:cs typeface="+mn-ea"/>
                <a:sym typeface="+mn-lt"/>
              </a:rPr>
              <a:t>频段：</a:t>
            </a:r>
            <a:r>
              <a:rPr lang="zh-CN" altLang="en-US" sz="1600" dirty="0">
                <a:solidFill>
                  <a:schemeClr val="tx1"/>
                </a:solidFill>
                <a:cs typeface="+mn-ea"/>
                <a:sym typeface="+mn-lt"/>
              </a:rPr>
              <a:t>只能选择</a:t>
            </a:r>
            <a:r>
              <a:rPr lang="en-US" altLang="zh-CN" sz="1600" dirty="0" smtClean="0">
                <a:solidFill>
                  <a:schemeClr val="tx1"/>
                </a:solidFill>
                <a:cs typeface="+mn-ea"/>
                <a:sym typeface="+mn-lt"/>
              </a:rPr>
              <a:t>20 M</a:t>
            </a:r>
            <a:r>
              <a:rPr lang="zh-CN" altLang="en-US" sz="1600" dirty="0">
                <a:solidFill>
                  <a:schemeClr val="tx1"/>
                </a:solidFill>
                <a:cs typeface="+mn-ea"/>
                <a:sym typeface="+mn-lt"/>
              </a:rPr>
              <a:t>频</a:t>
            </a:r>
            <a:r>
              <a:rPr lang="zh-CN" altLang="en-US" sz="1600" dirty="0" smtClean="0">
                <a:solidFill>
                  <a:schemeClr val="tx1"/>
                </a:solidFill>
                <a:cs typeface="+mn-ea"/>
                <a:sym typeface="+mn-lt"/>
              </a:rPr>
              <a:t>宽；</a:t>
            </a:r>
            <a:endParaRPr lang="zh-CN" altLang="en-US" sz="1600" dirty="0">
              <a:solidFill>
                <a:schemeClr val="tx1"/>
              </a:solidFill>
              <a:cs typeface="+mn-ea"/>
              <a:sym typeface="+mn-lt"/>
            </a:endParaRPr>
          </a:p>
          <a:p>
            <a:pPr marL="285750" indent="-285750">
              <a:lnSpc>
                <a:spcPts val="2800"/>
              </a:lnSpc>
              <a:spcAft>
                <a:spcPts val="600"/>
              </a:spcAft>
              <a:buFont typeface="Arial" panose="020B0604020202020204" pitchFamily="34" charset="0"/>
              <a:buChar char="•"/>
            </a:pPr>
            <a:r>
              <a:rPr lang="zh-CN" altLang="en-US" sz="1600" b="1" dirty="0" smtClean="0">
                <a:solidFill>
                  <a:schemeClr val="tx1"/>
                </a:solidFill>
                <a:cs typeface="+mn-ea"/>
                <a:sym typeface="+mn-lt"/>
              </a:rPr>
              <a:t>对于</a:t>
            </a:r>
            <a:r>
              <a:rPr lang="en-US" altLang="zh-CN" sz="1600" b="1" dirty="0" smtClean="0">
                <a:solidFill>
                  <a:schemeClr val="tx1"/>
                </a:solidFill>
                <a:cs typeface="+mn-ea"/>
                <a:sym typeface="+mn-lt"/>
              </a:rPr>
              <a:t>5G</a:t>
            </a:r>
            <a:r>
              <a:rPr lang="zh-CN" altLang="en-US" sz="1600" b="1" dirty="0">
                <a:solidFill>
                  <a:schemeClr val="tx1"/>
                </a:solidFill>
                <a:cs typeface="+mn-ea"/>
                <a:sym typeface="+mn-lt"/>
              </a:rPr>
              <a:t>频段</a:t>
            </a:r>
            <a:r>
              <a:rPr lang="zh-CN" altLang="en-US" sz="1600" b="1" dirty="0" smtClean="0">
                <a:solidFill>
                  <a:schemeClr val="tx1"/>
                </a:solidFill>
                <a:cs typeface="+mn-ea"/>
                <a:sym typeface="+mn-lt"/>
              </a:rPr>
              <a:t>：</a:t>
            </a:r>
            <a:r>
              <a:rPr lang="zh-CN" altLang="en-US" sz="1600" dirty="0">
                <a:solidFill>
                  <a:schemeClr val="tx1"/>
                </a:solidFill>
                <a:cs typeface="+mn-ea"/>
                <a:sym typeface="+mn-lt"/>
              </a:rPr>
              <a:t>推荐使用</a:t>
            </a:r>
            <a:r>
              <a:rPr lang="en-US" altLang="zh-CN" sz="1600" dirty="0" smtClean="0">
                <a:solidFill>
                  <a:schemeClr val="tx1"/>
                </a:solidFill>
                <a:cs typeface="+mn-ea"/>
                <a:sym typeface="+mn-lt"/>
              </a:rPr>
              <a:t>40 M</a:t>
            </a:r>
            <a:r>
              <a:rPr lang="zh-CN" altLang="en-US" sz="1600" dirty="0">
                <a:solidFill>
                  <a:schemeClr val="tx1"/>
                </a:solidFill>
                <a:cs typeface="+mn-ea"/>
                <a:sym typeface="+mn-lt"/>
              </a:rPr>
              <a:t>频宽，在高带宽需求场景下，可以使用</a:t>
            </a:r>
            <a:r>
              <a:rPr lang="en-US" altLang="zh-CN" sz="1600" dirty="0" smtClean="0">
                <a:solidFill>
                  <a:schemeClr val="tx1"/>
                </a:solidFill>
                <a:cs typeface="+mn-ea"/>
                <a:sym typeface="+mn-lt"/>
              </a:rPr>
              <a:t>80 M</a:t>
            </a:r>
            <a:r>
              <a:rPr lang="zh-CN" altLang="en-US" sz="1600" dirty="0">
                <a:solidFill>
                  <a:schemeClr val="tx1"/>
                </a:solidFill>
                <a:cs typeface="+mn-ea"/>
                <a:sym typeface="+mn-lt"/>
              </a:rPr>
              <a:t>或者</a:t>
            </a:r>
            <a:r>
              <a:rPr lang="en-US" altLang="zh-CN" sz="1600" dirty="0" smtClean="0">
                <a:solidFill>
                  <a:schemeClr val="tx1"/>
                </a:solidFill>
                <a:cs typeface="+mn-ea"/>
                <a:sym typeface="+mn-lt"/>
              </a:rPr>
              <a:t>160 M</a:t>
            </a:r>
            <a:r>
              <a:rPr lang="zh-CN" altLang="en-US" sz="1600" dirty="0" smtClean="0">
                <a:solidFill>
                  <a:schemeClr val="tx1"/>
                </a:solidFill>
                <a:cs typeface="+mn-ea"/>
                <a:sym typeface="+mn-lt"/>
              </a:rPr>
              <a:t>。</a:t>
            </a:r>
            <a:endParaRPr lang="zh-CN" altLang="en-US" sz="1600" dirty="0">
              <a:solidFill>
                <a:schemeClr val="tx1"/>
              </a:solidFill>
              <a:cs typeface="+mn-ea"/>
              <a:sym typeface="+mn-lt"/>
            </a:endParaRPr>
          </a:p>
        </p:txBody>
      </p:sp>
      <p:sp>
        <p:nvSpPr>
          <p:cNvPr id="13" name="五边形 12"/>
          <p:cNvSpPr/>
          <p:nvPr/>
        </p:nvSpPr>
        <p:spPr bwMode="gray">
          <a:xfrm>
            <a:off x="7608888"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无线规划</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418541"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9228194"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100378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无线漫游</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10847500"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射频调优</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07587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组网设计</a:t>
            </a:r>
          </a:p>
        </p:txBody>
      </p:sp>
      <p:sp>
        <p:nvSpPr>
          <p:cNvPr id="39" name="TextBox 303"/>
          <p:cNvSpPr txBox="1"/>
          <p:nvPr/>
        </p:nvSpPr>
        <p:spPr bwMode="gray">
          <a:xfrm>
            <a:off x="731838" y="4019456"/>
            <a:ext cx="912236" cy="1429126"/>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21" name="五边形 20"/>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22" name="燕尾形 21"/>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bg1">
                    <a:lumMod val="50000"/>
                  </a:schemeClr>
                </a:solidFill>
                <a:cs typeface="+mn-ea"/>
                <a:sym typeface="+mn-lt"/>
              </a:rPr>
              <a:t>网络开局设计</a:t>
            </a:r>
            <a:endParaRPr lang="zh-CN" altLang="en-US" sz="1600" dirty="0">
              <a:solidFill>
                <a:schemeClr val="bg1">
                  <a:lumMod val="50000"/>
                </a:schemeClr>
              </a:solidFill>
              <a:cs typeface="+mn-ea"/>
              <a:sym typeface="+mn-lt"/>
            </a:endParaRPr>
          </a:p>
        </p:txBody>
      </p:sp>
      <p:sp>
        <p:nvSpPr>
          <p:cNvPr id="23" name="燕尾形 22"/>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24" name="燕尾形 23"/>
          <p:cNvSpPr/>
          <p:nvPr/>
        </p:nvSpPr>
        <p:spPr bwMode="grayWhite">
          <a:xfrm>
            <a:off x="8786686" y="4314711"/>
            <a:ext cx="2304000" cy="360000"/>
          </a:xfrm>
          <a:prstGeom prst="chevron">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cs typeface="+mn-ea"/>
                <a:sym typeface="+mn-lt"/>
              </a:rPr>
              <a:t>NAC</a:t>
            </a:r>
            <a:r>
              <a:rPr lang="zh-CN" altLang="en-US" sz="1600" dirty="0">
                <a:solidFill>
                  <a:schemeClr val="tx1"/>
                </a:solidFill>
                <a:cs typeface="+mn-ea"/>
                <a:sym typeface="+mn-lt"/>
              </a:rPr>
              <a:t>设计</a:t>
            </a:r>
          </a:p>
        </p:txBody>
      </p:sp>
      <p:sp>
        <p:nvSpPr>
          <p:cNvPr id="25" name="五边形 24"/>
          <p:cNvSpPr/>
          <p:nvPr/>
        </p:nvSpPr>
        <p:spPr bwMode="gray">
          <a:xfrm>
            <a:off x="2113280" y="4782453"/>
            <a:ext cx="272288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增值业务与运维管理设计</a:t>
            </a:r>
          </a:p>
        </p:txBody>
      </p:sp>
      <p:sp>
        <p:nvSpPr>
          <p:cNvPr id="26" name="燕尾形 25"/>
          <p:cNvSpPr/>
          <p:nvPr/>
        </p:nvSpPr>
        <p:spPr bwMode="gray">
          <a:xfrm>
            <a:off x="8786686"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Tree>
    <p:extLst>
      <p:ext uri="{BB962C8B-B14F-4D97-AF65-F5344CB8AC3E}">
        <p14:creationId xmlns:p14="http://schemas.microsoft.com/office/powerpoint/2010/main" val="29606166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65"/>
          <p:cNvSpPr/>
          <p:nvPr/>
        </p:nvSpPr>
        <p:spPr bwMode="gray">
          <a:xfrm>
            <a:off x="6531195" y="3411436"/>
            <a:ext cx="874827" cy="1060942"/>
          </a:xfrm>
          <a:prstGeom prst="rect">
            <a:avLst/>
          </a:prstGeom>
          <a:solidFill>
            <a:schemeClr val="bg1">
              <a:lumMod val="95000"/>
            </a:schemeClr>
          </a:solidFill>
          <a:ln w="3175">
            <a:noFill/>
            <a:prstDash val="dash"/>
            <a:headEnd type="none"/>
            <a:tailEnd type="triangle" w="med" len="med"/>
          </a:ln>
          <a:effectLs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000000"/>
              </a:solidFill>
              <a:effectLst/>
              <a:uLnTx/>
              <a:uFillTx/>
              <a:cs typeface="+mn-ea"/>
              <a:sym typeface="+mn-lt"/>
            </a:endParaRPr>
          </a:p>
        </p:txBody>
      </p:sp>
      <p:cxnSp>
        <p:nvCxnSpPr>
          <p:cNvPr id="94" name="直接连接符 93"/>
          <p:cNvCxnSpPr/>
          <p:nvPr/>
        </p:nvCxnSpPr>
        <p:spPr bwMode="gray">
          <a:xfrm>
            <a:off x="6971781" y="2274156"/>
            <a:ext cx="0" cy="1502368"/>
          </a:xfrm>
          <a:prstGeom prst="line">
            <a:avLst/>
          </a:prstGeom>
          <a:noFill/>
          <a:ln w="12700">
            <a:solidFill>
              <a:schemeClr val="bg1">
                <a:lumMod val="65000"/>
              </a:schemeClr>
            </a:solidFill>
            <a:prstDash val="sysDot"/>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矩形 12"/>
          <p:cNvSpPr/>
          <p:nvPr/>
        </p:nvSpPr>
        <p:spPr bwMode="gray">
          <a:xfrm>
            <a:off x="3502443" y="3411436"/>
            <a:ext cx="874827" cy="1060942"/>
          </a:xfrm>
          <a:prstGeom prst="rect">
            <a:avLst/>
          </a:prstGeom>
          <a:solidFill>
            <a:schemeClr val="bg1">
              <a:lumMod val="95000"/>
            </a:schemeClr>
          </a:solidFill>
          <a:ln w="3175">
            <a:noFill/>
            <a:prstDash val="dash"/>
            <a:headEnd type="none"/>
            <a:tailEnd type="triangle" w="med" len="med"/>
          </a:ln>
          <a:effectLs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000000"/>
              </a:solidFill>
              <a:effectLst/>
              <a:uLnTx/>
              <a:uFillTx/>
              <a:cs typeface="+mn-ea"/>
              <a:sym typeface="+mn-lt"/>
            </a:endParaRPr>
          </a:p>
        </p:txBody>
      </p:sp>
      <p:cxnSp>
        <p:nvCxnSpPr>
          <p:cNvPr id="90" name="直接连接符 89"/>
          <p:cNvCxnSpPr/>
          <p:nvPr/>
        </p:nvCxnSpPr>
        <p:spPr bwMode="gray">
          <a:xfrm>
            <a:off x="3939856" y="2274156"/>
            <a:ext cx="0" cy="1502368"/>
          </a:xfrm>
          <a:prstGeom prst="line">
            <a:avLst/>
          </a:prstGeom>
          <a:noFill/>
          <a:ln w="12700">
            <a:solidFill>
              <a:schemeClr val="bg1">
                <a:lumMod val="65000"/>
              </a:schemeClr>
            </a:solidFill>
            <a:prstDash val="sysDot"/>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矩形 5"/>
          <p:cNvSpPr/>
          <p:nvPr/>
        </p:nvSpPr>
        <p:spPr bwMode="gray">
          <a:xfrm>
            <a:off x="1388854" y="3411436"/>
            <a:ext cx="874827" cy="1060942"/>
          </a:xfrm>
          <a:prstGeom prst="rect">
            <a:avLst/>
          </a:prstGeom>
          <a:solidFill>
            <a:schemeClr val="bg1">
              <a:lumMod val="95000"/>
            </a:schemeClr>
          </a:solidFill>
          <a:ln w="3175">
            <a:noFill/>
            <a:prstDash val="dash"/>
            <a:headEnd type="none"/>
            <a:tailEnd type="triangle" w="med" len="med"/>
          </a:ln>
          <a:effectLs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000000"/>
              </a:solidFill>
              <a:effectLst/>
              <a:uLnTx/>
              <a:uFillTx/>
              <a:cs typeface="+mn-ea"/>
              <a:sym typeface="+mn-lt"/>
            </a:endParaRPr>
          </a:p>
        </p:txBody>
      </p:sp>
      <p:sp>
        <p:nvSpPr>
          <p:cNvPr id="18" name="矩形 17"/>
          <p:cNvSpPr/>
          <p:nvPr/>
        </p:nvSpPr>
        <p:spPr bwMode="gray">
          <a:xfrm>
            <a:off x="8957337" y="3411436"/>
            <a:ext cx="874827" cy="1060942"/>
          </a:xfrm>
          <a:prstGeom prst="rect">
            <a:avLst/>
          </a:prstGeom>
          <a:solidFill>
            <a:schemeClr val="bg1">
              <a:lumMod val="95000"/>
            </a:schemeClr>
          </a:solidFill>
          <a:ln w="3175">
            <a:noFill/>
            <a:prstDash val="dash"/>
            <a:headEnd type="none"/>
            <a:tailEnd type="triangle" w="med" len="med"/>
          </a:ln>
          <a:effectLs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smtClean="0">
              <a:ln>
                <a:noFill/>
              </a:ln>
              <a:solidFill>
                <a:srgbClr val="000000"/>
              </a:solidFill>
              <a:effectLst/>
              <a:uLnTx/>
              <a:uFillTx/>
              <a:cs typeface="+mn-ea"/>
              <a:sym typeface="+mn-lt"/>
            </a:endParaRPr>
          </a:p>
        </p:txBody>
      </p:sp>
      <p:sp>
        <p:nvSpPr>
          <p:cNvPr id="2" name="标题 1"/>
          <p:cNvSpPr>
            <a:spLocks noGrp="1"/>
          </p:cNvSpPr>
          <p:nvPr>
            <p:ph type="title"/>
          </p:nvPr>
        </p:nvSpPr>
        <p:spPr bwMode="gray"/>
        <p:txBody>
          <a:bodyPr>
            <a:normAutofit/>
          </a:bodyPr>
          <a:lstStyle/>
          <a:p>
            <a:r>
              <a:rPr lang="zh-CN" altLang="en-US" dirty="0" smtClean="0">
                <a:latin typeface="+mn-lt"/>
                <a:ea typeface="+mn-ea"/>
                <a:cs typeface="+mn-ea"/>
                <a:sym typeface="+mn-lt"/>
              </a:rPr>
              <a:t>接入控制场景</a:t>
            </a:r>
            <a:endParaRPr lang="zh-CN" altLang="en-US" dirty="0">
              <a:latin typeface="+mn-lt"/>
              <a:ea typeface="+mn-ea"/>
              <a:cs typeface="+mn-ea"/>
              <a:sym typeface="+mn-lt"/>
            </a:endParaRPr>
          </a:p>
        </p:txBody>
      </p:sp>
      <p:pic>
        <p:nvPicPr>
          <p:cNvPr id="4" name="图片 3" descr="AP.png"/>
          <p:cNvPicPr>
            <a:picLocks noChangeAspect="1"/>
          </p:cNvPicPr>
          <p:nvPr/>
        </p:nvPicPr>
        <p:blipFill>
          <a:blip r:embed="rId3" cstate="print"/>
          <a:stretch>
            <a:fillRect/>
          </a:stretch>
        </p:blipFill>
        <p:spPr bwMode="gray">
          <a:xfrm>
            <a:off x="1646267" y="3821748"/>
            <a:ext cx="360000" cy="294545"/>
          </a:xfrm>
          <a:prstGeom prst="rect">
            <a:avLst/>
          </a:prstGeom>
        </p:spPr>
      </p:pic>
      <p:sp>
        <p:nvSpPr>
          <p:cNvPr id="9" name="文本框 8"/>
          <p:cNvSpPr txBox="1"/>
          <p:nvPr/>
        </p:nvSpPr>
        <p:spPr bwMode="gray">
          <a:xfrm>
            <a:off x="4334233" y="2065532"/>
            <a:ext cx="1343451" cy="646331"/>
          </a:xfrm>
          <a:prstGeom prst="rect">
            <a:avLst/>
          </a:prstGeom>
          <a:noFill/>
        </p:spPr>
        <p:txBody>
          <a:bodyPr wrap="square" rtlCol="0">
            <a:spAutoFit/>
          </a:bodyPr>
          <a:lstStyle/>
          <a:p>
            <a:pPr algn="r" defTabSz="914400" fontAlgn="base">
              <a:spcBef>
                <a:spcPct val="0"/>
              </a:spcBef>
              <a:spcAft>
                <a:spcPct val="0"/>
              </a:spcAft>
            </a:pPr>
            <a:r>
              <a:rPr lang="zh-CN" altLang="en-US" sz="1200" dirty="0" smtClean="0">
                <a:solidFill>
                  <a:srgbClr val="000000"/>
                </a:solidFill>
                <a:cs typeface="+mn-ea"/>
                <a:sym typeface="+mn-lt"/>
              </a:rPr>
              <a:t>第三方</a:t>
            </a:r>
            <a:endParaRPr lang="en-US" altLang="zh-CN" sz="1200" dirty="0" smtClean="0">
              <a:solidFill>
                <a:srgbClr val="000000"/>
              </a:solidFill>
              <a:cs typeface="+mn-ea"/>
              <a:sym typeface="+mn-lt"/>
            </a:endParaRPr>
          </a:p>
          <a:p>
            <a:pPr algn="r" defTabSz="914400" fontAlgn="base">
              <a:spcBef>
                <a:spcPct val="0"/>
              </a:spcBef>
              <a:spcAft>
                <a:spcPct val="0"/>
              </a:spcAft>
            </a:pPr>
            <a:r>
              <a:rPr lang="zh-CN" altLang="en-US" sz="1200" dirty="0" smtClean="0">
                <a:solidFill>
                  <a:srgbClr val="000000"/>
                </a:solidFill>
                <a:cs typeface="+mn-ea"/>
                <a:sym typeface="+mn-lt"/>
              </a:rPr>
              <a:t>（</a:t>
            </a:r>
            <a:r>
              <a:rPr lang="en-US" altLang="zh-CN" sz="1200" dirty="0" smtClean="0">
                <a:solidFill>
                  <a:srgbClr val="000000"/>
                </a:solidFill>
                <a:cs typeface="+mn-ea"/>
                <a:sym typeface="+mn-lt"/>
              </a:rPr>
              <a:t>HTTP/HTTPS</a:t>
            </a:r>
            <a:r>
              <a:rPr lang="zh-CN" altLang="en-US" sz="1200" dirty="0" smtClean="0">
                <a:solidFill>
                  <a:srgbClr val="000000"/>
                </a:solidFill>
                <a:cs typeface="+mn-ea"/>
                <a:sym typeface="+mn-lt"/>
              </a:rPr>
              <a:t>）</a:t>
            </a:r>
            <a:endParaRPr lang="en-US" altLang="zh-CN" sz="1200" dirty="0" smtClean="0">
              <a:solidFill>
                <a:srgbClr val="000000"/>
              </a:solidFill>
              <a:cs typeface="+mn-ea"/>
              <a:sym typeface="+mn-lt"/>
            </a:endParaRPr>
          </a:p>
          <a:p>
            <a:pPr algn="r" defTabSz="914400" fontAlgn="base">
              <a:spcBef>
                <a:spcPct val="0"/>
              </a:spcBef>
              <a:spcAft>
                <a:spcPct val="0"/>
              </a:spcAft>
            </a:pPr>
            <a:r>
              <a:rPr lang="en-US" altLang="zh-CN" sz="1200" dirty="0" smtClean="0">
                <a:solidFill>
                  <a:srgbClr val="000000"/>
                </a:solidFill>
                <a:cs typeface="+mn-ea"/>
                <a:sym typeface="+mn-lt"/>
              </a:rPr>
              <a:t>Portal Server</a:t>
            </a:r>
            <a:endParaRPr lang="zh-CN" altLang="en-US" sz="1200" dirty="0">
              <a:solidFill>
                <a:srgbClr val="000000"/>
              </a:solidFill>
              <a:cs typeface="+mn-ea"/>
              <a:sym typeface="+mn-lt"/>
            </a:endParaRPr>
          </a:p>
        </p:txBody>
      </p:sp>
      <p:pic>
        <p:nvPicPr>
          <p:cNvPr id="19" name="图片 18" descr="交换机.png"/>
          <p:cNvPicPr>
            <a:picLocks noChangeAspect="1"/>
          </p:cNvPicPr>
          <p:nvPr/>
        </p:nvPicPr>
        <p:blipFill>
          <a:blip r:embed="rId4" cstate="print"/>
          <a:stretch>
            <a:fillRect/>
          </a:stretch>
        </p:blipFill>
        <p:spPr bwMode="gray">
          <a:xfrm>
            <a:off x="10507734" y="3826066"/>
            <a:ext cx="396000" cy="323998"/>
          </a:xfrm>
          <a:prstGeom prst="rect">
            <a:avLst/>
          </a:prstGeom>
        </p:spPr>
      </p:pic>
      <p:sp>
        <p:nvSpPr>
          <p:cNvPr id="22" name="文本框 21"/>
          <p:cNvSpPr txBox="1"/>
          <p:nvPr/>
        </p:nvSpPr>
        <p:spPr bwMode="gray">
          <a:xfrm>
            <a:off x="9938087" y="3318718"/>
            <a:ext cx="1524205" cy="461665"/>
          </a:xfrm>
          <a:prstGeom prst="rect">
            <a:avLst/>
          </a:prstGeom>
          <a:noFill/>
        </p:spPr>
        <p:txBody>
          <a:bodyPr wrap="square" rtlCol="0">
            <a:spAutoFit/>
          </a:bodyPr>
          <a:lstStyle/>
          <a:p>
            <a:pPr defTabSz="914400" fontAlgn="base">
              <a:spcBef>
                <a:spcPct val="0"/>
              </a:spcBef>
              <a:spcAft>
                <a:spcPct val="0"/>
              </a:spcAft>
            </a:pPr>
            <a:r>
              <a:rPr lang="zh-CN" altLang="en-US" sz="1200" dirty="0" smtClean="0">
                <a:solidFill>
                  <a:srgbClr val="000000"/>
                </a:solidFill>
                <a:cs typeface="+mn-ea"/>
                <a:sym typeface="+mn-lt"/>
              </a:rPr>
              <a:t>第三</a:t>
            </a:r>
            <a:r>
              <a:rPr lang="zh-CN" altLang="en-US" sz="1200" dirty="0">
                <a:solidFill>
                  <a:srgbClr val="000000"/>
                </a:solidFill>
                <a:cs typeface="+mn-ea"/>
                <a:sym typeface="+mn-lt"/>
              </a:rPr>
              <a:t>方认证</a:t>
            </a:r>
            <a:r>
              <a:rPr lang="zh-CN" altLang="en-US" sz="1200" dirty="0" smtClean="0">
                <a:solidFill>
                  <a:srgbClr val="000000"/>
                </a:solidFill>
                <a:cs typeface="+mn-ea"/>
                <a:sym typeface="+mn-lt"/>
              </a:rPr>
              <a:t>服务器</a:t>
            </a:r>
            <a:r>
              <a:rPr lang="en-US" altLang="zh-CN" sz="1200" dirty="0" smtClean="0">
                <a:solidFill>
                  <a:srgbClr val="000000"/>
                </a:solidFill>
                <a:cs typeface="+mn-ea"/>
                <a:sym typeface="+mn-lt"/>
              </a:rPr>
              <a:t>(Portal + RADIUS</a:t>
            </a:r>
            <a:r>
              <a:rPr lang="en-US" altLang="zh-CN" sz="1200" dirty="0">
                <a:solidFill>
                  <a:srgbClr val="000000"/>
                </a:solidFill>
                <a:cs typeface="+mn-ea"/>
                <a:sym typeface="+mn-lt"/>
              </a:rPr>
              <a:t>)</a:t>
            </a:r>
            <a:endParaRPr lang="zh-CN" altLang="en-US" sz="1200" dirty="0">
              <a:solidFill>
                <a:srgbClr val="000000"/>
              </a:solidFill>
              <a:cs typeface="+mn-ea"/>
              <a:sym typeface="+mn-lt"/>
            </a:endParaRPr>
          </a:p>
        </p:txBody>
      </p:sp>
      <p:sp>
        <p:nvSpPr>
          <p:cNvPr id="24" name="矩形 23"/>
          <p:cNvSpPr/>
          <p:nvPr/>
        </p:nvSpPr>
        <p:spPr bwMode="gray">
          <a:xfrm>
            <a:off x="653453" y="1399898"/>
            <a:ext cx="2345628" cy="4754725"/>
          </a:xfrm>
          <a:prstGeom prst="rect">
            <a:avLst/>
          </a:prstGeom>
          <a:noFill/>
          <a:ln>
            <a:solidFill>
              <a:schemeClr val="bg1">
                <a:lumMod val="75000"/>
              </a:schemeClr>
            </a:solidFill>
          </a:ln>
          <a:effectLst/>
          <a:extLst/>
        </p:spPr>
        <p:txBody>
          <a:bodyPr wrap="square" lIns="144000" tIns="108000" rIns="144000" bIns="108000">
            <a:noAutofit/>
          </a:bodyPr>
          <a:lstStyle/>
          <a:p>
            <a:endParaRPr kumimoji="1" lang="zh-CN" altLang="en-US" sz="1400">
              <a:cs typeface="+mn-ea"/>
              <a:sym typeface="+mn-lt"/>
            </a:endParaRPr>
          </a:p>
        </p:txBody>
      </p:sp>
      <p:sp>
        <p:nvSpPr>
          <p:cNvPr id="25" name="矩形 24"/>
          <p:cNvSpPr/>
          <p:nvPr/>
        </p:nvSpPr>
        <p:spPr bwMode="gray">
          <a:xfrm>
            <a:off x="3065418" y="1399898"/>
            <a:ext cx="2703284" cy="4753252"/>
          </a:xfrm>
          <a:prstGeom prst="rect">
            <a:avLst/>
          </a:prstGeom>
          <a:noFill/>
          <a:ln>
            <a:solidFill>
              <a:schemeClr val="bg1">
                <a:lumMod val="75000"/>
              </a:schemeClr>
            </a:solidFill>
          </a:ln>
          <a:effectLst/>
          <a:extLst/>
        </p:spPr>
        <p:txBody>
          <a:bodyPr wrap="square" lIns="144000" tIns="108000" rIns="144000" bIns="108000">
            <a:noAutofit/>
          </a:bodyPr>
          <a:lstStyle/>
          <a:p>
            <a:endParaRPr kumimoji="1" lang="zh-CN" altLang="en-US" sz="1400">
              <a:cs typeface="+mn-ea"/>
              <a:sym typeface="+mn-lt"/>
            </a:endParaRPr>
          </a:p>
        </p:txBody>
      </p:sp>
      <p:sp>
        <p:nvSpPr>
          <p:cNvPr id="26" name="矩形 25"/>
          <p:cNvSpPr/>
          <p:nvPr/>
        </p:nvSpPr>
        <p:spPr bwMode="gray">
          <a:xfrm>
            <a:off x="8738855" y="1399898"/>
            <a:ext cx="2715796" cy="4753251"/>
          </a:xfrm>
          <a:prstGeom prst="rect">
            <a:avLst/>
          </a:prstGeom>
          <a:noFill/>
          <a:ln>
            <a:solidFill>
              <a:schemeClr val="bg1">
                <a:lumMod val="75000"/>
              </a:schemeClr>
            </a:solidFill>
          </a:ln>
          <a:effectLst/>
          <a:extLst/>
        </p:spPr>
        <p:txBody>
          <a:bodyPr wrap="square" lIns="144000" tIns="108000" rIns="144000" bIns="108000">
            <a:noAutofit/>
          </a:bodyPr>
          <a:lstStyle/>
          <a:p>
            <a:endParaRPr kumimoji="1" lang="zh-CN" altLang="en-US" sz="1400">
              <a:cs typeface="+mn-ea"/>
              <a:sym typeface="+mn-lt"/>
            </a:endParaRPr>
          </a:p>
        </p:txBody>
      </p:sp>
      <p:sp>
        <p:nvSpPr>
          <p:cNvPr id="27" name="文本框 26"/>
          <p:cNvSpPr txBox="1"/>
          <p:nvPr/>
        </p:nvSpPr>
        <p:spPr bwMode="gray">
          <a:xfrm>
            <a:off x="653509" y="4582279"/>
            <a:ext cx="2345516" cy="1092607"/>
          </a:xfrm>
          <a:prstGeom prst="rect">
            <a:avLst/>
          </a:prstGeom>
          <a:noFill/>
        </p:spPr>
        <p:txBody>
          <a:bodyPr wrap="square" rtlCol="0">
            <a:spAutoFit/>
          </a:bodyPr>
          <a:lstStyle/>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smtClean="0">
                <a:solidFill>
                  <a:srgbClr val="000000"/>
                </a:solidFill>
                <a:cs typeface="+mn-ea"/>
                <a:sym typeface="+mn-lt"/>
              </a:rPr>
              <a:t>认证</a:t>
            </a:r>
            <a:r>
              <a:rPr lang="zh-CN" altLang="en-US" sz="1200" dirty="0">
                <a:solidFill>
                  <a:srgbClr val="000000"/>
                </a:solidFill>
                <a:cs typeface="+mn-ea"/>
                <a:sym typeface="+mn-lt"/>
              </a:rPr>
              <a:t>类型</a:t>
            </a:r>
            <a:r>
              <a:rPr lang="zh-CN" altLang="en-US" sz="1200" dirty="0" smtClean="0">
                <a:solidFill>
                  <a:srgbClr val="000000"/>
                </a:solidFill>
                <a:cs typeface="+mn-ea"/>
                <a:sym typeface="+mn-lt"/>
              </a:rPr>
              <a:t>：</a:t>
            </a:r>
            <a:r>
              <a:rPr lang="en-US" altLang="zh-CN" sz="1200" dirty="0" smtClean="0">
                <a:solidFill>
                  <a:srgbClr val="000000"/>
                </a:solidFill>
                <a:cs typeface="+mn-ea"/>
                <a:sym typeface="+mn-lt"/>
              </a:rPr>
              <a:t>HACA Portal</a:t>
            </a:r>
            <a:r>
              <a:rPr lang="zh-CN" altLang="en-US" sz="1200" dirty="0" smtClean="0">
                <a:solidFill>
                  <a:srgbClr val="000000"/>
                </a:solidFill>
                <a:cs typeface="+mn-ea"/>
                <a:sym typeface="+mn-lt"/>
              </a:rPr>
              <a:t>、</a:t>
            </a:r>
            <a:r>
              <a:rPr lang="en-US" altLang="zh-CN" sz="1200" dirty="0" smtClean="0">
                <a:solidFill>
                  <a:srgbClr val="000000"/>
                </a:solidFill>
                <a:cs typeface="+mn-ea"/>
                <a:sym typeface="+mn-lt"/>
              </a:rPr>
              <a:t>802.1X</a:t>
            </a:r>
            <a:r>
              <a:rPr lang="zh-CN" altLang="en-US" sz="1200" dirty="0" smtClean="0">
                <a:solidFill>
                  <a:srgbClr val="000000"/>
                </a:solidFill>
                <a:cs typeface="+mn-ea"/>
                <a:sym typeface="+mn-lt"/>
              </a:rPr>
              <a:t>及</a:t>
            </a:r>
            <a:r>
              <a:rPr lang="en-US" altLang="zh-CN" sz="1200" dirty="0" smtClean="0">
                <a:solidFill>
                  <a:srgbClr val="000000"/>
                </a:solidFill>
                <a:cs typeface="+mn-ea"/>
                <a:sym typeface="+mn-lt"/>
              </a:rPr>
              <a:t>MAC</a:t>
            </a:r>
            <a:r>
              <a:rPr lang="zh-CN" altLang="en-US" sz="1200" dirty="0">
                <a:solidFill>
                  <a:srgbClr val="000000"/>
                </a:solidFill>
                <a:cs typeface="+mn-ea"/>
                <a:sym typeface="+mn-lt"/>
              </a:rPr>
              <a:t>认证</a:t>
            </a:r>
            <a:endParaRPr lang="en-US" altLang="zh-CN" sz="1200" dirty="0">
              <a:solidFill>
                <a:srgbClr val="000000"/>
              </a:solidFill>
              <a:cs typeface="+mn-ea"/>
              <a:sym typeface="+mn-lt"/>
            </a:endParaRPr>
          </a:p>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smtClean="0">
                <a:solidFill>
                  <a:srgbClr val="000000"/>
                </a:solidFill>
                <a:cs typeface="+mn-ea"/>
                <a:sym typeface="+mn-lt"/>
              </a:rPr>
              <a:t>场景</a:t>
            </a:r>
            <a:r>
              <a:rPr lang="zh-CN" altLang="en-US" sz="1200" dirty="0">
                <a:solidFill>
                  <a:srgbClr val="000000"/>
                </a:solidFill>
                <a:cs typeface="+mn-ea"/>
                <a:sym typeface="+mn-lt"/>
              </a:rPr>
              <a:t>描述</a:t>
            </a:r>
            <a:r>
              <a:rPr lang="zh-CN" altLang="en-US" sz="1200" dirty="0" smtClean="0">
                <a:solidFill>
                  <a:srgbClr val="000000"/>
                </a:solidFill>
                <a:cs typeface="+mn-ea"/>
                <a:sym typeface="+mn-lt"/>
              </a:rPr>
              <a:t>：</a:t>
            </a:r>
            <a:r>
              <a:rPr lang="en-US" altLang="zh-CN" sz="1200" dirty="0" err="1" smtClean="0">
                <a:solidFill>
                  <a:srgbClr val="000000"/>
                </a:solidFill>
                <a:cs typeface="+mn-ea"/>
                <a:sym typeface="+mn-lt"/>
              </a:rPr>
              <a:t>iMaster</a:t>
            </a:r>
            <a:r>
              <a:rPr lang="en-US" altLang="zh-CN" sz="1200" dirty="0" smtClean="0">
                <a:solidFill>
                  <a:srgbClr val="000000"/>
                </a:solidFill>
                <a:cs typeface="+mn-ea"/>
                <a:sym typeface="+mn-lt"/>
              </a:rPr>
              <a:t> NCE-Campus</a:t>
            </a:r>
            <a:r>
              <a:rPr lang="zh-CN" altLang="en-US" sz="1200" dirty="0" smtClean="0">
                <a:solidFill>
                  <a:srgbClr val="000000"/>
                </a:solidFill>
                <a:cs typeface="+mn-ea"/>
                <a:sym typeface="+mn-lt"/>
              </a:rPr>
              <a:t>作为</a:t>
            </a:r>
            <a:r>
              <a:rPr lang="zh-CN" altLang="en-US" sz="1200" dirty="0">
                <a:solidFill>
                  <a:srgbClr val="000000"/>
                </a:solidFill>
                <a:cs typeface="+mn-ea"/>
                <a:sym typeface="+mn-lt"/>
              </a:rPr>
              <a:t>认证</a:t>
            </a:r>
            <a:r>
              <a:rPr lang="zh-CN" altLang="en-US" sz="1200" dirty="0" smtClean="0">
                <a:solidFill>
                  <a:srgbClr val="000000"/>
                </a:solidFill>
                <a:cs typeface="+mn-ea"/>
                <a:sym typeface="+mn-lt"/>
              </a:rPr>
              <a:t>服务器。</a:t>
            </a:r>
            <a:endParaRPr lang="en-US" altLang="zh-CN" sz="1200" dirty="0">
              <a:solidFill>
                <a:srgbClr val="000000"/>
              </a:solidFill>
              <a:cs typeface="+mn-ea"/>
              <a:sym typeface="+mn-lt"/>
            </a:endParaRPr>
          </a:p>
        </p:txBody>
      </p:sp>
      <p:sp>
        <p:nvSpPr>
          <p:cNvPr id="28" name="文本框 27"/>
          <p:cNvSpPr txBox="1"/>
          <p:nvPr/>
        </p:nvSpPr>
        <p:spPr bwMode="gray">
          <a:xfrm>
            <a:off x="3078321" y="4582279"/>
            <a:ext cx="2682740" cy="1092607"/>
          </a:xfrm>
          <a:prstGeom prst="rect">
            <a:avLst/>
          </a:prstGeom>
          <a:noFill/>
        </p:spPr>
        <p:txBody>
          <a:bodyPr wrap="square" rtlCol="0">
            <a:spAutoFit/>
          </a:bodyPr>
          <a:lstStyle/>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smtClean="0">
                <a:solidFill>
                  <a:srgbClr val="000000"/>
                </a:solidFill>
                <a:cs typeface="+mn-ea"/>
                <a:sym typeface="+mn-lt"/>
              </a:rPr>
              <a:t>认证</a:t>
            </a:r>
            <a:r>
              <a:rPr lang="zh-CN" altLang="en-US" sz="1200" dirty="0">
                <a:solidFill>
                  <a:srgbClr val="000000"/>
                </a:solidFill>
                <a:cs typeface="+mn-ea"/>
                <a:sym typeface="+mn-lt"/>
              </a:rPr>
              <a:t>类型</a:t>
            </a:r>
            <a:r>
              <a:rPr lang="zh-CN" altLang="en-US" sz="1200" dirty="0" smtClean="0">
                <a:solidFill>
                  <a:srgbClr val="000000"/>
                </a:solidFill>
                <a:cs typeface="+mn-ea"/>
                <a:sym typeface="+mn-lt"/>
              </a:rPr>
              <a:t>：</a:t>
            </a:r>
            <a:r>
              <a:rPr lang="en-US" altLang="zh-CN" sz="1200" dirty="0" smtClean="0">
                <a:solidFill>
                  <a:srgbClr val="000000"/>
                </a:solidFill>
                <a:cs typeface="+mn-ea"/>
                <a:sym typeface="+mn-lt"/>
              </a:rPr>
              <a:t>HACA Portal</a:t>
            </a:r>
            <a:r>
              <a:rPr lang="zh-CN" altLang="en-US" sz="1200" dirty="0">
                <a:solidFill>
                  <a:srgbClr val="000000"/>
                </a:solidFill>
                <a:cs typeface="+mn-ea"/>
                <a:sym typeface="+mn-lt"/>
              </a:rPr>
              <a:t>中继</a:t>
            </a:r>
            <a:r>
              <a:rPr lang="zh-CN" altLang="en-US" sz="1200" dirty="0" smtClean="0">
                <a:solidFill>
                  <a:srgbClr val="000000"/>
                </a:solidFill>
                <a:cs typeface="+mn-ea"/>
                <a:sym typeface="+mn-lt"/>
              </a:rPr>
              <a:t>方案</a:t>
            </a:r>
            <a:endParaRPr lang="en-US" altLang="zh-CN" sz="1200" dirty="0" smtClean="0">
              <a:solidFill>
                <a:srgbClr val="000000"/>
              </a:solidFill>
              <a:cs typeface="+mn-ea"/>
              <a:sym typeface="+mn-lt"/>
            </a:endParaRPr>
          </a:p>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smtClean="0">
                <a:solidFill>
                  <a:srgbClr val="000000"/>
                </a:solidFill>
                <a:cs typeface="+mn-ea"/>
                <a:sym typeface="+mn-lt"/>
              </a:rPr>
              <a:t>场景</a:t>
            </a:r>
            <a:r>
              <a:rPr lang="zh-CN" altLang="en-US" sz="1200" dirty="0">
                <a:solidFill>
                  <a:srgbClr val="000000"/>
                </a:solidFill>
                <a:cs typeface="+mn-ea"/>
                <a:sym typeface="+mn-lt"/>
              </a:rPr>
              <a:t>描述</a:t>
            </a:r>
            <a:r>
              <a:rPr lang="zh-CN" altLang="en-US" sz="1200" dirty="0" smtClean="0">
                <a:solidFill>
                  <a:srgbClr val="000000"/>
                </a:solidFill>
                <a:cs typeface="+mn-ea"/>
                <a:sym typeface="+mn-lt"/>
              </a:rPr>
              <a:t>：客户</a:t>
            </a:r>
            <a:r>
              <a:rPr lang="zh-CN" altLang="en-US" sz="1200" dirty="0">
                <a:solidFill>
                  <a:srgbClr val="000000"/>
                </a:solidFill>
                <a:cs typeface="+mn-ea"/>
                <a:sym typeface="+mn-lt"/>
              </a:rPr>
              <a:t>已</a:t>
            </a:r>
            <a:r>
              <a:rPr lang="zh-CN" altLang="en-US" sz="1200" dirty="0" smtClean="0">
                <a:solidFill>
                  <a:srgbClr val="000000"/>
                </a:solidFill>
                <a:cs typeface="+mn-ea"/>
                <a:sym typeface="+mn-lt"/>
              </a:rPr>
              <a:t>部署</a:t>
            </a:r>
            <a:r>
              <a:rPr lang="en-US" altLang="zh-CN" sz="1200" dirty="0" smtClean="0">
                <a:solidFill>
                  <a:srgbClr val="000000"/>
                </a:solidFill>
                <a:cs typeface="+mn-ea"/>
                <a:sym typeface="+mn-lt"/>
              </a:rPr>
              <a:t>Portal</a:t>
            </a:r>
            <a:r>
              <a:rPr lang="zh-CN" altLang="en-US" sz="1200" dirty="0" smtClean="0">
                <a:solidFill>
                  <a:srgbClr val="000000"/>
                </a:solidFill>
                <a:cs typeface="+mn-ea"/>
                <a:sym typeface="+mn-lt"/>
              </a:rPr>
              <a:t>服务器，并通过</a:t>
            </a:r>
            <a:r>
              <a:rPr lang="en-US" altLang="zh-CN" sz="1200" dirty="0" smtClean="0">
                <a:solidFill>
                  <a:srgbClr val="000000"/>
                </a:solidFill>
                <a:cs typeface="+mn-ea"/>
                <a:sym typeface="+mn-lt"/>
              </a:rPr>
              <a:t>API</a:t>
            </a:r>
            <a:r>
              <a:rPr lang="zh-CN" altLang="en-US" sz="1200" dirty="0" smtClean="0">
                <a:solidFill>
                  <a:srgbClr val="000000"/>
                </a:solidFill>
                <a:cs typeface="+mn-ea"/>
                <a:sym typeface="+mn-lt"/>
              </a:rPr>
              <a:t>方式对接</a:t>
            </a:r>
            <a:r>
              <a:rPr lang="en-US" altLang="zh-CN" sz="1200" dirty="0" err="1" smtClean="0">
                <a:solidFill>
                  <a:srgbClr val="000000"/>
                </a:solidFill>
                <a:cs typeface="+mn-ea"/>
                <a:sym typeface="+mn-lt"/>
              </a:rPr>
              <a:t>iMaster</a:t>
            </a:r>
            <a:r>
              <a:rPr lang="en-US" altLang="zh-CN" sz="1200" dirty="0" smtClean="0">
                <a:solidFill>
                  <a:srgbClr val="000000"/>
                </a:solidFill>
                <a:cs typeface="+mn-ea"/>
                <a:sym typeface="+mn-lt"/>
              </a:rPr>
              <a:t> NCE-Campus</a:t>
            </a:r>
            <a:r>
              <a:rPr lang="zh-CN" altLang="en-US" sz="1200" dirty="0" smtClean="0">
                <a:solidFill>
                  <a:srgbClr val="000000"/>
                </a:solidFill>
                <a:cs typeface="+mn-ea"/>
                <a:sym typeface="+mn-lt"/>
              </a:rPr>
              <a:t>，控制器作为中继。</a:t>
            </a:r>
            <a:endParaRPr lang="en-US" altLang="zh-CN" sz="1200" dirty="0">
              <a:solidFill>
                <a:srgbClr val="000000"/>
              </a:solidFill>
              <a:cs typeface="+mn-ea"/>
              <a:sym typeface="+mn-lt"/>
            </a:endParaRPr>
          </a:p>
        </p:txBody>
      </p:sp>
      <p:sp>
        <p:nvSpPr>
          <p:cNvPr id="29" name="文本框 28"/>
          <p:cNvSpPr txBox="1"/>
          <p:nvPr/>
        </p:nvSpPr>
        <p:spPr bwMode="gray">
          <a:xfrm>
            <a:off x="8731214" y="4582279"/>
            <a:ext cx="2723437" cy="1323439"/>
          </a:xfrm>
          <a:prstGeom prst="rect">
            <a:avLst/>
          </a:prstGeom>
          <a:noFill/>
        </p:spPr>
        <p:txBody>
          <a:bodyPr wrap="square" rtlCol="0">
            <a:spAutoFit/>
          </a:bodyPr>
          <a:lstStyle/>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smtClean="0">
                <a:solidFill>
                  <a:srgbClr val="000000"/>
                </a:solidFill>
                <a:cs typeface="+mn-ea"/>
                <a:sym typeface="+mn-lt"/>
              </a:rPr>
              <a:t>认证</a:t>
            </a:r>
            <a:r>
              <a:rPr lang="zh-CN" altLang="en-US" sz="1200" dirty="0">
                <a:solidFill>
                  <a:srgbClr val="000000"/>
                </a:solidFill>
                <a:cs typeface="+mn-ea"/>
                <a:sym typeface="+mn-lt"/>
              </a:rPr>
              <a:t>类型：</a:t>
            </a:r>
            <a:r>
              <a:rPr lang="en-US" altLang="zh-CN" sz="1200" dirty="0" smtClean="0">
                <a:solidFill>
                  <a:srgbClr val="000000"/>
                </a:solidFill>
                <a:cs typeface="+mn-ea"/>
                <a:sym typeface="+mn-lt"/>
              </a:rPr>
              <a:t>Portal</a:t>
            </a:r>
            <a:r>
              <a:rPr lang="zh-CN" altLang="en-US" sz="1200" dirty="0" smtClean="0">
                <a:solidFill>
                  <a:srgbClr val="000000"/>
                </a:solidFill>
                <a:cs typeface="+mn-ea"/>
                <a:sym typeface="+mn-lt"/>
              </a:rPr>
              <a:t>、</a:t>
            </a:r>
            <a:r>
              <a:rPr lang="en-US" altLang="zh-CN" sz="1200" dirty="0" smtClean="0">
                <a:solidFill>
                  <a:srgbClr val="000000"/>
                </a:solidFill>
                <a:cs typeface="+mn-ea"/>
                <a:sym typeface="+mn-lt"/>
              </a:rPr>
              <a:t>HTTPS Portal</a:t>
            </a:r>
            <a:r>
              <a:rPr lang="zh-CN" altLang="en-US" sz="1200" dirty="0" smtClean="0">
                <a:solidFill>
                  <a:srgbClr val="000000"/>
                </a:solidFill>
                <a:cs typeface="+mn-ea"/>
                <a:sym typeface="+mn-lt"/>
              </a:rPr>
              <a:t>、</a:t>
            </a:r>
            <a:r>
              <a:rPr lang="en-US" altLang="zh-CN" sz="1200" dirty="0" smtClean="0">
                <a:solidFill>
                  <a:srgbClr val="000000"/>
                </a:solidFill>
                <a:cs typeface="+mn-ea"/>
                <a:sym typeface="+mn-lt"/>
              </a:rPr>
              <a:t>802.1X</a:t>
            </a:r>
            <a:r>
              <a:rPr lang="zh-CN" altLang="en-US" sz="1200" dirty="0" smtClean="0">
                <a:solidFill>
                  <a:srgbClr val="000000"/>
                </a:solidFill>
                <a:cs typeface="+mn-ea"/>
                <a:sym typeface="+mn-lt"/>
              </a:rPr>
              <a:t>及</a:t>
            </a:r>
            <a:r>
              <a:rPr lang="en-US" altLang="zh-CN" sz="1200" dirty="0" smtClean="0">
                <a:solidFill>
                  <a:srgbClr val="000000"/>
                </a:solidFill>
                <a:cs typeface="+mn-ea"/>
                <a:sym typeface="+mn-lt"/>
              </a:rPr>
              <a:t>MAC</a:t>
            </a:r>
            <a:r>
              <a:rPr lang="zh-CN" altLang="en-US" sz="1200" dirty="0" smtClean="0">
                <a:solidFill>
                  <a:srgbClr val="000000"/>
                </a:solidFill>
                <a:cs typeface="+mn-ea"/>
                <a:sym typeface="+mn-lt"/>
              </a:rPr>
              <a:t>认证</a:t>
            </a:r>
            <a:endParaRPr lang="en-US" altLang="zh-CN" sz="1200" dirty="0">
              <a:solidFill>
                <a:srgbClr val="000000"/>
              </a:solidFill>
              <a:cs typeface="+mn-ea"/>
              <a:sym typeface="+mn-lt"/>
            </a:endParaRPr>
          </a:p>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a:solidFill>
                  <a:srgbClr val="000000"/>
                </a:solidFill>
                <a:cs typeface="+mn-ea"/>
                <a:sym typeface="+mn-lt"/>
              </a:rPr>
              <a:t>场景描述</a:t>
            </a:r>
            <a:r>
              <a:rPr lang="zh-CN" altLang="en-US" sz="1200" dirty="0" smtClean="0">
                <a:solidFill>
                  <a:srgbClr val="000000"/>
                </a:solidFill>
                <a:cs typeface="+mn-ea"/>
                <a:sym typeface="+mn-lt"/>
              </a:rPr>
              <a:t>：认证点网络设备直接对接</a:t>
            </a:r>
            <a:r>
              <a:rPr lang="zh-CN" altLang="en-US" sz="1200" dirty="0">
                <a:solidFill>
                  <a:srgbClr val="000000"/>
                </a:solidFill>
                <a:cs typeface="+mn-ea"/>
                <a:sym typeface="+mn-lt"/>
              </a:rPr>
              <a:t>第三方</a:t>
            </a:r>
            <a:r>
              <a:rPr lang="zh-CN" altLang="en-US" sz="1200" dirty="0" smtClean="0">
                <a:solidFill>
                  <a:srgbClr val="000000"/>
                </a:solidFill>
                <a:cs typeface="+mn-ea"/>
                <a:sym typeface="+mn-lt"/>
              </a:rPr>
              <a:t>服务器 </a:t>
            </a:r>
            <a:r>
              <a:rPr lang="en-US" altLang="zh-CN" sz="1200" dirty="0" smtClean="0">
                <a:solidFill>
                  <a:srgbClr val="000000"/>
                </a:solidFill>
                <a:cs typeface="+mn-ea"/>
                <a:sym typeface="+mn-lt"/>
              </a:rPr>
              <a:t>(</a:t>
            </a:r>
            <a:r>
              <a:rPr lang="zh-CN" altLang="en-US" sz="1200" dirty="0" smtClean="0">
                <a:solidFill>
                  <a:srgbClr val="000000"/>
                </a:solidFill>
                <a:cs typeface="+mn-ea"/>
                <a:sym typeface="+mn-lt"/>
              </a:rPr>
              <a:t>备注：</a:t>
            </a:r>
            <a:r>
              <a:rPr lang="en-US" altLang="zh-CN" sz="1200" dirty="0" smtClean="0">
                <a:solidFill>
                  <a:srgbClr val="000000"/>
                </a:solidFill>
                <a:cs typeface="+mn-ea"/>
                <a:sym typeface="+mn-lt"/>
              </a:rPr>
              <a:t>HTTPS Portal</a:t>
            </a:r>
            <a:r>
              <a:rPr lang="zh-CN" altLang="en-US" sz="1200" dirty="0" smtClean="0">
                <a:solidFill>
                  <a:srgbClr val="000000"/>
                </a:solidFill>
                <a:cs typeface="+mn-ea"/>
                <a:sym typeface="+mn-lt"/>
              </a:rPr>
              <a:t>使用命令行配置）。</a:t>
            </a:r>
            <a:endParaRPr lang="en-US" altLang="zh-CN" sz="1200" dirty="0">
              <a:solidFill>
                <a:srgbClr val="000000"/>
              </a:solidFill>
              <a:cs typeface="+mn-ea"/>
              <a:sym typeface="+mn-lt"/>
            </a:endParaRPr>
          </a:p>
        </p:txBody>
      </p:sp>
      <p:sp>
        <p:nvSpPr>
          <p:cNvPr id="31" name="文本框 30"/>
          <p:cNvSpPr txBox="1"/>
          <p:nvPr/>
        </p:nvSpPr>
        <p:spPr bwMode="gray">
          <a:xfrm>
            <a:off x="7855539" y="2112314"/>
            <a:ext cx="749141" cy="646331"/>
          </a:xfrm>
          <a:prstGeom prst="rect">
            <a:avLst/>
          </a:prstGeom>
          <a:noFill/>
        </p:spPr>
        <p:txBody>
          <a:bodyPr wrap="square" rtlCol="0">
            <a:spAutoFit/>
          </a:bodyPr>
          <a:lstStyle/>
          <a:p>
            <a:pPr algn="r" defTabSz="914400" fontAlgn="base">
              <a:spcBef>
                <a:spcPct val="0"/>
              </a:spcBef>
              <a:spcAft>
                <a:spcPct val="0"/>
              </a:spcAft>
            </a:pPr>
            <a:r>
              <a:rPr lang="zh-CN" altLang="en-US" sz="1200" dirty="0" smtClean="0">
                <a:solidFill>
                  <a:srgbClr val="000000"/>
                </a:solidFill>
                <a:cs typeface="+mn-ea"/>
                <a:sym typeface="+mn-lt"/>
              </a:rPr>
              <a:t>第三方</a:t>
            </a:r>
            <a:r>
              <a:rPr lang="en-US" altLang="zh-CN" sz="1200" dirty="0">
                <a:solidFill>
                  <a:srgbClr val="000000"/>
                </a:solidFill>
                <a:cs typeface="+mn-ea"/>
                <a:sym typeface="+mn-lt"/>
              </a:rPr>
              <a:t>RADIUS S</a:t>
            </a:r>
            <a:r>
              <a:rPr lang="en-US" altLang="zh-CN" sz="1200" dirty="0" smtClean="0">
                <a:solidFill>
                  <a:srgbClr val="000000"/>
                </a:solidFill>
                <a:cs typeface="+mn-ea"/>
                <a:sym typeface="+mn-lt"/>
              </a:rPr>
              <a:t>erver</a:t>
            </a:r>
            <a:endParaRPr lang="zh-CN" altLang="en-US" sz="1200" dirty="0">
              <a:solidFill>
                <a:srgbClr val="000000"/>
              </a:solidFill>
              <a:cs typeface="+mn-ea"/>
              <a:sym typeface="+mn-lt"/>
            </a:endParaRPr>
          </a:p>
        </p:txBody>
      </p:sp>
      <p:sp>
        <p:nvSpPr>
          <p:cNvPr id="37" name="矩形 36"/>
          <p:cNvSpPr/>
          <p:nvPr/>
        </p:nvSpPr>
        <p:spPr bwMode="gray">
          <a:xfrm>
            <a:off x="5874438" y="1399898"/>
            <a:ext cx="2780029" cy="4754153"/>
          </a:xfrm>
          <a:prstGeom prst="rect">
            <a:avLst/>
          </a:prstGeom>
          <a:noFill/>
          <a:ln>
            <a:solidFill>
              <a:schemeClr val="bg1">
                <a:lumMod val="75000"/>
              </a:schemeClr>
            </a:solidFill>
          </a:ln>
          <a:effectLst/>
          <a:extLst/>
        </p:spPr>
        <p:txBody>
          <a:bodyPr wrap="square" lIns="144000" tIns="108000" rIns="144000" bIns="108000">
            <a:noAutofit/>
          </a:bodyPr>
          <a:lstStyle/>
          <a:p>
            <a:endParaRPr kumimoji="1" lang="zh-CN" altLang="en-US" sz="1400">
              <a:cs typeface="+mn-ea"/>
              <a:sym typeface="+mn-lt"/>
            </a:endParaRPr>
          </a:p>
        </p:txBody>
      </p:sp>
      <p:sp>
        <p:nvSpPr>
          <p:cNvPr id="38" name="文本框 37"/>
          <p:cNvSpPr txBox="1"/>
          <p:nvPr/>
        </p:nvSpPr>
        <p:spPr bwMode="gray">
          <a:xfrm>
            <a:off x="5949785" y="4582279"/>
            <a:ext cx="2704683" cy="1554272"/>
          </a:xfrm>
          <a:prstGeom prst="rect">
            <a:avLst/>
          </a:prstGeom>
          <a:noFill/>
        </p:spPr>
        <p:txBody>
          <a:bodyPr wrap="square" rtlCol="0">
            <a:spAutoFit/>
          </a:bodyPr>
          <a:lstStyle/>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smtClean="0">
                <a:solidFill>
                  <a:srgbClr val="000000"/>
                </a:solidFill>
                <a:cs typeface="+mn-ea"/>
                <a:sym typeface="+mn-lt"/>
              </a:rPr>
              <a:t>认证</a:t>
            </a:r>
            <a:r>
              <a:rPr lang="zh-CN" altLang="en-US" sz="1200" dirty="0">
                <a:solidFill>
                  <a:srgbClr val="000000"/>
                </a:solidFill>
                <a:cs typeface="+mn-ea"/>
                <a:sym typeface="+mn-lt"/>
              </a:rPr>
              <a:t>类型</a:t>
            </a:r>
            <a:r>
              <a:rPr lang="zh-CN" altLang="en-US" sz="1200" dirty="0" smtClean="0">
                <a:solidFill>
                  <a:srgbClr val="000000"/>
                </a:solidFill>
                <a:cs typeface="+mn-ea"/>
                <a:sym typeface="+mn-lt"/>
              </a:rPr>
              <a:t>：</a:t>
            </a:r>
            <a:r>
              <a:rPr lang="en-US" altLang="zh-CN" sz="1200" dirty="0" smtClean="0">
                <a:solidFill>
                  <a:srgbClr val="000000"/>
                </a:solidFill>
                <a:cs typeface="+mn-ea"/>
                <a:sym typeface="+mn-lt"/>
              </a:rPr>
              <a:t>HACA Portal</a:t>
            </a:r>
            <a:r>
              <a:rPr lang="zh-CN" altLang="en-US" sz="1200" dirty="0" smtClean="0">
                <a:solidFill>
                  <a:srgbClr val="000000"/>
                </a:solidFill>
                <a:cs typeface="+mn-ea"/>
                <a:sym typeface="+mn-lt"/>
              </a:rPr>
              <a:t>转</a:t>
            </a:r>
            <a:r>
              <a:rPr lang="en-US" altLang="zh-CN" sz="1200" dirty="0" smtClean="0">
                <a:solidFill>
                  <a:srgbClr val="000000"/>
                </a:solidFill>
                <a:cs typeface="+mn-ea"/>
                <a:sym typeface="+mn-lt"/>
              </a:rPr>
              <a:t>RADIUS</a:t>
            </a:r>
            <a:r>
              <a:rPr lang="zh-CN" altLang="en-US" sz="1200" dirty="0" smtClean="0">
                <a:solidFill>
                  <a:srgbClr val="000000"/>
                </a:solidFill>
                <a:cs typeface="+mn-ea"/>
                <a:sym typeface="+mn-lt"/>
              </a:rPr>
              <a:t>方案</a:t>
            </a:r>
            <a:endParaRPr lang="en-US" altLang="zh-CN" sz="1200" dirty="0">
              <a:solidFill>
                <a:srgbClr val="000000"/>
              </a:solidFill>
              <a:cs typeface="+mn-ea"/>
              <a:sym typeface="+mn-lt"/>
            </a:endParaRPr>
          </a:p>
          <a:p>
            <a:pPr marL="171450" indent="-171450" defTabSz="914400" fontAlgn="base">
              <a:lnSpc>
                <a:spcPts val="1800"/>
              </a:lnSpc>
              <a:spcBef>
                <a:spcPct val="0"/>
              </a:spcBef>
              <a:spcAft>
                <a:spcPts val="600"/>
              </a:spcAft>
              <a:buFont typeface="Arial" panose="020B0604020202020204" pitchFamily="34" charset="0"/>
              <a:buChar char="•"/>
            </a:pPr>
            <a:r>
              <a:rPr lang="zh-CN" altLang="en-US" sz="1200" dirty="0" smtClean="0">
                <a:solidFill>
                  <a:srgbClr val="000000"/>
                </a:solidFill>
                <a:cs typeface="+mn-ea"/>
                <a:sym typeface="+mn-lt"/>
              </a:rPr>
              <a:t>场景</a:t>
            </a:r>
            <a:r>
              <a:rPr lang="zh-CN" altLang="en-US" sz="1200" dirty="0">
                <a:solidFill>
                  <a:srgbClr val="000000"/>
                </a:solidFill>
                <a:cs typeface="+mn-ea"/>
                <a:sym typeface="+mn-lt"/>
              </a:rPr>
              <a:t>描述</a:t>
            </a:r>
            <a:r>
              <a:rPr lang="zh-CN" altLang="en-US" sz="1200" dirty="0" smtClean="0">
                <a:solidFill>
                  <a:srgbClr val="000000"/>
                </a:solidFill>
                <a:cs typeface="+mn-ea"/>
                <a:sym typeface="+mn-lt"/>
              </a:rPr>
              <a:t>：客户</a:t>
            </a:r>
            <a:r>
              <a:rPr lang="zh-CN" altLang="en-US" sz="1200" dirty="0">
                <a:solidFill>
                  <a:srgbClr val="000000"/>
                </a:solidFill>
                <a:cs typeface="+mn-ea"/>
                <a:sym typeface="+mn-lt"/>
              </a:rPr>
              <a:t>已部署</a:t>
            </a:r>
            <a:r>
              <a:rPr lang="zh-CN" altLang="en-US" sz="1200" dirty="0" smtClean="0">
                <a:solidFill>
                  <a:srgbClr val="000000"/>
                </a:solidFill>
                <a:cs typeface="+mn-ea"/>
                <a:sym typeface="+mn-lt"/>
              </a:rPr>
              <a:t>了</a:t>
            </a:r>
            <a:r>
              <a:rPr lang="en-US" altLang="zh-CN" sz="1200" dirty="0">
                <a:solidFill>
                  <a:srgbClr val="000000"/>
                </a:solidFill>
                <a:cs typeface="+mn-ea"/>
                <a:sym typeface="+mn-lt"/>
              </a:rPr>
              <a:t>RADIUS</a:t>
            </a:r>
            <a:r>
              <a:rPr lang="zh-CN" altLang="en-US" sz="1200" dirty="0" smtClean="0">
                <a:solidFill>
                  <a:srgbClr val="000000"/>
                </a:solidFill>
                <a:cs typeface="+mn-ea"/>
                <a:sym typeface="+mn-lt"/>
              </a:rPr>
              <a:t>服务器，</a:t>
            </a:r>
            <a:r>
              <a:rPr lang="en-US" altLang="zh-CN" sz="1200" dirty="0" err="1" smtClean="0">
                <a:solidFill>
                  <a:srgbClr val="000000"/>
                </a:solidFill>
                <a:cs typeface="+mn-ea"/>
                <a:sym typeface="+mn-lt"/>
              </a:rPr>
              <a:t>iMaster</a:t>
            </a:r>
            <a:r>
              <a:rPr lang="en-US" altLang="zh-CN" sz="1200" dirty="0" smtClean="0">
                <a:solidFill>
                  <a:srgbClr val="000000"/>
                </a:solidFill>
                <a:cs typeface="+mn-ea"/>
                <a:sym typeface="+mn-lt"/>
              </a:rPr>
              <a:t> NCE-Campus</a:t>
            </a:r>
            <a:r>
              <a:rPr lang="zh-CN" altLang="en-US" sz="1200" dirty="0" smtClean="0">
                <a:solidFill>
                  <a:srgbClr val="000000"/>
                </a:solidFill>
                <a:cs typeface="+mn-ea"/>
                <a:sym typeface="+mn-lt"/>
              </a:rPr>
              <a:t>通过</a:t>
            </a:r>
            <a:r>
              <a:rPr lang="en-US" altLang="zh-CN" sz="1200" dirty="0">
                <a:solidFill>
                  <a:srgbClr val="000000"/>
                </a:solidFill>
                <a:cs typeface="+mn-ea"/>
                <a:sym typeface="+mn-lt"/>
              </a:rPr>
              <a:t>RADIUS </a:t>
            </a:r>
            <a:r>
              <a:rPr lang="zh-CN" altLang="en-US" sz="1200" dirty="0" smtClean="0">
                <a:solidFill>
                  <a:srgbClr val="000000"/>
                </a:solidFill>
                <a:cs typeface="+mn-ea"/>
                <a:sym typeface="+mn-lt"/>
              </a:rPr>
              <a:t>方式对接</a:t>
            </a:r>
            <a:r>
              <a:rPr lang="en-US" altLang="zh-CN" sz="1200" dirty="0">
                <a:solidFill>
                  <a:srgbClr val="000000"/>
                </a:solidFill>
                <a:cs typeface="+mn-ea"/>
                <a:sym typeface="+mn-lt"/>
              </a:rPr>
              <a:t>RADIUS</a:t>
            </a:r>
            <a:r>
              <a:rPr lang="zh-CN" altLang="en-US" sz="1200" dirty="0" smtClean="0">
                <a:solidFill>
                  <a:srgbClr val="000000"/>
                </a:solidFill>
                <a:cs typeface="+mn-ea"/>
                <a:sym typeface="+mn-lt"/>
              </a:rPr>
              <a:t>服务器，</a:t>
            </a:r>
            <a:r>
              <a:rPr lang="en-US" altLang="zh-CN" sz="1200" dirty="0" smtClean="0">
                <a:solidFill>
                  <a:srgbClr val="000000"/>
                </a:solidFill>
                <a:cs typeface="+mn-ea"/>
                <a:sym typeface="+mn-lt"/>
              </a:rPr>
              <a:t> </a:t>
            </a:r>
            <a:r>
              <a:rPr lang="zh-CN" altLang="en-US" sz="1200" dirty="0" smtClean="0">
                <a:solidFill>
                  <a:srgbClr val="000000"/>
                </a:solidFill>
                <a:cs typeface="+mn-ea"/>
                <a:sym typeface="+mn-lt"/>
              </a:rPr>
              <a:t>控制器作为</a:t>
            </a:r>
            <a:r>
              <a:rPr lang="en-US" altLang="zh-CN" sz="1200" dirty="0">
                <a:solidFill>
                  <a:srgbClr val="000000"/>
                </a:solidFill>
                <a:cs typeface="+mn-ea"/>
                <a:sym typeface="+mn-lt"/>
              </a:rPr>
              <a:t>RADIUS</a:t>
            </a:r>
            <a:r>
              <a:rPr lang="zh-CN" altLang="en-US" sz="1200" dirty="0" smtClean="0">
                <a:solidFill>
                  <a:srgbClr val="000000"/>
                </a:solidFill>
                <a:cs typeface="+mn-ea"/>
                <a:sym typeface="+mn-lt"/>
              </a:rPr>
              <a:t>中继。</a:t>
            </a:r>
            <a:endParaRPr lang="en-US" altLang="zh-CN" sz="1200" dirty="0">
              <a:solidFill>
                <a:srgbClr val="000000"/>
              </a:solidFill>
              <a:cs typeface="+mn-ea"/>
              <a:sym typeface="+mn-lt"/>
            </a:endParaRPr>
          </a:p>
        </p:txBody>
      </p:sp>
      <p:sp>
        <p:nvSpPr>
          <p:cNvPr id="39" name="文本框 38"/>
          <p:cNvSpPr txBox="1"/>
          <p:nvPr/>
        </p:nvSpPr>
        <p:spPr bwMode="auto">
          <a:xfrm>
            <a:off x="4500047" y="1614871"/>
            <a:ext cx="604883" cy="276999"/>
          </a:xfrm>
          <a:prstGeom prst="rect">
            <a:avLst/>
          </a:prstGeom>
          <a:noFill/>
        </p:spPr>
        <p:txBody>
          <a:bodyPr wrap="square" rtlCol="0">
            <a:spAutoFit/>
          </a:bodyPr>
          <a:lstStyle/>
          <a:p>
            <a:pPr defTabSz="914400" fontAlgn="base">
              <a:spcBef>
                <a:spcPct val="0"/>
              </a:spcBef>
              <a:spcAft>
                <a:spcPct val="0"/>
              </a:spcAft>
            </a:pPr>
            <a:r>
              <a:rPr lang="en-US" altLang="zh-CN" sz="1200" dirty="0" smtClean="0">
                <a:solidFill>
                  <a:srgbClr val="30B5C5"/>
                </a:solidFill>
                <a:cs typeface="+mn-ea"/>
                <a:sym typeface="+mn-lt"/>
              </a:rPr>
              <a:t>API</a:t>
            </a:r>
            <a:endParaRPr lang="zh-CN" altLang="en-US" sz="1200" dirty="0">
              <a:solidFill>
                <a:srgbClr val="30B5C5"/>
              </a:solidFill>
              <a:cs typeface="+mn-ea"/>
              <a:sym typeface="+mn-lt"/>
            </a:endParaRPr>
          </a:p>
        </p:txBody>
      </p:sp>
      <p:pic>
        <p:nvPicPr>
          <p:cNvPr id="44" name="图片 43" descr="交换机.png"/>
          <p:cNvPicPr>
            <a:picLocks noChangeAspect="1"/>
          </p:cNvPicPr>
          <p:nvPr/>
        </p:nvPicPr>
        <p:blipFill>
          <a:blip r:embed="rId4" cstate="print"/>
          <a:stretch>
            <a:fillRect/>
          </a:stretch>
        </p:blipFill>
        <p:spPr bwMode="gray">
          <a:xfrm>
            <a:off x="5162703" y="1758385"/>
            <a:ext cx="360000" cy="294544"/>
          </a:xfrm>
          <a:prstGeom prst="rect">
            <a:avLst/>
          </a:prstGeom>
        </p:spPr>
      </p:pic>
      <p:sp>
        <p:nvSpPr>
          <p:cNvPr id="48" name="文本框 47"/>
          <p:cNvSpPr txBox="1"/>
          <p:nvPr/>
        </p:nvSpPr>
        <p:spPr bwMode="auto">
          <a:xfrm>
            <a:off x="3175008" y="1693453"/>
            <a:ext cx="613861" cy="276999"/>
          </a:xfrm>
          <a:prstGeom prst="rect">
            <a:avLst/>
          </a:prstGeom>
          <a:noFill/>
        </p:spPr>
        <p:txBody>
          <a:bodyPr wrap="square" rtlCol="0">
            <a:spAutoFit/>
          </a:bodyPr>
          <a:lstStyle/>
          <a:p>
            <a:pPr defTabSz="914400" fontAlgn="base">
              <a:spcBef>
                <a:spcPct val="0"/>
              </a:spcBef>
              <a:spcAft>
                <a:spcPct val="0"/>
              </a:spcAft>
            </a:pPr>
            <a:r>
              <a:rPr lang="zh-CN" altLang="en-US" sz="1200" dirty="0" smtClean="0">
                <a:solidFill>
                  <a:srgbClr val="30B5C5"/>
                </a:solidFill>
                <a:cs typeface="+mn-ea"/>
                <a:sym typeface="+mn-lt"/>
              </a:rPr>
              <a:t>中继</a:t>
            </a:r>
            <a:endParaRPr lang="zh-CN" altLang="en-US" sz="1200" dirty="0">
              <a:solidFill>
                <a:srgbClr val="30B5C5"/>
              </a:solidFill>
              <a:cs typeface="+mn-ea"/>
              <a:sym typeface="+mn-lt"/>
            </a:endParaRPr>
          </a:p>
        </p:txBody>
      </p:sp>
      <p:pic>
        <p:nvPicPr>
          <p:cNvPr id="50" name="图片 49" descr="交换机.png"/>
          <p:cNvPicPr>
            <a:picLocks noChangeAspect="1"/>
          </p:cNvPicPr>
          <p:nvPr/>
        </p:nvPicPr>
        <p:blipFill>
          <a:blip r:embed="rId4" cstate="print"/>
          <a:stretch>
            <a:fillRect/>
          </a:stretch>
        </p:blipFill>
        <p:spPr bwMode="gray">
          <a:xfrm>
            <a:off x="8147966" y="1758385"/>
            <a:ext cx="360000" cy="294544"/>
          </a:xfrm>
          <a:prstGeom prst="rect">
            <a:avLst/>
          </a:prstGeom>
        </p:spPr>
      </p:pic>
      <p:sp>
        <p:nvSpPr>
          <p:cNvPr id="60" name="文本框 59"/>
          <p:cNvSpPr txBox="1"/>
          <p:nvPr/>
        </p:nvSpPr>
        <p:spPr bwMode="auto">
          <a:xfrm>
            <a:off x="7317594" y="1614871"/>
            <a:ext cx="755921" cy="276999"/>
          </a:xfrm>
          <a:prstGeom prst="rect">
            <a:avLst/>
          </a:prstGeom>
          <a:noFill/>
        </p:spPr>
        <p:txBody>
          <a:bodyPr wrap="square" rtlCol="0">
            <a:spAutoFit/>
          </a:bodyPr>
          <a:lstStyle/>
          <a:p>
            <a:pPr algn="ctr" defTabSz="914400" fontAlgn="base">
              <a:spcBef>
                <a:spcPct val="0"/>
              </a:spcBef>
              <a:spcAft>
                <a:spcPct val="0"/>
              </a:spcAft>
            </a:pPr>
            <a:r>
              <a:rPr lang="en-US" altLang="zh-CN" sz="1200" dirty="0">
                <a:solidFill>
                  <a:srgbClr val="30B5C5"/>
                </a:solidFill>
                <a:cs typeface="+mn-ea"/>
                <a:sym typeface="+mn-lt"/>
              </a:rPr>
              <a:t>RADIUS</a:t>
            </a:r>
            <a:endParaRPr lang="zh-CN" altLang="en-US" sz="1200" dirty="0">
              <a:solidFill>
                <a:srgbClr val="30B5C5"/>
              </a:solidFill>
              <a:cs typeface="+mn-ea"/>
              <a:sym typeface="+mn-lt"/>
            </a:endParaRPr>
          </a:p>
        </p:txBody>
      </p:sp>
      <p:sp>
        <p:nvSpPr>
          <p:cNvPr id="61" name="圆角矩形 60"/>
          <p:cNvSpPr/>
          <p:nvPr/>
        </p:nvSpPr>
        <p:spPr bwMode="gray">
          <a:xfrm>
            <a:off x="652829" y="988519"/>
            <a:ext cx="2346876" cy="338554"/>
          </a:xfrm>
          <a:prstGeom prst="roundRect">
            <a:avLst>
              <a:gd name="adj" fmla="val 653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smtClean="0">
                <a:solidFill>
                  <a:srgbClr val="30B5C5"/>
                </a:solidFill>
                <a:latin typeface="Huawei Sans" panose="020C0503030203020204" pitchFamily="34" charset="0"/>
                <a:ea typeface="方正兰亭黑简体" panose="02000000000000000000" pitchFamily="2" charset="-122"/>
                <a:sym typeface="+mn-lt"/>
              </a:rPr>
              <a:t>控制器作为</a:t>
            </a:r>
            <a:r>
              <a:rPr lang="zh-CN" altLang="en-US" sz="1400" dirty="0">
                <a:solidFill>
                  <a:srgbClr val="30B5C5"/>
                </a:solidFill>
                <a:latin typeface="Huawei Sans" panose="020C0503030203020204" pitchFamily="34" charset="0"/>
                <a:ea typeface="方正兰亭黑简体" panose="02000000000000000000" pitchFamily="2" charset="-122"/>
                <a:sym typeface="+mn-lt"/>
              </a:rPr>
              <a:t>认证服务器</a:t>
            </a:r>
          </a:p>
        </p:txBody>
      </p:sp>
      <p:sp>
        <p:nvSpPr>
          <p:cNvPr id="62" name="圆角矩形 61"/>
          <p:cNvSpPr/>
          <p:nvPr/>
        </p:nvSpPr>
        <p:spPr bwMode="gray">
          <a:xfrm>
            <a:off x="3064019" y="988519"/>
            <a:ext cx="2704722" cy="338554"/>
          </a:xfrm>
          <a:prstGeom prst="roundRect">
            <a:avLst>
              <a:gd name="adj" fmla="val 878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mn-lt"/>
              </a:rPr>
              <a:t>控制器对接第三方</a:t>
            </a:r>
            <a:r>
              <a:rPr lang="en-US" altLang="zh-CN" sz="1400" dirty="0">
                <a:solidFill>
                  <a:srgbClr val="30B5C5"/>
                </a:solidFill>
                <a:latin typeface="Huawei Sans" panose="020C0503030203020204" pitchFamily="34" charset="0"/>
                <a:ea typeface="方正兰亭黑简体" panose="02000000000000000000" pitchFamily="2" charset="-122"/>
                <a:sym typeface="+mn-lt"/>
              </a:rPr>
              <a:t>Portal</a:t>
            </a:r>
            <a:r>
              <a:rPr lang="zh-CN" altLang="en-US" sz="1400" dirty="0">
                <a:solidFill>
                  <a:srgbClr val="30B5C5"/>
                </a:solidFill>
                <a:latin typeface="Huawei Sans" panose="020C0503030203020204" pitchFamily="34" charset="0"/>
                <a:ea typeface="方正兰亭黑简体" panose="02000000000000000000" pitchFamily="2" charset="-122"/>
                <a:sym typeface="+mn-lt"/>
              </a:rPr>
              <a:t>服务器</a:t>
            </a:r>
          </a:p>
        </p:txBody>
      </p:sp>
      <p:sp>
        <p:nvSpPr>
          <p:cNvPr id="63" name="圆角矩形 62"/>
          <p:cNvSpPr/>
          <p:nvPr/>
        </p:nvSpPr>
        <p:spPr bwMode="gray">
          <a:xfrm>
            <a:off x="5873039" y="988519"/>
            <a:ext cx="2781429" cy="338554"/>
          </a:xfrm>
          <a:prstGeom prst="roundRect">
            <a:avLst>
              <a:gd name="adj" fmla="val 653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mn-lt"/>
              </a:rPr>
              <a:t>控制器对接第三方</a:t>
            </a:r>
            <a:r>
              <a:rPr lang="en-US" altLang="zh-CN" sz="1400" dirty="0">
                <a:solidFill>
                  <a:srgbClr val="30B5C5"/>
                </a:solidFill>
                <a:latin typeface="Huawei Sans" panose="020C0503030203020204" pitchFamily="34" charset="0"/>
                <a:ea typeface="方正兰亭黑简体" panose="02000000000000000000" pitchFamily="2" charset="-122"/>
                <a:sym typeface="+mn-lt"/>
              </a:rPr>
              <a:t>Radius</a:t>
            </a:r>
            <a:r>
              <a:rPr lang="zh-CN" altLang="en-US" sz="1400" dirty="0">
                <a:solidFill>
                  <a:srgbClr val="30B5C5"/>
                </a:solidFill>
                <a:latin typeface="Huawei Sans" panose="020C0503030203020204" pitchFamily="34" charset="0"/>
                <a:ea typeface="方正兰亭黑简体" panose="02000000000000000000" pitchFamily="2" charset="-122"/>
                <a:sym typeface="+mn-lt"/>
              </a:rPr>
              <a:t>服务器</a:t>
            </a:r>
            <a:endParaRPr lang="en-US" altLang="zh-CN" sz="1400" dirty="0">
              <a:solidFill>
                <a:srgbClr val="30B5C5"/>
              </a:solidFill>
              <a:latin typeface="Huawei Sans" panose="020C0503030203020204" pitchFamily="34" charset="0"/>
              <a:ea typeface="方正兰亭黑简体" panose="02000000000000000000" pitchFamily="2" charset="-122"/>
              <a:sym typeface="+mn-lt"/>
            </a:endParaRPr>
          </a:p>
        </p:txBody>
      </p:sp>
      <p:sp>
        <p:nvSpPr>
          <p:cNvPr id="64" name="圆角矩形 63"/>
          <p:cNvSpPr/>
          <p:nvPr/>
        </p:nvSpPr>
        <p:spPr bwMode="gray">
          <a:xfrm>
            <a:off x="8737410" y="988519"/>
            <a:ext cx="2717241" cy="338554"/>
          </a:xfrm>
          <a:prstGeom prst="roundRect">
            <a:avLst>
              <a:gd name="adj" fmla="val 6539"/>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mn-lt"/>
              </a:rPr>
              <a:t>设备直接对接第三方认证服务器</a:t>
            </a:r>
            <a:endParaRPr lang="en-US" altLang="zh-CN" sz="1400" dirty="0">
              <a:solidFill>
                <a:srgbClr val="30B5C5"/>
              </a:solidFill>
              <a:latin typeface="Huawei Sans" panose="020C0503030203020204" pitchFamily="34" charset="0"/>
              <a:ea typeface="方正兰亭黑简体" panose="02000000000000000000" pitchFamily="2" charset="-122"/>
              <a:sym typeface="+mn-lt"/>
            </a:endParaRPr>
          </a:p>
        </p:txBody>
      </p:sp>
      <p:pic>
        <p:nvPicPr>
          <p:cNvPr id="67" name="图片 66" descr="AP.png"/>
          <p:cNvPicPr>
            <a:picLocks noChangeAspect="1"/>
          </p:cNvPicPr>
          <p:nvPr/>
        </p:nvPicPr>
        <p:blipFill>
          <a:blip r:embed="rId3" cstate="print"/>
          <a:stretch>
            <a:fillRect/>
          </a:stretch>
        </p:blipFill>
        <p:spPr bwMode="gray">
          <a:xfrm>
            <a:off x="3759856" y="3821748"/>
            <a:ext cx="360000" cy="294545"/>
          </a:xfrm>
          <a:prstGeom prst="rect">
            <a:avLst/>
          </a:prstGeom>
        </p:spPr>
      </p:pic>
      <p:pic>
        <p:nvPicPr>
          <p:cNvPr id="71" name="图片 70" descr="AP.png"/>
          <p:cNvPicPr>
            <a:picLocks noChangeAspect="1"/>
          </p:cNvPicPr>
          <p:nvPr/>
        </p:nvPicPr>
        <p:blipFill>
          <a:blip r:embed="rId3" cstate="print"/>
          <a:stretch>
            <a:fillRect/>
          </a:stretch>
        </p:blipFill>
        <p:spPr bwMode="gray">
          <a:xfrm>
            <a:off x="9214750" y="3821748"/>
            <a:ext cx="360000" cy="294545"/>
          </a:xfrm>
          <a:prstGeom prst="rect">
            <a:avLst/>
          </a:prstGeom>
        </p:spPr>
      </p:pic>
      <p:cxnSp>
        <p:nvCxnSpPr>
          <p:cNvPr id="85" name="直接连接符 84"/>
          <p:cNvCxnSpPr/>
          <p:nvPr/>
        </p:nvCxnSpPr>
        <p:spPr bwMode="gray">
          <a:xfrm>
            <a:off x="4317517" y="1904473"/>
            <a:ext cx="747043" cy="0"/>
          </a:xfrm>
          <a:prstGeom prst="line">
            <a:avLst/>
          </a:prstGeom>
          <a:noFill/>
          <a:ln w="12700">
            <a:solidFill>
              <a:schemeClr val="tx1"/>
            </a:solidFill>
            <a:prstDash val="dashDot"/>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连接符 87"/>
          <p:cNvCxnSpPr/>
          <p:nvPr/>
        </p:nvCxnSpPr>
        <p:spPr bwMode="gray">
          <a:xfrm>
            <a:off x="7278071" y="1904473"/>
            <a:ext cx="834967" cy="0"/>
          </a:xfrm>
          <a:prstGeom prst="line">
            <a:avLst/>
          </a:prstGeom>
          <a:noFill/>
          <a:ln w="12700">
            <a:solidFill>
              <a:schemeClr val="tx1"/>
            </a:solidFill>
            <a:prstDash val="dashDot"/>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任意多边形 90"/>
          <p:cNvSpPr/>
          <p:nvPr/>
        </p:nvSpPr>
        <p:spPr bwMode="gray">
          <a:xfrm>
            <a:off x="3493512" y="2523786"/>
            <a:ext cx="892689" cy="519068"/>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Internet</a:t>
            </a:r>
            <a:endParaRPr lang="zh-CN" altLang="en-US" sz="1400" b="1">
              <a:cs typeface="+mn-ea"/>
              <a:sym typeface="+mn-lt"/>
            </a:endParaRPr>
          </a:p>
        </p:txBody>
      </p:sp>
      <p:sp>
        <p:nvSpPr>
          <p:cNvPr id="93" name="任意多边形 92"/>
          <p:cNvSpPr/>
          <p:nvPr/>
        </p:nvSpPr>
        <p:spPr bwMode="gray">
          <a:xfrm>
            <a:off x="8948406" y="2523786"/>
            <a:ext cx="892689" cy="519068"/>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Internet</a:t>
            </a:r>
            <a:endParaRPr lang="zh-CN" altLang="en-US" sz="1400" b="1">
              <a:cs typeface="+mn-ea"/>
              <a:sym typeface="+mn-lt"/>
            </a:endParaRPr>
          </a:p>
        </p:txBody>
      </p:sp>
      <p:pic>
        <p:nvPicPr>
          <p:cNvPr id="57" name="图片 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350464" y="1634000"/>
            <a:ext cx="951607" cy="540946"/>
          </a:xfrm>
          <a:prstGeom prst="rect">
            <a:avLst/>
          </a:prstGeom>
        </p:spPr>
      </p:pic>
      <p:pic>
        <p:nvPicPr>
          <p:cNvPr id="58" name="图片 5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464053" y="1634000"/>
            <a:ext cx="951607" cy="540946"/>
          </a:xfrm>
          <a:prstGeom prst="rect">
            <a:avLst/>
          </a:prstGeom>
        </p:spPr>
      </p:pic>
      <p:pic>
        <p:nvPicPr>
          <p:cNvPr id="74" name="图片 7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918947" y="1634000"/>
            <a:ext cx="951607" cy="540946"/>
          </a:xfrm>
          <a:prstGeom prst="rect">
            <a:avLst/>
          </a:prstGeom>
        </p:spPr>
      </p:pic>
      <p:cxnSp>
        <p:nvCxnSpPr>
          <p:cNvPr id="65" name="直接连接符 64"/>
          <p:cNvCxnSpPr/>
          <p:nvPr/>
        </p:nvCxnSpPr>
        <p:spPr bwMode="gray">
          <a:xfrm>
            <a:off x="9607500" y="3988065"/>
            <a:ext cx="834967" cy="0"/>
          </a:xfrm>
          <a:prstGeom prst="line">
            <a:avLst/>
          </a:prstGeom>
          <a:noFill/>
          <a:ln w="12700">
            <a:solidFill>
              <a:schemeClr val="bg1">
                <a:lumMod val="65000"/>
              </a:schemeClr>
            </a:solidFill>
            <a:prstDash val="sysDot"/>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文本框 74"/>
          <p:cNvSpPr txBox="1"/>
          <p:nvPr/>
        </p:nvSpPr>
        <p:spPr bwMode="auto">
          <a:xfrm>
            <a:off x="6203760" y="1693453"/>
            <a:ext cx="613861" cy="276999"/>
          </a:xfrm>
          <a:prstGeom prst="rect">
            <a:avLst/>
          </a:prstGeom>
          <a:noFill/>
        </p:spPr>
        <p:txBody>
          <a:bodyPr wrap="square" rtlCol="0">
            <a:spAutoFit/>
          </a:bodyPr>
          <a:lstStyle/>
          <a:p>
            <a:pPr defTabSz="914400" fontAlgn="base">
              <a:spcBef>
                <a:spcPct val="0"/>
              </a:spcBef>
              <a:spcAft>
                <a:spcPct val="0"/>
              </a:spcAft>
            </a:pPr>
            <a:r>
              <a:rPr lang="zh-CN" altLang="en-US" sz="1200" dirty="0" smtClean="0">
                <a:solidFill>
                  <a:srgbClr val="30B5C5"/>
                </a:solidFill>
                <a:cs typeface="+mn-ea"/>
                <a:sym typeface="+mn-lt"/>
              </a:rPr>
              <a:t>中继</a:t>
            </a:r>
            <a:endParaRPr lang="zh-CN" altLang="en-US" sz="1200" dirty="0">
              <a:solidFill>
                <a:srgbClr val="30B5C5"/>
              </a:solidFill>
              <a:cs typeface="+mn-ea"/>
              <a:sym typeface="+mn-lt"/>
            </a:endParaRPr>
          </a:p>
        </p:txBody>
      </p:sp>
      <p:pic>
        <p:nvPicPr>
          <p:cNvPr id="77" name="图片 76" descr="AP.png"/>
          <p:cNvPicPr>
            <a:picLocks noChangeAspect="1"/>
          </p:cNvPicPr>
          <p:nvPr/>
        </p:nvPicPr>
        <p:blipFill>
          <a:blip r:embed="rId3" cstate="print"/>
          <a:stretch>
            <a:fillRect/>
          </a:stretch>
        </p:blipFill>
        <p:spPr bwMode="gray">
          <a:xfrm>
            <a:off x="6788608" y="3821748"/>
            <a:ext cx="360000" cy="294545"/>
          </a:xfrm>
          <a:prstGeom prst="rect">
            <a:avLst/>
          </a:prstGeom>
        </p:spPr>
      </p:pic>
      <p:sp>
        <p:nvSpPr>
          <p:cNvPr id="79" name="任意多边形 78"/>
          <p:cNvSpPr/>
          <p:nvPr/>
        </p:nvSpPr>
        <p:spPr bwMode="gray">
          <a:xfrm>
            <a:off x="6522264" y="2523786"/>
            <a:ext cx="892689" cy="519068"/>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Internet</a:t>
            </a:r>
            <a:endParaRPr lang="zh-CN" altLang="en-US" sz="1400" b="1">
              <a:cs typeface="+mn-ea"/>
              <a:sym typeface="+mn-lt"/>
            </a:endParaRPr>
          </a:p>
        </p:txBody>
      </p:sp>
      <p:pic>
        <p:nvPicPr>
          <p:cNvPr id="80" name="图片 7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6492805" y="1634000"/>
            <a:ext cx="951607" cy="540946"/>
          </a:xfrm>
          <a:prstGeom prst="rect">
            <a:avLst/>
          </a:prstGeom>
        </p:spPr>
      </p:pic>
      <p:sp>
        <p:nvSpPr>
          <p:cNvPr id="3" name="文本框 2"/>
          <p:cNvSpPr txBox="1"/>
          <p:nvPr/>
        </p:nvSpPr>
        <p:spPr bwMode="gray">
          <a:xfrm>
            <a:off x="1511856" y="4155836"/>
            <a:ext cx="646331" cy="276999"/>
          </a:xfrm>
          <a:prstGeom prst="rect">
            <a:avLst/>
          </a:prstGeom>
          <a:noFill/>
        </p:spPr>
        <p:txBody>
          <a:bodyPr wrap="none" rtlCol="0">
            <a:spAutoFit/>
          </a:bodyPr>
          <a:lstStyle/>
          <a:p>
            <a:r>
              <a:rPr lang="zh-CN" altLang="en-US" sz="1200" smtClean="0"/>
              <a:t>认证点</a:t>
            </a:r>
            <a:endParaRPr lang="zh-CN" altLang="en-US" sz="1200"/>
          </a:p>
        </p:txBody>
      </p:sp>
      <p:sp>
        <p:nvSpPr>
          <p:cNvPr id="82" name="文本框 81"/>
          <p:cNvSpPr txBox="1"/>
          <p:nvPr/>
        </p:nvSpPr>
        <p:spPr bwMode="gray">
          <a:xfrm>
            <a:off x="3620637" y="4155836"/>
            <a:ext cx="646331" cy="276999"/>
          </a:xfrm>
          <a:prstGeom prst="rect">
            <a:avLst/>
          </a:prstGeom>
          <a:noFill/>
        </p:spPr>
        <p:txBody>
          <a:bodyPr wrap="none" rtlCol="0">
            <a:spAutoFit/>
          </a:bodyPr>
          <a:lstStyle/>
          <a:p>
            <a:r>
              <a:rPr lang="zh-CN" altLang="en-US" sz="1200" smtClean="0"/>
              <a:t>认证点</a:t>
            </a:r>
            <a:endParaRPr lang="zh-CN" altLang="en-US" sz="1200"/>
          </a:p>
        </p:txBody>
      </p:sp>
      <p:sp>
        <p:nvSpPr>
          <p:cNvPr id="83" name="文本框 82"/>
          <p:cNvSpPr txBox="1"/>
          <p:nvPr/>
        </p:nvSpPr>
        <p:spPr bwMode="gray">
          <a:xfrm>
            <a:off x="6645442" y="4155836"/>
            <a:ext cx="646331" cy="276999"/>
          </a:xfrm>
          <a:prstGeom prst="rect">
            <a:avLst/>
          </a:prstGeom>
          <a:noFill/>
        </p:spPr>
        <p:txBody>
          <a:bodyPr wrap="none" rtlCol="0">
            <a:spAutoFit/>
          </a:bodyPr>
          <a:lstStyle/>
          <a:p>
            <a:r>
              <a:rPr lang="zh-CN" altLang="en-US" sz="1200" smtClean="0"/>
              <a:t>认证点</a:t>
            </a:r>
            <a:endParaRPr lang="zh-CN" altLang="en-US" sz="1200"/>
          </a:p>
        </p:txBody>
      </p:sp>
      <p:sp>
        <p:nvSpPr>
          <p:cNvPr id="86" name="文本框 85"/>
          <p:cNvSpPr txBox="1"/>
          <p:nvPr/>
        </p:nvSpPr>
        <p:spPr bwMode="gray">
          <a:xfrm>
            <a:off x="9071584" y="4155836"/>
            <a:ext cx="646331" cy="276999"/>
          </a:xfrm>
          <a:prstGeom prst="rect">
            <a:avLst/>
          </a:prstGeom>
          <a:noFill/>
        </p:spPr>
        <p:txBody>
          <a:bodyPr wrap="none" rtlCol="0">
            <a:spAutoFit/>
          </a:bodyPr>
          <a:lstStyle/>
          <a:p>
            <a:r>
              <a:rPr lang="zh-CN" altLang="en-US" sz="1200" smtClean="0"/>
              <a:t>认证点</a:t>
            </a:r>
            <a:endParaRPr lang="zh-CN" altLang="en-US" sz="1200"/>
          </a:p>
        </p:txBody>
      </p:sp>
      <p:cxnSp>
        <p:nvCxnSpPr>
          <p:cNvPr id="87" name="直接连接符 86"/>
          <p:cNvCxnSpPr/>
          <p:nvPr/>
        </p:nvCxnSpPr>
        <p:spPr bwMode="gray">
          <a:xfrm>
            <a:off x="1826267" y="2274156"/>
            <a:ext cx="0" cy="1502368"/>
          </a:xfrm>
          <a:prstGeom prst="line">
            <a:avLst/>
          </a:prstGeom>
          <a:noFill/>
          <a:ln w="12700">
            <a:solidFill>
              <a:schemeClr val="bg1">
                <a:lumMod val="65000"/>
              </a:schemeClr>
            </a:solidFill>
            <a:prstDash val="sysDot"/>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任意多边形 88"/>
          <p:cNvSpPr/>
          <p:nvPr/>
        </p:nvSpPr>
        <p:spPr bwMode="gray">
          <a:xfrm>
            <a:off x="1379923" y="2523786"/>
            <a:ext cx="892689" cy="519068"/>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smtClean="0">
                <a:cs typeface="+mn-ea"/>
                <a:sym typeface="+mn-lt"/>
              </a:rPr>
              <a:t>Internet</a:t>
            </a:r>
            <a:endParaRPr lang="zh-CN" altLang="en-US" sz="1400" b="1">
              <a:cs typeface="+mn-ea"/>
              <a:sym typeface="+mn-lt"/>
            </a:endParaRPr>
          </a:p>
        </p:txBody>
      </p:sp>
    </p:spTree>
    <p:extLst>
      <p:ext uri="{BB962C8B-B14F-4D97-AF65-F5344CB8AC3E}">
        <p14:creationId xmlns:p14="http://schemas.microsoft.com/office/powerpoint/2010/main" val="1226710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矩形 58"/>
          <p:cNvSpPr/>
          <p:nvPr/>
        </p:nvSpPr>
        <p:spPr bwMode="auto">
          <a:xfrm>
            <a:off x="2283157" y="3399383"/>
            <a:ext cx="679146" cy="1202288"/>
          </a:xfrm>
          <a:prstGeom prst="roundRect">
            <a:avLst>
              <a:gd name="adj" fmla="val 0"/>
            </a:avLst>
          </a:prstGeom>
          <a:solidFill>
            <a:schemeClr val="bg1">
              <a:lumMod val="9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smtClean="0">
              <a:ln>
                <a:noFill/>
              </a:ln>
              <a:solidFill>
                <a:schemeClr val="tx1"/>
              </a:solidFill>
              <a:effectLst/>
              <a:cs typeface="+mn-ea"/>
              <a:sym typeface="+mn-lt"/>
            </a:endParaRPr>
          </a:p>
        </p:txBody>
      </p:sp>
      <p:sp>
        <p:nvSpPr>
          <p:cNvPr id="58" name="圆角矩形 57"/>
          <p:cNvSpPr/>
          <p:nvPr/>
        </p:nvSpPr>
        <p:spPr bwMode="auto">
          <a:xfrm>
            <a:off x="1491268" y="3399383"/>
            <a:ext cx="679146" cy="1202288"/>
          </a:xfrm>
          <a:prstGeom prst="roundRect">
            <a:avLst>
              <a:gd name="adj" fmla="val 0"/>
            </a:avLst>
          </a:prstGeom>
          <a:solidFill>
            <a:schemeClr val="bg1">
              <a:lumMod val="9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smtClean="0">
              <a:ln>
                <a:noFill/>
              </a:ln>
              <a:solidFill>
                <a:schemeClr val="tx1"/>
              </a:solidFill>
              <a:effectLst/>
              <a:cs typeface="+mn-ea"/>
              <a:sym typeface="+mn-lt"/>
            </a:endParaRPr>
          </a:p>
        </p:txBody>
      </p:sp>
      <p:sp>
        <p:nvSpPr>
          <p:cNvPr id="19" name="圆角矩形 18"/>
          <p:cNvSpPr/>
          <p:nvPr/>
        </p:nvSpPr>
        <p:spPr bwMode="auto">
          <a:xfrm>
            <a:off x="700075" y="3399383"/>
            <a:ext cx="679146" cy="1202288"/>
          </a:xfrm>
          <a:prstGeom prst="roundRect">
            <a:avLst>
              <a:gd name="adj" fmla="val 0"/>
            </a:avLst>
          </a:prstGeom>
          <a:solidFill>
            <a:schemeClr val="bg1">
              <a:lumMod val="9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smtClean="0">
              <a:ln>
                <a:noFill/>
              </a:ln>
              <a:solidFill>
                <a:schemeClr val="tx1"/>
              </a:solidFill>
              <a:effectLst/>
              <a:cs typeface="+mn-ea"/>
              <a:sym typeface="+mn-lt"/>
            </a:endParaRPr>
          </a:p>
        </p:txBody>
      </p:sp>
      <p:sp>
        <p:nvSpPr>
          <p:cNvPr id="26" name="圆角矩形 25"/>
          <p:cNvSpPr/>
          <p:nvPr/>
        </p:nvSpPr>
        <p:spPr bwMode="auto">
          <a:xfrm>
            <a:off x="3085347" y="3397502"/>
            <a:ext cx="1306402" cy="1997753"/>
          </a:xfrm>
          <a:prstGeom prst="roundRect">
            <a:avLst>
              <a:gd name="adj" fmla="val 0"/>
            </a:avLst>
          </a:prstGeom>
          <a:solidFill>
            <a:schemeClr val="bg1">
              <a:lumMod val="9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pPr>
            <a:endParaRPr kumimoji="0" lang="zh-CN" altLang="en-US" sz="1800" b="0" i="0" u="none" strike="noStrike" cap="none" normalizeH="0" baseline="0" smtClean="0">
              <a:ln>
                <a:noFill/>
              </a:ln>
              <a:solidFill>
                <a:schemeClr val="tx1"/>
              </a:solidFill>
              <a:effectLst/>
              <a:cs typeface="+mn-ea"/>
              <a:sym typeface="+mn-lt"/>
            </a:endParaRPr>
          </a:p>
        </p:txBody>
      </p:sp>
      <p:pic>
        <p:nvPicPr>
          <p:cNvPr id="57" name="图片 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31024" y="3560209"/>
            <a:ext cx="360000" cy="295200"/>
          </a:xfrm>
          <a:prstGeom prst="rect">
            <a:avLst/>
          </a:prstGeom>
        </p:spPr>
      </p:pic>
      <p:sp>
        <p:nvSpPr>
          <p:cNvPr id="2" name="标题 1"/>
          <p:cNvSpPr>
            <a:spLocks noGrp="1"/>
          </p:cNvSpPr>
          <p:nvPr>
            <p:ph type="title"/>
          </p:nvPr>
        </p:nvSpPr>
        <p:spPr/>
        <p:txBody>
          <a:bodyPr>
            <a:normAutofit/>
          </a:bodyPr>
          <a:lstStyle/>
          <a:p>
            <a:r>
              <a:rPr lang="zh-CN" altLang="en-US" dirty="0" smtClean="0">
                <a:latin typeface="+mn-lt"/>
                <a:ea typeface="+mn-ea"/>
                <a:cs typeface="+mn-ea"/>
                <a:sym typeface="+mn-lt"/>
              </a:rPr>
              <a:t>认证方案部署</a:t>
            </a:r>
            <a:endParaRPr lang="zh-CN" altLang="en-US" dirty="0">
              <a:latin typeface="+mn-lt"/>
              <a:ea typeface="+mn-ea"/>
              <a:cs typeface="+mn-ea"/>
              <a:sym typeface="+mn-lt"/>
            </a:endParaRPr>
          </a:p>
        </p:txBody>
      </p:sp>
      <p:graphicFrame>
        <p:nvGraphicFramePr>
          <p:cNvPr id="5" name="表格 4"/>
          <p:cNvGraphicFramePr>
            <a:graphicFrameLocks noGrp="1"/>
          </p:cNvGraphicFramePr>
          <p:nvPr>
            <p:extLst>
              <p:ext uri="{D42A27DB-BD31-4B8C-83A1-F6EECF244321}">
                <p14:modId xmlns:p14="http://schemas.microsoft.com/office/powerpoint/2010/main" val="2881544975"/>
              </p:ext>
            </p:extLst>
          </p:nvPr>
        </p:nvGraphicFramePr>
        <p:xfrm>
          <a:off x="4862131" y="1586694"/>
          <a:ext cx="6575489" cy="4078339"/>
        </p:xfrm>
        <a:graphic>
          <a:graphicData uri="http://schemas.openxmlformats.org/drawingml/2006/table">
            <a:tbl>
              <a:tblPr firstRow="1" bandRow="1">
                <a:tableStyleId>{5C22544A-7EE6-4342-B048-85BDC9FD1C3A}</a:tableStyleId>
              </a:tblPr>
              <a:tblGrid>
                <a:gridCol w="869611"/>
                <a:gridCol w="993316"/>
                <a:gridCol w="3439954"/>
                <a:gridCol w="1272608"/>
              </a:tblGrid>
              <a:tr h="259631">
                <a:tc>
                  <a:txBody>
                    <a:bodyPr/>
                    <a:lstStyle/>
                    <a:p>
                      <a:pPr algn="ctr">
                        <a:lnSpc>
                          <a:spcPct val="100000"/>
                        </a:lnSpc>
                        <a:spcBef>
                          <a:spcPts val="0"/>
                        </a:spcBef>
                        <a:spcAft>
                          <a:spcPts val="0"/>
                        </a:spcAft>
                      </a:pPr>
                      <a:r>
                        <a:rPr lang="zh-CN" sz="1200" dirty="0" smtClean="0">
                          <a:solidFill>
                            <a:srgbClr val="151515"/>
                          </a:solidFill>
                          <a:effectLst/>
                          <a:latin typeface="+mn-lt"/>
                          <a:ea typeface="+mn-ea"/>
                          <a:cs typeface="+mn-ea"/>
                          <a:sym typeface="+mn-lt"/>
                        </a:rPr>
                        <a:t>终端</a:t>
                      </a:r>
                      <a:r>
                        <a:rPr lang="zh-CN" sz="1200" dirty="0">
                          <a:solidFill>
                            <a:srgbClr val="151515"/>
                          </a:solidFill>
                          <a:effectLst/>
                          <a:latin typeface="+mn-lt"/>
                          <a:ea typeface="+mn-ea"/>
                          <a:cs typeface="+mn-ea"/>
                          <a:sym typeface="+mn-lt"/>
                        </a:rPr>
                        <a:t>角色</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ctr" defTabSz="914034" rtl="0" eaLnBrk="1" latinLnBrk="0" hangingPunct="1">
                        <a:lnSpc>
                          <a:spcPct val="100000"/>
                        </a:lnSpc>
                        <a:spcBef>
                          <a:spcPts val="0"/>
                        </a:spcBef>
                        <a:spcAft>
                          <a:spcPts val="0"/>
                        </a:spcAft>
                        <a:buSzPts val="650"/>
                        <a:buFont typeface="Wingdings" panose="05000000000000000000" pitchFamily="2" charset="2"/>
                        <a:buNone/>
                        <a:tabLst>
                          <a:tab pos="180340" algn="l"/>
                        </a:tabLst>
                      </a:pPr>
                      <a:r>
                        <a:rPr lang="zh-CN" altLang="zh-CN" sz="1200" b="0" kern="1200" dirty="0" smtClean="0">
                          <a:solidFill>
                            <a:schemeClr val="tx1"/>
                          </a:solidFill>
                          <a:effectLst/>
                          <a:latin typeface="+mn-lt"/>
                          <a:ea typeface="+mn-ea"/>
                          <a:cs typeface="+mn-ea"/>
                          <a:sym typeface="+mn-lt"/>
                        </a:rPr>
                        <a:t>顾客</a:t>
                      </a:r>
                      <a:endParaRPr lang="zh-CN" altLang="zh-CN" sz="12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defTabSz="914034" rtl="0" eaLnBrk="1" latinLnBrk="0" hangingPunct="1">
                        <a:lnSpc>
                          <a:spcPct val="100000"/>
                        </a:lnSpc>
                        <a:spcBef>
                          <a:spcPts val="0"/>
                        </a:spcBef>
                        <a:spcAft>
                          <a:spcPts val="0"/>
                        </a:spcAft>
                        <a:buSzPts val="650"/>
                        <a:buFont typeface="Wingdings" panose="05000000000000000000" pitchFamily="2" charset="2"/>
                        <a:buNone/>
                        <a:tabLst>
                          <a:tab pos="180340" algn="l"/>
                        </a:tabLst>
                      </a:pPr>
                      <a:r>
                        <a:rPr lang="zh-CN" altLang="zh-CN" sz="1200" b="0" kern="1200" dirty="0" smtClean="0">
                          <a:solidFill>
                            <a:schemeClr val="tx1"/>
                          </a:solidFill>
                          <a:effectLst/>
                          <a:latin typeface="+mn-lt"/>
                          <a:ea typeface="+mn-ea"/>
                          <a:cs typeface="+mn-ea"/>
                          <a:sym typeface="+mn-lt"/>
                        </a:rPr>
                        <a:t>企业员工</a:t>
                      </a:r>
                      <a:endParaRPr lang="zh-CN" altLang="zh-CN" sz="12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Pts val="650"/>
                        <a:buFont typeface="Wingdings" panose="05000000000000000000" pitchFamily="2" charset="2"/>
                        <a:buNone/>
                        <a:tabLst>
                          <a:tab pos="180340" algn="l"/>
                        </a:tabLst>
                        <a:defRPr/>
                      </a:pPr>
                      <a:r>
                        <a:rPr lang="zh-CN" altLang="zh-CN" sz="1200" b="0" kern="1200" dirty="0" smtClean="0">
                          <a:solidFill>
                            <a:schemeClr val="tx1"/>
                          </a:solidFill>
                          <a:effectLst/>
                          <a:latin typeface="+mn-lt"/>
                          <a:ea typeface="+mn-ea"/>
                          <a:cs typeface="+mn-ea"/>
                          <a:sym typeface="+mn-lt"/>
                        </a:rPr>
                        <a:t>哑终端</a:t>
                      </a:r>
                      <a:endParaRPr lang="zh-CN" altLang="zh-CN" sz="12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59631">
                <a:tc>
                  <a:txBody>
                    <a:bodyPr/>
                    <a:lstStyle/>
                    <a:p>
                      <a:pPr marL="0" algn="ctr" defTabSz="914400" rtl="0" eaLnBrk="1" latinLnBrk="0" hangingPunct="1">
                        <a:lnSpc>
                          <a:spcPct val="100000"/>
                        </a:lnSpc>
                        <a:spcBef>
                          <a:spcPts val="0"/>
                        </a:spcBef>
                        <a:spcAft>
                          <a:spcPts val="0"/>
                        </a:spcAft>
                      </a:pPr>
                      <a:r>
                        <a:rPr lang="zh-CN" altLang="zh-CN" sz="1200" b="1" kern="1200" dirty="0" smtClean="0">
                          <a:solidFill>
                            <a:srgbClr val="151515"/>
                          </a:solidFill>
                          <a:effectLst/>
                          <a:latin typeface="+mn-lt"/>
                          <a:ea typeface="+mn-ea"/>
                          <a:cs typeface="+mn-ea"/>
                          <a:sym typeface="+mn-lt"/>
                        </a:rPr>
                        <a:t>接入类型</a:t>
                      </a:r>
                      <a:endParaRPr lang="zh-CN" altLang="zh-CN" sz="1200" b="1" kern="1200" dirty="0">
                        <a:solidFill>
                          <a:srgbClr val="151515"/>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ctr" defTabSz="914034" rtl="0" eaLnBrk="1" latinLnBrk="0" hangingPunct="1">
                        <a:lnSpc>
                          <a:spcPct val="100000"/>
                        </a:lnSpc>
                        <a:spcBef>
                          <a:spcPts val="0"/>
                        </a:spcBef>
                        <a:spcAft>
                          <a:spcPts val="0"/>
                        </a:spcAft>
                        <a:buSzPts val="650"/>
                        <a:buFont typeface="Wingdings" panose="05000000000000000000" pitchFamily="2" charset="2"/>
                        <a:buNone/>
                        <a:tabLst>
                          <a:tab pos="180340" algn="l"/>
                        </a:tabLst>
                      </a:pPr>
                      <a:r>
                        <a:rPr lang="zh-CN" altLang="zh-CN" sz="1200" kern="1200" dirty="0" smtClean="0">
                          <a:solidFill>
                            <a:schemeClr val="tx1"/>
                          </a:solidFill>
                          <a:effectLst/>
                          <a:latin typeface="+mn-lt"/>
                          <a:ea typeface="+mn-ea"/>
                          <a:cs typeface="+mn-ea"/>
                          <a:sym typeface="+mn-lt"/>
                        </a:rPr>
                        <a:t>无线</a:t>
                      </a:r>
                      <a:endParaRPr lang="zh-CN"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ctr" defTabSz="914034" rtl="0" eaLnBrk="1" latinLnBrk="0" hangingPunct="1">
                        <a:lnSpc>
                          <a:spcPct val="100000"/>
                        </a:lnSpc>
                        <a:spcBef>
                          <a:spcPts val="0"/>
                        </a:spcBef>
                        <a:spcAft>
                          <a:spcPts val="0"/>
                        </a:spcAft>
                        <a:buSzPts val="650"/>
                        <a:buFont typeface="Wingdings" panose="05000000000000000000" pitchFamily="2" charset="2"/>
                        <a:buNone/>
                        <a:tabLst>
                          <a:tab pos="180340" algn="l"/>
                        </a:tabLst>
                      </a:pPr>
                      <a:r>
                        <a:rPr lang="zh-CN" altLang="en-US" sz="1200" kern="1200" dirty="0" smtClean="0">
                          <a:solidFill>
                            <a:schemeClr val="tx1"/>
                          </a:solidFill>
                          <a:effectLst/>
                          <a:latin typeface="+mn-lt"/>
                          <a:ea typeface="+mn-ea"/>
                          <a:cs typeface="+mn-ea"/>
                          <a:sym typeface="+mn-lt"/>
                        </a:rPr>
                        <a:t>无线</a:t>
                      </a:r>
                      <a:r>
                        <a:rPr lang="en-US" altLang="zh-CN" sz="1200" kern="1200" dirty="0" smtClean="0">
                          <a:solidFill>
                            <a:schemeClr val="tx1"/>
                          </a:solidFill>
                          <a:effectLst/>
                          <a:latin typeface="+mn-lt"/>
                          <a:ea typeface="+mn-ea"/>
                          <a:cs typeface="+mn-ea"/>
                          <a:sym typeface="+mn-lt"/>
                        </a:rPr>
                        <a:t>/</a:t>
                      </a:r>
                      <a:r>
                        <a:rPr lang="zh-CN" altLang="en-US" sz="1200" kern="1200" dirty="0" smtClean="0">
                          <a:solidFill>
                            <a:schemeClr val="tx1"/>
                          </a:solidFill>
                          <a:effectLst/>
                          <a:latin typeface="+mn-lt"/>
                          <a:ea typeface="+mn-ea"/>
                          <a:cs typeface="+mn-ea"/>
                          <a:sym typeface="+mn-lt"/>
                        </a:rPr>
                        <a:t>有线</a:t>
                      </a:r>
                      <a:endParaRPr lang="zh-CN"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ctr" defTabSz="914034" rtl="0" eaLnBrk="1" latinLnBrk="0" hangingPunct="1">
                        <a:lnSpc>
                          <a:spcPct val="100000"/>
                        </a:lnSpc>
                        <a:spcBef>
                          <a:spcPts val="0"/>
                        </a:spcBef>
                        <a:spcAft>
                          <a:spcPts val="0"/>
                        </a:spcAft>
                        <a:buSzPts val="650"/>
                        <a:buFont typeface="Wingdings" panose="05000000000000000000" pitchFamily="2" charset="2"/>
                        <a:buNone/>
                        <a:tabLst>
                          <a:tab pos="180340" algn="l"/>
                        </a:tabLst>
                      </a:pPr>
                      <a:r>
                        <a:rPr lang="zh-CN" altLang="en-US" sz="1200" kern="1200" dirty="0" smtClean="0">
                          <a:solidFill>
                            <a:schemeClr val="tx1"/>
                          </a:solidFill>
                          <a:effectLst/>
                          <a:latin typeface="+mn-lt"/>
                          <a:ea typeface="+mn-ea"/>
                          <a:cs typeface="+mn-ea"/>
                          <a:sym typeface="+mn-lt"/>
                        </a:rPr>
                        <a:t>有线</a:t>
                      </a:r>
                      <a:endParaRPr lang="zh-CN"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952">
                <a:tc>
                  <a:txBody>
                    <a:bodyPr/>
                    <a:lstStyle/>
                    <a:p>
                      <a:pPr marL="0" algn="ctr" defTabSz="914400" rtl="0" eaLnBrk="1" latinLnBrk="0" hangingPunct="1">
                        <a:lnSpc>
                          <a:spcPct val="100000"/>
                        </a:lnSpc>
                        <a:spcBef>
                          <a:spcPts val="0"/>
                        </a:spcBef>
                        <a:spcAft>
                          <a:spcPts val="0"/>
                        </a:spcAft>
                      </a:pPr>
                      <a:r>
                        <a:rPr lang="zh-CN" altLang="zh-CN" sz="1200" b="1" kern="1200" dirty="0" smtClean="0">
                          <a:solidFill>
                            <a:srgbClr val="151515"/>
                          </a:solidFill>
                          <a:effectLst/>
                          <a:latin typeface="+mn-lt"/>
                          <a:ea typeface="+mn-ea"/>
                          <a:cs typeface="+mn-ea"/>
                          <a:sym typeface="+mn-lt"/>
                        </a:rPr>
                        <a:t>认证类型</a:t>
                      </a:r>
                      <a:endParaRPr lang="zh-CN" altLang="zh-CN" sz="1200" b="1" kern="1200" dirty="0">
                        <a:solidFill>
                          <a:srgbClr val="151515"/>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ctr">
                        <a:lnSpc>
                          <a:spcPct val="100000"/>
                        </a:lnSpc>
                        <a:spcBef>
                          <a:spcPts val="0"/>
                        </a:spcBef>
                        <a:spcAft>
                          <a:spcPts val="0"/>
                        </a:spcAft>
                        <a:buSzPts val="650"/>
                        <a:buFont typeface="Wingdings" panose="05000000000000000000" pitchFamily="2" charset="2"/>
                        <a:buNone/>
                        <a:tabLst>
                          <a:tab pos="180340" algn="l"/>
                        </a:tabLst>
                      </a:pPr>
                      <a:r>
                        <a:rPr lang="en-US" altLang="zh-CN" sz="1200" dirty="0" smtClean="0">
                          <a:solidFill>
                            <a:schemeClr val="tx1"/>
                          </a:solidFill>
                          <a:effectLst/>
                          <a:latin typeface="+mn-lt"/>
                          <a:ea typeface="+mn-ea"/>
                          <a:cs typeface="+mn-ea"/>
                          <a:sym typeface="+mn-lt"/>
                        </a:rPr>
                        <a:t>Portal</a:t>
                      </a:r>
                      <a:r>
                        <a:rPr lang="zh-CN" altLang="en-US" sz="1200" dirty="0" smtClean="0">
                          <a:solidFill>
                            <a:schemeClr val="tx1"/>
                          </a:solidFill>
                          <a:effectLst/>
                          <a:latin typeface="+mn-lt"/>
                          <a:ea typeface="+mn-ea"/>
                          <a:cs typeface="+mn-ea"/>
                          <a:sym typeface="+mn-lt"/>
                        </a:rPr>
                        <a:t>认证</a:t>
                      </a:r>
                      <a:endParaRPr lang="zh-CN"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lvl="0" indent="-171450">
                        <a:lnSpc>
                          <a:spcPts val="2400"/>
                        </a:lnSpc>
                        <a:spcBef>
                          <a:spcPts val="0"/>
                        </a:spcBef>
                        <a:spcAft>
                          <a:spcPts val="0"/>
                        </a:spcAft>
                        <a:buSzPts val="650"/>
                        <a:buFont typeface="Wingdings" panose="05000000000000000000" pitchFamily="2" charset="2"/>
                        <a:buChar char="l"/>
                        <a:tabLst>
                          <a:tab pos="180340" algn="l"/>
                        </a:tabLst>
                      </a:pPr>
                      <a:r>
                        <a:rPr lang="en-US" altLang="zh-CN" sz="1200" dirty="0" smtClean="0">
                          <a:solidFill>
                            <a:schemeClr val="tx1"/>
                          </a:solidFill>
                          <a:effectLst/>
                          <a:latin typeface="+mn-lt"/>
                          <a:ea typeface="+mn-ea"/>
                          <a:cs typeface="+mn-ea"/>
                          <a:sym typeface="+mn-lt"/>
                        </a:rPr>
                        <a:t>Portal</a:t>
                      </a:r>
                      <a:r>
                        <a:rPr lang="zh-CN" altLang="zh-CN" sz="1200" dirty="0" smtClean="0">
                          <a:solidFill>
                            <a:schemeClr val="tx1"/>
                          </a:solidFill>
                          <a:effectLst/>
                          <a:latin typeface="+mn-lt"/>
                          <a:ea typeface="+mn-ea"/>
                          <a:cs typeface="+mn-ea"/>
                          <a:sym typeface="+mn-lt"/>
                        </a:rPr>
                        <a:t>认证（无线用户推荐使用）</a:t>
                      </a:r>
                    </a:p>
                    <a:p>
                      <a:pPr marL="171450" lvl="0" indent="-171450">
                        <a:lnSpc>
                          <a:spcPts val="2400"/>
                        </a:lnSpc>
                        <a:spcBef>
                          <a:spcPts val="0"/>
                        </a:spcBef>
                        <a:spcAft>
                          <a:spcPts val="0"/>
                        </a:spcAft>
                        <a:buSzPts val="650"/>
                        <a:buFont typeface="Wingdings" panose="05000000000000000000" pitchFamily="2" charset="2"/>
                        <a:buChar char="l"/>
                        <a:tabLst>
                          <a:tab pos="180340" algn="l"/>
                        </a:tabLst>
                      </a:pPr>
                      <a:r>
                        <a:rPr lang="en-US" altLang="zh-CN" sz="1200" dirty="0" smtClean="0">
                          <a:solidFill>
                            <a:schemeClr val="tx1"/>
                          </a:solidFill>
                          <a:effectLst/>
                          <a:latin typeface="+mn-lt"/>
                          <a:ea typeface="+mn-ea"/>
                          <a:cs typeface="+mn-ea"/>
                          <a:sym typeface="+mn-lt"/>
                        </a:rPr>
                        <a:t>802.1X</a:t>
                      </a:r>
                      <a:r>
                        <a:rPr lang="zh-CN" altLang="zh-CN" sz="1200" dirty="0" smtClean="0">
                          <a:solidFill>
                            <a:schemeClr val="tx1"/>
                          </a:solidFill>
                          <a:effectLst/>
                          <a:latin typeface="+mn-lt"/>
                          <a:ea typeface="+mn-ea"/>
                          <a:cs typeface="+mn-ea"/>
                          <a:sym typeface="+mn-lt"/>
                        </a:rPr>
                        <a:t>认证（无线、有线用户均可选择）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ctr" defTabSz="914034" rtl="0" eaLnBrk="1" latinLnBrk="0" hangingPunct="1">
                        <a:lnSpc>
                          <a:spcPct val="100000"/>
                        </a:lnSpc>
                        <a:spcBef>
                          <a:spcPts val="0"/>
                        </a:spcBef>
                        <a:spcAft>
                          <a:spcPts val="0"/>
                        </a:spcAft>
                        <a:buSzPts val="650"/>
                        <a:buFont typeface="Wingdings" panose="05000000000000000000" pitchFamily="2" charset="2"/>
                        <a:buNone/>
                        <a:tabLst>
                          <a:tab pos="180340" algn="l"/>
                        </a:tabLst>
                      </a:pPr>
                      <a:r>
                        <a:rPr lang="en-US" altLang="zh-CN" sz="1200" kern="1200" dirty="0" smtClean="0">
                          <a:solidFill>
                            <a:schemeClr val="tx1"/>
                          </a:solidFill>
                          <a:effectLst/>
                          <a:latin typeface="+mn-lt"/>
                          <a:ea typeface="+mn-ea"/>
                          <a:cs typeface="+mn-ea"/>
                          <a:sym typeface="+mn-lt"/>
                        </a:rPr>
                        <a:t>MAC</a:t>
                      </a:r>
                      <a:r>
                        <a:rPr lang="zh-CN" altLang="en-US" sz="1200" kern="1200" dirty="0" smtClean="0">
                          <a:solidFill>
                            <a:schemeClr val="tx1"/>
                          </a:solidFill>
                          <a:effectLst/>
                          <a:latin typeface="+mn-lt"/>
                          <a:ea typeface="+mn-ea"/>
                          <a:cs typeface="+mn-ea"/>
                          <a:sym typeface="+mn-lt"/>
                        </a:rPr>
                        <a:t>认证</a:t>
                      </a:r>
                      <a:endParaRPr lang="zh-CN"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1589393">
                <a:tc>
                  <a:txBody>
                    <a:bodyPr/>
                    <a:lstStyle/>
                    <a:p>
                      <a:pPr marL="0" algn="ctr" defTabSz="914400" rtl="0" eaLnBrk="1" latinLnBrk="0" hangingPunct="1">
                        <a:lnSpc>
                          <a:spcPct val="100000"/>
                        </a:lnSpc>
                        <a:spcBef>
                          <a:spcPts val="0"/>
                        </a:spcBef>
                        <a:spcAft>
                          <a:spcPts val="0"/>
                        </a:spcAft>
                      </a:pPr>
                      <a:r>
                        <a:rPr lang="zh-CN" altLang="zh-CN" sz="1200" b="1" kern="1200" dirty="0" smtClean="0">
                          <a:solidFill>
                            <a:srgbClr val="151515"/>
                          </a:solidFill>
                          <a:effectLst/>
                          <a:latin typeface="+mn-lt"/>
                          <a:ea typeface="+mn-ea"/>
                          <a:cs typeface="+mn-ea"/>
                          <a:sym typeface="+mn-lt"/>
                        </a:rPr>
                        <a:t>认证点</a:t>
                      </a:r>
                      <a:endParaRPr lang="zh-CN" altLang="zh-CN" sz="1200" b="1" kern="1200" dirty="0">
                        <a:solidFill>
                          <a:srgbClr val="151515"/>
                        </a:solidFill>
                        <a:effectLst/>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3">
                  <a:txBody>
                    <a:bodyPr/>
                    <a:lstStyle/>
                    <a:p>
                      <a:pPr>
                        <a:lnSpc>
                          <a:spcPts val="2400"/>
                        </a:lnSpc>
                        <a:spcBef>
                          <a:spcPts val="0"/>
                        </a:spcBef>
                        <a:spcAft>
                          <a:spcPts val="0"/>
                        </a:spcAft>
                      </a:pPr>
                      <a:r>
                        <a:rPr lang="zh-CN" altLang="zh-CN" sz="1200" kern="1200" dirty="0" smtClean="0">
                          <a:solidFill>
                            <a:schemeClr val="tx1"/>
                          </a:solidFill>
                          <a:effectLst/>
                          <a:latin typeface="+mn-lt"/>
                          <a:ea typeface="+mn-ea"/>
                          <a:cs typeface="+mn-ea"/>
                          <a:sym typeface="+mn-lt"/>
                        </a:rPr>
                        <a:t>建议均选择接入设备作为认证点</a:t>
                      </a:r>
                      <a:r>
                        <a:rPr lang="zh-CN" altLang="en-US" sz="1200" kern="1200" dirty="0" smtClean="0">
                          <a:solidFill>
                            <a:schemeClr val="tx1"/>
                          </a:solidFill>
                          <a:effectLst/>
                          <a:latin typeface="+mn-lt"/>
                          <a:ea typeface="+mn-ea"/>
                          <a:cs typeface="+mn-ea"/>
                          <a:sym typeface="+mn-lt"/>
                        </a:rPr>
                        <a:t>，优势</a:t>
                      </a:r>
                      <a:r>
                        <a:rPr lang="zh-CN" altLang="zh-CN" sz="1200" kern="1200" dirty="0" smtClean="0">
                          <a:solidFill>
                            <a:schemeClr val="tx1"/>
                          </a:solidFill>
                          <a:effectLst/>
                          <a:latin typeface="+mn-lt"/>
                          <a:ea typeface="+mn-ea"/>
                          <a:cs typeface="+mn-ea"/>
                          <a:sym typeface="+mn-lt"/>
                        </a:rPr>
                        <a:t>：</a:t>
                      </a:r>
                    </a:p>
                    <a:p>
                      <a:pPr marL="285750" indent="-285750">
                        <a:lnSpc>
                          <a:spcPts val="2400"/>
                        </a:lnSpc>
                        <a:spcBef>
                          <a:spcPts val="0"/>
                        </a:spcBef>
                        <a:spcAft>
                          <a:spcPts val="0"/>
                        </a:spcAft>
                        <a:buFont typeface="Arial" panose="020B0604020202020204" pitchFamily="34" charset="0"/>
                        <a:buChar char="•"/>
                      </a:pPr>
                      <a:r>
                        <a:rPr lang="zh-CN" altLang="en-US" sz="1200" dirty="0" smtClean="0">
                          <a:solidFill>
                            <a:schemeClr val="tx1"/>
                          </a:solidFill>
                          <a:latin typeface="+mn-lt"/>
                          <a:ea typeface="+mn-ea"/>
                          <a:cs typeface="+mn-ea"/>
                          <a:sym typeface="+mn-lt"/>
                        </a:rPr>
                        <a:t>多接入设备分别承载用户认证，比集中认证压力小。</a:t>
                      </a:r>
                    </a:p>
                    <a:p>
                      <a:pPr marL="285750" indent="-285750">
                        <a:lnSpc>
                          <a:spcPts val="2400"/>
                        </a:lnSpc>
                        <a:spcBef>
                          <a:spcPts val="0"/>
                        </a:spcBef>
                        <a:spcAft>
                          <a:spcPts val="0"/>
                        </a:spcAft>
                        <a:buFont typeface="Arial" panose="020B0604020202020204" pitchFamily="34" charset="0"/>
                        <a:buChar char="•"/>
                      </a:pPr>
                      <a:r>
                        <a:rPr lang="zh-CN" altLang="en-US" sz="1200" dirty="0" smtClean="0">
                          <a:solidFill>
                            <a:schemeClr val="tx1"/>
                          </a:solidFill>
                          <a:latin typeface="+mn-lt"/>
                          <a:ea typeface="+mn-ea"/>
                          <a:cs typeface="+mn-ea"/>
                          <a:sym typeface="+mn-lt"/>
                        </a:rPr>
                        <a:t>认证点更靠近终端，更安全。</a:t>
                      </a:r>
                    </a:p>
                    <a:p>
                      <a:pPr marL="285750" indent="-285750">
                        <a:lnSpc>
                          <a:spcPts val="2400"/>
                        </a:lnSpc>
                        <a:spcBef>
                          <a:spcPts val="0"/>
                        </a:spcBef>
                        <a:spcAft>
                          <a:spcPts val="0"/>
                        </a:spcAft>
                        <a:buFont typeface="Arial" panose="020B0604020202020204" pitchFamily="34" charset="0"/>
                        <a:buChar char="•"/>
                      </a:pPr>
                      <a:r>
                        <a:rPr lang="zh-CN" altLang="en-US" sz="1200" dirty="0" smtClean="0">
                          <a:solidFill>
                            <a:schemeClr val="tx1"/>
                          </a:solidFill>
                          <a:latin typeface="+mn-lt"/>
                          <a:ea typeface="+mn-ea"/>
                          <a:cs typeface="+mn-ea"/>
                          <a:sym typeface="+mn-lt"/>
                        </a:rPr>
                        <a:t>配置规划简单，如果认证点上移，还要考虑认证点设备的性能规格，用户在接入层二层隔离的需求，以及</a:t>
                      </a:r>
                      <a:r>
                        <a:rPr lang="en-US" altLang="zh-CN" sz="1200" dirty="0" smtClean="0">
                          <a:solidFill>
                            <a:schemeClr val="tx1"/>
                          </a:solidFill>
                          <a:latin typeface="+mn-lt"/>
                          <a:ea typeface="+mn-ea"/>
                          <a:cs typeface="+mn-ea"/>
                          <a:sym typeface="+mn-lt"/>
                        </a:rPr>
                        <a:t>802.1X</a:t>
                      </a:r>
                      <a:r>
                        <a:rPr lang="zh-CN" altLang="en-US" sz="1200" dirty="0" smtClean="0">
                          <a:solidFill>
                            <a:schemeClr val="tx1"/>
                          </a:solidFill>
                          <a:latin typeface="+mn-lt"/>
                          <a:ea typeface="+mn-ea"/>
                          <a:cs typeface="+mn-ea"/>
                          <a:sym typeface="+mn-lt"/>
                        </a:rPr>
                        <a:t>协议报文在接入层的透传配置问题。</a:t>
                      </a:r>
                      <a:endParaRPr lang="zh-CN" altLang="en-US" sz="1200"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nSpc>
                          <a:spcPct val="150000"/>
                        </a:lnSpc>
                        <a:spcBef>
                          <a:spcPts val="400"/>
                        </a:spcBef>
                        <a:spcAft>
                          <a:spcPts val="400"/>
                        </a:spcAft>
                      </a:pPr>
                      <a:endParaRPr lang="zh-CN" sz="1400" dirty="0">
                        <a:solidFill>
                          <a:schemeClr val="tx1"/>
                        </a:solidFill>
                        <a:effectLst/>
                        <a:latin typeface="+mn-lt"/>
                        <a:ea typeface="+mn-ea"/>
                        <a:cs typeface="Arial" panose="020B0604020202020204" pitchFamily="34" charset="0"/>
                      </a:endParaRPr>
                    </a:p>
                  </a:txBody>
                  <a:tcPr marL="68580" marR="68580" marT="0" marB="0">
                    <a:lnL w="12700" cap="flat" cmpd="sng" algn="ctr">
                      <a:solidFill>
                        <a:srgbClr val="F39E50"/>
                      </a:solidFill>
                      <a:prstDash val="solid"/>
                      <a:round/>
                      <a:headEnd type="none" w="med" len="med"/>
                      <a:tailEnd type="none" w="med" len="med"/>
                    </a:lnL>
                    <a:lnR w="12700" cap="flat" cmpd="sng" algn="ctr">
                      <a:solidFill>
                        <a:srgbClr val="F39E50"/>
                      </a:solidFill>
                      <a:prstDash val="solid"/>
                      <a:round/>
                      <a:headEnd type="none" w="med" len="med"/>
                      <a:tailEnd type="none" w="med" len="med"/>
                    </a:lnR>
                    <a:lnT w="12700" cap="flat" cmpd="sng" algn="ctr">
                      <a:solidFill>
                        <a:srgbClr val="F39E50"/>
                      </a:solidFill>
                      <a:prstDash val="solid"/>
                      <a:round/>
                      <a:headEnd type="none" w="med" len="med"/>
                      <a:tailEnd type="none" w="med" len="med"/>
                    </a:lnT>
                    <a:lnB w="12700" cap="flat" cmpd="sng" algn="ctr">
                      <a:solidFill>
                        <a:srgbClr val="F39E5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nSpc>
                          <a:spcPct val="150000"/>
                        </a:lnSpc>
                        <a:spcBef>
                          <a:spcPts val="400"/>
                        </a:spcBef>
                        <a:spcAft>
                          <a:spcPts val="400"/>
                        </a:spcAft>
                      </a:pPr>
                      <a:endParaRPr lang="zh-CN" sz="1400" dirty="0">
                        <a:solidFill>
                          <a:schemeClr val="tx1"/>
                        </a:solidFill>
                        <a:effectLst/>
                        <a:latin typeface="+mn-lt"/>
                        <a:ea typeface="+mn-ea"/>
                        <a:cs typeface="Arial" panose="020B0604020202020204" pitchFamily="34" charset="0"/>
                      </a:endParaRPr>
                    </a:p>
                  </a:txBody>
                  <a:tcPr marL="68580" marR="68580" marT="0" marB="0">
                    <a:lnL w="12700" cap="flat" cmpd="sng" algn="ctr">
                      <a:solidFill>
                        <a:srgbClr val="F39E50"/>
                      </a:solidFill>
                      <a:prstDash val="solid"/>
                      <a:round/>
                      <a:headEnd type="none" w="med" len="med"/>
                      <a:tailEnd type="none" w="med" len="med"/>
                    </a:lnL>
                    <a:lnR w="12700" cap="flat" cmpd="sng" algn="ctr">
                      <a:solidFill>
                        <a:srgbClr val="F39E50"/>
                      </a:solidFill>
                      <a:prstDash val="solid"/>
                      <a:round/>
                      <a:headEnd type="none" w="med" len="med"/>
                      <a:tailEnd type="none" w="med" len="med"/>
                    </a:lnR>
                    <a:lnT w="12700" cap="flat" cmpd="sng" algn="ctr">
                      <a:solidFill>
                        <a:srgbClr val="F39E50"/>
                      </a:solidFill>
                      <a:prstDash val="solid"/>
                      <a:round/>
                      <a:headEnd type="none" w="med" len="med"/>
                      <a:tailEnd type="none" w="med" len="med"/>
                    </a:lnT>
                    <a:lnB w="12700" cap="flat" cmpd="sng" algn="ctr">
                      <a:solidFill>
                        <a:srgbClr val="F39E50"/>
                      </a:solidFill>
                      <a:prstDash val="solid"/>
                      <a:round/>
                      <a:headEnd type="none" w="med" len="med"/>
                      <a:tailEnd type="none" w="med" len="med"/>
                    </a:lnB>
                    <a:lnTlToBr w="12700" cmpd="sng">
                      <a:noFill/>
                      <a:prstDash val="solid"/>
                    </a:lnTlToBr>
                    <a:lnBlToTr w="12700" cmpd="sng">
                      <a:noFill/>
                      <a:prstDash val="solid"/>
                    </a:lnBlToTr>
                    <a:noFill/>
                  </a:tcPr>
                </a:tc>
              </a:tr>
              <a:tr h="12373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b="1" kern="1200" dirty="0" smtClean="0">
                          <a:solidFill>
                            <a:srgbClr val="151515"/>
                          </a:solidFill>
                          <a:effectLst/>
                          <a:latin typeface="+mn-lt"/>
                          <a:ea typeface="+mn-ea"/>
                          <a:cs typeface="+mn-ea"/>
                          <a:sym typeface="+mn-lt"/>
                        </a:rPr>
                        <a:t>组网场景</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3">
                  <a:txBody>
                    <a:bodyPr/>
                    <a:lstStyle/>
                    <a:p>
                      <a:pPr marL="0" lvl="0" indent="0" algn="l" defTabSz="914034" rtl="0" eaLnBrk="1" latinLnBrk="0" hangingPunct="1">
                        <a:lnSpc>
                          <a:spcPts val="2400"/>
                        </a:lnSpc>
                        <a:spcBef>
                          <a:spcPts val="0"/>
                        </a:spcBef>
                        <a:spcAft>
                          <a:spcPts val="0"/>
                        </a:spcAft>
                        <a:buSzPts val="650"/>
                        <a:buFont typeface="Arial" panose="020B0604020202020204" pitchFamily="34" charset="0"/>
                        <a:buNone/>
                        <a:tabLst>
                          <a:tab pos="180340" algn="l"/>
                        </a:tabLst>
                      </a:pPr>
                      <a:r>
                        <a:rPr lang="zh-CN" altLang="en-US" sz="1200" dirty="0" smtClean="0">
                          <a:latin typeface="+mn-lt"/>
                          <a:ea typeface="+mn-ea"/>
                          <a:cs typeface="+mn-ea"/>
                          <a:sym typeface="+mn-lt"/>
                        </a:rPr>
                        <a:t>单设备组网：认证点即本设备，建议均采用</a:t>
                      </a:r>
                      <a:r>
                        <a:rPr lang="en-US" altLang="zh-CN" sz="1200" dirty="0" smtClean="0">
                          <a:latin typeface="+mn-lt"/>
                          <a:ea typeface="+mn-ea"/>
                          <a:cs typeface="+mn-ea"/>
                          <a:sym typeface="+mn-lt"/>
                        </a:rPr>
                        <a:t>Portal</a:t>
                      </a:r>
                      <a:r>
                        <a:rPr lang="zh-CN" altLang="en-US" sz="1200" dirty="0" smtClean="0">
                          <a:latin typeface="+mn-lt"/>
                          <a:ea typeface="+mn-ea"/>
                          <a:cs typeface="+mn-ea"/>
                          <a:sym typeface="+mn-lt"/>
                        </a:rPr>
                        <a:t>认证（云管理场景中</a:t>
                      </a:r>
                      <a:r>
                        <a:rPr lang="en-US" altLang="zh-CN" sz="1200" dirty="0" smtClean="0">
                          <a:latin typeface="+mn-lt"/>
                          <a:ea typeface="+mn-ea"/>
                          <a:cs typeface="+mn-ea"/>
                          <a:sym typeface="+mn-lt"/>
                        </a:rPr>
                        <a:t>AR</a:t>
                      </a:r>
                      <a:r>
                        <a:rPr lang="zh-CN" altLang="en-US" sz="1200" dirty="0" smtClean="0">
                          <a:latin typeface="+mn-lt"/>
                          <a:ea typeface="+mn-ea"/>
                          <a:cs typeface="+mn-ea"/>
                          <a:sym typeface="+mn-lt"/>
                        </a:rPr>
                        <a:t>、</a:t>
                      </a:r>
                      <a:r>
                        <a:rPr lang="en-US" altLang="zh-CN" sz="1200" dirty="0" smtClean="0">
                          <a:latin typeface="+mn-lt"/>
                          <a:ea typeface="+mn-ea"/>
                          <a:cs typeface="+mn-ea"/>
                          <a:sym typeface="+mn-lt"/>
                        </a:rPr>
                        <a:t>FW</a:t>
                      </a:r>
                      <a:r>
                        <a:rPr lang="zh-CN" altLang="en-US" sz="1200" dirty="0" smtClean="0">
                          <a:latin typeface="+mn-lt"/>
                          <a:ea typeface="+mn-ea"/>
                          <a:cs typeface="+mn-ea"/>
                          <a:sym typeface="+mn-lt"/>
                        </a:rPr>
                        <a:t>设备不支持</a:t>
                      </a:r>
                      <a:r>
                        <a:rPr lang="en-US" altLang="zh-CN" sz="1200" dirty="0" smtClean="0">
                          <a:latin typeface="+mn-lt"/>
                          <a:ea typeface="+mn-ea"/>
                          <a:cs typeface="+mn-ea"/>
                          <a:sym typeface="+mn-lt"/>
                        </a:rPr>
                        <a:t>802.1X</a:t>
                      </a:r>
                      <a:r>
                        <a:rPr lang="zh-CN" altLang="en-US" sz="1200" dirty="0" smtClean="0">
                          <a:latin typeface="+mn-lt"/>
                          <a:ea typeface="+mn-ea"/>
                          <a:cs typeface="+mn-ea"/>
                          <a:sym typeface="+mn-lt"/>
                        </a:rPr>
                        <a:t>、</a:t>
                      </a:r>
                      <a:r>
                        <a:rPr lang="en-US" altLang="zh-CN" sz="1200" dirty="0" smtClean="0">
                          <a:latin typeface="+mn-lt"/>
                          <a:ea typeface="+mn-ea"/>
                          <a:cs typeface="+mn-ea"/>
                          <a:sym typeface="+mn-lt"/>
                        </a:rPr>
                        <a:t>MAC</a:t>
                      </a:r>
                      <a:r>
                        <a:rPr lang="zh-CN" altLang="en-US" sz="1200" dirty="0" smtClean="0">
                          <a:latin typeface="+mn-lt"/>
                          <a:ea typeface="+mn-ea"/>
                          <a:cs typeface="+mn-ea"/>
                          <a:sym typeface="+mn-lt"/>
                        </a:rPr>
                        <a:t>认证）。其他组网场景：</a:t>
                      </a:r>
                    </a:p>
                    <a:p>
                      <a:pPr marL="285750" lvl="0" indent="-285750" algn="l" defTabSz="914034" rtl="0" eaLnBrk="1" latinLnBrk="0" hangingPunct="1">
                        <a:lnSpc>
                          <a:spcPts val="2400"/>
                        </a:lnSpc>
                        <a:spcBef>
                          <a:spcPts val="0"/>
                        </a:spcBef>
                        <a:spcAft>
                          <a:spcPts val="0"/>
                        </a:spcAft>
                        <a:buSzPct val="100000"/>
                        <a:buFont typeface="Arial" panose="020B0604020202020204" pitchFamily="34" charset="0"/>
                        <a:buChar char="•"/>
                        <a:tabLst>
                          <a:tab pos="180340" algn="l"/>
                        </a:tabLst>
                      </a:pPr>
                      <a:r>
                        <a:rPr lang="zh-CN" altLang="en-US" sz="1200" dirty="0" smtClean="0">
                          <a:latin typeface="+mn-lt"/>
                          <a:ea typeface="+mn-ea"/>
                          <a:cs typeface="+mn-ea"/>
                          <a:sym typeface="+mn-lt"/>
                        </a:rPr>
                        <a:t>无线用户采用</a:t>
                      </a:r>
                      <a:r>
                        <a:rPr lang="en-US" altLang="zh-CN" sz="1200" dirty="0" smtClean="0">
                          <a:latin typeface="+mn-lt"/>
                          <a:ea typeface="+mn-ea"/>
                          <a:cs typeface="+mn-ea"/>
                          <a:sym typeface="+mn-lt"/>
                        </a:rPr>
                        <a:t>AP</a:t>
                      </a:r>
                      <a:r>
                        <a:rPr lang="zh-CN" altLang="en-US" sz="1200" dirty="0" smtClean="0">
                          <a:latin typeface="+mn-lt"/>
                          <a:ea typeface="+mn-ea"/>
                          <a:cs typeface="+mn-ea"/>
                          <a:sym typeface="+mn-lt"/>
                        </a:rPr>
                        <a:t>作为认证点</a:t>
                      </a:r>
                    </a:p>
                    <a:p>
                      <a:pPr marL="285750" lvl="0" indent="-285750" algn="l" defTabSz="914034" rtl="0" eaLnBrk="1" latinLnBrk="0" hangingPunct="1">
                        <a:lnSpc>
                          <a:spcPts val="2400"/>
                        </a:lnSpc>
                        <a:spcBef>
                          <a:spcPts val="0"/>
                        </a:spcBef>
                        <a:spcAft>
                          <a:spcPts val="0"/>
                        </a:spcAft>
                        <a:buSzPct val="100000"/>
                        <a:buFont typeface="Arial" panose="020B0604020202020204" pitchFamily="34" charset="0"/>
                        <a:buChar char="•"/>
                        <a:tabLst>
                          <a:tab pos="180340" algn="l"/>
                        </a:tabLst>
                      </a:pPr>
                      <a:r>
                        <a:rPr lang="zh-CN" altLang="en-US" sz="1200" dirty="0" smtClean="0">
                          <a:latin typeface="+mn-lt"/>
                          <a:ea typeface="+mn-ea"/>
                          <a:cs typeface="+mn-ea"/>
                          <a:sym typeface="+mn-lt"/>
                        </a:rPr>
                        <a:t>有线用户采用接入交换机作为认证点</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nSpc>
                          <a:spcPct val="150000"/>
                        </a:lnSpc>
                        <a:spcBef>
                          <a:spcPts val="400"/>
                        </a:spcBef>
                        <a:spcAft>
                          <a:spcPts val="400"/>
                        </a:spcAft>
                      </a:pPr>
                      <a:endParaRPr lang="zh-CN" sz="1400" dirty="0">
                        <a:solidFill>
                          <a:schemeClr val="tx1"/>
                        </a:solidFill>
                        <a:effectLst/>
                        <a:latin typeface="+mn-lt"/>
                        <a:ea typeface="+mn-ea"/>
                        <a:cs typeface="Arial" panose="020B0604020202020204" pitchFamily="34" charset="0"/>
                      </a:endParaRPr>
                    </a:p>
                  </a:txBody>
                  <a:tcPr marL="68580" marR="68580" marT="0" marB="0">
                    <a:lnL w="12700" cap="flat" cmpd="sng" algn="ctr">
                      <a:solidFill>
                        <a:srgbClr val="F39E50"/>
                      </a:solidFill>
                      <a:prstDash val="solid"/>
                      <a:round/>
                      <a:headEnd type="none" w="med" len="med"/>
                      <a:tailEnd type="none" w="med" len="med"/>
                    </a:lnL>
                    <a:lnR w="12700" cap="flat" cmpd="sng" algn="ctr">
                      <a:solidFill>
                        <a:srgbClr val="F39E50"/>
                      </a:solidFill>
                      <a:prstDash val="solid"/>
                      <a:round/>
                      <a:headEnd type="none" w="med" len="med"/>
                      <a:tailEnd type="none" w="med" len="med"/>
                    </a:lnR>
                    <a:lnT w="12700" cap="flat" cmpd="sng" algn="ctr">
                      <a:solidFill>
                        <a:srgbClr val="F39E50"/>
                      </a:solidFill>
                      <a:prstDash val="solid"/>
                      <a:round/>
                      <a:headEnd type="none" w="med" len="med"/>
                      <a:tailEnd type="none" w="med" len="med"/>
                    </a:lnT>
                    <a:lnB w="12700" cap="flat" cmpd="sng" algn="ctr">
                      <a:solidFill>
                        <a:srgbClr val="F39E5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nSpc>
                          <a:spcPct val="150000"/>
                        </a:lnSpc>
                        <a:spcBef>
                          <a:spcPts val="400"/>
                        </a:spcBef>
                        <a:spcAft>
                          <a:spcPts val="400"/>
                        </a:spcAft>
                      </a:pPr>
                      <a:endParaRPr lang="zh-CN" sz="1400" dirty="0">
                        <a:solidFill>
                          <a:schemeClr val="tx1"/>
                        </a:solidFill>
                        <a:effectLst/>
                        <a:latin typeface="+mn-lt"/>
                        <a:ea typeface="+mn-ea"/>
                        <a:cs typeface="Arial" panose="020B0604020202020204" pitchFamily="34" charset="0"/>
                      </a:endParaRPr>
                    </a:p>
                  </a:txBody>
                  <a:tcPr marL="68580" marR="68580" marT="0" marB="0">
                    <a:lnL w="12700" cap="flat" cmpd="sng" algn="ctr">
                      <a:solidFill>
                        <a:srgbClr val="F39E50"/>
                      </a:solidFill>
                      <a:prstDash val="solid"/>
                      <a:round/>
                      <a:headEnd type="none" w="med" len="med"/>
                      <a:tailEnd type="none" w="med" len="med"/>
                    </a:lnL>
                    <a:lnR w="12700" cap="flat" cmpd="sng" algn="ctr">
                      <a:solidFill>
                        <a:srgbClr val="F39E50"/>
                      </a:solidFill>
                      <a:prstDash val="solid"/>
                      <a:round/>
                      <a:headEnd type="none" w="med" len="med"/>
                      <a:tailEnd type="none" w="med" len="med"/>
                    </a:lnR>
                    <a:lnT w="12700" cap="flat" cmpd="sng" algn="ctr">
                      <a:solidFill>
                        <a:srgbClr val="F39E50"/>
                      </a:solidFill>
                      <a:prstDash val="solid"/>
                      <a:round/>
                      <a:headEnd type="none" w="med" len="med"/>
                      <a:tailEnd type="none" w="med" len="med"/>
                    </a:lnT>
                    <a:lnB w="12700" cap="flat" cmpd="sng" algn="ctr">
                      <a:solidFill>
                        <a:srgbClr val="F39E5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pic>
        <p:nvPicPr>
          <p:cNvPr id="6" name="图片 5" descr="AP.png"/>
          <p:cNvPicPr>
            <a:picLocks noChangeAspect="1"/>
          </p:cNvPicPr>
          <p:nvPr/>
        </p:nvPicPr>
        <p:blipFill>
          <a:blip r:embed="rId4" cstate="print"/>
          <a:stretch>
            <a:fillRect/>
          </a:stretch>
        </p:blipFill>
        <p:spPr>
          <a:xfrm>
            <a:off x="3223332" y="4643832"/>
            <a:ext cx="288000" cy="235636"/>
          </a:xfrm>
          <a:prstGeom prst="rect">
            <a:avLst/>
          </a:prstGeom>
        </p:spPr>
      </p:pic>
      <p:pic>
        <p:nvPicPr>
          <p:cNvPr id="7" name="图片 6" descr="接入交换机.png"/>
          <p:cNvPicPr>
            <a:picLocks noChangeAspect="1"/>
          </p:cNvPicPr>
          <p:nvPr/>
        </p:nvPicPr>
        <p:blipFill>
          <a:blip r:embed="rId5" cstate="print"/>
          <a:stretch>
            <a:fillRect/>
          </a:stretch>
        </p:blipFill>
        <p:spPr>
          <a:xfrm>
            <a:off x="3523821" y="4007028"/>
            <a:ext cx="360000" cy="294544"/>
          </a:xfrm>
          <a:prstGeom prst="rect">
            <a:avLst/>
          </a:prstGeom>
        </p:spPr>
      </p:pic>
      <p:pic>
        <p:nvPicPr>
          <p:cNvPr id="8" name="图片 7" descr="AP.png"/>
          <p:cNvPicPr>
            <a:picLocks noChangeAspect="1"/>
          </p:cNvPicPr>
          <p:nvPr/>
        </p:nvPicPr>
        <p:blipFill>
          <a:blip r:embed="rId4" cstate="print"/>
          <a:stretch>
            <a:fillRect/>
          </a:stretch>
        </p:blipFill>
        <p:spPr>
          <a:xfrm>
            <a:off x="3562966" y="4643832"/>
            <a:ext cx="288000" cy="235636"/>
          </a:xfrm>
          <a:prstGeom prst="rect">
            <a:avLst/>
          </a:prstGeom>
        </p:spPr>
      </p:pic>
      <p:cxnSp>
        <p:nvCxnSpPr>
          <p:cNvPr id="9" name="直接连接符 8"/>
          <p:cNvCxnSpPr>
            <a:stCxn id="7" idx="2"/>
            <a:endCxn id="6" idx="0"/>
          </p:cNvCxnSpPr>
          <p:nvPr/>
        </p:nvCxnSpPr>
        <p:spPr bwMode="auto">
          <a:xfrm flipH="1">
            <a:off x="3367332" y="4301572"/>
            <a:ext cx="336489" cy="342260"/>
          </a:xfrm>
          <a:prstGeom prst="line">
            <a:avLst/>
          </a:prstGeom>
          <a:noFill/>
          <a:ln w="3175">
            <a:solidFill>
              <a:schemeClr val="tx1"/>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23821" y="3494302"/>
            <a:ext cx="360000" cy="294545"/>
          </a:xfrm>
          <a:prstGeom prst="rect">
            <a:avLst/>
          </a:prstGeom>
        </p:spPr>
      </p:pic>
      <p:sp>
        <p:nvSpPr>
          <p:cNvPr id="14" name="椭圆 13"/>
          <p:cNvSpPr/>
          <p:nvPr/>
        </p:nvSpPr>
        <p:spPr bwMode="grayWhite">
          <a:xfrm>
            <a:off x="1033937" y="4950213"/>
            <a:ext cx="108000" cy="108000"/>
          </a:xfrm>
          <a:prstGeom prst="ellipse">
            <a:avLst/>
          </a:prstGeom>
          <a:solidFill>
            <a:srgbClr val="FFC00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15" name="椭圆 14"/>
          <p:cNvSpPr/>
          <p:nvPr/>
        </p:nvSpPr>
        <p:spPr bwMode="auto">
          <a:xfrm>
            <a:off x="1033937" y="5206713"/>
            <a:ext cx="108000" cy="108000"/>
          </a:xfrm>
          <a:prstGeom prst="ellipse">
            <a:avLst/>
          </a:prstGeom>
          <a:solidFill>
            <a:srgbClr val="62B23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pic>
        <p:nvPicPr>
          <p:cNvPr id="16" name="图片 15" descr="AP.png"/>
          <p:cNvPicPr>
            <a:picLocks noChangeAspect="1"/>
          </p:cNvPicPr>
          <p:nvPr/>
        </p:nvPicPr>
        <p:blipFill>
          <a:blip r:embed="rId4" cstate="print"/>
          <a:stretch>
            <a:fillRect/>
          </a:stretch>
        </p:blipFill>
        <p:spPr>
          <a:xfrm>
            <a:off x="859647" y="3560209"/>
            <a:ext cx="360000" cy="294545"/>
          </a:xfrm>
          <a:prstGeom prst="rect">
            <a:avLst/>
          </a:prstGeom>
        </p:spPr>
      </p:pic>
      <p:pic>
        <p:nvPicPr>
          <p:cNvPr id="17" name="图片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35684" y="3560209"/>
            <a:ext cx="360000" cy="294545"/>
          </a:xfrm>
          <a:prstGeom prst="rect">
            <a:avLst/>
          </a:prstGeom>
        </p:spPr>
      </p:pic>
      <p:cxnSp>
        <p:nvCxnSpPr>
          <p:cNvPr id="25" name="直接连接符 24"/>
          <p:cNvCxnSpPr>
            <a:stCxn id="7" idx="2"/>
            <a:endCxn id="61" idx="0"/>
          </p:cNvCxnSpPr>
          <p:nvPr/>
        </p:nvCxnSpPr>
        <p:spPr bwMode="auto">
          <a:xfrm>
            <a:off x="3703821" y="4301572"/>
            <a:ext cx="388423" cy="757867"/>
          </a:xfrm>
          <a:prstGeom prst="line">
            <a:avLst/>
          </a:prstGeom>
          <a:noFill/>
          <a:ln w="3175">
            <a:solidFill>
              <a:schemeClr val="tx1"/>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椭圆 33"/>
          <p:cNvSpPr/>
          <p:nvPr/>
        </p:nvSpPr>
        <p:spPr bwMode="grayWhite">
          <a:xfrm>
            <a:off x="985647" y="3809320"/>
            <a:ext cx="108000" cy="108000"/>
          </a:xfrm>
          <a:prstGeom prst="ellipse">
            <a:avLst/>
          </a:prstGeom>
          <a:solidFill>
            <a:srgbClr val="FFC00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35" name="椭圆 34"/>
          <p:cNvSpPr/>
          <p:nvPr/>
        </p:nvSpPr>
        <p:spPr bwMode="grayWhite">
          <a:xfrm>
            <a:off x="1696585" y="3809320"/>
            <a:ext cx="108000" cy="108000"/>
          </a:xfrm>
          <a:prstGeom prst="ellipse">
            <a:avLst/>
          </a:prstGeom>
          <a:solidFill>
            <a:srgbClr val="FFC00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36" name="椭圆 35"/>
          <p:cNvSpPr/>
          <p:nvPr/>
        </p:nvSpPr>
        <p:spPr bwMode="grayWhite">
          <a:xfrm>
            <a:off x="2496232" y="3809320"/>
            <a:ext cx="108000" cy="108000"/>
          </a:xfrm>
          <a:prstGeom prst="ellipse">
            <a:avLst/>
          </a:prstGeom>
          <a:solidFill>
            <a:srgbClr val="FFC00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37" name="椭圆 36"/>
          <p:cNvSpPr/>
          <p:nvPr/>
        </p:nvSpPr>
        <p:spPr bwMode="grayWhite">
          <a:xfrm>
            <a:off x="3317601" y="4819798"/>
            <a:ext cx="108000" cy="108000"/>
          </a:xfrm>
          <a:prstGeom prst="ellipse">
            <a:avLst/>
          </a:prstGeom>
          <a:solidFill>
            <a:srgbClr val="FFC00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38" name="椭圆 37"/>
          <p:cNvSpPr/>
          <p:nvPr/>
        </p:nvSpPr>
        <p:spPr bwMode="auto">
          <a:xfrm>
            <a:off x="3813457" y="4233387"/>
            <a:ext cx="108000" cy="108000"/>
          </a:xfrm>
          <a:prstGeom prst="ellipse">
            <a:avLst/>
          </a:prstGeom>
          <a:solidFill>
            <a:srgbClr val="62B23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39" name="椭圆 38"/>
          <p:cNvSpPr/>
          <p:nvPr/>
        </p:nvSpPr>
        <p:spPr bwMode="auto">
          <a:xfrm>
            <a:off x="1826091" y="3809320"/>
            <a:ext cx="108000" cy="108000"/>
          </a:xfrm>
          <a:prstGeom prst="ellipse">
            <a:avLst/>
          </a:prstGeom>
          <a:solidFill>
            <a:srgbClr val="62B23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40" name="椭圆 39"/>
          <p:cNvSpPr/>
          <p:nvPr/>
        </p:nvSpPr>
        <p:spPr bwMode="grayWhite">
          <a:xfrm>
            <a:off x="3662888" y="4819798"/>
            <a:ext cx="108000" cy="108000"/>
          </a:xfrm>
          <a:prstGeom prst="ellipse">
            <a:avLst/>
          </a:prstGeom>
          <a:solidFill>
            <a:srgbClr val="FFC00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41" name="文本框 40"/>
          <p:cNvSpPr txBox="1"/>
          <p:nvPr/>
        </p:nvSpPr>
        <p:spPr>
          <a:xfrm>
            <a:off x="1201570" y="4886306"/>
            <a:ext cx="954107" cy="276999"/>
          </a:xfrm>
          <a:prstGeom prst="rect">
            <a:avLst/>
          </a:prstGeom>
          <a:noFill/>
        </p:spPr>
        <p:txBody>
          <a:bodyPr wrap="none" rtlCol="0">
            <a:spAutoFit/>
          </a:bodyPr>
          <a:lstStyle/>
          <a:p>
            <a:r>
              <a:rPr lang="zh-CN" altLang="en-US" sz="1200" dirty="0" smtClean="0">
                <a:cs typeface="+mn-ea"/>
                <a:sym typeface="+mn-lt"/>
              </a:rPr>
              <a:t>无线认证点</a:t>
            </a:r>
            <a:endParaRPr lang="zh-CN" altLang="en-US" sz="1200" dirty="0">
              <a:cs typeface="+mn-ea"/>
              <a:sym typeface="+mn-lt"/>
            </a:endParaRPr>
          </a:p>
        </p:txBody>
      </p:sp>
      <p:sp>
        <p:nvSpPr>
          <p:cNvPr id="42" name="文本框 41"/>
          <p:cNvSpPr txBox="1"/>
          <p:nvPr/>
        </p:nvSpPr>
        <p:spPr>
          <a:xfrm>
            <a:off x="1201570" y="5144334"/>
            <a:ext cx="954107" cy="276999"/>
          </a:xfrm>
          <a:prstGeom prst="rect">
            <a:avLst/>
          </a:prstGeom>
          <a:noFill/>
        </p:spPr>
        <p:txBody>
          <a:bodyPr wrap="none" rtlCol="0">
            <a:spAutoFit/>
          </a:bodyPr>
          <a:lstStyle/>
          <a:p>
            <a:r>
              <a:rPr lang="zh-CN" altLang="en-US" sz="1200" dirty="0" smtClean="0">
                <a:cs typeface="+mn-ea"/>
                <a:sym typeface="+mn-lt"/>
              </a:rPr>
              <a:t>有线认证点</a:t>
            </a:r>
            <a:endParaRPr lang="zh-CN" altLang="en-US" sz="1200" dirty="0">
              <a:cs typeface="+mn-ea"/>
              <a:sym typeface="+mn-lt"/>
            </a:endParaRPr>
          </a:p>
        </p:txBody>
      </p:sp>
      <p:sp>
        <p:nvSpPr>
          <p:cNvPr id="48" name="椭圆 47"/>
          <p:cNvSpPr/>
          <p:nvPr/>
        </p:nvSpPr>
        <p:spPr bwMode="auto">
          <a:xfrm>
            <a:off x="2640231" y="3812583"/>
            <a:ext cx="108000" cy="108000"/>
          </a:xfrm>
          <a:prstGeom prst="ellipse">
            <a:avLst/>
          </a:prstGeom>
          <a:solidFill>
            <a:srgbClr val="62B230"/>
          </a:solidFill>
          <a:ln w="19050">
            <a:noFill/>
            <a:prstDash val="sysDash"/>
            <a:headEnd type="none"/>
            <a:tailEnd type="triangle" w="med" len="med"/>
          </a:ln>
          <a:effectLst/>
          <a:extLst/>
        </p:spPr>
        <p:txBody>
          <a:bodyPr rtlCol="0" anchor="ctr"/>
          <a:lstStyle/>
          <a:p>
            <a:pPr algn="ctr"/>
            <a:endParaRPr lang="zh-CN" altLang="en-US">
              <a:solidFill>
                <a:srgbClr val="000000"/>
              </a:solidFill>
              <a:cs typeface="+mn-ea"/>
              <a:sym typeface="+mn-lt"/>
            </a:endParaRPr>
          </a:p>
        </p:txBody>
      </p:sp>
      <p:sp>
        <p:nvSpPr>
          <p:cNvPr id="51" name="任意多边形 50"/>
          <p:cNvSpPr/>
          <p:nvPr/>
        </p:nvSpPr>
        <p:spPr>
          <a:xfrm>
            <a:off x="1920619" y="2267096"/>
            <a:ext cx="1104522" cy="752720"/>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b="1" dirty="0" smtClean="0">
                <a:cs typeface="+mn-ea"/>
                <a:sym typeface="+mn-lt"/>
              </a:rPr>
              <a:t>Internet</a:t>
            </a:r>
            <a:endParaRPr lang="zh-CN" altLang="en-US" sz="1400" b="1" dirty="0">
              <a:cs typeface="+mn-ea"/>
              <a:sym typeface="+mn-lt"/>
            </a:endParaRPr>
          </a:p>
        </p:txBody>
      </p:sp>
      <p:pic>
        <p:nvPicPr>
          <p:cNvPr id="60" name="图片 59" descr="PC.png"/>
          <p:cNvPicPr>
            <a:picLocks noChangeAspect="1"/>
          </p:cNvPicPr>
          <p:nvPr/>
        </p:nvPicPr>
        <p:blipFill>
          <a:blip r:embed="rId8" cstate="print"/>
          <a:stretch>
            <a:fillRect/>
          </a:stretch>
        </p:blipFill>
        <p:spPr>
          <a:xfrm>
            <a:off x="1782439" y="4182820"/>
            <a:ext cx="288000" cy="221184"/>
          </a:xfrm>
          <a:prstGeom prst="rect">
            <a:avLst/>
          </a:prstGeom>
        </p:spPr>
      </p:pic>
      <p:pic>
        <p:nvPicPr>
          <p:cNvPr id="61" name="图片 60" descr="PC.png"/>
          <p:cNvPicPr>
            <a:picLocks noChangeAspect="1"/>
          </p:cNvPicPr>
          <p:nvPr/>
        </p:nvPicPr>
        <p:blipFill>
          <a:blip r:embed="rId8" cstate="print"/>
          <a:stretch>
            <a:fillRect/>
          </a:stretch>
        </p:blipFill>
        <p:spPr>
          <a:xfrm>
            <a:off x="3948244" y="5059439"/>
            <a:ext cx="288000" cy="221184"/>
          </a:xfrm>
          <a:prstGeom prst="rect">
            <a:avLst/>
          </a:prstGeom>
        </p:spPr>
      </p:pic>
      <p:pic>
        <p:nvPicPr>
          <p:cNvPr id="64" name="图片 63" descr="PC.png"/>
          <p:cNvPicPr>
            <a:picLocks noChangeAspect="1"/>
          </p:cNvPicPr>
          <p:nvPr/>
        </p:nvPicPr>
        <p:blipFill>
          <a:blip r:embed="rId8" cstate="print"/>
          <a:stretch>
            <a:fillRect/>
          </a:stretch>
        </p:blipFill>
        <p:spPr>
          <a:xfrm>
            <a:off x="2585142" y="4182820"/>
            <a:ext cx="288000" cy="221184"/>
          </a:xfrm>
          <a:prstGeom prst="rect">
            <a:avLst/>
          </a:prstGeom>
        </p:spPr>
      </p:pic>
      <p:pic>
        <p:nvPicPr>
          <p:cNvPr id="45" name="图片 4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674475" y="1681199"/>
            <a:ext cx="1481530" cy="273233"/>
          </a:xfrm>
          <a:prstGeom prst="rect">
            <a:avLst/>
          </a:prstGeom>
        </p:spPr>
      </p:pic>
      <p:pic>
        <p:nvPicPr>
          <p:cNvPr id="52" name="图片 158" descr="SAN网络-蓝.png"/>
          <p:cNvPicPr>
            <a:picLocks noChangeAspect="1"/>
          </p:cNvPicPr>
          <p:nvPr/>
        </p:nvPicPr>
        <p:blipFill>
          <a:blip r:embed="rId10" cstate="print"/>
          <a:stretch>
            <a:fillRect/>
          </a:stretch>
        </p:blipFill>
        <p:spPr>
          <a:xfrm>
            <a:off x="956587" y="4130988"/>
            <a:ext cx="166121" cy="272157"/>
          </a:xfrm>
          <a:prstGeom prst="rect">
            <a:avLst/>
          </a:prstGeom>
        </p:spPr>
      </p:pic>
      <p:pic>
        <p:nvPicPr>
          <p:cNvPr id="53" name="图片 158" descr="SAN网络-蓝.png"/>
          <p:cNvPicPr>
            <a:picLocks noChangeAspect="1"/>
          </p:cNvPicPr>
          <p:nvPr/>
        </p:nvPicPr>
        <p:blipFill>
          <a:blip r:embed="rId10" cstate="print"/>
          <a:stretch>
            <a:fillRect/>
          </a:stretch>
        </p:blipFill>
        <p:spPr>
          <a:xfrm>
            <a:off x="3489740" y="5010117"/>
            <a:ext cx="166121" cy="272157"/>
          </a:xfrm>
          <a:prstGeom prst="rect">
            <a:avLst/>
          </a:prstGeom>
        </p:spPr>
      </p:pic>
      <p:cxnSp>
        <p:nvCxnSpPr>
          <p:cNvPr id="54" name="直接连接符 53"/>
          <p:cNvCxnSpPr/>
          <p:nvPr/>
        </p:nvCxnSpPr>
        <p:spPr bwMode="auto">
          <a:xfrm>
            <a:off x="3703821" y="3788847"/>
            <a:ext cx="0" cy="218181"/>
          </a:xfrm>
          <a:prstGeom prst="line">
            <a:avLst/>
          </a:prstGeom>
          <a:noFill/>
          <a:ln w="3175">
            <a:solidFill>
              <a:schemeClr val="tx1"/>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p:nvPr/>
        </p:nvCxnSpPr>
        <p:spPr bwMode="auto">
          <a:xfrm>
            <a:off x="3703821" y="4301572"/>
            <a:ext cx="0" cy="342260"/>
          </a:xfrm>
          <a:prstGeom prst="line">
            <a:avLst/>
          </a:prstGeom>
          <a:noFill/>
          <a:ln w="3175">
            <a:solidFill>
              <a:schemeClr val="tx1"/>
            </a:solidFill>
            <a:prstDash val="soli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6" name="图片 158" descr="SAN网络-蓝.png"/>
          <p:cNvPicPr>
            <a:picLocks noChangeAspect="1"/>
          </p:cNvPicPr>
          <p:nvPr/>
        </p:nvPicPr>
        <p:blipFill>
          <a:blip r:embed="rId10" cstate="print"/>
          <a:stretch>
            <a:fillRect/>
          </a:stretch>
        </p:blipFill>
        <p:spPr>
          <a:xfrm>
            <a:off x="1583563" y="4130988"/>
            <a:ext cx="166121" cy="272157"/>
          </a:xfrm>
          <a:prstGeom prst="rect">
            <a:avLst/>
          </a:prstGeom>
        </p:spPr>
      </p:pic>
      <p:pic>
        <p:nvPicPr>
          <p:cNvPr id="62" name="图片 158" descr="SAN网络-蓝.png"/>
          <p:cNvPicPr>
            <a:picLocks noChangeAspect="1"/>
          </p:cNvPicPr>
          <p:nvPr/>
        </p:nvPicPr>
        <p:blipFill>
          <a:blip r:embed="rId10" cstate="print"/>
          <a:stretch>
            <a:fillRect/>
          </a:stretch>
        </p:blipFill>
        <p:spPr>
          <a:xfrm>
            <a:off x="2398581" y="4130988"/>
            <a:ext cx="166121" cy="272157"/>
          </a:xfrm>
          <a:prstGeom prst="rect">
            <a:avLst/>
          </a:prstGeom>
        </p:spPr>
      </p:pic>
    </p:spTree>
    <p:extLst>
      <p:ext uri="{BB962C8B-B14F-4D97-AF65-F5344CB8AC3E}">
        <p14:creationId xmlns:p14="http://schemas.microsoft.com/office/powerpoint/2010/main" val="3485920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a:latin typeface="+mn-lt"/>
                <a:ea typeface="+mn-ea"/>
                <a:cs typeface="+mn-ea"/>
                <a:sym typeface="+mn-lt"/>
              </a:rPr>
              <a:t>总体设计流程全景图</a:t>
            </a:r>
          </a:p>
        </p:txBody>
      </p:sp>
      <p:sp>
        <p:nvSpPr>
          <p:cNvPr id="33" name="TextBox 303"/>
          <p:cNvSpPr txBox="1"/>
          <p:nvPr/>
        </p:nvSpPr>
        <p:spPr bwMode="gray">
          <a:xfrm>
            <a:off x="731838" y="1210686"/>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总体设计</a:t>
            </a:r>
          </a:p>
        </p:txBody>
      </p:sp>
      <p:sp>
        <p:nvSpPr>
          <p:cNvPr id="38" name="TextBox 303"/>
          <p:cNvSpPr txBox="1"/>
          <p:nvPr/>
        </p:nvSpPr>
        <p:spPr bwMode="gray">
          <a:xfrm>
            <a:off x="731838" y="2615071"/>
            <a:ext cx="912236" cy="123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chemeClr val="bg1">
                    <a:lumMod val="50000"/>
                  </a:schemeClr>
                </a:solidFill>
              </a:defRPr>
            </a:lvl1pPr>
          </a:lstStyle>
          <a:p>
            <a:r>
              <a:rPr lang="zh-CN" altLang="en-US">
                <a:cs typeface="+mn-ea"/>
                <a:sym typeface="+mn-lt"/>
              </a:rPr>
              <a:t>组网设计</a:t>
            </a:r>
          </a:p>
        </p:txBody>
      </p:sp>
      <p:sp>
        <p:nvSpPr>
          <p:cNvPr id="39" name="TextBox 303"/>
          <p:cNvSpPr txBox="1"/>
          <p:nvPr/>
        </p:nvSpPr>
        <p:spPr bwMode="gray">
          <a:xfrm>
            <a:off x="731838" y="4019456"/>
            <a:ext cx="912236" cy="1429126"/>
          </a:xfrm>
          <a:prstGeom prst="rect">
            <a:avLst/>
          </a:prstGeom>
          <a:solidFill>
            <a:srgbClr val="FDF1E9"/>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a:solidFill>
                  <a:srgbClr val="ED6D00"/>
                </a:solidFill>
                <a:cs typeface="+mn-ea"/>
              </a:defRPr>
            </a:lvl1pPr>
          </a:lstStyle>
          <a:p>
            <a:r>
              <a:rPr lang="zh-CN" altLang="en-US">
                <a:sym typeface="+mn-lt"/>
              </a:rPr>
              <a:t>业务设计</a:t>
            </a:r>
          </a:p>
        </p:txBody>
      </p:sp>
      <p:cxnSp>
        <p:nvCxnSpPr>
          <p:cNvPr id="40" name="直接箭头连接符 39"/>
          <p:cNvCxnSpPr>
            <a:stCxn id="33" idx="2"/>
            <a:endCxn id="38" idx="0"/>
          </p:cNvCxnSpPr>
          <p:nvPr/>
        </p:nvCxnSpPr>
        <p:spPr bwMode="gray">
          <a:xfrm>
            <a:off x="1187956" y="2445486"/>
            <a:ext cx="0" cy="16958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8" idx="2"/>
            <a:endCxn id="39" idx="0"/>
          </p:cNvCxnSpPr>
          <p:nvPr/>
        </p:nvCxnSpPr>
        <p:spPr bwMode="gray">
          <a:xfrm>
            <a:off x="1187956" y="3849871"/>
            <a:ext cx="0" cy="169585"/>
          </a:xfrm>
          <a:prstGeom prst="straightConnector1">
            <a:avLst/>
          </a:prstGeom>
          <a:ln>
            <a:solidFill>
              <a:srgbClr val="ED6D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303"/>
          <p:cNvSpPr txBox="1"/>
          <p:nvPr/>
        </p:nvSpPr>
        <p:spPr bwMode="gray">
          <a:xfrm>
            <a:off x="1727200" y="1210686"/>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zh-CN" altLang="en-US" sz="1400">
              <a:solidFill>
                <a:schemeClr val="tx1">
                  <a:lumMod val="75000"/>
                  <a:lumOff val="25000"/>
                </a:schemeClr>
              </a:solidFill>
              <a:cs typeface="+mn-ea"/>
              <a:sym typeface="+mn-lt"/>
            </a:endParaRPr>
          </a:p>
        </p:txBody>
      </p:sp>
      <p:sp>
        <p:nvSpPr>
          <p:cNvPr id="43" name="TextBox 303"/>
          <p:cNvSpPr txBox="1"/>
          <p:nvPr/>
        </p:nvSpPr>
        <p:spPr bwMode="gray">
          <a:xfrm>
            <a:off x="1727200" y="2615071"/>
            <a:ext cx="9732963" cy="12348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4" name="TextBox 303"/>
          <p:cNvSpPr txBox="1"/>
          <p:nvPr/>
        </p:nvSpPr>
        <p:spPr bwMode="gray">
          <a:xfrm>
            <a:off x="1727200" y="4008582"/>
            <a:ext cx="9732963" cy="1440000"/>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defPPr>
              <a:defRPr lang="en-US"/>
            </a:defPPr>
            <a:lvl1pPr algn="ctr">
              <a:defRPr sz="1600">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Aft>
                <a:spcPts val="600"/>
              </a:spcAft>
            </a:pPr>
            <a:endParaRPr lang="zh-CN" altLang="en-US" sz="1400">
              <a:solidFill>
                <a:schemeClr val="tx1">
                  <a:lumMod val="75000"/>
                  <a:lumOff val="25000"/>
                </a:schemeClr>
              </a:solidFill>
              <a:cs typeface="+mn-ea"/>
              <a:sym typeface="+mn-lt"/>
            </a:endParaRPr>
          </a:p>
        </p:txBody>
      </p:sp>
      <p:sp>
        <p:nvSpPr>
          <p:cNvPr id="45" name="五边形 44"/>
          <p:cNvSpPr/>
          <p:nvPr/>
        </p:nvSpPr>
        <p:spPr bwMode="gray">
          <a:xfrm>
            <a:off x="2113280" y="1649828"/>
            <a:ext cx="3060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网络管理模式设计</a:t>
            </a:r>
          </a:p>
        </p:txBody>
      </p:sp>
      <p:sp>
        <p:nvSpPr>
          <p:cNvPr id="46" name="燕尾形 45"/>
          <p:cNvSpPr/>
          <p:nvPr/>
        </p:nvSpPr>
        <p:spPr bwMode="gray">
          <a:xfrm>
            <a:off x="5071983"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网络运维模式设计</a:t>
            </a:r>
          </a:p>
        </p:txBody>
      </p:sp>
      <p:sp>
        <p:nvSpPr>
          <p:cNvPr id="47" name="燕尾形 46"/>
          <p:cNvSpPr/>
          <p:nvPr/>
        </p:nvSpPr>
        <p:spPr bwMode="gray">
          <a:xfrm>
            <a:off x="8030686" y="1649828"/>
            <a:ext cx="3060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lumMod val="50000"/>
                  </a:schemeClr>
                </a:solidFill>
                <a:cs typeface="+mn-ea"/>
                <a:sym typeface="+mn-lt"/>
              </a:rPr>
              <a:t>License</a:t>
            </a:r>
            <a:r>
              <a:rPr lang="zh-CN" altLang="en-US" sz="1600">
                <a:solidFill>
                  <a:schemeClr val="bg1">
                    <a:lumMod val="50000"/>
                  </a:schemeClr>
                </a:solidFill>
                <a:cs typeface="+mn-ea"/>
                <a:sym typeface="+mn-lt"/>
              </a:rPr>
              <a:t>方案设计</a:t>
            </a:r>
          </a:p>
        </p:txBody>
      </p:sp>
      <p:sp>
        <p:nvSpPr>
          <p:cNvPr id="56" name="五边形 55"/>
          <p:cNvSpPr/>
          <p:nvPr/>
        </p:nvSpPr>
        <p:spPr bwMode="gray">
          <a:xfrm>
            <a:off x="2113280" y="305247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网络架构设计</a:t>
            </a:r>
          </a:p>
        </p:txBody>
      </p:sp>
      <p:sp>
        <p:nvSpPr>
          <p:cNvPr id="57" name="燕尾形 56"/>
          <p:cNvSpPr/>
          <p:nvPr/>
        </p:nvSpPr>
        <p:spPr bwMode="gray">
          <a:xfrm>
            <a:off x="4337749"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组网方案设计</a:t>
            </a:r>
          </a:p>
        </p:txBody>
      </p:sp>
      <p:sp>
        <p:nvSpPr>
          <p:cNvPr id="59" name="燕尾形 58"/>
          <p:cNvSpPr/>
          <p:nvPr/>
        </p:nvSpPr>
        <p:spPr bwMode="gray">
          <a:xfrm>
            <a:off x="6562218"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lumMod val="50000"/>
                  </a:schemeClr>
                </a:solidFill>
                <a:cs typeface="+mn-ea"/>
                <a:sym typeface="+mn-lt"/>
              </a:rPr>
              <a:t>可靠性设计</a:t>
            </a:r>
          </a:p>
        </p:txBody>
      </p:sp>
      <p:sp>
        <p:nvSpPr>
          <p:cNvPr id="48" name="五边形 47"/>
          <p:cNvSpPr/>
          <p:nvPr/>
        </p:nvSpPr>
        <p:spPr bwMode="gray">
          <a:xfrm>
            <a:off x="2113280" y="4314711"/>
            <a:ext cx="2304000" cy="36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网络基础业务设计</a:t>
            </a:r>
          </a:p>
        </p:txBody>
      </p:sp>
      <p:sp>
        <p:nvSpPr>
          <p:cNvPr id="49" name="燕尾形 48"/>
          <p:cNvSpPr/>
          <p:nvPr/>
        </p:nvSpPr>
        <p:spPr bwMode="gray">
          <a:xfrm>
            <a:off x="4337749"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bg1">
                    <a:lumMod val="50000"/>
                  </a:schemeClr>
                </a:solidFill>
                <a:cs typeface="+mn-ea"/>
                <a:sym typeface="+mn-lt"/>
              </a:rPr>
              <a:t>网络开局设计</a:t>
            </a:r>
            <a:endParaRPr lang="zh-CN" altLang="en-US" sz="1600" dirty="0">
              <a:solidFill>
                <a:schemeClr val="bg1">
                  <a:lumMod val="50000"/>
                </a:schemeClr>
              </a:solidFill>
              <a:cs typeface="+mn-ea"/>
              <a:sym typeface="+mn-lt"/>
            </a:endParaRPr>
          </a:p>
        </p:txBody>
      </p:sp>
      <p:sp>
        <p:nvSpPr>
          <p:cNvPr id="50" name="燕尾形 49"/>
          <p:cNvSpPr/>
          <p:nvPr/>
        </p:nvSpPr>
        <p:spPr bwMode="gray">
          <a:xfrm>
            <a:off x="6562218"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chemeClr val="bg1">
                    <a:lumMod val="50000"/>
                  </a:schemeClr>
                </a:solidFill>
                <a:cs typeface="+mn-ea"/>
                <a:sym typeface="+mn-lt"/>
              </a:rPr>
              <a:t>WLAN</a:t>
            </a:r>
            <a:r>
              <a:rPr lang="zh-CN" altLang="en-US" sz="1600" smtClean="0">
                <a:solidFill>
                  <a:schemeClr val="bg1">
                    <a:lumMod val="50000"/>
                  </a:schemeClr>
                </a:solidFill>
                <a:cs typeface="+mn-ea"/>
                <a:sym typeface="+mn-lt"/>
              </a:rPr>
              <a:t>设计</a:t>
            </a:r>
            <a:endParaRPr lang="zh-CN" altLang="en-US" sz="1600">
              <a:solidFill>
                <a:schemeClr val="bg1">
                  <a:lumMod val="50000"/>
                </a:schemeClr>
              </a:solidFill>
              <a:cs typeface="+mn-ea"/>
              <a:sym typeface="+mn-lt"/>
            </a:endParaRPr>
          </a:p>
        </p:txBody>
      </p:sp>
      <p:sp>
        <p:nvSpPr>
          <p:cNvPr id="51" name="燕尾形 50"/>
          <p:cNvSpPr/>
          <p:nvPr/>
        </p:nvSpPr>
        <p:spPr bwMode="gray">
          <a:xfrm>
            <a:off x="8786686" y="431471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lumMod val="50000"/>
                  </a:schemeClr>
                </a:solidFill>
                <a:cs typeface="+mn-ea"/>
                <a:sym typeface="+mn-lt"/>
              </a:rPr>
              <a:t>NAC</a:t>
            </a:r>
            <a:r>
              <a:rPr lang="zh-CN" altLang="en-US" sz="1600" dirty="0">
                <a:solidFill>
                  <a:schemeClr val="bg1">
                    <a:lumMod val="50000"/>
                  </a:schemeClr>
                </a:solidFill>
                <a:cs typeface="+mn-ea"/>
                <a:sym typeface="+mn-lt"/>
              </a:rPr>
              <a:t>设计</a:t>
            </a:r>
          </a:p>
        </p:txBody>
      </p:sp>
      <p:sp>
        <p:nvSpPr>
          <p:cNvPr id="21" name="五边形 20"/>
          <p:cNvSpPr/>
          <p:nvPr/>
        </p:nvSpPr>
        <p:spPr bwMode="grayWhite">
          <a:xfrm>
            <a:off x="2113280" y="4782453"/>
            <a:ext cx="2722880" cy="360000"/>
          </a:xfrm>
          <a:prstGeom prst="homePlate">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cs typeface="+mn-ea"/>
                <a:sym typeface="+mn-lt"/>
              </a:rPr>
              <a:t>增值业务</a:t>
            </a:r>
            <a:r>
              <a:rPr lang="zh-CN" altLang="en-US" sz="1600" dirty="0" smtClean="0">
                <a:solidFill>
                  <a:schemeClr val="tx1"/>
                </a:solidFill>
                <a:cs typeface="+mn-ea"/>
                <a:sym typeface="+mn-lt"/>
              </a:rPr>
              <a:t>与运维管理</a:t>
            </a:r>
            <a:r>
              <a:rPr lang="zh-CN" altLang="en-US" sz="1600" dirty="0">
                <a:solidFill>
                  <a:schemeClr val="tx1"/>
                </a:solidFill>
                <a:cs typeface="+mn-ea"/>
                <a:sym typeface="+mn-lt"/>
              </a:rPr>
              <a:t>设计</a:t>
            </a:r>
          </a:p>
        </p:txBody>
      </p:sp>
      <p:sp>
        <p:nvSpPr>
          <p:cNvPr id="23" name="燕尾形 22"/>
          <p:cNvSpPr/>
          <p:nvPr/>
        </p:nvSpPr>
        <p:spPr bwMode="gray">
          <a:xfrm>
            <a:off x="8786686" y="3052471"/>
            <a:ext cx="2304000" cy="36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lumMod val="50000"/>
                  </a:schemeClr>
                </a:solidFill>
                <a:cs typeface="+mn-ea"/>
                <a:sym typeface="+mn-lt"/>
              </a:rPr>
              <a:t>广域互联设计</a:t>
            </a:r>
          </a:p>
        </p:txBody>
      </p:sp>
    </p:spTree>
    <p:extLst>
      <p:ext uri="{BB962C8B-B14F-4D97-AF65-F5344CB8AC3E}">
        <p14:creationId xmlns:p14="http://schemas.microsoft.com/office/powerpoint/2010/main" val="1010592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矩形 174"/>
          <p:cNvSpPr/>
          <p:nvPr/>
        </p:nvSpPr>
        <p:spPr bwMode="gray">
          <a:xfrm>
            <a:off x="1069074" y="4488371"/>
            <a:ext cx="7555736" cy="859040"/>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defTabSz="914400" fontAlgn="base">
              <a:spcBef>
                <a:spcPct val="0"/>
              </a:spcBef>
              <a:spcAft>
                <a:spcPct val="0"/>
              </a:spcAft>
            </a:pPr>
            <a:endParaRPr lang="en-US" kern="0">
              <a:solidFill>
                <a:srgbClr val="FFFFFF"/>
              </a:solidFill>
              <a:cs typeface="+mn-ea"/>
              <a:sym typeface="+mn-lt"/>
            </a:endParaRPr>
          </a:p>
        </p:txBody>
      </p:sp>
      <p:sp>
        <p:nvSpPr>
          <p:cNvPr id="173" name="矩形 172"/>
          <p:cNvSpPr/>
          <p:nvPr/>
        </p:nvSpPr>
        <p:spPr bwMode="gray">
          <a:xfrm>
            <a:off x="1069074" y="2406099"/>
            <a:ext cx="7555736" cy="1784527"/>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defTabSz="914400" fontAlgn="base">
              <a:spcBef>
                <a:spcPct val="0"/>
              </a:spcBef>
              <a:spcAft>
                <a:spcPct val="0"/>
              </a:spcAft>
            </a:pPr>
            <a:endParaRPr lang="en-US" kern="0">
              <a:solidFill>
                <a:srgbClr val="FFFFFF"/>
              </a:solidFill>
              <a:cs typeface="+mn-ea"/>
              <a:sym typeface="+mn-lt"/>
            </a:endParaRPr>
          </a:p>
        </p:txBody>
      </p:sp>
      <p:sp>
        <p:nvSpPr>
          <p:cNvPr id="4" name="标题 3"/>
          <p:cNvSpPr>
            <a:spLocks noGrp="1"/>
          </p:cNvSpPr>
          <p:nvPr>
            <p:ph type="title"/>
          </p:nvPr>
        </p:nvSpPr>
        <p:spPr bwMode="gray"/>
        <p:txBody>
          <a:bodyPr>
            <a:normAutofit/>
          </a:bodyPr>
          <a:lstStyle/>
          <a:p>
            <a:r>
              <a:rPr lang="zh-CN" altLang="en-US" dirty="0">
                <a:latin typeface="+mn-lt"/>
                <a:ea typeface="+mn-ea"/>
                <a:cs typeface="+mn-ea"/>
                <a:sym typeface="+mn-lt"/>
              </a:rPr>
              <a:t>云管理能力开放全景</a:t>
            </a:r>
            <a:r>
              <a:rPr lang="zh-CN" altLang="en-US" dirty="0" smtClean="0">
                <a:latin typeface="+mn-lt"/>
                <a:ea typeface="+mn-ea"/>
                <a:cs typeface="+mn-ea"/>
                <a:sym typeface="+mn-lt"/>
              </a:rPr>
              <a:t>图</a:t>
            </a:r>
            <a:endParaRPr lang="zh-CN" altLang="en-US" dirty="0">
              <a:latin typeface="+mn-lt"/>
              <a:ea typeface="+mn-ea"/>
              <a:cs typeface="+mn-ea"/>
              <a:sym typeface="+mn-lt"/>
            </a:endParaRPr>
          </a:p>
        </p:txBody>
      </p:sp>
      <p:sp>
        <p:nvSpPr>
          <p:cNvPr id="171" name="矩形 170"/>
          <p:cNvSpPr/>
          <p:nvPr/>
        </p:nvSpPr>
        <p:spPr bwMode="gray">
          <a:xfrm>
            <a:off x="1069074" y="1096077"/>
            <a:ext cx="7555736" cy="1233257"/>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cs typeface="+mn-ea"/>
              <a:sym typeface="+mn-lt"/>
            </a:endParaRPr>
          </a:p>
        </p:txBody>
      </p:sp>
      <p:sp>
        <p:nvSpPr>
          <p:cNvPr id="180" name="文本框 179"/>
          <p:cNvSpPr txBox="1"/>
          <p:nvPr/>
        </p:nvSpPr>
        <p:spPr bwMode="gray">
          <a:xfrm>
            <a:off x="660559" y="2882864"/>
            <a:ext cx="383898" cy="830997"/>
          </a:xfrm>
          <a:prstGeom prst="rect">
            <a:avLst/>
          </a:prstGeom>
          <a:noFill/>
        </p:spPr>
        <p:txBody>
          <a:bodyPr wrap="square" rtlCol="0">
            <a:spAutoFit/>
          </a:bodyPr>
          <a:lstStyle/>
          <a:p>
            <a:pPr algn="ctr" defTabSz="914400" fontAlgn="base">
              <a:spcBef>
                <a:spcPct val="0"/>
              </a:spcBef>
              <a:spcAft>
                <a:spcPct val="0"/>
              </a:spcAft>
            </a:pPr>
            <a:r>
              <a:rPr lang="zh-CN" altLang="en-US" sz="1600" dirty="0">
                <a:solidFill>
                  <a:srgbClr val="30B5C5"/>
                </a:solidFill>
                <a:cs typeface="+mn-ea"/>
                <a:sym typeface="+mn-lt"/>
              </a:rPr>
              <a:t>平台层</a:t>
            </a:r>
            <a:endParaRPr lang="en-US" sz="1600" dirty="0">
              <a:solidFill>
                <a:srgbClr val="30B5C5"/>
              </a:solidFill>
              <a:cs typeface="+mn-ea"/>
              <a:sym typeface="+mn-lt"/>
            </a:endParaRPr>
          </a:p>
        </p:txBody>
      </p:sp>
      <p:sp>
        <p:nvSpPr>
          <p:cNvPr id="181" name="文本框 180"/>
          <p:cNvSpPr txBox="1"/>
          <p:nvPr/>
        </p:nvSpPr>
        <p:spPr bwMode="gray">
          <a:xfrm>
            <a:off x="660559" y="1332065"/>
            <a:ext cx="383898" cy="830997"/>
          </a:xfrm>
          <a:prstGeom prst="rect">
            <a:avLst/>
          </a:prstGeom>
          <a:noFill/>
        </p:spPr>
        <p:txBody>
          <a:bodyPr wrap="square" rtlCol="0">
            <a:spAutoFit/>
          </a:bodyPr>
          <a:lstStyle/>
          <a:p>
            <a:pPr algn="ctr" defTabSz="914400" fontAlgn="base">
              <a:spcBef>
                <a:spcPct val="0"/>
              </a:spcBef>
              <a:spcAft>
                <a:spcPct val="0"/>
              </a:spcAft>
            </a:pPr>
            <a:r>
              <a:rPr lang="zh-CN" altLang="en-US" sz="1600" dirty="0">
                <a:solidFill>
                  <a:srgbClr val="30B5C5"/>
                </a:solidFill>
                <a:cs typeface="+mn-ea"/>
                <a:sym typeface="+mn-lt"/>
              </a:rPr>
              <a:t>应用层</a:t>
            </a:r>
            <a:endParaRPr lang="en-US" sz="1600" dirty="0">
              <a:solidFill>
                <a:srgbClr val="30B5C5"/>
              </a:solidFill>
              <a:cs typeface="+mn-ea"/>
              <a:sym typeface="+mn-lt"/>
            </a:endParaRPr>
          </a:p>
        </p:txBody>
      </p:sp>
      <p:sp>
        <p:nvSpPr>
          <p:cNvPr id="290" name="文本框 289"/>
          <p:cNvSpPr txBox="1"/>
          <p:nvPr/>
        </p:nvSpPr>
        <p:spPr bwMode="gray">
          <a:xfrm>
            <a:off x="660559" y="4498120"/>
            <a:ext cx="383898" cy="830997"/>
          </a:xfrm>
          <a:prstGeom prst="rect">
            <a:avLst/>
          </a:prstGeom>
          <a:noFill/>
        </p:spPr>
        <p:txBody>
          <a:bodyPr wrap="square" rtlCol="0">
            <a:spAutoFit/>
          </a:bodyPr>
          <a:lstStyle/>
          <a:p>
            <a:pPr algn="ctr" defTabSz="914400" fontAlgn="base">
              <a:spcBef>
                <a:spcPct val="0"/>
              </a:spcBef>
              <a:spcAft>
                <a:spcPct val="0"/>
              </a:spcAft>
            </a:pPr>
            <a:r>
              <a:rPr lang="zh-CN" altLang="en-US" sz="1600" dirty="0">
                <a:solidFill>
                  <a:srgbClr val="30B5C5"/>
                </a:solidFill>
                <a:cs typeface="+mn-ea"/>
                <a:sym typeface="+mn-lt"/>
              </a:rPr>
              <a:t>网络层</a:t>
            </a:r>
            <a:endParaRPr lang="en-US" sz="1600" dirty="0">
              <a:solidFill>
                <a:srgbClr val="30B5C5"/>
              </a:solidFill>
              <a:cs typeface="+mn-ea"/>
              <a:sym typeface="+mn-lt"/>
            </a:endParaRPr>
          </a:p>
        </p:txBody>
      </p:sp>
      <p:sp>
        <p:nvSpPr>
          <p:cNvPr id="296" name="矩形 295"/>
          <p:cNvSpPr/>
          <p:nvPr/>
        </p:nvSpPr>
        <p:spPr bwMode="gray">
          <a:xfrm>
            <a:off x="1069074" y="5405654"/>
            <a:ext cx="7555736" cy="791840"/>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cs typeface="+mn-ea"/>
              <a:sym typeface="+mn-lt"/>
            </a:endParaRPr>
          </a:p>
        </p:txBody>
      </p:sp>
      <p:sp>
        <p:nvSpPr>
          <p:cNvPr id="298" name="文本框 297"/>
          <p:cNvSpPr txBox="1"/>
          <p:nvPr/>
        </p:nvSpPr>
        <p:spPr bwMode="gray">
          <a:xfrm>
            <a:off x="660559" y="5386076"/>
            <a:ext cx="383898" cy="830997"/>
          </a:xfrm>
          <a:prstGeom prst="rect">
            <a:avLst/>
          </a:prstGeom>
          <a:noFill/>
        </p:spPr>
        <p:txBody>
          <a:bodyPr wrap="square" rtlCol="0">
            <a:spAutoFit/>
          </a:bodyPr>
          <a:lstStyle/>
          <a:p>
            <a:pPr algn="ctr" defTabSz="914400" fontAlgn="base">
              <a:spcBef>
                <a:spcPct val="0"/>
              </a:spcBef>
              <a:spcAft>
                <a:spcPct val="0"/>
              </a:spcAft>
            </a:pPr>
            <a:r>
              <a:rPr lang="zh-CN" altLang="en-US" sz="1600" dirty="0">
                <a:solidFill>
                  <a:srgbClr val="30B5C5"/>
                </a:solidFill>
                <a:cs typeface="+mn-ea"/>
                <a:sym typeface="+mn-lt"/>
              </a:rPr>
              <a:t>终端层</a:t>
            </a:r>
            <a:endParaRPr lang="en-US" sz="1600" dirty="0">
              <a:solidFill>
                <a:srgbClr val="30B5C5"/>
              </a:solidFill>
              <a:cs typeface="+mn-ea"/>
              <a:sym typeface="+mn-lt"/>
            </a:endParaRPr>
          </a:p>
        </p:txBody>
      </p:sp>
      <p:sp>
        <p:nvSpPr>
          <p:cNvPr id="142" name="圆角矩形 141"/>
          <p:cNvSpPr/>
          <p:nvPr/>
        </p:nvSpPr>
        <p:spPr bwMode="gray">
          <a:xfrm>
            <a:off x="1086589" y="2015084"/>
            <a:ext cx="1118663" cy="287689"/>
          </a:xfrm>
          <a:prstGeom prst="roundRect">
            <a:avLst>
              <a:gd name="adj" fmla="val 6910"/>
            </a:avLst>
          </a:prstGeom>
          <a:solidFill>
            <a:schemeClr val="bg1">
              <a:lumMod val="85000"/>
            </a:schemeClr>
          </a:solidFill>
          <a:ln>
            <a:noFill/>
          </a:ln>
          <a:extLst/>
        </p:spPr>
        <p:style>
          <a:lnRef idx="2">
            <a:schemeClr val="accent1"/>
          </a:lnRef>
          <a:fillRef idx="1">
            <a:schemeClr val="lt1"/>
          </a:fillRef>
          <a:effectRef idx="0">
            <a:schemeClr val="accent1"/>
          </a:effectRef>
          <a:fontRef idx="minor">
            <a:schemeClr val="dk1"/>
          </a:fontRef>
        </p:style>
        <p:txBody>
          <a:bodyPr vert="horz" wrap="none" lIns="91416" tIns="45708" rIns="91416" bIns="45708" numCol="1" rtlCol="0" anchor="ctr" anchorCtr="0" compatLnSpc="1">
            <a:prstTxWarp prst="textNoShape">
              <a:avLst/>
            </a:prstTxWarp>
            <a:spAutoFit/>
          </a:bodyPr>
          <a:lstStyle/>
          <a:p>
            <a:pPr algn="ctr" defTabSz="914133" fontAlgn="base">
              <a:spcBef>
                <a:spcPct val="0"/>
              </a:spcBef>
              <a:spcAft>
                <a:spcPct val="0"/>
              </a:spcAft>
              <a:buClr>
                <a:srgbClr val="CC9900"/>
              </a:buClr>
            </a:pPr>
            <a:r>
              <a:rPr lang="zh-CN" altLang="en-US" sz="1200" dirty="0">
                <a:solidFill>
                  <a:srgbClr val="30B5C5"/>
                </a:solidFill>
                <a:cs typeface="+mn-ea"/>
                <a:sym typeface="+mn-lt"/>
              </a:rPr>
              <a:t>合作伙伴提供</a:t>
            </a:r>
          </a:p>
        </p:txBody>
      </p:sp>
      <p:sp>
        <p:nvSpPr>
          <p:cNvPr id="146" name="文本框 225"/>
          <p:cNvSpPr txBox="1">
            <a:spLocks noChangeArrowheads="1"/>
          </p:cNvSpPr>
          <p:nvPr/>
        </p:nvSpPr>
        <p:spPr bwMode="gray">
          <a:xfrm>
            <a:off x="1548592" y="1096077"/>
            <a:ext cx="541309" cy="276973"/>
          </a:xfrm>
          <a:prstGeom prst="rect">
            <a:avLst/>
          </a:prstGeom>
          <a:noFill/>
          <a:ln w="9525">
            <a:noFill/>
            <a:miter lim="800000"/>
            <a:headEnd/>
            <a:tailEnd/>
          </a:ln>
        </p:spPr>
        <p:txBody>
          <a:bodyPr wrap="square" lIns="91412" tIns="45707" rIns="91412" bIns="45707">
            <a:spAutoFit/>
          </a:bodyPr>
          <a:lstStyle/>
          <a:p>
            <a:pPr defTabSz="914133" fontAlgn="base">
              <a:spcBef>
                <a:spcPct val="0"/>
              </a:spcBef>
              <a:spcAft>
                <a:spcPct val="0"/>
              </a:spcAft>
              <a:buSzPct val="100000"/>
              <a:defRPr/>
            </a:pPr>
            <a:r>
              <a:rPr lang="en-US" altLang="zh-CN" sz="1200" b="1" kern="0" dirty="0">
                <a:solidFill>
                  <a:srgbClr val="000000"/>
                </a:solidFill>
                <a:cs typeface="+mn-ea"/>
                <a:sym typeface="+mn-lt"/>
              </a:rPr>
              <a:t>MSP</a:t>
            </a:r>
            <a:endParaRPr lang="zh-CN" altLang="zh-CN" sz="1200" b="1" kern="0" dirty="0">
              <a:solidFill>
                <a:srgbClr val="000000"/>
              </a:solidFill>
              <a:cs typeface="+mn-ea"/>
              <a:sym typeface="+mn-lt"/>
            </a:endParaRPr>
          </a:p>
        </p:txBody>
      </p:sp>
      <p:sp>
        <p:nvSpPr>
          <p:cNvPr id="147" name="文本框 146"/>
          <p:cNvSpPr txBox="1"/>
          <p:nvPr/>
        </p:nvSpPr>
        <p:spPr bwMode="gray">
          <a:xfrm>
            <a:off x="1178686" y="1358697"/>
            <a:ext cx="1281120" cy="646331"/>
          </a:xfrm>
          <a:prstGeom prst="rect">
            <a:avLst/>
          </a:prstGeom>
          <a:noFill/>
        </p:spPr>
        <p:txBody>
          <a:bodyPr wrap="none" rtlCol="0">
            <a:spAutoFit/>
          </a:bodyPr>
          <a:lstStyle/>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认证计费</a:t>
            </a:r>
            <a:endParaRPr lang="en-US" altLang="zh-CN" sz="1200" dirty="0">
              <a:cs typeface="+mn-ea"/>
              <a:sym typeface="+mn-lt"/>
            </a:endParaRP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网络管理监控</a:t>
            </a:r>
            <a:endParaRPr lang="en-US" altLang="zh-CN" sz="1200" dirty="0">
              <a:cs typeface="+mn-ea"/>
              <a:sym typeface="+mn-lt"/>
            </a:endParaRP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日志分析</a:t>
            </a:r>
            <a:endParaRPr lang="en-US" sz="1200" dirty="0">
              <a:cs typeface="+mn-ea"/>
              <a:sym typeface="+mn-lt"/>
            </a:endParaRPr>
          </a:p>
        </p:txBody>
      </p:sp>
      <p:sp>
        <p:nvSpPr>
          <p:cNvPr id="150" name="文本框 225"/>
          <p:cNvSpPr txBox="1">
            <a:spLocks noChangeArrowheads="1"/>
          </p:cNvSpPr>
          <p:nvPr/>
        </p:nvSpPr>
        <p:spPr bwMode="gray">
          <a:xfrm>
            <a:off x="2870915" y="1096077"/>
            <a:ext cx="541309" cy="276973"/>
          </a:xfrm>
          <a:prstGeom prst="rect">
            <a:avLst/>
          </a:prstGeom>
          <a:noFill/>
          <a:ln w="9525">
            <a:noFill/>
            <a:miter lim="800000"/>
            <a:headEnd/>
            <a:tailEnd/>
          </a:ln>
        </p:spPr>
        <p:txBody>
          <a:bodyPr wrap="square" lIns="91412" tIns="45707" rIns="91412" bIns="45707">
            <a:spAutoFit/>
          </a:bodyPr>
          <a:lstStyle/>
          <a:p>
            <a:pPr defTabSz="914133" fontAlgn="base">
              <a:spcBef>
                <a:spcPct val="0"/>
              </a:spcBef>
              <a:spcAft>
                <a:spcPct val="0"/>
              </a:spcAft>
              <a:buSzPct val="100000"/>
              <a:defRPr/>
            </a:pPr>
            <a:r>
              <a:rPr lang="zh-CN" altLang="en-US" sz="1200" b="1" kern="0" smtClean="0">
                <a:solidFill>
                  <a:srgbClr val="000000"/>
                </a:solidFill>
                <a:cs typeface="+mn-ea"/>
                <a:sym typeface="+mn-lt"/>
              </a:rPr>
              <a:t>商业</a:t>
            </a:r>
            <a:endParaRPr lang="zh-CN" altLang="zh-CN" sz="1200" b="1" kern="0" dirty="0">
              <a:solidFill>
                <a:srgbClr val="000000"/>
              </a:solidFill>
              <a:cs typeface="+mn-ea"/>
              <a:sym typeface="+mn-lt"/>
            </a:endParaRPr>
          </a:p>
        </p:txBody>
      </p:sp>
      <p:sp>
        <p:nvSpPr>
          <p:cNvPr id="151" name="文本框 150"/>
          <p:cNvSpPr txBox="1"/>
          <p:nvPr/>
        </p:nvSpPr>
        <p:spPr bwMode="gray">
          <a:xfrm>
            <a:off x="2546925" y="1358697"/>
            <a:ext cx="973343" cy="830997"/>
          </a:xfrm>
          <a:prstGeom prst="rect">
            <a:avLst/>
          </a:prstGeom>
          <a:noFill/>
        </p:spPr>
        <p:txBody>
          <a:bodyPr wrap="none" rtlCol="0">
            <a:spAutoFit/>
          </a:bodyPr>
          <a:lstStyle/>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人群画像</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客流分析</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电子价签</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营销触达</a:t>
            </a:r>
          </a:p>
        </p:txBody>
      </p:sp>
      <p:sp>
        <p:nvSpPr>
          <p:cNvPr id="152" name="文本框 225"/>
          <p:cNvSpPr txBox="1">
            <a:spLocks noChangeArrowheads="1"/>
          </p:cNvSpPr>
          <p:nvPr/>
        </p:nvSpPr>
        <p:spPr bwMode="gray">
          <a:xfrm>
            <a:off x="4210537" y="1096077"/>
            <a:ext cx="541309" cy="276973"/>
          </a:xfrm>
          <a:prstGeom prst="rect">
            <a:avLst/>
          </a:prstGeom>
          <a:noFill/>
          <a:ln w="9525">
            <a:noFill/>
            <a:miter lim="800000"/>
            <a:headEnd/>
            <a:tailEnd/>
          </a:ln>
        </p:spPr>
        <p:txBody>
          <a:bodyPr wrap="square" lIns="91412" tIns="45707" rIns="91412" bIns="45707">
            <a:spAutoFit/>
          </a:bodyPr>
          <a:lstStyle/>
          <a:p>
            <a:pPr defTabSz="914133" fontAlgn="base">
              <a:spcBef>
                <a:spcPct val="0"/>
              </a:spcBef>
              <a:spcAft>
                <a:spcPct val="0"/>
              </a:spcAft>
              <a:buSzPct val="100000"/>
              <a:defRPr/>
            </a:pPr>
            <a:r>
              <a:rPr lang="zh-CN" altLang="en-US" sz="1200" b="1" kern="0" smtClean="0">
                <a:solidFill>
                  <a:srgbClr val="000000"/>
                </a:solidFill>
                <a:cs typeface="+mn-ea"/>
                <a:sym typeface="+mn-lt"/>
              </a:rPr>
              <a:t>教育</a:t>
            </a:r>
            <a:endParaRPr lang="zh-CN" altLang="zh-CN" sz="1200" b="1" kern="0" dirty="0">
              <a:solidFill>
                <a:srgbClr val="000000"/>
              </a:solidFill>
              <a:cs typeface="+mn-ea"/>
              <a:sym typeface="+mn-lt"/>
            </a:endParaRPr>
          </a:p>
        </p:txBody>
      </p:sp>
      <p:sp>
        <p:nvSpPr>
          <p:cNvPr id="153" name="文本框 152"/>
          <p:cNvSpPr txBox="1"/>
          <p:nvPr/>
        </p:nvSpPr>
        <p:spPr bwMode="gray">
          <a:xfrm>
            <a:off x="3764623" y="1358697"/>
            <a:ext cx="1281120" cy="461665"/>
          </a:xfrm>
          <a:prstGeom prst="rect">
            <a:avLst/>
          </a:prstGeom>
          <a:noFill/>
        </p:spPr>
        <p:txBody>
          <a:bodyPr wrap="none" rtlCol="0">
            <a:spAutoFit/>
          </a:bodyPr>
          <a:lstStyle/>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学生健康管理</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电子书包</a:t>
            </a:r>
          </a:p>
        </p:txBody>
      </p:sp>
      <p:sp>
        <p:nvSpPr>
          <p:cNvPr id="154" name="文本框 225"/>
          <p:cNvSpPr txBox="1">
            <a:spLocks noChangeArrowheads="1"/>
          </p:cNvSpPr>
          <p:nvPr/>
        </p:nvSpPr>
        <p:spPr bwMode="gray">
          <a:xfrm>
            <a:off x="5423246" y="1096077"/>
            <a:ext cx="541309" cy="276973"/>
          </a:xfrm>
          <a:prstGeom prst="rect">
            <a:avLst/>
          </a:prstGeom>
          <a:noFill/>
          <a:ln w="9525">
            <a:noFill/>
            <a:miter lim="800000"/>
            <a:headEnd/>
            <a:tailEnd/>
          </a:ln>
        </p:spPr>
        <p:txBody>
          <a:bodyPr wrap="square" lIns="91412" tIns="45707" rIns="91412" bIns="45707">
            <a:spAutoFit/>
          </a:bodyPr>
          <a:lstStyle/>
          <a:p>
            <a:pPr defTabSz="914133" fontAlgn="base">
              <a:spcBef>
                <a:spcPct val="0"/>
              </a:spcBef>
              <a:spcAft>
                <a:spcPct val="0"/>
              </a:spcAft>
              <a:buSzPct val="100000"/>
              <a:defRPr/>
            </a:pPr>
            <a:r>
              <a:rPr lang="zh-CN" altLang="en-US" sz="1200" b="1" kern="0">
                <a:solidFill>
                  <a:srgbClr val="000000"/>
                </a:solidFill>
                <a:cs typeface="+mn-ea"/>
                <a:sym typeface="+mn-lt"/>
              </a:rPr>
              <a:t>制造</a:t>
            </a:r>
          </a:p>
        </p:txBody>
      </p:sp>
      <p:sp>
        <p:nvSpPr>
          <p:cNvPr id="155" name="文本框 154"/>
          <p:cNvSpPr txBox="1"/>
          <p:nvPr/>
        </p:nvSpPr>
        <p:spPr bwMode="gray">
          <a:xfrm>
            <a:off x="5124190" y="1358697"/>
            <a:ext cx="973343" cy="646331"/>
          </a:xfrm>
          <a:prstGeom prst="rect">
            <a:avLst/>
          </a:prstGeom>
          <a:noFill/>
        </p:spPr>
        <p:txBody>
          <a:bodyPr wrap="none" rtlCol="0">
            <a:spAutoFit/>
          </a:bodyPr>
          <a:lstStyle/>
          <a:p>
            <a:pPr marL="171450" indent="-171450" defTabSz="914400" fontAlgn="base">
              <a:spcBef>
                <a:spcPct val="0"/>
              </a:spcBef>
              <a:spcAft>
                <a:spcPct val="0"/>
              </a:spcAft>
              <a:buFont typeface="Wingdings" panose="05000000000000000000" pitchFamily="2" charset="2"/>
              <a:buChar char=""/>
            </a:pPr>
            <a:r>
              <a:rPr lang="en-US" altLang="zh-CN" sz="1200" dirty="0">
                <a:cs typeface="+mn-ea"/>
                <a:sym typeface="+mn-lt"/>
              </a:rPr>
              <a:t>AGV</a:t>
            </a:r>
            <a:r>
              <a:rPr lang="zh-CN" altLang="en-US" sz="1200" dirty="0">
                <a:cs typeface="+mn-ea"/>
                <a:sym typeface="+mn-lt"/>
              </a:rPr>
              <a:t>导航</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资产管理</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人员管理</a:t>
            </a:r>
          </a:p>
        </p:txBody>
      </p:sp>
      <p:sp>
        <p:nvSpPr>
          <p:cNvPr id="156" name="文本框 225"/>
          <p:cNvSpPr txBox="1">
            <a:spLocks noChangeArrowheads="1"/>
          </p:cNvSpPr>
          <p:nvPr/>
        </p:nvSpPr>
        <p:spPr bwMode="gray">
          <a:xfrm>
            <a:off x="6589438" y="1096077"/>
            <a:ext cx="541309" cy="276973"/>
          </a:xfrm>
          <a:prstGeom prst="rect">
            <a:avLst/>
          </a:prstGeom>
          <a:noFill/>
          <a:ln w="9525">
            <a:noFill/>
            <a:miter lim="800000"/>
            <a:headEnd/>
            <a:tailEnd/>
          </a:ln>
        </p:spPr>
        <p:txBody>
          <a:bodyPr wrap="square" lIns="91412" tIns="45707" rIns="91412" bIns="45707">
            <a:spAutoFit/>
          </a:bodyPr>
          <a:lstStyle/>
          <a:p>
            <a:pPr defTabSz="914133" fontAlgn="base">
              <a:spcBef>
                <a:spcPct val="0"/>
              </a:spcBef>
              <a:spcAft>
                <a:spcPct val="0"/>
              </a:spcAft>
              <a:buSzPct val="100000"/>
              <a:defRPr/>
            </a:pPr>
            <a:r>
              <a:rPr lang="zh-CN" altLang="en-US" sz="1200" b="1" kern="0">
                <a:solidFill>
                  <a:srgbClr val="000000"/>
                </a:solidFill>
                <a:cs typeface="+mn-ea"/>
                <a:sym typeface="+mn-lt"/>
              </a:rPr>
              <a:t>医疗</a:t>
            </a:r>
          </a:p>
        </p:txBody>
      </p:sp>
      <p:sp>
        <p:nvSpPr>
          <p:cNvPr id="161" name="文本框 160"/>
          <p:cNvSpPr txBox="1"/>
          <p:nvPr/>
        </p:nvSpPr>
        <p:spPr bwMode="gray">
          <a:xfrm>
            <a:off x="6271281" y="1358697"/>
            <a:ext cx="973343" cy="830997"/>
          </a:xfrm>
          <a:prstGeom prst="rect">
            <a:avLst/>
          </a:prstGeom>
          <a:noFill/>
        </p:spPr>
        <p:txBody>
          <a:bodyPr wrap="none" rtlCol="0">
            <a:spAutoFit/>
          </a:bodyPr>
          <a:lstStyle/>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婴儿手环</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资产管理</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能效管理</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人员管理</a:t>
            </a:r>
          </a:p>
        </p:txBody>
      </p:sp>
      <p:sp>
        <p:nvSpPr>
          <p:cNvPr id="162" name="文本框 225"/>
          <p:cNvSpPr txBox="1">
            <a:spLocks noChangeArrowheads="1"/>
          </p:cNvSpPr>
          <p:nvPr/>
        </p:nvSpPr>
        <p:spPr bwMode="gray">
          <a:xfrm>
            <a:off x="7769700" y="1096077"/>
            <a:ext cx="541309" cy="276973"/>
          </a:xfrm>
          <a:prstGeom prst="rect">
            <a:avLst/>
          </a:prstGeom>
          <a:noFill/>
          <a:ln w="9525">
            <a:noFill/>
            <a:miter lim="800000"/>
            <a:headEnd/>
            <a:tailEnd/>
          </a:ln>
        </p:spPr>
        <p:txBody>
          <a:bodyPr wrap="square" lIns="91412" tIns="45707" rIns="91412" bIns="45707">
            <a:spAutoFit/>
          </a:bodyPr>
          <a:lstStyle/>
          <a:p>
            <a:pPr defTabSz="914133" fontAlgn="base">
              <a:spcBef>
                <a:spcPct val="0"/>
              </a:spcBef>
              <a:spcAft>
                <a:spcPct val="0"/>
              </a:spcAft>
              <a:buSzPct val="100000"/>
              <a:defRPr/>
            </a:pPr>
            <a:r>
              <a:rPr lang="zh-CN" altLang="en-US" sz="1200" b="1" kern="0" smtClean="0">
                <a:solidFill>
                  <a:srgbClr val="000000"/>
                </a:solidFill>
                <a:cs typeface="+mn-ea"/>
                <a:sym typeface="+mn-lt"/>
              </a:rPr>
              <a:t>办公</a:t>
            </a:r>
            <a:endParaRPr lang="zh-CN" altLang="en-US" sz="1200" b="1" kern="0">
              <a:solidFill>
                <a:srgbClr val="000000"/>
              </a:solidFill>
              <a:cs typeface="+mn-ea"/>
              <a:sym typeface="+mn-lt"/>
            </a:endParaRPr>
          </a:p>
        </p:txBody>
      </p:sp>
      <p:sp>
        <p:nvSpPr>
          <p:cNvPr id="163" name="文本框 162"/>
          <p:cNvSpPr txBox="1"/>
          <p:nvPr/>
        </p:nvSpPr>
        <p:spPr bwMode="gray">
          <a:xfrm>
            <a:off x="7519977" y="1358697"/>
            <a:ext cx="973343" cy="461665"/>
          </a:xfrm>
          <a:prstGeom prst="rect">
            <a:avLst/>
          </a:prstGeom>
          <a:noFill/>
        </p:spPr>
        <p:txBody>
          <a:bodyPr wrap="none" rtlCol="0">
            <a:spAutoFit/>
          </a:bodyPr>
          <a:lstStyle/>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能效管理</a:t>
            </a:r>
          </a:p>
          <a:p>
            <a:pPr marL="171450" indent="-171450" defTabSz="914400" fontAlgn="base">
              <a:spcBef>
                <a:spcPct val="0"/>
              </a:spcBef>
              <a:spcAft>
                <a:spcPct val="0"/>
              </a:spcAft>
              <a:buFont typeface="Wingdings" panose="05000000000000000000" pitchFamily="2" charset="2"/>
              <a:buChar char=""/>
            </a:pPr>
            <a:r>
              <a:rPr lang="zh-CN" altLang="en-US" sz="1200" dirty="0">
                <a:cs typeface="+mn-ea"/>
                <a:sym typeface="+mn-lt"/>
              </a:rPr>
              <a:t>资产管理</a:t>
            </a:r>
          </a:p>
        </p:txBody>
      </p:sp>
      <p:sp>
        <p:nvSpPr>
          <p:cNvPr id="165" name="矩形 164"/>
          <p:cNvSpPr/>
          <p:nvPr/>
        </p:nvSpPr>
        <p:spPr bwMode="gray">
          <a:xfrm>
            <a:off x="1127486" y="2564330"/>
            <a:ext cx="2182214" cy="1109323"/>
          </a:xfrm>
          <a:prstGeom prst="rect">
            <a:avLst/>
          </a:prstGeom>
          <a:noFill/>
          <a:ln>
            <a:solidFill>
              <a:schemeClr val="bg1">
                <a:lumMod val="65000"/>
              </a:schemeClr>
            </a:solidFill>
          </a:ln>
          <a:extLst/>
        </p:spPr>
        <p:style>
          <a:lnRef idx="2">
            <a:schemeClr val="accent1"/>
          </a:lnRef>
          <a:fillRef idx="1">
            <a:schemeClr val="lt1"/>
          </a:fillRef>
          <a:effectRef idx="0">
            <a:schemeClr val="accent1"/>
          </a:effectRef>
          <a:fontRef idx="minor">
            <a:schemeClr val="dk1"/>
          </a:fontRef>
        </p:style>
        <p:txBody>
          <a:bodyPr vert="horz" wrap="square" lIns="103579" tIns="51789" rIns="103579" bIns="51789" numCol="1" rtlCol="0" anchor="t" anchorCtr="0" compatLnSpc="1">
            <a:prstTxWarp prst="textNoShape">
              <a:avLst/>
            </a:prstTxWarp>
          </a:bodyPr>
          <a:lstStyle/>
          <a:p>
            <a:pPr marL="0" marR="0" lvl="0" indent="0" defTabSz="1035457" eaLnBrk="1" fontAlgn="auto" latinLnBrk="0" hangingPunct="1">
              <a:lnSpc>
                <a:spcPct val="100000"/>
              </a:lnSpc>
              <a:spcBef>
                <a:spcPts val="0"/>
              </a:spcBef>
              <a:spcAft>
                <a:spcPts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000000"/>
              </a:solidFill>
              <a:effectLst/>
              <a:uLnTx/>
              <a:uFillTx/>
              <a:cs typeface="+mn-ea"/>
              <a:sym typeface="+mn-lt"/>
            </a:endParaRPr>
          </a:p>
        </p:txBody>
      </p:sp>
      <p:sp>
        <p:nvSpPr>
          <p:cNvPr id="166" name="矩形 165"/>
          <p:cNvSpPr/>
          <p:nvPr/>
        </p:nvSpPr>
        <p:spPr bwMode="gray">
          <a:xfrm>
            <a:off x="3389997" y="2564331"/>
            <a:ext cx="2232978" cy="1100889"/>
          </a:xfrm>
          <a:prstGeom prst="rect">
            <a:avLst/>
          </a:prstGeom>
          <a:noFill/>
          <a:ln>
            <a:solidFill>
              <a:schemeClr val="bg1">
                <a:lumMod val="65000"/>
              </a:schemeClr>
            </a:solidFill>
          </a:ln>
          <a:extLst/>
        </p:spPr>
        <p:style>
          <a:lnRef idx="2">
            <a:schemeClr val="accent1"/>
          </a:lnRef>
          <a:fillRef idx="1">
            <a:schemeClr val="lt1"/>
          </a:fillRef>
          <a:effectRef idx="0">
            <a:schemeClr val="accent1"/>
          </a:effectRef>
          <a:fontRef idx="minor">
            <a:schemeClr val="dk1"/>
          </a:fontRef>
        </p:style>
        <p:txBody>
          <a:bodyPr vert="horz" wrap="square" lIns="103579" tIns="51789" rIns="103579" bIns="51789" numCol="1" rtlCol="0" anchor="t" anchorCtr="0" compatLnSpc="1">
            <a:prstTxWarp prst="textNoShape">
              <a:avLst/>
            </a:prstTxWarp>
          </a:bodyPr>
          <a:lstStyle/>
          <a:p>
            <a:pPr marL="0" marR="0" lvl="0" indent="0" defTabSz="1035457" eaLnBrk="1" fontAlgn="auto" latinLnBrk="0" hangingPunct="1">
              <a:lnSpc>
                <a:spcPct val="100000"/>
              </a:lnSpc>
              <a:spcBef>
                <a:spcPts val="0"/>
              </a:spcBef>
              <a:spcAft>
                <a:spcPts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000000"/>
              </a:solidFill>
              <a:effectLst/>
              <a:uLnTx/>
              <a:uFillTx/>
              <a:cs typeface="+mn-ea"/>
              <a:sym typeface="+mn-lt"/>
            </a:endParaRPr>
          </a:p>
        </p:txBody>
      </p:sp>
      <p:sp>
        <p:nvSpPr>
          <p:cNvPr id="167" name="矩形 166"/>
          <p:cNvSpPr/>
          <p:nvPr/>
        </p:nvSpPr>
        <p:spPr bwMode="gray">
          <a:xfrm>
            <a:off x="5687218" y="2564331"/>
            <a:ext cx="1459378" cy="1100889"/>
          </a:xfrm>
          <a:prstGeom prst="rect">
            <a:avLst/>
          </a:prstGeom>
          <a:noFill/>
          <a:ln>
            <a:solidFill>
              <a:schemeClr val="bg1">
                <a:lumMod val="65000"/>
              </a:schemeClr>
            </a:solidFill>
          </a:ln>
          <a:extLst/>
        </p:spPr>
        <p:style>
          <a:lnRef idx="2">
            <a:schemeClr val="accent1"/>
          </a:lnRef>
          <a:fillRef idx="1">
            <a:schemeClr val="lt1"/>
          </a:fillRef>
          <a:effectRef idx="0">
            <a:schemeClr val="accent1"/>
          </a:effectRef>
          <a:fontRef idx="minor">
            <a:schemeClr val="dk1"/>
          </a:fontRef>
        </p:style>
        <p:txBody>
          <a:bodyPr vert="horz" wrap="square" lIns="103579" tIns="51789" rIns="103579" bIns="51789" numCol="1" rtlCol="0" anchor="t" anchorCtr="0" compatLnSpc="1">
            <a:prstTxWarp prst="textNoShape">
              <a:avLst/>
            </a:prstTxWarp>
          </a:bodyPr>
          <a:lstStyle/>
          <a:p>
            <a:pPr marL="0" marR="0" lvl="0" indent="0" defTabSz="1035457" eaLnBrk="1" fontAlgn="auto" latinLnBrk="0" hangingPunct="1">
              <a:lnSpc>
                <a:spcPct val="100000"/>
              </a:lnSpc>
              <a:spcBef>
                <a:spcPts val="0"/>
              </a:spcBef>
              <a:spcAft>
                <a:spcPts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000000"/>
              </a:solidFill>
              <a:effectLst/>
              <a:uLnTx/>
              <a:uFillTx/>
              <a:cs typeface="+mn-ea"/>
              <a:sym typeface="+mn-lt"/>
            </a:endParaRPr>
          </a:p>
        </p:txBody>
      </p:sp>
      <p:sp>
        <p:nvSpPr>
          <p:cNvPr id="168" name="矩形 167"/>
          <p:cNvSpPr/>
          <p:nvPr/>
        </p:nvSpPr>
        <p:spPr bwMode="gray">
          <a:xfrm>
            <a:off x="7226558" y="2564331"/>
            <a:ext cx="1274823" cy="1100889"/>
          </a:xfrm>
          <a:prstGeom prst="rect">
            <a:avLst/>
          </a:prstGeom>
          <a:noFill/>
          <a:ln>
            <a:solidFill>
              <a:schemeClr val="bg1">
                <a:lumMod val="65000"/>
              </a:schemeClr>
            </a:solidFill>
          </a:ln>
          <a:extLst/>
        </p:spPr>
        <p:style>
          <a:lnRef idx="2">
            <a:schemeClr val="accent1"/>
          </a:lnRef>
          <a:fillRef idx="1">
            <a:schemeClr val="lt1"/>
          </a:fillRef>
          <a:effectRef idx="0">
            <a:schemeClr val="accent1"/>
          </a:effectRef>
          <a:fontRef idx="minor">
            <a:schemeClr val="dk1"/>
          </a:fontRef>
        </p:style>
        <p:txBody>
          <a:bodyPr vert="horz" wrap="square" lIns="103579" tIns="51789" rIns="103579" bIns="51789" numCol="1" rtlCol="0" anchor="t" anchorCtr="0" compatLnSpc="1">
            <a:prstTxWarp prst="textNoShape">
              <a:avLst/>
            </a:prstTxWarp>
          </a:bodyPr>
          <a:lstStyle/>
          <a:p>
            <a:pPr marL="0" marR="0" lvl="0" indent="0" defTabSz="1035457" eaLnBrk="1" fontAlgn="auto" latinLnBrk="0" hangingPunct="1">
              <a:lnSpc>
                <a:spcPct val="100000"/>
              </a:lnSpc>
              <a:spcBef>
                <a:spcPts val="0"/>
              </a:spcBef>
              <a:spcAft>
                <a:spcPts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000000"/>
              </a:solidFill>
              <a:effectLst/>
              <a:uLnTx/>
              <a:uFillTx/>
              <a:cs typeface="+mn-ea"/>
              <a:sym typeface="+mn-lt"/>
            </a:endParaRPr>
          </a:p>
        </p:txBody>
      </p:sp>
      <p:sp>
        <p:nvSpPr>
          <p:cNvPr id="170" name="TextBox 189"/>
          <p:cNvSpPr txBox="1"/>
          <p:nvPr/>
        </p:nvSpPr>
        <p:spPr bwMode="gray">
          <a:xfrm>
            <a:off x="1783327" y="2561110"/>
            <a:ext cx="1023642" cy="272493"/>
          </a:xfrm>
          <a:prstGeom prst="rect">
            <a:avLst/>
          </a:prstGeom>
          <a:noFill/>
          <a:effectLst/>
        </p:spPr>
        <p:txBody>
          <a:bodyPr wrap="none" lIns="86977" tIns="43489" rIns="86977" bIns="43489" rtlCol="0">
            <a:spAutoFit/>
          </a:bodyPr>
          <a:lstStyle/>
          <a:p>
            <a:pPr marL="0" marR="0" lvl="0" indent="0" algn="ctr" defTabSz="1035663"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cs typeface="+mn-ea"/>
                <a:sym typeface="+mn-lt"/>
              </a:rPr>
              <a:t>基础网络</a:t>
            </a:r>
            <a:r>
              <a:rPr kumimoji="0" lang="en-US" altLang="zh-CN" sz="1200" b="0" i="0" u="none" strike="noStrike" kern="0" cap="none" spc="0" normalizeH="0" baseline="0" noProof="0" dirty="0">
                <a:ln>
                  <a:noFill/>
                </a:ln>
                <a:effectLst/>
                <a:uLnTx/>
                <a:uFillTx/>
                <a:cs typeface="+mn-ea"/>
                <a:sym typeface="+mn-lt"/>
              </a:rPr>
              <a:t>API</a:t>
            </a:r>
            <a:endParaRPr kumimoji="0" lang="zh-CN" altLang="en-US" sz="1200" b="0" i="0" u="none" strike="noStrike" kern="0" cap="none" spc="0" normalizeH="0" baseline="0" noProof="0" dirty="0">
              <a:ln>
                <a:noFill/>
              </a:ln>
              <a:effectLst/>
              <a:uLnTx/>
              <a:uFillTx/>
              <a:cs typeface="+mn-ea"/>
              <a:sym typeface="+mn-lt"/>
            </a:endParaRPr>
          </a:p>
        </p:txBody>
      </p:sp>
      <p:sp>
        <p:nvSpPr>
          <p:cNvPr id="177" name="圆角矩形 176"/>
          <p:cNvSpPr/>
          <p:nvPr/>
        </p:nvSpPr>
        <p:spPr bwMode="gray">
          <a:xfrm>
            <a:off x="1184768" y="2838671"/>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defRPr/>
            </a:pPr>
            <a:r>
              <a:rPr lang="zh-CN" altLang="en-US" sz="1200" kern="0" dirty="0">
                <a:solidFill>
                  <a:schemeClr val="tx1"/>
                </a:solidFill>
                <a:cs typeface="+mn-ea"/>
                <a:sym typeface="+mn-lt"/>
              </a:rPr>
              <a:t>基础服务</a:t>
            </a:r>
            <a:r>
              <a:rPr lang="en-US" altLang="zh-CN" sz="1200" kern="0" dirty="0">
                <a:solidFill>
                  <a:schemeClr val="tx1"/>
                </a:solidFill>
                <a:cs typeface="+mn-ea"/>
                <a:sym typeface="+mn-lt"/>
              </a:rPr>
              <a:t>API</a:t>
            </a:r>
            <a:endParaRPr lang="zh-CN" altLang="en-US" sz="1200" kern="0" dirty="0">
              <a:solidFill>
                <a:schemeClr val="tx1"/>
              </a:solidFill>
              <a:cs typeface="+mn-ea"/>
              <a:sym typeface="+mn-lt"/>
            </a:endParaRPr>
          </a:p>
        </p:txBody>
      </p:sp>
      <p:sp>
        <p:nvSpPr>
          <p:cNvPr id="182" name="TextBox 189"/>
          <p:cNvSpPr txBox="1"/>
          <p:nvPr/>
        </p:nvSpPr>
        <p:spPr bwMode="gray">
          <a:xfrm>
            <a:off x="4093511" y="2561110"/>
            <a:ext cx="1023642" cy="272493"/>
          </a:xfrm>
          <a:prstGeom prst="rect">
            <a:avLst/>
          </a:prstGeom>
          <a:noFill/>
        </p:spPr>
        <p:txBody>
          <a:bodyPr wrap="none" lIns="86977" tIns="43489" rIns="86977" bIns="43489" rtlCol="0">
            <a:spAutoFit/>
          </a:bodyPr>
          <a:lstStyle/>
          <a:p>
            <a:pPr algn="ctr" defTabSz="1035663">
              <a:defRPr/>
            </a:pPr>
            <a:r>
              <a:rPr lang="zh-CN" altLang="en-US" sz="1200" kern="0" dirty="0">
                <a:cs typeface="+mn-ea"/>
                <a:sym typeface="+mn-lt"/>
              </a:rPr>
              <a:t>增值业务</a:t>
            </a:r>
            <a:r>
              <a:rPr lang="en-US" altLang="zh-CN" sz="1200" kern="0" dirty="0">
                <a:cs typeface="+mn-ea"/>
                <a:sym typeface="+mn-lt"/>
              </a:rPr>
              <a:t>API</a:t>
            </a:r>
            <a:endParaRPr lang="zh-CN" altLang="en-US" sz="1200" kern="0" dirty="0">
              <a:cs typeface="+mn-ea"/>
              <a:sym typeface="+mn-lt"/>
            </a:endParaRPr>
          </a:p>
        </p:txBody>
      </p:sp>
      <p:sp>
        <p:nvSpPr>
          <p:cNvPr id="201" name="圆角矩形 200"/>
          <p:cNvSpPr/>
          <p:nvPr/>
        </p:nvSpPr>
        <p:spPr bwMode="gray">
          <a:xfrm>
            <a:off x="1184768" y="3375002"/>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r>
              <a:rPr lang="zh-CN" altLang="en-US" sz="1200" kern="0" dirty="0">
                <a:solidFill>
                  <a:schemeClr val="tx1"/>
                </a:solidFill>
                <a:cs typeface="+mn-ea"/>
                <a:sym typeface="+mn-lt"/>
              </a:rPr>
              <a:t>运维监控</a:t>
            </a:r>
            <a:r>
              <a:rPr lang="en-US" altLang="zh-CN" sz="1200" kern="0" dirty="0">
                <a:solidFill>
                  <a:schemeClr val="tx1"/>
                </a:solidFill>
                <a:cs typeface="+mn-ea"/>
                <a:sym typeface="+mn-lt"/>
              </a:rPr>
              <a:t>API</a:t>
            </a:r>
            <a:endParaRPr lang="zh-CN" altLang="en-US" sz="1200" kern="0" dirty="0">
              <a:solidFill>
                <a:schemeClr val="tx1"/>
              </a:solidFill>
              <a:cs typeface="+mn-ea"/>
              <a:sym typeface="+mn-lt"/>
            </a:endParaRPr>
          </a:p>
        </p:txBody>
      </p:sp>
      <p:sp>
        <p:nvSpPr>
          <p:cNvPr id="202" name="圆角矩形 201"/>
          <p:cNvSpPr/>
          <p:nvPr/>
        </p:nvSpPr>
        <p:spPr bwMode="gray">
          <a:xfrm>
            <a:off x="2231581" y="2838671"/>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defRPr/>
            </a:pPr>
            <a:r>
              <a:rPr lang="zh-CN" altLang="en-US" sz="1200" kern="0" dirty="0">
                <a:solidFill>
                  <a:schemeClr val="tx1"/>
                </a:solidFill>
                <a:cs typeface="+mn-ea"/>
                <a:sym typeface="+mn-lt"/>
              </a:rPr>
              <a:t>网络配置</a:t>
            </a:r>
            <a:r>
              <a:rPr lang="en-US" altLang="zh-CN" sz="1200" kern="0" dirty="0">
                <a:solidFill>
                  <a:schemeClr val="tx1"/>
                </a:solidFill>
                <a:cs typeface="+mn-ea"/>
                <a:sym typeface="+mn-lt"/>
              </a:rPr>
              <a:t>API</a:t>
            </a:r>
            <a:endParaRPr lang="zh-CN" altLang="en-US" sz="1200" kern="0" dirty="0">
              <a:solidFill>
                <a:schemeClr val="tx1"/>
              </a:solidFill>
              <a:cs typeface="+mn-ea"/>
              <a:sym typeface="+mn-lt"/>
            </a:endParaRPr>
          </a:p>
        </p:txBody>
      </p:sp>
      <p:sp>
        <p:nvSpPr>
          <p:cNvPr id="203" name="圆角矩形 202"/>
          <p:cNvSpPr/>
          <p:nvPr/>
        </p:nvSpPr>
        <p:spPr bwMode="gray">
          <a:xfrm>
            <a:off x="2231581" y="3375002"/>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r>
              <a:rPr lang="zh-CN" altLang="en-US" sz="1200" kern="0" dirty="0">
                <a:solidFill>
                  <a:schemeClr val="tx1"/>
                </a:solidFill>
                <a:cs typeface="+mn-ea"/>
                <a:sym typeface="+mn-lt"/>
              </a:rPr>
              <a:t>策略服务</a:t>
            </a:r>
            <a:r>
              <a:rPr lang="en-US" altLang="zh-CN" sz="1200" kern="0" dirty="0">
                <a:solidFill>
                  <a:schemeClr val="tx1"/>
                </a:solidFill>
                <a:cs typeface="+mn-ea"/>
                <a:sym typeface="+mn-lt"/>
              </a:rPr>
              <a:t>API</a:t>
            </a:r>
            <a:endParaRPr lang="zh-CN" altLang="en-US" sz="1200" kern="0" dirty="0">
              <a:solidFill>
                <a:schemeClr val="tx1"/>
              </a:solidFill>
              <a:cs typeface="+mn-ea"/>
              <a:sym typeface="+mn-lt"/>
            </a:endParaRPr>
          </a:p>
        </p:txBody>
      </p:sp>
      <p:sp>
        <p:nvSpPr>
          <p:cNvPr id="259" name="圆角矩形 258"/>
          <p:cNvSpPr/>
          <p:nvPr/>
        </p:nvSpPr>
        <p:spPr bwMode="gray">
          <a:xfrm>
            <a:off x="5748177" y="2838671"/>
            <a:ext cx="1337458"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r>
              <a:rPr lang="en-US" altLang="zh-CN" sz="1200" kern="0" dirty="0" err="1" smtClean="0">
                <a:solidFill>
                  <a:schemeClr val="tx1"/>
                </a:solidFill>
                <a:cs typeface="+mn-ea"/>
                <a:sym typeface="+mn-lt"/>
              </a:rPr>
              <a:t>HTTPs+RADIUS</a:t>
            </a:r>
            <a:endParaRPr lang="zh-CN" altLang="en-US" sz="1200" kern="0" dirty="0">
              <a:solidFill>
                <a:schemeClr val="tx1"/>
              </a:solidFill>
              <a:cs typeface="+mn-ea"/>
              <a:sym typeface="+mn-lt"/>
            </a:endParaRPr>
          </a:p>
        </p:txBody>
      </p:sp>
      <p:sp>
        <p:nvSpPr>
          <p:cNvPr id="262" name="圆角矩形 261"/>
          <p:cNvSpPr/>
          <p:nvPr/>
        </p:nvSpPr>
        <p:spPr bwMode="gray">
          <a:xfrm>
            <a:off x="5748177" y="3375002"/>
            <a:ext cx="1337458"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r>
              <a:rPr lang="en-US" altLang="zh-CN" sz="1200" kern="0" dirty="0">
                <a:solidFill>
                  <a:schemeClr val="tx1"/>
                </a:solidFill>
                <a:cs typeface="+mn-ea"/>
                <a:sym typeface="+mn-lt"/>
              </a:rPr>
              <a:t>Authorization API</a:t>
            </a:r>
            <a:endParaRPr lang="zh-CN" altLang="en-US" sz="1200" kern="0" dirty="0">
              <a:solidFill>
                <a:schemeClr val="tx1"/>
              </a:solidFill>
              <a:cs typeface="+mn-ea"/>
              <a:sym typeface="+mn-lt"/>
            </a:endParaRPr>
          </a:p>
        </p:txBody>
      </p:sp>
      <p:sp>
        <p:nvSpPr>
          <p:cNvPr id="269" name="TextBox 189"/>
          <p:cNvSpPr txBox="1"/>
          <p:nvPr/>
        </p:nvSpPr>
        <p:spPr bwMode="gray">
          <a:xfrm>
            <a:off x="5828141" y="2561110"/>
            <a:ext cx="1177530" cy="272493"/>
          </a:xfrm>
          <a:prstGeom prst="rect">
            <a:avLst/>
          </a:prstGeom>
          <a:noFill/>
        </p:spPr>
        <p:txBody>
          <a:bodyPr wrap="none" lIns="86977" tIns="43489" rIns="86977" bIns="43489" rtlCol="0">
            <a:spAutoFit/>
          </a:bodyPr>
          <a:lstStyle/>
          <a:p>
            <a:pPr defTabSz="1035663">
              <a:defRPr/>
            </a:pPr>
            <a:r>
              <a:rPr lang="zh-CN" altLang="en-US" sz="1200" kern="0" dirty="0">
                <a:cs typeface="+mn-ea"/>
                <a:sym typeface="+mn-lt"/>
              </a:rPr>
              <a:t>第三方认证</a:t>
            </a:r>
            <a:r>
              <a:rPr lang="en-US" altLang="zh-CN" sz="1200" kern="0" dirty="0">
                <a:cs typeface="+mn-ea"/>
                <a:sym typeface="+mn-lt"/>
              </a:rPr>
              <a:t>API</a:t>
            </a:r>
            <a:endParaRPr lang="zh-CN" altLang="en-US" sz="1200" kern="0" dirty="0">
              <a:cs typeface="+mn-ea"/>
              <a:sym typeface="+mn-lt"/>
            </a:endParaRPr>
          </a:p>
        </p:txBody>
      </p:sp>
      <p:sp>
        <p:nvSpPr>
          <p:cNvPr id="272" name="TextBox 189"/>
          <p:cNvSpPr txBox="1"/>
          <p:nvPr/>
        </p:nvSpPr>
        <p:spPr bwMode="gray">
          <a:xfrm>
            <a:off x="7375738" y="2561110"/>
            <a:ext cx="1023642" cy="272493"/>
          </a:xfrm>
          <a:prstGeom prst="rect">
            <a:avLst/>
          </a:prstGeom>
          <a:noFill/>
        </p:spPr>
        <p:txBody>
          <a:bodyPr wrap="none" lIns="86977" tIns="43489" rIns="86977" bIns="43489" rtlCol="0">
            <a:spAutoFit/>
          </a:bodyPr>
          <a:lstStyle/>
          <a:p>
            <a:pPr defTabSz="1035663">
              <a:defRPr/>
            </a:pPr>
            <a:r>
              <a:rPr lang="zh-CN" altLang="en-US" sz="1200" kern="0" dirty="0">
                <a:cs typeface="+mn-ea"/>
                <a:sym typeface="+mn-lt"/>
              </a:rPr>
              <a:t>位置服务</a:t>
            </a:r>
            <a:r>
              <a:rPr lang="en-US" altLang="zh-CN" sz="1200" kern="0" dirty="0">
                <a:cs typeface="+mn-ea"/>
                <a:sym typeface="+mn-lt"/>
              </a:rPr>
              <a:t>API</a:t>
            </a:r>
            <a:endParaRPr lang="zh-CN" altLang="en-US" sz="1200" kern="0" dirty="0">
              <a:cs typeface="+mn-ea"/>
              <a:sym typeface="+mn-lt"/>
            </a:endParaRPr>
          </a:p>
        </p:txBody>
      </p:sp>
      <p:sp>
        <p:nvSpPr>
          <p:cNvPr id="275" name="圆角矩形 274"/>
          <p:cNvSpPr/>
          <p:nvPr/>
        </p:nvSpPr>
        <p:spPr bwMode="gray">
          <a:xfrm>
            <a:off x="3486202" y="2838671"/>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defRPr/>
            </a:pPr>
            <a:r>
              <a:rPr lang="zh-CN" altLang="en-US" sz="1200" kern="0" dirty="0">
                <a:solidFill>
                  <a:schemeClr val="tx1"/>
                </a:solidFill>
                <a:cs typeface="+mn-ea"/>
                <a:sym typeface="+mn-lt"/>
              </a:rPr>
              <a:t>终端数据</a:t>
            </a:r>
            <a:r>
              <a:rPr lang="en-US" altLang="zh-CN" sz="1200" kern="0" dirty="0">
                <a:solidFill>
                  <a:schemeClr val="tx1"/>
                </a:solidFill>
                <a:cs typeface="+mn-ea"/>
                <a:sym typeface="+mn-lt"/>
              </a:rPr>
              <a:t>API</a:t>
            </a:r>
            <a:endParaRPr lang="zh-CN" altLang="en-US" sz="1200" kern="0" dirty="0">
              <a:solidFill>
                <a:schemeClr val="tx1"/>
              </a:solidFill>
              <a:cs typeface="+mn-ea"/>
              <a:sym typeface="+mn-lt"/>
            </a:endParaRPr>
          </a:p>
        </p:txBody>
      </p:sp>
      <p:sp>
        <p:nvSpPr>
          <p:cNvPr id="278" name="圆角矩形 277"/>
          <p:cNvSpPr/>
          <p:nvPr/>
        </p:nvSpPr>
        <p:spPr bwMode="gray">
          <a:xfrm>
            <a:off x="3486202" y="3375002"/>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defRPr/>
            </a:pPr>
            <a:r>
              <a:rPr lang="zh-CN" altLang="en-US" sz="1200" kern="0" dirty="0">
                <a:solidFill>
                  <a:schemeClr val="tx1"/>
                </a:solidFill>
                <a:cs typeface="+mn-ea"/>
                <a:sym typeface="+mn-lt"/>
              </a:rPr>
              <a:t>流量数据</a:t>
            </a:r>
            <a:r>
              <a:rPr lang="en-US" altLang="zh-CN" sz="1200" kern="0" dirty="0">
                <a:solidFill>
                  <a:schemeClr val="tx1"/>
                </a:solidFill>
                <a:cs typeface="+mn-ea"/>
                <a:sym typeface="+mn-lt"/>
              </a:rPr>
              <a:t>API</a:t>
            </a:r>
            <a:endParaRPr lang="zh-CN" altLang="en-US" sz="1200" kern="0" dirty="0">
              <a:solidFill>
                <a:schemeClr val="tx1"/>
              </a:solidFill>
              <a:cs typeface="+mn-ea"/>
              <a:sym typeface="+mn-lt"/>
            </a:endParaRPr>
          </a:p>
        </p:txBody>
      </p:sp>
      <p:sp>
        <p:nvSpPr>
          <p:cNvPr id="279" name="圆角矩形 278"/>
          <p:cNvSpPr/>
          <p:nvPr/>
        </p:nvSpPr>
        <p:spPr bwMode="gray">
          <a:xfrm>
            <a:off x="4540797" y="2838671"/>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defRPr/>
            </a:pPr>
            <a:r>
              <a:rPr lang="zh-CN" altLang="en-US" sz="1200" kern="0" dirty="0">
                <a:solidFill>
                  <a:schemeClr val="tx1"/>
                </a:solidFill>
                <a:cs typeface="+mn-ea"/>
                <a:sym typeface="+mn-lt"/>
              </a:rPr>
              <a:t>应用数据</a:t>
            </a:r>
            <a:r>
              <a:rPr lang="en-US" altLang="zh-CN" sz="1200" kern="0" dirty="0">
                <a:solidFill>
                  <a:schemeClr val="tx1"/>
                </a:solidFill>
                <a:cs typeface="+mn-ea"/>
                <a:sym typeface="+mn-lt"/>
              </a:rPr>
              <a:t>API</a:t>
            </a:r>
            <a:endParaRPr lang="zh-CN" altLang="en-US" sz="1200" kern="0" dirty="0">
              <a:solidFill>
                <a:schemeClr val="tx1"/>
              </a:solidFill>
              <a:cs typeface="+mn-ea"/>
              <a:sym typeface="+mn-lt"/>
            </a:endParaRPr>
          </a:p>
        </p:txBody>
      </p:sp>
      <p:sp>
        <p:nvSpPr>
          <p:cNvPr id="280" name="圆角矩形 279"/>
          <p:cNvSpPr/>
          <p:nvPr/>
        </p:nvSpPr>
        <p:spPr bwMode="gray">
          <a:xfrm>
            <a:off x="7330805" y="2838671"/>
            <a:ext cx="1102068"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r>
              <a:rPr lang="zh-CN" altLang="en-US" sz="1200" kern="0" dirty="0">
                <a:solidFill>
                  <a:schemeClr val="tx1"/>
                </a:solidFill>
                <a:cs typeface="+mn-ea"/>
                <a:sym typeface="+mn-lt"/>
              </a:rPr>
              <a:t>平台</a:t>
            </a:r>
            <a:r>
              <a:rPr lang="en-US" altLang="zh-CN" sz="1200" kern="0" dirty="0">
                <a:solidFill>
                  <a:schemeClr val="tx1"/>
                </a:solidFill>
                <a:cs typeface="+mn-ea"/>
                <a:sym typeface="+mn-lt"/>
              </a:rPr>
              <a:t>RSSI API</a:t>
            </a:r>
            <a:endParaRPr lang="zh-CN" altLang="en-US" sz="1200" kern="0" dirty="0">
              <a:solidFill>
                <a:schemeClr val="tx1"/>
              </a:solidFill>
              <a:cs typeface="+mn-ea"/>
              <a:sym typeface="+mn-lt"/>
            </a:endParaRPr>
          </a:p>
        </p:txBody>
      </p:sp>
      <p:sp>
        <p:nvSpPr>
          <p:cNvPr id="281" name="圆角矩形 280"/>
          <p:cNvSpPr/>
          <p:nvPr/>
        </p:nvSpPr>
        <p:spPr bwMode="gray">
          <a:xfrm>
            <a:off x="7330805" y="3108335"/>
            <a:ext cx="1102068"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r>
              <a:rPr lang="en-US" altLang="zh-CN" sz="1200" kern="0" dirty="0">
                <a:solidFill>
                  <a:schemeClr val="tx1"/>
                </a:solidFill>
                <a:cs typeface="+mn-ea"/>
                <a:sym typeface="+mn-lt"/>
              </a:rPr>
              <a:t>AP RSSI API</a:t>
            </a:r>
            <a:endParaRPr lang="zh-CN" altLang="en-US" sz="1200" kern="0" dirty="0">
              <a:solidFill>
                <a:schemeClr val="tx1"/>
              </a:solidFill>
              <a:cs typeface="+mn-ea"/>
              <a:sym typeface="+mn-lt"/>
            </a:endParaRPr>
          </a:p>
        </p:txBody>
      </p:sp>
      <p:sp>
        <p:nvSpPr>
          <p:cNvPr id="291" name="圆角矩形 290"/>
          <p:cNvSpPr/>
          <p:nvPr/>
        </p:nvSpPr>
        <p:spPr bwMode="gray">
          <a:xfrm>
            <a:off x="7330805" y="3375002"/>
            <a:ext cx="1102068"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r>
              <a:rPr lang="zh-CN" altLang="en-US" sz="1200" kern="0" dirty="0">
                <a:solidFill>
                  <a:schemeClr val="tx1"/>
                </a:solidFill>
                <a:cs typeface="+mn-ea"/>
                <a:sym typeface="+mn-lt"/>
              </a:rPr>
              <a:t>蓝牙</a:t>
            </a:r>
            <a:r>
              <a:rPr lang="en-US" altLang="zh-CN" sz="1200" kern="0" dirty="0">
                <a:solidFill>
                  <a:schemeClr val="tx1"/>
                </a:solidFill>
                <a:cs typeface="+mn-ea"/>
                <a:sym typeface="+mn-lt"/>
              </a:rPr>
              <a:t> API</a:t>
            </a:r>
            <a:endParaRPr lang="zh-CN" altLang="en-US" sz="1200" kern="0" dirty="0">
              <a:solidFill>
                <a:schemeClr val="tx1"/>
              </a:solidFill>
              <a:cs typeface="+mn-ea"/>
              <a:sym typeface="+mn-lt"/>
            </a:endParaRPr>
          </a:p>
        </p:txBody>
      </p:sp>
      <p:sp>
        <p:nvSpPr>
          <p:cNvPr id="292" name="圆角矩形 291"/>
          <p:cNvSpPr/>
          <p:nvPr/>
        </p:nvSpPr>
        <p:spPr bwMode="gray">
          <a:xfrm>
            <a:off x="4540797" y="3375002"/>
            <a:ext cx="1001880" cy="217468"/>
          </a:xfrm>
          <a:prstGeom prst="round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76767" tIns="38383" rIns="76767" bIns="38383" anchor="ctr"/>
          <a:lstStyle/>
          <a:p>
            <a:pPr algn="ctr" defTabSz="1233229">
              <a:defRPr/>
            </a:pPr>
            <a:r>
              <a:rPr lang="en-US" altLang="zh-CN" sz="1200" kern="0" dirty="0" err="1">
                <a:solidFill>
                  <a:schemeClr val="tx1"/>
                </a:solidFill>
                <a:cs typeface="+mn-ea"/>
                <a:sym typeface="+mn-lt"/>
              </a:rPr>
              <a:t>IoT</a:t>
            </a:r>
            <a:r>
              <a:rPr lang="en-US" altLang="zh-CN" sz="1200" kern="0" dirty="0">
                <a:solidFill>
                  <a:schemeClr val="tx1"/>
                </a:solidFill>
                <a:cs typeface="+mn-ea"/>
                <a:sym typeface="+mn-lt"/>
              </a:rPr>
              <a:t> API</a:t>
            </a:r>
            <a:endParaRPr lang="zh-CN" altLang="en-US" sz="1200" kern="0" dirty="0">
              <a:solidFill>
                <a:schemeClr val="tx1"/>
              </a:solidFill>
              <a:cs typeface="+mn-ea"/>
              <a:sym typeface="+mn-lt"/>
            </a:endParaRPr>
          </a:p>
        </p:txBody>
      </p:sp>
      <p:pic>
        <p:nvPicPr>
          <p:cNvPr id="293" name="图片 29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953287" y="3805582"/>
            <a:ext cx="1346845" cy="248394"/>
          </a:xfrm>
          <a:prstGeom prst="rect">
            <a:avLst/>
          </a:prstGeom>
        </p:spPr>
      </p:pic>
      <p:sp>
        <p:nvSpPr>
          <p:cNvPr id="316" name="Shape 377"/>
          <p:cNvSpPr/>
          <p:nvPr/>
        </p:nvSpPr>
        <p:spPr bwMode="gray">
          <a:xfrm>
            <a:off x="3077398" y="4138284"/>
            <a:ext cx="3499065" cy="418415"/>
          </a:xfrm>
          <a:prstGeom prst="rect">
            <a:avLst/>
          </a:prstGeom>
          <a:ln w="12700">
            <a:noFill/>
            <a:prstDash val="dash"/>
            <a:miter lim="400000"/>
          </a:ln>
          <a:extLst>
            <a:ext uri="{C572A759-6A51-4108-AA02-DFA0A04FC94B}">
              <ma14:wrappingTextBoxFlag xmlns:ma14="http://schemas.microsoft.com/office/mac/drawingml/2011/main" xmlns="" val="1"/>
            </a:ext>
          </a:extLst>
        </p:spPr>
        <p:txBody>
          <a:bodyPr wrap="none" lIns="115744" tIns="115744" rIns="115744" bIns="115744" anchor="ctr">
            <a:spAutoFit/>
          </a:bodyPr>
          <a:lstStyle>
            <a:lvl1pPr defTabSz="457200">
              <a:lnSpc>
                <a:spcPct val="120000"/>
              </a:lnSpc>
              <a:defRPr sz="6000" b="1">
                <a:solidFill>
                  <a:srgbClr val="F7A837"/>
                </a:solidFill>
                <a:latin typeface="AkkuratPro-Bold"/>
                <a:ea typeface="AkkuratPro-Bold"/>
                <a:cs typeface="AkkuratPro-Bold"/>
                <a:sym typeface="AkkuratPro-Bold"/>
              </a:defRPr>
            </a:lvl1pPr>
          </a:lstStyle>
          <a:p>
            <a:pPr marL="0" marR="0" lvl="0" indent="0" algn="ctr" defTabSz="457200" eaLnBrk="1" fontAlgn="base" latinLnBrk="0" hangingPunct="0">
              <a:lnSpc>
                <a:spcPct val="100000"/>
              </a:lnSpc>
              <a:spcBef>
                <a:spcPct val="0"/>
              </a:spcBef>
              <a:spcAft>
                <a:spcPct val="0"/>
              </a:spcAft>
              <a:buClrTx/>
              <a:buSzTx/>
              <a:buFontTx/>
              <a:buNone/>
              <a:tabLst/>
              <a:defRPr/>
            </a:pPr>
            <a:r>
              <a:rPr kumimoji="0" lang="en-US" altLang="zh-CN" sz="1200" b="0" i="0" u="none" strike="noStrike" kern="0" cap="none" spc="0" normalizeH="0" baseline="0" noProof="0" dirty="0" smtClean="0">
                <a:ln>
                  <a:noFill/>
                </a:ln>
                <a:solidFill>
                  <a:schemeClr val="tx1"/>
                </a:solidFill>
                <a:effectLst/>
                <a:uLnTx/>
                <a:uFillTx/>
                <a:latin typeface="+mn-lt"/>
                <a:ea typeface="+mn-ea"/>
                <a:cs typeface="+mn-ea"/>
                <a:sym typeface="+mn-lt"/>
              </a:rPr>
              <a:t>NETCONF/Telemetry/Syslog/SNMP/</a:t>
            </a:r>
            <a:r>
              <a:rPr kumimoji="0" lang="en-US" altLang="zh-CN" sz="1200" b="0" i="0" u="none" strike="noStrike" kern="0" cap="none" spc="0" normalizeH="0" baseline="0" noProof="0" dirty="0" err="1" smtClean="0">
                <a:ln>
                  <a:noFill/>
                </a:ln>
                <a:solidFill>
                  <a:schemeClr val="tx1"/>
                </a:solidFill>
                <a:effectLst/>
                <a:uLnTx/>
                <a:uFillTx/>
                <a:latin typeface="+mn-lt"/>
                <a:ea typeface="+mn-ea"/>
                <a:cs typeface="+mn-ea"/>
                <a:sym typeface="+mn-lt"/>
              </a:rPr>
              <a:t>NetStream</a:t>
            </a:r>
            <a:endParaRPr kumimoji="0" lang="en-US" altLang="zh-CN" sz="1200" b="0" i="0" u="none" strike="noStrike" kern="0" cap="none" spc="0" normalizeH="0" baseline="0" noProof="0" dirty="0">
              <a:ln>
                <a:noFill/>
              </a:ln>
              <a:solidFill>
                <a:schemeClr val="tx1"/>
              </a:solidFill>
              <a:effectLst/>
              <a:uLnTx/>
              <a:uFillTx/>
              <a:latin typeface="+mn-lt"/>
              <a:ea typeface="+mn-ea"/>
              <a:cs typeface="+mn-ea"/>
              <a:sym typeface="+mn-lt"/>
            </a:endParaRPr>
          </a:p>
        </p:txBody>
      </p:sp>
      <p:sp>
        <p:nvSpPr>
          <p:cNvPr id="323" name="文本框 322"/>
          <p:cNvSpPr txBox="1"/>
          <p:nvPr/>
        </p:nvSpPr>
        <p:spPr bwMode="gray">
          <a:xfrm>
            <a:off x="2623085" y="5013349"/>
            <a:ext cx="646331" cy="276999"/>
          </a:xfrm>
          <a:prstGeom prst="rect">
            <a:avLst/>
          </a:prstGeom>
          <a:noFill/>
        </p:spPr>
        <p:txBody>
          <a:bodyPr wrap="none" rtlCol="0">
            <a:spAutoFit/>
          </a:bodyPr>
          <a:lstStyle/>
          <a:p>
            <a:pPr algn="ctr" defTabSz="914400" fontAlgn="base">
              <a:spcBef>
                <a:spcPct val="0"/>
              </a:spcBef>
              <a:spcAft>
                <a:spcPct val="0"/>
              </a:spcAft>
            </a:pPr>
            <a:r>
              <a:rPr lang="zh-CN" altLang="en-US" sz="1200" dirty="0" smtClean="0">
                <a:cs typeface="+mn-ea"/>
                <a:sym typeface="+mn-lt"/>
              </a:rPr>
              <a:t>防火墙</a:t>
            </a:r>
            <a:endParaRPr lang="en-US" sz="1200" dirty="0">
              <a:cs typeface="+mn-ea"/>
              <a:sym typeface="+mn-lt"/>
            </a:endParaRPr>
          </a:p>
        </p:txBody>
      </p:sp>
      <p:sp>
        <p:nvSpPr>
          <p:cNvPr id="326" name="文本框 325"/>
          <p:cNvSpPr txBox="1"/>
          <p:nvPr/>
        </p:nvSpPr>
        <p:spPr bwMode="gray">
          <a:xfrm>
            <a:off x="4107256" y="5013349"/>
            <a:ext cx="380232" cy="276999"/>
          </a:xfrm>
          <a:prstGeom prst="rect">
            <a:avLst/>
          </a:prstGeom>
          <a:noFill/>
        </p:spPr>
        <p:txBody>
          <a:bodyPr wrap="none" rtlCol="0">
            <a:spAutoFit/>
          </a:bodyPr>
          <a:lstStyle/>
          <a:p>
            <a:pPr algn="ctr" defTabSz="914400" fontAlgn="base">
              <a:spcBef>
                <a:spcPct val="0"/>
              </a:spcBef>
              <a:spcAft>
                <a:spcPct val="0"/>
              </a:spcAft>
            </a:pPr>
            <a:r>
              <a:rPr lang="en-US" altLang="zh-CN" sz="1200" dirty="0" smtClean="0">
                <a:cs typeface="+mn-ea"/>
                <a:sym typeface="+mn-lt"/>
              </a:rPr>
              <a:t>AR</a:t>
            </a:r>
            <a:endParaRPr lang="en-US" sz="1200" dirty="0">
              <a:cs typeface="+mn-ea"/>
              <a:sym typeface="+mn-lt"/>
            </a:endParaRPr>
          </a:p>
        </p:txBody>
      </p:sp>
      <p:sp>
        <p:nvSpPr>
          <p:cNvPr id="327" name="文本框 326"/>
          <p:cNvSpPr txBox="1"/>
          <p:nvPr/>
        </p:nvSpPr>
        <p:spPr bwMode="gray">
          <a:xfrm>
            <a:off x="5370996" y="5013349"/>
            <a:ext cx="646331" cy="276999"/>
          </a:xfrm>
          <a:prstGeom prst="rect">
            <a:avLst/>
          </a:prstGeom>
          <a:noFill/>
        </p:spPr>
        <p:txBody>
          <a:bodyPr wrap="none" rtlCol="0">
            <a:spAutoFit/>
          </a:bodyPr>
          <a:lstStyle/>
          <a:p>
            <a:pPr algn="ctr" defTabSz="914400" fontAlgn="base">
              <a:spcBef>
                <a:spcPct val="0"/>
              </a:spcBef>
              <a:spcAft>
                <a:spcPct val="0"/>
              </a:spcAft>
            </a:pPr>
            <a:r>
              <a:rPr lang="zh-CN" altLang="en-US" sz="1200" dirty="0">
                <a:cs typeface="+mn-ea"/>
                <a:sym typeface="+mn-lt"/>
              </a:rPr>
              <a:t>交换机</a:t>
            </a:r>
            <a:endParaRPr lang="en-US" sz="1200" dirty="0">
              <a:cs typeface="+mn-ea"/>
              <a:sym typeface="+mn-lt"/>
            </a:endParaRPr>
          </a:p>
        </p:txBody>
      </p:sp>
      <p:sp>
        <p:nvSpPr>
          <p:cNvPr id="328" name="文本框 327"/>
          <p:cNvSpPr txBox="1"/>
          <p:nvPr/>
        </p:nvSpPr>
        <p:spPr bwMode="gray">
          <a:xfrm>
            <a:off x="6890049" y="5013349"/>
            <a:ext cx="373820" cy="276999"/>
          </a:xfrm>
          <a:prstGeom prst="rect">
            <a:avLst/>
          </a:prstGeom>
          <a:noFill/>
        </p:spPr>
        <p:txBody>
          <a:bodyPr wrap="none" rtlCol="0">
            <a:spAutoFit/>
          </a:bodyPr>
          <a:lstStyle/>
          <a:p>
            <a:pPr algn="ctr" defTabSz="914400" fontAlgn="base">
              <a:spcBef>
                <a:spcPct val="0"/>
              </a:spcBef>
              <a:spcAft>
                <a:spcPct val="0"/>
              </a:spcAft>
            </a:pPr>
            <a:r>
              <a:rPr lang="en-US" altLang="zh-CN" sz="1200" dirty="0" smtClean="0">
                <a:cs typeface="+mn-ea"/>
                <a:sym typeface="+mn-lt"/>
              </a:rPr>
              <a:t>AP</a:t>
            </a:r>
            <a:endParaRPr lang="en-US" sz="1200" dirty="0">
              <a:cs typeface="+mn-ea"/>
              <a:sym typeface="+mn-lt"/>
            </a:endParaRPr>
          </a:p>
        </p:txBody>
      </p:sp>
      <p:pic>
        <p:nvPicPr>
          <p:cNvPr id="329" name="图片 328" descr="接入交换机.png"/>
          <p:cNvPicPr>
            <a:picLocks noChangeAspect="1"/>
          </p:cNvPicPr>
          <p:nvPr/>
        </p:nvPicPr>
        <p:blipFill>
          <a:blip r:embed="rId4" cstate="print"/>
          <a:stretch>
            <a:fillRect/>
          </a:stretch>
        </p:blipFill>
        <p:spPr bwMode="gray">
          <a:xfrm>
            <a:off x="5462262" y="4660796"/>
            <a:ext cx="432000" cy="353454"/>
          </a:xfrm>
          <a:prstGeom prst="rect">
            <a:avLst/>
          </a:prstGeom>
          <a:effectLst/>
        </p:spPr>
      </p:pic>
      <p:pic>
        <p:nvPicPr>
          <p:cNvPr id="330" name="图片 329" descr="防火墙.png"/>
          <p:cNvPicPr>
            <a:picLocks noChangeAspect="1"/>
          </p:cNvPicPr>
          <p:nvPr/>
        </p:nvPicPr>
        <p:blipFill>
          <a:blip r:embed="rId5" cstate="print"/>
          <a:stretch>
            <a:fillRect/>
          </a:stretch>
        </p:blipFill>
        <p:spPr bwMode="gray">
          <a:xfrm>
            <a:off x="2733618" y="4652503"/>
            <a:ext cx="432000" cy="353454"/>
          </a:xfrm>
          <a:prstGeom prst="rect">
            <a:avLst/>
          </a:prstGeom>
          <a:effectLst/>
        </p:spPr>
      </p:pic>
      <p:pic>
        <p:nvPicPr>
          <p:cNvPr id="331" name="图片 330" descr="AP.png"/>
          <p:cNvPicPr>
            <a:picLocks noChangeAspect="1"/>
          </p:cNvPicPr>
          <p:nvPr/>
        </p:nvPicPr>
        <p:blipFill>
          <a:blip r:embed="rId6" cstate="print"/>
          <a:stretch>
            <a:fillRect/>
          </a:stretch>
        </p:blipFill>
        <p:spPr bwMode="gray">
          <a:xfrm>
            <a:off x="6905559" y="4652704"/>
            <a:ext cx="432000" cy="353454"/>
          </a:xfrm>
          <a:prstGeom prst="rect">
            <a:avLst/>
          </a:prstGeom>
          <a:effectLst/>
        </p:spPr>
      </p:pic>
      <p:pic>
        <p:nvPicPr>
          <p:cNvPr id="332" name="Picture 12" descr="E:\2016.01\1.12 扁平化图标\蓝色\AR-蓝色最新-40.png"/>
          <p:cNvPicPr>
            <a:picLocks noChangeAspect="1" noChangeArrowheads="1"/>
          </p:cNvPicPr>
          <p:nvPr/>
        </p:nvPicPr>
        <p:blipFill>
          <a:blip r:embed="rId7" cstate="print"/>
          <a:srcRect/>
          <a:stretch>
            <a:fillRect/>
          </a:stretch>
        </p:blipFill>
        <p:spPr bwMode="gray">
          <a:xfrm>
            <a:off x="4067971" y="4660993"/>
            <a:ext cx="432000" cy="353454"/>
          </a:xfrm>
          <a:prstGeom prst="rect">
            <a:avLst/>
          </a:prstGeom>
          <a:noFill/>
          <a:effectLst/>
        </p:spPr>
      </p:pic>
      <p:sp>
        <p:nvSpPr>
          <p:cNvPr id="333" name="TextBox 211"/>
          <p:cNvSpPr txBox="1"/>
          <p:nvPr/>
        </p:nvSpPr>
        <p:spPr bwMode="gray">
          <a:xfrm>
            <a:off x="8624809" y="4516414"/>
            <a:ext cx="2889012" cy="830997"/>
          </a:xfrm>
          <a:prstGeom prst="rect">
            <a:avLst/>
          </a:prstGeom>
          <a:noFill/>
        </p:spPr>
        <p:txBody>
          <a:bodyPr wrap="square" rtlCol="0" anchor="ctr">
            <a:spAutoFit/>
          </a:bodyPr>
          <a:lstStyle/>
          <a:p>
            <a:pPr marL="107968" marR="0" lvl="0" indent="-107968" algn="just" defTabSz="685600" eaLnBrk="1" latinLnBrk="0" hangingPunct="1">
              <a:spcBef>
                <a:spcPts val="0"/>
              </a:spcBef>
              <a:spcAft>
                <a:spcPts val="0"/>
              </a:spcAft>
              <a:buClrTx/>
              <a:buSzTx/>
              <a:buFont typeface="Arial" pitchFamily="34" charset="0"/>
              <a:buChar char="•"/>
              <a:tabLst/>
              <a:defRPr/>
            </a:pPr>
            <a:r>
              <a:rPr kumimoji="0" lang="zh-CN" altLang="en-US" sz="1200" b="0" i="0" u="none" strike="noStrike" kern="0" cap="none" spc="0" normalizeH="0" baseline="0" noProof="0" dirty="0" smtClean="0">
                <a:ln>
                  <a:noFill/>
                </a:ln>
                <a:solidFill>
                  <a:prstClr val="black"/>
                </a:solidFill>
                <a:effectLst/>
                <a:uLnTx/>
                <a:uFillTx/>
                <a:cs typeface="+mn-ea"/>
                <a:sym typeface="+mn-lt"/>
              </a:rPr>
              <a:t>支持</a:t>
            </a:r>
            <a:r>
              <a:rPr kumimoji="0" lang="en-US" altLang="zh-CN" sz="1200" b="0" i="0" u="none" strike="noStrike" kern="0" cap="none" spc="0" normalizeH="0" baseline="0" noProof="0" dirty="0" smtClean="0">
                <a:ln>
                  <a:noFill/>
                </a:ln>
                <a:solidFill>
                  <a:prstClr val="black"/>
                </a:solidFill>
                <a:effectLst/>
                <a:uLnTx/>
                <a:uFillTx/>
                <a:cs typeface="+mn-ea"/>
                <a:sym typeface="+mn-lt"/>
              </a:rPr>
              <a:t>NETCONF/Telemetry</a:t>
            </a:r>
            <a:r>
              <a:rPr kumimoji="0" lang="zh-CN" altLang="en-US" sz="1200" b="0" i="0" u="none" strike="noStrike" kern="0" cap="none" spc="0" normalizeH="0" baseline="0" noProof="0" dirty="0" smtClean="0">
                <a:ln>
                  <a:noFill/>
                </a:ln>
                <a:solidFill>
                  <a:prstClr val="black"/>
                </a:solidFill>
                <a:effectLst/>
                <a:uLnTx/>
                <a:uFillTx/>
                <a:cs typeface="+mn-ea"/>
                <a:sym typeface="+mn-lt"/>
              </a:rPr>
              <a:t>等多种开放接口，提升设备可管理性；</a:t>
            </a:r>
            <a:endParaRPr kumimoji="0" lang="en-US" altLang="zh-CN" sz="1200" b="0" i="0" u="none" strike="noStrike" kern="0" cap="none" spc="0" normalizeH="0" baseline="0" noProof="0" dirty="0" smtClean="0">
              <a:ln>
                <a:noFill/>
              </a:ln>
              <a:solidFill>
                <a:prstClr val="black"/>
              </a:solidFill>
              <a:effectLst/>
              <a:uLnTx/>
              <a:uFillTx/>
              <a:cs typeface="+mn-ea"/>
              <a:sym typeface="+mn-lt"/>
            </a:endParaRPr>
          </a:p>
          <a:p>
            <a:pPr marL="107968" marR="0" lvl="0" indent="-107968" algn="just" defTabSz="685600" eaLnBrk="1" latinLnBrk="0" hangingPunct="1">
              <a:spcBef>
                <a:spcPts val="0"/>
              </a:spcBef>
              <a:spcAft>
                <a:spcPts val="0"/>
              </a:spcAft>
              <a:buClrTx/>
              <a:buSzTx/>
              <a:buFont typeface="Arial" pitchFamily="34" charset="0"/>
              <a:buChar char="•"/>
              <a:tabLst/>
              <a:defRPr/>
            </a:pPr>
            <a:r>
              <a:rPr kumimoji="0" lang="en-US" altLang="zh-CN" sz="1200" b="0" i="0" u="none" strike="noStrike" kern="0" cap="none" spc="0" normalizeH="0" baseline="0" noProof="0" dirty="0" smtClean="0">
                <a:ln>
                  <a:noFill/>
                </a:ln>
                <a:solidFill>
                  <a:prstClr val="black"/>
                </a:solidFill>
                <a:effectLst/>
                <a:uLnTx/>
                <a:uFillTx/>
                <a:cs typeface="+mn-ea"/>
                <a:sym typeface="+mn-lt"/>
              </a:rPr>
              <a:t>AP</a:t>
            </a:r>
            <a:r>
              <a:rPr kumimoji="0" lang="zh-CN" altLang="en-US" sz="1200" b="0" i="0" u="none" strike="noStrike" kern="0" cap="none" spc="0" normalizeH="0" baseline="0" noProof="0" dirty="0" smtClean="0">
                <a:ln>
                  <a:noFill/>
                </a:ln>
                <a:solidFill>
                  <a:prstClr val="black"/>
                </a:solidFill>
                <a:effectLst/>
                <a:uLnTx/>
                <a:uFillTx/>
                <a:cs typeface="+mn-ea"/>
                <a:sym typeface="+mn-lt"/>
              </a:rPr>
              <a:t>支持接入第三方物联插卡，支持物联网功能。</a:t>
            </a:r>
            <a:endParaRPr kumimoji="0" lang="en-US" altLang="zh-CN" sz="1200" b="0" i="0" u="none" strike="noStrike" kern="0" cap="none" spc="0" normalizeH="0" baseline="0" noProof="0" dirty="0" smtClean="0">
              <a:ln>
                <a:noFill/>
              </a:ln>
              <a:solidFill>
                <a:prstClr val="black"/>
              </a:solidFill>
              <a:effectLst/>
              <a:uLnTx/>
              <a:uFillTx/>
              <a:cs typeface="+mn-ea"/>
              <a:sym typeface="+mn-lt"/>
            </a:endParaRPr>
          </a:p>
        </p:txBody>
      </p:sp>
      <p:sp>
        <p:nvSpPr>
          <p:cNvPr id="334" name="TextBox 211"/>
          <p:cNvSpPr txBox="1"/>
          <p:nvPr/>
        </p:nvSpPr>
        <p:spPr bwMode="gray">
          <a:xfrm>
            <a:off x="8624808" y="3036213"/>
            <a:ext cx="2889012" cy="461665"/>
          </a:xfrm>
          <a:prstGeom prst="rect">
            <a:avLst/>
          </a:prstGeom>
          <a:noFill/>
        </p:spPr>
        <p:txBody>
          <a:bodyPr wrap="square" rtlCol="0" anchor="ctr">
            <a:spAutoFit/>
          </a:bodyPr>
          <a:lstStyle/>
          <a:p>
            <a:pPr marL="107968" marR="0" lvl="0" indent="-107968" algn="just" defTabSz="685600" eaLnBrk="1" latinLnBrk="0" hangingPunct="1">
              <a:spcBef>
                <a:spcPts val="0"/>
              </a:spcBef>
              <a:spcAft>
                <a:spcPts val="0"/>
              </a:spcAft>
              <a:buClrTx/>
              <a:buSzTx/>
              <a:buFont typeface="Arial" pitchFamily="34" charset="0"/>
              <a:buChar char="•"/>
              <a:tabLst/>
              <a:defRPr/>
            </a:pPr>
            <a:r>
              <a:rPr kumimoji="0" lang="zh-CN" altLang="en-US" sz="1200" b="0" i="0" u="none" strike="noStrike" kern="0" cap="none" spc="0" normalizeH="0" baseline="0" noProof="0" dirty="0" smtClean="0">
                <a:ln>
                  <a:noFill/>
                </a:ln>
                <a:solidFill>
                  <a:prstClr val="black"/>
                </a:solidFill>
                <a:effectLst/>
                <a:uLnTx/>
                <a:uFillTx/>
                <a:cs typeface="+mn-ea"/>
                <a:sym typeface="+mn-lt"/>
              </a:rPr>
              <a:t>平台提供</a:t>
            </a:r>
            <a:r>
              <a:rPr kumimoji="0" lang="en-US" altLang="zh-CN" sz="1200" b="0" i="0" u="none" strike="noStrike" kern="0" cap="none" spc="0" normalizeH="0" baseline="0" noProof="0" dirty="0" smtClean="0">
                <a:ln>
                  <a:noFill/>
                </a:ln>
                <a:solidFill>
                  <a:prstClr val="black"/>
                </a:solidFill>
                <a:effectLst/>
                <a:uLnTx/>
                <a:uFillTx/>
                <a:cs typeface="+mn-ea"/>
                <a:sym typeface="+mn-lt"/>
              </a:rPr>
              <a:t>4</a:t>
            </a:r>
            <a:r>
              <a:rPr kumimoji="0" lang="zh-CN" altLang="en-US" sz="1200" b="0" i="0" u="none" strike="noStrike" kern="0" cap="none" spc="0" normalizeH="0" baseline="0" noProof="0" dirty="0" smtClean="0">
                <a:ln>
                  <a:noFill/>
                </a:ln>
                <a:solidFill>
                  <a:prstClr val="black"/>
                </a:solidFill>
                <a:effectLst/>
                <a:uLnTx/>
                <a:uFillTx/>
                <a:cs typeface="+mn-ea"/>
                <a:sym typeface="+mn-lt"/>
              </a:rPr>
              <a:t>大类</a:t>
            </a:r>
            <a:r>
              <a:rPr kumimoji="0" lang="en-US" altLang="zh-CN" sz="1200" b="0" i="0" u="none" strike="noStrike" kern="0" cap="none" spc="0" normalizeH="0" baseline="0" noProof="0" dirty="0" smtClean="0">
                <a:ln>
                  <a:noFill/>
                </a:ln>
                <a:solidFill>
                  <a:prstClr val="black"/>
                </a:solidFill>
                <a:effectLst/>
                <a:uLnTx/>
                <a:uFillTx/>
                <a:cs typeface="+mn-ea"/>
                <a:sym typeface="+mn-lt"/>
              </a:rPr>
              <a:t>API</a:t>
            </a:r>
            <a:r>
              <a:rPr kumimoji="0" lang="zh-CN" altLang="en-US" sz="1200" b="0" i="0" u="none" strike="noStrike" kern="0" cap="none" spc="0" normalizeH="0" baseline="0" noProof="0" dirty="0" smtClean="0">
                <a:ln>
                  <a:noFill/>
                </a:ln>
                <a:solidFill>
                  <a:prstClr val="black"/>
                </a:solidFill>
                <a:effectLst/>
                <a:uLnTx/>
                <a:uFillTx/>
                <a:cs typeface="+mn-ea"/>
                <a:sym typeface="+mn-lt"/>
              </a:rPr>
              <a:t>接口；</a:t>
            </a:r>
            <a:endParaRPr kumimoji="0" lang="en-US" altLang="zh-CN" sz="1200" b="0" i="0" u="none" strike="noStrike" kern="0" cap="none" spc="0" normalizeH="0" baseline="0" noProof="0" dirty="0" smtClean="0">
              <a:ln>
                <a:noFill/>
              </a:ln>
              <a:solidFill>
                <a:prstClr val="black"/>
              </a:solidFill>
              <a:effectLst/>
              <a:uLnTx/>
              <a:uFillTx/>
              <a:cs typeface="+mn-ea"/>
              <a:sym typeface="+mn-lt"/>
            </a:endParaRPr>
          </a:p>
          <a:p>
            <a:pPr marL="107968" marR="0" lvl="0" indent="-107968" algn="just" defTabSz="685600" eaLnBrk="1" latinLnBrk="0" hangingPunct="1">
              <a:spcBef>
                <a:spcPts val="0"/>
              </a:spcBef>
              <a:spcAft>
                <a:spcPts val="0"/>
              </a:spcAft>
              <a:buClrTx/>
              <a:buSzTx/>
              <a:buFont typeface="Arial" pitchFamily="34" charset="0"/>
              <a:buChar char="•"/>
              <a:tabLst/>
              <a:defRPr/>
            </a:pPr>
            <a:r>
              <a:rPr kumimoji="0" lang="zh-CN" altLang="en-US" sz="1200" b="0" i="0" u="none" strike="noStrike" kern="0" cap="none" spc="0" normalizeH="0" baseline="0" noProof="0" dirty="0" smtClean="0">
                <a:ln>
                  <a:noFill/>
                </a:ln>
                <a:solidFill>
                  <a:prstClr val="black"/>
                </a:solidFill>
                <a:effectLst/>
                <a:uLnTx/>
                <a:uFillTx/>
                <a:cs typeface="+mn-ea"/>
                <a:sym typeface="+mn-lt"/>
              </a:rPr>
              <a:t>平台支持业界标准网络对接协议。</a:t>
            </a:r>
            <a:endParaRPr kumimoji="0" lang="en-US" altLang="zh-CN" sz="1200" b="0" i="0" u="none" strike="noStrike" kern="0" cap="none" spc="0" normalizeH="0" baseline="0" noProof="0" dirty="0" smtClean="0">
              <a:ln>
                <a:noFill/>
              </a:ln>
              <a:solidFill>
                <a:prstClr val="black"/>
              </a:solidFill>
              <a:effectLst/>
              <a:uLnTx/>
              <a:uFillTx/>
              <a:cs typeface="+mn-ea"/>
              <a:sym typeface="+mn-lt"/>
            </a:endParaRPr>
          </a:p>
        </p:txBody>
      </p:sp>
      <p:sp>
        <p:nvSpPr>
          <p:cNvPr id="335" name="TextBox 211"/>
          <p:cNvSpPr txBox="1"/>
          <p:nvPr/>
        </p:nvSpPr>
        <p:spPr bwMode="gray">
          <a:xfrm>
            <a:off x="8624808" y="1389538"/>
            <a:ext cx="2889012" cy="646331"/>
          </a:xfrm>
          <a:prstGeom prst="rect">
            <a:avLst/>
          </a:prstGeom>
          <a:noFill/>
        </p:spPr>
        <p:txBody>
          <a:bodyPr wrap="square" rtlCol="0" anchor="ctr">
            <a:spAutoFit/>
          </a:bodyPr>
          <a:lstStyle/>
          <a:p>
            <a:pPr marL="107968" marR="0" lvl="0" indent="-107968" algn="just" defTabSz="685600" eaLnBrk="1" latinLnBrk="0" hangingPunct="1">
              <a:spcBef>
                <a:spcPts val="0"/>
              </a:spcBef>
              <a:spcAft>
                <a:spcPts val="0"/>
              </a:spcAft>
              <a:buClrTx/>
              <a:buSzTx/>
              <a:buFont typeface="Arial" pitchFamily="34" charset="0"/>
              <a:buChar char="•"/>
              <a:tabLst/>
              <a:defRPr/>
            </a:pPr>
            <a:r>
              <a:rPr kumimoji="0" lang="zh-CN" altLang="en-US" sz="1200" b="0" i="0" u="none" strike="noStrike" kern="0" cap="none" spc="0" normalizeH="0" baseline="0" noProof="0" dirty="0" smtClean="0">
                <a:ln>
                  <a:noFill/>
                </a:ln>
                <a:solidFill>
                  <a:prstClr val="black"/>
                </a:solidFill>
                <a:effectLst/>
                <a:uLnTx/>
                <a:uFillTx/>
                <a:cs typeface="+mn-ea"/>
                <a:sym typeface="+mn-lt"/>
              </a:rPr>
              <a:t>聚焦主流应用场景；</a:t>
            </a:r>
            <a:endParaRPr kumimoji="0" lang="en-US" altLang="zh-CN" sz="1200" b="0" i="0" u="none" strike="noStrike" kern="0" cap="none" spc="0" normalizeH="0" baseline="0" noProof="0" dirty="0" smtClean="0">
              <a:ln>
                <a:noFill/>
              </a:ln>
              <a:solidFill>
                <a:prstClr val="black"/>
              </a:solidFill>
              <a:effectLst/>
              <a:uLnTx/>
              <a:uFillTx/>
              <a:cs typeface="+mn-ea"/>
              <a:sym typeface="+mn-lt"/>
            </a:endParaRPr>
          </a:p>
          <a:p>
            <a:pPr marL="107968" lvl="0" indent="-107968" algn="just" defTabSz="685600">
              <a:buFont typeface="Arial" pitchFamily="34" charset="0"/>
              <a:buChar char="•"/>
              <a:defRPr/>
            </a:pPr>
            <a:r>
              <a:rPr kumimoji="0" lang="zh-CN" altLang="en-US" sz="1200" b="0" i="0" u="none" strike="noStrike" kern="0" cap="none" spc="0" normalizeH="0" baseline="0" noProof="0" dirty="0" smtClean="0">
                <a:ln>
                  <a:noFill/>
                </a:ln>
                <a:effectLst/>
                <a:uLnTx/>
                <a:uFillTx/>
                <a:cs typeface="+mn-ea"/>
                <a:sym typeface="+mn-lt"/>
              </a:rPr>
              <a:t>网络业务数据</a:t>
            </a:r>
            <a:r>
              <a:rPr lang="zh-CN" altLang="en-US" sz="1200" dirty="0" smtClean="0">
                <a:cs typeface="+mn-ea"/>
                <a:sym typeface="+mn-lt"/>
              </a:rPr>
              <a:t>开放</a:t>
            </a:r>
            <a:r>
              <a:rPr kumimoji="0" lang="zh-CN" altLang="en-US" sz="1200" b="0" i="0" u="none" strike="noStrike" kern="0" cap="none" spc="0" normalizeH="0" baseline="0" noProof="0" dirty="0" smtClean="0">
                <a:ln>
                  <a:noFill/>
                </a:ln>
                <a:effectLst/>
                <a:uLnTx/>
                <a:uFillTx/>
                <a:cs typeface="+mn-ea"/>
                <a:sym typeface="+mn-lt"/>
              </a:rPr>
              <a:t>，满足应用层对数据增值和运营需求。</a:t>
            </a:r>
            <a:endParaRPr kumimoji="0" lang="en-US" altLang="zh-CN" sz="1200" b="0" i="0" u="none" strike="noStrike" kern="0" cap="none" spc="0" normalizeH="0" baseline="0" noProof="0" dirty="0" smtClean="0">
              <a:ln>
                <a:noFill/>
              </a:ln>
              <a:effectLst/>
              <a:uLnTx/>
              <a:uFillTx/>
              <a:cs typeface="+mn-ea"/>
              <a:sym typeface="+mn-lt"/>
            </a:endParaRPr>
          </a:p>
        </p:txBody>
      </p:sp>
      <p:sp>
        <p:nvSpPr>
          <p:cNvPr id="336" name="TextBox 211"/>
          <p:cNvSpPr txBox="1"/>
          <p:nvPr/>
        </p:nvSpPr>
        <p:spPr bwMode="gray">
          <a:xfrm>
            <a:off x="8624809" y="5478409"/>
            <a:ext cx="2889011" cy="646331"/>
          </a:xfrm>
          <a:prstGeom prst="rect">
            <a:avLst/>
          </a:prstGeom>
          <a:noFill/>
        </p:spPr>
        <p:txBody>
          <a:bodyPr wrap="square" rtlCol="0" anchor="ctr">
            <a:spAutoFit/>
          </a:bodyPr>
          <a:lstStyle/>
          <a:p>
            <a:pPr marL="107968" marR="0" lvl="0" indent="-107968" algn="just" defTabSz="685600" eaLnBrk="1" latinLnBrk="0" hangingPunct="1">
              <a:spcBef>
                <a:spcPts val="0"/>
              </a:spcBef>
              <a:spcAft>
                <a:spcPts val="0"/>
              </a:spcAft>
              <a:buClrTx/>
              <a:buSzTx/>
              <a:buFont typeface="Arial" pitchFamily="34" charset="0"/>
              <a:buChar char="•"/>
              <a:tabLst/>
              <a:defRPr/>
            </a:pPr>
            <a:r>
              <a:rPr kumimoji="0" lang="zh-CN" altLang="en-US" sz="1200" b="0" i="0" u="none" strike="noStrike" kern="0" cap="none" spc="0" normalizeH="0" baseline="0" noProof="0" dirty="0" smtClean="0">
                <a:ln>
                  <a:noFill/>
                </a:ln>
                <a:solidFill>
                  <a:prstClr val="black"/>
                </a:solidFill>
                <a:effectLst/>
                <a:uLnTx/>
                <a:uFillTx/>
                <a:cs typeface="+mn-ea"/>
                <a:sym typeface="+mn-lt"/>
              </a:rPr>
              <a:t>支持物联终端接入（</a:t>
            </a:r>
            <a:r>
              <a:rPr kumimoji="0" lang="en-US" altLang="zh-CN" sz="1200" b="0" i="0" u="none" strike="noStrike" kern="0" cap="none" spc="0" normalizeH="0" baseline="0" noProof="0" dirty="0" err="1" smtClean="0">
                <a:ln>
                  <a:noFill/>
                </a:ln>
                <a:solidFill>
                  <a:prstClr val="black"/>
                </a:solidFill>
                <a:effectLst/>
                <a:uLnTx/>
                <a:uFillTx/>
                <a:cs typeface="+mn-ea"/>
                <a:sym typeface="+mn-lt"/>
              </a:rPr>
              <a:t>ZigBee</a:t>
            </a:r>
            <a:r>
              <a:rPr kumimoji="0" lang="zh-CN" altLang="en-US" sz="1200" b="0" i="0" u="none" strike="noStrike" kern="0" cap="none" spc="0" normalizeH="0" baseline="0" noProof="0" dirty="0" smtClean="0">
                <a:ln>
                  <a:noFill/>
                </a:ln>
                <a:solidFill>
                  <a:prstClr val="black"/>
                </a:solidFill>
                <a:effectLst/>
                <a:uLnTx/>
                <a:uFillTx/>
                <a:cs typeface="+mn-ea"/>
                <a:sym typeface="+mn-lt"/>
              </a:rPr>
              <a:t>、</a:t>
            </a:r>
            <a:r>
              <a:rPr kumimoji="0" lang="en-US" altLang="zh-CN" sz="1200" b="0" i="0" u="none" strike="noStrike" kern="0" cap="none" spc="0" normalizeH="0" baseline="0" noProof="0" dirty="0" smtClean="0">
                <a:ln>
                  <a:noFill/>
                </a:ln>
                <a:solidFill>
                  <a:prstClr val="black"/>
                </a:solidFill>
                <a:effectLst/>
                <a:uLnTx/>
                <a:uFillTx/>
                <a:cs typeface="+mn-ea"/>
                <a:sym typeface="+mn-lt"/>
              </a:rPr>
              <a:t>RFID</a:t>
            </a:r>
            <a:r>
              <a:rPr kumimoji="0" lang="zh-CN" altLang="en-US" sz="1200" b="0" i="0" u="none" strike="noStrike" kern="0" cap="none" spc="0" normalizeH="0" baseline="0" noProof="0" smtClean="0">
                <a:ln>
                  <a:noFill/>
                </a:ln>
                <a:solidFill>
                  <a:prstClr val="black"/>
                </a:solidFill>
                <a:effectLst/>
                <a:uLnTx/>
                <a:uFillTx/>
                <a:cs typeface="+mn-ea"/>
                <a:sym typeface="+mn-lt"/>
              </a:rPr>
              <a:t>、</a:t>
            </a:r>
            <a:r>
              <a:rPr kumimoji="0" lang="en-US" altLang="zh-CN" sz="1200" b="0" i="0" u="none" strike="noStrike" kern="0" cap="none" spc="0" normalizeH="0" baseline="0" noProof="0" smtClean="0">
                <a:ln>
                  <a:noFill/>
                </a:ln>
                <a:solidFill>
                  <a:prstClr val="black"/>
                </a:solidFill>
                <a:effectLst/>
                <a:uLnTx/>
                <a:uFillTx/>
                <a:cs typeface="+mn-ea"/>
                <a:sym typeface="+mn-lt"/>
              </a:rPr>
              <a:t>BLE</a:t>
            </a:r>
            <a:r>
              <a:rPr kumimoji="0" lang="zh-CN" altLang="en-US" sz="1200" b="0" i="0" u="none" strike="noStrike" kern="0" cap="none" spc="0" normalizeH="0" baseline="0" noProof="0" smtClean="0">
                <a:ln>
                  <a:noFill/>
                </a:ln>
                <a:solidFill>
                  <a:prstClr val="black"/>
                </a:solidFill>
                <a:effectLst/>
                <a:uLnTx/>
                <a:uFillTx/>
                <a:cs typeface="+mn-ea"/>
                <a:sym typeface="+mn-lt"/>
              </a:rPr>
              <a:t>）</a:t>
            </a:r>
            <a:r>
              <a:rPr kumimoji="0" lang="zh-CN" altLang="en-US" sz="1200" b="0" i="0" u="none" strike="noStrike" kern="0" cap="none" spc="0" normalizeH="0" baseline="0" noProof="0" dirty="0" smtClean="0">
                <a:ln>
                  <a:noFill/>
                </a:ln>
                <a:solidFill>
                  <a:prstClr val="black"/>
                </a:solidFill>
                <a:effectLst/>
                <a:uLnTx/>
                <a:uFillTx/>
                <a:cs typeface="+mn-ea"/>
                <a:sym typeface="+mn-lt"/>
              </a:rPr>
              <a:t>；</a:t>
            </a:r>
            <a:endParaRPr kumimoji="0" lang="en-US" altLang="zh-CN" sz="1200" b="0" i="0" u="none" strike="noStrike" kern="0" cap="none" spc="0" normalizeH="0" baseline="0" noProof="0" dirty="0" smtClean="0">
              <a:ln>
                <a:noFill/>
              </a:ln>
              <a:solidFill>
                <a:prstClr val="black"/>
              </a:solidFill>
              <a:effectLst/>
              <a:uLnTx/>
              <a:uFillTx/>
              <a:cs typeface="+mn-ea"/>
              <a:sym typeface="+mn-lt"/>
            </a:endParaRPr>
          </a:p>
          <a:p>
            <a:pPr marL="107968" marR="0" lvl="0" indent="-107968" algn="just" defTabSz="685600" eaLnBrk="1" latinLnBrk="0" hangingPunct="1">
              <a:spcBef>
                <a:spcPts val="0"/>
              </a:spcBef>
              <a:spcAft>
                <a:spcPts val="0"/>
              </a:spcAft>
              <a:buClrTx/>
              <a:buSzTx/>
              <a:buFont typeface="Arial" pitchFamily="34" charset="0"/>
              <a:buChar char="•"/>
              <a:tabLst/>
              <a:defRPr/>
            </a:pPr>
            <a:r>
              <a:rPr kumimoji="0" lang="zh-CN" altLang="en-US" sz="1200" b="0" i="0" u="none" strike="noStrike" kern="0" cap="none" spc="0" normalizeH="0" baseline="0" noProof="0" dirty="0" smtClean="0">
                <a:ln>
                  <a:noFill/>
                </a:ln>
                <a:solidFill>
                  <a:prstClr val="black"/>
                </a:solidFill>
                <a:effectLst/>
                <a:uLnTx/>
                <a:uFillTx/>
                <a:cs typeface="+mn-ea"/>
                <a:sym typeface="+mn-lt"/>
              </a:rPr>
              <a:t>支持有线和无线终端接入。</a:t>
            </a:r>
            <a:endParaRPr kumimoji="0" lang="en-US" altLang="zh-CN" sz="1200" b="0" i="0" u="none" strike="noStrike" kern="0" cap="none" spc="0" normalizeH="0" baseline="0" noProof="0" dirty="0" smtClean="0">
              <a:ln>
                <a:noFill/>
              </a:ln>
              <a:solidFill>
                <a:prstClr val="black"/>
              </a:solidFill>
              <a:effectLst/>
              <a:uLnTx/>
              <a:uFillTx/>
              <a:cs typeface="+mn-ea"/>
              <a:sym typeface="+mn-lt"/>
            </a:endParaRPr>
          </a:p>
        </p:txBody>
      </p:sp>
      <p:sp>
        <p:nvSpPr>
          <p:cNvPr id="337" name="文本框 336"/>
          <p:cNvSpPr txBox="1"/>
          <p:nvPr/>
        </p:nvSpPr>
        <p:spPr bwMode="gray">
          <a:xfrm>
            <a:off x="7714785" y="4593923"/>
            <a:ext cx="651140" cy="646331"/>
          </a:xfrm>
          <a:prstGeom prst="rect">
            <a:avLst/>
          </a:prstGeom>
          <a:noFill/>
        </p:spPr>
        <p:txBody>
          <a:bodyPr wrap="none" rtlCol="0">
            <a:spAutoFit/>
          </a:bodyPr>
          <a:lstStyle/>
          <a:p>
            <a:r>
              <a:rPr lang="zh-CN" altLang="en-US" sz="1200" dirty="0" smtClean="0">
                <a:latin typeface="+mj-lt"/>
              </a:rPr>
              <a:t>蓝牙</a:t>
            </a:r>
            <a:endParaRPr lang="en-US" altLang="zh-CN" sz="1200" dirty="0" smtClean="0">
              <a:latin typeface="+mj-lt"/>
            </a:endParaRPr>
          </a:p>
          <a:p>
            <a:r>
              <a:rPr lang="en-US" altLang="zh-CN" sz="1200" dirty="0">
                <a:latin typeface="+mj-lt"/>
              </a:rPr>
              <a:t>RFID</a:t>
            </a:r>
          </a:p>
          <a:p>
            <a:r>
              <a:rPr lang="en-US" altLang="zh-CN" sz="1200" dirty="0" err="1" smtClean="0">
                <a:latin typeface="+mj-lt"/>
              </a:rPr>
              <a:t>ZigBee</a:t>
            </a:r>
            <a:endParaRPr lang="zh-CN" altLang="en-US" sz="1200" dirty="0">
              <a:latin typeface="+mj-lt"/>
            </a:endParaRPr>
          </a:p>
        </p:txBody>
      </p:sp>
      <p:sp>
        <p:nvSpPr>
          <p:cNvPr id="2" name="圆角矩形 1"/>
          <p:cNvSpPr/>
          <p:nvPr/>
        </p:nvSpPr>
        <p:spPr bwMode="gray">
          <a:xfrm>
            <a:off x="7260098" y="4773103"/>
            <a:ext cx="141414" cy="102276"/>
          </a:xfrm>
          <a:prstGeom prst="roundRect">
            <a:avLst/>
          </a:prstGeom>
          <a:solidFill>
            <a:srgbClr val="ED6D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Right Arrow 158"/>
          <p:cNvSpPr/>
          <p:nvPr/>
        </p:nvSpPr>
        <p:spPr bwMode="gray">
          <a:xfrm>
            <a:off x="7323701" y="4417024"/>
            <a:ext cx="353798" cy="852358"/>
          </a:xfrm>
          <a:custGeom>
            <a:avLst/>
            <a:gdLst>
              <a:gd name="connsiteX0" fmla="*/ 0 w 633403"/>
              <a:gd name="connsiteY0" fmla="*/ 140615 h 494305"/>
              <a:gd name="connsiteX1" fmla="*/ 386251 w 633403"/>
              <a:gd name="connsiteY1" fmla="*/ 140615 h 494305"/>
              <a:gd name="connsiteX2" fmla="*/ 386251 w 633403"/>
              <a:gd name="connsiteY2" fmla="*/ 0 h 494305"/>
              <a:gd name="connsiteX3" fmla="*/ 633403 w 633403"/>
              <a:gd name="connsiteY3" fmla="*/ 247153 h 494305"/>
              <a:gd name="connsiteX4" fmla="*/ 386251 w 633403"/>
              <a:gd name="connsiteY4" fmla="*/ 494305 h 494305"/>
              <a:gd name="connsiteX5" fmla="*/ 386251 w 633403"/>
              <a:gd name="connsiteY5" fmla="*/ 353690 h 494305"/>
              <a:gd name="connsiteX6" fmla="*/ 0 w 633403"/>
              <a:gd name="connsiteY6" fmla="*/ 353690 h 494305"/>
              <a:gd name="connsiteX7" fmla="*/ 0 w 633403"/>
              <a:gd name="connsiteY7" fmla="*/ 140615 h 494305"/>
              <a:gd name="connsiteX0" fmla="*/ 0 w 637213"/>
              <a:gd name="connsiteY0" fmla="*/ 0 h 1016630"/>
              <a:gd name="connsiteX1" fmla="*/ 390061 w 637213"/>
              <a:gd name="connsiteY1" fmla="*/ 662940 h 1016630"/>
              <a:gd name="connsiteX2" fmla="*/ 390061 w 637213"/>
              <a:gd name="connsiteY2" fmla="*/ 522325 h 1016630"/>
              <a:gd name="connsiteX3" fmla="*/ 637213 w 637213"/>
              <a:gd name="connsiteY3" fmla="*/ 769478 h 1016630"/>
              <a:gd name="connsiteX4" fmla="*/ 390061 w 637213"/>
              <a:gd name="connsiteY4" fmla="*/ 1016630 h 1016630"/>
              <a:gd name="connsiteX5" fmla="*/ 390061 w 637213"/>
              <a:gd name="connsiteY5" fmla="*/ 876015 h 1016630"/>
              <a:gd name="connsiteX6" fmla="*/ 3810 w 637213"/>
              <a:gd name="connsiteY6" fmla="*/ 876015 h 1016630"/>
              <a:gd name="connsiteX7" fmla="*/ 0 w 637213"/>
              <a:gd name="connsiteY7" fmla="*/ 0 h 1016630"/>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7213" h="1535148">
                <a:moveTo>
                  <a:pt x="0" y="0"/>
                </a:moveTo>
                <a:cubicBezTo>
                  <a:pt x="76680" y="461013"/>
                  <a:pt x="122881" y="613413"/>
                  <a:pt x="390061" y="662940"/>
                </a:cubicBezTo>
                <a:lnTo>
                  <a:pt x="390061" y="522325"/>
                </a:lnTo>
                <a:lnTo>
                  <a:pt x="637213" y="769478"/>
                </a:lnTo>
                <a:lnTo>
                  <a:pt x="390061" y="1016630"/>
                </a:lnTo>
                <a:lnTo>
                  <a:pt x="390061" y="876015"/>
                </a:lnTo>
                <a:cubicBezTo>
                  <a:pt x="117801" y="973809"/>
                  <a:pt x="116050" y="1147800"/>
                  <a:pt x="7620" y="1535148"/>
                </a:cubicBezTo>
                <a:lnTo>
                  <a:pt x="0" y="0"/>
                </a:lnTo>
                <a:close/>
              </a:path>
            </a:pathLst>
          </a:custGeom>
          <a:gradFill flip="none" rotWithShape="1">
            <a:gsLst>
              <a:gs pos="15000">
                <a:srgbClr val="1AABE2">
                  <a:lumMod val="5000"/>
                  <a:lumOff val="95000"/>
                  <a:alpha val="0"/>
                </a:srgbClr>
              </a:gs>
              <a:gs pos="81000">
                <a:srgbClr val="D7F2F5"/>
              </a:gs>
            </a:gsLst>
            <a:lin ang="0" scaled="1"/>
            <a:tileRect/>
          </a:gradFill>
          <a:ln w="15875" cap="flat" cmpd="sng" algn="ctr">
            <a:gradFill flip="none" rotWithShape="1">
              <a:gsLst>
                <a:gs pos="11000">
                  <a:srgbClr val="1AABE2">
                    <a:lumMod val="0"/>
                    <a:lumOff val="100000"/>
                    <a:alpha val="0"/>
                  </a:srgbClr>
                </a:gs>
                <a:gs pos="67000">
                  <a:srgbClr val="94DAE2"/>
                </a:gs>
              </a:gsLst>
              <a:lin ang="0" scaled="1"/>
              <a:tileRect/>
            </a:gradFill>
            <a:prstDash val="solid"/>
            <a:miter lim="800000"/>
          </a:ln>
          <a:effectLst/>
        </p:spPr>
        <p:txBody>
          <a:bodyPr rtlCol="0" anchor="ctr"/>
          <a:lstStyle/>
          <a:p>
            <a:pPr algn="ctr"/>
            <a:endParaRPr lang="zh-CN" altLang="en-US" kern="0">
              <a:solidFill>
                <a:prstClr val="white"/>
              </a:solidFill>
              <a:cs typeface="+mn-ea"/>
            </a:endParaRPr>
          </a:p>
        </p:txBody>
      </p:sp>
      <p:sp>
        <p:nvSpPr>
          <p:cNvPr id="342" name="文本框 341"/>
          <p:cNvSpPr txBox="1"/>
          <p:nvPr/>
        </p:nvSpPr>
        <p:spPr bwMode="gray">
          <a:xfrm>
            <a:off x="6966543" y="4361397"/>
            <a:ext cx="954107" cy="276999"/>
          </a:xfrm>
          <a:prstGeom prst="rect">
            <a:avLst/>
          </a:prstGeom>
          <a:noFill/>
        </p:spPr>
        <p:txBody>
          <a:bodyPr wrap="none" rtlCol="0">
            <a:spAutoFit/>
          </a:bodyPr>
          <a:lstStyle/>
          <a:p>
            <a:r>
              <a:rPr lang="zh-CN" altLang="en-US" sz="1200" dirty="0" smtClean="0">
                <a:solidFill>
                  <a:srgbClr val="30B5C5"/>
                </a:solidFill>
                <a:latin typeface="+mj-lt"/>
              </a:rPr>
              <a:t>物联网插卡</a:t>
            </a:r>
            <a:endParaRPr lang="zh-CN" altLang="en-US" sz="1200" dirty="0">
              <a:solidFill>
                <a:srgbClr val="30B5C5"/>
              </a:solidFill>
              <a:latin typeface="+mj-lt"/>
            </a:endParaRPr>
          </a:p>
        </p:txBody>
      </p:sp>
      <p:sp>
        <p:nvSpPr>
          <p:cNvPr id="343" name="314623880"/>
          <p:cNvSpPr/>
          <p:nvPr/>
        </p:nvSpPr>
        <p:spPr bwMode="gray">
          <a:xfrm>
            <a:off x="2622585" y="5692856"/>
            <a:ext cx="643887" cy="217437"/>
          </a:xfrm>
          <a:prstGeom prst="rect">
            <a:avLst/>
          </a:prstGeom>
        </p:spPr>
        <p:txBody>
          <a:bodyPr wrap="none" lIns="91363" tIns="45679" rIns="91363" bIns="45679">
            <a:noAutofit/>
          </a:bodyPr>
          <a:lstStyle/>
          <a:p>
            <a:pPr algn="ctr" defTabSz="1218723">
              <a:buClr>
                <a:srgbClr val="CC9900"/>
              </a:buClr>
              <a:defRPr/>
            </a:pPr>
            <a:r>
              <a:rPr lang="zh-CN" altLang="en-US" sz="1200" kern="0" dirty="0">
                <a:solidFill>
                  <a:srgbClr val="000000"/>
                </a:solidFill>
                <a:cs typeface="+mn-ea"/>
                <a:sym typeface="+mn-lt"/>
              </a:rPr>
              <a:t>电子价签</a:t>
            </a:r>
            <a:endParaRPr lang="en-US" altLang="zh-CN" sz="1200" kern="0" dirty="0">
              <a:solidFill>
                <a:srgbClr val="000000"/>
              </a:solidFill>
              <a:cs typeface="+mn-ea"/>
              <a:sym typeface="+mn-lt"/>
            </a:endParaRPr>
          </a:p>
        </p:txBody>
      </p:sp>
      <p:sp>
        <p:nvSpPr>
          <p:cNvPr id="344" name="314623880"/>
          <p:cNvSpPr/>
          <p:nvPr/>
        </p:nvSpPr>
        <p:spPr bwMode="gray">
          <a:xfrm>
            <a:off x="3740970" y="5692856"/>
            <a:ext cx="643887" cy="217437"/>
          </a:xfrm>
          <a:prstGeom prst="rect">
            <a:avLst/>
          </a:prstGeom>
        </p:spPr>
        <p:txBody>
          <a:bodyPr wrap="none" lIns="91363" tIns="45679" rIns="91363" bIns="45679">
            <a:noAutofit/>
          </a:bodyPr>
          <a:lstStyle/>
          <a:p>
            <a:pPr algn="ctr" defTabSz="1218723">
              <a:buClr>
                <a:srgbClr val="CC9900"/>
              </a:buClr>
              <a:defRPr/>
            </a:pPr>
            <a:r>
              <a:rPr lang="zh-CN" altLang="en-US" sz="1200" kern="0" dirty="0">
                <a:solidFill>
                  <a:srgbClr val="000000"/>
                </a:solidFill>
                <a:cs typeface="+mn-ea"/>
                <a:sym typeface="+mn-lt"/>
              </a:rPr>
              <a:t>资产标签</a:t>
            </a:r>
            <a:endParaRPr lang="en-US" altLang="zh-CN" sz="1200" kern="0" dirty="0">
              <a:solidFill>
                <a:srgbClr val="000000"/>
              </a:solidFill>
              <a:cs typeface="+mn-ea"/>
              <a:sym typeface="+mn-lt"/>
            </a:endParaRPr>
          </a:p>
        </p:txBody>
      </p:sp>
      <p:sp>
        <p:nvSpPr>
          <p:cNvPr id="345" name="314623880"/>
          <p:cNvSpPr/>
          <p:nvPr/>
        </p:nvSpPr>
        <p:spPr bwMode="gray">
          <a:xfrm>
            <a:off x="5977740" y="5692856"/>
            <a:ext cx="643887" cy="217437"/>
          </a:xfrm>
          <a:prstGeom prst="rect">
            <a:avLst/>
          </a:prstGeom>
        </p:spPr>
        <p:txBody>
          <a:bodyPr wrap="none" lIns="91363" tIns="45679" rIns="91363" bIns="45679">
            <a:noAutofit/>
          </a:bodyPr>
          <a:lstStyle/>
          <a:p>
            <a:pPr algn="ctr" defTabSz="1218723">
              <a:buClr>
                <a:srgbClr val="CC9900"/>
              </a:buClr>
              <a:defRPr/>
            </a:pPr>
            <a:r>
              <a:rPr lang="zh-CN" altLang="en-US" sz="1200" kern="0" dirty="0">
                <a:solidFill>
                  <a:srgbClr val="000000"/>
                </a:solidFill>
                <a:cs typeface="+mn-ea"/>
                <a:sym typeface="+mn-lt"/>
              </a:rPr>
              <a:t>智能腕带</a:t>
            </a:r>
            <a:endParaRPr lang="en-US" altLang="zh-CN" sz="1200" kern="0" dirty="0">
              <a:solidFill>
                <a:srgbClr val="000000"/>
              </a:solidFill>
              <a:cs typeface="+mn-ea"/>
              <a:sym typeface="+mn-lt"/>
            </a:endParaRPr>
          </a:p>
        </p:txBody>
      </p:sp>
      <p:sp>
        <p:nvSpPr>
          <p:cNvPr id="346" name="314623880"/>
          <p:cNvSpPr/>
          <p:nvPr/>
        </p:nvSpPr>
        <p:spPr bwMode="gray">
          <a:xfrm>
            <a:off x="4859355" y="5692856"/>
            <a:ext cx="643887" cy="217437"/>
          </a:xfrm>
          <a:prstGeom prst="rect">
            <a:avLst/>
          </a:prstGeom>
        </p:spPr>
        <p:txBody>
          <a:bodyPr wrap="none" lIns="91363" tIns="45679" rIns="91363" bIns="45679">
            <a:noAutofit/>
          </a:bodyPr>
          <a:lstStyle/>
          <a:p>
            <a:pPr algn="ctr" defTabSz="1218723">
              <a:buClr>
                <a:srgbClr val="CC9900"/>
              </a:buClr>
              <a:defRPr/>
            </a:pPr>
            <a:r>
              <a:rPr lang="zh-CN" altLang="en-US" sz="1200" kern="0" dirty="0">
                <a:solidFill>
                  <a:srgbClr val="000000"/>
                </a:solidFill>
                <a:cs typeface="+mn-ea"/>
                <a:sym typeface="+mn-lt"/>
              </a:rPr>
              <a:t>婴儿手环</a:t>
            </a:r>
            <a:endParaRPr lang="en-US" altLang="zh-CN" sz="1200" kern="0" dirty="0">
              <a:solidFill>
                <a:srgbClr val="000000"/>
              </a:solidFill>
              <a:cs typeface="+mn-ea"/>
              <a:sym typeface="+mn-lt"/>
            </a:endParaRPr>
          </a:p>
        </p:txBody>
      </p:sp>
      <p:grpSp>
        <p:nvGrpSpPr>
          <p:cNvPr id="363" name="Group 3"/>
          <p:cNvGrpSpPr/>
          <p:nvPr/>
        </p:nvGrpSpPr>
        <p:grpSpPr bwMode="gray">
          <a:xfrm>
            <a:off x="6945976" y="5770585"/>
            <a:ext cx="261965" cy="61979"/>
            <a:chOff x="559282" y="6488261"/>
            <a:chExt cx="261965" cy="61979"/>
          </a:xfrm>
          <a:solidFill>
            <a:schemeClr val="bg1">
              <a:lumMod val="50000"/>
            </a:schemeClr>
          </a:solidFill>
        </p:grpSpPr>
        <p:sp>
          <p:nvSpPr>
            <p:cNvPr id="36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316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9" name="直接连接符 88"/>
          <p:cNvCxnSpPr/>
          <p:nvPr/>
        </p:nvCxnSpPr>
        <p:spPr>
          <a:xfrm>
            <a:off x="3175001" y="2020212"/>
            <a:ext cx="0" cy="93521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p>
            <a:r>
              <a:rPr lang="zh-CN" altLang="en-US" smtClean="0">
                <a:sym typeface="+mn-lt"/>
              </a:rPr>
              <a:t>网络管理设计：管理层次</a:t>
            </a:r>
            <a:endParaRPr lang="zh-CN" altLang="en-US" dirty="0">
              <a:sym typeface="+mn-lt"/>
            </a:endParaRPr>
          </a:p>
        </p:txBody>
      </p:sp>
      <p:sp>
        <p:nvSpPr>
          <p:cNvPr id="3" name="文本占位符 2"/>
          <p:cNvSpPr>
            <a:spLocks noGrp="1"/>
          </p:cNvSpPr>
          <p:nvPr>
            <p:ph type="body" sz="quarter" idx="10"/>
          </p:nvPr>
        </p:nvSpPr>
        <p:spPr>
          <a:xfrm>
            <a:off x="5745480" y="1152144"/>
            <a:ext cx="6003607" cy="4974336"/>
          </a:xfrm>
        </p:spPr>
        <p:txBody>
          <a:bodyPr/>
          <a:lstStyle/>
          <a:p>
            <a:r>
              <a:rPr lang="zh-CN" altLang="en-US" sz="1800" dirty="0" smtClean="0"/>
              <a:t>网络管理的设计和要点：</a:t>
            </a:r>
          </a:p>
          <a:p>
            <a:pPr lvl="1"/>
            <a:r>
              <a:rPr lang="zh-CN" altLang="en-US" sz="1600" dirty="0" smtClean="0"/>
              <a:t>管理层次设计，即是否需要设计多个或多级组织机构，管理不同的站点。华为云管理支持在租户范围内设计多级或多个组织，每个组织可以管理多个站点或（子）组织，以适应大型分支机构的管理要求。</a:t>
            </a:r>
          </a:p>
          <a:p>
            <a:pPr lvl="1"/>
            <a:r>
              <a:rPr lang="zh-CN" altLang="en-US" sz="1600" b="1" dirty="0" smtClean="0"/>
              <a:t>（可选）组织的规划与设计：</a:t>
            </a:r>
            <a:r>
              <a:rPr lang="zh-CN" altLang="en-US" sz="1600" dirty="0" smtClean="0"/>
              <a:t>针对大型多分支机构，需要分区管理时，可以通过划分组织来按需管理多个分支机构。</a:t>
            </a:r>
          </a:p>
          <a:p>
            <a:pPr lvl="1"/>
            <a:r>
              <a:rPr lang="zh-CN" altLang="en-US" sz="1600" b="1" dirty="0" smtClean="0"/>
              <a:t>站点规划：</a:t>
            </a:r>
            <a:r>
              <a:rPr lang="zh-CN" altLang="en-US" sz="1600" dirty="0" smtClean="0"/>
              <a:t>将网络管理业务相对独立的一个的网络作为站点进行管理，可以是一个独立的园区</a:t>
            </a:r>
            <a:r>
              <a:rPr lang="en-US" altLang="zh-CN" sz="1600" dirty="0" smtClean="0"/>
              <a:t>/</a:t>
            </a:r>
            <a:r>
              <a:rPr lang="zh-CN" altLang="en-US" sz="1600" dirty="0" smtClean="0"/>
              <a:t>分支网络，也可以是园区</a:t>
            </a:r>
            <a:r>
              <a:rPr lang="en-US" altLang="zh-CN" sz="1600" dirty="0" smtClean="0"/>
              <a:t>/</a:t>
            </a:r>
            <a:r>
              <a:rPr lang="zh-CN" altLang="en-US" sz="1600" dirty="0" smtClean="0"/>
              <a:t>分支网络中一个相对独立的网络，如某栋楼的网络，甚至某层楼的网络。站点可以根据管理的实际需求进行灵活规划。</a:t>
            </a:r>
          </a:p>
          <a:p>
            <a:pPr lvl="1"/>
            <a:r>
              <a:rPr lang="zh-CN" altLang="en-US" sz="1600" dirty="0" smtClean="0"/>
              <a:t>网络管理员的权限设计，即分权分域设计。</a:t>
            </a:r>
          </a:p>
          <a:p>
            <a:endParaRPr lang="zh-CN" altLang="en-US" sz="1800" dirty="0"/>
          </a:p>
        </p:txBody>
      </p:sp>
      <p:cxnSp>
        <p:nvCxnSpPr>
          <p:cNvPr id="78" name="直接连接符 77"/>
          <p:cNvCxnSpPr/>
          <p:nvPr/>
        </p:nvCxnSpPr>
        <p:spPr>
          <a:xfrm flipH="1">
            <a:off x="3589117" y="4404062"/>
            <a:ext cx="0" cy="2450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9" name="圆角矩形 78"/>
          <p:cNvSpPr/>
          <p:nvPr/>
        </p:nvSpPr>
        <p:spPr>
          <a:xfrm>
            <a:off x="731838" y="2371849"/>
            <a:ext cx="4945277"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smtClean="0">
                <a:solidFill>
                  <a:schemeClr val="bg1"/>
                </a:solidFill>
                <a:cs typeface="+mn-ea"/>
                <a:sym typeface="+mn-lt"/>
              </a:rPr>
              <a:t>MSP1</a:t>
            </a:r>
            <a:endParaRPr lang="zh-CN" altLang="en-US" sz="1400" b="1" dirty="0">
              <a:solidFill>
                <a:schemeClr val="bg1"/>
              </a:solidFill>
              <a:cs typeface="+mn-ea"/>
              <a:sym typeface="+mn-lt"/>
            </a:endParaRPr>
          </a:p>
        </p:txBody>
      </p:sp>
      <p:sp>
        <p:nvSpPr>
          <p:cNvPr id="81" name="圆角矩形 80"/>
          <p:cNvSpPr/>
          <p:nvPr/>
        </p:nvSpPr>
        <p:spPr>
          <a:xfrm>
            <a:off x="731838" y="4950252"/>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cxnSp>
        <p:nvCxnSpPr>
          <p:cNvPr id="82" name="直接箭头连接符 81"/>
          <p:cNvCxnSpPr>
            <a:endCxn id="81" idx="0"/>
          </p:cNvCxnSpPr>
          <p:nvPr/>
        </p:nvCxnSpPr>
        <p:spPr>
          <a:xfrm>
            <a:off x="1262237" y="3633561"/>
            <a:ext cx="0" cy="1316691"/>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4" name="圆角矩形 83"/>
          <p:cNvSpPr/>
          <p:nvPr/>
        </p:nvSpPr>
        <p:spPr>
          <a:xfrm>
            <a:off x="3048001" y="4090785"/>
            <a:ext cx="1060798"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smtClean="0">
                <a:solidFill>
                  <a:schemeClr val="bg1"/>
                </a:solidFill>
                <a:cs typeface="+mn-ea"/>
                <a:sym typeface="+mn-lt"/>
              </a:rPr>
              <a:t>组织</a:t>
            </a:r>
            <a:r>
              <a:rPr lang="en-US" altLang="zh-CN" sz="1400" b="1" smtClean="0">
                <a:solidFill>
                  <a:schemeClr val="bg1"/>
                </a:solidFill>
                <a:cs typeface="+mn-ea"/>
                <a:sym typeface="+mn-lt"/>
              </a:rPr>
              <a:t>1</a:t>
            </a:r>
            <a:endParaRPr lang="en-US" altLang="zh-CN" sz="1400" b="1">
              <a:solidFill>
                <a:schemeClr val="bg1"/>
              </a:solidFill>
              <a:cs typeface="+mn-ea"/>
              <a:sym typeface="+mn-lt"/>
            </a:endParaRPr>
          </a:p>
        </p:txBody>
      </p:sp>
      <p:sp>
        <p:nvSpPr>
          <p:cNvPr id="85" name="圆角矩形 84"/>
          <p:cNvSpPr/>
          <p:nvPr/>
        </p:nvSpPr>
        <p:spPr>
          <a:xfrm>
            <a:off x="4616317" y="4090785"/>
            <a:ext cx="1060798"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smtClean="0">
                <a:solidFill>
                  <a:schemeClr val="bg1"/>
                </a:solidFill>
                <a:cs typeface="+mn-ea"/>
                <a:sym typeface="+mn-lt"/>
              </a:rPr>
              <a:t>组织</a:t>
            </a:r>
            <a:r>
              <a:rPr lang="en-US" altLang="zh-CN" sz="1400" b="1" smtClean="0">
                <a:solidFill>
                  <a:schemeClr val="bg1"/>
                </a:solidFill>
                <a:cs typeface="+mn-ea"/>
                <a:sym typeface="+mn-lt"/>
              </a:rPr>
              <a:t>n</a:t>
            </a:r>
            <a:endParaRPr lang="en-US" altLang="zh-CN" sz="1400" b="1">
              <a:solidFill>
                <a:schemeClr val="bg1"/>
              </a:solidFill>
              <a:cs typeface="+mn-ea"/>
              <a:sym typeface="+mn-lt"/>
            </a:endParaRPr>
          </a:p>
        </p:txBody>
      </p:sp>
      <p:sp>
        <p:nvSpPr>
          <p:cNvPr id="86" name="圆角矩形 85"/>
          <p:cNvSpPr/>
          <p:nvPr/>
        </p:nvSpPr>
        <p:spPr>
          <a:xfrm>
            <a:off x="2057835" y="4950252"/>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sp>
        <p:nvSpPr>
          <p:cNvPr id="87" name="圆角矩形 86"/>
          <p:cNvSpPr/>
          <p:nvPr/>
        </p:nvSpPr>
        <p:spPr>
          <a:xfrm>
            <a:off x="3290319" y="4950252"/>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sp>
        <p:nvSpPr>
          <p:cNvPr id="88" name="圆角矩形 87"/>
          <p:cNvSpPr/>
          <p:nvPr/>
        </p:nvSpPr>
        <p:spPr>
          <a:xfrm>
            <a:off x="4616317" y="4950252"/>
            <a:ext cx="1060798" cy="338554"/>
          </a:xfrm>
          <a:prstGeom prst="roundRect">
            <a:avLst>
              <a:gd name="adj" fmla="val 50000"/>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smtClean="0">
                <a:solidFill>
                  <a:schemeClr val="tx1">
                    <a:lumMod val="75000"/>
                    <a:lumOff val="25000"/>
                  </a:schemeClr>
                </a:solidFill>
                <a:cs typeface="+mn-ea"/>
                <a:sym typeface="+mn-lt"/>
              </a:rPr>
              <a:t>站点</a:t>
            </a:r>
            <a:endParaRPr lang="en-US" altLang="zh-CN" sz="1400">
              <a:solidFill>
                <a:schemeClr val="tx1">
                  <a:lumMod val="75000"/>
                  <a:lumOff val="25000"/>
                </a:schemeClr>
              </a:solidFill>
              <a:cs typeface="+mn-ea"/>
              <a:sym typeface="+mn-lt"/>
            </a:endParaRPr>
          </a:p>
        </p:txBody>
      </p:sp>
      <p:cxnSp>
        <p:nvCxnSpPr>
          <p:cNvPr id="90" name="直接连接符 89"/>
          <p:cNvCxnSpPr/>
          <p:nvPr/>
        </p:nvCxnSpPr>
        <p:spPr>
          <a:xfrm>
            <a:off x="1262237" y="2955423"/>
            <a:ext cx="3088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p:nvPr/>
        </p:nvCxnSpPr>
        <p:spPr>
          <a:xfrm>
            <a:off x="1262237" y="2955423"/>
            <a:ext cx="0" cy="1135362"/>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a:off x="4351117" y="2955423"/>
            <a:ext cx="0" cy="614448"/>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a:off x="3589117" y="3569871"/>
            <a:ext cx="0" cy="520914"/>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5153757" y="3569871"/>
            <a:ext cx="0" cy="520914"/>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2557637" y="4649082"/>
            <a:ext cx="12750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2557637" y="4649082"/>
            <a:ext cx="0" cy="301170"/>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a:off x="3832717" y="4649082"/>
            <a:ext cx="0" cy="301170"/>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a:off x="5153757" y="4429339"/>
            <a:ext cx="0" cy="520914"/>
          </a:xfrm>
          <a:prstGeom prst="straightConnector1">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03" name="圆角矩形 102"/>
          <p:cNvSpPr/>
          <p:nvPr/>
        </p:nvSpPr>
        <p:spPr>
          <a:xfrm>
            <a:off x="731838" y="1681658"/>
            <a:ext cx="4945277"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bg1"/>
                </a:solidFill>
                <a:cs typeface="+mn-ea"/>
                <a:sym typeface="+mn-lt"/>
              </a:rPr>
              <a:t>平台运营商</a:t>
            </a:r>
          </a:p>
        </p:txBody>
      </p:sp>
      <p:sp>
        <p:nvSpPr>
          <p:cNvPr id="105" name="圆角矩形 104"/>
          <p:cNvSpPr/>
          <p:nvPr/>
        </p:nvSpPr>
        <p:spPr>
          <a:xfrm>
            <a:off x="3048001" y="3295007"/>
            <a:ext cx="2629114"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smtClean="0">
                <a:solidFill>
                  <a:schemeClr val="bg1"/>
                </a:solidFill>
                <a:cs typeface="+mn-ea"/>
                <a:sym typeface="+mn-lt"/>
              </a:rPr>
              <a:t>租户</a:t>
            </a:r>
            <a:r>
              <a:rPr lang="en-US" altLang="zh-CN" sz="1400" b="1" smtClean="0">
                <a:solidFill>
                  <a:schemeClr val="bg1"/>
                </a:solidFill>
                <a:cs typeface="+mn-ea"/>
                <a:sym typeface="+mn-lt"/>
              </a:rPr>
              <a:t>2</a:t>
            </a:r>
            <a:endParaRPr lang="en-US" altLang="zh-CN" sz="1400" b="1">
              <a:solidFill>
                <a:schemeClr val="bg1"/>
              </a:solidFill>
              <a:cs typeface="+mn-ea"/>
              <a:sym typeface="+mn-lt"/>
            </a:endParaRPr>
          </a:p>
        </p:txBody>
      </p:sp>
      <p:sp>
        <p:nvSpPr>
          <p:cNvPr id="108" name="圆角矩形 107"/>
          <p:cNvSpPr/>
          <p:nvPr/>
        </p:nvSpPr>
        <p:spPr>
          <a:xfrm>
            <a:off x="731838" y="3295007"/>
            <a:ext cx="1060798" cy="338554"/>
          </a:xfrm>
          <a:prstGeom prst="roundRect">
            <a:avLst>
              <a:gd name="adj" fmla="val 50000"/>
            </a:avLst>
          </a:prstGeom>
          <a:solidFill>
            <a:schemeClr val="bg1">
              <a:lumMod val="6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bg1"/>
                </a:solidFill>
                <a:cs typeface="+mn-ea"/>
                <a:sym typeface="+mn-lt"/>
              </a:rPr>
              <a:t>租户</a:t>
            </a:r>
            <a:r>
              <a:rPr lang="en-US" altLang="zh-CN" sz="1400" b="1">
                <a:solidFill>
                  <a:schemeClr val="bg1"/>
                </a:solidFill>
                <a:cs typeface="+mn-ea"/>
                <a:sym typeface="+mn-lt"/>
              </a:rPr>
              <a:t>1</a:t>
            </a:r>
          </a:p>
        </p:txBody>
      </p:sp>
    </p:spTree>
    <p:extLst>
      <p:ext uri="{BB962C8B-B14F-4D97-AF65-F5344CB8AC3E}">
        <p14:creationId xmlns:p14="http://schemas.microsoft.com/office/powerpoint/2010/main" val="3729772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lt"/>
                <a:ea typeface="+mn-ea"/>
                <a:cs typeface="+mn-ea"/>
                <a:sym typeface="+mn-lt"/>
              </a:rPr>
              <a:t>网络管理设计</a:t>
            </a:r>
            <a:r>
              <a:rPr lang="zh-CN" altLang="en-US" dirty="0" smtClean="0">
                <a:latin typeface="+mn-lt"/>
                <a:ea typeface="+mn-ea"/>
                <a:cs typeface="+mn-ea"/>
                <a:sym typeface="+mn-lt"/>
              </a:rPr>
              <a:t>：分权分域</a:t>
            </a:r>
            <a:endParaRPr lang="zh-CN" altLang="en-US" dirty="0">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877157885"/>
              </p:ext>
            </p:extLst>
          </p:nvPr>
        </p:nvGraphicFramePr>
        <p:xfrm>
          <a:off x="736599" y="2054723"/>
          <a:ext cx="10728326" cy="2834640"/>
        </p:xfrm>
        <a:graphic>
          <a:graphicData uri="http://schemas.openxmlformats.org/drawingml/2006/table">
            <a:tbl>
              <a:tblPr firstRow="1" bandRow="1"/>
              <a:tblGrid>
                <a:gridCol w="2133282"/>
                <a:gridCol w="4297522"/>
                <a:gridCol w="4297522"/>
              </a:tblGrid>
              <a:tr h="242245">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zh-CN" altLang="en-US" sz="1400" b="1" dirty="0" smtClean="0">
                          <a:solidFill>
                            <a:schemeClr val="tx1"/>
                          </a:solidFill>
                          <a:latin typeface="+mn-lt"/>
                          <a:ea typeface="+mn-ea"/>
                          <a:cs typeface="+mn-ea"/>
                          <a:sym typeface="+mn-lt"/>
                        </a:rPr>
                        <a:t>授权范围</a:t>
                      </a:r>
                      <a:endParaRPr lang="en-US" sz="1400" b="1"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zh-CN" altLang="en-US" sz="1400" b="1" dirty="0" smtClean="0">
                          <a:solidFill>
                            <a:schemeClr val="tx1"/>
                          </a:solidFill>
                          <a:latin typeface="+mn-lt"/>
                          <a:ea typeface="+mn-ea"/>
                          <a:cs typeface="+mn-ea"/>
                          <a:sym typeface="+mn-lt"/>
                        </a:rPr>
                        <a:t>租户层级</a:t>
                      </a:r>
                      <a:endParaRPr lang="en-US" sz="1400" b="1"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034" rtl="0" eaLnBrk="1" latinLnBrk="0" hangingPunct="1">
                        <a:defRPr sz="1799" b="1" kern="1200">
                          <a:solidFill>
                            <a:schemeClr val="lt1"/>
                          </a:solidFill>
                          <a:latin typeface="FrutigerNext LT Medium"/>
                          <a:ea typeface="华文细黑"/>
                          <a:cs typeface="宋体"/>
                        </a:defRPr>
                      </a:lvl1pPr>
                      <a:lvl2pPr marL="457017" algn="l" defTabSz="914034" rtl="0" eaLnBrk="1" latinLnBrk="0" hangingPunct="1">
                        <a:defRPr sz="1799" b="1" kern="1200">
                          <a:solidFill>
                            <a:schemeClr val="lt1"/>
                          </a:solidFill>
                          <a:latin typeface="FrutigerNext LT Medium"/>
                          <a:ea typeface="华文细黑"/>
                          <a:cs typeface="宋体"/>
                        </a:defRPr>
                      </a:lvl2pPr>
                      <a:lvl3pPr marL="914034" algn="l" defTabSz="914034" rtl="0" eaLnBrk="1" latinLnBrk="0" hangingPunct="1">
                        <a:defRPr sz="1799" b="1" kern="1200">
                          <a:solidFill>
                            <a:schemeClr val="lt1"/>
                          </a:solidFill>
                          <a:latin typeface="FrutigerNext LT Medium"/>
                          <a:ea typeface="华文细黑"/>
                          <a:cs typeface="宋体"/>
                        </a:defRPr>
                      </a:lvl3pPr>
                      <a:lvl4pPr marL="1371051" algn="l" defTabSz="914034" rtl="0" eaLnBrk="1" latinLnBrk="0" hangingPunct="1">
                        <a:defRPr sz="1799" b="1" kern="1200">
                          <a:solidFill>
                            <a:schemeClr val="lt1"/>
                          </a:solidFill>
                          <a:latin typeface="FrutigerNext LT Medium"/>
                          <a:ea typeface="华文细黑"/>
                          <a:cs typeface="宋体"/>
                        </a:defRPr>
                      </a:lvl4pPr>
                      <a:lvl5pPr marL="1828068" algn="l" defTabSz="914034" rtl="0" eaLnBrk="1" latinLnBrk="0" hangingPunct="1">
                        <a:defRPr sz="1799" b="1" kern="1200">
                          <a:solidFill>
                            <a:schemeClr val="lt1"/>
                          </a:solidFill>
                          <a:latin typeface="FrutigerNext LT Medium"/>
                          <a:ea typeface="华文细黑"/>
                          <a:cs typeface="宋体"/>
                        </a:defRPr>
                      </a:lvl5pPr>
                      <a:lvl6pPr marL="2285086" algn="l" defTabSz="914034" rtl="0" eaLnBrk="1" latinLnBrk="0" hangingPunct="1">
                        <a:defRPr sz="1799" b="1" kern="1200">
                          <a:solidFill>
                            <a:schemeClr val="lt1"/>
                          </a:solidFill>
                          <a:latin typeface="FrutigerNext LT Medium"/>
                          <a:ea typeface="华文细黑"/>
                          <a:cs typeface="宋体"/>
                        </a:defRPr>
                      </a:lvl6pPr>
                      <a:lvl7pPr marL="2742103" algn="l" defTabSz="914034" rtl="0" eaLnBrk="1" latinLnBrk="0" hangingPunct="1">
                        <a:defRPr sz="1799" b="1" kern="1200">
                          <a:solidFill>
                            <a:schemeClr val="lt1"/>
                          </a:solidFill>
                          <a:latin typeface="FrutigerNext LT Medium"/>
                          <a:ea typeface="华文细黑"/>
                          <a:cs typeface="宋体"/>
                        </a:defRPr>
                      </a:lvl7pPr>
                      <a:lvl8pPr marL="3199120" algn="l" defTabSz="914034" rtl="0" eaLnBrk="1" latinLnBrk="0" hangingPunct="1">
                        <a:defRPr sz="1799" b="1" kern="1200">
                          <a:solidFill>
                            <a:schemeClr val="lt1"/>
                          </a:solidFill>
                          <a:latin typeface="FrutigerNext LT Medium"/>
                          <a:ea typeface="华文细黑"/>
                          <a:cs typeface="宋体"/>
                        </a:defRPr>
                      </a:lvl8pPr>
                      <a:lvl9pPr marL="3656137" algn="l" defTabSz="914034" rtl="0" eaLnBrk="1" latinLnBrk="0" hangingPunct="1">
                        <a:defRPr sz="1799" b="1" kern="1200">
                          <a:solidFill>
                            <a:schemeClr val="lt1"/>
                          </a:solidFill>
                          <a:latin typeface="FrutigerNext LT Medium"/>
                          <a:ea typeface="华文细黑"/>
                          <a:cs typeface="宋体"/>
                        </a:defRPr>
                      </a:lvl9pPr>
                    </a:lstStyle>
                    <a:p>
                      <a:pPr algn="ctr"/>
                      <a:r>
                        <a:rPr lang="en-US" sz="1400" b="1" dirty="0" smtClean="0">
                          <a:solidFill>
                            <a:schemeClr val="tx1"/>
                          </a:solidFill>
                          <a:latin typeface="+mn-lt"/>
                          <a:ea typeface="+mn-ea"/>
                          <a:cs typeface="+mn-ea"/>
                          <a:sym typeface="+mn-lt"/>
                        </a:rPr>
                        <a:t>MSP</a:t>
                      </a:r>
                      <a:r>
                        <a:rPr lang="zh-CN" altLang="en-US" sz="1400" b="1" dirty="0" smtClean="0">
                          <a:solidFill>
                            <a:schemeClr val="tx1"/>
                          </a:solidFill>
                          <a:latin typeface="+mn-lt"/>
                          <a:ea typeface="+mn-ea"/>
                          <a:cs typeface="+mn-ea"/>
                          <a:sym typeface="+mn-lt"/>
                        </a:rPr>
                        <a:t>层级</a:t>
                      </a:r>
                      <a:endParaRPr lang="en-US" sz="1400" b="1"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1090102">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400" b="0" dirty="0" smtClean="0">
                          <a:solidFill>
                            <a:schemeClr val="tx1"/>
                          </a:solidFill>
                          <a:latin typeface="+mn-lt"/>
                          <a:ea typeface="+mn-ea"/>
                          <a:cs typeface="+mn-ea"/>
                          <a:sym typeface="+mn-lt"/>
                        </a:rPr>
                        <a:t>分权：</a:t>
                      </a:r>
                      <a:endParaRPr lang="en-US" altLang="zh-CN" sz="1400" b="0" dirty="0" smtClean="0">
                        <a:solidFill>
                          <a:schemeClr val="tx1"/>
                        </a:solidFill>
                        <a:latin typeface="+mn-lt"/>
                        <a:ea typeface="+mn-ea"/>
                        <a:cs typeface="+mn-ea"/>
                        <a:sym typeface="+mn-lt"/>
                      </a:endParaRPr>
                    </a:p>
                    <a:p>
                      <a:r>
                        <a:rPr lang="zh-CN" altLang="en-US" sz="1400" b="0" dirty="0" smtClean="0">
                          <a:solidFill>
                            <a:schemeClr val="tx1"/>
                          </a:solidFill>
                          <a:latin typeface="+mn-lt"/>
                          <a:ea typeface="+mn-ea"/>
                          <a:cs typeface="+mn-ea"/>
                          <a:sym typeface="+mn-lt"/>
                        </a:rPr>
                        <a:t>控制能够操作的功能</a:t>
                      </a:r>
                      <a:endParaRPr lang="en-US" sz="1400" b="0"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marL="182563" indent="-182563" algn="l" defTabSz="914034" rtl="0" eaLnBrk="1" latinLnBrk="0" hangingPunct="1">
                        <a:lnSpc>
                          <a:spcPct val="100000"/>
                        </a:lnSpc>
                        <a:spcBef>
                          <a:spcPts val="0"/>
                        </a:spcBef>
                        <a:spcAft>
                          <a:spcPts val="0"/>
                        </a:spcAft>
                        <a:buFont typeface="Arial" panose="020B0604020202020204" pitchFamily="34" charset="0"/>
                        <a:buChar char="•"/>
                      </a:pPr>
                      <a:r>
                        <a:rPr lang="zh-CN" altLang="en-US" sz="1400" b="0" kern="1200" dirty="0" smtClean="0">
                          <a:solidFill>
                            <a:schemeClr val="tx1"/>
                          </a:solidFill>
                          <a:effectLst/>
                          <a:latin typeface="+mn-lt"/>
                          <a:ea typeface="+mn-ea"/>
                          <a:cs typeface="+mn-ea"/>
                          <a:sym typeface="+mn-lt"/>
                        </a:rPr>
                        <a:t>超级管理员可以对租户管理员授予不同的权限</a:t>
                      </a:r>
                      <a:endParaRPr lang="en-US" altLang="zh-CN" sz="1400" b="0" kern="1200" dirty="0" smtClean="0">
                        <a:solidFill>
                          <a:schemeClr val="tx1"/>
                        </a:solidFill>
                        <a:effectLst/>
                        <a:latin typeface="+mn-lt"/>
                        <a:ea typeface="+mn-ea"/>
                        <a:cs typeface="+mn-ea"/>
                        <a:sym typeface="+mn-lt"/>
                      </a:endParaRPr>
                    </a:p>
                    <a:p>
                      <a:pPr marL="182563" marR="0" lvl="0" indent="-182563" algn="l" defTabSz="91403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b="0" kern="1200" dirty="0" smtClean="0">
                          <a:solidFill>
                            <a:schemeClr val="tx1"/>
                          </a:solidFill>
                          <a:effectLst/>
                          <a:latin typeface="+mn-lt"/>
                          <a:ea typeface="+mn-ea"/>
                          <a:cs typeface="+mn-ea"/>
                          <a:sym typeface="+mn-lt"/>
                        </a:rPr>
                        <a:t>为方便权限分配和管理，系统预置了三种角色，拥有不同的权限，角色分别：</a:t>
                      </a:r>
                      <a:r>
                        <a:rPr lang="en-US" altLang="zh-CN" sz="1400" b="0" kern="1200" dirty="0" smtClean="0">
                          <a:solidFill>
                            <a:schemeClr val="tx1"/>
                          </a:solidFill>
                          <a:effectLst/>
                          <a:latin typeface="+mn-lt"/>
                          <a:ea typeface="+mn-ea"/>
                          <a:cs typeface="+mn-ea"/>
                          <a:sym typeface="+mn-lt"/>
                        </a:rPr>
                        <a:t>Monitor</a:t>
                      </a:r>
                      <a:r>
                        <a:rPr lang="zh-CN" altLang="en-US" sz="1400" b="0" kern="1200" dirty="0" smtClean="0">
                          <a:solidFill>
                            <a:schemeClr val="tx1"/>
                          </a:solidFill>
                          <a:effectLst/>
                          <a:latin typeface="+mn-lt"/>
                          <a:ea typeface="+mn-ea"/>
                          <a:cs typeface="+mn-ea"/>
                          <a:sym typeface="+mn-lt"/>
                        </a:rPr>
                        <a:t>、</a:t>
                      </a:r>
                      <a:r>
                        <a:rPr lang="en-US" altLang="zh-CN" sz="1400" b="0" kern="1200" dirty="0" smtClean="0">
                          <a:solidFill>
                            <a:schemeClr val="tx1"/>
                          </a:solidFill>
                          <a:effectLst/>
                          <a:latin typeface="+mn-lt"/>
                          <a:ea typeface="+mn-ea"/>
                          <a:cs typeface="+mn-ea"/>
                          <a:sym typeface="+mn-lt"/>
                        </a:rPr>
                        <a:t>Open API Operator</a:t>
                      </a:r>
                      <a:r>
                        <a:rPr lang="zh-CN" altLang="en-US" sz="1400" b="0" kern="1200" dirty="0" smtClean="0">
                          <a:solidFill>
                            <a:schemeClr val="tx1"/>
                          </a:solidFill>
                          <a:effectLst/>
                          <a:latin typeface="+mn-lt"/>
                          <a:ea typeface="+mn-ea"/>
                          <a:cs typeface="+mn-ea"/>
                          <a:sym typeface="+mn-lt"/>
                        </a:rPr>
                        <a:t>、</a:t>
                      </a:r>
                      <a:r>
                        <a:rPr lang="en-US" altLang="zh-CN" sz="1400" b="0" kern="1200" dirty="0" smtClean="0">
                          <a:solidFill>
                            <a:schemeClr val="tx1"/>
                          </a:solidFill>
                          <a:effectLst/>
                          <a:latin typeface="+mn-lt"/>
                          <a:ea typeface="+mn-ea"/>
                          <a:cs typeface="+mn-ea"/>
                          <a:sym typeface="+mn-lt"/>
                        </a:rPr>
                        <a:t>Tenant Administrator</a:t>
                      </a:r>
                      <a:r>
                        <a:rPr lang="zh-CN" altLang="en-US" sz="1400" b="0" kern="1200" dirty="0" smtClean="0">
                          <a:solidFill>
                            <a:schemeClr val="tx1"/>
                          </a:solidFill>
                          <a:effectLst/>
                          <a:latin typeface="+mn-lt"/>
                          <a:ea typeface="+mn-ea"/>
                          <a:cs typeface="+mn-ea"/>
                          <a:sym typeface="+mn-lt"/>
                        </a:rPr>
                        <a:t>。</a:t>
                      </a:r>
                      <a:endParaRPr lang="en-US" altLang="zh-CN" sz="1400" b="0" kern="1200" dirty="0" smtClean="0">
                        <a:solidFill>
                          <a:schemeClr val="tx1"/>
                        </a:solidFill>
                        <a:effectLst/>
                        <a:latin typeface="+mn-lt"/>
                        <a:ea typeface="+mn-ea"/>
                        <a:cs typeface="+mn-ea"/>
                        <a:sym typeface="+mn-lt"/>
                      </a:endParaRPr>
                    </a:p>
                    <a:p>
                      <a:pPr marL="182563" indent="-182563" algn="l" defTabSz="914034" rtl="0" eaLnBrk="1" latinLnBrk="0" hangingPunct="1">
                        <a:lnSpc>
                          <a:spcPct val="100000"/>
                        </a:lnSpc>
                        <a:spcBef>
                          <a:spcPts val="0"/>
                        </a:spcBef>
                        <a:spcAft>
                          <a:spcPts val="0"/>
                        </a:spcAft>
                        <a:buFont typeface="Arial" panose="020B0604020202020204" pitchFamily="34" charset="0"/>
                        <a:buChar char="•"/>
                      </a:pPr>
                      <a:r>
                        <a:rPr lang="zh-CN" altLang="en-US" sz="1400" b="0" kern="1200" dirty="0" smtClean="0">
                          <a:solidFill>
                            <a:schemeClr val="tx1"/>
                          </a:solidFill>
                          <a:effectLst/>
                          <a:latin typeface="+mn-lt"/>
                          <a:ea typeface="+mn-ea"/>
                          <a:cs typeface="+mn-ea"/>
                          <a:sym typeface="+mn-lt"/>
                        </a:rPr>
                        <a:t>租户管理员向</a:t>
                      </a:r>
                      <a:r>
                        <a:rPr lang="en-US" altLang="zh-CN"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授权时，也是基于如上的三类角色或权限进行授权。</a:t>
                      </a:r>
                      <a:endParaRPr lang="en-US"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marL="182563" marR="0" lvl="0" indent="-182563" algn="l" defTabSz="91403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400" b="0" kern="1200" dirty="0" smtClean="0">
                          <a:solidFill>
                            <a:schemeClr val="tx1"/>
                          </a:solidFill>
                          <a:effectLst/>
                          <a:latin typeface="+mn-lt"/>
                          <a:ea typeface="+mn-ea"/>
                          <a:cs typeface="+mn-ea"/>
                          <a:sym typeface="+mn-lt"/>
                        </a:rPr>
                        <a:t>超级管理员可以对</a:t>
                      </a:r>
                      <a:r>
                        <a:rPr lang="en-US" altLang="zh-CN"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管理员授予不同的权限</a:t>
                      </a:r>
                      <a:endParaRPr lang="en-US" altLang="zh-CN" sz="1400" b="0" kern="1200" dirty="0" smtClean="0">
                        <a:solidFill>
                          <a:schemeClr val="tx1"/>
                        </a:solidFill>
                        <a:effectLst/>
                        <a:latin typeface="+mn-lt"/>
                        <a:ea typeface="+mn-ea"/>
                        <a:cs typeface="+mn-ea"/>
                        <a:sym typeface="+mn-lt"/>
                      </a:endParaRPr>
                    </a:p>
                    <a:p>
                      <a:pPr marL="182563" indent="-182563" algn="l" defTabSz="914034" rtl="0" eaLnBrk="1" latinLnBrk="0" hangingPunct="1">
                        <a:lnSpc>
                          <a:spcPct val="100000"/>
                        </a:lnSpc>
                        <a:spcBef>
                          <a:spcPts val="0"/>
                        </a:spcBef>
                        <a:spcAft>
                          <a:spcPts val="0"/>
                        </a:spcAft>
                        <a:buFont typeface="Arial" panose="020B0604020202020204" pitchFamily="34" charset="0"/>
                        <a:buChar char="•"/>
                      </a:pPr>
                      <a:r>
                        <a:rPr lang="zh-CN" altLang="en-US" sz="1400" b="0" kern="1200" dirty="0" smtClean="0">
                          <a:solidFill>
                            <a:schemeClr val="tx1"/>
                          </a:solidFill>
                          <a:effectLst/>
                          <a:latin typeface="+mn-lt"/>
                          <a:ea typeface="+mn-ea"/>
                          <a:cs typeface="+mn-ea"/>
                          <a:sym typeface="+mn-lt"/>
                        </a:rPr>
                        <a:t>同样，权限或角色分为三类：</a:t>
                      </a:r>
                      <a:r>
                        <a:rPr lang="en-US" altLang="zh-CN" sz="1400" b="0" kern="1200" dirty="0" smtClean="0">
                          <a:solidFill>
                            <a:schemeClr val="tx1"/>
                          </a:solidFill>
                          <a:effectLst/>
                          <a:latin typeface="+mn-lt"/>
                          <a:ea typeface="+mn-ea"/>
                          <a:cs typeface="+mn-ea"/>
                          <a:sym typeface="+mn-lt"/>
                        </a:rPr>
                        <a:t>Open API Operator</a:t>
                      </a:r>
                      <a:r>
                        <a:rPr lang="zh-CN" altLang="en-US" sz="1400" b="0" kern="1200" dirty="0" smtClean="0">
                          <a:solidFill>
                            <a:schemeClr val="tx1"/>
                          </a:solidFill>
                          <a:effectLst/>
                          <a:latin typeface="+mn-lt"/>
                          <a:ea typeface="+mn-ea"/>
                          <a:cs typeface="+mn-ea"/>
                          <a:sym typeface="+mn-lt"/>
                        </a:rPr>
                        <a:t>、</a:t>
                      </a:r>
                      <a:r>
                        <a:rPr lang="en-US" altLang="zh-CN" sz="1400" b="0" kern="1200" dirty="0" smtClean="0">
                          <a:solidFill>
                            <a:schemeClr val="tx1"/>
                          </a:solidFill>
                          <a:effectLst/>
                          <a:latin typeface="+mn-lt"/>
                          <a:ea typeface="+mn-ea"/>
                          <a:cs typeface="+mn-ea"/>
                          <a:sym typeface="+mn-lt"/>
                        </a:rPr>
                        <a:t>MSP Administrator</a:t>
                      </a:r>
                      <a:r>
                        <a:rPr lang="zh-CN" altLang="en-US" sz="1400" b="0" kern="1200" dirty="0" smtClean="0">
                          <a:solidFill>
                            <a:schemeClr val="tx1"/>
                          </a:solidFill>
                          <a:effectLst/>
                          <a:latin typeface="+mn-lt"/>
                          <a:ea typeface="+mn-ea"/>
                          <a:cs typeface="+mn-ea"/>
                          <a:sym typeface="+mn-lt"/>
                        </a:rPr>
                        <a:t>。</a:t>
                      </a:r>
                      <a:endParaRPr lang="en-US" altLang="zh-CN" sz="1400" b="0" kern="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50959">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r>
                        <a:rPr lang="zh-CN" altLang="en-US" sz="1400" b="0" dirty="0" smtClean="0">
                          <a:solidFill>
                            <a:schemeClr val="tx1"/>
                          </a:solidFill>
                          <a:latin typeface="+mn-lt"/>
                          <a:ea typeface="+mn-ea"/>
                          <a:cs typeface="+mn-ea"/>
                          <a:sym typeface="+mn-lt"/>
                        </a:rPr>
                        <a:t>分域：</a:t>
                      </a:r>
                      <a:endParaRPr lang="en-US" altLang="zh-CN" sz="1400" b="0" dirty="0" smtClean="0">
                        <a:solidFill>
                          <a:schemeClr val="tx1"/>
                        </a:solidFill>
                        <a:latin typeface="+mn-lt"/>
                        <a:ea typeface="+mn-ea"/>
                        <a:cs typeface="+mn-ea"/>
                        <a:sym typeface="+mn-lt"/>
                      </a:endParaRPr>
                    </a:p>
                    <a:p>
                      <a:r>
                        <a:rPr lang="zh-CN" altLang="en-US" sz="1400" b="0" dirty="0" smtClean="0">
                          <a:solidFill>
                            <a:schemeClr val="tx1"/>
                          </a:solidFill>
                          <a:latin typeface="+mn-lt"/>
                          <a:ea typeface="+mn-ea"/>
                          <a:cs typeface="+mn-ea"/>
                          <a:sym typeface="+mn-lt"/>
                        </a:rPr>
                        <a:t>控制管理员能够管理的设备范围</a:t>
                      </a:r>
                      <a:endParaRPr lang="en-US" sz="1400" b="0" dirty="0">
                        <a:solidFill>
                          <a:schemeClr val="tx1"/>
                        </a:solidFill>
                        <a:latin typeface="+mn-lt"/>
                        <a:ea typeface="+mn-ea"/>
                        <a:cs typeface="+mn-ea"/>
                        <a:sym typeface="+mn-l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marL="182563" indent="-182563" algn="l" defTabSz="914034" rtl="0" eaLnBrk="1" latinLnBrk="0" hangingPunct="1">
                        <a:lnSpc>
                          <a:spcPct val="100000"/>
                        </a:lnSpc>
                        <a:spcBef>
                          <a:spcPts val="0"/>
                        </a:spcBef>
                        <a:spcAft>
                          <a:spcPts val="0"/>
                        </a:spcAft>
                        <a:buFont typeface="Arial" panose="020B0604020202020204" pitchFamily="34" charset="0"/>
                        <a:buChar char="•"/>
                      </a:pPr>
                      <a:r>
                        <a:rPr lang="zh-CN" altLang="en-US" sz="1400" b="0" kern="1200" dirty="0" smtClean="0">
                          <a:solidFill>
                            <a:schemeClr val="tx1"/>
                          </a:solidFill>
                          <a:effectLst/>
                          <a:latin typeface="+mn-lt"/>
                          <a:ea typeface="+mn-ea"/>
                          <a:cs typeface="+mn-ea"/>
                          <a:sym typeface="+mn-lt"/>
                        </a:rPr>
                        <a:t>分域最小粒度是站点，租户管理员基于基于站点粒度进行授权，不同的租户管理员可以管理不同的站点设备。</a:t>
                      </a:r>
                      <a:endParaRPr lang="en-US" altLang="zh-CN" sz="1400" b="0" kern="1200" dirty="0" smtClean="0">
                        <a:solidFill>
                          <a:schemeClr val="tx1"/>
                        </a:solidFill>
                        <a:effectLst/>
                        <a:latin typeface="+mn-lt"/>
                        <a:ea typeface="+mn-ea"/>
                        <a:cs typeface="+mn-ea"/>
                        <a:sym typeface="+mn-lt"/>
                      </a:endParaRPr>
                    </a:p>
                    <a:p>
                      <a:pPr marL="182563" indent="-182563" algn="l" defTabSz="914034" rtl="0" eaLnBrk="1" latinLnBrk="0" hangingPunct="1">
                        <a:lnSpc>
                          <a:spcPct val="100000"/>
                        </a:lnSpc>
                        <a:spcBef>
                          <a:spcPts val="0"/>
                        </a:spcBef>
                        <a:spcAft>
                          <a:spcPts val="0"/>
                        </a:spcAft>
                        <a:buFont typeface="Arial" panose="020B0604020202020204" pitchFamily="34" charset="0"/>
                        <a:buChar char="•"/>
                      </a:pPr>
                      <a:r>
                        <a:rPr lang="zh-CN" altLang="en-US" sz="1400" b="0" kern="1200" dirty="0" smtClean="0">
                          <a:solidFill>
                            <a:schemeClr val="tx1"/>
                          </a:solidFill>
                          <a:effectLst/>
                          <a:latin typeface="+mn-lt"/>
                          <a:ea typeface="+mn-ea"/>
                          <a:cs typeface="+mn-ea"/>
                          <a:sym typeface="+mn-lt"/>
                        </a:rPr>
                        <a:t>租户授权给</a:t>
                      </a:r>
                      <a:r>
                        <a:rPr lang="en-US" altLang="zh-CN"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时，不支持分域，授权会将全部站点的权限授予</a:t>
                      </a:r>
                      <a:r>
                        <a:rPr lang="en-US" altLang="zh-CN"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a:t>
                      </a:r>
                      <a:endParaRPr lang="en-US"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dk1"/>
                          </a:solidFill>
                          <a:latin typeface="FrutigerNext LT Medium"/>
                          <a:ea typeface="华文细黑"/>
                          <a:cs typeface="宋体"/>
                        </a:defRPr>
                      </a:lvl1pPr>
                      <a:lvl2pPr marL="457017" algn="l" defTabSz="914034" rtl="0" eaLnBrk="1" latinLnBrk="0" hangingPunct="1">
                        <a:defRPr sz="1799" kern="1200">
                          <a:solidFill>
                            <a:schemeClr val="dk1"/>
                          </a:solidFill>
                          <a:latin typeface="FrutigerNext LT Medium"/>
                          <a:ea typeface="华文细黑"/>
                          <a:cs typeface="宋体"/>
                        </a:defRPr>
                      </a:lvl2pPr>
                      <a:lvl3pPr marL="914034" algn="l" defTabSz="914034" rtl="0" eaLnBrk="1" latinLnBrk="0" hangingPunct="1">
                        <a:defRPr sz="1799" kern="1200">
                          <a:solidFill>
                            <a:schemeClr val="dk1"/>
                          </a:solidFill>
                          <a:latin typeface="FrutigerNext LT Medium"/>
                          <a:ea typeface="华文细黑"/>
                          <a:cs typeface="宋体"/>
                        </a:defRPr>
                      </a:lvl3pPr>
                      <a:lvl4pPr marL="1371051" algn="l" defTabSz="914034" rtl="0" eaLnBrk="1" latinLnBrk="0" hangingPunct="1">
                        <a:defRPr sz="1799" kern="1200">
                          <a:solidFill>
                            <a:schemeClr val="dk1"/>
                          </a:solidFill>
                          <a:latin typeface="FrutigerNext LT Medium"/>
                          <a:ea typeface="华文细黑"/>
                          <a:cs typeface="宋体"/>
                        </a:defRPr>
                      </a:lvl4pPr>
                      <a:lvl5pPr marL="1828068" algn="l" defTabSz="914034" rtl="0" eaLnBrk="1" latinLnBrk="0" hangingPunct="1">
                        <a:defRPr sz="1799" kern="1200">
                          <a:solidFill>
                            <a:schemeClr val="dk1"/>
                          </a:solidFill>
                          <a:latin typeface="FrutigerNext LT Medium"/>
                          <a:ea typeface="华文细黑"/>
                          <a:cs typeface="宋体"/>
                        </a:defRPr>
                      </a:lvl5pPr>
                      <a:lvl6pPr marL="2285086" algn="l" defTabSz="914034" rtl="0" eaLnBrk="1" latinLnBrk="0" hangingPunct="1">
                        <a:defRPr sz="1799" kern="1200">
                          <a:solidFill>
                            <a:schemeClr val="dk1"/>
                          </a:solidFill>
                          <a:latin typeface="FrutigerNext LT Medium"/>
                          <a:ea typeface="华文细黑"/>
                          <a:cs typeface="宋体"/>
                        </a:defRPr>
                      </a:lvl6pPr>
                      <a:lvl7pPr marL="2742103" algn="l" defTabSz="914034" rtl="0" eaLnBrk="1" latinLnBrk="0" hangingPunct="1">
                        <a:defRPr sz="1799" kern="1200">
                          <a:solidFill>
                            <a:schemeClr val="dk1"/>
                          </a:solidFill>
                          <a:latin typeface="FrutigerNext LT Medium"/>
                          <a:ea typeface="华文细黑"/>
                          <a:cs typeface="宋体"/>
                        </a:defRPr>
                      </a:lvl7pPr>
                      <a:lvl8pPr marL="3199120" algn="l" defTabSz="914034" rtl="0" eaLnBrk="1" latinLnBrk="0" hangingPunct="1">
                        <a:defRPr sz="1799" kern="1200">
                          <a:solidFill>
                            <a:schemeClr val="dk1"/>
                          </a:solidFill>
                          <a:latin typeface="FrutigerNext LT Medium"/>
                          <a:ea typeface="华文细黑"/>
                          <a:cs typeface="宋体"/>
                        </a:defRPr>
                      </a:lvl8pPr>
                      <a:lvl9pPr marL="3656137" algn="l" defTabSz="914034" rtl="0" eaLnBrk="1" latinLnBrk="0" hangingPunct="1">
                        <a:defRPr sz="1799" kern="1200">
                          <a:solidFill>
                            <a:schemeClr val="dk1"/>
                          </a:solidFill>
                          <a:latin typeface="FrutigerNext LT Medium"/>
                          <a:ea typeface="华文细黑"/>
                          <a:cs typeface="宋体"/>
                        </a:defRPr>
                      </a:lvl9pPr>
                    </a:lstStyle>
                    <a:p>
                      <a:pPr marL="182563" indent="-182563" algn="l" defTabSz="914034" rtl="0" eaLnBrk="1" latinLnBrk="0" hangingPunct="1">
                        <a:lnSpc>
                          <a:spcPct val="100000"/>
                        </a:lnSpc>
                        <a:spcBef>
                          <a:spcPts val="0"/>
                        </a:spcBef>
                        <a:spcAft>
                          <a:spcPts val="0"/>
                        </a:spcAft>
                        <a:buFont typeface="Arial" panose="020B0604020202020204" pitchFamily="34" charset="0"/>
                        <a:buChar char="•"/>
                      </a:pPr>
                      <a:r>
                        <a:rPr lang="en-US"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层级不支持分域，</a:t>
                      </a:r>
                      <a:r>
                        <a:rPr lang="en-US" altLang="zh-CN" sz="1400" b="0" kern="1200" dirty="0" smtClean="0">
                          <a:solidFill>
                            <a:schemeClr val="tx1"/>
                          </a:solidFill>
                          <a:effectLst/>
                          <a:latin typeface="+mn-lt"/>
                          <a:ea typeface="+mn-ea"/>
                          <a:cs typeface="+mn-ea"/>
                          <a:sym typeface="+mn-lt"/>
                        </a:rPr>
                        <a:t>MSP</a:t>
                      </a:r>
                      <a:r>
                        <a:rPr lang="zh-CN" altLang="en-US" sz="1400" b="0" kern="1200" dirty="0" smtClean="0">
                          <a:solidFill>
                            <a:schemeClr val="tx1"/>
                          </a:solidFill>
                          <a:effectLst/>
                          <a:latin typeface="+mn-lt"/>
                          <a:ea typeface="+mn-ea"/>
                          <a:cs typeface="+mn-ea"/>
                          <a:sym typeface="+mn-lt"/>
                        </a:rPr>
                        <a:t>管理员可以管理授权租户的全部设备。</a:t>
                      </a:r>
                      <a:endParaRPr lang="en-US" sz="1400" b="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2550442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latin typeface="+mn-lt"/>
                <a:ea typeface="+mn-ea"/>
                <a:cs typeface="+mn-ea"/>
                <a:sym typeface="+mn-lt"/>
              </a:rPr>
              <a:t>CloudCampus</a:t>
            </a:r>
            <a:r>
              <a:rPr lang="zh-CN" altLang="en-US" dirty="0" smtClean="0">
                <a:latin typeface="+mn-lt"/>
                <a:ea typeface="+mn-ea"/>
                <a:cs typeface="+mn-ea"/>
                <a:sym typeface="+mn-lt"/>
              </a:rPr>
              <a:t>运维功能全景</a:t>
            </a:r>
            <a:endParaRPr lang="zh-CN" altLang="en-US" dirty="0">
              <a:latin typeface="+mn-lt"/>
              <a:ea typeface="+mn-ea"/>
              <a:cs typeface="+mn-ea"/>
              <a:sym typeface="+mn-lt"/>
            </a:endParaRPr>
          </a:p>
        </p:txBody>
      </p:sp>
      <p:sp>
        <p:nvSpPr>
          <p:cNvPr id="64" name="圆角矩形 63"/>
          <p:cNvSpPr/>
          <p:nvPr/>
        </p:nvSpPr>
        <p:spPr bwMode="gray">
          <a:xfrm>
            <a:off x="475856" y="1310277"/>
            <a:ext cx="9937107" cy="4890498"/>
          </a:xfrm>
          <a:prstGeom prst="roundRect">
            <a:avLst>
              <a:gd name="adj" fmla="val 242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7" name="圆角矩形 75"/>
          <p:cNvSpPr/>
          <p:nvPr/>
        </p:nvSpPr>
        <p:spPr bwMode="gray">
          <a:xfrm>
            <a:off x="1893841" y="1347849"/>
            <a:ext cx="4097352" cy="4852926"/>
          </a:xfrm>
          <a:prstGeom prst="roundRect">
            <a:avLst>
              <a:gd name="adj" fmla="val 242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8" name="圆角矩形 75"/>
          <p:cNvSpPr/>
          <p:nvPr/>
        </p:nvSpPr>
        <p:spPr bwMode="gray">
          <a:xfrm>
            <a:off x="1893841" y="950277"/>
            <a:ext cx="4097352"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管理监控</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可视化</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圆角矩形 75"/>
          <p:cNvSpPr/>
          <p:nvPr/>
        </p:nvSpPr>
        <p:spPr bwMode="gray">
          <a:xfrm>
            <a:off x="2066583" y="1374709"/>
            <a:ext cx="3751868" cy="1375460"/>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0" name="圆角矩形 69"/>
          <p:cNvSpPr/>
          <p:nvPr/>
        </p:nvSpPr>
        <p:spPr bwMode="gray">
          <a:xfrm>
            <a:off x="4093346" y="1503574"/>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设备管理</a:t>
            </a:r>
            <a:endParaRPr lang="zh-CN" altLang="en-US" sz="1400" dirty="0">
              <a:solidFill>
                <a:schemeClr val="tx1"/>
              </a:solidFill>
            </a:endParaRPr>
          </a:p>
        </p:txBody>
      </p:sp>
      <p:sp>
        <p:nvSpPr>
          <p:cNvPr id="71" name="圆角矩形 70"/>
          <p:cNvSpPr/>
          <p:nvPr/>
        </p:nvSpPr>
        <p:spPr bwMode="gray">
          <a:xfrm>
            <a:off x="4093346" y="190542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日志</a:t>
            </a:r>
            <a:r>
              <a:rPr lang="zh-CN" altLang="en-US" sz="1400" dirty="0" smtClean="0">
                <a:solidFill>
                  <a:schemeClr val="tx1"/>
                </a:solidFill>
              </a:rPr>
              <a:t>管理</a:t>
            </a:r>
            <a:endParaRPr lang="zh-CN" altLang="en-US" sz="1400" dirty="0">
              <a:solidFill>
                <a:schemeClr val="tx1"/>
              </a:solidFill>
            </a:endParaRPr>
          </a:p>
        </p:txBody>
      </p:sp>
      <p:sp>
        <p:nvSpPr>
          <p:cNvPr id="72" name="圆角矩形 71"/>
          <p:cNvSpPr/>
          <p:nvPr/>
        </p:nvSpPr>
        <p:spPr bwMode="gray">
          <a:xfrm>
            <a:off x="4093346" y="230929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文件</a:t>
            </a:r>
            <a:r>
              <a:rPr lang="en-US" altLang="zh-CN" sz="1400" dirty="0" smtClean="0">
                <a:solidFill>
                  <a:schemeClr val="tx1"/>
                </a:solidFill>
              </a:rPr>
              <a:t>/</a:t>
            </a:r>
            <a:r>
              <a:rPr lang="zh-CN" altLang="en-US" sz="1400" dirty="0" smtClean="0">
                <a:solidFill>
                  <a:schemeClr val="tx1"/>
                </a:solidFill>
              </a:rPr>
              <a:t>配置管理</a:t>
            </a:r>
            <a:endParaRPr lang="zh-CN" altLang="en-US" sz="1400" dirty="0">
              <a:solidFill>
                <a:schemeClr val="tx1"/>
              </a:solidFill>
            </a:endParaRPr>
          </a:p>
        </p:txBody>
      </p:sp>
      <p:sp>
        <p:nvSpPr>
          <p:cNvPr id="73" name="圆角矩形 72"/>
          <p:cNvSpPr/>
          <p:nvPr/>
        </p:nvSpPr>
        <p:spPr bwMode="gray">
          <a:xfrm>
            <a:off x="2453083" y="190542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告警</a:t>
            </a:r>
            <a:r>
              <a:rPr lang="zh-CN" altLang="en-US" sz="1400" dirty="0" smtClean="0">
                <a:solidFill>
                  <a:schemeClr val="tx1"/>
                </a:solidFill>
              </a:rPr>
              <a:t>管理</a:t>
            </a:r>
            <a:endParaRPr lang="zh-CN" altLang="en-US" sz="1400" dirty="0">
              <a:solidFill>
                <a:schemeClr val="tx1"/>
              </a:solidFill>
            </a:endParaRPr>
          </a:p>
        </p:txBody>
      </p:sp>
      <p:sp>
        <p:nvSpPr>
          <p:cNvPr id="74" name="圆角矩形 73"/>
          <p:cNvSpPr/>
          <p:nvPr/>
        </p:nvSpPr>
        <p:spPr bwMode="gray">
          <a:xfrm>
            <a:off x="2453083" y="230929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文件</a:t>
            </a:r>
            <a:r>
              <a:rPr lang="en-US" altLang="zh-CN" sz="1400" dirty="0" smtClean="0">
                <a:solidFill>
                  <a:schemeClr val="tx1"/>
                </a:solidFill>
              </a:rPr>
              <a:t>/</a:t>
            </a:r>
            <a:r>
              <a:rPr lang="zh-CN" altLang="en-US" sz="1400" dirty="0" smtClean="0">
                <a:solidFill>
                  <a:schemeClr val="tx1"/>
                </a:solidFill>
              </a:rPr>
              <a:t>配置管理</a:t>
            </a:r>
            <a:endParaRPr lang="zh-CN" altLang="en-US" sz="1400" dirty="0">
              <a:solidFill>
                <a:schemeClr val="tx1"/>
              </a:solidFill>
            </a:endParaRPr>
          </a:p>
        </p:txBody>
      </p:sp>
      <p:sp>
        <p:nvSpPr>
          <p:cNvPr id="75" name="圆角矩形 74"/>
          <p:cNvSpPr/>
          <p:nvPr/>
        </p:nvSpPr>
        <p:spPr bwMode="gray">
          <a:xfrm>
            <a:off x="2109005" y="1405526"/>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网</a:t>
            </a:r>
            <a:r>
              <a:rPr lang="zh-CN" altLang="en-US" sz="1400" b="1" dirty="0" smtClean="0">
                <a:solidFill>
                  <a:schemeClr val="tx1"/>
                </a:solidFill>
              </a:rPr>
              <a:t>元管理</a:t>
            </a:r>
            <a:endParaRPr lang="zh-CN" altLang="en-US" sz="1400" b="1" dirty="0">
              <a:solidFill>
                <a:schemeClr val="tx1"/>
              </a:solidFill>
            </a:endParaRPr>
          </a:p>
        </p:txBody>
      </p:sp>
      <p:sp>
        <p:nvSpPr>
          <p:cNvPr id="76" name="圆角矩形 75"/>
          <p:cNvSpPr/>
          <p:nvPr/>
        </p:nvSpPr>
        <p:spPr bwMode="gray">
          <a:xfrm>
            <a:off x="2066583" y="2787697"/>
            <a:ext cx="3751868" cy="973596"/>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7" name="圆角矩形 76"/>
          <p:cNvSpPr/>
          <p:nvPr/>
        </p:nvSpPr>
        <p:spPr bwMode="gray">
          <a:xfrm>
            <a:off x="4093346" y="291656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业务质量监控</a:t>
            </a:r>
            <a:endParaRPr lang="zh-CN" altLang="en-US" sz="1400" dirty="0">
              <a:solidFill>
                <a:schemeClr val="tx1"/>
              </a:solidFill>
            </a:endParaRPr>
          </a:p>
        </p:txBody>
      </p:sp>
      <p:sp>
        <p:nvSpPr>
          <p:cNvPr id="78" name="圆角矩形 77"/>
          <p:cNvSpPr/>
          <p:nvPr/>
        </p:nvSpPr>
        <p:spPr bwMode="gray">
          <a:xfrm>
            <a:off x="4093346" y="331841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链路管理</a:t>
            </a:r>
            <a:endParaRPr lang="zh-CN" altLang="en-US" sz="1400" dirty="0">
              <a:solidFill>
                <a:schemeClr val="tx1"/>
              </a:solidFill>
            </a:endParaRPr>
          </a:p>
        </p:txBody>
      </p:sp>
      <p:sp>
        <p:nvSpPr>
          <p:cNvPr id="79" name="圆角矩形 78"/>
          <p:cNvSpPr/>
          <p:nvPr/>
        </p:nvSpPr>
        <p:spPr bwMode="gray">
          <a:xfrm>
            <a:off x="2453083" y="331841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无线网络监控</a:t>
            </a:r>
            <a:endParaRPr lang="zh-CN" altLang="en-US" sz="1400" dirty="0">
              <a:solidFill>
                <a:schemeClr val="tx1"/>
              </a:solidFill>
            </a:endParaRPr>
          </a:p>
        </p:txBody>
      </p:sp>
      <p:sp>
        <p:nvSpPr>
          <p:cNvPr id="80" name="圆角矩形 79"/>
          <p:cNvSpPr/>
          <p:nvPr/>
        </p:nvSpPr>
        <p:spPr bwMode="gray">
          <a:xfrm>
            <a:off x="2109005" y="2818514"/>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smtClean="0">
                <a:solidFill>
                  <a:schemeClr val="tx1"/>
                </a:solidFill>
              </a:rPr>
              <a:t>网络管理</a:t>
            </a:r>
            <a:endParaRPr lang="zh-CN" altLang="en-US" sz="1400" b="1" dirty="0">
              <a:solidFill>
                <a:schemeClr val="tx1"/>
              </a:solidFill>
            </a:endParaRPr>
          </a:p>
        </p:txBody>
      </p:sp>
      <p:sp>
        <p:nvSpPr>
          <p:cNvPr id="81" name="圆角矩形 75"/>
          <p:cNvSpPr/>
          <p:nvPr/>
        </p:nvSpPr>
        <p:spPr bwMode="gray">
          <a:xfrm>
            <a:off x="2066583" y="3799452"/>
            <a:ext cx="3751868" cy="973596"/>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2" name="圆角矩形 81"/>
          <p:cNvSpPr/>
          <p:nvPr/>
        </p:nvSpPr>
        <p:spPr bwMode="gray">
          <a:xfrm>
            <a:off x="4093346" y="3928317"/>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终端管理</a:t>
            </a:r>
            <a:endParaRPr lang="zh-CN" altLang="en-US" sz="1400" dirty="0">
              <a:solidFill>
                <a:schemeClr val="tx1"/>
              </a:solidFill>
            </a:endParaRPr>
          </a:p>
        </p:txBody>
      </p:sp>
      <p:sp>
        <p:nvSpPr>
          <p:cNvPr id="83" name="圆角矩形 82"/>
          <p:cNvSpPr/>
          <p:nvPr/>
        </p:nvSpPr>
        <p:spPr bwMode="gray">
          <a:xfrm>
            <a:off x="4093346" y="4330165"/>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客流分析</a:t>
            </a:r>
            <a:endParaRPr lang="zh-CN" altLang="en-US" sz="1400" dirty="0">
              <a:solidFill>
                <a:schemeClr val="tx1"/>
              </a:solidFill>
            </a:endParaRPr>
          </a:p>
        </p:txBody>
      </p:sp>
      <p:sp>
        <p:nvSpPr>
          <p:cNvPr id="84" name="圆角矩形 83"/>
          <p:cNvSpPr/>
          <p:nvPr/>
        </p:nvSpPr>
        <p:spPr bwMode="gray">
          <a:xfrm>
            <a:off x="2453083" y="4330165"/>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用户管理</a:t>
            </a:r>
            <a:endParaRPr lang="zh-CN" altLang="en-US" sz="1400" dirty="0">
              <a:solidFill>
                <a:schemeClr val="tx1"/>
              </a:solidFill>
            </a:endParaRPr>
          </a:p>
        </p:txBody>
      </p:sp>
      <p:sp>
        <p:nvSpPr>
          <p:cNvPr id="85" name="圆角矩形 84"/>
          <p:cNvSpPr/>
          <p:nvPr/>
        </p:nvSpPr>
        <p:spPr bwMode="gray">
          <a:xfrm>
            <a:off x="2109005" y="3830269"/>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终端</a:t>
            </a:r>
            <a:r>
              <a:rPr lang="zh-CN" altLang="en-US" sz="1400" b="1" dirty="0" smtClean="0">
                <a:solidFill>
                  <a:schemeClr val="tx1"/>
                </a:solidFill>
              </a:rPr>
              <a:t>管理</a:t>
            </a:r>
            <a:endParaRPr lang="zh-CN" altLang="en-US" sz="1400" b="1" dirty="0">
              <a:solidFill>
                <a:schemeClr val="tx1"/>
              </a:solidFill>
            </a:endParaRPr>
          </a:p>
        </p:txBody>
      </p:sp>
      <p:sp>
        <p:nvSpPr>
          <p:cNvPr id="86" name="圆角矩形 75"/>
          <p:cNvSpPr/>
          <p:nvPr/>
        </p:nvSpPr>
        <p:spPr bwMode="gray">
          <a:xfrm>
            <a:off x="2066583" y="4811207"/>
            <a:ext cx="3751868" cy="1375460"/>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7" name="圆角矩形 86"/>
          <p:cNvSpPr/>
          <p:nvPr/>
        </p:nvSpPr>
        <p:spPr bwMode="gray">
          <a:xfrm>
            <a:off x="4093346" y="494007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设备维度</a:t>
            </a:r>
            <a:endParaRPr lang="zh-CN" altLang="en-US" sz="1400" dirty="0">
              <a:solidFill>
                <a:schemeClr val="tx1"/>
              </a:solidFill>
            </a:endParaRPr>
          </a:p>
        </p:txBody>
      </p:sp>
      <p:sp>
        <p:nvSpPr>
          <p:cNvPr id="88" name="圆角矩形 87"/>
          <p:cNvSpPr/>
          <p:nvPr/>
        </p:nvSpPr>
        <p:spPr bwMode="gray">
          <a:xfrm>
            <a:off x="4093346" y="534192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用户漫游维度</a:t>
            </a:r>
            <a:endParaRPr lang="zh-CN" altLang="en-US" sz="1400" dirty="0">
              <a:solidFill>
                <a:schemeClr val="tx1"/>
              </a:solidFill>
            </a:endParaRPr>
          </a:p>
        </p:txBody>
      </p:sp>
      <p:sp>
        <p:nvSpPr>
          <p:cNvPr id="89" name="圆角矩形 88"/>
          <p:cNvSpPr/>
          <p:nvPr/>
        </p:nvSpPr>
        <p:spPr bwMode="gray">
          <a:xfrm>
            <a:off x="4093346" y="5745788"/>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用户应用维度</a:t>
            </a:r>
            <a:endParaRPr lang="zh-CN" altLang="en-US" sz="1400" dirty="0">
              <a:solidFill>
                <a:schemeClr val="tx1"/>
              </a:solidFill>
            </a:endParaRPr>
          </a:p>
        </p:txBody>
      </p:sp>
      <p:sp>
        <p:nvSpPr>
          <p:cNvPr id="90" name="圆角矩形 89"/>
          <p:cNvSpPr/>
          <p:nvPr/>
        </p:nvSpPr>
        <p:spPr bwMode="gray">
          <a:xfrm>
            <a:off x="2453083" y="534192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用户接入维度</a:t>
            </a:r>
            <a:endParaRPr lang="zh-CN" altLang="en-US" sz="1400" dirty="0">
              <a:solidFill>
                <a:schemeClr val="tx1"/>
              </a:solidFill>
            </a:endParaRPr>
          </a:p>
        </p:txBody>
      </p:sp>
      <p:sp>
        <p:nvSpPr>
          <p:cNvPr id="91" name="圆角矩形 90"/>
          <p:cNvSpPr/>
          <p:nvPr/>
        </p:nvSpPr>
        <p:spPr bwMode="gray">
          <a:xfrm>
            <a:off x="2453083" y="5745788"/>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用户吞吐维度</a:t>
            </a:r>
            <a:endParaRPr lang="zh-CN" altLang="en-US" sz="1400" dirty="0">
              <a:solidFill>
                <a:schemeClr val="tx1"/>
              </a:solidFill>
            </a:endParaRPr>
          </a:p>
        </p:txBody>
      </p:sp>
      <p:sp>
        <p:nvSpPr>
          <p:cNvPr id="92" name="圆角矩形 91"/>
          <p:cNvSpPr/>
          <p:nvPr/>
        </p:nvSpPr>
        <p:spPr bwMode="gray">
          <a:xfrm>
            <a:off x="2109004" y="4842024"/>
            <a:ext cx="1211343"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smtClean="0">
                <a:solidFill>
                  <a:schemeClr val="tx1"/>
                </a:solidFill>
              </a:rPr>
              <a:t>网络健康度</a:t>
            </a:r>
            <a:endParaRPr lang="zh-CN" altLang="en-US" sz="1400" b="1" dirty="0">
              <a:solidFill>
                <a:schemeClr val="tx1"/>
              </a:solidFill>
            </a:endParaRPr>
          </a:p>
        </p:txBody>
      </p:sp>
      <p:sp>
        <p:nvSpPr>
          <p:cNvPr id="93" name="圆角矩形 75"/>
          <p:cNvSpPr/>
          <p:nvPr/>
        </p:nvSpPr>
        <p:spPr bwMode="gray">
          <a:xfrm>
            <a:off x="6228520" y="1347849"/>
            <a:ext cx="4097352" cy="4852926"/>
          </a:xfrm>
          <a:prstGeom prst="roundRect">
            <a:avLst>
              <a:gd name="adj" fmla="val 2420"/>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4" name="圆角矩形 75"/>
          <p:cNvSpPr/>
          <p:nvPr/>
        </p:nvSpPr>
        <p:spPr bwMode="gray">
          <a:xfrm>
            <a:off x="6228520" y="950277"/>
            <a:ext cx="4097352" cy="360000"/>
          </a:xfrm>
          <a:prstGeom prst="roundRect">
            <a:avLst>
              <a:gd name="adj" fmla="val 13606"/>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故障处理：智能化</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圆角矩形 75"/>
          <p:cNvSpPr/>
          <p:nvPr/>
        </p:nvSpPr>
        <p:spPr bwMode="gray">
          <a:xfrm>
            <a:off x="6401262" y="1374709"/>
            <a:ext cx="3751868" cy="1375460"/>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6" name="圆角矩形 95"/>
          <p:cNvSpPr/>
          <p:nvPr/>
        </p:nvSpPr>
        <p:spPr bwMode="gray">
          <a:xfrm>
            <a:off x="8428025" y="1905422"/>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设备诊断和测试</a:t>
            </a:r>
            <a:endParaRPr lang="zh-CN" altLang="en-US" sz="1400" dirty="0">
              <a:solidFill>
                <a:schemeClr val="tx1"/>
              </a:solidFill>
            </a:endParaRPr>
          </a:p>
        </p:txBody>
      </p:sp>
      <p:sp>
        <p:nvSpPr>
          <p:cNvPr id="97" name="圆角矩形 96"/>
          <p:cNvSpPr/>
          <p:nvPr/>
        </p:nvSpPr>
        <p:spPr bwMode="gray">
          <a:xfrm>
            <a:off x="8428025" y="2309290"/>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SLA</a:t>
            </a:r>
            <a:r>
              <a:rPr lang="zh-CN" altLang="en-US" sz="1400" dirty="0" smtClean="0">
                <a:solidFill>
                  <a:schemeClr val="tx1"/>
                </a:solidFill>
              </a:rPr>
              <a:t>管理</a:t>
            </a:r>
            <a:endParaRPr lang="zh-CN" altLang="en-US" sz="1400" dirty="0">
              <a:solidFill>
                <a:schemeClr val="tx1"/>
              </a:solidFill>
            </a:endParaRPr>
          </a:p>
        </p:txBody>
      </p:sp>
      <p:sp>
        <p:nvSpPr>
          <p:cNvPr id="98" name="圆角矩形 97"/>
          <p:cNvSpPr/>
          <p:nvPr/>
        </p:nvSpPr>
        <p:spPr bwMode="gray">
          <a:xfrm>
            <a:off x="6787762" y="1905422"/>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获取报文头</a:t>
            </a:r>
            <a:endParaRPr lang="zh-CN" altLang="en-US" sz="1400" dirty="0">
              <a:solidFill>
                <a:schemeClr val="tx1"/>
              </a:solidFill>
            </a:endParaRPr>
          </a:p>
        </p:txBody>
      </p:sp>
      <p:sp>
        <p:nvSpPr>
          <p:cNvPr id="99" name="圆角矩形 98"/>
          <p:cNvSpPr/>
          <p:nvPr/>
        </p:nvSpPr>
        <p:spPr bwMode="gray">
          <a:xfrm>
            <a:off x="6787762" y="2309290"/>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报文路径跟踪</a:t>
            </a:r>
          </a:p>
        </p:txBody>
      </p:sp>
      <p:sp>
        <p:nvSpPr>
          <p:cNvPr id="100" name="圆角矩形 99"/>
          <p:cNvSpPr/>
          <p:nvPr/>
        </p:nvSpPr>
        <p:spPr bwMode="gray">
          <a:xfrm>
            <a:off x="6443684" y="1405526"/>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smtClean="0">
                <a:solidFill>
                  <a:schemeClr val="tx1"/>
                </a:solidFill>
              </a:rPr>
              <a:t>故障定位</a:t>
            </a:r>
            <a:endParaRPr lang="zh-CN" altLang="en-US" sz="1400" b="1" dirty="0">
              <a:solidFill>
                <a:schemeClr val="tx1"/>
              </a:solidFill>
            </a:endParaRPr>
          </a:p>
        </p:txBody>
      </p:sp>
      <p:sp>
        <p:nvSpPr>
          <p:cNvPr id="101" name="圆角矩形 75"/>
          <p:cNvSpPr/>
          <p:nvPr/>
        </p:nvSpPr>
        <p:spPr bwMode="gray">
          <a:xfrm>
            <a:off x="6401262" y="3290558"/>
            <a:ext cx="3751868" cy="1375460"/>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2" name="圆角矩形 101"/>
          <p:cNvSpPr/>
          <p:nvPr/>
        </p:nvSpPr>
        <p:spPr bwMode="gray">
          <a:xfrm>
            <a:off x="8428025" y="3821271"/>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接入分析</a:t>
            </a:r>
            <a:endParaRPr lang="zh-CN" altLang="en-US" sz="1400" dirty="0">
              <a:solidFill>
                <a:schemeClr val="tx1"/>
              </a:solidFill>
            </a:endParaRPr>
          </a:p>
        </p:txBody>
      </p:sp>
      <p:sp>
        <p:nvSpPr>
          <p:cNvPr id="103" name="圆角矩形 102"/>
          <p:cNvSpPr/>
          <p:nvPr/>
        </p:nvSpPr>
        <p:spPr bwMode="gray">
          <a:xfrm>
            <a:off x="8428025" y="4225139"/>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协议回放</a:t>
            </a:r>
            <a:endParaRPr lang="zh-CN" altLang="en-US" sz="1400" dirty="0">
              <a:solidFill>
                <a:schemeClr val="tx1"/>
              </a:solidFill>
            </a:endParaRPr>
          </a:p>
        </p:txBody>
      </p:sp>
      <p:sp>
        <p:nvSpPr>
          <p:cNvPr id="104" name="圆角矩形 103"/>
          <p:cNvSpPr/>
          <p:nvPr/>
        </p:nvSpPr>
        <p:spPr bwMode="gray">
          <a:xfrm>
            <a:off x="6787762" y="3821271"/>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问题分析</a:t>
            </a:r>
            <a:endParaRPr lang="zh-CN" altLang="en-US" sz="1400" dirty="0">
              <a:solidFill>
                <a:schemeClr val="tx1"/>
              </a:solidFill>
            </a:endParaRPr>
          </a:p>
        </p:txBody>
      </p:sp>
      <p:sp>
        <p:nvSpPr>
          <p:cNvPr id="105" name="圆角矩形 104"/>
          <p:cNvSpPr/>
          <p:nvPr/>
        </p:nvSpPr>
        <p:spPr bwMode="gray">
          <a:xfrm>
            <a:off x="6787762" y="4225139"/>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性能分析</a:t>
            </a:r>
            <a:endParaRPr lang="zh-CN" altLang="en-US" sz="1400" dirty="0">
              <a:solidFill>
                <a:schemeClr val="tx1"/>
              </a:solidFill>
            </a:endParaRPr>
          </a:p>
        </p:txBody>
      </p:sp>
      <p:sp>
        <p:nvSpPr>
          <p:cNvPr id="106" name="圆角矩形 105"/>
          <p:cNvSpPr/>
          <p:nvPr/>
        </p:nvSpPr>
        <p:spPr bwMode="gray">
          <a:xfrm>
            <a:off x="6443684" y="3321375"/>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smtClean="0">
                <a:solidFill>
                  <a:schemeClr val="tx1"/>
                </a:solidFill>
              </a:rPr>
              <a:t>故障分析</a:t>
            </a:r>
            <a:endParaRPr lang="zh-CN" altLang="en-US" sz="1400" b="1" dirty="0">
              <a:solidFill>
                <a:schemeClr val="tx1"/>
              </a:solidFill>
            </a:endParaRPr>
          </a:p>
        </p:txBody>
      </p:sp>
      <p:sp>
        <p:nvSpPr>
          <p:cNvPr id="107" name="圆角矩形 75"/>
          <p:cNvSpPr/>
          <p:nvPr/>
        </p:nvSpPr>
        <p:spPr bwMode="gray">
          <a:xfrm>
            <a:off x="6401262" y="4714256"/>
            <a:ext cx="3751868" cy="1375460"/>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Autofit/>
          </a:bodyPr>
          <a:lstStyle/>
          <a:p>
            <a:pPr algn="just">
              <a:lnSpc>
                <a:spcPts val="1800"/>
              </a:lnSpc>
              <a:spcAft>
                <a:spcPts val="300"/>
              </a:spcAft>
            </a:pP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8" name="圆角矩形 107"/>
          <p:cNvSpPr/>
          <p:nvPr/>
        </p:nvSpPr>
        <p:spPr bwMode="gray">
          <a:xfrm>
            <a:off x="8428025" y="5244969"/>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接入分析</a:t>
            </a:r>
            <a:endParaRPr lang="zh-CN" altLang="en-US" sz="1400" dirty="0">
              <a:solidFill>
                <a:schemeClr val="tx1"/>
              </a:solidFill>
            </a:endParaRPr>
          </a:p>
        </p:txBody>
      </p:sp>
      <p:sp>
        <p:nvSpPr>
          <p:cNvPr id="109" name="圆角矩形 108"/>
          <p:cNvSpPr/>
          <p:nvPr/>
        </p:nvSpPr>
        <p:spPr bwMode="gray">
          <a:xfrm>
            <a:off x="8428025" y="5648837"/>
            <a:ext cx="1472232"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协议回放</a:t>
            </a:r>
            <a:endParaRPr lang="zh-CN" altLang="en-US" sz="1400" dirty="0">
              <a:solidFill>
                <a:schemeClr val="tx1"/>
              </a:solidFill>
            </a:endParaRPr>
          </a:p>
        </p:txBody>
      </p:sp>
      <p:sp>
        <p:nvSpPr>
          <p:cNvPr id="110" name="圆角矩形 109"/>
          <p:cNvSpPr/>
          <p:nvPr/>
        </p:nvSpPr>
        <p:spPr bwMode="gray">
          <a:xfrm>
            <a:off x="6787762" y="5244969"/>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射频调优</a:t>
            </a:r>
            <a:endParaRPr lang="zh-CN" altLang="en-US" sz="1400" dirty="0">
              <a:solidFill>
                <a:schemeClr val="tx1"/>
              </a:solidFill>
            </a:endParaRPr>
          </a:p>
        </p:txBody>
      </p:sp>
      <p:sp>
        <p:nvSpPr>
          <p:cNvPr id="111" name="圆角矩形 110"/>
          <p:cNvSpPr/>
          <p:nvPr/>
        </p:nvSpPr>
        <p:spPr bwMode="gray">
          <a:xfrm>
            <a:off x="6787762" y="5648837"/>
            <a:ext cx="1385740" cy="329938"/>
          </a:xfrm>
          <a:prstGeom prst="round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性能分析</a:t>
            </a:r>
            <a:endParaRPr lang="zh-CN" altLang="en-US" sz="1400" dirty="0">
              <a:solidFill>
                <a:schemeClr val="tx1"/>
              </a:solidFill>
            </a:endParaRPr>
          </a:p>
        </p:txBody>
      </p:sp>
      <p:sp>
        <p:nvSpPr>
          <p:cNvPr id="112" name="圆角矩形 111"/>
          <p:cNvSpPr/>
          <p:nvPr/>
        </p:nvSpPr>
        <p:spPr bwMode="gray">
          <a:xfrm>
            <a:off x="6443684" y="4745073"/>
            <a:ext cx="1036948" cy="329938"/>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smtClean="0">
                <a:solidFill>
                  <a:schemeClr val="tx1"/>
                </a:solidFill>
              </a:rPr>
              <a:t>网络调优</a:t>
            </a:r>
            <a:endParaRPr lang="zh-CN" altLang="en-US" sz="1400" b="1" dirty="0">
              <a:solidFill>
                <a:schemeClr val="tx1"/>
              </a:solidFill>
            </a:endParaRPr>
          </a:p>
        </p:txBody>
      </p:sp>
      <p:sp>
        <p:nvSpPr>
          <p:cNvPr id="113" name="圆角矩形 75"/>
          <p:cNvSpPr/>
          <p:nvPr/>
        </p:nvSpPr>
        <p:spPr bwMode="gray">
          <a:xfrm>
            <a:off x="786958" y="5247021"/>
            <a:ext cx="795781" cy="289626"/>
          </a:xfrm>
          <a:prstGeom prst="roundRect">
            <a:avLst>
              <a:gd name="adj" fmla="val 2420"/>
            </a:avLst>
          </a:prstGeom>
          <a:solidFill>
            <a:schemeClr val="bg1">
              <a:lumMod val="95000"/>
            </a:schemeClr>
          </a:solidFill>
          <a:ln w="9525">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ctr">
              <a:lnSpc>
                <a:spcPts val="1800"/>
              </a:lnSpc>
              <a:spcAft>
                <a:spcPts val="300"/>
              </a:spcAft>
            </a:pP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控制器</a:t>
            </a: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14" name="圆角矩形 75"/>
          <p:cNvSpPr/>
          <p:nvPr/>
        </p:nvSpPr>
        <p:spPr bwMode="gray">
          <a:xfrm>
            <a:off x="786958" y="5634581"/>
            <a:ext cx="795781" cy="289626"/>
          </a:xfrm>
          <a:prstGeom prst="roundRect">
            <a:avLst>
              <a:gd name="adj" fmla="val 2420"/>
            </a:avLst>
          </a:prstGeom>
          <a:solidFill>
            <a:srgbClr val="DEF4F6"/>
          </a:solid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nchorCtr="0">
            <a:noAutofit/>
          </a:bodyPr>
          <a:lstStyle/>
          <a:p>
            <a:pPr algn="ctr">
              <a:lnSpc>
                <a:spcPts val="1800"/>
              </a:lnSpc>
              <a:spcAft>
                <a:spcPts val="3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分析器</a:t>
            </a:r>
          </a:p>
        </p:txBody>
      </p:sp>
      <p:pic>
        <p:nvPicPr>
          <p:cNvPr id="115" name="图片 1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27620" y="2238175"/>
            <a:ext cx="1114457" cy="633519"/>
          </a:xfrm>
          <a:prstGeom prst="rect">
            <a:avLst/>
          </a:prstGeom>
        </p:spPr>
      </p:pic>
      <p:pic>
        <p:nvPicPr>
          <p:cNvPr id="116" name="图片 1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818798" y="2960653"/>
            <a:ext cx="562215" cy="562215"/>
          </a:xfrm>
          <a:prstGeom prst="rect">
            <a:avLst/>
          </a:prstGeom>
        </p:spPr>
      </p:pic>
      <p:sp>
        <p:nvSpPr>
          <p:cNvPr id="117" name="圆角矩形 116"/>
          <p:cNvSpPr/>
          <p:nvPr/>
        </p:nvSpPr>
        <p:spPr bwMode="gray">
          <a:xfrm>
            <a:off x="10404514" y="3524273"/>
            <a:ext cx="1390782" cy="541330"/>
          </a:xfrm>
          <a:prstGeom prst="round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CloudCampus</a:t>
            </a:r>
            <a:endParaRPr lang="en-US" altLang="zh-CN" sz="1400" dirty="0">
              <a:solidFill>
                <a:schemeClr val="tx1"/>
              </a:solidFill>
            </a:endParaRPr>
          </a:p>
          <a:p>
            <a:pPr algn="ctr"/>
            <a:r>
              <a:rPr lang="en-US" altLang="zh-CN" sz="1400" dirty="0" smtClean="0">
                <a:solidFill>
                  <a:schemeClr val="tx1"/>
                </a:solidFill>
              </a:rPr>
              <a:t>APP</a:t>
            </a:r>
            <a:endParaRPr lang="zh-CN" altLang="en-US" sz="1400" dirty="0">
              <a:solidFill>
                <a:schemeClr val="tx1"/>
              </a:solidFill>
            </a:endParaRPr>
          </a:p>
        </p:txBody>
      </p:sp>
      <p:pic>
        <p:nvPicPr>
          <p:cNvPr id="118" name="图片 1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96520" y="3444162"/>
            <a:ext cx="1170060" cy="857360"/>
          </a:xfrm>
          <a:prstGeom prst="rect">
            <a:avLst/>
          </a:prstGeom>
        </p:spPr>
      </p:pic>
    </p:spTree>
    <p:extLst>
      <p:ext uri="{BB962C8B-B14F-4D97-AF65-F5344CB8AC3E}">
        <p14:creationId xmlns:p14="http://schemas.microsoft.com/office/powerpoint/2010/main" val="31391530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1019176" y="1844675"/>
            <a:ext cx="10153650" cy="4356100"/>
          </a:xfrm>
        </p:spPr>
        <p:txBody>
          <a:bodyPr/>
          <a:lstStyle/>
          <a:p>
            <a:pPr lvl="0"/>
            <a:r>
              <a:rPr lang="en-US" altLang="zh-CN" dirty="0" smtClean="0"/>
              <a:t>(</a:t>
            </a:r>
            <a:r>
              <a:rPr lang="zh-CN" altLang="en-US" dirty="0" smtClean="0"/>
              <a:t>多选题</a:t>
            </a:r>
            <a:r>
              <a:rPr lang="en-US" altLang="zh-CN" dirty="0" smtClean="0"/>
              <a:t>)</a:t>
            </a:r>
            <a:r>
              <a:rPr lang="zh-CN" altLang="en-US" dirty="0" smtClean="0"/>
              <a:t>为实现设备可靠性，在中小型园区网络内部可以采用的设备部署方案包括以下哪些选项？</a:t>
            </a:r>
            <a:r>
              <a:rPr lang="en-US" altLang="zh-CN" dirty="0" smtClean="0"/>
              <a:t>(     )</a:t>
            </a:r>
          </a:p>
          <a:p>
            <a:pPr lvl="1"/>
            <a:r>
              <a:rPr lang="zh-CN" altLang="en-US" dirty="0" smtClean="0"/>
              <a:t>防火墙部署双机热备</a:t>
            </a:r>
            <a:endParaRPr lang="en-US" altLang="zh-CN" dirty="0" smtClean="0"/>
          </a:p>
          <a:p>
            <a:pPr lvl="1"/>
            <a:r>
              <a:rPr lang="zh-CN" altLang="en-US" dirty="0" smtClean="0"/>
              <a:t>出口部署双</a:t>
            </a:r>
            <a:r>
              <a:rPr lang="en-US" altLang="zh-CN" dirty="0" smtClean="0"/>
              <a:t>AR</a:t>
            </a:r>
            <a:r>
              <a:rPr lang="zh-CN" altLang="en-US" dirty="0" smtClean="0"/>
              <a:t>作为网关</a:t>
            </a:r>
            <a:endParaRPr lang="en-US" altLang="zh-CN" dirty="0" smtClean="0"/>
          </a:p>
          <a:p>
            <a:pPr lvl="1"/>
            <a:r>
              <a:rPr lang="zh-CN" altLang="en-US" dirty="0" smtClean="0"/>
              <a:t>交换机堆叠组网</a:t>
            </a:r>
            <a:endParaRPr lang="en-US" altLang="zh-CN" dirty="0" smtClean="0"/>
          </a:p>
          <a:p>
            <a:pPr lvl="1"/>
            <a:r>
              <a:rPr lang="zh-CN" altLang="en-US" dirty="0" smtClean="0"/>
              <a:t>部署跨设备链路聚合</a:t>
            </a:r>
            <a:endParaRPr lang="en-US" altLang="zh-CN" dirty="0" smtClean="0"/>
          </a:p>
          <a:p>
            <a:r>
              <a:rPr lang="en-US" altLang="zh-CN" dirty="0" smtClean="0"/>
              <a:t>(</a:t>
            </a:r>
            <a:r>
              <a:rPr lang="zh-CN" altLang="en-US" dirty="0" smtClean="0"/>
              <a:t>判断题</a:t>
            </a:r>
            <a:r>
              <a:rPr lang="en-US" altLang="zh-CN" dirty="0" smtClean="0"/>
              <a:t>)</a:t>
            </a:r>
            <a:r>
              <a:rPr lang="zh-CN" altLang="en-US" dirty="0" smtClean="0"/>
              <a:t>推荐在门店部署</a:t>
            </a:r>
            <a:r>
              <a:rPr lang="en-US" altLang="zh-CN" dirty="0" smtClean="0"/>
              <a:t>802.1X</a:t>
            </a:r>
            <a:r>
              <a:rPr lang="zh-CN" altLang="en-US" dirty="0" smtClean="0"/>
              <a:t>认证以支持客户访问门店</a:t>
            </a:r>
            <a:r>
              <a:rPr lang="en-US" altLang="zh-CN" dirty="0" smtClean="0"/>
              <a:t>Wi-Fi</a:t>
            </a:r>
            <a:r>
              <a:rPr lang="zh-CN" altLang="en-US" dirty="0" smtClean="0"/>
              <a:t>。</a:t>
            </a:r>
            <a:r>
              <a:rPr lang="en-US" altLang="zh-CN" dirty="0" smtClean="0"/>
              <a:t>(     )</a:t>
            </a:r>
          </a:p>
          <a:p>
            <a:pPr lvl="1"/>
            <a:r>
              <a:rPr lang="zh-CN" altLang="en-US" dirty="0" smtClean="0"/>
              <a:t>正确</a:t>
            </a:r>
            <a:endParaRPr lang="en-US" altLang="zh-CN" dirty="0" smtClean="0"/>
          </a:p>
          <a:p>
            <a:pPr lvl="1"/>
            <a:r>
              <a:rPr lang="zh-CN" altLang="en-US" dirty="0"/>
              <a:t>错误</a:t>
            </a:r>
            <a:endParaRPr lang="en-US" altLang="zh-CN" dirty="0" smtClean="0"/>
          </a:p>
        </p:txBody>
      </p:sp>
    </p:spTree>
    <p:extLst>
      <p:ext uri="{BB962C8B-B14F-4D97-AF65-F5344CB8AC3E}">
        <p14:creationId xmlns:p14="http://schemas.microsoft.com/office/powerpoint/2010/main" val="286661325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smtClean="0">
                <a:sym typeface="+mn-lt"/>
              </a:rPr>
              <a:t>本课程系统介绍了</a:t>
            </a:r>
            <a:r>
              <a:rPr lang="en-US" altLang="zh-CN" dirty="0" smtClean="0">
                <a:sym typeface="+mn-lt"/>
              </a:rPr>
              <a:t>CloudCampus</a:t>
            </a:r>
            <a:r>
              <a:rPr lang="zh-CN" altLang="en-US" dirty="0" smtClean="0">
                <a:sym typeface="+mn-lt"/>
              </a:rPr>
              <a:t>中小型云管理园区网络设计，包括总体设计（网络管理模式设计、网络运维模式设计及</a:t>
            </a:r>
            <a:r>
              <a:rPr lang="en-US" altLang="zh-CN" dirty="0" smtClean="0">
                <a:sym typeface="+mn-lt"/>
              </a:rPr>
              <a:t>License</a:t>
            </a:r>
            <a:r>
              <a:rPr lang="zh-CN" altLang="en-US" dirty="0" smtClean="0">
                <a:sym typeface="+mn-lt"/>
              </a:rPr>
              <a:t>方案设计）、组网设计（网络架构设计、组网方案设计、广域互联设计及可靠性设计）、业务设计（网络基础业务设计、网络开局设计、</a:t>
            </a:r>
            <a:r>
              <a:rPr lang="en-US" altLang="zh-CN" dirty="0" smtClean="0">
                <a:sym typeface="+mn-lt"/>
              </a:rPr>
              <a:t>WLAN</a:t>
            </a:r>
            <a:r>
              <a:rPr lang="zh-CN" altLang="en-US" dirty="0" smtClean="0">
                <a:sym typeface="+mn-lt"/>
              </a:rPr>
              <a:t>设计、</a:t>
            </a:r>
            <a:r>
              <a:rPr lang="en-US" altLang="zh-CN" dirty="0" smtClean="0">
                <a:sym typeface="+mn-lt"/>
              </a:rPr>
              <a:t>NAC</a:t>
            </a:r>
            <a:r>
              <a:rPr lang="zh-CN" altLang="en-US" dirty="0" smtClean="0">
                <a:sym typeface="+mn-lt"/>
              </a:rPr>
              <a:t>设计、安全设计、</a:t>
            </a:r>
            <a:r>
              <a:rPr lang="en-US" altLang="zh-CN" dirty="0" err="1" smtClean="0">
                <a:sym typeface="+mn-lt"/>
              </a:rPr>
              <a:t>QoS</a:t>
            </a:r>
            <a:r>
              <a:rPr lang="zh-CN" altLang="en-US" dirty="0" smtClean="0">
                <a:sym typeface="+mn-lt"/>
              </a:rPr>
              <a:t>设计、增值业务设计及运维管理设计）。</a:t>
            </a:r>
            <a:endParaRPr lang="en-US" altLang="zh-CN" dirty="0" smtClean="0">
              <a:sym typeface="+mn-lt"/>
            </a:endParaRPr>
          </a:p>
        </p:txBody>
      </p:sp>
    </p:spTree>
    <p:extLst>
      <p:ext uri="{BB962C8B-B14F-4D97-AF65-F5344CB8AC3E}">
        <p14:creationId xmlns:p14="http://schemas.microsoft.com/office/powerpoint/2010/main" val="4008307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mn-lt"/>
              </a:rPr>
              <a:t>智简园区网络解决</a:t>
            </a:r>
            <a:r>
              <a:rPr lang="zh-CN" altLang="en-US" dirty="0" smtClean="0">
                <a:sym typeface="+mn-lt"/>
              </a:rPr>
              <a:t>方案产品文档 </a:t>
            </a:r>
            <a:r>
              <a:rPr lang="en-US" altLang="zh-CN" dirty="0">
                <a:sym typeface="+mn-lt"/>
              </a:rPr>
              <a:t>V100R020C10 </a:t>
            </a:r>
            <a:endParaRPr lang="en-US" altLang="zh-CN" dirty="0" smtClean="0">
              <a:sym typeface="+mn-lt"/>
            </a:endParaRPr>
          </a:p>
          <a:p>
            <a:pPr lvl="1"/>
            <a:r>
              <a:rPr lang="en-US" altLang="zh-CN" dirty="0" smtClean="0">
                <a:sym typeface="+mn-lt"/>
              </a:rPr>
              <a:t>https</a:t>
            </a:r>
            <a:r>
              <a:rPr lang="en-US" altLang="zh-CN" dirty="0">
                <a:sym typeface="+mn-lt"/>
              </a:rPr>
              <a:t>://</a:t>
            </a:r>
            <a:r>
              <a:rPr lang="en-US" altLang="zh-CN" dirty="0" smtClean="0">
                <a:sym typeface="+mn-lt"/>
              </a:rPr>
              <a:t>support.huawei.com/hedex/hdx.do?docid=DOC1100797443&amp;lang=zh</a:t>
            </a:r>
          </a:p>
        </p:txBody>
      </p:sp>
    </p:spTree>
    <p:extLst>
      <p:ext uri="{BB962C8B-B14F-4D97-AF65-F5344CB8AC3E}">
        <p14:creationId xmlns:p14="http://schemas.microsoft.com/office/powerpoint/2010/main" val="703140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230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A20E79-9C37-48F7-A6A7-FF2F12CBE914}"/>
</file>

<file path=customXml/itemProps2.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3.xml><?xml version="1.0" encoding="utf-8"?>
<ds:datastoreItem xmlns:ds="http://schemas.openxmlformats.org/officeDocument/2006/customXml" ds:itemID="{DA5960F2-6186-408B-A0DC-5CA5E58B604F}">
  <ds:schemaRefs>
    <ds:schemaRef ds:uri="http://schemas.microsoft.com/office/2006/metadata/properties"/>
    <ds:schemaRef ds:uri="http://purl.org/dc/elements/1.1/"/>
    <ds:schemaRef ds:uri="http://schemas.microsoft.com/office/infopath/2007/PartnerControls"/>
    <ds:schemaRef ds:uri="http://schemas.microsoft.com/office/2006/documentManagement/types"/>
    <ds:schemaRef ds:uri="475f1e55-3009-46d8-9566-5d569a2b3a98"/>
    <ds:schemaRef ds:uri="http://www.w3.org/XML/1998/namespace"/>
    <ds:schemaRef ds:uri="http://purl.org/dc/term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1937</TotalTime>
  <Words>13762</Words>
  <Application>Microsoft Office PowerPoint</Application>
  <PresentationFormat>宽屏</PresentationFormat>
  <Paragraphs>1732</Paragraphs>
  <Slides>89</Slides>
  <Notes>89</Notes>
  <HiddenSlides>1</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89</vt:i4>
      </vt:variant>
    </vt:vector>
  </HeadingPairs>
  <TitlesOfParts>
    <vt:vector size="100" baseType="lpstr">
      <vt:lpstr>方正兰亭黑简体</vt:lpstr>
      <vt:lpstr>Microsoft YaHei</vt:lpstr>
      <vt:lpstr>Microsoft YaHei</vt:lpstr>
      <vt:lpstr>Arial</vt:lpstr>
      <vt:lpstr>Huawei Sans</vt:lpstr>
      <vt:lpstr>Huawei Sans Light</vt:lpstr>
      <vt:lpstr>Wingdings</vt:lpstr>
      <vt:lpstr>2_标题页模板</vt:lpstr>
      <vt:lpstr>3_功能页模板</vt:lpstr>
      <vt:lpstr>4_内容页模板</vt:lpstr>
      <vt:lpstr>5_感谢页模板</vt:lpstr>
      <vt:lpstr>PowerPoint 演示文稿</vt:lpstr>
      <vt:lpstr>中小型云管理园区网络设计</vt:lpstr>
      <vt:lpstr>PowerPoint 演示文稿</vt:lpstr>
      <vt:lpstr>PowerPoint 演示文稿</vt:lpstr>
      <vt:lpstr>PowerPoint 演示文稿</vt:lpstr>
      <vt:lpstr>中小型园区网络面临的挑战</vt:lpstr>
      <vt:lpstr>中小型园区网络业务诉求</vt:lpstr>
      <vt:lpstr>中小型园区网络发展趋势</vt:lpstr>
      <vt:lpstr>PowerPoint 演示文稿</vt:lpstr>
      <vt:lpstr>华为云管理网络，使能极致体验的数字化运营</vt:lpstr>
      <vt:lpstr>CloudCampus网络架构 (中小型云管理园区网络场景)</vt:lpstr>
      <vt:lpstr>CloudCampus方案组件 (中小型云管理园区网络场景)</vt:lpstr>
      <vt:lpstr>CloudCampus方案组件 - iMaster NCE-Campus</vt:lpstr>
      <vt:lpstr>CloudCampus方案组件 - 注册查询中心</vt:lpstr>
      <vt:lpstr>CloudCampus方案组件 - iMaster NCE-CampusInsight</vt:lpstr>
      <vt:lpstr>CloudCampus方案组件 - WLAN Planner</vt:lpstr>
      <vt:lpstr>CloudCampus方案组件 - CloudCampus APP</vt:lpstr>
      <vt:lpstr>CloudCampus方案组件 - 网络硬件产品</vt:lpstr>
      <vt:lpstr>CloudCampus方案关键技术 - 设备即插即用</vt:lpstr>
      <vt:lpstr>设备即插即用 (1)</vt:lpstr>
      <vt:lpstr>设备即插即用 (2)</vt:lpstr>
      <vt:lpstr>设备即插即用 (3)</vt:lpstr>
      <vt:lpstr>设备即插即用 (4)</vt:lpstr>
      <vt:lpstr>CloudCampus方案关键技术 - 云端管理</vt:lpstr>
      <vt:lpstr>CloudCampus中小型云管理园区亮点功能</vt:lpstr>
      <vt:lpstr>PowerPoint 演示文稿</vt:lpstr>
      <vt:lpstr>总体设计流程全景图</vt:lpstr>
      <vt:lpstr>网络管理模式设计</vt:lpstr>
      <vt:lpstr>网络运维模式选择</vt:lpstr>
      <vt:lpstr>License交易/购买模式选择</vt:lpstr>
      <vt:lpstr>License消费/到期模式选择</vt:lpstr>
      <vt:lpstr>总体设计流程全景图</vt:lpstr>
      <vt:lpstr>网络架构设计概览：内网架构 (1)</vt:lpstr>
      <vt:lpstr>网络架构设计概览：内网架构 (2)</vt:lpstr>
      <vt:lpstr>网络架构设计概览：广域互联模型</vt:lpstr>
      <vt:lpstr>网络架构设计要点</vt:lpstr>
      <vt:lpstr>总体设计流程全景图</vt:lpstr>
      <vt:lpstr>典型组网方案：单设备组网</vt:lpstr>
      <vt:lpstr>典型组网方案：出口网关+AP组网</vt:lpstr>
      <vt:lpstr>典型组网方案：出口网关+L2SW+AP组网</vt:lpstr>
      <vt:lpstr>典型组网方案：出口网关+L2SW+分布式AP组网</vt:lpstr>
      <vt:lpstr>典型组网方案小结</vt:lpstr>
      <vt:lpstr>总体设计流程全景图</vt:lpstr>
      <vt:lpstr>网络可靠性总体设计</vt:lpstr>
      <vt:lpstr>链路可靠性设计 (1)</vt:lpstr>
      <vt:lpstr>链路可靠性设计 (2)</vt:lpstr>
      <vt:lpstr>设备可靠性设计</vt:lpstr>
      <vt:lpstr>全网可靠性设计</vt:lpstr>
      <vt:lpstr>总体设计流程全景图</vt:lpstr>
      <vt:lpstr>CloudCampus广域互联方案概述</vt:lpstr>
      <vt:lpstr>IPsec VPN互联组网模型</vt:lpstr>
      <vt:lpstr>SD-WAN方案概述 (1)</vt:lpstr>
      <vt:lpstr>SD-WAN方案概述 (2)</vt:lpstr>
      <vt:lpstr>SD-WAN方案业务设计</vt:lpstr>
      <vt:lpstr>总体设计流程全景图</vt:lpstr>
      <vt:lpstr>VLAN规划设计</vt:lpstr>
      <vt:lpstr>IP地址规划设计 (1)</vt:lpstr>
      <vt:lpstr>IP地址规划设计 (2)</vt:lpstr>
      <vt:lpstr>IP地址规划设计 (3)</vt:lpstr>
      <vt:lpstr>路由设计</vt:lpstr>
      <vt:lpstr>总体设计流程全景图</vt:lpstr>
      <vt:lpstr>网络开局与设备自动化注册</vt:lpstr>
      <vt:lpstr>开局注册</vt:lpstr>
      <vt:lpstr>开局注册：出口网关</vt:lpstr>
      <vt:lpstr>开局注册：内网 (LAN侧)设备</vt:lpstr>
      <vt:lpstr>开局注册：场景化自动开局</vt:lpstr>
      <vt:lpstr>总体设计流程全景图</vt:lpstr>
      <vt:lpstr>无线规划：无线信号覆盖</vt:lpstr>
      <vt:lpstr>无线规划：AP布放规划</vt:lpstr>
      <vt:lpstr>组网规划</vt:lpstr>
      <vt:lpstr>SSID规划</vt:lpstr>
      <vt:lpstr>无线漫游：二层漫游设计</vt:lpstr>
      <vt:lpstr>无线漫游：三层漫游设计 (1)</vt:lpstr>
      <vt:lpstr>无线漫游：三层漫游设计 (2)</vt:lpstr>
      <vt:lpstr>射频调优：AP分组设计</vt:lpstr>
      <vt:lpstr>射频调优：调优方式选择</vt:lpstr>
      <vt:lpstr>射频调优：信道及频宽选择</vt:lpstr>
      <vt:lpstr>总体设计流程全景图</vt:lpstr>
      <vt:lpstr>接入控制场景</vt:lpstr>
      <vt:lpstr>认证方案部署</vt:lpstr>
      <vt:lpstr>总体设计流程全景图</vt:lpstr>
      <vt:lpstr>云管理能力开放全景图</vt:lpstr>
      <vt:lpstr>网络管理设计：管理层次</vt:lpstr>
      <vt:lpstr>网络管理设计：分权分域</vt:lpstr>
      <vt:lpstr>CloudCampus运维功能全景</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luyueyuezjhw</cp:lastModifiedBy>
  <cp:revision>365</cp:revision>
  <cp:lastPrinted>2020-07-31T09:33:18Z</cp:lastPrinted>
  <dcterms:created xsi:type="dcterms:W3CDTF">2018-11-29T10:16:29Z</dcterms:created>
  <dcterms:modified xsi:type="dcterms:W3CDTF">2021-11-02T11:20:46Z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(3)iH5Pa6ecQ1Fr3esLf5ZPe2TUbEOehSSrm/3s3cSp8fvyIbMdAyT0bBDqBlCA3ND4n2i6r1KX
xOF3ji+YSbC1pQexWIA3YadyL7N5wZDqlOM17ZLvbbKgARLGhPsgiao9xvhLbvcc0CjEgm4S
XL8/UAfI+9p68wFWUOPEIVz1kM3WvFPMt+/bINBnDZ9/kQb30IIBuXnFH1LI+W9/971WQxWC
AOcCQNp5Tbqv9F55+H</vt:lpwstr>
  </property>
  <property fmtid="{D5CDD505-2E9C-101B-9397-08002B2CF9AE}" pid="3" name="_2015_ms_pID_7253431">
    <vt:lpwstr>QDiwYewPmy13wynHUSr0a4AtXvnhhJERewyUEb8DQ+jHY5tBhtasVJ
cGf+7R05/4h8tVO1mO5PZlDQ/d5BsGrR3kgNG9Ja3N6JmoT1IKdigW4CTDwMeKXsPiFxZwua
G/iz/2FXyPUentbpZCYZY8AL5HEE4rKU2Cw4dBb/POyrTyKQe8E2IdOXwuQJJWjpYQdUuULm
W33Ii+tGvM51iwcJidHxq9d6WrHKCOIt+mP1</vt:lpwstr>
  </property>
  <property fmtid="{D5CDD505-2E9C-101B-9397-08002B2CF9AE}" pid="4" name="_2015_ms_pID_7253432">
    <vt:lpwstr>BLpipWxDJC7gPFHHkFi81nE=</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1635813201</vt:lpwstr>
  </property>
</Properties>
</file>