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25" r:id="rId1"/>
  </p:sldMasterIdLst>
  <p:notesMasterIdLst>
    <p:notesMasterId r:id="rId49"/>
  </p:notesMasterIdLst>
  <p:handoutMasterIdLst>
    <p:handoutMasterId r:id="rId50"/>
  </p:handoutMasterIdLst>
  <p:sldIdLst>
    <p:sldId id="257" r:id="rId2"/>
    <p:sldId id="258" r:id="rId3"/>
    <p:sldId id="259" r:id="rId4"/>
    <p:sldId id="260" r:id="rId5"/>
    <p:sldId id="261" r:id="rId6"/>
    <p:sldId id="263" r:id="rId7"/>
    <p:sldId id="264" r:id="rId8"/>
    <p:sldId id="266" r:id="rId9"/>
    <p:sldId id="267" r:id="rId10"/>
    <p:sldId id="268" r:id="rId11"/>
    <p:sldId id="269" r:id="rId12"/>
    <p:sldId id="270" r:id="rId13"/>
    <p:sldId id="271" r:id="rId14"/>
    <p:sldId id="272" r:id="rId15"/>
    <p:sldId id="273" r:id="rId16"/>
    <p:sldId id="274" r:id="rId17"/>
    <p:sldId id="280" r:id="rId18"/>
    <p:sldId id="275" r:id="rId19"/>
    <p:sldId id="276" r:id="rId20"/>
    <p:sldId id="277" r:id="rId21"/>
    <p:sldId id="278" r:id="rId22"/>
    <p:sldId id="279"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3840" userDrawn="1">
          <p15:clr>
            <a:srgbClr val="A4A3A4"/>
          </p15:clr>
        </p15:guide>
        <p15:guide id="6" orient="horz" pos="234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061"/>
    <a:srgbClr val="00B0F0"/>
    <a:srgbClr val="FFD17D"/>
    <a:srgbClr val="BDE7F6"/>
    <a:srgbClr val="F4FBFE"/>
    <a:srgbClr val="F3FBFE"/>
    <a:srgbClr val="99DFF9"/>
    <a:srgbClr val="FFF2CC"/>
    <a:srgbClr val="151515"/>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66" autoAdjust="0"/>
  </p:normalViewPr>
  <p:slideViewPr>
    <p:cSldViewPr snapToGrid="0" snapToObjects="1">
      <p:cViewPr varScale="1">
        <p:scale>
          <a:sx n="114" d="100"/>
          <a:sy n="114" d="100"/>
        </p:scale>
        <p:origin x="96" y="108"/>
      </p:cViewPr>
      <p:guideLst>
        <p:guide pos="3840"/>
        <p:guide orient="horz" pos="2341"/>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52" d="100"/>
          <a:sy n="52" d="100"/>
        </p:scale>
        <p:origin x="2958" y="90"/>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t>4/8/2022</a:t>
            </a:fld>
            <a:endParaRPr lang="en-US"/>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2437" y="779463"/>
            <a:ext cx="5932800" cy="33377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32437" y="4596397"/>
            <a:ext cx="5932800" cy="51084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40000" indent="-180000" algn="l" defTabSz="1219304"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900000" indent="-180000" algn="l" defTabSz="1219304"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6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2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0942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a:p>
            <a:endParaRPr lang="zh-CN" altLang="en-US" dirty="0"/>
          </a:p>
        </p:txBody>
      </p:sp>
    </p:spTree>
    <p:extLst>
      <p:ext uri="{BB962C8B-B14F-4D97-AF65-F5344CB8AC3E}">
        <p14:creationId xmlns:p14="http://schemas.microsoft.com/office/powerpoint/2010/main" val="3199576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93174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26690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配置</a:t>
            </a:r>
            <a:r>
              <a:rPr lang="en-US" altLang="zh-CN" dirty="0"/>
              <a:t>BPDU</a:t>
            </a:r>
            <a:r>
              <a:rPr lang="zh-CN" altLang="en-US" dirty="0"/>
              <a:t>泛洪：</a:t>
            </a:r>
          </a:p>
          <a:p>
            <a:pPr lvl="1"/>
            <a:r>
              <a:rPr lang="zh-CN" altLang="en-US" dirty="0"/>
              <a:t>在初始形成</a:t>
            </a:r>
            <a:r>
              <a:rPr lang="en-US" altLang="zh-CN" dirty="0"/>
              <a:t>STP</a:t>
            </a:r>
            <a:r>
              <a:rPr lang="zh-CN" altLang="en-US" dirty="0"/>
              <a:t>树的过程中，所有</a:t>
            </a:r>
            <a:r>
              <a:rPr lang="en-US" altLang="zh-CN" dirty="0"/>
              <a:t>STP</a:t>
            </a:r>
            <a:r>
              <a:rPr lang="zh-CN" altLang="en-US" dirty="0"/>
              <a:t>交换机会周期性地（</a:t>
            </a:r>
            <a:r>
              <a:rPr lang="en-US" altLang="zh-CN" dirty="0"/>
              <a:t>Hello</a:t>
            </a:r>
            <a:r>
              <a:rPr lang="zh-CN" altLang="en-US" baseline="0" dirty="0"/>
              <a:t> </a:t>
            </a:r>
            <a:r>
              <a:rPr lang="en-US" altLang="zh-CN" baseline="0" dirty="0"/>
              <a:t>Time</a:t>
            </a:r>
            <a:r>
              <a:rPr lang="zh-CN" altLang="en-US" dirty="0"/>
              <a:t>，缺省为</a:t>
            </a:r>
            <a:r>
              <a:rPr lang="en-US" altLang="zh-CN" dirty="0"/>
              <a:t>2s</a:t>
            </a:r>
            <a:r>
              <a:rPr lang="zh-CN" altLang="en-US" dirty="0"/>
              <a:t>）主动产生并发送配置</a:t>
            </a:r>
            <a:r>
              <a:rPr lang="en-US" altLang="zh-CN" dirty="0"/>
              <a:t>BPDU</a:t>
            </a:r>
            <a:r>
              <a:rPr lang="zh-CN" altLang="en-US" dirty="0"/>
              <a:t>，大家都认为自己是根桥。</a:t>
            </a:r>
          </a:p>
          <a:p>
            <a:pPr lvl="1"/>
            <a:r>
              <a:rPr lang="zh-CN" altLang="en-US" dirty="0"/>
              <a:t>随着</a:t>
            </a:r>
            <a:r>
              <a:rPr lang="en-US" altLang="zh-CN" dirty="0"/>
              <a:t>BPDU</a:t>
            </a:r>
            <a:r>
              <a:rPr lang="zh-CN" altLang="en-US" dirty="0"/>
              <a:t>的泛洪和收集</a:t>
            </a:r>
            <a:r>
              <a:rPr lang="zh-CN" altLang="en-US" b="0" dirty="0"/>
              <a:t>，各交换机根据</a:t>
            </a:r>
            <a:r>
              <a:rPr lang="en-US" altLang="zh-CN" b="0" dirty="0"/>
              <a:t>BPDU</a:t>
            </a:r>
            <a:r>
              <a:rPr lang="zh-CN" altLang="en-US" b="0" dirty="0"/>
              <a:t>包含的信息进行比较，并选举出根桥。</a:t>
            </a:r>
          </a:p>
          <a:p>
            <a:pPr lvl="1"/>
            <a:r>
              <a:rPr lang="zh-CN" altLang="en-US" dirty="0"/>
              <a:t>在此之后（即</a:t>
            </a:r>
            <a:r>
              <a:rPr lang="en-US" altLang="zh-CN" dirty="0"/>
              <a:t>STP</a:t>
            </a:r>
            <a:r>
              <a:rPr lang="zh-CN" altLang="en-US" dirty="0"/>
              <a:t>树形成后的稳定期），只有根桥会周期性地（缺省为</a:t>
            </a:r>
            <a:r>
              <a:rPr lang="en-US" altLang="zh-CN" dirty="0"/>
              <a:t>2s</a:t>
            </a:r>
            <a:r>
              <a:rPr lang="zh-CN" altLang="en-US" dirty="0"/>
              <a:t>）主动产生并发送配置</a:t>
            </a:r>
            <a:r>
              <a:rPr lang="en-US" altLang="zh-CN" dirty="0"/>
              <a:t>BPDU</a:t>
            </a:r>
            <a:r>
              <a:rPr lang="zh-CN" altLang="en-US" dirty="0"/>
              <a:t>。相应的，非根桥交换机会从自己的根端口周期性地接收到配置</a:t>
            </a:r>
            <a:r>
              <a:rPr lang="en-US" altLang="zh-CN" dirty="0"/>
              <a:t>BPDU</a:t>
            </a:r>
            <a:r>
              <a:rPr lang="zh-CN" altLang="en-US" dirty="0"/>
              <a:t>，并立即触发产生自己的配置</a:t>
            </a:r>
            <a:r>
              <a:rPr lang="en-US" altLang="zh-CN" dirty="0"/>
              <a:t>BPDU</a:t>
            </a:r>
            <a:r>
              <a:rPr lang="zh-CN" altLang="en-US" dirty="0"/>
              <a:t>，然后从自己的指定端口发出。</a:t>
            </a:r>
            <a:r>
              <a:rPr lang="en-US" altLang="zh-CN" dirty="0"/>
              <a:t>——</a:t>
            </a:r>
            <a:r>
              <a:rPr lang="zh-CN" altLang="en-US" dirty="0"/>
              <a:t>这一过程看起来就像是，根桥发出的配置</a:t>
            </a:r>
            <a:r>
              <a:rPr lang="en-US" altLang="zh-CN" dirty="0"/>
              <a:t>BPDU</a:t>
            </a:r>
            <a:r>
              <a:rPr lang="zh-CN" altLang="en-US" dirty="0"/>
              <a:t>逐跳地“经过”了其他的交换机。也可以理解为：从根桥倒一盆水下来，水顺着这棵无环的树从上往下不断地往下流。因此如图所示，可以理解为</a:t>
            </a:r>
            <a:r>
              <a:rPr lang="en-US" altLang="zh-CN" dirty="0"/>
              <a:t>SW1</a:t>
            </a:r>
            <a:r>
              <a:rPr lang="zh-CN" altLang="en-US" dirty="0"/>
              <a:t>与</a:t>
            </a:r>
            <a:r>
              <a:rPr lang="en-US" altLang="zh-CN" dirty="0"/>
              <a:t>SW2</a:t>
            </a:r>
            <a:r>
              <a:rPr lang="zh-CN" altLang="en-US" dirty="0"/>
              <a:t>间的链路是</a:t>
            </a:r>
            <a:r>
              <a:rPr lang="en-US" altLang="zh-CN" dirty="0"/>
              <a:t>SW2</a:t>
            </a:r>
            <a:r>
              <a:rPr lang="zh-CN" altLang="en-US" dirty="0"/>
              <a:t>的上游链路，</a:t>
            </a:r>
            <a:r>
              <a:rPr lang="en-US" altLang="zh-CN" dirty="0"/>
              <a:t>SW2</a:t>
            </a:r>
            <a:r>
              <a:rPr lang="zh-CN" altLang="en-US" dirty="0"/>
              <a:t>与</a:t>
            </a:r>
            <a:r>
              <a:rPr lang="en-US" altLang="zh-CN" dirty="0"/>
              <a:t>SW3</a:t>
            </a:r>
            <a:r>
              <a:rPr lang="zh-CN" altLang="en-US" dirty="0"/>
              <a:t>间的链路是</a:t>
            </a:r>
            <a:r>
              <a:rPr lang="en-US" altLang="zh-CN" dirty="0"/>
              <a:t>SW2</a:t>
            </a:r>
            <a:r>
              <a:rPr lang="zh-CN" altLang="en-US" dirty="0"/>
              <a:t>的下游链路。</a:t>
            </a:r>
          </a:p>
          <a:p>
            <a:pPr lvl="0"/>
            <a:r>
              <a:rPr lang="zh-CN" altLang="en-US" dirty="0"/>
              <a:t>报文格式：</a:t>
            </a:r>
          </a:p>
          <a:p>
            <a:pPr lvl="1"/>
            <a:r>
              <a:rPr lang="zh-CN" altLang="en-US" dirty="0"/>
              <a:t>配置</a:t>
            </a:r>
            <a:r>
              <a:rPr lang="en-US" altLang="zh-CN" dirty="0"/>
              <a:t>BPDU</a:t>
            </a:r>
            <a:r>
              <a:rPr lang="zh-CN" altLang="en-US" dirty="0"/>
              <a:t>携带的参数可以分为</a:t>
            </a:r>
            <a:r>
              <a:rPr lang="en-US" altLang="zh-CN" dirty="0"/>
              <a:t>3</a:t>
            </a:r>
            <a:r>
              <a:rPr lang="zh-CN" altLang="en-US" dirty="0"/>
              <a:t>类：</a:t>
            </a:r>
          </a:p>
          <a:p>
            <a:pPr lvl="1"/>
            <a:r>
              <a:rPr lang="zh-CN" altLang="en-US" dirty="0"/>
              <a:t>第一类，</a:t>
            </a:r>
            <a:r>
              <a:rPr lang="en-US" altLang="zh-CN" dirty="0"/>
              <a:t>BPDU</a:t>
            </a:r>
            <a:r>
              <a:rPr lang="zh-CN" altLang="en-US" dirty="0"/>
              <a:t>对自身的标识，包括：协议标识、协议版本号、</a:t>
            </a:r>
            <a:r>
              <a:rPr lang="en-US" altLang="zh-CN" dirty="0"/>
              <a:t>BPDU</a:t>
            </a:r>
            <a:r>
              <a:rPr lang="zh-CN" altLang="en-US" dirty="0"/>
              <a:t>类型和标志。</a:t>
            </a:r>
          </a:p>
          <a:p>
            <a:pPr lvl="2"/>
            <a:r>
              <a:rPr lang="zh-CN" altLang="en-US" dirty="0"/>
              <a:t>协议标识（</a:t>
            </a:r>
            <a:r>
              <a:rPr lang="en-US" altLang="zh-CN" dirty="0"/>
              <a:t>Protocol ID</a:t>
            </a:r>
            <a:r>
              <a:rPr lang="zh-CN" altLang="en-US" dirty="0"/>
              <a:t>，</a:t>
            </a:r>
            <a:r>
              <a:rPr lang="en-US" altLang="zh-CN" dirty="0"/>
              <a:t>PID</a:t>
            </a:r>
            <a:r>
              <a:rPr lang="zh-CN" altLang="en-US" dirty="0"/>
              <a:t>），</a:t>
            </a:r>
            <a:r>
              <a:rPr lang="en-US" altLang="zh-CN" dirty="0"/>
              <a:t>2</a:t>
            </a:r>
            <a:r>
              <a:rPr lang="en-US" altLang="zh-CN" baseline="0" dirty="0"/>
              <a:t> B</a:t>
            </a:r>
            <a:r>
              <a:rPr lang="en-US" altLang="zh-CN" dirty="0"/>
              <a:t>yte</a:t>
            </a:r>
            <a:r>
              <a:rPr lang="zh-CN" altLang="en-US" dirty="0"/>
              <a:t>，总是</a:t>
            </a:r>
            <a:r>
              <a:rPr lang="en-US" altLang="zh-CN" dirty="0"/>
              <a:t>0x000</a:t>
            </a:r>
            <a:r>
              <a:rPr lang="zh-CN" altLang="en-US" dirty="0"/>
              <a:t>。</a:t>
            </a:r>
          </a:p>
          <a:p>
            <a:pPr lvl="2"/>
            <a:r>
              <a:rPr lang="zh-CN" altLang="en-US" dirty="0"/>
              <a:t>协议版本号（</a:t>
            </a:r>
            <a:r>
              <a:rPr lang="en-US" altLang="zh-CN" dirty="0"/>
              <a:t>Protocol Version ID</a:t>
            </a:r>
            <a:r>
              <a:rPr lang="zh-CN" altLang="en-US" dirty="0"/>
              <a:t>，</a:t>
            </a:r>
            <a:r>
              <a:rPr lang="en-US" altLang="zh-CN" dirty="0"/>
              <a:t>PVI</a:t>
            </a:r>
            <a:r>
              <a:rPr lang="zh-CN" altLang="en-US" dirty="0"/>
              <a:t>），</a:t>
            </a:r>
            <a:r>
              <a:rPr lang="en-US" altLang="zh-CN" dirty="0"/>
              <a:t>1</a:t>
            </a:r>
            <a:r>
              <a:rPr lang="en-US" altLang="zh-CN" baseline="0" dirty="0"/>
              <a:t> Byte</a:t>
            </a:r>
            <a:r>
              <a:rPr lang="zh-CN" altLang="en-US" dirty="0"/>
              <a:t>，总是</a:t>
            </a:r>
            <a:r>
              <a:rPr lang="en-US" altLang="zh-CN" dirty="0"/>
              <a:t>0x00</a:t>
            </a:r>
            <a:r>
              <a:rPr lang="zh-CN" altLang="en-US" dirty="0"/>
              <a:t>。</a:t>
            </a:r>
          </a:p>
          <a:p>
            <a:pPr lvl="2"/>
            <a:r>
              <a:rPr lang="en-US" altLang="zh-CN" dirty="0"/>
              <a:t>BPDU</a:t>
            </a:r>
            <a:r>
              <a:rPr lang="zh-CN" altLang="en-US" dirty="0"/>
              <a:t>类型（</a:t>
            </a:r>
            <a:r>
              <a:rPr lang="en-US" altLang="zh-CN" dirty="0"/>
              <a:t>BPDU Type</a:t>
            </a:r>
            <a:r>
              <a:rPr lang="zh-CN" altLang="en-US" dirty="0"/>
              <a:t>），</a:t>
            </a:r>
            <a:r>
              <a:rPr lang="en-US" altLang="zh-CN" dirty="0"/>
              <a:t>1</a:t>
            </a:r>
            <a:r>
              <a:rPr lang="zh-CN" altLang="en-US" baseline="0" dirty="0"/>
              <a:t> </a:t>
            </a:r>
            <a:r>
              <a:rPr lang="en-US" altLang="zh-CN" baseline="0" dirty="0"/>
              <a:t>Byte</a:t>
            </a:r>
            <a:r>
              <a:rPr lang="zh-CN" altLang="en-US" dirty="0"/>
              <a:t>，配置</a:t>
            </a:r>
            <a:r>
              <a:rPr lang="en-US" altLang="zh-CN" dirty="0"/>
              <a:t>BPDU</a:t>
            </a:r>
            <a:r>
              <a:rPr lang="zh-CN" altLang="en-US" dirty="0"/>
              <a:t>的类型值为</a:t>
            </a:r>
            <a:r>
              <a:rPr lang="en-US" altLang="zh-CN" dirty="0"/>
              <a:t>0x00</a:t>
            </a:r>
            <a:r>
              <a:rPr lang="zh-CN" altLang="en-US" dirty="0"/>
              <a:t>。</a:t>
            </a:r>
          </a:p>
          <a:p>
            <a:pPr lvl="2"/>
            <a:r>
              <a:rPr lang="zh-CN" altLang="en-US" dirty="0"/>
              <a:t>标志（</a:t>
            </a:r>
            <a:r>
              <a:rPr lang="en-US" altLang="zh-CN" dirty="0"/>
              <a:t>Flag</a:t>
            </a:r>
            <a:r>
              <a:rPr lang="zh-CN" altLang="en-US" dirty="0"/>
              <a:t>），</a:t>
            </a:r>
            <a:r>
              <a:rPr lang="en-US" altLang="zh-CN" dirty="0"/>
              <a:t>1</a:t>
            </a:r>
            <a:r>
              <a:rPr lang="zh-CN" altLang="en-US" baseline="0" dirty="0"/>
              <a:t> </a:t>
            </a:r>
            <a:r>
              <a:rPr lang="en-US" altLang="zh-CN" baseline="0" dirty="0"/>
              <a:t>Byte</a:t>
            </a:r>
            <a:r>
              <a:rPr lang="zh-CN" altLang="en-US" dirty="0"/>
              <a:t>，网络拓扑变化标志，仅使用了最低位和最高位。</a:t>
            </a:r>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780924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STP</a:t>
            </a:r>
            <a:r>
              <a:rPr lang="zh-CN" altLang="en-US" dirty="0"/>
              <a:t>基本原理：</a:t>
            </a:r>
          </a:p>
          <a:p>
            <a:pPr lvl="1"/>
            <a:r>
              <a:rPr lang="zh-CN" altLang="en-US" dirty="0"/>
              <a:t>在一个具有物理环路的交换网络中，交换机通过运行</a:t>
            </a:r>
            <a:r>
              <a:rPr lang="en-US" altLang="zh-CN" dirty="0"/>
              <a:t>STP</a:t>
            </a:r>
            <a:r>
              <a:rPr lang="zh-CN" altLang="en-US" dirty="0"/>
              <a:t>，自动生成一个没有环路的工作拓扑，也被称为</a:t>
            </a:r>
            <a:r>
              <a:rPr lang="en-US" altLang="zh-CN" dirty="0"/>
              <a:t>STP</a:t>
            </a:r>
            <a:r>
              <a:rPr lang="zh-CN" altLang="en-US" dirty="0"/>
              <a:t>树。树节点为某些特定的交换机，树枝为某些特定的链路。</a:t>
            </a:r>
          </a:p>
          <a:p>
            <a:r>
              <a:rPr lang="en-US" altLang="zh-CN" dirty="0"/>
              <a:t>STP</a:t>
            </a:r>
            <a:r>
              <a:rPr lang="zh-CN" altLang="en-US" dirty="0"/>
              <a:t>采用四个步骤来解决二层环路问题（生成一棵</a:t>
            </a:r>
            <a:r>
              <a:rPr lang="en-US" altLang="zh-CN" dirty="0"/>
              <a:t>STP</a:t>
            </a:r>
            <a:r>
              <a:rPr lang="zh-CN" altLang="en-US" dirty="0"/>
              <a:t>树）：</a:t>
            </a:r>
          </a:p>
          <a:p>
            <a:pPr lvl="1"/>
            <a:r>
              <a:rPr lang="zh-CN" altLang="en-US" dirty="0"/>
              <a:t>在一个交换网络中选举一个根桥；在每个非根桥上选举一个根端口；为每个网段选举一个指定端口；阻塞交换机上所有剩余的非根、非指定端口（备用端口）。</a:t>
            </a:r>
          </a:p>
          <a:p>
            <a:r>
              <a:rPr lang="zh-CN" altLang="en-US" dirty="0"/>
              <a:t>如何生成</a:t>
            </a:r>
            <a:r>
              <a:rPr lang="en-US" altLang="zh-CN" dirty="0"/>
              <a:t>STP</a:t>
            </a:r>
            <a:r>
              <a:rPr lang="zh-CN" altLang="en-US" dirty="0"/>
              <a:t>树？</a:t>
            </a:r>
          </a:p>
          <a:p>
            <a:pPr lvl="1"/>
            <a:r>
              <a:rPr lang="zh-CN" altLang="en-US" dirty="0"/>
              <a:t>主要通过比较</a:t>
            </a:r>
            <a:r>
              <a:rPr lang="en-US" altLang="zh-CN" dirty="0"/>
              <a:t>4</a:t>
            </a:r>
            <a:r>
              <a:rPr lang="zh-CN" altLang="en-US" dirty="0"/>
              <a:t>个参数：根桥</a:t>
            </a:r>
            <a:r>
              <a:rPr lang="en-US" altLang="zh-CN" dirty="0"/>
              <a:t>ID</a:t>
            </a:r>
            <a:r>
              <a:rPr lang="zh-CN" altLang="en-US" dirty="0"/>
              <a:t>、根路径开销、网桥</a:t>
            </a:r>
            <a:r>
              <a:rPr lang="en-US" altLang="zh-CN" dirty="0"/>
              <a:t>ID</a:t>
            </a:r>
            <a:r>
              <a:rPr lang="zh-CN" altLang="en-US" dirty="0"/>
              <a:t>和端口</a:t>
            </a:r>
            <a:r>
              <a:rPr lang="en-US" altLang="zh-CN" dirty="0"/>
              <a:t>ID</a:t>
            </a:r>
            <a:r>
              <a:rPr lang="zh-CN" altLang="en-US" dirty="0"/>
              <a:t>，值越小，越优先。而这些参数，都是报文</a:t>
            </a:r>
            <a:r>
              <a:rPr lang="en-US" altLang="zh-CN" dirty="0"/>
              <a:t>BPDU</a:t>
            </a:r>
            <a:r>
              <a:rPr lang="zh-CN" altLang="en-US" dirty="0"/>
              <a:t>中的字段。</a:t>
            </a:r>
            <a:endParaRPr lang="en-US" altLang="zh-CN" dirty="0"/>
          </a:p>
          <a:p>
            <a:pPr lvl="2"/>
            <a:r>
              <a:rPr lang="zh-CN" altLang="en-US" dirty="0"/>
              <a:t>根桥选举：比较根桥</a:t>
            </a:r>
            <a:r>
              <a:rPr lang="en-US" altLang="zh-CN" dirty="0"/>
              <a:t>ID</a:t>
            </a:r>
            <a:r>
              <a:rPr lang="zh-CN" altLang="en-US" dirty="0"/>
              <a:t>，最小胜出。</a:t>
            </a:r>
            <a:endParaRPr lang="en-US" altLang="zh-CN" dirty="0"/>
          </a:p>
          <a:p>
            <a:pPr lvl="2"/>
            <a:r>
              <a:rPr lang="zh-CN" altLang="en-US" dirty="0"/>
              <a:t>根端口选举：依次比较</a:t>
            </a:r>
            <a:r>
              <a:rPr lang="en-US" altLang="zh-CN" dirty="0"/>
              <a:t>RPC</a:t>
            </a:r>
            <a:r>
              <a:rPr lang="zh-CN" altLang="en-US" dirty="0"/>
              <a:t>、对端</a:t>
            </a:r>
            <a:r>
              <a:rPr lang="en-US" altLang="zh-CN" dirty="0"/>
              <a:t>BID</a:t>
            </a:r>
            <a:r>
              <a:rPr lang="zh-CN" altLang="en-US" dirty="0"/>
              <a:t>、对端</a:t>
            </a:r>
            <a:r>
              <a:rPr lang="en-US" altLang="zh-CN" dirty="0"/>
              <a:t>PID</a:t>
            </a:r>
            <a:r>
              <a:rPr lang="zh-CN" altLang="en-US" dirty="0"/>
              <a:t>和本端</a:t>
            </a:r>
            <a:r>
              <a:rPr lang="en-US" altLang="zh-CN" dirty="0"/>
              <a:t>PID</a:t>
            </a:r>
            <a:r>
              <a:rPr lang="zh-CN" altLang="en-US" dirty="0"/>
              <a:t>，最小胜出。</a:t>
            </a:r>
            <a:endParaRPr lang="en-US" altLang="zh-CN" dirty="0"/>
          </a:p>
          <a:p>
            <a:pPr lvl="2"/>
            <a:r>
              <a:rPr lang="zh-CN" altLang="en-US" dirty="0"/>
              <a:t>指定端口选举：依次比较</a:t>
            </a:r>
            <a:r>
              <a:rPr lang="en-US" altLang="zh-CN" dirty="0"/>
              <a:t>RPC</a:t>
            </a:r>
            <a:r>
              <a:rPr lang="zh-CN" altLang="en-US" dirty="0"/>
              <a:t>、本端</a:t>
            </a:r>
            <a:r>
              <a:rPr lang="en-US" altLang="zh-CN" dirty="0"/>
              <a:t>BID</a:t>
            </a:r>
            <a:r>
              <a:rPr lang="zh-CN" altLang="en-US" dirty="0"/>
              <a:t>和本端</a:t>
            </a:r>
            <a:r>
              <a:rPr lang="en-US" altLang="zh-CN" dirty="0"/>
              <a:t>PID</a:t>
            </a:r>
            <a:r>
              <a:rPr lang="zh-CN" altLang="en-US" dirty="0"/>
              <a:t>，最小胜出。</a:t>
            </a:r>
            <a:endParaRPr lang="en-US" altLang="zh-CN" dirty="0"/>
          </a:p>
          <a:p>
            <a:pPr lvl="2"/>
            <a:r>
              <a:rPr lang="zh-CN" altLang="en-US" dirty="0"/>
              <a:t>在确定了根端口和指定端口之后，交换机上所有剩余的非根端口和非指定端口被阻塞。</a:t>
            </a:r>
          </a:p>
          <a:p>
            <a:pPr lvl="0"/>
            <a:endParaRPr lang="en-US" altLang="zh-CN" dirty="0"/>
          </a:p>
          <a:p>
            <a:pPr lvl="0"/>
            <a:r>
              <a:rPr lang="zh-CN" altLang="en-US" dirty="0"/>
              <a:t>在华为产品的实现中，被阻塞的非指定端口表现为</a:t>
            </a:r>
            <a:r>
              <a:rPr lang="en-US" altLang="zh-CN" dirty="0"/>
              <a:t>Alternate Port</a:t>
            </a:r>
            <a:r>
              <a:rPr lang="zh-CN" altLang="en-US" dirty="0"/>
              <a:t>。</a:t>
            </a:r>
            <a:endParaRPr lang="en-US" altLang="zh-CN" dirty="0"/>
          </a:p>
          <a:p>
            <a:pPr lvl="0"/>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4099224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zh-CN" dirty="0"/>
              <a:t>根据端口是否接收和发送</a:t>
            </a:r>
            <a:r>
              <a:rPr lang="en-US" altLang="zh-CN" dirty="0"/>
              <a:t>STP</a:t>
            </a:r>
            <a:r>
              <a:rPr lang="zh-CN" altLang="zh-CN" dirty="0"/>
              <a:t>协议帧，以及端口是否能转发用户数据帧，</a:t>
            </a:r>
            <a:r>
              <a:rPr lang="en-US" altLang="zh-CN" dirty="0"/>
              <a:t>STP</a:t>
            </a:r>
            <a:r>
              <a:rPr lang="zh-CN" altLang="zh-CN" dirty="0"/>
              <a:t>定义了五种端口状态：</a:t>
            </a:r>
            <a:r>
              <a:rPr lang="en-US" altLang="zh-CN" dirty="0"/>
              <a:t>Disabled</a:t>
            </a:r>
            <a:r>
              <a:rPr lang="zh-CN" altLang="zh-CN" dirty="0"/>
              <a:t>、</a:t>
            </a:r>
            <a:r>
              <a:rPr lang="en-US" altLang="zh-CN" dirty="0"/>
              <a:t>Blocking</a:t>
            </a:r>
            <a:r>
              <a:rPr lang="zh-CN" altLang="zh-CN" dirty="0"/>
              <a:t>、</a:t>
            </a:r>
            <a:r>
              <a:rPr lang="en-US" altLang="zh-CN" dirty="0"/>
              <a:t>Listening</a:t>
            </a:r>
            <a:r>
              <a:rPr lang="zh-CN" altLang="zh-CN" dirty="0"/>
              <a:t>、</a:t>
            </a:r>
            <a:r>
              <a:rPr lang="en-US" altLang="zh-CN" dirty="0"/>
              <a:t>Learning</a:t>
            </a:r>
            <a:r>
              <a:rPr lang="zh-CN" altLang="zh-CN" dirty="0"/>
              <a:t>和</a:t>
            </a:r>
            <a:r>
              <a:rPr lang="en-US" altLang="zh-CN" dirty="0"/>
              <a:t>Forwarding</a:t>
            </a:r>
            <a:r>
              <a:rPr lang="zh-CN" altLang="zh-CN" dirty="0"/>
              <a:t>。</a:t>
            </a:r>
          </a:p>
          <a:p>
            <a:pPr lvl="1"/>
            <a:r>
              <a:rPr lang="en-US" altLang="zh-CN" dirty="0"/>
              <a:t>Disabled</a:t>
            </a:r>
            <a:r>
              <a:rPr lang="zh-CN" altLang="zh-CN" dirty="0"/>
              <a:t>状态：端口无法接收和发出任何帧（即：端口不仅不处理</a:t>
            </a:r>
            <a:r>
              <a:rPr lang="en-US" altLang="zh-CN" dirty="0"/>
              <a:t>BPDU</a:t>
            </a:r>
            <a:r>
              <a:rPr lang="zh-CN" altLang="zh-CN" dirty="0"/>
              <a:t>报文，也不转发用户流量），端口处于关闭（</a:t>
            </a:r>
            <a:r>
              <a:rPr lang="en-US" altLang="zh-CN" dirty="0"/>
              <a:t>down</a:t>
            </a:r>
            <a:r>
              <a:rPr lang="zh-CN" altLang="zh-CN" dirty="0"/>
              <a:t>）状态。</a:t>
            </a:r>
          </a:p>
          <a:p>
            <a:pPr lvl="1"/>
            <a:r>
              <a:rPr lang="en-US" altLang="zh-CN" dirty="0"/>
              <a:t>Blocking</a:t>
            </a:r>
            <a:r>
              <a:rPr lang="zh-CN" altLang="zh-CN" dirty="0"/>
              <a:t>状态：端口只能接收并处理</a:t>
            </a:r>
            <a:r>
              <a:rPr lang="en-US" altLang="zh-CN" dirty="0"/>
              <a:t>BPDU</a:t>
            </a:r>
            <a:r>
              <a:rPr lang="zh-CN" altLang="zh-CN" dirty="0"/>
              <a:t>，不能发送</a:t>
            </a:r>
            <a:r>
              <a:rPr lang="en-US" altLang="zh-CN" dirty="0"/>
              <a:t>BPDU</a:t>
            </a:r>
            <a:r>
              <a:rPr lang="zh-CN" altLang="zh-CN" dirty="0"/>
              <a:t>，也不能转发用户数据帧（用户流量），是阻塞端口的最终状态。</a:t>
            </a:r>
          </a:p>
          <a:p>
            <a:pPr lvl="1"/>
            <a:r>
              <a:rPr lang="en-US" altLang="zh-CN" dirty="0"/>
              <a:t>Listening</a:t>
            </a:r>
            <a:r>
              <a:rPr lang="zh-CN" altLang="zh-CN" dirty="0"/>
              <a:t>状态：端口可以接收并发送</a:t>
            </a:r>
            <a:r>
              <a:rPr lang="en-US" altLang="zh-CN" dirty="0"/>
              <a:t>BPDU</a:t>
            </a:r>
            <a:r>
              <a:rPr lang="zh-CN" altLang="zh-CN" dirty="0"/>
              <a:t>，但不进行</a:t>
            </a:r>
            <a:r>
              <a:rPr lang="en-US" altLang="zh-CN" dirty="0"/>
              <a:t>MAC</a:t>
            </a:r>
            <a:r>
              <a:rPr lang="zh-CN" altLang="zh-CN" dirty="0"/>
              <a:t>地址学习，也不能转发用户数据帧。这是过渡状态，用于确定端口角色，将选举出根桥、根端口和指定端口</a:t>
            </a:r>
            <a:r>
              <a:rPr lang="zh-CN" altLang="en-US" dirty="0"/>
              <a:t>，同时用于防止临时环路</a:t>
            </a:r>
            <a:r>
              <a:rPr lang="zh-CN" altLang="zh-CN" dirty="0"/>
              <a:t>。</a:t>
            </a:r>
            <a:endParaRPr lang="en-US" altLang="zh-CN" dirty="0"/>
          </a:p>
          <a:p>
            <a:pPr lvl="1"/>
            <a:r>
              <a:rPr lang="en-US" altLang="zh-CN" dirty="0"/>
              <a:t>Learning</a:t>
            </a:r>
            <a:r>
              <a:rPr lang="zh-CN" altLang="zh-CN" dirty="0"/>
              <a:t>状态：端口可以接收并发送</a:t>
            </a:r>
            <a:r>
              <a:rPr lang="en-US" altLang="zh-CN" dirty="0"/>
              <a:t>BPDU</a:t>
            </a:r>
            <a:r>
              <a:rPr lang="zh-CN" altLang="zh-CN" dirty="0"/>
              <a:t>，也可以进行</a:t>
            </a:r>
            <a:r>
              <a:rPr lang="en-US" altLang="zh-CN" dirty="0"/>
              <a:t>MAC</a:t>
            </a:r>
            <a:r>
              <a:rPr lang="zh-CN" altLang="zh-CN" dirty="0"/>
              <a:t>地址学习，根据收到的用户流量构建</a:t>
            </a:r>
            <a:r>
              <a:rPr lang="en-US" altLang="zh-CN" dirty="0"/>
              <a:t>MAC</a:t>
            </a:r>
            <a:r>
              <a:rPr lang="zh-CN" altLang="zh-CN" dirty="0"/>
              <a:t>地址表，但不能转发用户数据帧（用户流量）。</a:t>
            </a:r>
            <a:r>
              <a:rPr lang="zh-CN" altLang="en-US" dirty="0"/>
              <a:t>这也是过渡状态，用于</a:t>
            </a:r>
            <a:r>
              <a:rPr lang="zh-CN" altLang="en-US" b="0" dirty="0"/>
              <a:t>防止</a:t>
            </a:r>
            <a:r>
              <a:rPr lang="en-US" altLang="zh-CN" b="0" dirty="0"/>
              <a:t>MAC</a:t>
            </a:r>
            <a:r>
              <a:rPr lang="zh-CN" altLang="en-US" b="0" dirty="0"/>
              <a:t>地址表未建立，网络中出现大量数据帧泛洪。</a:t>
            </a:r>
            <a:endParaRPr lang="zh-CN" altLang="zh-CN" b="0" dirty="0"/>
          </a:p>
          <a:p>
            <a:pPr lvl="1"/>
            <a:r>
              <a:rPr lang="en-US" altLang="zh-CN" dirty="0"/>
              <a:t>Forwarding</a:t>
            </a:r>
            <a:r>
              <a:rPr lang="zh-CN" altLang="zh-CN" dirty="0"/>
              <a:t>状态：端口可以接收并发送</a:t>
            </a:r>
            <a:r>
              <a:rPr lang="en-US" altLang="zh-CN" dirty="0"/>
              <a:t>BPDU</a:t>
            </a:r>
            <a:r>
              <a:rPr lang="zh-CN" altLang="zh-CN" dirty="0"/>
              <a:t>，也可以进行</a:t>
            </a:r>
            <a:r>
              <a:rPr lang="en-US" altLang="zh-CN" dirty="0"/>
              <a:t>MAC</a:t>
            </a:r>
            <a:r>
              <a:rPr lang="zh-CN" altLang="zh-CN" dirty="0"/>
              <a:t>地址学习，同时能够转发用户数据帧（用户流量）。只有根端口或指定端口才能进入</a:t>
            </a:r>
            <a:r>
              <a:rPr lang="en-US" altLang="zh-CN" dirty="0"/>
              <a:t>Forwarding</a:t>
            </a:r>
            <a:r>
              <a:rPr lang="zh-CN" altLang="zh-CN" dirty="0"/>
              <a:t>状态。</a:t>
            </a:r>
            <a:endParaRPr lang="en-US" altLang="zh-CN" dirty="0"/>
          </a:p>
          <a:p>
            <a:pPr lvl="0"/>
            <a:r>
              <a:rPr lang="zh-CN" altLang="en-US" dirty="0"/>
              <a:t>端口状态迁移：</a:t>
            </a:r>
            <a:endParaRPr lang="en-US" altLang="zh-CN" dirty="0"/>
          </a:p>
          <a:p>
            <a:pPr marL="588963" lvl="1" indent="-228600">
              <a:buSzPct val="100000"/>
              <a:buFont typeface="+mj-lt"/>
              <a:buAutoNum type="arabicPeriod"/>
            </a:pPr>
            <a:r>
              <a:rPr lang="en-US" altLang="zh-CN" dirty="0"/>
              <a:t>STP</a:t>
            </a:r>
            <a:r>
              <a:rPr lang="zh-CN" altLang="zh-CN" dirty="0"/>
              <a:t>交换机的端口在初始启动时，会从</a:t>
            </a:r>
            <a:r>
              <a:rPr lang="en-US" altLang="zh-CN" dirty="0"/>
              <a:t>Disabled</a:t>
            </a:r>
            <a:r>
              <a:rPr lang="zh-CN" altLang="zh-CN" dirty="0"/>
              <a:t>状态进入到</a:t>
            </a:r>
            <a:r>
              <a:rPr lang="en-US" altLang="zh-CN" dirty="0"/>
              <a:t>Blocking</a:t>
            </a:r>
            <a:r>
              <a:rPr lang="zh-CN" altLang="zh-CN" dirty="0"/>
              <a:t>状态。在</a:t>
            </a:r>
            <a:r>
              <a:rPr lang="en-US" altLang="zh-CN" dirty="0"/>
              <a:t>Blocking</a:t>
            </a:r>
            <a:r>
              <a:rPr lang="zh-CN" altLang="zh-CN" dirty="0"/>
              <a:t>状态，端口只接收和分析</a:t>
            </a:r>
            <a:r>
              <a:rPr lang="en-US" altLang="zh-CN" dirty="0"/>
              <a:t>BPDU</a:t>
            </a:r>
            <a:r>
              <a:rPr lang="zh-CN" altLang="zh-CN" dirty="0"/>
              <a:t>，但不发送。</a:t>
            </a:r>
          </a:p>
          <a:p>
            <a:pPr marL="588963" lvl="1" indent="-228600">
              <a:buSzPct val="100000"/>
              <a:buFont typeface="+mj-lt"/>
              <a:buAutoNum type="arabicPeriod"/>
            </a:pPr>
            <a:r>
              <a:rPr lang="zh-CN" altLang="zh-CN" dirty="0"/>
              <a:t>在整个过程中，端口一但被关闭或发生了链路故障，就会进入</a:t>
            </a:r>
            <a:r>
              <a:rPr lang="en-US" altLang="zh-CN" dirty="0"/>
              <a:t>Disabled</a:t>
            </a:r>
            <a:r>
              <a:rPr lang="zh-CN" altLang="zh-CN" dirty="0"/>
              <a:t>状态。</a:t>
            </a:r>
          </a:p>
          <a:p>
            <a:pPr lvl="0"/>
            <a:endParaRPr lang="zh-CN" altLang="en-US" dirty="0"/>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1016726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05881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23366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直连故障：</a:t>
            </a:r>
            <a:endParaRPr lang="en-US" altLang="zh-CN" dirty="0"/>
          </a:p>
          <a:p>
            <a:pPr lvl="1"/>
            <a:r>
              <a:rPr lang="zh-CN" altLang="en-US" dirty="0"/>
              <a:t>两台交换机间有两条链路，其中一条是主用链路，另一条为备用链路。</a:t>
            </a:r>
          </a:p>
          <a:p>
            <a:pPr lvl="1"/>
            <a:r>
              <a:rPr lang="zh-CN" altLang="en-US" dirty="0"/>
              <a:t>当网络稳定时，交换机</a:t>
            </a:r>
            <a:r>
              <a:rPr lang="en-US" altLang="zh-CN" dirty="0"/>
              <a:t>SW2</a:t>
            </a:r>
            <a:r>
              <a:rPr lang="zh-CN" altLang="en-US" dirty="0"/>
              <a:t>检测到根端口的链路发生故障，则被阻塞的端口会开始端口状态迁移，最终进入用户流量转发状态。</a:t>
            </a:r>
            <a:endParaRPr lang="en-US" altLang="zh-CN" dirty="0"/>
          </a:p>
          <a:p>
            <a:pPr lvl="0"/>
            <a:r>
              <a:rPr lang="zh-CN" altLang="en-US" dirty="0"/>
              <a:t>非直连故障：</a:t>
            </a:r>
            <a:endParaRPr lang="en-US" altLang="zh-CN" dirty="0"/>
          </a:p>
          <a:p>
            <a:pPr lvl="1"/>
            <a:r>
              <a:rPr lang="zh-CN" altLang="en-US" dirty="0"/>
              <a:t>当网络正常时，</a:t>
            </a:r>
            <a:r>
              <a:rPr lang="en-US" altLang="zh-CN" dirty="0"/>
              <a:t>SW3</a:t>
            </a:r>
            <a:r>
              <a:rPr lang="zh-CN" altLang="en-US" dirty="0"/>
              <a:t>的被阻塞端口会定期收到来自根桥的</a:t>
            </a:r>
            <a:r>
              <a:rPr lang="en-US" altLang="zh-CN" dirty="0"/>
              <a:t>BPDU</a:t>
            </a:r>
            <a:r>
              <a:rPr lang="zh-CN" altLang="en-US" dirty="0"/>
              <a:t>。</a:t>
            </a:r>
          </a:p>
          <a:p>
            <a:pPr lvl="1"/>
            <a:r>
              <a:rPr lang="zh-CN" altLang="en-US" dirty="0"/>
              <a:t>当</a:t>
            </a:r>
            <a:r>
              <a:rPr lang="en-US" altLang="zh-CN" dirty="0"/>
              <a:t>SW1</a:t>
            </a:r>
            <a:r>
              <a:rPr lang="zh-CN" altLang="en-US" dirty="0"/>
              <a:t>与</a:t>
            </a:r>
            <a:r>
              <a:rPr lang="en-US" altLang="zh-CN" dirty="0"/>
              <a:t>SW2</a:t>
            </a:r>
            <a:r>
              <a:rPr lang="zh-CN" altLang="en-US" dirty="0"/>
              <a:t>之间的链路发生故障时，</a:t>
            </a:r>
            <a:r>
              <a:rPr lang="en-US" altLang="zh-CN" dirty="0"/>
              <a:t>SW2</a:t>
            </a:r>
            <a:r>
              <a:rPr lang="zh-CN" altLang="en-US" dirty="0"/>
              <a:t>能够第一时间检测到故障发生，此时它认为自己成为新的根桥，于是向</a:t>
            </a:r>
            <a:r>
              <a:rPr lang="en-US" altLang="zh-CN" dirty="0"/>
              <a:t>SW3</a:t>
            </a:r>
            <a:r>
              <a:rPr lang="zh-CN" altLang="en-US" dirty="0"/>
              <a:t>发送自己的配置</a:t>
            </a:r>
            <a:r>
              <a:rPr lang="en-US" altLang="zh-CN" dirty="0"/>
              <a:t>BPDU</a:t>
            </a:r>
            <a:r>
              <a:rPr lang="zh-CN" altLang="en-US" dirty="0"/>
              <a:t>（根桥</a:t>
            </a:r>
            <a:r>
              <a:rPr lang="en-US" altLang="zh-CN" dirty="0"/>
              <a:t>ID</a:t>
            </a:r>
            <a:r>
              <a:rPr lang="zh-CN" altLang="en-US" dirty="0"/>
              <a:t>为自己的桥</a:t>
            </a:r>
            <a:r>
              <a:rPr lang="en-US" altLang="zh-CN" dirty="0"/>
              <a:t>ID</a:t>
            </a:r>
            <a:r>
              <a:rPr lang="zh-CN" altLang="en-US" dirty="0"/>
              <a:t>）。</a:t>
            </a:r>
          </a:p>
          <a:p>
            <a:pPr lvl="1"/>
            <a:r>
              <a:rPr lang="en-US" altLang="zh-CN" dirty="0"/>
              <a:t>SW3</a:t>
            </a:r>
            <a:r>
              <a:rPr lang="zh-CN" altLang="en-US" dirty="0"/>
              <a:t>的被阻塞端口将收到上述配置</a:t>
            </a:r>
            <a:r>
              <a:rPr lang="en-US" altLang="zh-CN" dirty="0"/>
              <a:t>BPDU</a:t>
            </a:r>
            <a:r>
              <a:rPr lang="zh-CN" altLang="en-US" dirty="0"/>
              <a:t>，但该</a:t>
            </a:r>
            <a:r>
              <a:rPr lang="en-US" altLang="zh-CN" dirty="0"/>
              <a:t>BPDU</a:t>
            </a:r>
            <a:r>
              <a:rPr lang="zh-CN" altLang="en-US" dirty="0"/>
              <a:t>并不比当前端口所缓存的配置</a:t>
            </a:r>
            <a:r>
              <a:rPr lang="en-US" altLang="zh-CN" dirty="0"/>
              <a:t>BPDU</a:t>
            </a:r>
            <a:r>
              <a:rPr lang="zh-CN" altLang="en-US" dirty="0"/>
              <a:t>更优，因此</a:t>
            </a:r>
            <a:r>
              <a:rPr lang="en-US" altLang="zh-CN" dirty="0"/>
              <a:t>SW3</a:t>
            </a:r>
            <a:r>
              <a:rPr lang="zh-CN" altLang="en-US" dirty="0"/>
              <a:t>忽略该配置</a:t>
            </a:r>
            <a:r>
              <a:rPr lang="en-US" altLang="zh-CN" dirty="0"/>
              <a:t>BPDU</a:t>
            </a:r>
            <a:r>
              <a:rPr lang="zh-CN" altLang="en-US" dirty="0"/>
              <a:t>。</a:t>
            </a:r>
          </a:p>
          <a:p>
            <a:pPr lvl="1"/>
            <a:r>
              <a:rPr lang="zh-CN" altLang="en-US" dirty="0"/>
              <a:t>当</a:t>
            </a:r>
            <a:r>
              <a:rPr lang="en-US" altLang="zh-CN" dirty="0"/>
              <a:t>Max Age</a:t>
            </a:r>
            <a:r>
              <a:rPr lang="zh-CN" altLang="en-US" dirty="0"/>
              <a:t>计时器超时后，</a:t>
            </a:r>
            <a:r>
              <a:rPr lang="en-US" altLang="zh-CN" dirty="0"/>
              <a:t>SW3</a:t>
            </a:r>
            <a:r>
              <a:rPr lang="zh-CN" altLang="en-US" dirty="0"/>
              <a:t>端口上缓存的配置</a:t>
            </a:r>
            <a:r>
              <a:rPr lang="en-US" altLang="zh-CN" dirty="0"/>
              <a:t>BPDU</a:t>
            </a:r>
            <a:r>
              <a:rPr lang="zh-CN" altLang="en-US" dirty="0"/>
              <a:t>老化，</a:t>
            </a:r>
            <a:r>
              <a:rPr lang="en-US" altLang="zh-CN" dirty="0"/>
              <a:t>SW3</a:t>
            </a:r>
            <a:r>
              <a:rPr lang="zh-CN" altLang="en-US" dirty="0"/>
              <a:t>开始向</a:t>
            </a:r>
            <a:r>
              <a:rPr lang="en-US" altLang="zh-CN" dirty="0"/>
              <a:t>SW2</a:t>
            </a:r>
            <a:r>
              <a:rPr lang="zh-CN" altLang="en-US" dirty="0"/>
              <a:t>发送配置</a:t>
            </a:r>
            <a:r>
              <a:rPr lang="en-US" altLang="zh-CN" dirty="0"/>
              <a:t>BPDU</a:t>
            </a:r>
            <a:r>
              <a:rPr lang="zh-CN" altLang="en-US" dirty="0"/>
              <a:t>，该配置</a:t>
            </a:r>
            <a:r>
              <a:rPr lang="en-US" altLang="zh-CN" dirty="0"/>
              <a:t>BPDU</a:t>
            </a:r>
            <a:r>
              <a:rPr lang="zh-CN" altLang="en-US" dirty="0"/>
              <a:t>由根桥</a:t>
            </a:r>
            <a:r>
              <a:rPr lang="en-US" altLang="zh-CN" dirty="0"/>
              <a:t>SW1</a:t>
            </a:r>
            <a:r>
              <a:rPr lang="zh-CN" altLang="en-US" dirty="0"/>
              <a:t>发送的配置</a:t>
            </a:r>
            <a:r>
              <a:rPr lang="en-US" altLang="zh-CN" dirty="0"/>
              <a:t>BPDU</a:t>
            </a:r>
            <a:r>
              <a:rPr lang="zh-CN" altLang="en-US" dirty="0"/>
              <a:t>触发，其中的根桥</a:t>
            </a:r>
            <a:r>
              <a:rPr lang="en-US" altLang="zh-CN" dirty="0"/>
              <a:t>ID</a:t>
            </a:r>
            <a:r>
              <a:rPr lang="zh-CN" altLang="en-US" dirty="0"/>
              <a:t>字段值为</a:t>
            </a:r>
            <a:r>
              <a:rPr lang="en-US" altLang="zh-CN" dirty="0"/>
              <a:t>SW1</a:t>
            </a:r>
            <a:r>
              <a:rPr lang="zh-CN" altLang="en-US" dirty="0"/>
              <a:t>的桥</a:t>
            </a:r>
            <a:r>
              <a:rPr lang="en-US" altLang="zh-CN" dirty="0"/>
              <a:t>ID</a:t>
            </a:r>
            <a:r>
              <a:rPr lang="zh-CN" altLang="en-US" dirty="0"/>
              <a:t>。</a:t>
            </a:r>
          </a:p>
          <a:p>
            <a:pPr lvl="1"/>
            <a:r>
              <a:rPr lang="en-US" altLang="zh-CN" dirty="0"/>
              <a:t>SW2</a:t>
            </a:r>
            <a:r>
              <a:rPr lang="zh-CN" altLang="en-US" dirty="0"/>
              <a:t>收到上述配置</a:t>
            </a:r>
            <a:r>
              <a:rPr lang="en-US" altLang="zh-CN" dirty="0"/>
              <a:t>BPDU</a:t>
            </a:r>
            <a:r>
              <a:rPr lang="zh-CN" altLang="en-US" dirty="0"/>
              <a:t>后，解析该报文并认定</a:t>
            </a:r>
            <a:r>
              <a:rPr lang="en-US" altLang="zh-CN" dirty="0"/>
              <a:t>SW1</a:t>
            </a:r>
            <a:r>
              <a:rPr lang="zh-CN" altLang="en-US" dirty="0"/>
              <a:t>为根桥，于是将其连接</a:t>
            </a:r>
            <a:r>
              <a:rPr lang="en-US" altLang="zh-CN" dirty="0"/>
              <a:t>SW3</a:t>
            </a:r>
            <a:r>
              <a:rPr lang="zh-CN" altLang="en-US" dirty="0"/>
              <a:t>的端口切换为根端口。</a:t>
            </a:r>
          </a:p>
        </p:txBody>
      </p:sp>
    </p:spTree>
    <p:extLst>
      <p:ext uri="{BB962C8B-B14F-4D97-AF65-F5344CB8AC3E}">
        <p14:creationId xmlns:p14="http://schemas.microsoft.com/office/powerpoint/2010/main" val="3135611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拓扑变更，</a:t>
            </a:r>
            <a:r>
              <a:rPr lang="en-US" altLang="zh-CN" dirty="0"/>
              <a:t>STP</a:t>
            </a:r>
            <a:r>
              <a:rPr lang="zh-CN" altLang="en-US" dirty="0"/>
              <a:t>处理过程：</a:t>
            </a:r>
            <a:endParaRPr lang="en-US" altLang="zh-CN" dirty="0"/>
          </a:p>
          <a:p>
            <a:pPr lvl="1"/>
            <a:r>
              <a:rPr lang="zh-CN" altLang="en-US" dirty="0"/>
              <a:t>当交换机检测到拓扑更改时，会通知生成树的根桥，然后根桥将该拓扑更改信息泛洪到整个网络。</a:t>
            </a:r>
            <a:endParaRPr lang="en-US" altLang="zh-CN" dirty="0"/>
          </a:p>
          <a:p>
            <a:pPr lvl="1"/>
            <a:r>
              <a:rPr lang="zh-CN" altLang="en-US" dirty="0"/>
              <a:t>拓扑变化过程，如图：</a:t>
            </a:r>
            <a:endParaRPr lang="en-US" altLang="zh-CN" dirty="0"/>
          </a:p>
          <a:p>
            <a:pPr lvl="2"/>
            <a:r>
              <a:rPr lang="zh-CN" altLang="en-US" dirty="0"/>
              <a:t>如果网络中新增一台交换机，导致工作拓扑发生了变化，则位于变化点的交换机可以通过端口状态直接感知到这种变化，但是其他的交换机是无法直接感知到的。</a:t>
            </a:r>
          </a:p>
          <a:p>
            <a:pPr lvl="2"/>
            <a:r>
              <a:rPr lang="zh-CN" altLang="en-US" dirty="0"/>
              <a:t>位于变化点的交换机会以</a:t>
            </a:r>
            <a:r>
              <a:rPr lang="en-US" altLang="zh-CN" dirty="0"/>
              <a:t>Hello Time</a:t>
            </a:r>
            <a:r>
              <a:rPr lang="zh-CN" altLang="en-US" dirty="0"/>
              <a:t>（缺省</a:t>
            </a:r>
            <a:r>
              <a:rPr lang="en-US" altLang="zh-CN" dirty="0"/>
              <a:t>2s</a:t>
            </a:r>
            <a:r>
              <a:rPr lang="zh-CN" altLang="en-US" dirty="0"/>
              <a:t>）为周期通过其根端口不断向上游发送</a:t>
            </a:r>
            <a:r>
              <a:rPr lang="en-US" altLang="zh-CN" dirty="0"/>
              <a:t>TCN BPDU</a:t>
            </a:r>
            <a:r>
              <a:rPr lang="zh-CN" altLang="en-US" dirty="0"/>
              <a:t>，直到接收到从上游交换机发来的、</a:t>
            </a:r>
            <a:r>
              <a:rPr lang="en-US" altLang="zh-CN" dirty="0"/>
              <a:t>TCA</a:t>
            </a:r>
            <a:r>
              <a:rPr lang="zh-CN" altLang="en-US" dirty="0"/>
              <a:t>位置</a:t>
            </a:r>
            <a:r>
              <a:rPr lang="en-US" altLang="zh-CN" dirty="0"/>
              <a:t>1</a:t>
            </a:r>
            <a:r>
              <a:rPr lang="zh-CN" altLang="en-US" dirty="0"/>
              <a:t>的配置</a:t>
            </a:r>
            <a:r>
              <a:rPr lang="en-US" altLang="zh-CN" dirty="0"/>
              <a:t>BPDU</a:t>
            </a:r>
            <a:r>
              <a:rPr lang="zh-CN" altLang="en-US" dirty="0"/>
              <a:t>。</a:t>
            </a:r>
            <a:r>
              <a:rPr lang="en-US" altLang="zh-CN" dirty="0"/>
              <a:t>TCA</a:t>
            </a:r>
            <a:r>
              <a:rPr lang="zh-CN" altLang="en-US" dirty="0"/>
              <a:t>位置</a:t>
            </a:r>
            <a:r>
              <a:rPr lang="en-US" altLang="zh-CN" dirty="0"/>
              <a:t>1</a:t>
            </a:r>
            <a:r>
              <a:rPr lang="zh-CN" altLang="en-US" dirty="0"/>
              <a:t>是为了通知下游设备停止发送</a:t>
            </a:r>
            <a:r>
              <a:rPr lang="en-US" altLang="zh-CN" dirty="0"/>
              <a:t>TCN BPDU</a:t>
            </a:r>
            <a:r>
              <a:rPr lang="zh-CN" altLang="en-US" dirty="0"/>
              <a:t>报文。</a:t>
            </a:r>
          </a:p>
          <a:p>
            <a:pPr lvl="2"/>
            <a:r>
              <a:rPr lang="zh-CN" altLang="en-US" dirty="0"/>
              <a:t>上游交换机收到</a:t>
            </a:r>
            <a:r>
              <a:rPr lang="en-US" altLang="zh-CN" dirty="0"/>
              <a:t>TCN BPDU</a:t>
            </a:r>
            <a:r>
              <a:rPr lang="zh-CN" altLang="en-US" dirty="0"/>
              <a:t>后，一方面会通过其指定端口回复</a:t>
            </a:r>
            <a:r>
              <a:rPr lang="en-US" altLang="zh-CN" dirty="0"/>
              <a:t>TCA</a:t>
            </a:r>
            <a:r>
              <a:rPr lang="zh-CN" altLang="en-US" dirty="0"/>
              <a:t>位置</a:t>
            </a:r>
            <a:r>
              <a:rPr lang="en-US" altLang="zh-CN" dirty="0"/>
              <a:t>1</a:t>
            </a:r>
            <a:r>
              <a:rPr lang="zh-CN" altLang="en-US" dirty="0"/>
              <a:t>的配置</a:t>
            </a:r>
            <a:r>
              <a:rPr lang="en-US" altLang="zh-CN" dirty="0"/>
              <a:t>BPDU</a:t>
            </a:r>
            <a:r>
              <a:rPr lang="zh-CN" altLang="en-US" dirty="0"/>
              <a:t>，另一方面会以</a:t>
            </a:r>
            <a:r>
              <a:rPr lang="en-US" altLang="zh-CN" dirty="0"/>
              <a:t>Hello Time</a:t>
            </a:r>
            <a:r>
              <a:rPr lang="zh-CN" altLang="en-US" dirty="0"/>
              <a:t>为周期通过其根端口不断向它的上游发送</a:t>
            </a:r>
            <a:r>
              <a:rPr lang="en-US" altLang="zh-CN" dirty="0"/>
              <a:t>TCN BPDU</a:t>
            </a:r>
            <a:r>
              <a:rPr lang="zh-CN" altLang="en-US" dirty="0"/>
              <a:t>。</a:t>
            </a:r>
          </a:p>
          <a:p>
            <a:pPr lvl="2"/>
            <a:r>
              <a:rPr lang="zh-CN" altLang="en-US" dirty="0"/>
              <a:t>这个过程一直重复，直到根桥收到</a:t>
            </a:r>
            <a:r>
              <a:rPr lang="en-US" altLang="zh-CN" dirty="0"/>
              <a:t>TCN BPDU</a:t>
            </a:r>
            <a:r>
              <a:rPr lang="zh-CN" altLang="en-US" dirty="0"/>
              <a:t>。</a:t>
            </a:r>
          </a:p>
          <a:p>
            <a:pPr marL="900000" marR="0" lvl="2" indent="-180000" algn="l" defTabSz="1219304" rtl="0" eaLnBrk="1" fontAlgn="auto" latinLnBrk="0" hangingPunct="1">
              <a:lnSpc>
                <a:spcPct val="125000"/>
              </a:lnSpc>
              <a:spcBef>
                <a:spcPts val="0"/>
              </a:spcBef>
              <a:spcAft>
                <a:spcPts val="600"/>
              </a:spcAft>
              <a:buClrTx/>
              <a:buSzTx/>
              <a:buFont typeface="微软雅黑" panose="020B0503020204020204" pitchFamily="34" charset="-122"/>
              <a:buChar char="▪"/>
              <a:tabLst/>
              <a:defRPr/>
            </a:pPr>
            <a:r>
              <a:rPr lang="zh-CN" altLang="en-US" dirty="0"/>
              <a:t>根桥收到</a:t>
            </a:r>
            <a:r>
              <a:rPr lang="en-US" altLang="zh-CN" dirty="0"/>
              <a:t>TCN BPDU</a:t>
            </a:r>
            <a:r>
              <a:rPr lang="zh-CN" altLang="en-US" dirty="0"/>
              <a:t>后，会发送</a:t>
            </a:r>
            <a:r>
              <a:rPr lang="en-US" altLang="zh-CN" dirty="0"/>
              <a:t>TC</a:t>
            </a:r>
            <a:r>
              <a:rPr lang="zh-CN" altLang="en-US" dirty="0"/>
              <a:t>位置</a:t>
            </a:r>
            <a:r>
              <a:rPr lang="en-US" altLang="zh-CN" dirty="0"/>
              <a:t>1</a:t>
            </a:r>
            <a:r>
              <a:rPr lang="zh-CN" altLang="en-US" dirty="0"/>
              <a:t>的配置</a:t>
            </a:r>
            <a:r>
              <a:rPr lang="en-US" altLang="zh-CN" dirty="0"/>
              <a:t>BPDU</a:t>
            </a:r>
            <a:r>
              <a:rPr lang="zh-CN" altLang="en-US" dirty="0"/>
              <a:t>，通告所有交换机网络拓扑发生了变化，通知下游设备直接删除桥</a:t>
            </a:r>
            <a:r>
              <a:rPr lang="en-US" altLang="zh-CN" dirty="0"/>
              <a:t>MAC</a:t>
            </a:r>
            <a:r>
              <a:rPr lang="zh-CN" altLang="en-US" dirty="0"/>
              <a:t>地址表项。</a:t>
            </a:r>
            <a:endParaRPr lang="en-US" altLang="zh-CN" dirty="0"/>
          </a:p>
          <a:p>
            <a:pPr lvl="2"/>
            <a:endParaRPr lang="en-US" altLang="zh-CN" dirty="0"/>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4016161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900383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RSTP</a:t>
            </a:r>
            <a:r>
              <a:rPr lang="zh-CN" altLang="en-US" dirty="0"/>
              <a:t>可以兼容</a:t>
            </a:r>
            <a:r>
              <a:rPr lang="en-US" altLang="zh-CN" dirty="0"/>
              <a:t>STP</a:t>
            </a:r>
            <a:r>
              <a:rPr lang="zh-CN" altLang="en-US" dirty="0"/>
              <a:t>：</a:t>
            </a:r>
            <a:r>
              <a:rPr lang="en-US" altLang="zh-CN" dirty="0"/>
              <a:t>RSTP</a:t>
            </a:r>
            <a:r>
              <a:rPr lang="zh-CN" altLang="en-US" dirty="0"/>
              <a:t>可以和</a:t>
            </a:r>
            <a:r>
              <a:rPr lang="en-US" altLang="zh-CN" dirty="0"/>
              <a:t>STP</a:t>
            </a:r>
            <a:r>
              <a:rPr lang="zh-CN" altLang="en-US" dirty="0"/>
              <a:t>互操作，但是此时会丧失快速收敛等</a:t>
            </a:r>
            <a:r>
              <a:rPr lang="en-US" altLang="zh-CN" dirty="0"/>
              <a:t>RSTP</a:t>
            </a:r>
            <a:r>
              <a:rPr lang="zh-CN" altLang="en-US" dirty="0"/>
              <a:t>优势。</a:t>
            </a:r>
          </a:p>
          <a:p>
            <a:pPr lvl="1"/>
            <a:r>
              <a:rPr lang="zh-CN" altLang="en-US" dirty="0"/>
              <a:t>当一个网段里既有运行</a:t>
            </a:r>
            <a:r>
              <a:rPr lang="en-US" altLang="zh-CN" dirty="0"/>
              <a:t>STP</a:t>
            </a:r>
            <a:r>
              <a:rPr lang="zh-CN" altLang="en-US" dirty="0"/>
              <a:t>的交换设备又有运行</a:t>
            </a:r>
            <a:r>
              <a:rPr lang="en-US" altLang="zh-CN" dirty="0"/>
              <a:t>RSTP</a:t>
            </a:r>
            <a:r>
              <a:rPr lang="zh-CN" altLang="en-US" dirty="0"/>
              <a:t>的交换设备，</a:t>
            </a:r>
            <a:r>
              <a:rPr lang="en-US" altLang="zh-CN" dirty="0"/>
              <a:t>STP</a:t>
            </a:r>
            <a:r>
              <a:rPr lang="zh-CN" altLang="en-US" dirty="0"/>
              <a:t>交换设备会忽略</a:t>
            </a:r>
            <a:r>
              <a:rPr lang="en-US" altLang="zh-CN" dirty="0"/>
              <a:t>RSTP</a:t>
            </a:r>
            <a:r>
              <a:rPr lang="zh-CN" altLang="en-US" dirty="0"/>
              <a:t>的</a:t>
            </a:r>
            <a:r>
              <a:rPr lang="en-US" altLang="zh-CN" dirty="0"/>
              <a:t>BPDU</a:t>
            </a:r>
            <a:r>
              <a:rPr lang="zh-CN" altLang="en-US" dirty="0"/>
              <a:t>。运行</a:t>
            </a:r>
            <a:r>
              <a:rPr lang="en-US" altLang="zh-CN" dirty="0"/>
              <a:t>RSTP</a:t>
            </a:r>
            <a:r>
              <a:rPr lang="zh-CN" altLang="en-US" dirty="0"/>
              <a:t>的交换设备在某端口上接收到运行</a:t>
            </a:r>
            <a:r>
              <a:rPr lang="en-US" altLang="zh-CN" dirty="0"/>
              <a:t>STP</a:t>
            </a:r>
            <a:r>
              <a:rPr lang="zh-CN" altLang="en-US" dirty="0"/>
              <a:t>的交换设备发出的配置</a:t>
            </a:r>
            <a:r>
              <a:rPr lang="en-US" altLang="zh-CN" dirty="0"/>
              <a:t>BPDU</a:t>
            </a:r>
            <a:r>
              <a:rPr lang="zh-CN" altLang="en-US" dirty="0"/>
              <a:t>，在两个</a:t>
            </a:r>
            <a:r>
              <a:rPr lang="en-US" altLang="zh-CN" dirty="0"/>
              <a:t>Hello Time</a:t>
            </a:r>
            <a:r>
              <a:rPr lang="zh-CN" altLang="en-US" dirty="0"/>
              <a:t>时间之后，便把自己的端口转换到</a:t>
            </a:r>
            <a:r>
              <a:rPr lang="en-US" altLang="zh-CN" dirty="0"/>
              <a:t>STP</a:t>
            </a:r>
            <a:r>
              <a:rPr lang="zh-CN" altLang="en-US" dirty="0"/>
              <a:t>工作模式，发送配置</a:t>
            </a:r>
            <a:r>
              <a:rPr lang="en-US" altLang="zh-CN" dirty="0"/>
              <a:t>BPDU</a:t>
            </a:r>
            <a:r>
              <a:rPr lang="zh-CN" altLang="en-US" dirty="0"/>
              <a:t>，从而实现了互操作。</a:t>
            </a:r>
          </a:p>
          <a:p>
            <a:pPr lvl="1"/>
            <a:r>
              <a:rPr lang="zh-CN" altLang="en-US" dirty="0"/>
              <a:t>在华为技术有限公司的数据通信设备上可以配置运行</a:t>
            </a:r>
            <a:r>
              <a:rPr lang="en-US" altLang="zh-CN" dirty="0"/>
              <a:t>STP</a:t>
            </a:r>
            <a:r>
              <a:rPr lang="zh-CN" altLang="en-US" dirty="0"/>
              <a:t>的交换设备被撤离网络后，运行</a:t>
            </a:r>
            <a:r>
              <a:rPr lang="en-US" altLang="zh-CN" dirty="0"/>
              <a:t>RSTP</a:t>
            </a:r>
            <a:r>
              <a:rPr lang="zh-CN" altLang="en-US" dirty="0"/>
              <a:t>的交换设备可迁移回到</a:t>
            </a:r>
            <a:r>
              <a:rPr lang="en-US" altLang="zh-CN" dirty="0"/>
              <a:t>RSTP</a:t>
            </a:r>
            <a:r>
              <a:rPr lang="zh-CN" altLang="en-US" dirty="0"/>
              <a:t>工作模式。</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976128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794853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2281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en-US" altLang="zh-CN" dirty="0"/>
              <a:t>RSTP</a:t>
            </a:r>
            <a:r>
              <a:rPr lang="zh-CN" altLang="en-US" dirty="0"/>
              <a:t>的端口角色共有</a:t>
            </a:r>
            <a:r>
              <a:rPr lang="en-US" altLang="zh-CN" dirty="0"/>
              <a:t>4</a:t>
            </a:r>
            <a:r>
              <a:rPr lang="zh-CN" altLang="en-US" dirty="0"/>
              <a:t>种：根端口、指定端口、</a:t>
            </a:r>
            <a:r>
              <a:rPr lang="en-US" altLang="zh-CN" dirty="0"/>
              <a:t>Alternate</a:t>
            </a:r>
            <a:r>
              <a:rPr lang="zh-CN" altLang="en-US" dirty="0"/>
              <a:t>端口和</a:t>
            </a:r>
            <a:r>
              <a:rPr lang="en-US" altLang="zh-CN" dirty="0"/>
              <a:t>Backup</a:t>
            </a:r>
            <a:r>
              <a:rPr lang="zh-CN" altLang="en-US" dirty="0"/>
              <a:t>端口。</a:t>
            </a:r>
          </a:p>
          <a:p>
            <a:r>
              <a:rPr lang="zh-CN" altLang="en-US" dirty="0"/>
              <a:t>根端口和指定端口的作用同</a:t>
            </a:r>
            <a:r>
              <a:rPr lang="en-US" altLang="zh-CN" dirty="0"/>
              <a:t>STP</a:t>
            </a:r>
            <a:r>
              <a:rPr lang="zh-CN" altLang="en-US" dirty="0"/>
              <a:t>中定义，</a:t>
            </a:r>
            <a:r>
              <a:rPr lang="en-US" altLang="zh-CN" dirty="0"/>
              <a:t>Alternate</a:t>
            </a:r>
            <a:r>
              <a:rPr lang="zh-CN" altLang="en-US" dirty="0"/>
              <a:t>端口和</a:t>
            </a:r>
            <a:r>
              <a:rPr lang="en-US" altLang="zh-CN" dirty="0"/>
              <a:t>Backup</a:t>
            </a:r>
            <a:r>
              <a:rPr lang="zh-CN" altLang="en-US" dirty="0"/>
              <a:t>端口的描述如下：</a:t>
            </a:r>
          </a:p>
          <a:p>
            <a:pPr lvl="1"/>
            <a:r>
              <a:rPr lang="zh-CN" altLang="en-US" dirty="0"/>
              <a:t>从配置</a:t>
            </a:r>
            <a:r>
              <a:rPr lang="en-US" altLang="zh-CN" dirty="0"/>
              <a:t>BPDU</a:t>
            </a:r>
            <a:r>
              <a:rPr lang="zh-CN" altLang="en-US" dirty="0"/>
              <a:t>报文发送角度来看：</a:t>
            </a:r>
          </a:p>
          <a:p>
            <a:pPr lvl="2"/>
            <a:r>
              <a:rPr lang="en-US" altLang="zh-CN" dirty="0"/>
              <a:t>Alternate</a:t>
            </a:r>
            <a:r>
              <a:rPr lang="zh-CN" altLang="en-US" dirty="0"/>
              <a:t>端口就是由于学习到其它网桥发送的配置</a:t>
            </a:r>
            <a:r>
              <a:rPr lang="en-US" altLang="zh-CN" dirty="0"/>
              <a:t>BPDU</a:t>
            </a:r>
            <a:r>
              <a:rPr lang="zh-CN" altLang="en-US" dirty="0"/>
              <a:t>报文而阻塞的端口。</a:t>
            </a:r>
          </a:p>
          <a:p>
            <a:pPr lvl="2"/>
            <a:r>
              <a:rPr lang="en-US" altLang="zh-CN" dirty="0"/>
              <a:t>Backup</a:t>
            </a:r>
            <a:r>
              <a:rPr lang="zh-CN" altLang="en-US" dirty="0"/>
              <a:t>端口就是由于学习到自己发送的配置</a:t>
            </a:r>
            <a:r>
              <a:rPr lang="en-US" altLang="zh-CN" dirty="0"/>
              <a:t>BPDU</a:t>
            </a:r>
            <a:r>
              <a:rPr lang="zh-CN" altLang="en-US" dirty="0"/>
              <a:t>报文而阻塞的端口。</a:t>
            </a:r>
          </a:p>
          <a:p>
            <a:pPr lvl="1"/>
            <a:r>
              <a:rPr lang="zh-CN" altLang="en-US" dirty="0"/>
              <a:t>从用户流量角度来看：</a:t>
            </a:r>
          </a:p>
          <a:p>
            <a:pPr lvl="2"/>
            <a:r>
              <a:rPr lang="en-US" altLang="zh-CN" dirty="0"/>
              <a:t>Alternate</a:t>
            </a:r>
            <a:r>
              <a:rPr lang="zh-CN" altLang="en-US" dirty="0"/>
              <a:t>端口提供了从指定桥到根的另一条可切换路径，作为根端口的备份端口。</a:t>
            </a:r>
          </a:p>
          <a:p>
            <a:pPr lvl="2"/>
            <a:r>
              <a:rPr lang="en-US" altLang="zh-CN" dirty="0"/>
              <a:t>Backup</a:t>
            </a:r>
            <a:r>
              <a:rPr lang="zh-CN" altLang="en-US" dirty="0"/>
              <a:t>端口作为指定端口的备份，提供了另一条从根桥到相应网段的备份通路。</a:t>
            </a:r>
          </a:p>
          <a:p>
            <a:r>
              <a:rPr lang="zh-CN" altLang="en-US" dirty="0"/>
              <a:t>给一个</a:t>
            </a:r>
            <a:r>
              <a:rPr lang="en-US" altLang="zh-CN" dirty="0"/>
              <a:t>RSTP</a:t>
            </a:r>
            <a:r>
              <a:rPr lang="zh-CN" altLang="en-US" dirty="0"/>
              <a:t>域内所有端口分配角色的过程就是整个拓扑收敛的过程。</a:t>
            </a:r>
          </a:p>
        </p:txBody>
      </p:sp>
    </p:spTree>
    <p:extLst>
      <p:ext uri="{BB962C8B-B14F-4D97-AF65-F5344CB8AC3E}">
        <p14:creationId xmlns:p14="http://schemas.microsoft.com/office/powerpoint/2010/main" val="2390692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6151437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304245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lvl="0"/>
            <a:r>
              <a:rPr lang="en-US" altLang="zh-CN" dirty="0"/>
              <a:t>RST</a:t>
            </a:r>
            <a:r>
              <a:rPr lang="en-US" altLang="zh-CN" baseline="0" dirty="0"/>
              <a:t> </a:t>
            </a:r>
            <a:r>
              <a:rPr lang="en-US" altLang="zh-CN" dirty="0"/>
              <a:t>BPDU</a:t>
            </a:r>
            <a:r>
              <a:rPr lang="zh-CN" altLang="en-US" dirty="0"/>
              <a:t>与</a:t>
            </a:r>
            <a:r>
              <a:rPr lang="en-US" altLang="zh-CN" dirty="0"/>
              <a:t>STP</a:t>
            </a:r>
            <a:r>
              <a:rPr lang="zh-CN" altLang="en-US" dirty="0"/>
              <a:t>配置</a:t>
            </a:r>
            <a:r>
              <a:rPr lang="en-US" altLang="zh-CN" dirty="0"/>
              <a:t>BPDU</a:t>
            </a:r>
            <a:r>
              <a:rPr lang="zh-CN" altLang="en-US" dirty="0"/>
              <a:t>报文格式不同点，包括：</a:t>
            </a:r>
            <a:r>
              <a:rPr lang="en-US" altLang="zh-CN" dirty="0"/>
              <a:t>BPDU</a:t>
            </a:r>
            <a:r>
              <a:rPr lang="zh-CN" altLang="en-US" dirty="0"/>
              <a:t>类型和</a:t>
            </a:r>
            <a:r>
              <a:rPr lang="en-US" altLang="zh-CN" dirty="0"/>
              <a:t>Flag</a:t>
            </a:r>
            <a:r>
              <a:rPr lang="zh-CN" altLang="en-US" dirty="0"/>
              <a:t>字段。</a:t>
            </a:r>
          </a:p>
          <a:p>
            <a:pPr lvl="1"/>
            <a:r>
              <a:rPr lang="en-US" altLang="zh-CN" dirty="0"/>
              <a:t>BPDU</a:t>
            </a:r>
            <a:r>
              <a:rPr lang="zh-CN" altLang="en-US" dirty="0"/>
              <a:t>类型，</a:t>
            </a:r>
            <a:r>
              <a:rPr lang="en-US" altLang="zh-CN" dirty="0"/>
              <a:t>1</a:t>
            </a:r>
            <a:r>
              <a:rPr lang="zh-CN" altLang="en-US" baseline="0" dirty="0"/>
              <a:t> </a:t>
            </a:r>
            <a:r>
              <a:rPr lang="en-US" altLang="zh-CN" baseline="0" dirty="0"/>
              <a:t>Byte</a:t>
            </a:r>
            <a:r>
              <a:rPr lang="zh-CN" altLang="en-US" dirty="0"/>
              <a:t>，</a:t>
            </a:r>
            <a:r>
              <a:rPr lang="en-US" altLang="zh-CN" dirty="0"/>
              <a:t>RST</a:t>
            </a:r>
            <a:r>
              <a:rPr lang="en-US" altLang="zh-CN" baseline="0" dirty="0"/>
              <a:t> </a:t>
            </a:r>
            <a:r>
              <a:rPr lang="en-US" altLang="zh-CN" dirty="0"/>
              <a:t>BPDU</a:t>
            </a:r>
            <a:r>
              <a:rPr lang="zh-CN" altLang="en-US" dirty="0"/>
              <a:t>的类型值为</a:t>
            </a:r>
            <a:r>
              <a:rPr lang="en-US" altLang="zh-CN" dirty="0"/>
              <a:t>0x02</a:t>
            </a:r>
            <a:r>
              <a:rPr lang="zh-CN" altLang="en-US" dirty="0"/>
              <a:t>。</a:t>
            </a:r>
          </a:p>
          <a:p>
            <a:pPr lvl="1"/>
            <a:r>
              <a:rPr lang="zh-CN" altLang="en-US" dirty="0"/>
              <a:t>标志，</a:t>
            </a:r>
            <a:r>
              <a:rPr lang="en-US" altLang="zh-CN" dirty="0"/>
              <a:t>1</a:t>
            </a:r>
            <a:r>
              <a:rPr lang="zh-CN" altLang="en-US" baseline="0" dirty="0"/>
              <a:t> </a:t>
            </a:r>
            <a:r>
              <a:rPr lang="en-US" altLang="zh-CN" baseline="0" dirty="0"/>
              <a:t>Byte</a:t>
            </a:r>
            <a:r>
              <a:rPr lang="zh-CN" altLang="en-US" dirty="0"/>
              <a:t>，包括：</a:t>
            </a:r>
            <a:endParaRPr lang="en-US" altLang="zh-CN" dirty="0"/>
          </a:p>
          <a:p>
            <a:pPr lvl="2"/>
            <a:r>
              <a:rPr lang="en-US" altLang="zh-CN" dirty="0"/>
              <a:t>bit</a:t>
            </a:r>
            <a:r>
              <a:rPr lang="en-US" altLang="zh-CN" baseline="0" dirty="0"/>
              <a:t> 7</a:t>
            </a:r>
            <a:r>
              <a:rPr lang="zh-CN" altLang="en-US" baseline="0" dirty="0"/>
              <a:t>：</a:t>
            </a:r>
            <a:r>
              <a:rPr lang="en-US" altLang="zh-CN" baseline="0" dirty="0"/>
              <a:t>TCA</a:t>
            </a:r>
            <a:r>
              <a:rPr lang="zh-CN" altLang="en-US" baseline="0" dirty="0"/>
              <a:t>，表示拓扑变化确认；</a:t>
            </a:r>
            <a:endParaRPr lang="en-US" altLang="zh-CN" baseline="0" dirty="0"/>
          </a:p>
          <a:p>
            <a:pPr lvl="2"/>
            <a:r>
              <a:rPr lang="en-US" altLang="zh-CN" baseline="0" dirty="0"/>
              <a:t>bit 6</a:t>
            </a:r>
            <a:r>
              <a:rPr lang="zh-CN" altLang="en-US" baseline="0" dirty="0"/>
              <a:t>：</a:t>
            </a:r>
            <a:r>
              <a:rPr lang="en-US" altLang="zh-CN" baseline="0" dirty="0"/>
              <a:t>Agreement</a:t>
            </a:r>
            <a:r>
              <a:rPr lang="zh-CN" altLang="en-US" baseline="0" dirty="0"/>
              <a:t>，表示同意，用于</a:t>
            </a:r>
            <a:r>
              <a:rPr lang="en-US" altLang="zh-CN" baseline="0" dirty="0"/>
              <a:t>P/A</a:t>
            </a:r>
            <a:r>
              <a:rPr lang="zh-CN" altLang="en-US" baseline="0" dirty="0"/>
              <a:t>机制；</a:t>
            </a:r>
            <a:endParaRPr lang="en-US" altLang="zh-CN" baseline="0" dirty="0"/>
          </a:p>
          <a:p>
            <a:pPr lvl="2"/>
            <a:r>
              <a:rPr lang="en-US" altLang="zh-CN" baseline="0" dirty="0"/>
              <a:t>bit 5</a:t>
            </a:r>
            <a:r>
              <a:rPr lang="zh-CN" altLang="en-US" baseline="0" dirty="0"/>
              <a:t>：</a:t>
            </a:r>
            <a:r>
              <a:rPr lang="en-US" altLang="zh-CN" baseline="0" dirty="0"/>
              <a:t>Forwarding</a:t>
            </a:r>
            <a:r>
              <a:rPr lang="zh-CN" altLang="en-US" baseline="0" dirty="0"/>
              <a:t>，表示转发状态；</a:t>
            </a:r>
            <a:endParaRPr lang="en-US" altLang="zh-CN" baseline="0" dirty="0"/>
          </a:p>
          <a:p>
            <a:pPr lvl="2"/>
            <a:r>
              <a:rPr lang="en-US" altLang="zh-CN" baseline="0" dirty="0"/>
              <a:t>bit 4</a:t>
            </a:r>
            <a:r>
              <a:rPr lang="zh-CN" altLang="en-US" baseline="0" dirty="0"/>
              <a:t>：</a:t>
            </a:r>
            <a:r>
              <a:rPr lang="en-US" altLang="zh-CN" baseline="0" dirty="0"/>
              <a:t>Learning</a:t>
            </a:r>
            <a:r>
              <a:rPr lang="zh-CN" altLang="en-US" baseline="0" dirty="0"/>
              <a:t>，表示学习状态；</a:t>
            </a:r>
            <a:endParaRPr lang="en-US" altLang="zh-CN" baseline="0" dirty="0"/>
          </a:p>
          <a:p>
            <a:pPr lvl="2"/>
            <a:r>
              <a:rPr lang="en-US" altLang="zh-CN" baseline="0" dirty="0"/>
              <a:t>bit 3</a:t>
            </a:r>
            <a:r>
              <a:rPr lang="zh-CN" altLang="en-US" baseline="0" dirty="0"/>
              <a:t>和</a:t>
            </a:r>
            <a:r>
              <a:rPr lang="en-US" altLang="zh-CN" baseline="0" dirty="0"/>
              <a:t>bit 2</a:t>
            </a:r>
            <a:r>
              <a:rPr lang="zh-CN" altLang="en-US" baseline="0" dirty="0"/>
              <a:t>：表示端口角色，</a:t>
            </a:r>
            <a:r>
              <a:rPr lang="en-US" altLang="zh-CN" baseline="0" dirty="0"/>
              <a:t>00</a:t>
            </a:r>
            <a:r>
              <a:rPr lang="zh-CN" altLang="en-US" baseline="0" dirty="0"/>
              <a:t>表示未知端口，</a:t>
            </a:r>
            <a:r>
              <a:rPr lang="en-US" altLang="zh-CN" baseline="0" dirty="0"/>
              <a:t>01</a:t>
            </a:r>
            <a:r>
              <a:rPr lang="zh-CN" altLang="en-US" baseline="0" dirty="0"/>
              <a:t>表示替代或备份端口，</a:t>
            </a:r>
            <a:r>
              <a:rPr lang="en-US" altLang="zh-CN" baseline="0" dirty="0"/>
              <a:t>10</a:t>
            </a:r>
            <a:r>
              <a:rPr lang="zh-CN" altLang="en-US" baseline="0" dirty="0"/>
              <a:t>表示根端口，</a:t>
            </a:r>
            <a:r>
              <a:rPr lang="en-US" altLang="zh-CN" baseline="0" dirty="0"/>
              <a:t>11</a:t>
            </a:r>
            <a:r>
              <a:rPr lang="zh-CN" altLang="en-US" baseline="0" dirty="0"/>
              <a:t>表示指定端口；</a:t>
            </a:r>
            <a:endParaRPr lang="en-US" altLang="zh-CN" baseline="0" dirty="0"/>
          </a:p>
          <a:p>
            <a:pPr lvl="2"/>
            <a:r>
              <a:rPr lang="en-US" altLang="zh-CN" baseline="0" dirty="0"/>
              <a:t>bit 1</a:t>
            </a:r>
            <a:r>
              <a:rPr lang="zh-CN" altLang="en-US" baseline="0" dirty="0"/>
              <a:t>：</a:t>
            </a:r>
            <a:r>
              <a:rPr lang="en-US" altLang="zh-CN" baseline="0" dirty="0"/>
              <a:t>Proposal</a:t>
            </a:r>
            <a:r>
              <a:rPr lang="zh-CN" altLang="en-US" baseline="0" dirty="0"/>
              <a:t>，表示提议，用于</a:t>
            </a:r>
            <a:r>
              <a:rPr lang="en-US" altLang="zh-CN" baseline="0" dirty="0"/>
              <a:t>P/A</a:t>
            </a:r>
            <a:r>
              <a:rPr lang="zh-CN" altLang="en-US" baseline="0" dirty="0"/>
              <a:t>机制；</a:t>
            </a:r>
            <a:endParaRPr lang="en-US" altLang="zh-CN" baseline="0" dirty="0"/>
          </a:p>
          <a:p>
            <a:pPr lvl="2"/>
            <a:r>
              <a:rPr lang="en-US" altLang="zh-CN" baseline="0" dirty="0"/>
              <a:t>bit 0</a:t>
            </a:r>
            <a:r>
              <a:rPr lang="zh-CN" altLang="en-US" baseline="0" dirty="0"/>
              <a:t>：</a:t>
            </a:r>
            <a:r>
              <a:rPr lang="en-US" altLang="zh-CN" baseline="0" dirty="0"/>
              <a:t>TC</a:t>
            </a:r>
            <a:r>
              <a:rPr lang="zh-CN" altLang="en-US" baseline="0" dirty="0"/>
              <a:t>，表示拓扑变化。</a:t>
            </a:r>
            <a:endParaRPr lang="zh-CN" altLang="en-US" dirty="0"/>
          </a:p>
        </p:txBody>
      </p:sp>
    </p:spTree>
    <p:extLst>
      <p:ext uri="{BB962C8B-B14F-4D97-AF65-F5344CB8AC3E}">
        <p14:creationId xmlns:p14="http://schemas.microsoft.com/office/powerpoint/2010/main" val="3850285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85013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629469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STP</a:t>
            </a:r>
            <a:r>
              <a:rPr lang="zh-CN" altLang="en-US" dirty="0"/>
              <a:t>：</a:t>
            </a:r>
            <a:endParaRPr lang="en-US" altLang="zh-CN" dirty="0"/>
          </a:p>
          <a:p>
            <a:pPr marL="540000" marR="0" lvl="1"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en-US" altLang="zh-CN" sz="1100" dirty="0">
                <a:solidFill>
                  <a:schemeClr val="bg1">
                    <a:lumMod val="50000"/>
                  </a:schemeClr>
                </a:solidFill>
              </a:rPr>
              <a:t>STP</a:t>
            </a:r>
            <a:r>
              <a:rPr lang="zh-CN" altLang="en-US" sz="1100" dirty="0">
                <a:solidFill>
                  <a:schemeClr val="bg1">
                    <a:lumMod val="50000"/>
                  </a:schemeClr>
                </a:solidFill>
              </a:rPr>
              <a:t>只有指定端口会立即处理次优</a:t>
            </a:r>
            <a:r>
              <a:rPr lang="en-US" altLang="zh-CN" sz="1100" dirty="0">
                <a:solidFill>
                  <a:schemeClr val="bg1">
                    <a:lumMod val="50000"/>
                  </a:schemeClr>
                </a:solidFill>
              </a:rPr>
              <a:t>BPDU</a:t>
            </a:r>
            <a:r>
              <a:rPr lang="zh-CN" altLang="en-US" sz="1100" dirty="0">
                <a:solidFill>
                  <a:schemeClr val="bg1">
                    <a:lumMod val="50000"/>
                  </a:schemeClr>
                </a:solidFill>
              </a:rPr>
              <a:t>，</a:t>
            </a:r>
            <a:r>
              <a:rPr lang="zh-CN" altLang="en-US" dirty="0"/>
              <a:t>其他端口会忽略次优</a:t>
            </a:r>
            <a:r>
              <a:rPr lang="en-US" altLang="zh-CN" dirty="0"/>
              <a:t>BPDU</a:t>
            </a:r>
            <a:r>
              <a:rPr lang="zh-CN" altLang="en-US" dirty="0"/>
              <a:t>，等到</a:t>
            </a:r>
            <a:r>
              <a:rPr lang="en-US" altLang="zh-CN" dirty="0"/>
              <a:t>Max Age</a:t>
            </a:r>
            <a:r>
              <a:rPr lang="zh-CN" altLang="en-US" dirty="0"/>
              <a:t>计时器超时后，缓存的次优</a:t>
            </a:r>
            <a:r>
              <a:rPr lang="en-US" altLang="zh-CN" dirty="0"/>
              <a:t>BPDU</a:t>
            </a:r>
            <a:r>
              <a:rPr lang="zh-CN" altLang="en-US" dirty="0"/>
              <a:t>才会老化，然后发送自身更优的</a:t>
            </a:r>
            <a:r>
              <a:rPr lang="en-US" altLang="zh-CN" dirty="0"/>
              <a:t>BPDU</a:t>
            </a:r>
            <a:r>
              <a:rPr lang="zh-CN" altLang="en-US" dirty="0"/>
              <a:t>，进行新一轮的拓扑收敛。</a:t>
            </a:r>
          </a:p>
          <a:p>
            <a:r>
              <a:rPr lang="en-US" altLang="zh-CN" dirty="0"/>
              <a:t>RSTP</a:t>
            </a:r>
            <a:r>
              <a:rPr lang="zh-CN" altLang="en-US" dirty="0"/>
              <a:t>：</a:t>
            </a:r>
            <a:endParaRPr lang="en-US" altLang="zh-CN" dirty="0"/>
          </a:p>
          <a:p>
            <a:pPr lvl="1"/>
            <a:r>
              <a:rPr lang="en-US" altLang="zh-CN" dirty="0"/>
              <a:t>RSTP</a:t>
            </a:r>
            <a:r>
              <a:rPr lang="zh-CN" altLang="en-US" dirty="0"/>
              <a:t>处理次优</a:t>
            </a:r>
            <a:r>
              <a:rPr lang="en-US" altLang="zh-CN" dirty="0"/>
              <a:t>BPDU</a:t>
            </a:r>
            <a:r>
              <a:rPr lang="zh-CN" altLang="en-US" dirty="0"/>
              <a:t>报文不再依赖于任何定时器（即不再依赖于</a:t>
            </a:r>
            <a:r>
              <a:rPr lang="en-US" altLang="zh-CN" dirty="0"/>
              <a:t>BPDU</a:t>
            </a:r>
            <a:r>
              <a:rPr lang="zh-CN" altLang="en-US" dirty="0"/>
              <a:t>老化）解决拓扑收敛，同时</a:t>
            </a:r>
            <a:r>
              <a:rPr lang="en-US" altLang="zh-CN" dirty="0"/>
              <a:t>RSTP</a:t>
            </a:r>
            <a:r>
              <a:rPr lang="zh-CN" altLang="en-US" dirty="0"/>
              <a:t>的任何端口角色都会处理次优</a:t>
            </a:r>
            <a:r>
              <a:rPr lang="en-US" altLang="zh-CN" dirty="0"/>
              <a:t>BPDU</a:t>
            </a:r>
            <a:r>
              <a:rPr lang="zh-CN" altLang="en-US" dirty="0"/>
              <a:t>，从而加快了拓扑收敛。</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8875876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边缘端口的</a:t>
            </a:r>
            <a:r>
              <a:rPr lang="en-US" altLang="zh-CN" dirty="0"/>
              <a:t>UP</a:t>
            </a:r>
            <a:r>
              <a:rPr lang="zh-CN" altLang="en-US" dirty="0"/>
              <a:t>和</a:t>
            </a:r>
            <a:r>
              <a:rPr lang="en-US" altLang="zh-CN" dirty="0"/>
              <a:t>Down</a:t>
            </a:r>
            <a:r>
              <a:rPr lang="zh-CN" altLang="en-US" dirty="0"/>
              <a:t>，不会引起网络拓扑的变动。</a:t>
            </a:r>
          </a:p>
        </p:txBody>
      </p:sp>
    </p:spTree>
    <p:extLst>
      <p:ext uri="{BB962C8B-B14F-4D97-AF65-F5344CB8AC3E}">
        <p14:creationId xmlns:p14="http://schemas.microsoft.com/office/powerpoint/2010/main" val="3906501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事实上对于</a:t>
            </a:r>
            <a:r>
              <a:rPr lang="en-US" altLang="zh-CN" dirty="0"/>
              <a:t>STP</a:t>
            </a:r>
            <a:r>
              <a:rPr lang="zh-CN" altLang="en-US" dirty="0"/>
              <a:t>，指定端口的选择可以很快完成，主要的速度瓶颈在于：为了避免环路，必须等待足够长的时间，使全网的端口状态全部确定，也就是说必须要等待至少一个</a:t>
            </a:r>
            <a:r>
              <a:rPr lang="en-US" altLang="zh-CN" dirty="0"/>
              <a:t>Forward Delay</a:t>
            </a:r>
            <a:r>
              <a:rPr lang="zh-CN" altLang="en-US" dirty="0"/>
              <a:t>所有端口才能进行转发。</a:t>
            </a:r>
            <a:endParaRPr lang="en-US" altLang="zh-CN" dirty="0"/>
          </a:p>
          <a:p>
            <a:r>
              <a:rPr lang="zh-CN" altLang="en-US" dirty="0"/>
              <a:t>而</a:t>
            </a:r>
            <a:r>
              <a:rPr lang="en-US" altLang="zh-CN" dirty="0"/>
              <a:t>RSTP</a:t>
            </a:r>
            <a:r>
              <a:rPr lang="zh-CN" altLang="en-US" dirty="0"/>
              <a:t>的主要目的就是消除这个瓶颈，通过阻塞自己的非根端口来保证不会出现环路。而使用</a:t>
            </a:r>
            <a:r>
              <a:rPr lang="en-US" altLang="zh-CN" dirty="0"/>
              <a:t>P/A</a:t>
            </a:r>
            <a:r>
              <a:rPr lang="zh-CN" altLang="en-US" dirty="0"/>
              <a:t>机制加快了上游端口进入</a:t>
            </a:r>
            <a:r>
              <a:rPr lang="en-US" altLang="zh-CN" dirty="0"/>
              <a:t>Forwarding</a:t>
            </a:r>
            <a:r>
              <a:rPr lang="zh-CN" altLang="en-US" dirty="0"/>
              <a:t>状态的速度。</a:t>
            </a:r>
            <a:endParaRPr lang="en-US" altLang="zh-CN" dirty="0"/>
          </a:p>
          <a:p>
            <a:pPr lvl="1"/>
            <a:endParaRPr lang="zh-CN" altLang="en-US" dirty="0"/>
          </a:p>
          <a:p>
            <a:endParaRPr lang="zh-CN" altLang="en-US" dirty="0"/>
          </a:p>
        </p:txBody>
      </p:sp>
    </p:spTree>
    <p:extLst>
      <p:ext uri="{BB962C8B-B14F-4D97-AF65-F5344CB8AC3E}">
        <p14:creationId xmlns:p14="http://schemas.microsoft.com/office/powerpoint/2010/main" val="13181337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908588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en-US" altLang="zh-CN" dirty="0"/>
              <a:t>SW2</a:t>
            </a:r>
            <a:r>
              <a:rPr lang="zh-CN" altLang="en-US" dirty="0"/>
              <a:t>的下游端口同步过程：替代端口，状态不变；边缘端口，不参与计算；阻塞非边缘指定端口。</a:t>
            </a:r>
          </a:p>
          <a:p>
            <a:endParaRPr lang="zh-CN" altLang="en-US" dirty="0"/>
          </a:p>
        </p:txBody>
      </p:sp>
    </p:spTree>
    <p:extLst>
      <p:ext uri="{BB962C8B-B14F-4D97-AF65-F5344CB8AC3E}">
        <p14:creationId xmlns:p14="http://schemas.microsoft.com/office/powerpoint/2010/main" val="5413719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851063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在</a:t>
            </a:r>
            <a:r>
              <a:rPr lang="en-US" altLang="zh-CN" dirty="0"/>
              <a:t>STP</a:t>
            </a:r>
            <a:r>
              <a:rPr lang="zh-CN" altLang="en-US" dirty="0"/>
              <a:t>中，如果拓扑发生了变化，需要先向根桥传递</a:t>
            </a:r>
            <a:r>
              <a:rPr lang="en-US" altLang="zh-CN" dirty="0"/>
              <a:t>TCN</a:t>
            </a:r>
            <a:r>
              <a:rPr lang="en-US" altLang="zh-CN" baseline="0" dirty="0"/>
              <a:t> BPDU</a:t>
            </a:r>
            <a:r>
              <a:rPr lang="zh-CN" altLang="en-US" baseline="0" dirty="0"/>
              <a:t>，再由根桥来通知拓扑变更，泛洪</a:t>
            </a:r>
            <a:r>
              <a:rPr lang="en-US" altLang="zh-CN" baseline="0" dirty="0"/>
              <a:t>TC</a:t>
            </a:r>
            <a:r>
              <a:rPr lang="zh-CN" altLang="en-US" baseline="0" dirty="0"/>
              <a:t>置位的配置</a:t>
            </a:r>
            <a:r>
              <a:rPr lang="en-US" altLang="zh-CN" baseline="0" dirty="0"/>
              <a:t>BPDU</a:t>
            </a:r>
            <a:r>
              <a:rPr lang="zh-CN" altLang="en-US" baseline="0" dirty="0"/>
              <a:t>。</a:t>
            </a:r>
            <a:endParaRPr lang="en-US" altLang="zh-CN" baseline="0" dirty="0"/>
          </a:p>
          <a:p>
            <a:r>
              <a:rPr lang="zh-CN" altLang="en-US" baseline="0" dirty="0"/>
              <a:t>在</a:t>
            </a:r>
            <a:r>
              <a:rPr lang="en-US" altLang="zh-CN" baseline="0" dirty="0"/>
              <a:t>RSTP</a:t>
            </a:r>
            <a:r>
              <a:rPr lang="zh-CN" altLang="en-US" baseline="0" dirty="0"/>
              <a:t>中，通过新的拓扑变更机制，</a:t>
            </a:r>
            <a:r>
              <a:rPr lang="en-US" altLang="zh-CN" baseline="0" dirty="0"/>
              <a:t>TC</a:t>
            </a:r>
            <a:r>
              <a:rPr lang="zh-CN" altLang="en-US" baseline="0" dirty="0"/>
              <a:t>置位的</a:t>
            </a:r>
            <a:r>
              <a:rPr lang="en-US" altLang="zh-CN" baseline="0" dirty="0"/>
              <a:t>RST BPDU</a:t>
            </a:r>
            <a:r>
              <a:rPr lang="zh-CN" altLang="en-US" baseline="0" dirty="0"/>
              <a:t>会快速的在网络中泛洪。</a:t>
            </a:r>
            <a:endParaRPr lang="en-US" altLang="zh-CN" baseline="0" dirty="0"/>
          </a:p>
          <a:p>
            <a:pPr lvl="0"/>
            <a:r>
              <a:rPr lang="zh-CN" altLang="en-US" baseline="0" dirty="0"/>
              <a:t>如上图所示：</a:t>
            </a:r>
            <a:endParaRPr lang="en-US" altLang="zh-CN" baseline="0" dirty="0"/>
          </a:p>
          <a:p>
            <a:pPr lvl="1"/>
            <a:r>
              <a:rPr lang="en-US" altLang="zh-CN" baseline="0" dirty="0"/>
              <a:t>SW3</a:t>
            </a:r>
            <a:r>
              <a:rPr lang="zh-CN" altLang="en-US" baseline="0" dirty="0"/>
              <a:t>的根端口收不到从根桥发来的</a:t>
            </a:r>
            <a:r>
              <a:rPr lang="en-US" altLang="zh-CN" baseline="0" dirty="0"/>
              <a:t>RST BPDU</a:t>
            </a:r>
            <a:r>
              <a:rPr lang="zh-CN" altLang="en-US" baseline="0" dirty="0"/>
              <a:t>后，</a:t>
            </a:r>
            <a:r>
              <a:rPr lang="en-US" altLang="zh-CN" baseline="0" dirty="0"/>
              <a:t>Alternate</a:t>
            </a:r>
            <a:r>
              <a:rPr lang="zh-CN" altLang="en-US" baseline="0" dirty="0"/>
              <a:t>端口会快速切换为新的根端口，启动</a:t>
            </a:r>
            <a:r>
              <a:rPr lang="en-US" altLang="zh-CN" baseline="0" dirty="0"/>
              <a:t>TC While Timer</a:t>
            </a:r>
            <a:r>
              <a:rPr lang="zh-CN" altLang="en-US" baseline="0" dirty="0"/>
              <a:t>，并清空状态发生变化的端口学习到的</a:t>
            </a:r>
            <a:r>
              <a:rPr lang="en-US" altLang="zh-CN" baseline="0" dirty="0"/>
              <a:t>MAC</a:t>
            </a:r>
            <a:r>
              <a:rPr lang="zh-CN" altLang="en-US" baseline="0" dirty="0"/>
              <a:t>地址。然后向外发出</a:t>
            </a:r>
            <a:r>
              <a:rPr lang="en-US" altLang="zh-CN" baseline="0" dirty="0"/>
              <a:t>TC</a:t>
            </a:r>
            <a:r>
              <a:rPr lang="zh-CN" altLang="en-US" baseline="0" dirty="0"/>
              <a:t>置位的</a:t>
            </a:r>
            <a:r>
              <a:rPr lang="en-US" altLang="zh-CN" baseline="0" dirty="0"/>
              <a:t>RST BPDU</a:t>
            </a:r>
            <a:r>
              <a:rPr lang="zh-CN" altLang="en-US" baseline="0" dirty="0"/>
              <a:t>。</a:t>
            </a:r>
            <a:endParaRPr lang="en-US" altLang="zh-CN" baseline="0" dirty="0"/>
          </a:p>
          <a:p>
            <a:pPr lvl="1"/>
            <a:r>
              <a:rPr lang="en-US" altLang="zh-CN" baseline="0" dirty="0"/>
              <a:t>SW2</a:t>
            </a:r>
            <a:r>
              <a:rPr lang="zh-CN" altLang="en-US" baseline="0" dirty="0"/>
              <a:t>接收到</a:t>
            </a:r>
            <a:r>
              <a:rPr lang="en-US" altLang="zh-CN" baseline="0" dirty="0"/>
              <a:t>RST BPDU</a:t>
            </a:r>
            <a:r>
              <a:rPr lang="zh-CN" altLang="en-US" baseline="0" dirty="0"/>
              <a:t>后，会清空接收口以外所有端口学习到的</a:t>
            </a:r>
            <a:r>
              <a:rPr lang="en-US" altLang="zh-CN" baseline="0" dirty="0"/>
              <a:t>MAC</a:t>
            </a:r>
            <a:r>
              <a:rPr lang="zh-CN" altLang="en-US" baseline="0" dirty="0"/>
              <a:t>地址，同时开启计时器，并向外发送</a:t>
            </a:r>
            <a:r>
              <a:rPr lang="en-US" altLang="zh-CN" baseline="0" dirty="0"/>
              <a:t>TC</a:t>
            </a:r>
            <a:r>
              <a:rPr lang="zh-CN" altLang="en-US" baseline="0" dirty="0"/>
              <a:t>置位的</a:t>
            </a:r>
            <a:r>
              <a:rPr lang="en-US" altLang="zh-CN" baseline="0" dirty="0"/>
              <a:t>RST BPDU</a:t>
            </a:r>
            <a:r>
              <a:rPr lang="zh-CN" altLang="en-US" baseline="0" dirty="0"/>
              <a:t>。</a:t>
            </a:r>
            <a:endParaRPr lang="en-US" altLang="zh-CN" baseline="0" dirty="0"/>
          </a:p>
          <a:p>
            <a:pPr lvl="1"/>
            <a:r>
              <a:rPr lang="zh-CN" altLang="en-US" baseline="0" dirty="0"/>
              <a:t>最终，</a:t>
            </a:r>
            <a:r>
              <a:rPr lang="en-US" altLang="zh-CN" baseline="0" dirty="0"/>
              <a:t>RST BPDU</a:t>
            </a:r>
            <a:r>
              <a:rPr lang="zh-CN" altLang="en-US" baseline="0" dirty="0"/>
              <a:t>会在全网泛洪。</a:t>
            </a:r>
            <a:endParaRPr lang="zh-CN" altLang="en-US" dirty="0"/>
          </a:p>
        </p:txBody>
      </p:sp>
    </p:spTree>
    <p:extLst>
      <p:ext uri="{BB962C8B-B14F-4D97-AF65-F5344CB8AC3E}">
        <p14:creationId xmlns:p14="http://schemas.microsoft.com/office/powerpoint/2010/main" val="836713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在交换设备上，通常将直接与用户终端（如</a:t>
            </a:r>
            <a:r>
              <a:rPr lang="en-US" altLang="zh-CN" dirty="0"/>
              <a:t>PC</a:t>
            </a:r>
            <a:r>
              <a:rPr lang="zh-CN" altLang="en-US" dirty="0"/>
              <a:t>机）或文件服务器等非交换设备相连的端口配置为边缘端口。</a:t>
            </a:r>
            <a:endParaRPr lang="en-US" altLang="zh-CN" dirty="0"/>
          </a:p>
          <a:p>
            <a:r>
              <a:rPr lang="zh-CN" altLang="en-US" dirty="0"/>
              <a:t>如上图所示：</a:t>
            </a:r>
            <a:endParaRPr lang="en-US" altLang="zh-CN" dirty="0"/>
          </a:p>
          <a:p>
            <a:pPr lvl="1"/>
            <a:r>
              <a:rPr lang="en-US" altLang="zh-CN" dirty="0"/>
              <a:t>SW3</a:t>
            </a:r>
            <a:r>
              <a:rPr lang="zh-CN" altLang="en-US" dirty="0"/>
              <a:t>与某主机互联，并设置该互联端口为边缘端口。</a:t>
            </a:r>
            <a:endParaRPr lang="en-US" altLang="zh-CN" dirty="0"/>
          </a:p>
          <a:p>
            <a:pPr lvl="1"/>
            <a:r>
              <a:rPr lang="zh-CN" altLang="en-US" dirty="0"/>
              <a:t>后来该主机被恶意用户侵占，并伪造</a:t>
            </a:r>
            <a:r>
              <a:rPr lang="en-US" altLang="zh-CN" dirty="0"/>
              <a:t>RST BPDU</a:t>
            </a:r>
            <a:r>
              <a:rPr lang="zh-CN" altLang="en-US" dirty="0"/>
              <a:t>攻击</a:t>
            </a:r>
            <a:r>
              <a:rPr lang="en-US" altLang="zh-CN" dirty="0"/>
              <a:t>SW3</a:t>
            </a:r>
            <a:r>
              <a:rPr lang="zh-CN" altLang="en-US" dirty="0"/>
              <a:t>，因此边缘端口会收到</a:t>
            </a:r>
            <a:r>
              <a:rPr lang="en-US" altLang="zh-CN" dirty="0"/>
              <a:t>RST BPDU</a:t>
            </a:r>
            <a:r>
              <a:rPr lang="zh-CN" altLang="en-US" dirty="0"/>
              <a:t>，失去边缘端口特性，并进行生成树计算。</a:t>
            </a:r>
          </a:p>
        </p:txBody>
      </p:sp>
    </p:spTree>
    <p:extLst>
      <p:ext uri="{BB962C8B-B14F-4D97-AF65-F5344CB8AC3E}">
        <p14:creationId xmlns:p14="http://schemas.microsoft.com/office/powerpoint/2010/main" val="30833133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由于维护人员的错误配置或网络中的恶意攻击，根桥有可能会收到优先级更高的</a:t>
            </a:r>
            <a:r>
              <a:rPr lang="en-US" altLang="zh-CN" dirty="0"/>
              <a:t>RST BPDU</a:t>
            </a:r>
            <a:r>
              <a:rPr lang="zh-CN" altLang="en-US" dirty="0"/>
              <a:t>，使得根桥失去根地位，从而引起网络拓扑结构的错误变动。这种拓扑变化，会导致原来应该通过高速链路的流量被牵引到低速链路上，造成网络拥塞。</a:t>
            </a:r>
            <a:endParaRPr lang="en-US" altLang="zh-CN" dirty="0"/>
          </a:p>
          <a:p>
            <a:r>
              <a:rPr lang="zh-CN" altLang="en-US" dirty="0"/>
              <a:t>如上图所示：</a:t>
            </a:r>
            <a:endParaRPr lang="en-US" altLang="zh-CN" dirty="0"/>
          </a:p>
          <a:p>
            <a:pPr lvl="1"/>
            <a:r>
              <a:rPr lang="zh-CN" altLang="en-US" dirty="0"/>
              <a:t>网络稳定时，</a:t>
            </a:r>
            <a:r>
              <a:rPr lang="en-US" altLang="zh-CN" dirty="0"/>
              <a:t>SW1</a:t>
            </a:r>
            <a:r>
              <a:rPr lang="zh-CN" altLang="en-US" dirty="0"/>
              <a:t>为根桥，向下游设备发送最优</a:t>
            </a:r>
            <a:r>
              <a:rPr lang="en-US" altLang="zh-CN" dirty="0"/>
              <a:t>RST BPDU</a:t>
            </a:r>
            <a:r>
              <a:rPr lang="zh-CN" altLang="en-US" dirty="0"/>
              <a:t>。</a:t>
            </a:r>
            <a:endParaRPr lang="en-US" altLang="zh-CN" dirty="0"/>
          </a:p>
          <a:p>
            <a:pPr lvl="1"/>
            <a:r>
              <a:rPr lang="zh-CN" altLang="en-US" dirty="0"/>
              <a:t>如果</a:t>
            </a:r>
            <a:r>
              <a:rPr lang="en-US" altLang="zh-CN" dirty="0"/>
              <a:t>SW2</a:t>
            </a:r>
            <a:r>
              <a:rPr lang="zh-CN" altLang="en-US" dirty="0"/>
              <a:t>被恶意用户侵占，例如恶意修改</a:t>
            </a:r>
            <a:r>
              <a:rPr lang="en-US" altLang="zh-CN" dirty="0"/>
              <a:t>SW2</a:t>
            </a:r>
            <a:r>
              <a:rPr lang="zh-CN" altLang="en-US" dirty="0"/>
              <a:t>的桥优先级，使得</a:t>
            </a:r>
            <a:r>
              <a:rPr lang="en-US" altLang="zh-CN" dirty="0"/>
              <a:t>SW2</a:t>
            </a:r>
            <a:r>
              <a:rPr lang="zh-CN" altLang="en-US" dirty="0"/>
              <a:t>的桥优先级优于</a:t>
            </a:r>
            <a:r>
              <a:rPr lang="en-US" altLang="zh-CN" dirty="0"/>
              <a:t>SW1</a:t>
            </a:r>
            <a:r>
              <a:rPr lang="zh-CN" altLang="en-US" dirty="0"/>
              <a:t>，此时</a:t>
            </a:r>
            <a:r>
              <a:rPr lang="en-US" altLang="zh-CN" dirty="0"/>
              <a:t>SW2</a:t>
            </a:r>
            <a:r>
              <a:rPr lang="zh-CN" altLang="en-US" dirty="0"/>
              <a:t>会主动发送自己的</a:t>
            </a:r>
            <a:r>
              <a:rPr lang="en-US" altLang="zh-CN" dirty="0"/>
              <a:t>RST BPDU</a:t>
            </a:r>
            <a:r>
              <a:rPr lang="zh-CN" altLang="en-US" dirty="0"/>
              <a:t>。</a:t>
            </a:r>
            <a:endParaRPr lang="en-US" altLang="zh-CN" dirty="0"/>
          </a:p>
          <a:p>
            <a:pPr lvl="1"/>
            <a:r>
              <a:rPr lang="zh-CN" altLang="en-US" dirty="0"/>
              <a:t>当</a:t>
            </a:r>
            <a:r>
              <a:rPr lang="en-US" altLang="zh-CN" dirty="0"/>
              <a:t>SW1</a:t>
            </a:r>
            <a:r>
              <a:rPr lang="zh-CN" altLang="en-US" dirty="0"/>
              <a:t>的指定端口收到该</a:t>
            </a:r>
            <a:r>
              <a:rPr lang="en-US" altLang="zh-CN" dirty="0"/>
              <a:t>RST BPDU</a:t>
            </a:r>
            <a:r>
              <a:rPr lang="zh-CN" altLang="en-US" dirty="0"/>
              <a:t>后，会重新进行生成树计算，而</a:t>
            </a:r>
            <a:r>
              <a:rPr lang="en-US" altLang="zh-CN" dirty="0"/>
              <a:t>SW1</a:t>
            </a:r>
            <a:r>
              <a:rPr lang="zh-CN" altLang="en-US" dirty="0"/>
              <a:t>也会失去根桥的地位，引起拓扑变动。</a:t>
            </a:r>
          </a:p>
        </p:txBody>
      </p:sp>
    </p:spTree>
    <p:extLst>
      <p:ext uri="{BB962C8B-B14F-4D97-AF65-F5344CB8AC3E}">
        <p14:creationId xmlns:p14="http://schemas.microsoft.com/office/powerpoint/2010/main" val="30320090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在运行</a:t>
            </a:r>
            <a:r>
              <a:rPr lang="en-US" altLang="zh-CN" dirty="0"/>
              <a:t>RSTP</a:t>
            </a:r>
            <a:r>
              <a:rPr lang="zh-CN" altLang="en-US" dirty="0"/>
              <a:t>的网络中，根端口状态是依靠不断接收来自上游交换设备的</a:t>
            </a:r>
            <a:r>
              <a:rPr lang="en-US" altLang="zh-CN" dirty="0"/>
              <a:t>RST BPDU</a:t>
            </a:r>
            <a:r>
              <a:rPr lang="zh-CN" altLang="en-US" dirty="0"/>
              <a:t>维持。当由于链路拥塞或者单向链路故障导致根端口收不到来自上游交换设备的</a:t>
            </a:r>
            <a:r>
              <a:rPr lang="en-US" altLang="zh-CN" dirty="0"/>
              <a:t>RST BPDU</a:t>
            </a:r>
            <a:r>
              <a:rPr lang="zh-CN" altLang="en-US" dirty="0"/>
              <a:t>时，此时交换设备会重新选择根端口。</a:t>
            </a:r>
            <a:endParaRPr lang="en-US" altLang="zh-CN" dirty="0"/>
          </a:p>
          <a:p>
            <a:r>
              <a:rPr lang="zh-CN" altLang="en-US" dirty="0"/>
              <a:t>如图所示，当</a:t>
            </a:r>
            <a:r>
              <a:rPr lang="en-US" altLang="zh-CN" dirty="0"/>
              <a:t>SW1</a:t>
            </a:r>
            <a:r>
              <a:rPr lang="zh-CN" altLang="en-US" dirty="0"/>
              <a:t>和</a:t>
            </a:r>
            <a:r>
              <a:rPr lang="en-US" altLang="zh-CN" dirty="0"/>
              <a:t>SW3</a:t>
            </a:r>
            <a:r>
              <a:rPr lang="zh-CN" altLang="en-US" dirty="0"/>
              <a:t>之间的链路发生单向链路故障时，</a:t>
            </a:r>
            <a:r>
              <a:rPr lang="en-US" altLang="zh-CN" dirty="0"/>
              <a:t>SW3</a:t>
            </a:r>
            <a:r>
              <a:rPr lang="zh-CN" altLang="en-US" dirty="0"/>
              <a:t>由于根端口在超时时间内收不到来自上游设备的</a:t>
            </a:r>
            <a:r>
              <a:rPr lang="en-US" altLang="zh-CN" dirty="0"/>
              <a:t>BPDU</a:t>
            </a:r>
            <a:r>
              <a:rPr lang="zh-CN" altLang="en-US" dirty="0"/>
              <a:t>报文，</a:t>
            </a:r>
            <a:r>
              <a:rPr lang="en-US" altLang="zh-CN" dirty="0"/>
              <a:t>Alternate</a:t>
            </a:r>
            <a:r>
              <a:rPr lang="zh-CN" altLang="en-US" dirty="0"/>
              <a:t>端口切换成根端口，根端口切换成指定端口，从而形成了环路。</a:t>
            </a:r>
          </a:p>
        </p:txBody>
      </p:sp>
    </p:spTree>
    <p:extLst>
      <p:ext uri="{BB962C8B-B14F-4D97-AF65-F5344CB8AC3E}">
        <p14:creationId xmlns:p14="http://schemas.microsoft.com/office/powerpoint/2010/main" val="41497703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sz="1100" dirty="0">
                <a:solidFill>
                  <a:prstClr val="black"/>
                </a:solidFill>
              </a:rPr>
              <a:t>交换设备在接收到</a:t>
            </a:r>
            <a:r>
              <a:rPr lang="en-US" altLang="zh-CN" sz="1100" dirty="0">
                <a:solidFill>
                  <a:prstClr val="black"/>
                </a:solidFill>
              </a:rPr>
              <a:t>TC</a:t>
            </a:r>
            <a:r>
              <a:rPr lang="zh-CN" altLang="en-US" sz="1100" dirty="0">
                <a:solidFill>
                  <a:prstClr val="black"/>
                </a:solidFill>
              </a:rPr>
              <a:t>置位的</a:t>
            </a:r>
            <a:r>
              <a:rPr lang="en-US" altLang="zh-CN" sz="1100" dirty="0">
                <a:solidFill>
                  <a:prstClr val="black"/>
                </a:solidFill>
              </a:rPr>
              <a:t>RST</a:t>
            </a:r>
            <a:r>
              <a:rPr lang="en-US" altLang="zh-CN" sz="1100" baseline="0" dirty="0">
                <a:solidFill>
                  <a:prstClr val="black"/>
                </a:solidFill>
              </a:rPr>
              <a:t> </a:t>
            </a:r>
            <a:r>
              <a:rPr lang="en-US" altLang="zh-CN" sz="1100" dirty="0">
                <a:solidFill>
                  <a:prstClr val="black"/>
                </a:solidFill>
              </a:rPr>
              <a:t>BPDU</a:t>
            </a:r>
            <a:r>
              <a:rPr lang="zh-CN" altLang="en-US" sz="1100" dirty="0">
                <a:solidFill>
                  <a:prstClr val="black"/>
                </a:solidFill>
              </a:rPr>
              <a:t>报文后，会执行</a:t>
            </a:r>
            <a:r>
              <a:rPr lang="en-US" altLang="zh-CN" sz="1100" dirty="0">
                <a:solidFill>
                  <a:prstClr val="black"/>
                </a:solidFill>
              </a:rPr>
              <a:t>MAC</a:t>
            </a:r>
            <a:r>
              <a:rPr lang="zh-CN" altLang="en-US" sz="1100" dirty="0">
                <a:solidFill>
                  <a:prstClr val="black"/>
                </a:solidFill>
              </a:rPr>
              <a:t>地址表项的删除操作。如果有人伪造</a:t>
            </a:r>
            <a:r>
              <a:rPr lang="en-US" altLang="zh-CN" sz="1100" dirty="0">
                <a:solidFill>
                  <a:prstClr val="black"/>
                </a:solidFill>
              </a:rPr>
              <a:t>TC</a:t>
            </a:r>
            <a:r>
              <a:rPr lang="zh-CN" altLang="en-US" sz="1100" dirty="0">
                <a:solidFill>
                  <a:prstClr val="black"/>
                </a:solidFill>
              </a:rPr>
              <a:t>置位的</a:t>
            </a:r>
            <a:r>
              <a:rPr lang="en-US" altLang="zh-CN" sz="1100" dirty="0">
                <a:solidFill>
                  <a:prstClr val="black"/>
                </a:solidFill>
              </a:rPr>
              <a:t>RST</a:t>
            </a:r>
            <a:r>
              <a:rPr lang="en-US" altLang="zh-CN" sz="1100" baseline="0" dirty="0">
                <a:solidFill>
                  <a:prstClr val="black"/>
                </a:solidFill>
              </a:rPr>
              <a:t> </a:t>
            </a:r>
            <a:r>
              <a:rPr lang="en-US" altLang="zh-CN" sz="1100" dirty="0">
                <a:solidFill>
                  <a:prstClr val="black"/>
                </a:solidFill>
              </a:rPr>
              <a:t>BPDU</a:t>
            </a:r>
            <a:r>
              <a:rPr lang="zh-CN" altLang="en-US" sz="1100" dirty="0">
                <a:solidFill>
                  <a:prstClr val="black"/>
                </a:solidFill>
              </a:rPr>
              <a:t>报文恶意攻击交换设备时，交换设备短时间内会收到很多</a:t>
            </a:r>
            <a:r>
              <a:rPr lang="en-US" altLang="zh-CN" sz="1100" dirty="0">
                <a:solidFill>
                  <a:prstClr val="black"/>
                </a:solidFill>
              </a:rPr>
              <a:t>RST BPDU</a:t>
            </a:r>
            <a:r>
              <a:rPr lang="zh-CN" altLang="en-US" sz="1100" dirty="0">
                <a:solidFill>
                  <a:prstClr val="black"/>
                </a:solidFill>
              </a:rPr>
              <a:t>报文，频繁的删除操作会给设备造成很大的负担，给网络的稳定带来很大隐患。</a:t>
            </a:r>
            <a:endParaRPr lang="en-US" altLang="zh-CN" sz="1100" dirty="0">
              <a:solidFill>
                <a:prstClr val="black"/>
              </a:solidFill>
            </a:endParaRPr>
          </a:p>
          <a:p>
            <a:r>
              <a:rPr lang="zh-CN" altLang="en-US" dirty="0"/>
              <a:t>如上图所示：</a:t>
            </a:r>
            <a:endParaRPr lang="en-US" altLang="zh-CN" dirty="0"/>
          </a:p>
          <a:p>
            <a:pPr lvl="1"/>
            <a:r>
              <a:rPr lang="zh-CN" altLang="en-US" dirty="0"/>
              <a:t>如果</a:t>
            </a:r>
            <a:r>
              <a:rPr lang="en-US" altLang="zh-CN" dirty="0"/>
              <a:t>SW3</a:t>
            </a:r>
            <a:r>
              <a:rPr lang="zh-CN" altLang="en-US" dirty="0"/>
              <a:t>被恶意用户侵占，伪造大量</a:t>
            </a:r>
            <a:r>
              <a:rPr lang="en-US" altLang="zh-CN" dirty="0"/>
              <a:t>TC</a:t>
            </a:r>
            <a:r>
              <a:rPr lang="zh-CN" altLang="en-US" dirty="0"/>
              <a:t>置位的</a:t>
            </a:r>
            <a:r>
              <a:rPr lang="en-US" altLang="zh-CN" dirty="0"/>
              <a:t>RST BPDU</a:t>
            </a:r>
            <a:r>
              <a:rPr lang="zh-CN" altLang="en-US" dirty="0"/>
              <a:t>并向外发送。</a:t>
            </a:r>
            <a:r>
              <a:rPr lang="en-US" altLang="zh-CN" dirty="0"/>
              <a:t>SW2</a:t>
            </a:r>
            <a:r>
              <a:rPr lang="zh-CN" altLang="en-US" dirty="0"/>
              <a:t>收到这些</a:t>
            </a:r>
            <a:r>
              <a:rPr lang="en-US" altLang="zh-CN" dirty="0"/>
              <a:t>RST BPDU</a:t>
            </a:r>
            <a:r>
              <a:rPr lang="zh-CN" altLang="en-US" dirty="0"/>
              <a:t>后，会频繁执行</a:t>
            </a:r>
            <a:r>
              <a:rPr lang="en-US" altLang="zh-CN" dirty="0"/>
              <a:t>MAC</a:t>
            </a:r>
            <a:r>
              <a:rPr lang="zh-CN" altLang="en-US" dirty="0"/>
              <a:t>地址表项的删除操作，形成巨大负担。</a:t>
            </a:r>
            <a:endParaRPr lang="zh-CN" altLang="en-US" sz="1100" dirty="0">
              <a:solidFill>
                <a:prstClr val="black"/>
              </a:solidFill>
            </a:endParaRPr>
          </a:p>
          <a:p>
            <a:endParaRPr lang="zh-CN" altLang="en-US" dirty="0"/>
          </a:p>
        </p:txBody>
      </p:sp>
    </p:spTree>
    <p:extLst>
      <p:ext uri="{BB962C8B-B14F-4D97-AF65-F5344CB8AC3E}">
        <p14:creationId xmlns:p14="http://schemas.microsoft.com/office/powerpoint/2010/main" val="34628879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414499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en-US" altLang="zh-CN" dirty="0"/>
              <a:t>RSTP</a:t>
            </a:r>
            <a:r>
              <a:rPr lang="zh-CN" altLang="en-US" dirty="0"/>
              <a:t>收敛与</a:t>
            </a:r>
            <a:r>
              <a:rPr lang="en-US" altLang="zh-CN" dirty="0"/>
              <a:t>STP</a:t>
            </a:r>
            <a:r>
              <a:rPr lang="zh-CN" altLang="en-US" dirty="0"/>
              <a:t>收敛过程类似。</a:t>
            </a:r>
            <a:endParaRPr lang="en-US" altLang="zh-CN" dirty="0"/>
          </a:p>
          <a:p>
            <a:r>
              <a:rPr lang="zh-CN" altLang="en-US" dirty="0"/>
              <a:t>网络初始化时，网络中所有的</a:t>
            </a:r>
            <a:r>
              <a:rPr lang="en-US" altLang="zh-CN" dirty="0"/>
              <a:t>RSTP</a:t>
            </a:r>
            <a:r>
              <a:rPr lang="zh-CN" altLang="en-US" dirty="0"/>
              <a:t>交换机都认为自己是“根桥”，并设置每个端口都为指定端口，发送</a:t>
            </a:r>
            <a:r>
              <a:rPr lang="en-US" altLang="zh-CN" dirty="0"/>
              <a:t>RST BPDU</a:t>
            </a:r>
            <a:r>
              <a:rPr lang="zh-CN" altLang="en-US" dirty="0"/>
              <a:t>。其中</a:t>
            </a:r>
            <a:r>
              <a:rPr lang="en-US" altLang="zh-CN" dirty="0"/>
              <a:t>SW1</a:t>
            </a:r>
            <a:r>
              <a:rPr lang="zh-CN" altLang="en-US" dirty="0"/>
              <a:t>的桥</a:t>
            </a:r>
            <a:r>
              <a:rPr lang="en-US" altLang="zh-CN" dirty="0"/>
              <a:t>ID</a:t>
            </a:r>
            <a:r>
              <a:rPr lang="zh-CN" altLang="en-US" dirty="0"/>
              <a:t>最优，最终会被选举为根桥。</a:t>
            </a:r>
          </a:p>
          <a:p>
            <a:endParaRPr lang="zh-CN" altLang="en-US" dirty="0"/>
          </a:p>
        </p:txBody>
      </p:sp>
    </p:spTree>
    <p:extLst>
      <p:ext uri="{BB962C8B-B14F-4D97-AF65-F5344CB8AC3E}">
        <p14:creationId xmlns:p14="http://schemas.microsoft.com/office/powerpoint/2010/main" val="25685500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每个认为自己是“根桥”的交换机生成一个</a:t>
            </a:r>
            <a:r>
              <a:rPr lang="en-US" altLang="zh-CN" dirty="0"/>
              <a:t>RST BPDU</a:t>
            </a:r>
            <a:r>
              <a:rPr lang="zh-CN" altLang="en-US" dirty="0"/>
              <a:t>报文来协商指定网段的端口状态，此</a:t>
            </a:r>
            <a:r>
              <a:rPr lang="en-US" altLang="zh-CN" dirty="0"/>
              <a:t>RST BPDU</a:t>
            </a:r>
            <a:r>
              <a:rPr lang="zh-CN" altLang="en-US" dirty="0"/>
              <a:t>报文</a:t>
            </a:r>
            <a:r>
              <a:rPr lang="en-US" altLang="zh-CN" dirty="0"/>
              <a:t>Flag</a:t>
            </a:r>
            <a:r>
              <a:rPr lang="zh-CN" altLang="en-US" dirty="0"/>
              <a:t>字段里面的</a:t>
            </a:r>
            <a:r>
              <a:rPr lang="en-US" altLang="zh-CN" dirty="0"/>
              <a:t>Proposal</a:t>
            </a:r>
            <a:r>
              <a:rPr lang="zh-CN" altLang="en-US" dirty="0"/>
              <a:t>位需要置位。</a:t>
            </a:r>
            <a:endParaRPr lang="en-US" altLang="zh-CN" dirty="0"/>
          </a:p>
          <a:p>
            <a:r>
              <a:rPr lang="zh-CN" altLang="en-US" dirty="0"/>
              <a:t>当一个端口收到</a:t>
            </a:r>
            <a:r>
              <a:rPr lang="en-US" altLang="zh-CN" dirty="0"/>
              <a:t>RST BPDU</a:t>
            </a:r>
            <a:r>
              <a:rPr lang="zh-CN" altLang="en-US" dirty="0"/>
              <a:t>报文时，此端口会比较收到的</a:t>
            </a:r>
            <a:r>
              <a:rPr lang="en-US" altLang="zh-CN" dirty="0"/>
              <a:t>RST BPDU</a:t>
            </a:r>
            <a:r>
              <a:rPr lang="zh-CN" altLang="en-US" dirty="0"/>
              <a:t>报文和本地的</a:t>
            </a:r>
            <a:r>
              <a:rPr lang="en-US" altLang="zh-CN" dirty="0"/>
              <a:t>RST BPDU</a:t>
            </a:r>
            <a:r>
              <a:rPr lang="zh-CN" altLang="en-US" dirty="0"/>
              <a:t>报文。如果本地的</a:t>
            </a:r>
            <a:r>
              <a:rPr lang="en-US" altLang="zh-CN" dirty="0"/>
              <a:t>RST BPDU</a:t>
            </a:r>
            <a:r>
              <a:rPr lang="zh-CN" altLang="en-US" dirty="0"/>
              <a:t>报文优于接收的</a:t>
            </a:r>
            <a:r>
              <a:rPr lang="en-US" altLang="zh-CN" dirty="0"/>
              <a:t>RST BPDU</a:t>
            </a:r>
            <a:r>
              <a:rPr lang="zh-CN" altLang="en-US" dirty="0"/>
              <a:t>报文，则端口会丢弃接收的</a:t>
            </a:r>
            <a:r>
              <a:rPr lang="en-US" altLang="zh-CN" dirty="0"/>
              <a:t>RST BPDU</a:t>
            </a:r>
            <a:r>
              <a:rPr lang="zh-CN" altLang="en-US" dirty="0"/>
              <a:t>报文，并发送</a:t>
            </a:r>
            <a:r>
              <a:rPr lang="en-US" altLang="zh-CN" dirty="0"/>
              <a:t>Proposal</a:t>
            </a:r>
            <a:r>
              <a:rPr lang="zh-CN" altLang="en-US" dirty="0"/>
              <a:t>置位的本地</a:t>
            </a:r>
            <a:r>
              <a:rPr lang="en-US" altLang="zh-CN" dirty="0"/>
              <a:t>RST BPDU</a:t>
            </a:r>
            <a:r>
              <a:rPr lang="zh-CN" altLang="en-US" dirty="0"/>
              <a:t>报文来回复对端设备。</a:t>
            </a:r>
            <a:endParaRPr lang="en-US" altLang="zh-CN" dirty="0"/>
          </a:p>
          <a:p>
            <a:r>
              <a:rPr lang="zh-CN" altLang="en-US" dirty="0"/>
              <a:t>如图，</a:t>
            </a:r>
            <a:r>
              <a:rPr lang="en-US" altLang="zh-CN" dirty="0"/>
              <a:t>RSTP</a:t>
            </a:r>
            <a:r>
              <a:rPr lang="zh-CN" altLang="en-US" dirty="0"/>
              <a:t>上游链路的设备互联端口收敛过程，以</a:t>
            </a:r>
            <a:r>
              <a:rPr lang="en-US" altLang="zh-CN" dirty="0"/>
              <a:t>SW1</a:t>
            </a:r>
            <a:r>
              <a:rPr lang="zh-CN" altLang="en-US" dirty="0"/>
              <a:t>与</a:t>
            </a:r>
            <a:r>
              <a:rPr lang="en-US" altLang="zh-CN" dirty="0"/>
              <a:t>SW2</a:t>
            </a:r>
            <a:r>
              <a:rPr lang="zh-CN" altLang="en-US" dirty="0"/>
              <a:t>为例。</a:t>
            </a:r>
          </a:p>
        </p:txBody>
      </p:sp>
    </p:spTree>
    <p:extLst>
      <p:ext uri="{BB962C8B-B14F-4D97-AF65-F5344CB8AC3E}">
        <p14:creationId xmlns:p14="http://schemas.microsoft.com/office/powerpoint/2010/main" val="20273206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如图，</a:t>
            </a:r>
            <a:r>
              <a:rPr lang="en-US" altLang="zh-CN" dirty="0"/>
              <a:t>RSTP</a:t>
            </a:r>
            <a:r>
              <a:rPr lang="zh-CN" altLang="en-US" dirty="0"/>
              <a:t>下游链路的设备互联端口会进入慢收敛过程，以</a:t>
            </a:r>
            <a:r>
              <a:rPr lang="en-US" altLang="zh-CN" dirty="0"/>
              <a:t>SW2</a:t>
            </a:r>
            <a:r>
              <a:rPr lang="zh-CN" altLang="en-US" dirty="0"/>
              <a:t>与</a:t>
            </a:r>
            <a:r>
              <a:rPr lang="en-US" altLang="zh-CN" dirty="0"/>
              <a:t>SW3</a:t>
            </a:r>
            <a:r>
              <a:rPr lang="zh-CN" altLang="en-US" dirty="0"/>
              <a:t>为例。</a:t>
            </a:r>
          </a:p>
        </p:txBody>
      </p:sp>
    </p:spTree>
    <p:extLst>
      <p:ext uri="{BB962C8B-B14F-4D97-AF65-F5344CB8AC3E}">
        <p14:creationId xmlns:p14="http://schemas.microsoft.com/office/powerpoint/2010/main" val="17564271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840622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895517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配置接口路径开销：</a:t>
            </a:r>
            <a:endParaRPr lang="en-US" altLang="zh-CN" dirty="0"/>
          </a:p>
          <a:p>
            <a:pPr lvl="1"/>
            <a:r>
              <a:rPr lang="en-US" altLang="zh-CN" dirty="0"/>
              <a:t>dot1d-1998</a:t>
            </a:r>
            <a:r>
              <a:rPr lang="zh-CN" altLang="en-US" dirty="0"/>
              <a:t>：指定路径开销值的计算方法是</a:t>
            </a:r>
            <a:r>
              <a:rPr lang="en-US" altLang="zh-CN" dirty="0"/>
              <a:t>IEEE 802.1d-1998</a:t>
            </a:r>
            <a:r>
              <a:rPr lang="zh-CN" altLang="en-US" dirty="0"/>
              <a:t>标准方法。使用</a:t>
            </a:r>
            <a:r>
              <a:rPr lang="en-US" altLang="zh-CN" dirty="0"/>
              <a:t>IEEE 802.1d-1998</a:t>
            </a:r>
            <a:r>
              <a:rPr lang="zh-CN" altLang="en-US" dirty="0"/>
              <a:t>标准方法时取值范围是</a:t>
            </a:r>
            <a:r>
              <a:rPr lang="en-US" altLang="zh-CN" dirty="0"/>
              <a:t>1</a:t>
            </a:r>
            <a:r>
              <a:rPr lang="zh-CN" altLang="en-US" dirty="0"/>
              <a:t>～</a:t>
            </a:r>
            <a:r>
              <a:rPr lang="en-US" altLang="zh-CN" dirty="0"/>
              <a:t>65535</a:t>
            </a:r>
            <a:r>
              <a:rPr lang="zh-CN" altLang="en-US" dirty="0"/>
              <a:t>。</a:t>
            </a:r>
          </a:p>
          <a:p>
            <a:pPr lvl="1"/>
            <a:r>
              <a:rPr lang="en-US" altLang="zh-CN" dirty="0"/>
              <a:t>dot1t</a:t>
            </a:r>
            <a:r>
              <a:rPr lang="zh-CN" altLang="en-US" dirty="0"/>
              <a:t>：指定路径开销值的计算方法是</a:t>
            </a:r>
            <a:r>
              <a:rPr lang="en-US" altLang="zh-CN" dirty="0"/>
              <a:t>IEEE 802.1t</a:t>
            </a:r>
            <a:r>
              <a:rPr lang="zh-CN" altLang="en-US" dirty="0"/>
              <a:t>标准方法。使用</a:t>
            </a:r>
            <a:r>
              <a:rPr lang="en-US" altLang="zh-CN" dirty="0"/>
              <a:t>IEEE 802.1t</a:t>
            </a:r>
            <a:r>
              <a:rPr lang="zh-CN" altLang="en-US" dirty="0"/>
              <a:t>标准方法时取值范围是</a:t>
            </a:r>
            <a:r>
              <a:rPr lang="en-US" altLang="zh-CN" dirty="0"/>
              <a:t>1</a:t>
            </a:r>
            <a:r>
              <a:rPr lang="zh-CN" altLang="en-US" dirty="0"/>
              <a:t>～</a:t>
            </a:r>
            <a:r>
              <a:rPr lang="en-US" altLang="zh-CN" dirty="0"/>
              <a:t>200,000,000</a:t>
            </a:r>
            <a:r>
              <a:rPr lang="zh-CN" altLang="en-US" dirty="0"/>
              <a:t>。</a:t>
            </a:r>
          </a:p>
          <a:p>
            <a:pPr lvl="1"/>
            <a:r>
              <a:rPr lang="en-US" altLang="zh-CN" dirty="0"/>
              <a:t>legacy</a:t>
            </a:r>
            <a:r>
              <a:rPr lang="zh-CN" altLang="en-US" dirty="0"/>
              <a:t>：指定路径开销值的计算方法是华为计算方法。使用华为计算方法时取值范围是</a:t>
            </a:r>
            <a:r>
              <a:rPr lang="en-US" altLang="zh-CN" dirty="0"/>
              <a:t>1</a:t>
            </a:r>
            <a:r>
              <a:rPr lang="zh-CN" altLang="en-US" dirty="0"/>
              <a:t>～</a:t>
            </a:r>
            <a:r>
              <a:rPr lang="en-US" altLang="zh-CN" dirty="0"/>
              <a:t>200,000</a:t>
            </a:r>
            <a:r>
              <a:rPr lang="zh-CN" altLang="en-US" dirty="0"/>
              <a:t>。</a:t>
            </a:r>
          </a:p>
        </p:txBody>
      </p:sp>
    </p:spTree>
    <p:extLst>
      <p:ext uri="{BB962C8B-B14F-4D97-AF65-F5344CB8AC3E}">
        <p14:creationId xmlns:p14="http://schemas.microsoft.com/office/powerpoint/2010/main" val="19753974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283620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19658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sz="1100" dirty="0">
                <a:cs typeface="Courier New" panose="02070309020205020404" pitchFamily="49" charset="0"/>
              </a:rPr>
              <a:t>配置后，在</a:t>
            </a:r>
            <a:r>
              <a:rPr lang="en-US" altLang="zh-CN" sz="1100" b="1" dirty="0">
                <a:cs typeface="Courier New" panose="02070309020205020404" pitchFamily="49" charset="0"/>
              </a:rPr>
              <a:t>stp </a:t>
            </a:r>
            <a:r>
              <a:rPr lang="en-US" altLang="zh-CN" sz="1100" b="1" dirty="0" err="1">
                <a:cs typeface="Courier New" panose="02070309020205020404" pitchFamily="49" charset="0"/>
              </a:rPr>
              <a:t>tc</a:t>
            </a:r>
            <a:r>
              <a:rPr lang="en-US" altLang="zh-CN" sz="1100" b="1" dirty="0">
                <a:cs typeface="Courier New" panose="02070309020205020404" pitchFamily="49" charset="0"/>
              </a:rPr>
              <a:t>-protection interval</a:t>
            </a:r>
            <a:r>
              <a:rPr lang="zh-CN" altLang="en-US" sz="1100" dirty="0">
                <a:cs typeface="Courier New" panose="02070309020205020404" pitchFamily="49" charset="0"/>
              </a:rPr>
              <a:t>指定的时间内，设备只会处理</a:t>
            </a:r>
            <a:r>
              <a:rPr lang="en-US" altLang="zh-CN" sz="1100" b="1" dirty="0">
                <a:cs typeface="Courier New" panose="02070309020205020404" pitchFamily="49" charset="0"/>
              </a:rPr>
              <a:t>stp </a:t>
            </a:r>
            <a:r>
              <a:rPr lang="en-US" altLang="zh-CN" sz="1100" b="1" dirty="0" err="1">
                <a:cs typeface="Courier New" panose="02070309020205020404" pitchFamily="49" charset="0"/>
              </a:rPr>
              <a:t>tc</a:t>
            </a:r>
            <a:r>
              <a:rPr lang="en-US" altLang="zh-CN" sz="1100" b="1" dirty="0">
                <a:cs typeface="Courier New" panose="02070309020205020404" pitchFamily="49" charset="0"/>
              </a:rPr>
              <a:t>-protection threshold</a:t>
            </a:r>
            <a:r>
              <a:rPr lang="zh-CN" altLang="en-US" sz="1100" dirty="0">
                <a:cs typeface="Courier New" panose="02070309020205020404" pitchFamily="49" charset="0"/>
              </a:rPr>
              <a:t>指定数量的拓扑变化报文，对于其他的报文会延迟处理，所以可能会影响生成树的收敛速度。例如，时间设定为</a:t>
            </a:r>
            <a:r>
              <a:rPr lang="en-US" altLang="zh-CN" sz="1100" dirty="0">
                <a:cs typeface="Courier New" panose="02070309020205020404" pitchFamily="49" charset="0"/>
              </a:rPr>
              <a:t>10</a:t>
            </a:r>
            <a:r>
              <a:rPr lang="zh-CN" altLang="en-US" sz="1100" dirty="0">
                <a:cs typeface="Courier New" panose="02070309020205020404" pitchFamily="49" charset="0"/>
              </a:rPr>
              <a:t>秒，阈值设定为</a:t>
            </a:r>
            <a:r>
              <a:rPr lang="en-US" altLang="zh-CN" sz="1100" dirty="0">
                <a:cs typeface="Courier New" panose="02070309020205020404" pitchFamily="49" charset="0"/>
              </a:rPr>
              <a:t>5</a:t>
            </a:r>
            <a:r>
              <a:rPr lang="zh-CN" altLang="en-US" sz="1100" dirty="0">
                <a:cs typeface="Courier New" panose="02070309020205020404" pitchFamily="49" charset="0"/>
              </a:rPr>
              <a:t>，则设备收到拓扑变化报文后，在</a:t>
            </a:r>
            <a:r>
              <a:rPr lang="en-US" altLang="zh-CN" sz="1100" dirty="0">
                <a:cs typeface="Courier New" panose="02070309020205020404" pitchFamily="49" charset="0"/>
              </a:rPr>
              <a:t>10</a:t>
            </a:r>
            <a:r>
              <a:rPr lang="zh-CN" altLang="en-US" sz="1100" dirty="0">
                <a:cs typeface="Courier New" panose="02070309020205020404" pitchFamily="49" charset="0"/>
              </a:rPr>
              <a:t>秒内只会处理最开始收到的</a:t>
            </a:r>
            <a:r>
              <a:rPr lang="en-US" altLang="zh-CN" sz="1100" dirty="0">
                <a:cs typeface="Courier New" panose="02070309020205020404" pitchFamily="49" charset="0"/>
              </a:rPr>
              <a:t>5</a:t>
            </a:r>
            <a:r>
              <a:rPr lang="zh-CN" altLang="en-US" sz="1100" dirty="0">
                <a:cs typeface="Courier New" panose="02070309020205020404" pitchFamily="49" charset="0"/>
              </a:rPr>
              <a:t>个拓扑变化报文，对于后面收到的报文则会等</a:t>
            </a:r>
            <a:r>
              <a:rPr lang="en-US" altLang="zh-CN" sz="1100" dirty="0">
                <a:cs typeface="Courier New" panose="02070309020205020404" pitchFamily="49" charset="0"/>
              </a:rPr>
              <a:t>10</a:t>
            </a:r>
            <a:r>
              <a:rPr lang="zh-CN" altLang="en-US" sz="1100" dirty="0">
                <a:cs typeface="Courier New" panose="02070309020205020404" pitchFamily="49" charset="0"/>
              </a:rPr>
              <a:t>秒超时后再统一处理。</a:t>
            </a:r>
          </a:p>
          <a:p>
            <a:endParaRPr lang="zh-CN" altLang="en-US" dirty="0"/>
          </a:p>
        </p:txBody>
      </p:sp>
    </p:spTree>
    <p:extLst>
      <p:ext uri="{BB962C8B-B14F-4D97-AF65-F5344CB8AC3E}">
        <p14:creationId xmlns:p14="http://schemas.microsoft.com/office/powerpoint/2010/main" val="10495202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482963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827323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a:t>BCD</a:t>
            </a:r>
          </a:p>
          <a:p>
            <a:pPr marL="228600" lvl="0" indent="-228600">
              <a:buFont typeface="+mj-lt"/>
              <a:buAutoNum type="arabicPeriod"/>
            </a:pPr>
            <a:r>
              <a:rPr lang="en-US" altLang="zh-CN" dirty="0"/>
              <a:t>B</a:t>
            </a:r>
          </a:p>
        </p:txBody>
      </p:sp>
      <p:sp>
        <p:nvSpPr>
          <p:cNvPr id="7" name="幻灯片图像占位符 6"/>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4959970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405882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607028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163518714"/>
              </p:ext>
            </p:extLst>
          </p:nvPr>
        </p:nvGraphicFramePr>
        <p:xfrm>
          <a:off x="1007140" y="1254490"/>
          <a:ext cx="10460715"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351079">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课程版本</a:t>
                      </a:r>
                      <a:endParaRPr kumimoji="1" lang="en-US" altLang="zh-CN"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3380704855"/>
              </p:ext>
            </p:extLst>
          </p:nvPr>
        </p:nvGraphicFramePr>
        <p:xfrm>
          <a:off x="1007140" y="2776902"/>
          <a:ext cx="10460714" cy="303847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351079">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作者</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审核人</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lt"/>
                          <a:ea typeface="+mn-ea"/>
                        </a:rPr>
                        <a:t>新开发/优化</a:t>
                      </a:r>
                      <a:endParaRPr kumimoji="1" lang="zh-CN" altLang="en-US"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825692"/>
            <a:ext cx="311903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825692"/>
            <a:ext cx="196745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825692"/>
            <a:ext cx="3023155"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825692"/>
            <a:ext cx="2351079"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37386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37386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1" name="文本占位符 7"/>
          <p:cNvSpPr>
            <a:spLocks noGrp="1"/>
          </p:cNvSpPr>
          <p:nvPr>
            <p:ph type="body" sz="quarter" idx="15" hasCustomPrompt="1"/>
          </p:nvPr>
        </p:nvSpPr>
        <p:spPr>
          <a:xfrm>
            <a:off x="6093619" y="337386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337858"/>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t" hangingPunct="0">
              <a:spcBef>
                <a:spcPct val="0"/>
              </a:spcBef>
              <a:spcAft>
                <a:spcPct val="0"/>
              </a:spcAft>
            </a:pPr>
            <a:r>
              <a:rPr lang="zh-CN" altLang="en-US" sz="3499" b="1" kern="1200">
                <a:solidFill>
                  <a:schemeClr val="tx1">
                    <a:lumMod val="75000"/>
                    <a:lumOff val="25000"/>
                  </a:schemeClr>
                </a:solidFill>
                <a:latin typeface="+mn-lt"/>
                <a:ea typeface="+mn-ea"/>
                <a:cs typeface="Arial" panose="020B0604020202020204" pitchFamily="34" charset="0"/>
              </a:rPr>
              <a:t>修订记录</a:t>
            </a:r>
            <a:endParaRPr lang="zh-CN" altLang="en-US" sz="3499" b="1" kern="1200" dirty="0">
              <a:solidFill>
                <a:schemeClr val="tx1">
                  <a:lumMod val="75000"/>
                  <a:lumOff val="25000"/>
                </a:schemeClr>
              </a:solidFill>
              <a:latin typeface="+mn-lt"/>
              <a:ea typeface="+mn-ea"/>
              <a:cs typeface="Arial" panose="020B0604020202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a:spcBef>
                <a:spcPct val="50000"/>
              </a:spcBef>
            </a:pPr>
            <a:r>
              <a:rPr lang="zh-CN" altLang="en-US" sz="3998" i="0">
                <a:solidFill>
                  <a:schemeClr val="bg2">
                    <a:lumMod val="50000"/>
                  </a:schemeClr>
                </a:solidFill>
                <a:latin typeface="+mn-lt"/>
                <a:ea typeface="+mn-ea"/>
                <a:cs typeface="Arial" panose="020B0604020202020204" pitchFamily="34" charset="0"/>
              </a:rPr>
              <a:t>本页</a:t>
            </a:r>
            <a:r>
              <a:rPr lang="zh-CN" altLang="en-US" sz="3998" i="0" dirty="0">
                <a:solidFill>
                  <a:schemeClr val="bg2">
                    <a:lumMod val="50000"/>
                  </a:schemeClr>
                </a:solidFill>
                <a:latin typeface="+mn-lt"/>
                <a:ea typeface="+mn-ea"/>
                <a:cs typeface="Arial" panose="020B0604020202020204" pitchFamily="34" charset="0"/>
              </a:rPr>
              <a:t>不打印</a:t>
            </a:r>
          </a:p>
        </p:txBody>
      </p:sp>
      <p:sp>
        <p:nvSpPr>
          <p:cNvPr id="15" name="文本占位符 7"/>
          <p:cNvSpPr>
            <a:spLocks noGrp="1"/>
          </p:cNvSpPr>
          <p:nvPr>
            <p:ph type="body" sz="quarter" idx="21" hasCustomPrompt="1"/>
          </p:nvPr>
        </p:nvSpPr>
        <p:spPr>
          <a:xfrm>
            <a:off x="1007042" y="3877918"/>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3877918"/>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7" name="文本占位符 7"/>
          <p:cNvSpPr>
            <a:spLocks noGrp="1"/>
          </p:cNvSpPr>
          <p:nvPr>
            <p:ph type="body" sz="quarter" idx="23" hasCustomPrompt="1"/>
          </p:nvPr>
        </p:nvSpPr>
        <p:spPr>
          <a:xfrm>
            <a:off x="6093619" y="3877918"/>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841914"/>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34597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34597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1" name="文本占位符 7"/>
          <p:cNvSpPr>
            <a:spLocks noGrp="1"/>
          </p:cNvSpPr>
          <p:nvPr>
            <p:ph type="body" sz="quarter" idx="27" hasCustomPrompt="1"/>
          </p:nvPr>
        </p:nvSpPr>
        <p:spPr>
          <a:xfrm>
            <a:off x="6093619" y="434597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34597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88603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88603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5" name="文本占位符 7"/>
          <p:cNvSpPr>
            <a:spLocks noGrp="1"/>
          </p:cNvSpPr>
          <p:nvPr>
            <p:ph type="body" sz="quarter" idx="31" hasCustomPrompt="1"/>
          </p:nvPr>
        </p:nvSpPr>
        <p:spPr>
          <a:xfrm>
            <a:off x="6093619" y="488603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88603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35408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35408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9" name="文本占位符 7"/>
          <p:cNvSpPr>
            <a:spLocks noGrp="1"/>
          </p:cNvSpPr>
          <p:nvPr>
            <p:ph type="body" sz="quarter" idx="35" hasCustomPrompt="1"/>
          </p:nvPr>
        </p:nvSpPr>
        <p:spPr>
          <a:xfrm>
            <a:off x="6093619" y="535408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354082"/>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Tree>
    <p:extLst>
      <p:ext uri="{BB962C8B-B14F-4D97-AF65-F5344CB8AC3E}">
        <p14:creationId xmlns:p14="http://schemas.microsoft.com/office/powerpoint/2010/main" val="708728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542"/>
          <a:stretch/>
        </p:blipFill>
        <p:spPr bwMode="auto">
          <a:xfrm>
            <a:off x="0" y="42"/>
            <a:ext cx="12187239" cy="685791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1"/>
          <p:cNvSpPr>
            <a:spLocks noGrp="1" noChangeArrowheads="1"/>
          </p:cNvSpPr>
          <p:nvPr>
            <p:ph type="ctrTitle" sz="quarter"/>
          </p:nvPr>
        </p:nvSpPr>
        <p:spPr>
          <a:xfrm>
            <a:off x="1030893" y="4957156"/>
            <a:ext cx="10437489" cy="831600"/>
          </a:xfrm>
          <a:ln algn="ctr"/>
        </p:spPr>
        <p:txBody>
          <a:bodyPr lIns="87802" tIns="43901" rIns="87802" bIns="43901"/>
          <a:lstStyle>
            <a:lvl1pPr algn="l" defTabSz="801367" rtl="0" eaLnBrk="0" fontAlgn="auto" hangingPunct="0">
              <a:spcBef>
                <a:spcPct val="0"/>
              </a:spcBef>
              <a:spcAft>
                <a:spcPct val="0"/>
              </a:spcAft>
              <a:defRPr lang="zh-CN" altLang="en-US" sz="4298" b="1" kern="1200" dirty="0">
                <a:solidFill>
                  <a:srgbClr val="0070C0"/>
                </a:solidFill>
                <a:latin typeface="+mn-lt"/>
                <a:ea typeface="+mn-ea"/>
                <a:cs typeface="Arial" panose="020B0604020202020204" pitchFamily="34" charset="0"/>
              </a:defRPr>
            </a:lvl1pPr>
          </a:lstStyle>
          <a:p>
            <a:r>
              <a:rPr lang="zh-CN" altLang="en-US" dirty="0"/>
              <a:t>单击此处编辑母版标题样式</a:t>
            </a:r>
          </a:p>
        </p:txBody>
      </p:sp>
      <p:sp>
        <p:nvSpPr>
          <p:cNvPr id="10" name="文本占位符 29"/>
          <p:cNvSpPr>
            <a:spLocks noGrp="1"/>
          </p:cNvSpPr>
          <p:nvPr>
            <p:ph type="body" sz="quarter" idx="10"/>
          </p:nvPr>
        </p:nvSpPr>
        <p:spPr>
          <a:xfrm>
            <a:off x="1030892" y="5816120"/>
            <a:ext cx="6909301" cy="493200"/>
          </a:xfrm>
        </p:spPr>
        <p:txBody>
          <a:bodyPr/>
          <a:lstStyle>
            <a:lvl1pPr marL="0" indent="0" algn="l" defTabSz="801367" rtl="0" eaLnBrk="0" fontAlgn="base" hangingPunct="0">
              <a:spcBef>
                <a:spcPct val="0"/>
              </a:spcBef>
              <a:spcAft>
                <a:spcPct val="0"/>
              </a:spcAft>
              <a:buNone/>
              <a:defRPr lang="zh-CN" altLang="en-US" sz="1999" kern="1200" dirty="0" smtClean="0">
                <a:solidFill>
                  <a:srgbClr val="0070C0"/>
                </a:solidFill>
                <a:latin typeface="+mn-lt"/>
                <a:ea typeface="+mn-ea"/>
                <a:cs typeface="Arial" panose="020B0604020202020204" pitchFamily="34" charset="0"/>
              </a:defRPr>
            </a:lvl1pPr>
          </a:lstStyle>
          <a:p>
            <a:pPr lvl="0"/>
            <a:r>
              <a:rPr lang="zh-CN" altLang="en-US" dirty="0"/>
              <a:t>单击此处编辑母版文本样式</a:t>
            </a:r>
          </a:p>
        </p:txBody>
      </p:sp>
      <p:sp>
        <p:nvSpPr>
          <p:cNvPr id="11" name="Rectangle 54">
            <a:extLst>
              <a:ext uri="{FF2B5EF4-FFF2-40B4-BE49-F238E27FC236}">
                <a16:creationId xmlns:a16="http://schemas.microsoft.com/office/drawing/2014/main"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版权所有</a:t>
            </a:r>
            <a:r>
              <a:rPr lang="en-US" altLang="zh-CN" sz="1200" baseline="0">
                <a:latin typeface="+mn-lt"/>
                <a:ea typeface="+mn-ea"/>
                <a:cs typeface="Arial" pitchFamily="34" charset="0"/>
              </a:rPr>
              <a:t>© 2020 </a:t>
            </a:r>
            <a:r>
              <a:rPr lang="zh-CN" altLang="en-US" sz="1200" baseline="0" dirty="0">
                <a:latin typeface="+mn-lt"/>
                <a:ea typeface="+mn-ea"/>
                <a:cs typeface="Arial" pitchFamily="34" charset="0"/>
              </a:rPr>
              <a:t>华为技术有限公司</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8026" y="251069"/>
            <a:ext cx="1964832" cy="430102"/>
          </a:xfrm>
          <a:prstGeom prst="rect">
            <a:avLst/>
          </a:prstGeom>
        </p:spPr>
      </p:pic>
    </p:spTree>
    <p:extLst>
      <p:ext uri="{BB962C8B-B14F-4D97-AF65-F5344CB8AC3E}">
        <p14:creationId xmlns:p14="http://schemas.microsoft.com/office/powerpoint/2010/main" val="42662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
        <p:nvSpPr>
          <p:cNvPr id="16"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algn="l" defTabSz="1001223" eaLnBrk="0" fontAlgn="auto" hangingPunct="0"/>
            <a:r>
              <a:rPr lang="zh-CN" altLang="en-US" sz="3499" b="1" dirty="0">
                <a:solidFill>
                  <a:schemeClr val="tx1"/>
                </a:solidFill>
                <a:latin typeface="+mn-lt"/>
                <a:ea typeface="+mn-ea"/>
                <a:cs typeface="Arial" pitchFamily="34" charset="0"/>
              </a:rPr>
              <a:t>前言</a:t>
            </a:r>
          </a:p>
        </p:txBody>
      </p:sp>
      <p:sp>
        <p:nvSpPr>
          <p:cNvPr id="17"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8"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19" name="组合 18"/>
          <p:cNvGrpSpPr/>
          <p:nvPr userDrawn="1"/>
        </p:nvGrpSpPr>
        <p:grpSpPr>
          <a:xfrm>
            <a:off x="335229" y="498828"/>
            <a:ext cx="627913" cy="459460"/>
            <a:chOff x="3275013" y="1363663"/>
            <a:chExt cx="5645150" cy="4129087"/>
          </a:xfrm>
          <a:solidFill>
            <a:schemeClr val="bg1"/>
          </a:solidFill>
        </p:grpSpPr>
        <p:sp>
          <p:nvSpPr>
            <p:cNvPr id="20"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4"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5"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6"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9905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目标</a:t>
            </a:r>
            <a:endParaRPr lang="en-US" altLang="zh-CN" sz="3499" b="1" dirty="0">
              <a:solidFill>
                <a:schemeClr val="tx1"/>
              </a:solidFill>
              <a:latin typeface="+mn-lt"/>
              <a:ea typeface="+mn-ea"/>
              <a:cs typeface="Arial" pitchFamily="34" charset="0"/>
            </a:endParaRP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43199" y="440668"/>
            <a:ext cx="533761" cy="533470"/>
            <a:chOff x="2960687" y="4865687"/>
            <a:chExt cx="1698626" cy="1697038"/>
          </a:xfrm>
          <a:solidFill>
            <a:schemeClr val="bg1"/>
          </a:solidFill>
        </p:grpSpPr>
        <p:sp>
          <p:nvSpPr>
            <p:cNvPr id="8"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6"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Tree>
    <p:extLst>
      <p:ext uri="{BB962C8B-B14F-4D97-AF65-F5344CB8AC3E}">
        <p14:creationId xmlns:p14="http://schemas.microsoft.com/office/powerpoint/2010/main" val="1153766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9565" y="1233487"/>
            <a:ext cx="11274935"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auto">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目录</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238063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3" name="内容占位符 6"/>
          <p:cNvSpPr>
            <a:spLocks noGrp="1"/>
          </p:cNvSpPr>
          <p:nvPr>
            <p:ph sz="quarter" idx="10"/>
          </p:nvPr>
        </p:nvSpPr>
        <p:spPr>
          <a:xfrm>
            <a:off x="468316" y="1233487"/>
            <a:ext cx="11276184" cy="4680000"/>
          </a:xfrm>
        </p:spPr>
        <p:txBody>
          <a:bodyPr/>
          <a:lstStyle>
            <a:lvl1pPr algn="just" fontAlgn="auto">
              <a:buClrTx/>
              <a:defRPr>
                <a:solidFill>
                  <a:schemeClr val="tx1"/>
                </a:solidFill>
                <a:latin typeface="+mn-lt"/>
                <a:ea typeface="+mn-ea"/>
                <a:cs typeface="Arial" panose="020B0604020202020204" pitchFamily="34" charset="0"/>
              </a:defRPr>
            </a:lvl1pPr>
            <a:lvl2pPr algn="just" fontAlgn="auto">
              <a:buClrTx/>
              <a:defRPr>
                <a:solidFill>
                  <a:schemeClr val="tx1"/>
                </a:solidFill>
                <a:latin typeface="+mn-lt"/>
                <a:ea typeface="+mn-ea"/>
                <a:cs typeface="Arial" panose="020B0604020202020204" pitchFamily="34" charset="0"/>
              </a:defRPr>
            </a:lvl2pPr>
            <a:lvl3pPr algn="just" fontAlgn="auto">
              <a:buClrTx/>
              <a:defRPr>
                <a:solidFill>
                  <a:schemeClr val="tx1"/>
                </a:solidFill>
                <a:latin typeface="+mn-lt"/>
                <a:ea typeface="+mn-ea"/>
                <a:cs typeface="Arial" panose="020B0604020202020204" pitchFamily="34" charset="0"/>
              </a:defRPr>
            </a:lvl3pPr>
            <a:lvl4pPr algn="just" fontAlgn="auto">
              <a:buClrTx/>
              <a:defRPr>
                <a:solidFill>
                  <a:schemeClr val="tx1"/>
                </a:solidFill>
                <a:latin typeface="+mn-lt"/>
                <a:ea typeface="+mn-ea"/>
                <a:cs typeface="Arial" panose="020B0604020202020204" pitchFamily="34" charset="0"/>
              </a:defRPr>
            </a:lvl4pPr>
            <a:lvl5pPr algn="just" fontAlgn="auto">
              <a:buClrTx/>
              <a:defRPr>
                <a:solidFill>
                  <a:schemeClr val="tx1"/>
                </a:solidFill>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9825899"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本节概述和学习目标</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8" y="505779"/>
            <a:ext cx="374562" cy="445558"/>
            <a:chOff x="-1647825" y="2492375"/>
            <a:chExt cx="1947863" cy="2316163"/>
          </a:xfrm>
          <a:solidFill>
            <a:schemeClr val="bg1"/>
          </a:solidFill>
        </p:grpSpPr>
        <p:sp>
          <p:nvSpPr>
            <p:cNvPr id="8"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115244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3073553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a:latin typeface="+mn-lt"/>
              <a:ea typeface="+mn-ea"/>
            </a:endParaRPr>
          </a:p>
        </p:txBody>
      </p:sp>
      <p:sp>
        <p:nvSpPr>
          <p:cNvPr id="6"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Tree>
    <p:extLst>
      <p:ext uri="{BB962C8B-B14F-4D97-AF65-F5344CB8AC3E}">
        <p14:creationId xmlns:p14="http://schemas.microsoft.com/office/powerpoint/2010/main" val="3974347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a:extLst>
                <a:ext uri="{FF2B5EF4-FFF2-40B4-BE49-F238E27FC236}">
                  <a16:creationId xmlns:a16="http://schemas.microsoft.com/office/drawing/2014/main" id="{32AEB80E-D574-4C1A-9EB9-3369A2BB96C5}"/>
                </a:ext>
              </a:extLst>
            </p:cNvPr>
            <p:cNvSpPr/>
            <p:nvPr userDrawn="1"/>
          </p:nvSpPr>
          <p:spPr>
            <a:xfrm>
              <a:off x="12212029" y="4653136"/>
              <a:ext cx="539729"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4" name="矩形 3">
              <a:extLst>
                <a:ext uri="{FF2B5EF4-FFF2-40B4-BE49-F238E27FC236}">
                  <a16:creationId xmlns:a16="http://schemas.microsoft.com/office/drawing/2014/main" id="{E94F5345-F49B-42D0-B35C-CA4FB19A3DA6}"/>
                </a:ext>
              </a:extLst>
            </p:cNvPr>
            <p:cNvSpPr/>
            <p:nvPr userDrawn="1"/>
          </p:nvSpPr>
          <p:spPr>
            <a:xfrm>
              <a:off x="12212029" y="4941964"/>
              <a:ext cx="539729" cy="288000"/>
            </a:xfrm>
            <a:prstGeom prst="rect">
              <a:avLst/>
            </a:prstGeom>
            <a:solidFill>
              <a:srgbClr val="A6D2FF"/>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5" name="矩形 4">
              <a:extLst>
                <a:ext uri="{FF2B5EF4-FFF2-40B4-BE49-F238E27FC236}">
                  <a16:creationId xmlns:a16="http://schemas.microsoft.com/office/drawing/2014/main" id="{BA62EB75-581F-4CD2-92A6-87BDFE3BDBC3}"/>
                </a:ext>
              </a:extLst>
            </p:cNvPr>
            <p:cNvSpPr/>
            <p:nvPr userDrawn="1"/>
          </p:nvSpPr>
          <p:spPr>
            <a:xfrm>
              <a:off x="12212029" y="5230066"/>
              <a:ext cx="539729" cy="288000"/>
            </a:xfrm>
            <a:prstGeom prst="rect">
              <a:avLst/>
            </a:prstGeom>
            <a:solidFill>
              <a:srgbClr val="D8D8D8"/>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6" name="矩形 5">
              <a:extLst>
                <a:ext uri="{FF2B5EF4-FFF2-40B4-BE49-F238E27FC236}">
                  <a16:creationId xmlns:a16="http://schemas.microsoft.com/office/drawing/2014/main" id="{947DE7E3-EC9F-4331-B252-7BCE51B7F0DA}"/>
                </a:ext>
              </a:extLst>
            </p:cNvPr>
            <p:cNvSpPr/>
            <p:nvPr userDrawn="1"/>
          </p:nvSpPr>
          <p:spPr>
            <a:xfrm>
              <a:off x="12212029" y="5518168"/>
              <a:ext cx="539729"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7" name="矩形 6">
              <a:extLst>
                <a:ext uri="{FF2B5EF4-FFF2-40B4-BE49-F238E27FC236}">
                  <a16:creationId xmlns:a16="http://schemas.microsoft.com/office/drawing/2014/main" id="{BE210CD8-3823-4C2E-B3EA-E42C40CFB29F}"/>
                </a:ext>
              </a:extLst>
            </p:cNvPr>
            <p:cNvSpPr/>
            <p:nvPr userDrawn="1"/>
          </p:nvSpPr>
          <p:spPr>
            <a:xfrm>
              <a:off x="12212029" y="5806270"/>
              <a:ext cx="539729" cy="288000"/>
            </a:xfrm>
            <a:prstGeom prst="rect">
              <a:avLst/>
            </a:prstGeom>
            <a:solidFill>
              <a:srgbClr val="FFFF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8" name="矩形 7">
              <a:extLst>
                <a:ext uri="{FF2B5EF4-FFF2-40B4-BE49-F238E27FC236}">
                  <a16:creationId xmlns:a16="http://schemas.microsoft.com/office/drawing/2014/main" id="{BE8A406D-0F03-42D8-9159-77B9DE9EB30E}"/>
                </a:ext>
              </a:extLst>
            </p:cNvPr>
            <p:cNvSpPr/>
            <p:nvPr userDrawn="1"/>
          </p:nvSpPr>
          <p:spPr>
            <a:xfrm>
              <a:off x="12212029" y="6094370"/>
              <a:ext cx="539729" cy="288000"/>
            </a:xfrm>
            <a:prstGeom prst="rect">
              <a:avLst/>
            </a:prstGeom>
            <a:solidFill>
              <a:schemeClr val="accent6"/>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9" name="文本框 8">
              <a:extLst>
                <a:ext uri="{FF2B5EF4-FFF2-40B4-BE49-F238E27FC236}">
                  <a16:creationId xmlns:a16="http://schemas.microsoft.com/office/drawing/2014/main" id="{98A3A11A-AB61-497E-B3AE-12E999A6BBBA}"/>
                </a:ext>
              </a:extLst>
            </p:cNvPr>
            <p:cNvSpPr txBox="1"/>
            <p:nvPr userDrawn="1"/>
          </p:nvSpPr>
          <p:spPr bwMode="auto">
            <a:xfrm>
              <a:off x="12162528" y="4683920"/>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10" name="文本框 9">
              <a:extLst>
                <a:ext uri="{FF2B5EF4-FFF2-40B4-BE49-F238E27FC236}">
                  <a16:creationId xmlns:a16="http://schemas.microsoft.com/office/drawing/2014/main" id="{CF824ACE-31EE-452D-A81D-32E189AFE158}"/>
                </a:ext>
              </a:extLst>
            </p:cNvPr>
            <p:cNvSpPr txBox="1"/>
            <p:nvPr userDrawn="1"/>
          </p:nvSpPr>
          <p:spPr bwMode="auto">
            <a:xfrm>
              <a:off x="12162528" y="4972385"/>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表格边框</a:t>
              </a:r>
            </a:p>
          </p:txBody>
        </p:sp>
        <p:sp>
          <p:nvSpPr>
            <p:cNvPr id="11" name="文本框 10">
              <a:extLst>
                <a:ext uri="{FF2B5EF4-FFF2-40B4-BE49-F238E27FC236}">
                  <a16:creationId xmlns:a16="http://schemas.microsoft.com/office/drawing/2014/main" id="{7399143C-FDAD-45F1-BC44-030BD92ABA98}"/>
                </a:ext>
              </a:extLst>
            </p:cNvPr>
            <p:cNvSpPr txBox="1"/>
            <p:nvPr userDrawn="1"/>
          </p:nvSpPr>
          <p:spPr bwMode="auto">
            <a:xfrm>
              <a:off x="12162528" y="5260487"/>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12" name="文本框 11">
              <a:extLst>
                <a:ext uri="{FF2B5EF4-FFF2-40B4-BE49-F238E27FC236}">
                  <a16:creationId xmlns:a16="http://schemas.microsoft.com/office/drawing/2014/main" id="{308D80BD-0AC4-4D30-BDF8-F241047905A7}"/>
                </a:ext>
              </a:extLst>
            </p:cNvPr>
            <p:cNvSpPr txBox="1"/>
            <p:nvPr userDrawn="1"/>
          </p:nvSpPr>
          <p:spPr bwMode="auto">
            <a:xfrm>
              <a:off x="12220212" y="5548589"/>
              <a:ext cx="52336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华为红</a:t>
              </a:r>
            </a:p>
          </p:txBody>
        </p:sp>
        <p:sp>
          <p:nvSpPr>
            <p:cNvPr id="13" name="文本框 12">
              <a:extLst>
                <a:ext uri="{FF2B5EF4-FFF2-40B4-BE49-F238E27FC236}">
                  <a16:creationId xmlns:a16="http://schemas.microsoft.com/office/drawing/2014/main" id="{B9CBC549-23CA-4012-B493-FF768D1829F1}"/>
                </a:ext>
              </a:extLst>
            </p:cNvPr>
            <p:cNvSpPr txBox="1"/>
            <p:nvPr userDrawn="1"/>
          </p:nvSpPr>
          <p:spPr bwMode="auto">
            <a:xfrm>
              <a:off x="12162528" y="58366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文字底色</a:t>
              </a:r>
            </a:p>
          </p:txBody>
        </p:sp>
        <p:sp>
          <p:nvSpPr>
            <p:cNvPr id="14" name="文本框 13">
              <a:extLst>
                <a:ext uri="{FF2B5EF4-FFF2-40B4-BE49-F238E27FC236}">
                  <a16:creationId xmlns:a16="http://schemas.microsoft.com/office/drawing/2014/main" id="{DA49D1AE-05B4-4A19-9F6F-8B89D09C41DD}"/>
                </a:ext>
              </a:extLst>
            </p:cNvPr>
            <p:cNvSpPr txBox="1"/>
            <p:nvPr userDrawn="1"/>
          </p:nvSpPr>
          <p:spPr bwMode="auto">
            <a:xfrm>
              <a:off x="12162528" y="61247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文字边框</a:t>
              </a:r>
            </a:p>
          </p:txBody>
        </p:sp>
      </p:grpSp>
    </p:spTree>
    <p:extLst>
      <p:ext uri="{BB962C8B-B14F-4D97-AF65-F5344CB8AC3E}">
        <p14:creationId xmlns:p14="http://schemas.microsoft.com/office/powerpoint/2010/main" val="298325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sz="1999">
                <a:latin typeface="+mn-lt"/>
                <a:ea typeface="+mn-ea"/>
                <a:cs typeface="Arial" panose="020B0604020202020204" pitchFamily="34" charset="0"/>
              </a:defRPr>
            </a:lvl1pPr>
            <a:lvl2pPr marL="401476" indent="0" algn="just">
              <a:buSzPct val="100000"/>
              <a:buFont typeface="+mj-lt"/>
              <a:buNone/>
              <a:defRPr sz="1799"/>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1"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2"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05894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本节小结</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90849"/>
            <a:ext cx="470510" cy="475421"/>
            <a:chOff x="5540375" y="2868613"/>
            <a:chExt cx="1106488" cy="1117600"/>
          </a:xfrm>
          <a:solidFill>
            <a:schemeClr val="bg1"/>
          </a:solidFill>
        </p:grpSpPr>
        <p:sp>
          <p:nvSpPr>
            <p:cNvPr id="8"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5242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0235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5pPr>
              <a:buNone/>
              <a:defRPr/>
            </a:lvl5pPr>
          </a:lstStyle>
          <a:p>
            <a:r>
              <a:rPr lang="zh-CN" altLang="en-US" dirty="0"/>
              <a:t>此版式用于提供给学员更多学习信息。</a:t>
            </a:r>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更多信息</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89" y="480269"/>
            <a:ext cx="496387" cy="496581"/>
            <a:chOff x="4485904" y="3429000"/>
            <a:chExt cx="2003425" cy="2003425"/>
          </a:xfrm>
          <a:solidFill>
            <a:schemeClr val="bg1"/>
          </a:solidFill>
        </p:grpSpPr>
        <p:sp>
          <p:nvSpPr>
            <p:cNvPr id="8"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52638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stStyle>
          <a:p>
            <a:endParaRPr lang="zh-CN" altLang="en-US" dirty="0"/>
          </a:p>
        </p:txBody>
      </p:sp>
      <p:sp>
        <p:nvSpPr>
          <p:cNvPr id="4" name="TextBox 10">
            <a:extLst>
              <a:ext uri="{FF2B5EF4-FFF2-40B4-BE49-F238E27FC236}">
                <a16:creationId xmlns:a16="http://schemas.microsoft.com/office/drawing/2014/main"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学习推荐</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56929"/>
            <a:ext cx="461783" cy="485190"/>
            <a:chOff x="-779463" y="1835151"/>
            <a:chExt cx="1136650" cy="1193799"/>
          </a:xfrm>
          <a:solidFill>
            <a:schemeClr val="bg1"/>
          </a:solidFill>
        </p:grpSpPr>
        <p:sp>
          <p:nvSpPr>
            <p:cNvPr id="8"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010191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lt"/>
              <a:ea typeface="+mn-ea"/>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5357748" y="2345035"/>
              <a:ext cx="1786065" cy="923330"/>
            </a:xfrm>
            <a:prstGeom prst="rect">
              <a:avLst/>
            </a:prstGeom>
            <a:noFill/>
          </p:spPr>
          <p:txBody>
            <a:bodyPr wrap="none" lIns="91440" tIns="45720" rIns="91440" bIns="45720">
              <a:spAutoFit/>
            </a:bodyPr>
            <a:lstStyle/>
            <a:p>
              <a:pPr algn="ctr"/>
              <a:r>
                <a:rPr lang="zh-CN" altLang="en-US" sz="5398" b="0" cap="none" spc="0" dirty="0">
                  <a:ln w="0"/>
                  <a:solidFill>
                    <a:schemeClr val="bg1"/>
                  </a:solidFill>
                  <a:effectLst>
                    <a:outerShdw blurRad="38100" dist="19050" dir="2700000" algn="tl" rotWithShape="0">
                      <a:schemeClr val="dk1">
                        <a:alpha val="40000"/>
                      </a:schemeClr>
                    </a:outerShdw>
                  </a:effectLst>
                </a:rPr>
                <a:t>谢 谢</a:t>
              </a:r>
              <a:endParaRPr lang="en-US" altLang="zh-CN" sz="5398" b="0" cap="none" spc="0" dirty="0">
                <a:ln w="0"/>
                <a:solidFill>
                  <a:schemeClr val="bg1"/>
                </a:solidFill>
                <a:effectLst>
                  <a:outerShdw blurRad="38100" dist="19050" dir="2700000" algn="tl" rotWithShape="0">
                    <a:schemeClr val="dk1">
                      <a:alpha val="40000"/>
                    </a:schemeClr>
                  </a:outerShdw>
                </a:effectLst>
              </a:endParaRP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a:r>
                <a:rPr lang="en-US" altLang="zh-CN" sz="3599" b="0" cap="none" spc="0" dirty="0">
                  <a:ln w="0"/>
                  <a:solidFill>
                    <a:schemeClr val="bg1"/>
                  </a:solidFill>
                  <a:effectLst>
                    <a:outerShdw blurRad="38100" dist="19050" dir="2700000" algn="tl" rotWithShape="0">
                      <a:schemeClr val="dk1">
                        <a:alpha val="40000"/>
                      </a:schemeClr>
                    </a:outerShdw>
                  </a:effectLst>
                </a:rPr>
                <a:t>www.huawei.com</a:t>
              </a:r>
              <a:endParaRPr lang="zh-CN" altLang="en-US" sz="3599" b="0" cap="none" spc="0" dirty="0">
                <a:ln w="0"/>
                <a:solidFill>
                  <a:schemeClr val="bg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41036882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8" name="Rectangle 57"/>
          <p:cNvSpPr>
            <a:spLocks noGrp="1" noChangeArrowheads="1"/>
          </p:cNvSpPr>
          <p:nvPr>
            <p:ph type="body" idx="1"/>
          </p:nvPr>
        </p:nvSpPr>
        <p:spPr bwMode="auto">
          <a:xfrm>
            <a:off x="466221" y="1248074"/>
            <a:ext cx="11279865"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Rectangle 69">
            <a:extLst>
              <a:ext uri="{FF2B5EF4-FFF2-40B4-BE49-F238E27FC236}">
                <a16:creationId xmlns:a16="http://schemas.microsoft.com/office/drawing/2014/main" id="{6ED2DBAA-9261-44D2-836C-78E5FB250BAC}"/>
              </a:ext>
            </a:extLst>
          </p:cNvPr>
          <p:cNvSpPr>
            <a:spLocks noChangeArrowheads="1"/>
          </p:cNvSpPr>
          <p:nvPr userDrawn="1"/>
        </p:nvSpPr>
        <p:spPr bwMode="auto">
          <a:xfrm>
            <a:off x="155280" y="6500581"/>
            <a:ext cx="658440" cy="265552"/>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第</a:t>
            </a:r>
            <a:fld id="{2F2CF7F5-F178-4429-B6CA-28062DF31937}" type="slidenum">
              <a:rPr lang="en-US" altLang="zh-CN" sz="1200" smtClean="0">
                <a:latin typeface="+mn-lt"/>
                <a:ea typeface="+mn-ea"/>
                <a:cs typeface="Arial" pitchFamily="34" charset="0"/>
              </a:rPr>
              <a:pPr defTabSz="801347" eaLnBrk="0" fontAlgn="base" hangingPunct="0">
                <a:defRPr/>
              </a:pPr>
              <a:t>‹#›</a:t>
            </a:fld>
            <a:r>
              <a:rPr lang="zh-CN" altLang="en-US" sz="1200" dirty="0">
                <a:latin typeface="+mn-lt"/>
                <a:ea typeface="+mn-ea"/>
                <a:cs typeface="Arial" pitchFamily="34" charset="0"/>
              </a:rPr>
              <a:t>页</a:t>
            </a:r>
            <a:endParaRPr lang="en-US" altLang="zh-CN" sz="1200" dirty="0">
              <a:latin typeface="+mn-lt"/>
              <a:ea typeface="+mn-ea"/>
              <a:cs typeface="Arial" pitchFamily="34" charset="0"/>
            </a:endParaRPr>
          </a:p>
        </p:txBody>
      </p:sp>
      <p:sp>
        <p:nvSpPr>
          <p:cNvPr id="10" name="Rectangle 54">
            <a:extLst>
              <a:ext uri="{FF2B5EF4-FFF2-40B4-BE49-F238E27FC236}">
                <a16:creationId xmlns:a16="http://schemas.microsoft.com/office/drawing/2014/main"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anose="020B0604020202020204" pitchFamily="34" charset="0"/>
              </a:rPr>
              <a:t>版权所有</a:t>
            </a:r>
            <a:r>
              <a:rPr lang="en-US" altLang="zh-CN" sz="1200" baseline="0">
                <a:latin typeface="+mn-lt"/>
                <a:ea typeface="+mn-ea"/>
                <a:cs typeface="Arial" panose="020B0604020202020204" pitchFamily="34" charset="0"/>
              </a:rPr>
              <a:t>© 2020 </a:t>
            </a:r>
            <a:r>
              <a:rPr lang="zh-CN" altLang="en-US" sz="1200" baseline="0" dirty="0">
                <a:latin typeface="+mn-lt"/>
                <a:ea typeface="+mn-ea"/>
                <a:cs typeface="Arial" panose="020B0604020202020204" pitchFamily="34" charset="0"/>
              </a:rPr>
              <a:t>华为技术有限公司</a:t>
            </a:r>
          </a:p>
        </p:txBody>
      </p:sp>
      <p:pic>
        <p:nvPicPr>
          <p:cNvPr id="11" name="图片 10"/>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0660" y="6504032"/>
            <a:ext cx="1248712" cy="273343"/>
          </a:xfrm>
          <a:prstGeom prst="rect">
            <a:avLst/>
          </a:prstGeom>
        </p:spPr>
      </p:pic>
      <p:sp>
        <p:nvSpPr>
          <p:cNvPr id="24" name="矩形 23">
            <a:extLst>
              <a:ext uri="{FF2B5EF4-FFF2-40B4-BE49-F238E27FC236}">
                <a16:creationId xmlns:a16="http://schemas.microsoft.com/office/drawing/2014/main" id="{32AEB80E-D574-4C1A-9EB9-3369A2BB96C5}"/>
              </a:ext>
            </a:extLst>
          </p:cNvPr>
          <p:cNvSpPr/>
          <p:nvPr userDrawn="1"/>
        </p:nvSpPr>
        <p:spPr>
          <a:xfrm>
            <a:off x="12246898" y="3916624"/>
            <a:ext cx="919908"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5" name="矩形 24">
            <a:extLst>
              <a:ext uri="{FF2B5EF4-FFF2-40B4-BE49-F238E27FC236}">
                <a16:creationId xmlns:a16="http://schemas.microsoft.com/office/drawing/2014/main" id="{E94F5345-F49B-42D0-B35C-CA4FB19A3DA6}"/>
              </a:ext>
            </a:extLst>
          </p:cNvPr>
          <p:cNvSpPr/>
          <p:nvPr userDrawn="1"/>
        </p:nvSpPr>
        <p:spPr>
          <a:xfrm>
            <a:off x="12246898" y="4205452"/>
            <a:ext cx="919908" cy="288000"/>
          </a:xfrm>
          <a:prstGeom prst="rect">
            <a:avLst/>
          </a:prstGeom>
          <a:solidFill>
            <a:srgbClr val="99DFF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6" name="矩形 25">
            <a:extLst>
              <a:ext uri="{FF2B5EF4-FFF2-40B4-BE49-F238E27FC236}">
                <a16:creationId xmlns:a16="http://schemas.microsoft.com/office/drawing/2014/main" id="{BA62EB75-581F-4CD2-92A6-87BDFE3BDBC3}"/>
              </a:ext>
            </a:extLst>
          </p:cNvPr>
          <p:cNvSpPr/>
          <p:nvPr userDrawn="1"/>
        </p:nvSpPr>
        <p:spPr>
          <a:xfrm>
            <a:off x="12246898" y="4493554"/>
            <a:ext cx="919908" cy="288000"/>
          </a:xfrm>
          <a:prstGeom prst="rect">
            <a:avLst/>
          </a:prstGeom>
          <a:solidFill>
            <a:srgbClr val="D9D9D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7" name="矩形 26">
            <a:extLst>
              <a:ext uri="{FF2B5EF4-FFF2-40B4-BE49-F238E27FC236}">
                <a16:creationId xmlns:a16="http://schemas.microsoft.com/office/drawing/2014/main" id="{947DE7E3-EC9F-4331-B252-7BCE51B7F0DA}"/>
              </a:ext>
            </a:extLst>
          </p:cNvPr>
          <p:cNvSpPr/>
          <p:nvPr userDrawn="1"/>
        </p:nvSpPr>
        <p:spPr>
          <a:xfrm>
            <a:off x="12246898" y="4781656"/>
            <a:ext cx="919908"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8" name="矩形 27">
            <a:extLst>
              <a:ext uri="{FF2B5EF4-FFF2-40B4-BE49-F238E27FC236}">
                <a16:creationId xmlns:a16="http://schemas.microsoft.com/office/drawing/2014/main" id="{BE210CD8-3823-4C2E-B3EA-E42C40CFB29F}"/>
              </a:ext>
            </a:extLst>
          </p:cNvPr>
          <p:cNvSpPr/>
          <p:nvPr userDrawn="1"/>
        </p:nvSpPr>
        <p:spPr>
          <a:xfrm>
            <a:off x="12246898" y="5069758"/>
            <a:ext cx="919908" cy="288000"/>
          </a:xfrm>
          <a:prstGeom prst="rect">
            <a:avLst/>
          </a:prstGeom>
          <a:solidFill>
            <a:srgbClr val="F4FBFE"/>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9" name="文本框 28">
            <a:extLst>
              <a:ext uri="{FF2B5EF4-FFF2-40B4-BE49-F238E27FC236}">
                <a16:creationId xmlns:a16="http://schemas.microsoft.com/office/drawing/2014/main" id="{98A3A11A-AB61-497E-B3AE-12E999A6BBBA}"/>
              </a:ext>
            </a:extLst>
          </p:cNvPr>
          <p:cNvSpPr txBox="1"/>
          <p:nvPr userDrawn="1"/>
        </p:nvSpPr>
        <p:spPr bwMode="auto">
          <a:xfrm>
            <a:off x="12162529" y="3947408"/>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30" name="文本框 29">
            <a:extLst>
              <a:ext uri="{FF2B5EF4-FFF2-40B4-BE49-F238E27FC236}">
                <a16:creationId xmlns:a16="http://schemas.microsoft.com/office/drawing/2014/main" id="{CF824ACE-31EE-452D-A81D-32E189AFE158}"/>
              </a:ext>
            </a:extLst>
          </p:cNvPr>
          <p:cNvSpPr txBox="1"/>
          <p:nvPr userDrawn="1"/>
        </p:nvSpPr>
        <p:spPr bwMode="auto">
          <a:xfrm>
            <a:off x="12249538" y="4235890"/>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a:t>
            </a:r>
            <a:r>
              <a:rPr lang="en-US" altLang="zh-CN" sz="900" dirty="0">
                <a:latin typeface="+mn-lt"/>
                <a:ea typeface="+mn-ea"/>
              </a:rPr>
              <a:t>/</a:t>
            </a:r>
            <a:r>
              <a:rPr lang="zh-CN" altLang="en-US" sz="900" dirty="0">
                <a:latin typeface="+mn-lt"/>
                <a:ea typeface="+mn-ea"/>
              </a:rPr>
              <a:t>文字边框</a:t>
            </a:r>
          </a:p>
        </p:txBody>
      </p:sp>
      <p:sp>
        <p:nvSpPr>
          <p:cNvPr id="31" name="文本框 30">
            <a:extLst>
              <a:ext uri="{FF2B5EF4-FFF2-40B4-BE49-F238E27FC236}">
                <a16:creationId xmlns:a16="http://schemas.microsoft.com/office/drawing/2014/main" id="{7399143C-FDAD-45F1-BC44-030BD92ABA98}"/>
              </a:ext>
            </a:extLst>
          </p:cNvPr>
          <p:cNvSpPr txBox="1"/>
          <p:nvPr userDrawn="1"/>
        </p:nvSpPr>
        <p:spPr bwMode="auto">
          <a:xfrm>
            <a:off x="12162526" y="4523977"/>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32" name="文本框 31">
            <a:extLst>
              <a:ext uri="{FF2B5EF4-FFF2-40B4-BE49-F238E27FC236}">
                <a16:creationId xmlns:a16="http://schemas.microsoft.com/office/drawing/2014/main" id="{308D80BD-0AC4-4D30-BDF8-F241047905A7}"/>
              </a:ext>
            </a:extLst>
          </p:cNvPr>
          <p:cNvSpPr txBox="1"/>
          <p:nvPr userDrawn="1"/>
        </p:nvSpPr>
        <p:spPr bwMode="auto">
          <a:xfrm>
            <a:off x="12457445" y="4812094"/>
            <a:ext cx="49881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红</a:t>
            </a:r>
          </a:p>
        </p:txBody>
      </p:sp>
      <p:sp>
        <p:nvSpPr>
          <p:cNvPr id="33" name="文本框 32">
            <a:extLst>
              <a:ext uri="{FF2B5EF4-FFF2-40B4-BE49-F238E27FC236}">
                <a16:creationId xmlns:a16="http://schemas.microsoft.com/office/drawing/2014/main" id="{B9CBC549-23CA-4012-B493-FF768D1829F1}"/>
              </a:ext>
            </a:extLst>
          </p:cNvPr>
          <p:cNvSpPr txBox="1"/>
          <p:nvPr userDrawn="1"/>
        </p:nvSpPr>
        <p:spPr bwMode="auto">
          <a:xfrm>
            <a:off x="12249538" y="5100196"/>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a:t>
            </a:r>
            <a:r>
              <a:rPr lang="en-US" altLang="zh-CN" sz="900" dirty="0">
                <a:latin typeface="+mn-lt"/>
                <a:ea typeface="+mn-ea"/>
              </a:rPr>
              <a:t>/</a:t>
            </a:r>
            <a:r>
              <a:rPr lang="zh-CN" altLang="en-US" sz="900" dirty="0">
                <a:latin typeface="+mn-lt"/>
                <a:ea typeface="+mn-ea"/>
              </a:rPr>
              <a:t>文字底色</a:t>
            </a:r>
          </a:p>
        </p:txBody>
      </p:sp>
      <p:sp>
        <p:nvSpPr>
          <p:cNvPr id="34" name="矩形 33">
            <a:extLst>
              <a:ext uri="{FF2B5EF4-FFF2-40B4-BE49-F238E27FC236}">
                <a16:creationId xmlns:a16="http://schemas.microsoft.com/office/drawing/2014/main" id="{BE210CD8-3823-4C2E-B3EA-E42C40CFB29F}"/>
              </a:ext>
            </a:extLst>
          </p:cNvPr>
          <p:cNvSpPr/>
          <p:nvPr userDrawn="1"/>
        </p:nvSpPr>
        <p:spPr>
          <a:xfrm>
            <a:off x="12246898" y="5485453"/>
            <a:ext cx="461833" cy="288000"/>
          </a:xfrm>
          <a:prstGeom prst="rect">
            <a:avLst/>
          </a:prstGeom>
          <a:solidFill>
            <a:srgbClr val="FFF2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5" name="矩形 34">
            <a:extLst>
              <a:ext uri="{FF2B5EF4-FFF2-40B4-BE49-F238E27FC236}">
                <a16:creationId xmlns:a16="http://schemas.microsoft.com/office/drawing/2014/main" id="{BE210CD8-3823-4C2E-B3EA-E42C40CFB29F}"/>
              </a:ext>
            </a:extLst>
          </p:cNvPr>
          <p:cNvSpPr/>
          <p:nvPr userDrawn="1"/>
        </p:nvSpPr>
        <p:spPr>
          <a:xfrm>
            <a:off x="12708730" y="5485453"/>
            <a:ext cx="458075" cy="288000"/>
          </a:xfrm>
          <a:prstGeom prst="rect">
            <a:avLst/>
          </a:prstGeom>
          <a:solidFill>
            <a:srgbClr val="FFD17D"/>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6" name="文本框 35">
            <a:extLst>
              <a:ext uri="{FF2B5EF4-FFF2-40B4-BE49-F238E27FC236}">
                <a16:creationId xmlns:a16="http://schemas.microsoft.com/office/drawing/2014/main" id="{B9CBC549-23CA-4012-B493-FF768D1829F1}"/>
              </a:ext>
            </a:extLst>
          </p:cNvPr>
          <p:cNvSpPr txBox="1"/>
          <p:nvPr userDrawn="1"/>
        </p:nvSpPr>
        <p:spPr bwMode="auto">
          <a:xfrm>
            <a:off x="12502813" y="5515891"/>
            <a:ext cx="40808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备用</a:t>
            </a:r>
          </a:p>
        </p:txBody>
      </p:sp>
      <p:sp>
        <p:nvSpPr>
          <p:cNvPr id="20" name="矩形 19">
            <a:extLst>
              <a:ext uri="{FF2B5EF4-FFF2-40B4-BE49-F238E27FC236}">
                <a16:creationId xmlns:a16="http://schemas.microsoft.com/office/drawing/2014/main" id="{947DE7E3-EC9F-4331-B252-7BCE51B7F0DA}"/>
              </a:ext>
            </a:extLst>
          </p:cNvPr>
          <p:cNvSpPr/>
          <p:nvPr userDrawn="1"/>
        </p:nvSpPr>
        <p:spPr>
          <a:xfrm>
            <a:off x="12246898" y="5773453"/>
            <a:ext cx="919908" cy="288000"/>
          </a:xfrm>
          <a:prstGeom prst="rect">
            <a:avLst/>
          </a:prstGeom>
          <a:solidFill>
            <a:schemeClr val="accent3"/>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2" name="文本框 21">
            <a:extLst>
              <a:ext uri="{FF2B5EF4-FFF2-40B4-BE49-F238E27FC236}">
                <a16:creationId xmlns:a16="http://schemas.microsoft.com/office/drawing/2014/main" id="{308D80BD-0AC4-4D30-BDF8-F241047905A7}"/>
              </a:ext>
            </a:extLst>
          </p:cNvPr>
          <p:cNvSpPr txBox="1"/>
          <p:nvPr userDrawn="1"/>
        </p:nvSpPr>
        <p:spPr bwMode="auto">
          <a:xfrm>
            <a:off x="12560520" y="5813738"/>
            <a:ext cx="29266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绿</a:t>
            </a:r>
          </a:p>
        </p:txBody>
      </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Lst>
  <p:txStyles>
    <p:titleStyle>
      <a:lvl1pPr algn="l" defTabSz="914034" rtl="0" eaLnBrk="1" latinLnBrk="0" hangingPunct="1">
        <a:lnSpc>
          <a:spcPct val="90000"/>
        </a:lnSpc>
        <a:spcBef>
          <a:spcPct val="0"/>
        </a:spcBef>
        <a:buNone/>
        <a:defRPr sz="3499" kern="1200">
          <a:solidFill>
            <a:schemeClr val="tx1"/>
          </a:solidFill>
          <a:latin typeface="+mj-lt"/>
          <a:ea typeface="+mj-ea"/>
          <a:cs typeface="+mj-cs"/>
        </a:defRPr>
      </a:lvl1pPr>
    </p:titleStyle>
    <p:body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1" userDrawn="1">
          <p15:clr>
            <a:srgbClr val="F26B43"/>
          </p15:clr>
        </p15:guide>
        <p15:guide id="4" pos="7399" userDrawn="1">
          <p15:clr>
            <a:srgbClr val="F26B43"/>
          </p15:clr>
        </p15:guide>
        <p15:guide id="5" orient="horz" pos="2341" userDrawn="1">
          <p15:clr>
            <a:srgbClr val="F26B43"/>
          </p15:clr>
        </p15:guide>
        <p15:guide id="6" orient="horz" pos="4020" userDrawn="1">
          <p15:clr>
            <a:srgbClr val="F26B43"/>
          </p15:clr>
        </p15:guide>
        <p15:guide id="7" orient="horz" pos="777" userDrawn="1">
          <p15:clr>
            <a:srgbClr val="F26B43"/>
          </p15:clr>
        </p15:guide>
        <p15:guide id="8"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sz="quarter"/>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原理与配置</a:t>
            </a:r>
          </a:p>
        </p:txBody>
      </p:sp>
      <p:sp>
        <p:nvSpPr>
          <p:cNvPr id="3" name="文本占位符 2"/>
          <p:cNvSpPr>
            <a:spLocks noGrp="1"/>
          </p:cNvSpPr>
          <p:nvPr>
            <p:ph type="body" sz="quarter" idx="10"/>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主讲人：智汇云校</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梁晓锋</a:t>
            </a:r>
          </a:p>
        </p:txBody>
      </p:sp>
    </p:spTree>
    <p:extLst>
      <p:ext uri="{BB962C8B-B14F-4D97-AF65-F5344CB8AC3E}">
        <p14:creationId xmlns:p14="http://schemas.microsoft.com/office/powerpoint/2010/main" val="109012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以太网交换网络中为了进行链路备份，提高网络可靠性，通常会使用冗余链路，但是这也带来了网络环路的问题。网络环路会引发广播风暴和</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地址表震荡等问题，导致用户通信质量差，甚至通信中断。为了解决交换网络中的环路问题，</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IEEE</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提出了基于</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802.1D</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标准的</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Spanning Tree Protocol</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，生成树协议）。</a:t>
            </a:r>
          </a:p>
          <a:p>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随着局域网规模的不断增长，</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拓扑收敛速度慢的问题逐渐凸显，因此，</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IEEE</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2001</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年发布了</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802.1W</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标准，定义了</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Rapid Spanning Tree Protocol</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，快速生成树协议），</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的基础上进行了改进，可实现网络拓扑的快速收敛。</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在本章节中，主要介绍</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对于</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的改进之处，</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的基本工作原理以及</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的相关配置。</a:t>
            </a:r>
          </a:p>
          <a:p>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31410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学完本课程后，您将能够：</a:t>
            </a: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描述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技术的缺陷</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描述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技术的改进</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描述</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的基本工作原理</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完成</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的基本配置</a:t>
            </a:r>
          </a:p>
        </p:txBody>
      </p:sp>
    </p:spTree>
    <p:extLst>
      <p:ext uri="{BB962C8B-B14F-4D97-AF65-F5344CB8AC3E}">
        <p14:creationId xmlns:p14="http://schemas.microsoft.com/office/powerpoint/2010/main" val="454857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快速生成树协议概述</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buFont typeface="微软雅黑" panose="020B0503020204020204" pitchFamily="34" charset="-122"/>
              <a:buChar char="▪"/>
            </a:pPr>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回顾与</a:t>
            </a:r>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不足</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概述</a:t>
            </a: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a:t>
            </a:r>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的改进</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的工作过程</a:t>
            </a: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的基本配置</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876097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回顾：</a:t>
            </a:r>
            <a:r>
              <a:rPr lang="en-US" altLang="zh-CN"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的工作原理</a:t>
            </a:r>
            <a:endParaRPr lang="en-US" altLang="zh-CN"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grpSp>
        <p:nvGrpSpPr>
          <p:cNvPr id="30" name="组合 29"/>
          <p:cNvGrpSpPr/>
          <p:nvPr/>
        </p:nvGrpSpPr>
        <p:grpSpPr>
          <a:xfrm>
            <a:off x="705450" y="1853408"/>
            <a:ext cx="4924655" cy="2685150"/>
            <a:chOff x="6164554" y="1306179"/>
            <a:chExt cx="4924655" cy="2685150"/>
          </a:xfrm>
        </p:grpSpPr>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720000" cy="590400"/>
            </a:xfrm>
            <a:prstGeom prst="rect">
              <a:avLst/>
            </a:prstGeom>
          </p:spPr>
        </p:pic>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720000" cy="590400"/>
            </a:xfrm>
            <a:prstGeom prst="rect">
              <a:avLst/>
            </a:prstGeom>
          </p:spPr>
        </p:pic>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720000" cy="590400"/>
            </a:xfrm>
            <a:prstGeom prst="rect">
              <a:avLst/>
            </a:prstGeom>
          </p:spPr>
        </p:pic>
        <p:cxnSp>
          <p:nvCxnSpPr>
            <p:cNvPr id="34" name="直接连接符 33"/>
            <p:cNvCxnSpPr>
              <a:stCxn id="32" idx="3"/>
              <a:endCxn id="33" idx="1"/>
            </p:cNvCxnSpPr>
            <p:nvPr/>
          </p:nvCxnSpPr>
          <p:spPr>
            <a:xfrm>
              <a:off x="7545849" y="3696129"/>
              <a:ext cx="2215501" cy="0"/>
            </a:xfrm>
            <a:prstGeom prst="line">
              <a:avLst/>
            </a:prstGeom>
            <a:noFill/>
            <a:ln w="19050" cap="flat" cmpd="sng" algn="ctr">
              <a:solidFill>
                <a:srgbClr val="151515"/>
              </a:solidFill>
              <a:prstDash val="solid"/>
              <a:miter lim="800000"/>
            </a:ln>
            <a:effectLst/>
          </p:spPr>
        </p:cxnSp>
        <p:cxnSp>
          <p:nvCxnSpPr>
            <p:cNvPr id="35" name="直接连接符 34"/>
            <p:cNvCxnSpPr>
              <a:stCxn id="33" idx="0"/>
              <a:endCxn id="31" idx="3"/>
            </p:cNvCxnSpPr>
            <p:nvPr/>
          </p:nvCxnSpPr>
          <p:spPr>
            <a:xfrm flipH="1" flipV="1">
              <a:off x="9013600" y="2086150"/>
              <a:ext cx="1107750" cy="1314779"/>
            </a:xfrm>
            <a:prstGeom prst="line">
              <a:avLst/>
            </a:prstGeom>
            <a:noFill/>
            <a:ln w="19050" cap="flat" cmpd="sng" algn="ctr">
              <a:solidFill>
                <a:srgbClr val="151515"/>
              </a:solidFill>
              <a:prstDash val="solid"/>
              <a:miter lim="800000"/>
            </a:ln>
            <a:effectLst/>
          </p:spPr>
        </p:cxnSp>
        <p:sp>
          <p:nvSpPr>
            <p:cNvPr id="36" name="文本框 35"/>
            <p:cNvSpPr txBox="1"/>
            <p:nvPr/>
          </p:nvSpPr>
          <p:spPr>
            <a:xfrm>
              <a:off x="6164554" y="3451620"/>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a:xfrm>
              <a:off x="10481350" y="3451620"/>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8027465" y="1306179"/>
              <a:ext cx="1252266" cy="473912"/>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 name="直接箭头连接符 38"/>
            <p:cNvCxnSpPr>
              <a:stCxn id="32" idx="0"/>
              <a:endCxn id="31" idx="1"/>
            </p:cNvCxnSpPr>
            <p:nvPr/>
          </p:nvCxnSpPr>
          <p:spPr>
            <a:xfrm flipV="1">
              <a:off x="7185849" y="2086150"/>
              <a:ext cx="1107751" cy="13147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53" name="圆角矩形 75"/>
          <p:cNvSpPr/>
          <p:nvPr/>
        </p:nvSpPr>
        <p:spPr>
          <a:xfrm>
            <a:off x="6437282" y="1540093"/>
            <a:ext cx="4984653" cy="394020"/>
          </a:xfrm>
          <a:prstGeom prst="roundRect">
            <a:avLst>
              <a:gd name="adj" fmla="val 10604"/>
            </a:avLst>
          </a:prstGeom>
          <a:solidFill>
            <a:srgbClr val="00B0F0"/>
          </a:solidFill>
          <a:ln>
            <a:noFill/>
          </a:ln>
        </p:spPr>
        <p:txBody>
          <a:bodyPr wrap="square" rtlCol="0" anchor="ctr" anchorCtr="0">
            <a:noAutofit/>
          </a:bodyPr>
          <a:lstStyle/>
          <a:p>
            <a:pPr algn="ct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的配置</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圆角矩形 75"/>
          <p:cNvSpPr/>
          <p:nvPr/>
        </p:nvSpPr>
        <p:spPr>
          <a:xfrm>
            <a:off x="6437284" y="1971598"/>
            <a:ext cx="4984653" cy="340374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a:lnSpc>
                <a:spcPts val="2600"/>
              </a:lnSpc>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通过在交换机之间传递配置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来选举根交换机 </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或根桥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，以及确定每个交换机端口的角色和状态。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在初始化过程中，每个交换机都主动发送配置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在网络拓扑稳定以后，只有根桥周期性发送配置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，其他交换机在收到上游传来的配置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后，才会发送自己的配置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包含了桥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、路径开销和端口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等参数。</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9" name="直接箭头连接符 58"/>
          <p:cNvCxnSpPr/>
          <p:nvPr/>
        </p:nvCxnSpPr>
        <p:spPr>
          <a:xfrm rot="21240812">
            <a:off x="4050458" y="2846619"/>
            <a:ext cx="398154" cy="626269"/>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a:xfrm>
            <a:off x="5022246" y="4924064"/>
            <a:ext cx="1207104" cy="338554"/>
          </a:xfrm>
          <a:prstGeom prst="rect">
            <a:avLst/>
          </a:prstGeom>
          <a:noFill/>
        </p:spPr>
        <p:txBody>
          <a:bodyPr wrap="square" rtlCol="0">
            <a:spAutoFit/>
          </a:bodyPr>
          <a:lstStyle/>
          <a:p>
            <a:pPr fontAlgn="auto">
              <a:spcBef>
                <a:spcPts val="0"/>
              </a:spcBef>
              <a:spcAft>
                <a:spcPts val="0"/>
              </a:spcAft>
            </a:pPr>
            <a:r>
              <a:rPr lang="zh-CN" altLang="en-US" sz="1600" b="1" dirty="0">
                <a:solidFill>
                  <a:prstClr val="white">
                    <a:lumMod val="75000"/>
                  </a:prstClr>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dirty="0">
                <a:solidFill>
                  <a:prstClr val="white">
                    <a:lumMod val="75000"/>
                  </a:prstClr>
                </a:solidFill>
                <a:latin typeface="Huawei Sans" panose="020C0503030203020204" pitchFamily="34" charset="0"/>
                <a:ea typeface="方正兰亭黑简体" panose="02000000000000000000" pitchFamily="2" charset="-122"/>
                <a:sym typeface="Huawei Sans" panose="020C0503030203020204" pitchFamily="34" charset="0"/>
              </a:rPr>
              <a:t>BPDU</a:t>
            </a:r>
          </a:p>
        </p:txBody>
      </p:sp>
      <p:cxnSp>
        <p:nvCxnSpPr>
          <p:cNvPr id="64" name="直接箭头连接符 63"/>
          <p:cNvCxnSpPr/>
          <p:nvPr/>
        </p:nvCxnSpPr>
        <p:spPr>
          <a:xfrm flipH="1">
            <a:off x="1906211" y="2891531"/>
            <a:ext cx="526505" cy="592006"/>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551238" y="2861888"/>
            <a:ext cx="1728770" cy="338554"/>
          </a:xfrm>
          <a:prstGeom prst="rect">
            <a:avLst/>
          </a:prstGeom>
          <a:noFill/>
        </p:spPr>
        <p:txBody>
          <a:bodyPr wrap="square" rtlCol="0">
            <a:spAutoFit/>
          </a:bodyPr>
          <a:lstStyle/>
          <a:p>
            <a:pP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Hello Time</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2s</a:t>
            </a:r>
          </a:p>
        </p:txBody>
      </p:sp>
      <p:graphicFrame>
        <p:nvGraphicFramePr>
          <p:cNvPr id="56" name="表格 55"/>
          <p:cNvGraphicFramePr>
            <a:graphicFrameLocks noGrp="1"/>
          </p:cNvGraphicFramePr>
          <p:nvPr>
            <p:extLst>
              <p:ext uri="{D42A27DB-BD31-4B8C-83A1-F6EECF244321}">
                <p14:modId xmlns:p14="http://schemas.microsoft.com/office/powerpoint/2010/main" val="3383344624"/>
              </p:ext>
            </p:extLst>
          </p:nvPr>
        </p:nvGraphicFramePr>
        <p:xfrm>
          <a:off x="1013388" y="5774002"/>
          <a:ext cx="8867591" cy="518124"/>
        </p:xfrm>
        <a:graphic>
          <a:graphicData uri="http://schemas.openxmlformats.org/drawingml/2006/table">
            <a:tbl>
              <a:tblPr firstRow="1" bandRow="1">
                <a:tableStyleId>{2D5ABB26-0587-4C30-8999-92F81FD0307C}</a:tableStyleId>
              </a:tblPr>
              <a:tblGrid>
                <a:gridCol w="617763">
                  <a:extLst>
                    <a:ext uri="{9D8B030D-6E8A-4147-A177-3AD203B41FA5}">
                      <a16:colId xmlns:a16="http://schemas.microsoft.com/office/drawing/2014/main" val="20000"/>
                    </a:ext>
                  </a:extLst>
                </a:gridCol>
                <a:gridCol w="617763">
                  <a:extLst>
                    <a:ext uri="{9D8B030D-6E8A-4147-A177-3AD203B41FA5}">
                      <a16:colId xmlns:a16="http://schemas.microsoft.com/office/drawing/2014/main" val="20001"/>
                    </a:ext>
                  </a:extLst>
                </a:gridCol>
                <a:gridCol w="754883">
                  <a:extLst>
                    <a:ext uri="{9D8B030D-6E8A-4147-A177-3AD203B41FA5}">
                      <a16:colId xmlns:a16="http://schemas.microsoft.com/office/drawing/2014/main" val="20002"/>
                    </a:ext>
                  </a:extLst>
                </a:gridCol>
                <a:gridCol w="656422">
                  <a:extLst>
                    <a:ext uri="{9D8B030D-6E8A-4147-A177-3AD203B41FA5}">
                      <a16:colId xmlns:a16="http://schemas.microsoft.com/office/drawing/2014/main" val="20003"/>
                    </a:ext>
                  </a:extLst>
                </a:gridCol>
                <a:gridCol w="754883">
                  <a:extLst>
                    <a:ext uri="{9D8B030D-6E8A-4147-A177-3AD203B41FA5}">
                      <a16:colId xmlns:a16="http://schemas.microsoft.com/office/drawing/2014/main" val="20004"/>
                    </a:ext>
                  </a:extLst>
                </a:gridCol>
                <a:gridCol w="617036">
                  <a:extLst>
                    <a:ext uri="{9D8B030D-6E8A-4147-A177-3AD203B41FA5}">
                      <a16:colId xmlns:a16="http://schemas.microsoft.com/office/drawing/2014/main" val="20005"/>
                    </a:ext>
                  </a:extLst>
                </a:gridCol>
                <a:gridCol w="754883">
                  <a:extLst>
                    <a:ext uri="{9D8B030D-6E8A-4147-A177-3AD203B41FA5}">
                      <a16:colId xmlns:a16="http://schemas.microsoft.com/office/drawing/2014/main" val="20006"/>
                    </a:ext>
                  </a:extLst>
                </a:gridCol>
                <a:gridCol w="617036">
                  <a:extLst>
                    <a:ext uri="{9D8B030D-6E8A-4147-A177-3AD203B41FA5}">
                      <a16:colId xmlns:a16="http://schemas.microsoft.com/office/drawing/2014/main" val="20007"/>
                    </a:ext>
                  </a:extLst>
                </a:gridCol>
                <a:gridCol w="951810">
                  <a:extLst>
                    <a:ext uri="{9D8B030D-6E8A-4147-A177-3AD203B41FA5}">
                      <a16:colId xmlns:a16="http://schemas.microsoft.com/office/drawing/2014/main" val="20008"/>
                    </a:ext>
                  </a:extLst>
                </a:gridCol>
                <a:gridCol w="754883">
                  <a:extLst>
                    <a:ext uri="{9D8B030D-6E8A-4147-A177-3AD203B41FA5}">
                      <a16:colId xmlns:a16="http://schemas.microsoft.com/office/drawing/2014/main" val="20009"/>
                    </a:ext>
                  </a:extLst>
                </a:gridCol>
                <a:gridCol w="754883">
                  <a:extLst>
                    <a:ext uri="{9D8B030D-6E8A-4147-A177-3AD203B41FA5}">
                      <a16:colId xmlns:a16="http://schemas.microsoft.com/office/drawing/2014/main" val="20010"/>
                    </a:ext>
                  </a:extLst>
                </a:gridCol>
                <a:gridCol w="1015346">
                  <a:extLst>
                    <a:ext uri="{9D8B030D-6E8A-4147-A177-3AD203B41FA5}">
                      <a16:colId xmlns:a16="http://schemas.microsoft.com/office/drawing/2014/main" val="20011"/>
                    </a:ext>
                  </a:extLst>
                </a:gridCol>
              </a:tblGrid>
              <a:tr h="427558">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PVI</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Type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Flag</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Root</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Bridge</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Port</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Message</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Age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Max</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Age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Hello</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Time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Forward</a:t>
                      </a:r>
                    </a:p>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Delay</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58" name="椭圆 57"/>
          <p:cNvSpPr>
            <a:spLocks noChangeAspect="1"/>
          </p:cNvSpPr>
          <p:nvPr/>
        </p:nvSpPr>
        <p:spPr>
          <a:xfrm>
            <a:off x="4810901" y="4987668"/>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椭圆 69"/>
          <p:cNvSpPr>
            <a:spLocks noChangeAspect="1"/>
          </p:cNvSpPr>
          <p:nvPr/>
        </p:nvSpPr>
        <p:spPr>
          <a:xfrm>
            <a:off x="2295698" y="2790783"/>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椭圆 70"/>
          <p:cNvSpPr>
            <a:spLocks noChangeAspect="1"/>
          </p:cNvSpPr>
          <p:nvPr/>
        </p:nvSpPr>
        <p:spPr>
          <a:xfrm>
            <a:off x="3915103" y="2790783"/>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直接箭头连接符 78"/>
          <p:cNvCxnSpPr/>
          <p:nvPr/>
        </p:nvCxnSpPr>
        <p:spPr>
          <a:xfrm flipV="1">
            <a:off x="2653884" y="4412678"/>
            <a:ext cx="900000" cy="0"/>
          </a:xfrm>
          <a:prstGeom prst="straightConnector1">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椭圆 80"/>
          <p:cNvSpPr>
            <a:spLocks noChangeAspect="1"/>
          </p:cNvSpPr>
          <p:nvPr/>
        </p:nvSpPr>
        <p:spPr>
          <a:xfrm>
            <a:off x="2543834" y="4327213"/>
            <a:ext cx="211345" cy="211345"/>
          </a:xfrm>
          <a:prstGeom prst="ellipse">
            <a:avLst/>
          </a:prstGeom>
          <a:solidFill>
            <a:schemeClr val="bg1"/>
          </a:solid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a:xfrm>
            <a:off x="957691" y="5346772"/>
            <a:ext cx="2146193" cy="396968"/>
          </a:xfrm>
          <a:prstGeom prst="rect">
            <a:avLst/>
          </a:prstGeom>
          <a:noFill/>
        </p:spPr>
        <p:txBody>
          <a:bodyPr wrap="square" rtlCol="0">
            <a:spAutoFit/>
          </a:bodyPr>
          <a:lstStyle/>
          <a:p>
            <a:pPr algn="just" fontAlgn="auto">
              <a:lnSpc>
                <a:spcPts val="2600"/>
              </a:lnSpc>
              <a:spcBef>
                <a:spcPts val="0"/>
              </a:spcBef>
              <a:spcAft>
                <a:spcPts val="600"/>
              </a:spcAft>
            </a:pP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报文格式</a:t>
            </a:r>
            <a:endPar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4370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组合 28"/>
          <p:cNvGrpSpPr>
            <a:grpSpLocks noChangeAspect="1"/>
          </p:cNvGrpSpPr>
          <p:nvPr/>
        </p:nvGrpSpPr>
        <p:grpSpPr>
          <a:xfrm>
            <a:off x="4241465" y="5776341"/>
            <a:ext cx="234000" cy="234000"/>
            <a:chOff x="5076056" y="3356992"/>
            <a:chExt cx="436268" cy="436268"/>
          </a:xfrm>
        </p:grpSpPr>
        <p:sp>
          <p:nvSpPr>
            <p:cNvPr id="90"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回顾：</a:t>
            </a:r>
            <a:r>
              <a:rPr lang="en-US" altLang="zh-CN"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树的生成过程</a:t>
            </a:r>
          </a:p>
        </p:txBody>
      </p:sp>
      <p:sp>
        <p:nvSpPr>
          <p:cNvPr id="53" name="圆角矩形 75"/>
          <p:cNvSpPr/>
          <p:nvPr/>
        </p:nvSpPr>
        <p:spPr>
          <a:xfrm>
            <a:off x="6437285" y="1597913"/>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的计算四步骤</a:t>
            </a:r>
          </a:p>
        </p:txBody>
      </p:sp>
      <p:sp>
        <p:nvSpPr>
          <p:cNvPr id="54" name="圆角矩形 75"/>
          <p:cNvSpPr/>
          <p:nvPr/>
        </p:nvSpPr>
        <p:spPr>
          <a:xfrm>
            <a:off x="6437285" y="2029418"/>
            <a:ext cx="4784646" cy="410092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主要通过比较</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个参数进行角色选举：</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fontAlgn="auto">
              <a:lnSpc>
                <a:spcPts val="2600"/>
              </a:lnSpc>
              <a:spcBef>
                <a:spcPts val="0"/>
              </a:spcBef>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、根路径开销、网桥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和端口</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选举根桥 </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(Root Bridge)</a:t>
            </a:r>
          </a:p>
          <a:p>
            <a:pPr marL="360000" indent="-180000" algn="just" fontAlgn="auto">
              <a:lnSpc>
                <a:spcPts val="2600"/>
              </a:lnSpc>
              <a:spcBef>
                <a:spcPts val="0"/>
              </a:spcBef>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在一个交换网络中选举一个根桥。</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spcAft>
                <a:spcPts val="600"/>
              </a:spcAft>
              <a:buFont typeface="+mj-lt"/>
              <a:buAutoNum type="arabicPeriod" startAt="2"/>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选举根端口 </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(Root Port)</a:t>
            </a: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在每个非根桥上选举一个根端口。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spcAft>
                <a:spcPts val="600"/>
              </a:spcAft>
              <a:buFont typeface="+mj-lt"/>
              <a:buAutoNum type="arabicPeriod" startAt="3"/>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选举指定端口 </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(Designated Port)</a:t>
            </a: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为每个网段选举一个指定端口。</a:t>
            </a:r>
          </a:p>
          <a:p>
            <a:pPr marL="342900" indent="-342900" algn="just" fontAlgn="auto">
              <a:lnSpc>
                <a:spcPts val="2600"/>
              </a:lnSpc>
              <a:spcBef>
                <a:spcPts val="0"/>
              </a:spcBef>
              <a:spcAft>
                <a:spcPts val="600"/>
              </a:spcAft>
              <a:buFont typeface="+mj-lt"/>
              <a:buAutoNum type="arabicPeriod" startAt="4"/>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阻塞非指定端口</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阻塞交换机上所有剩余的非根、非指定端口。</a:t>
            </a:r>
          </a:p>
        </p:txBody>
      </p:sp>
      <p:sp>
        <p:nvSpPr>
          <p:cNvPr id="29" name="椭圆 28"/>
          <p:cNvSpPr>
            <a:spLocks noChangeAspect="1"/>
          </p:cNvSpPr>
          <p:nvPr/>
        </p:nvSpPr>
        <p:spPr>
          <a:xfrm>
            <a:off x="1260879" y="577786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a:xfrm>
            <a:off x="1443798" y="5740213"/>
            <a:ext cx="792656"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p:cNvSpPr>
            <a:spLocks noChangeAspect="1"/>
          </p:cNvSpPr>
          <p:nvPr/>
        </p:nvSpPr>
        <p:spPr>
          <a:xfrm>
            <a:off x="2688362" y="577786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a:xfrm>
            <a:off x="2871281" y="5740213"/>
            <a:ext cx="913456"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a:xfrm>
            <a:off x="4424383" y="5740213"/>
            <a:ext cx="1074895" cy="307777"/>
          </a:xfrm>
          <a:prstGeom prst="rect">
            <a:avLst/>
          </a:prstGeom>
          <a:noFill/>
        </p:spPr>
        <p:txBody>
          <a:bodyPr wrap="square" rtlCol="0">
            <a:spAutoFit/>
          </a:bodyPr>
          <a:lstStyle/>
          <a:p>
            <a:pPr fontAlgn="auto">
              <a:spcBef>
                <a:spcPts val="0"/>
              </a:spcBef>
              <a:spcAft>
                <a:spcPts val="0"/>
              </a:spcAft>
            </a:pPr>
            <a:r>
              <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非指定端口</a:t>
            </a:r>
          </a:p>
        </p:txBody>
      </p:sp>
      <p:grpSp>
        <p:nvGrpSpPr>
          <p:cNvPr id="3" name="组合 2"/>
          <p:cNvGrpSpPr/>
          <p:nvPr/>
        </p:nvGrpSpPr>
        <p:grpSpPr>
          <a:xfrm>
            <a:off x="705450" y="1853408"/>
            <a:ext cx="4924655" cy="2685150"/>
            <a:chOff x="705450" y="2158208"/>
            <a:chExt cx="4924655" cy="2685150"/>
          </a:xfrm>
        </p:grpSpPr>
        <p:grpSp>
          <p:nvGrpSpPr>
            <p:cNvPr id="30" name="组合 29"/>
            <p:cNvGrpSpPr/>
            <p:nvPr/>
          </p:nvGrpSpPr>
          <p:grpSpPr>
            <a:xfrm>
              <a:off x="705450" y="2158208"/>
              <a:ext cx="4924655" cy="2685150"/>
              <a:chOff x="6164554" y="1306179"/>
              <a:chExt cx="4924655" cy="2685150"/>
            </a:xfrm>
          </p:grpSpPr>
          <p:pic>
            <p:nvPicPr>
              <p:cNvPr id="31" name="图片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720000" cy="590400"/>
              </a:xfrm>
              <a:prstGeom prst="rect">
                <a:avLst/>
              </a:prstGeom>
            </p:spPr>
          </p:pic>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720000" cy="590400"/>
              </a:xfrm>
              <a:prstGeom prst="rect">
                <a:avLst/>
              </a:prstGeom>
            </p:spPr>
          </p:pic>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720000" cy="590400"/>
              </a:xfrm>
              <a:prstGeom prst="rect">
                <a:avLst/>
              </a:prstGeom>
            </p:spPr>
          </p:pic>
          <p:cxnSp>
            <p:nvCxnSpPr>
              <p:cNvPr id="34" name="直接连接符 33"/>
              <p:cNvCxnSpPr>
                <a:stCxn id="32" idx="3"/>
                <a:endCxn id="33" idx="1"/>
              </p:cNvCxnSpPr>
              <p:nvPr/>
            </p:nvCxnSpPr>
            <p:spPr>
              <a:xfrm>
                <a:off x="7545849" y="3696129"/>
                <a:ext cx="2215501"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35" name="直接连接符 34"/>
              <p:cNvCxnSpPr>
                <a:stCxn id="33" idx="0"/>
                <a:endCxn id="31" idx="3"/>
              </p:cNvCxnSpPr>
              <p:nvPr/>
            </p:nvCxnSpPr>
            <p:spPr>
              <a:xfrm flipH="1" flipV="1">
                <a:off x="9013600" y="2086150"/>
                <a:ext cx="1107750" cy="1314779"/>
              </a:xfrm>
              <a:prstGeom prst="line">
                <a:avLst/>
              </a:prstGeom>
              <a:noFill/>
              <a:ln w="19050" cap="flat" cmpd="sng" algn="ctr">
                <a:solidFill>
                  <a:srgbClr val="151515"/>
                </a:solidFill>
                <a:prstDash val="solid"/>
                <a:miter lim="800000"/>
              </a:ln>
              <a:effectLst/>
            </p:spPr>
          </p:cxnSp>
          <p:sp>
            <p:nvSpPr>
              <p:cNvPr id="36" name="文本框 35"/>
              <p:cNvSpPr txBox="1"/>
              <p:nvPr/>
            </p:nvSpPr>
            <p:spPr>
              <a:xfrm>
                <a:off x="6164554" y="3451620"/>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a:xfrm>
                <a:off x="10481350" y="3451620"/>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a:xfrm>
                <a:off x="8027465" y="1306179"/>
                <a:ext cx="1252266" cy="473912"/>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9" name="直接箭头连接符 38"/>
              <p:cNvCxnSpPr>
                <a:stCxn id="32" idx="0"/>
                <a:endCxn id="31" idx="1"/>
              </p:cNvCxnSpPr>
              <p:nvPr/>
            </p:nvCxnSpPr>
            <p:spPr>
              <a:xfrm flipV="1">
                <a:off x="7185849" y="2086150"/>
                <a:ext cx="1107751" cy="13147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81" name="椭圆 80"/>
            <p:cNvSpPr>
              <a:spLocks noChangeAspect="1"/>
            </p:cNvSpPr>
            <p:nvPr/>
          </p:nvSpPr>
          <p:spPr>
            <a:xfrm>
              <a:off x="2727041" y="286513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椭圆 81"/>
            <p:cNvSpPr>
              <a:spLocks noChangeAspect="1"/>
            </p:cNvSpPr>
            <p:nvPr/>
          </p:nvSpPr>
          <p:spPr>
            <a:xfrm>
              <a:off x="3456165" y="287465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椭圆 82"/>
            <p:cNvSpPr>
              <a:spLocks noChangeAspect="1"/>
            </p:cNvSpPr>
            <p:nvPr/>
          </p:nvSpPr>
          <p:spPr>
            <a:xfrm>
              <a:off x="1660856" y="413672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椭圆 85"/>
            <p:cNvSpPr>
              <a:spLocks noChangeAspect="1"/>
            </p:cNvSpPr>
            <p:nvPr/>
          </p:nvSpPr>
          <p:spPr>
            <a:xfrm>
              <a:off x="1973346" y="443794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椭圆 86"/>
            <p:cNvSpPr>
              <a:spLocks noChangeAspect="1"/>
            </p:cNvSpPr>
            <p:nvPr/>
          </p:nvSpPr>
          <p:spPr>
            <a:xfrm>
              <a:off x="4546006" y="413672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2" name="组合 28"/>
            <p:cNvGrpSpPr>
              <a:grpSpLocks noChangeAspect="1"/>
            </p:cNvGrpSpPr>
            <p:nvPr/>
          </p:nvGrpSpPr>
          <p:grpSpPr>
            <a:xfrm>
              <a:off x="4161997" y="4436427"/>
              <a:ext cx="234000" cy="234000"/>
              <a:chOff x="5076056" y="3356992"/>
              <a:chExt cx="436268" cy="436268"/>
            </a:xfrm>
          </p:grpSpPr>
          <p:sp>
            <p:nvSpPr>
              <p:cNvPr id="93"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Tree>
    <p:extLst>
      <p:ext uri="{BB962C8B-B14F-4D97-AF65-F5344CB8AC3E}">
        <p14:creationId xmlns:p14="http://schemas.microsoft.com/office/powerpoint/2010/main" val="4129330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回顾：</a:t>
            </a:r>
            <a:r>
              <a:rPr lang="en-US" altLang="zh-CN"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的端口状态迁移</a:t>
            </a:r>
          </a:p>
        </p:txBody>
      </p:sp>
      <p:sp>
        <p:nvSpPr>
          <p:cNvPr id="53" name="圆角矩形 75"/>
          <p:cNvSpPr/>
          <p:nvPr/>
        </p:nvSpPr>
        <p:spPr>
          <a:xfrm>
            <a:off x="6122495" y="2086463"/>
            <a:ext cx="5308628" cy="394020"/>
          </a:xfrm>
          <a:prstGeom prst="roundRect">
            <a:avLst>
              <a:gd name="adj" fmla="val 10604"/>
            </a:avLst>
          </a:prstGeom>
          <a:solidFill>
            <a:srgbClr val="00B0F0"/>
          </a:solidFill>
          <a:ln>
            <a:noFill/>
          </a:ln>
        </p:spPr>
        <p:txBody>
          <a:bodyPr wrap="square" rtlCol="0" anchor="ctr" anchorCtr="0">
            <a:noAutofit/>
          </a:bodyPr>
          <a:lstStyle/>
          <a:p>
            <a:pPr algn="ct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的端口状态迁移</a:t>
            </a:r>
          </a:p>
        </p:txBody>
      </p:sp>
      <p:sp>
        <p:nvSpPr>
          <p:cNvPr id="54" name="圆角矩形 75"/>
          <p:cNvSpPr/>
          <p:nvPr/>
        </p:nvSpPr>
        <p:spPr>
          <a:xfrm>
            <a:off x="6122495" y="2517969"/>
            <a:ext cx="5308628" cy="247420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342900" indent="-342900" algn="just">
              <a:lnSpc>
                <a:spcPts val="2600"/>
              </a:lnSpc>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端口初始化或者使能，进入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Blocking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a:lnSpc>
                <a:spcPts val="2600"/>
              </a:lnSpc>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端口被选为根端口或者指定端口，进入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Listening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a:lnSpc>
                <a:spcPts val="2600"/>
              </a:lnSpc>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端口的</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时间到，</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Learning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状态；再经过一个</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a:lnSpc>
                <a:spcPts val="2600"/>
              </a:lnSpc>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端口不再是根端口、指定端口，进入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Blocking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a:lnSpc>
                <a:spcPts val="2600"/>
              </a:lnSpc>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端口被禁用或者链路失效。</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65" name="组合 164"/>
          <p:cNvGrpSpPr/>
          <p:nvPr/>
        </p:nvGrpSpPr>
        <p:grpSpPr>
          <a:xfrm>
            <a:off x="1880696" y="1797339"/>
            <a:ext cx="2557194" cy="4051171"/>
            <a:chOff x="1880696" y="1712091"/>
            <a:chExt cx="2557194" cy="4051171"/>
          </a:xfrm>
        </p:grpSpPr>
        <p:sp>
          <p:nvSpPr>
            <p:cNvPr id="94" name="圆角矩形 93"/>
            <p:cNvSpPr/>
            <p:nvPr/>
          </p:nvSpPr>
          <p:spPr>
            <a:xfrm>
              <a:off x="2167218" y="1712091"/>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未使能 </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Disabled</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圆角矩形 94"/>
            <p:cNvSpPr/>
            <p:nvPr/>
          </p:nvSpPr>
          <p:spPr>
            <a:xfrm>
              <a:off x="2167218" y="2594189"/>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阻塞 </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Blocking</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圆角矩形 95"/>
            <p:cNvSpPr/>
            <p:nvPr/>
          </p:nvSpPr>
          <p:spPr>
            <a:xfrm>
              <a:off x="2167218" y="3476287"/>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侦听 </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Listening</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7" name="直接箭头连接符 96"/>
            <p:cNvCxnSpPr>
              <a:stCxn id="94" idx="2"/>
              <a:endCxn id="95" idx="0"/>
            </p:cNvCxnSpPr>
            <p:nvPr/>
          </p:nvCxnSpPr>
          <p:spPr bwMode="auto">
            <a:xfrm>
              <a:off x="3158848" y="2234870"/>
              <a:ext cx="0" cy="359319"/>
            </a:xfrm>
            <a:prstGeom prst="straightConnector1">
              <a:avLst/>
            </a:prstGeom>
            <a:noFill/>
            <a:ln w="19050" cap="flat" cmpd="sng" algn="ctr">
              <a:solidFill>
                <a:schemeClr val="tx1"/>
              </a:solidFill>
              <a:prstDash val="solid"/>
              <a:round/>
              <a:headEnd type="none" w="med" len="med"/>
              <a:tailEnd type="triangle"/>
            </a:ln>
            <a:effectLst/>
          </p:spPr>
        </p:cxnSp>
        <p:cxnSp>
          <p:nvCxnSpPr>
            <p:cNvPr id="98" name="直接箭头连接符 97"/>
            <p:cNvCxnSpPr>
              <a:stCxn id="95" idx="2"/>
              <a:endCxn id="96" idx="0"/>
            </p:cNvCxnSpPr>
            <p:nvPr/>
          </p:nvCxnSpPr>
          <p:spPr bwMode="auto">
            <a:xfrm>
              <a:off x="3158848" y="3116968"/>
              <a:ext cx="0" cy="359319"/>
            </a:xfrm>
            <a:prstGeom prst="straightConnector1">
              <a:avLst/>
            </a:prstGeom>
            <a:noFill/>
            <a:ln w="19050" cap="flat" cmpd="sng" algn="ctr">
              <a:solidFill>
                <a:schemeClr val="tx1"/>
              </a:solidFill>
              <a:prstDash val="solid"/>
              <a:round/>
              <a:headEnd type="none" w="med" len="med"/>
              <a:tailEnd type="triangle"/>
            </a:ln>
            <a:effectLst/>
          </p:spPr>
        </p:cxnSp>
        <p:sp>
          <p:nvSpPr>
            <p:cNvPr id="102" name="Oval 4"/>
            <p:cNvSpPr>
              <a:spLocks noChangeAspect="1"/>
            </p:cNvSpPr>
            <p:nvPr/>
          </p:nvSpPr>
          <p:spPr>
            <a:xfrm>
              <a:off x="3053748" y="2267077"/>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圆角矩形 104"/>
            <p:cNvSpPr/>
            <p:nvPr/>
          </p:nvSpPr>
          <p:spPr>
            <a:xfrm>
              <a:off x="2167218" y="4358385"/>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学习 </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Learning</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箭头连接符 105"/>
            <p:cNvCxnSpPr>
              <a:stCxn id="96" idx="2"/>
              <a:endCxn id="105" idx="0"/>
            </p:cNvCxnSpPr>
            <p:nvPr/>
          </p:nvCxnSpPr>
          <p:spPr bwMode="auto">
            <a:xfrm>
              <a:off x="3158848" y="3999066"/>
              <a:ext cx="0" cy="359319"/>
            </a:xfrm>
            <a:prstGeom prst="straightConnector1">
              <a:avLst/>
            </a:prstGeom>
            <a:noFill/>
            <a:ln w="19050" cap="flat" cmpd="sng" algn="ctr">
              <a:solidFill>
                <a:schemeClr val="tx1"/>
              </a:solidFill>
              <a:prstDash val="solid"/>
              <a:round/>
              <a:headEnd type="none" w="med" len="med"/>
              <a:tailEnd type="triangle"/>
            </a:ln>
            <a:effectLst/>
          </p:spPr>
        </p:cxnSp>
        <p:sp>
          <p:nvSpPr>
            <p:cNvPr id="107" name="圆角矩形 106"/>
            <p:cNvSpPr/>
            <p:nvPr/>
          </p:nvSpPr>
          <p:spPr>
            <a:xfrm>
              <a:off x="2167218" y="5240483"/>
              <a:ext cx="1983260" cy="522779"/>
            </a:xfrm>
            <a:prstGeom prst="roundRect">
              <a:avLst>
                <a:gd name="adj" fmla="val 4298"/>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转发 </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Forwarding</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8" name="直接箭头连接符 107"/>
            <p:cNvCxnSpPr>
              <a:endCxn id="107" idx="0"/>
            </p:cNvCxnSpPr>
            <p:nvPr/>
          </p:nvCxnSpPr>
          <p:spPr bwMode="auto">
            <a:xfrm>
              <a:off x="3158848" y="4881164"/>
              <a:ext cx="0" cy="359319"/>
            </a:xfrm>
            <a:prstGeom prst="straightConnector1">
              <a:avLst/>
            </a:prstGeom>
            <a:noFill/>
            <a:ln w="19050" cap="flat" cmpd="sng" algn="ctr">
              <a:solidFill>
                <a:schemeClr val="tx1"/>
              </a:solidFill>
              <a:prstDash val="solid"/>
              <a:round/>
              <a:headEnd type="none" w="med" len="med"/>
              <a:tailEnd type="triangle"/>
            </a:ln>
            <a:effectLst/>
          </p:spPr>
        </p:cxnSp>
        <p:sp>
          <p:nvSpPr>
            <p:cNvPr id="109" name="Oval 4"/>
            <p:cNvSpPr>
              <a:spLocks noChangeAspect="1"/>
            </p:cNvSpPr>
            <p:nvPr/>
          </p:nvSpPr>
          <p:spPr>
            <a:xfrm>
              <a:off x="3053748" y="3164881"/>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Oval 4"/>
            <p:cNvSpPr>
              <a:spLocks noChangeAspect="1"/>
            </p:cNvSpPr>
            <p:nvPr/>
          </p:nvSpPr>
          <p:spPr>
            <a:xfrm>
              <a:off x="3053748" y="4046978"/>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Oval 4"/>
            <p:cNvSpPr>
              <a:spLocks noChangeAspect="1"/>
            </p:cNvSpPr>
            <p:nvPr/>
          </p:nvSpPr>
          <p:spPr>
            <a:xfrm>
              <a:off x="3053748" y="4929077"/>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肘形连接符 5"/>
            <p:cNvCxnSpPr>
              <a:stCxn id="96" idx="1"/>
            </p:cNvCxnSpPr>
            <p:nvPr/>
          </p:nvCxnSpPr>
          <p:spPr>
            <a:xfrm rot="10800000" flipH="1">
              <a:off x="2167217" y="2986273"/>
              <a:ext cx="6349" cy="751404"/>
            </a:xfrm>
            <a:prstGeom prst="bentConnector4">
              <a:avLst>
                <a:gd name="adj1" fmla="val -5429422"/>
                <a:gd name="adj2" fmla="val 10023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3" name="肘形连接符 112"/>
            <p:cNvCxnSpPr>
              <a:stCxn id="105" idx="1"/>
              <a:endCxn id="95" idx="1"/>
            </p:cNvCxnSpPr>
            <p:nvPr/>
          </p:nvCxnSpPr>
          <p:spPr>
            <a:xfrm rot="10800000">
              <a:off x="2167218" y="2855579"/>
              <a:ext cx="12700" cy="1764196"/>
            </a:xfrm>
            <a:prstGeom prst="bentConnector3">
              <a:avLst>
                <a:gd name="adj1" fmla="val 3971425"/>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4" name="肘形连接符 113"/>
            <p:cNvCxnSpPr>
              <a:stCxn id="107" idx="1"/>
            </p:cNvCxnSpPr>
            <p:nvPr/>
          </p:nvCxnSpPr>
          <p:spPr>
            <a:xfrm rot="10800000" flipH="1">
              <a:off x="2167218" y="2701645"/>
              <a:ext cx="6348" cy="2800229"/>
            </a:xfrm>
            <a:prstGeom prst="bentConnector4">
              <a:avLst>
                <a:gd name="adj1" fmla="val -10003151"/>
                <a:gd name="adj2" fmla="val 9976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5" name="肘形连接符 114"/>
            <p:cNvCxnSpPr>
              <a:stCxn id="95" idx="3"/>
            </p:cNvCxnSpPr>
            <p:nvPr/>
          </p:nvCxnSpPr>
          <p:spPr>
            <a:xfrm flipH="1" flipV="1">
              <a:off x="4128253" y="2148190"/>
              <a:ext cx="22225" cy="707389"/>
            </a:xfrm>
            <a:prstGeom prst="bentConnector4">
              <a:avLst>
                <a:gd name="adj1" fmla="val -1657143"/>
                <a:gd name="adj2" fmla="val 10079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16" name="Oval 4"/>
            <p:cNvSpPr>
              <a:spLocks noChangeAspect="1"/>
            </p:cNvSpPr>
            <p:nvPr/>
          </p:nvSpPr>
          <p:spPr>
            <a:xfrm>
              <a:off x="1880697" y="3631090"/>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Oval 4"/>
            <p:cNvSpPr>
              <a:spLocks noChangeAspect="1"/>
            </p:cNvSpPr>
            <p:nvPr/>
          </p:nvSpPr>
          <p:spPr>
            <a:xfrm>
              <a:off x="1880697" y="4505395"/>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8" name="Oval 4"/>
            <p:cNvSpPr>
              <a:spLocks noChangeAspect="1"/>
            </p:cNvSpPr>
            <p:nvPr/>
          </p:nvSpPr>
          <p:spPr>
            <a:xfrm>
              <a:off x="1880696" y="5395376"/>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9" name="Oval 4"/>
            <p:cNvSpPr>
              <a:spLocks noChangeAspect="1"/>
            </p:cNvSpPr>
            <p:nvPr/>
          </p:nvSpPr>
          <p:spPr>
            <a:xfrm>
              <a:off x="4225913" y="2723387"/>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0" name="肘形连接符 119"/>
            <p:cNvCxnSpPr>
              <a:stCxn id="96" idx="3"/>
            </p:cNvCxnSpPr>
            <p:nvPr/>
          </p:nvCxnSpPr>
          <p:spPr>
            <a:xfrm flipH="1" flipV="1">
              <a:off x="4136860" y="2024281"/>
              <a:ext cx="13618" cy="1713396"/>
            </a:xfrm>
            <a:prstGeom prst="bentConnector4">
              <a:avLst>
                <a:gd name="adj1" fmla="val -3637098"/>
                <a:gd name="adj2" fmla="val 10061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1" name="肘形连接符 120"/>
            <p:cNvCxnSpPr>
              <a:stCxn id="105" idx="3"/>
            </p:cNvCxnSpPr>
            <p:nvPr/>
          </p:nvCxnSpPr>
          <p:spPr>
            <a:xfrm flipH="1" flipV="1">
              <a:off x="4134674" y="1884257"/>
              <a:ext cx="15804" cy="2735518"/>
            </a:xfrm>
            <a:prstGeom prst="bentConnector4">
              <a:avLst>
                <a:gd name="adj1" fmla="val -4178689"/>
                <a:gd name="adj2" fmla="val 9981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27" name="肘形连接符 126"/>
            <p:cNvCxnSpPr>
              <a:stCxn id="107" idx="3"/>
            </p:cNvCxnSpPr>
            <p:nvPr/>
          </p:nvCxnSpPr>
          <p:spPr>
            <a:xfrm flipH="1" flipV="1">
              <a:off x="4113966" y="1797339"/>
              <a:ext cx="36512" cy="3704534"/>
            </a:xfrm>
            <a:prstGeom prst="bentConnector4">
              <a:avLst>
                <a:gd name="adj1" fmla="val -2260901"/>
                <a:gd name="adj2" fmla="val 10015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68" name="Oval 4"/>
            <p:cNvSpPr>
              <a:spLocks noChangeAspect="1"/>
            </p:cNvSpPr>
            <p:nvPr/>
          </p:nvSpPr>
          <p:spPr>
            <a:xfrm>
              <a:off x="4225913" y="3625167"/>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9" name="Oval 4"/>
            <p:cNvSpPr>
              <a:spLocks noChangeAspect="1"/>
            </p:cNvSpPr>
            <p:nvPr/>
          </p:nvSpPr>
          <p:spPr>
            <a:xfrm>
              <a:off x="4225913" y="4505394"/>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Oval 4"/>
            <p:cNvSpPr>
              <a:spLocks noChangeAspect="1"/>
            </p:cNvSpPr>
            <p:nvPr/>
          </p:nvSpPr>
          <p:spPr>
            <a:xfrm>
              <a:off x="4225913" y="5395361"/>
              <a:ext cx="211977" cy="211977"/>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6" name="文本框 165"/>
          <p:cNvSpPr txBox="1"/>
          <p:nvPr/>
        </p:nvSpPr>
        <p:spPr>
          <a:xfrm>
            <a:off x="3340814" y="4096757"/>
            <a:ext cx="2161741" cy="338554"/>
          </a:xfrm>
          <a:prstGeom prst="rect">
            <a:avLst/>
          </a:prstGeom>
          <a:noFill/>
        </p:spPr>
        <p:txBody>
          <a:bodyPr wrap="square" rtlCol="0">
            <a:spAutoFit/>
          </a:bodyPr>
          <a:lstStyle/>
          <a:p>
            <a:pP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15s</a:t>
            </a:r>
          </a:p>
        </p:txBody>
      </p:sp>
      <p:sp>
        <p:nvSpPr>
          <p:cNvPr id="167" name="文本框 166"/>
          <p:cNvSpPr txBox="1"/>
          <p:nvPr/>
        </p:nvSpPr>
        <p:spPr>
          <a:xfrm>
            <a:off x="3340814" y="4992170"/>
            <a:ext cx="2161741" cy="338554"/>
          </a:xfrm>
          <a:prstGeom prst="rect">
            <a:avLst/>
          </a:prstGeom>
          <a:noFill/>
        </p:spPr>
        <p:txBody>
          <a:bodyPr wrap="square" rtlCol="0">
            <a:spAutoFit/>
          </a:bodyPr>
          <a:lstStyle/>
          <a:p>
            <a:pPr fontAlgn="auto">
              <a:spcBef>
                <a:spcPts val="0"/>
              </a:spcBef>
              <a:spcAft>
                <a:spcPts val="0"/>
              </a:spcAft>
            </a:pP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15s</a:t>
            </a:r>
          </a:p>
        </p:txBody>
      </p:sp>
    </p:spTree>
    <p:extLst>
      <p:ext uri="{BB962C8B-B14F-4D97-AF65-F5344CB8AC3E}">
        <p14:creationId xmlns:p14="http://schemas.microsoft.com/office/powerpoint/2010/main" val="1446816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a:latin typeface="Huawei Sans" panose="020C0503030203020204" pitchFamily="34" charset="0"/>
                <a:ea typeface="方正兰亭黑简体" panose="02000000000000000000" pitchFamily="2" charset="-122"/>
                <a:sym typeface="Huawei Sans" panose="020C0503030203020204" pitchFamily="34" charset="0"/>
              </a:rPr>
              <a:t>的不足</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a:xfrm>
            <a:off x="468317" y="1233488"/>
            <a:ext cx="11276183" cy="5148262"/>
          </a:xfrm>
        </p:spPr>
        <p:txBody>
          <a:bodyPr/>
          <a:lstStyle/>
          <a:p>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虽然能够解决环路问题，但是由于网络拓扑收敛慢，影响了用户通信质量。如果网络中的拓扑结构频繁变化，网络也会随之频繁失去连通性，从而导致用户通信频繁中断，这是用户无法忍受的。</a:t>
            </a:r>
          </a:p>
          <a:p>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的不足：</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没有细致区分端口状态和端口角色，不利于初学者学习及部署。</a:t>
            </a:r>
          </a:p>
          <a:p>
            <a:pPr lvl="2"/>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从用户角度来讲，</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Listening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Learning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Blocking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状态并没有区别，都同样不转发用户流量。</a:t>
            </a:r>
          </a:p>
          <a:p>
            <a:pPr lvl="2"/>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从使用和配置角度来讲，端口之间最本质的区别并不在于端口状态，而是在于端口扮演的角色。</a:t>
            </a:r>
          </a:p>
          <a:p>
            <a:pPr lvl="1"/>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算法是被动的算法，依赖定时器等待的方式判断拓扑变化，收敛速度慢。</a:t>
            </a:r>
          </a:p>
          <a:p>
            <a:pPr lvl="1"/>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算法要求在稳定的拓扑中，根桥主动发出配置</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报文，而其他设备再进行处理，最终传遍整个</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网络。</a:t>
            </a:r>
          </a:p>
        </p:txBody>
      </p:sp>
    </p:spTree>
    <p:extLst>
      <p:ext uri="{BB962C8B-B14F-4D97-AF65-F5344CB8AC3E}">
        <p14:creationId xmlns:p14="http://schemas.microsoft.com/office/powerpoint/2010/main" val="2413086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对计时器的依赖</a:t>
            </a:r>
          </a:p>
        </p:txBody>
      </p:sp>
      <p:sp>
        <p:nvSpPr>
          <p:cNvPr id="6" name="圆角矩形 75"/>
          <p:cNvSpPr/>
          <p:nvPr/>
        </p:nvSpPr>
        <p:spPr>
          <a:xfrm>
            <a:off x="446088" y="1366113"/>
            <a:ext cx="5362830"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初始化场景</a:t>
            </a:r>
          </a:p>
        </p:txBody>
      </p:sp>
      <p:sp>
        <p:nvSpPr>
          <p:cNvPr id="7" name="圆角矩形 75"/>
          <p:cNvSpPr/>
          <p:nvPr/>
        </p:nvSpPr>
        <p:spPr>
          <a:xfrm>
            <a:off x="446088" y="1797619"/>
            <a:ext cx="5362830" cy="439544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lnSpc>
                <a:spcPts val="2600"/>
              </a:lnSpc>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9" name="组合 18"/>
          <p:cNvGrpSpPr/>
          <p:nvPr/>
        </p:nvGrpSpPr>
        <p:grpSpPr>
          <a:xfrm>
            <a:off x="748427" y="1890804"/>
            <a:ext cx="4666476" cy="2544065"/>
            <a:chOff x="6252615" y="1306179"/>
            <a:chExt cx="4666476" cy="2544065"/>
          </a:xfrm>
        </p:grpSpPr>
        <p:pic>
          <p:nvPicPr>
            <p:cNvPr id="28" name="图片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599" y="1790950"/>
              <a:ext cx="540000" cy="442800"/>
            </a:xfrm>
            <a:prstGeom prst="rect">
              <a:avLst/>
            </a:prstGeom>
          </p:spPr>
        </p:pic>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30" name="图片 2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31" name="直接连接符 30"/>
            <p:cNvCxnSpPr>
              <a:stCxn id="29" idx="3"/>
              <a:endCxn id="30" idx="1"/>
            </p:cNvCxnSpPr>
            <p:nvPr/>
          </p:nvCxnSpPr>
          <p:spPr>
            <a:xfrm>
              <a:off x="7365849" y="3622329"/>
              <a:ext cx="2395501"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32" name="直接连接符 31"/>
            <p:cNvCxnSpPr>
              <a:stCxn id="30" idx="0"/>
              <a:endCxn id="28" idx="3"/>
            </p:cNvCxnSpPr>
            <p:nvPr/>
          </p:nvCxnSpPr>
          <p:spPr>
            <a:xfrm flipH="1" flipV="1">
              <a:off x="8833599" y="2012350"/>
              <a:ext cx="1197751" cy="1388579"/>
            </a:xfrm>
            <a:prstGeom prst="line">
              <a:avLst/>
            </a:prstGeom>
            <a:noFill/>
            <a:ln w="19050" cap="flat" cmpd="sng" algn="ctr">
              <a:solidFill>
                <a:srgbClr val="151515"/>
              </a:solidFill>
              <a:prstDash val="solid"/>
              <a:miter lim="800000"/>
            </a:ln>
            <a:effectLst/>
          </p:spPr>
        </p:cxnSp>
        <p:sp>
          <p:nvSpPr>
            <p:cNvPr id="33" name="文本框 32"/>
            <p:cNvSpPr txBox="1"/>
            <p:nvPr/>
          </p:nvSpPr>
          <p:spPr>
            <a:xfrm>
              <a:off x="6252615" y="3352826"/>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a:xfrm>
              <a:off x="10311232" y="3380307"/>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a:xfrm>
              <a:off x="8027465" y="1306179"/>
              <a:ext cx="1252266" cy="473912"/>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6" name="直接箭头连接符 35"/>
            <p:cNvCxnSpPr>
              <a:stCxn id="29" idx="0"/>
              <a:endCxn id="28" idx="1"/>
            </p:cNvCxnSpPr>
            <p:nvPr/>
          </p:nvCxnSpPr>
          <p:spPr>
            <a:xfrm flipV="1">
              <a:off x="7095849" y="2012350"/>
              <a:ext cx="1197750"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20" name="椭圆 19"/>
          <p:cNvSpPr>
            <a:spLocks noChangeAspect="1"/>
          </p:cNvSpPr>
          <p:nvPr/>
        </p:nvSpPr>
        <p:spPr>
          <a:xfrm>
            <a:off x="2623901" y="252516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椭圆 20"/>
          <p:cNvSpPr>
            <a:spLocks noChangeAspect="1"/>
          </p:cNvSpPr>
          <p:nvPr/>
        </p:nvSpPr>
        <p:spPr>
          <a:xfrm>
            <a:off x="3222026" y="252511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椭圆 21"/>
          <p:cNvSpPr>
            <a:spLocks noChangeAspect="1"/>
          </p:cNvSpPr>
          <p:nvPr/>
        </p:nvSpPr>
        <p:spPr>
          <a:xfrm>
            <a:off x="1520000" y="387964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椭圆 22"/>
          <p:cNvSpPr>
            <a:spLocks noChangeAspect="1"/>
          </p:cNvSpPr>
          <p:nvPr/>
        </p:nvSpPr>
        <p:spPr>
          <a:xfrm>
            <a:off x="1725362" y="407963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椭圆 23"/>
          <p:cNvSpPr>
            <a:spLocks noChangeAspect="1"/>
          </p:cNvSpPr>
          <p:nvPr/>
        </p:nvSpPr>
        <p:spPr>
          <a:xfrm>
            <a:off x="4399196" y="388274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5" name="组合 28"/>
          <p:cNvGrpSpPr>
            <a:grpSpLocks noChangeAspect="1"/>
          </p:cNvGrpSpPr>
          <p:nvPr/>
        </p:nvGrpSpPr>
        <p:grpSpPr>
          <a:xfrm>
            <a:off x="4087711" y="4079635"/>
            <a:ext cx="234002" cy="234002"/>
            <a:chOff x="5076056" y="3356992"/>
            <a:chExt cx="436272" cy="436272"/>
          </a:xfrm>
        </p:grpSpPr>
        <p:sp>
          <p:nvSpPr>
            <p:cNvPr id="26"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禁止符 23"/>
            <p:cNvSpPr/>
            <p:nvPr/>
          </p:nvSpPr>
          <p:spPr>
            <a:xfrm>
              <a:off x="5076060" y="3356996"/>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8" name="圆角矩形 75"/>
          <p:cNvSpPr/>
          <p:nvPr/>
        </p:nvSpPr>
        <p:spPr>
          <a:xfrm>
            <a:off x="446088" y="5109029"/>
            <a:ext cx="5362830" cy="1084034"/>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ctr" anchorCtr="0">
            <a:noAutofit/>
          </a:bodyPr>
          <a:lstStyle/>
          <a:p>
            <a:pPr algn="just">
              <a:lnSpc>
                <a:spcPts val="2600"/>
              </a:lnSpc>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采用计时器防止临时环路，当</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选举出端口角色后，即便角色为指定端口和根端口，仍然需要等待两个</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时间（</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30s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）才能进入转发。</a:t>
            </a:r>
          </a:p>
        </p:txBody>
      </p:sp>
      <p:sp>
        <p:nvSpPr>
          <p:cNvPr id="39" name="圆角矩形 75"/>
          <p:cNvSpPr/>
          <p:nvPr/>
        </p:nvSpPr>
        <p:spPr>
          <a:xfrm>
            <a:off x="6059108" y="1366113"/>
            <a:ext cx="5362830"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终端接入场景</a:t>
            </a:r>
          </a:p>
        </p:txBody>
      </p:sp>
      <p:sp>
        <p:nvSpPr>
          <p:cNvPr id="40" name="圆角矩形 75"/>
          <p:cNvSpPr/>
          <p:nvPr/>
        </p:nvSpPr>
        <p:spPr>
          <a:xfrm>
            <a:off x="6059108" y="1797619"/>
            <a:ext cx="5362830" cy="439544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lnSpc>
                <a:spcPts val="2600"/>
              </a:lnSpc>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75"/>
          <p:cNvSpPr/>
          <p:nvPr/>
        </p:nvSpPr>
        <p:spPr>
          <a:xfrm>
            <a:off x="6059108" y="4853570"/>
            <a:ext cx="5362830" cy="1339493"/>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ctr" anchorCtr="0">
            <a:noAutofit/>
          </a:bodyPr>
          <a:lstStyle/>
          <a:p>
            <a:pPr algn="just">
              <a:lnSpc>
                <a:spcPts val="2600"/>
              </a:lnSpc>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在运行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的环境下，终端或服务器接入后，由于端口需要从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Disabled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状态依次切换到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Blocking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Listening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Learning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状态，此时主机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在接入后，需要等待两个</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时间才能访问网络服务。</a:t>
            </a:r>
          </a:p>
        </p:txBody>
      </p:sp>
      <p:pic>
        <p:nvPicPr>
          <p:cNvPr id="62" name="图片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64497" y="2172377"/>
            <a:ext cx="540000" cy="442800"/>
          </a:xfrm>
          <a:prstGeom prst="rect">
            <a:avLst/>
          </a:prstGeom>
        </p:spPr>
      </p:pic>
      <p:pic>
        <p:nvPicPr>
          <p:cNvPr id="63" name="图片 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00514" y="3782356"/>
            <a:ext cx="540000" cy="442800"/>
          </a:xfrm>
          <a:prstGeom prst="rect">
            <a:avLst/>
          </a:prstGeom>
        </p:spPr>
      </p:pic>
      <p:pic>
        <p:nvPicPr>
          <p:cNvPr id="64" name="图片 6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32248" y="3782356"/>
            <a:ext cx="540000" cy="442800"/>
          </a:xfrm>
          <a:prstGeom prst="rect">
            <a:avLst/>
          </a:prstGeom>
        </p:spPr>
      </p:pic>
      <p:cxnSp>
        <p:nvCxnSpPr>
          <p:cNvPr id="65" name="直接连接符 64"/>
          <p:cNvCxnSpPr>
            <a:stCxn id="63" idx="3"/>
            <a:endCxn id="64" idx="1"/>
          </p:cNvCxnSpPr>
          <p:nvPr/>
        </p:nvCxnSpPr>
        <p:spPr>
          <a:xfrm>
            <a:off x="7540514" y="4003756"/>
            <a:ext cx="2391734"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66" name="直接连接符 65"/>
          <p:cNvCxnSpPr>
            <a:stCxn id="64" idx="0"/>
            <a:endCxn id="62" idx="3"/>
          </p:cNvCxnSpPr>
          <p:nvPr/>
        </p:nvCxnSpPr>
        <p:spPr>
          <a:xfrm flipH="1" flipV="1">
            <a:off x="9004497" y="2393777"/>
            <a:ext cx="1197751" cy="1388579"/>
          </a:xfrm>
          <a:prstGeom prst="line">
            <a:avLst/>
          </a:prstGeom>
          <a:noFill/>
          <a:ln w="19050" cap="flat" cmpd="sng" algn="ctr">
            <a:solidFill>
              <a:srgbClr val="151515"/>
            </a:solidFill>
            <a:prstDash val="solid"/>
            <a:miter lim="800000"/>
          </a:ln>
          <a:effectLst/>
        </p:spPr>
      </p:cxnSp>
      <p:sp>
        <p:nvSpPr>
          <p:cNvPr id="67" name="文本框 66"/>
          <p:cNvSpPr txBox="1"/>
          <p:nvPr/>
        </p:nvSpPr>
        <p:spPr>
          <a:xfrm>
            <a:off x="6414715" y="3734253"/>
            <a:ext cx="607859" cy="469937"/>
          </a:xfrm>
          <a:prstGeom prst="rect">
            <a:avLst/>
          </a:prstGeom>
          <a:noFill/>
        </p:spPr>
        <p:txBody>
          <a:bodyPr wrap="none" rtlCol="0">
            <a:spAutoFit/>
          </a:bodyPr>
          <a:lstStyle/>
          <a:p>
            <a:pPr marL="0" marR="0" lvl="0" indent="0" algn="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67"/>
          <p:cNvSpPr txBox="1"/>
          <p:nvPr/>
        </p:nvSpPr>
        <p:spPr>
          <a:xfrm>
            <a:off x="10482130" y="3761734"/>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a:xfrm>
            <a:off x="8198363" y="1687606"/>
            <a:ext cx="1252266" cy="473912"/>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箭头连接符 69"/>
          <p:cNvCxnSpPr>
            <a:stCxn id="63" idx="0"/>
            <a:endCxn id="62" idx="1"/>
          </p:cNvCxnSpPr>
          <p:nvPr/>
        </p:nvCxnSpPr>
        <p:spPr>
          <a:xfrm flipV="1">
            <a:off x="7270514" y="2393777"/>
            <a:ext cx="1193983" cy="1388579"/>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71" name="椭圆 70"/>
          <p:cNvSpPr>
            <a:spLocks noChangeAspect="1"/>
          </p:cNvSpPr>
          <p:nvPr/>
        </p:nvSpPr>
        <p:spPr>
          <a:xfrm>
            <a:off x="8298987" y="232196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71"/>
          <p:cNvSpPr>
            <a:spLocks noChangeAspect="1"/>
          </p:cNvSpPr>
          <p:nvPr/>
        </p:nvSpPr>
        <p:spPr>
          <a:xfrm>
            <a:off x="8897112" y="2321913"/>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p:cNvSpPr>
            <a:spLocks noChangeAspect="1"/>
          </p:cNvSpPr>
          <p:nvPr/>
        </p:nvSpPr>
        <p:spPr>
          <a:xfrm>
            <a:off x="7195086" y="367644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a:spLocks noChangeAspect="1"/>
          </p:cNvSpPr>
          <p:nvPr/>
        </p:nvSpPr>
        <p:spPr>
          <a:xfrm>
            <a:off x="7414822" y="388195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椭圆 74"/>
          <p:cNvSpPr>
            <a:spLocks noChangeAspect="1"/>
          </p:cNvSpPr>
          <p:nvPr/>
        </p:nvSpPr>
        <p:spPr>
          <a:xfrm>
            <a:off x="10074282" y="367954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6" name="组合 28"/>
          <p:cNvGrpSpPr>
            <a:grpSpLocks noChangeAspect="1"/>
          </p:cNvGrpSpPr>
          <p:nvPr/>
        </p:nvGrpSpPr>
        <p:grpSpPr>
          <a:xfrm>
            <a:off x="9777281" y="3877864"/>
            <a:ext cx="234002" cy="234002"/>
            <a:chOff x="5076056" y="3356992"/>
            <a:chExt cx="436272" cy="436272"/>
          </a:xfrm>
        </p:grpSpPr>
        <p:sp>
          <p:nvSpPr>
            <p:cNvPr id="77"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禁止符 23"/>
            <p:cNvSpPr/>
            <p:nvPr/>
          </p:nvSpPr>
          <p:spPr>
            <a:xfrm>
              <a:off x="5076060" y="3356996"/>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79" name="图片 78" descr="PC.png"/>
          <p:cNvPicPr>
            <a:picLocks noChangeAspect="1"/>
          </p:cNvPicPr>
          <p:nvPr/>
        </p:nvPicPr>
        <p:blipFill>
          <a:blip r:embed="rId4" cstate="print"/>
          <a:stretch>
            <a:fillRect/>
          </a:stretch>
        </p:blipFill>
        <p:spPr>
          <a:xfrm>
            <a:off x="6982233" y="4391239"/>
            <a:ext cx="576563" cy="442800"/>
          </a:xfrm>
          <a:prstGeom prst="rect">
            <a:avLst/>
          </a:prstGeom>
        </p:spPr>
      </p:pic>
      <p:cxnSp>
        <p:nvCxnSpPr>
          <p:cNvPr id="80" name="直接连接符 79"/>
          <p:cNvCxnSpPr>
            <a:stCxn id="79" idx="0"/>
            <a:endCxn id="63" idx="2"/>
          </p:cNvCxnSpPr>
          <p:nvPr/>
        </p:nvCxnSpPr>
        <p:spPr>
          <a:xfrm flipH="1" flipV="1">
            <a:off x="7270514" y="4225156"/>
            <a:ext cx="1" cy="166083"/>
          </a:xfrm>
          <a:prstGeom prst="line">
            <a:avLst/>
          </a:prstGeom>
          <a:noFill/>
          <a:ln w="19050" cap="flat" cmpd="sng" algn="ctr">
            <a:solidFill>
              <a:srgbClr val="EC7061"/>
            </a:solidFill>
            <a:prstDash val="solid"/>
            <a:miter lim="800000"/>
          </a:ln>
          <a:effectLst/>
        </p:spPr>
      </p:cxnSp>
      <p:sp>
        <p:nvSpPr>
          <p:cNvPr id="47" name="文本框 46"/>
          <p:cNvSpPr txBox="1"/>
          <p:nvPr/>
        </p:nvSpPr>
        <p:spPr>
          <a:xfrm>
            <a:off x="7606688" y="4320251"/>
            <a:ext cx="1415772" cy="584775"/>
          </a:xfrm>
          <a:prstGeom prst="rect">
            <a:avLst/>
          </a:prstGeom>
          <a:noFill/>
        </p:spPr>
        <p:txBody>
          <a:bodyPr wrap="none" rtlCol="0">
            <a:spAutoFit/>
          </a:bodyPr>
          <a:lstStyle/>
          <a:p>
            <a:pPr marL="0" marR="0" lvl="0" indent="0" defTabSz="914478" eaLnBrk="1" fontAlgn="auto" latinLnBrk="0" hangingPunct="1">
              <a:spcBef>
                <a:spcPts val="0"/>
              </a:spcBef>
              <a:spcAft>
                <a:spcPts val="0"/>
              </a:spcAft>
              <a:buClrTx/>
              <a:buSzTx/>
              <a:buFontTx/>
              <a:buNone/>
              <a:tabLst/>
              <a:defRPr/>
            </a:pP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新接入网络的</a:t>
            </a: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defTabSz="914478" eaLnBrk="1" fontAlgn="auto" latinLnBrk="0" hangingPunct="1">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主机</a:t>
            </a: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46088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重收敛过程慢</a:t>
            </a:r>
          </a:p>
        </p:txBody>
      </p:sp>
      <p:sp>
        <p:nvSpPr>
          <p:cNvPr id="6" name="圆角矩形 75"/>
          <p:cNvSpPr/>
          <p:nvPr/>
        </p:nvSpPr>
        <p:spPr>
          <a:xfrm>
            <a:off x="446088" y="1366113"/>
            <a:ext cx="5362830"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直连故障</a:t>
            </a:r>
          </a:p>
        </p:txBody>
      </p:sp>
      <p:sp>
        <p:nvSpPr>
          <p:cNvPr id="7" name="圆角矩形 75"/>
          <p:cNvSpPr/>
          <p:nvPr/>
        </p:nvSpPr>
        <p:spPr>
          <a:xfrm>
            <a:off x="446088" y="1797619"/>
            <a:ext cx="5362830" cy="439544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lnSpc>
                <a:spcPts val="2600"/>
              </a:lnSpc>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a:xfrm>
            <a:off x="2751474" y="4064315"/>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a:xfrm>
            <a:off x="2523277" y="1705276"/>
            <a:ext cx="1252266" cy="473912"/>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6" name="直接箭头连接符 35"/>
          <p:cNvCxnSpPr/>
          <p:nvPr/>
        </p:nvCxnSpPr>
        <p:spPr>
          <a:xfrm flipH="1" flipV="1">
            <a:off x="3187695" y="2632847"/>
            <a:ext cx="3605" cy="1167179"/>
          </a:xfrm>
          <a:prstGeom prst="straightConnector1">
            <a:avLst/>
          </a:prstGeom>
          <a:noFill/>
          <a:ln w="19050" cap="flat" cmpd="sng" algn="ctr">
            <a:solidFill>
              <a:srgbClr val="1D1D1A"/>
            </a:solidFill>
            <a:prstDash val="solid"/>
            <a:miter lim="800000"/>
            <a:headEnd type="none" w="med" len="med"/>
            <a:tailEnd type="none" w="med" len="med"/>
          </a:ln>
          <a:effectLst/>
        </p:spPr>
      </p:cxnSp>
      <p:pic>
        <p:nvPicPr>
          <p:cNvPr id="28" name="图片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89411" y="2190047"/>
            <a:ext cx="540000" cy="442800"/>
          </a:xfrm>
          <a:prstGeom prst="rect">
            <a:avLst/>
          </a:prstGeom>
        </p:spPr>
      </p:pic>
      <p:sp>
        <p:nvSpPr>
          <p:cNvPr id="20" name="椭圆 19"/>
          <p:cNvSpPr>
            <a:spLocks noChangeAspect="1"/>
          </p:cNvSpPr>
          <p:nvPr/>
        </p:nvSpPr>
        <p:spPr>
          <a:xfrm>
            <a:off x="3081490" y="248549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圆角矩形 75"/>
          <p:cNvSpPr/>
          <p:nvPr/>
        </p:nvSpPr>
        <p:spPr>
          <a:xfrm>
            <a:off x="446088" y="4771904"/>
            <a:ext cx="5362830" cy="1421159"/>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被阻塞的端口会从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Blocking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状态，依次切换到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Listening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Learning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状态，最终进入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直连链路故障，端口状态转换，延时</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30s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p>
        </p:txBody>
      </p:sp>
      <p:sp>
        <p:nvSpPr>
          <p:cNvPr id="39" name="圆角矩形 75"/>
          <p:cNvSpPr/>
          <p:nvPr/>
        </p:nvSpPr>
        <p:spPr>
          <a:xfrm>
            <a:off x="6059108" y="1366113"/>
            <a:ext cx="5362830"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非直连故障</a:t>
            </a:r>
          </a:p>
        </p:txBody>
      </p:sp>
      <p:sp>
        <p:nvSpPr>
          <p:cNvPr id="40" name="圆角矩形 75"/>
          <p:cNvSpPr/>
          <p:nvPr/>
        </p:nvSpPr>
        <p:spPr>
          <a:xfrm>
            <a:off x="6059108" y="1797619"/>
            <a:ext cx="5362830" cy="439544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lnSpc>
                <a:spcPts val="2600"/>
              </a:lnSpc>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圆角矩形 75"/>
          <p:cNvSpPr/>
          <p:nvPr/>
        </p:nvSpPr>
        <p:spPr>
          <a:xfrm>
            <a:off x="6059108" y="4446948"/>
            <a:ext cx="5362830" cy="1746115"/>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由于被阻塞端口上不再收到更优的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，因此</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20s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后端口开始从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Blocking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状态依次切换到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Listening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Learning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及</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非直连故障会导致</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50s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左右的恢复时间，等于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Max Age</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加上</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时间。</a:t>
            </a:r>
          </a:p>
        </p:txBody>
      </p:sp>
      <p:pic>
        <p:nvPicPr>
          <p:cNvPr id="62" name="图片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18793" y="2193735"/>
            <a:ext cx="540000" cy="442800"/>
          </a:xfrm>
          <a:prstGeom prst="rect">
            <a:avLst/>
          </a:prstGeom>
        </p:spPr>
      </p:pic>
      <p:pic>
        <p:nvPicPr>
          <p:cNvPr id="63" name="图片 6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54810" y="3803714"/>
            <a:ext cx="540000" cy="442800"/>
          </a:xfrm>
          <a:prstGeom prst="rect">
            <a:avLst/>
          </a:prstGeom>
        </p:spPr>
      </p:pic>
      <p:pic>
        <p:nvPicPr>
          <p:cNvPr id="64" name="图片 6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86544" y="3803714"/>
            <a:ext cx="540000" cy="442800"/>
          </a:xfrm>
          <a:prstGeom prst="rect">
            <a:avLst/>
          </a:prstGeom>
        </p:spPr>
      </p:pic>
      <p:cxnSp>
        <p:nvCxnSpPr>
          <p:cNvPr id="65" name="直接连接符 64"/>
          <p:cNvCxnSpPr>
            <a:stCxn id="63" idx="3"/>
            <a:endCxn id="64" idx="1"/>
          </p:cNvCxnSpPr>
          <p:nvPr/>
        </p:nvCxnSpPr>
        <p:spPr>
          <a:xfrm>
            <a:off x="7594810" y="4025114"/>
            <a:ext cx="2391734"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66" name="直接连接符 65"/>
          <p:cNvCxnSpPr>
            <a:stCxn id="64" idx="0"/>
            <a:endCxn id="62" idx="3"/>
          </p:cNvCxnSpPr>
          <p:nvPr/>
        </p:nvCxnSpPr>
        <p:spPr>
          <a:xfrm flipH="1" flipV="1">
            <a:off x="9058793" y="2415135"/>
            <a:ext cx="1197751" cy="1388579"/>
          </a:xfrm>
          <a:prstGeom prst="line">
            <a:avLst/>
          </a:prstGeom>
          <a:noFill/>
          <a:ln w="19050" cap="flat" cmpd="sng" algn="ctr">
            <a:solidFill>
              <a:srgbClr val="151515"/>
            </a:solidFill>
            <a:prstDash val="solid"/>
            <a:miter lim="800000"/>
          </a:ln>
          <a:effectLst/>
        </p:spPr>
      </p:cxnSp>
      <p:sp>
        <p:nvSpPr>
          <p:cNvPr id="67" name="文本框 66"/>
          <p:cNvSpPr txBox="1"/>
          <p:nvPr/>
        </p:nvSpPr>
        <p:spPr>
          <a:xfrm>
            <a:off x="6469011" y="3755611"/>
            <a:ext cx="607859" cy="469937"/>
          </a:xfrm>
          <a:prstGeom prst="rect">
            <a:avLst/>
          </a:prstGeom>
          <a:noFill/>
        </p:spPr>
        <p:txBody>
          <a:bodyPr wrap="none" rtlCol="0">
            <a:spAutoFit/>
          </a:bodyPr>
          <a:lstStyle/>
          <a:p>
            <a:pPr marL="0" marR="0" lvl="0" indent="0" algn="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文本框 67"/>
          <p:cNvSpPr txBox="1"/>
          <p:nvPr/>
        </p:nvSpPr>
        <p:spPr>
          <a:xfrm>
            <a:off x="10536426" y="3783092"/>
            <a:ext cx="607859" cy="469937"/>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文本框 68"/>
          <p:cNvSpPr txBox="1"/>
          <p:nvPr/>
        </p:nvSpPr>
        <p:spPr>
          <a:xfrm>
            <a:off x="8252659" y="1708964"/>
            <a:ext cx="1252266" cy="473912"/>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0" name="直接箭头连接符 69"/>
          <p:cNvCxnSpPr>
            <a:stCxn id="63" idx="0"/>
            <a:endCxn id="62" idx="1"/>
          </p:cNvCxnSpPr>
          <p:nvPr/>
        </p:nvCxnSpPr>
        <p:spPr>
          <a:xfrm flipV="1">
            <a:off x="7324810" y="2415135"/>
            <a:ext cx="1193983" cy="1388579"/>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71" name="椭圆 70"/>
          <p:cNvSpPr>
            <a:spLocks noChangeAspect="1"/>
          </p:cNvSpPr>
          <p:nvPr/>
        </p:nvSpPr>
        <p:spPr>
          <a:xfrm>
            <a:off x="8353283" y="234332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71"/>
          <p:cNvSpPr>
            <a:spLocks noChangeAspect="1"/>
          </p:cNvSpPr>
          <p:nvPr/>
        </p:nvSpPr>
        <p:spPr>
          <a:xfrm>
            <a:off x="8951408" y="234327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p:cNvSpPr>
            <a:spLocks noChangeAspect="1"/>
          </p:cNvSpPr>
          <p:nvPr/>
        </p:nvSpPr>
        <p:spPr>
          <a:xfrm>
            <a:off x="7249382" y="369780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a:spLocks noChangeAspect="1"/>
          </p:cNvSpPr>
          <p:nvPr/>
        </p:nvSpPr>
        <p:spPr>
          <a:xfrm>
            <a:off x="7469118" y="3903314"/>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椭圆 74"/>
          <p:cNvSpPr>
            <a:spLocks noChangeAspect="1"/>
          </p:cNvSpPr>
          <p:nvPr/>
        </p:nvSpPr>
        <p:spPr>
          <a:xfrm>
            <a:off x="10128578" y="370090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6" name="组合 28"/>
          <p:cNvGrpSpPr>
            <a:grpSpLocks noChangeAspect="1"/>
          </p:cNvGrpSpPr>
          <p:nvPr/>
        </p:nvGrpSpPr>
        <p:grpSpPr>
          <a:xfrm>
            <a:off x="9831577" y="3899222"/>
            <a:ext cx="234002" cy="234002"/>
            <a:chOff x="5076056" y="3356992"/>
            <a:chExt cx="436272" cy="436272"/>
          </a:xfrm>
        </p:grpSpPr>
        <p:sp>
          <p:nvSpPr>
            <p:cNvPr id="77"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禁止符 23"/>
            <p:cNvSpPr/>
            <p:nvPr/>
          </p:nvSpPr>
          <p:spPr>
            <a:xfrm>
              <a:off x="5076060" y="3356996"/>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5" name="肘形连接符 4"/>
          <p:cNvCxnSpPr/>
          <p:nvPr/>
        </p:nvCxnSpPr>
        <p:spPr>
          <a:xfrm rot="16200000" flipH="1">
            <a:off x="2974334" y="4178751"/>
            <a:ext cx="948229" cy="238075"/>
          </a:xfrm>
          <a:prstGeom prst="bentConnector3">
            <a:avLst>
              <a:gd name="adj1" fmla="val 228"/>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肘形连接符 56"/>
          <p:cNvCxnSpPr>
            <a:stCxn id="77" idx="1"/>
          </p:cNvCxnSpPr>
          <p:nvPr/>
        </p:nvCxnSpPr>
        <p:spPr>
          <a:xfrm rot="16200000" flipH="1" flipV="1">
            <a:off x="9003177" y="3670504"/>
            <a:ext cx="599683" cy="1124991"/>
          </a:xfrm>
          <a:prstGeom prst="bentConnector3">
            <a:avLst>
              <a:gd name="adj1" fmla="val 2207"/>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81" name="十字形 80"/>
          <p:cNvSpPr/>
          <p:nvPr/>
        </p:nvSpPr>
        <p:spPr>
          <a:xfrm rot="1372902">
            <a:off x="7570047" y="3205913"/>
            <a:ext cx="307867" cy="294802"/>
          </a:xfrm>
          <a:prstGeom prst="plus">
            <a:avLst>
              <a:gd name="adj" fmla="val 39697"/>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4" name="图片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93016" y="3800026"/>
            <a:ext cx="540000" cy="442800"/>
          </a:xfrm>
          <a:prstGeom prst="rect">
            <a:avLst/>
          </a:prstGeom>
        </p:spPr>
      </p:pic>
      <p:cxnSp>
        <p:nvCxnSpPr>
          <p:cNvPr id="48" name="直接箭头连接符 47"/>
          <p:cNvCxnSpPr/>
          <p:nvPr/>
        </p:nvCxnSpPr>
        <p:spPr>
          <a:xfrm flipH="1" flipV="1">
            <a:off x="2930016" y="2632847"/>
            <a:ext cx="3605" cy="1167179"/>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52" name="椭圆 51"/>
          <p:cNvSpPr>
            <a:spLocks noChangeAspect="1"/>
          </p:cNvSpPr>
          <p:nvPr/>
        </p:nvSpPr>
        <p:spPr>
          <a:xfrm>
            <a:off x="2808653" y="248785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椭圆 53"/>
          <p:cNvSpPr>
            <a:spLocks noChangeAspect="1"/>
          </p:cNvSpPr>
          <p:nvPr/>
        </p:nvSpPr>
        <p:spPr>
          <a:xfrm>
            <a:off x="2808653" y="369385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5" name="组合 28"/>
          <p:cNvGrpSpPr>
            <a:grpSpLocks noChangeAspect="1"/>
          </p:cNvGrpSpPr>
          <p:nvPr/>
        </p:nvGrpSpPr>
        <p:grpSpPr>
          <a:xfrm>
            <a:off x="3088586" y="3691203"/>
            <a:ext cx="234002" cy="234002"/>
            <a:chOff x="5076056" y="3356992"/>
            <a:chExt cx="436272" cy="436272"/>
          </a:xfrm>
        </p:grpSpPr>
        <p:sp>
          <p:nvSpPr>
            <p:cNvPr id="56"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禁止符 23"/>
            <p:cNvSpPr/>
            <p:nvPr/>
          </p:nvSpPr>
          <p:spPr>
            <a:xfrm>
              <a:off x="5076060" y="3356996"/>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3" name="十字形 52"/>
          <p:cNvSpPr/>
          <p:nvPr/>
        </p:nvSpPr>
        <p:spPr>
          <a:xfrm rot="2700000">
            <a:off x="2769884" y="3058720"/>
            <a:ext cx="307867" cy="294802"/>
          </a:xfrm>
          <a:prstGeom prst="plus">
            <a:avLst>
              <a:gd name="adj" fmla="val 39697"/>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9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253554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拓扑变更机制</a:t>
            </a:r>
          </a:p>
        </p:txBody>
      </p:sp>
      <p:sp>
        <p:nvSpPr>
          <p:cNvPr id="6" name="文本占位符 5"/>
          <p:cNvSpPr>
            <a:spLocks noGrp="1"/>
          </p:cNvSpPr>
          <p:nvPr>
            <p:ph type="body" sz="quarter" idx="10"/>
          </p:nvPr>
        </p:nvSpPr>
        <p:spPr>
          <a:xfrm>
            <a:off x="468317" y="1233488"/>
            <a:ext cx="11276183" cy="617342"/>
          </a:xfrm>
        </p:spPr>
        <p:txBody>
          <a:bodyPr/>
          <a:lstStyle/>
          <a:p>
            <a:pPr marL="0" indent="0">
              <a:buNone/>
            </a:pP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的拓扑变更机制，需要先将拓扑变化信息传递给根桥，再由根桥向下游泛洪拓扑变化信息。</a:t>
            </a:r>
          </a:p>
          <a:p>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文本框 146"/>
          <p:cNvSpPr txBox="1"/>
          <p:nvPr/>
        </p:nvSpPr>
        <p:spPr>
          <a:xfrm>
            <a:off x="2670671" y="1664307"/>
            <a:ext cx="595035" cy="473912"/>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p>
        </p:txBody>
      </p:sp>
      <p:sp>
        <p:nvSpPr>
          <p:cNvPr id="35" name="文本框 34"/>
          <p:cNvSpPr txBox="1"/>
          <p:nvPr/>
        </p:nvSpPr>
        <p:spPr>
          <a:xfrm>
            <a:off x="9892566" y="5588072"/>
            <a:ext cx="2347696" cy="307777"/>
          </a:xfrm>
          <a:prstGeom prst="rect">
            <a:avLst/>
          </a:prstGeom>
          <a:noFill/>
        </p:spPr>
        <p:txBody>
          <a:bodyPr wrap="square" rtlCol="0">
            <a:spAutoFit/>
          </a:bodyPr>
          <a:lstStyle>
            <a:defPPr>
              <a:defRPr lang="en-US"/>
            </a:defPPr>
            <a:lvl1pPr fontAlgn="auto">
              <a:spcBef>
                <a:spcPts val="0"/>
              </a:spcBef>
              <a:spcAft>
                <a:spcPts val="0"/>
              </a:spcAft>
              <a:defRPr sz="1600" b="1"/>
            </a:lvl1pPr>
          </a:lstStyle>
          <a:p>
            <a:r>
              <a:rPr lang="en-US" altLang="zh-CN" sz="1400" b="0" dirty="0">
                <a:latin typeface="Huawei Sans" panose="020C0503030203020204" pitchFamily="34" charset="0"/>
                <a:ea typeface="方正兰亭黑简体" panose="02000000000000000000" pitchFamily="2" charset="-122"/>
                <a:sym typeface="Huawei Sans" panose="020C0503030203020204" pitchFamily="34" charset="0"/>
              </a:rPr>
              <a:t>TCA</a:t>
            </a:r>
            <a:r>
              <a:rPr lang="zh-CN" altLang="en-US" sz="1400" b="0" dirty="0">
                <a:latin typeface="Huawei Sans" panose="020C0503030203020204" pitchFamily="34" charset="0"/>
                <a:ea typeface="方正兰亭黑简体" panose="02000000000000000000" pitchFamily="2" charset="-122"/>
                <a:sym typeface="Huawei Sans" panose="020C0503030203020204" pitchFamily="34" charset="0"/>
              </a:rPr>
              <a:t>置位，配置</a:t>
            </a:r>
            <a:r>
              <a:rPr lang="en-US" altLang="zh-CN" sz="1400" b="0" dirty="0">
                <a:latin typeface="Huawei Sans" panose="020C0503030203020204" pitchFamily="34" charset="0"/>
                <a:ea typeface="方正兰亭黑简体" panose="02000000000000000000" pitchFamily="2" charset="-122"/>
                <a:sym typeface="Huawei Sans" panose="020C0503030203020204" pitchFamily="34" charset="0"/>
              </a:rPr>
              <a:t>BPDU</a:t>
            </a:r>
          </a:p>
        </p:txBody>
      </p:sp>
      <p:cxnSp>
        <p:nvCxnSpPr>
          <p:cNvPr id="66" name="直接连接符 65"/>
          <p:cNvCxnSpPr>
            <a:stCxn id="70" idx="0"/>
          </p:cNvCxnSpPr>
          <p:nvPr/>
        </p:nvCxnSpPr>
        <p:spPr>
          <a:xfrm flipH="1" flipV="1">
            <a:off x="3028139" y="2403944"/>
            <a:ext cx="1507462" cy="2068133"/>
          </a:xfrm>
          <a:prstGeom prst="line">
            <a:avLst/>
          </a:prstGeom>
          <a:noFill/>
          <a:ln w="19050" cap="flat" cmpd="sng" algn="ctr">
            <a:solidFill>
              <a:srgbClr val="151515"/>
            </a:solidFill>
            <a:prstDash val="solid"/>
            <a:miter lim="800000"/>
          </a:ln>
          <a:effectLst/>
        </p:spPr>
      </p:cxnSp>
      <p:sp>
        <p:nvSpPr>
          <p:cNvPr id="89" name="文本框 88"/>
          <p:cNvSpPr txBox="1"/>
          <p:nvPr/>
        </p:nvSpPr>
        <p:spPr>
          <a:xfrm>
            <a:off x="9892566" y="6015496"/>
            <a:ext cx="2347696" cy="307777"/>
          </a:xfrm>
          <a:prstGeom prst="rect">
            <a:avLst/>
          </a:prstGeom>
          <a:noFill/>
        </p:spPr>
        <p:txBody>
          <a:bodyPr wrap="squar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置位，配置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p>
        </p:txBody>
      </p:sp>
      <p:cxnSp>
        <p:nvCxnSpPr>
          <p:cNvPr id="56" name="直接箭头连接符 55"/>
          <p:cNvCxnSpPr/>
          <p:nvPr/>
        </p:nvCxnSpPr>
        <p:spPr>
          <a:xfrm flipH="1">
            <a:off x="9892566" y="5456822"/>
            <a:ext cx="1800000" cy="0"/>
          </a:xfrm>
          <a:prstGeom prst="straightConnector1">
            <a:avLst/>
          </a:prstGeom>
          <a:ln w="19050">
            <a:solidFill>
              <a:schemeClr val="tx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p:nvPr/>
        </p:nvCxnSpPr>
        <p:spPr>
          <a:xfrm flipH="1">
            <a:off x="9892566" y="5860586"/>
            <a:ext cx="1800000" cy="0"/>
          </a:xfrm>
          <a:prstGeom prst="straightConnector1">
            <a:avLst/>
          </a:prstGeom>
          <a:ln w="19050">
            <a:solidFill>
              <a:schemeClr val="tx1"/>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a:xfrm flipH="1">
            <a:off x="9892566" y="6307500"/>
            <a:ext cx="1800000" cy="0"/>
          </a:xfrm>
          <a:prstGeom prst="straightConnector1">
            <a:avLst/>
          </a:prstGeom>
          <a:ln w="19050">
            <a:solidFill>
              <a:srgbClr val="0B9CE5"/>
            </a:solidFill>
            <a:prstDash val="lgDash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a:xfrm>
            <a:off x="9892566" y="5160648"/>
            <a:ext cx="1527860" cy="307777"/>
          </a:xfrm>
          <a:prstGeom prst="rect">
            <a:avLst/>
          </a:prstGeom>
          <a:noFill/>
        </p:spPr>
        <p:txBody>
          <a:bodyPr wrap="square" rtlCol="0">
            <a:spAutoFit/>
          </a:bodyPr>
          <a:lstStyle>
            <a:defPPr>
              <a:defRPr lang="en-US"/>
            </a:defPPr>
            <a:lvl1pPr fontAlgn="auto">
              <a:spcBef>
                <a:spcPts val="0"/>
              </a:spcBef>
              <a:spcAft>
                <a:spcPts val="0"/>
              </a:spcAft>
              <a:defRPr sz="1600" b="1">
                <a:solidFill>
                  <a:prstClr val="white">
                    <a:lumMod val="75000"/>
                  </a:prstClr>
                </a:solidFill>
              </a:defRPr>
            </a:lvl1pPr>
          </a:lstStyle>
          <a:p>
            <a:r>
              <a:rPr lang="en-US" altLang="zh-CN" sz="14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TCN BPDU</a:t>
            </a:r>
          </a:p>
        </p:txBody>
      </p:sp>
      <p:cxnSp>
        <p:nvCxnSpPr>
          <p:cNvPr id="42" name="直接连接符 41"/>
          <p:cNvCxnSpPr/>
          <p:nvPr/>
        </p:nvCxnSpPr>
        <p:spPr>
          <a:xfrm flipV="1">
            <a:off x="1331793" y="2403944"/>
            <a:ext cx="1507462" cy="2068133"/>
          </a:xfrm>
          <a:prstGeom prst="line">
            <a:avLst/>
          </a:prstGeom>
          <a:noFill/>
          <a:ln w="19050" cap="flat" cmpd="sng" algn="ctr">
            <a:solidFill>
              <a:srgbClr val="151515"/>
            </a:solidFill>
            <a:prstDash val="solid"/>
            <a:miter lim="800000"/>
          </a:ln>
          <a:effectLst/>
        </p:spPr>
      </p:cxnSp>
      <p:cxnSp>
        <p:nvCxnSpPr>
          <p:cNvPr id="43" name="直接连接符 42"/>
          <p:cNvCxnSpPr>
            <a:stCxn id="53" idx="0"/>
          </p:cNvCxnSpPr>
          <p:nvPr/>
        </p:nvCxnSpPr>
        <p:spPr>
          <a:xfrm flipH="1" flipV="1">
            <a:off x="1977909" y="3520150"/>
            <a:ext cx="685344" cy="951927"/>
          </a:xfrm>
          <a:prstGeom prst="line">
            <a:avLst/>
          </a:prstGeom>
          <a:noFill/>
          <a:ln w="19050" cap="flat" cmpd="sng" algn="ctr">
            <a:solidFill>
              <a:srgbClr val="EC7061"/>
            </a:solidFill>
            <a:prstDash val="solid"/>
            <a:miter lim="800000"/>
          </a:ln>
          <a:effectLst/>
        </p:spPr>
      </p:cxnSp>
      <p:pic>
        <p:nvPicPr>
          <p:cNvPr id="52" name="图片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4142" y="4472077"/>
            <a:ext cx="540000" cy="442800"/>
          </a:xfrm>
          <a:prstGeom prst="rect">
            <a:avLst/>
          </a:prstGeom>
        </p:spPr>
      </p:pic>
      <p:pic>
        <p:nvPicPr>
          <p:cNvPr id="58" name="图片 5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66650" y="2119580"/>
            <a:ext cx="540000" cy="442800"/>
          </a:xfrm>
          <a:prstGeom prst="rect">
            <a:avLst/>
          </a:prstGeom>
        </p:spPr>
      </p:pic>
      <p:pic>
        <p:nvPicPr>
          <p:cNvPr id="141" name="图片 1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9199" y="3259105"/>
            <a:ext cx="540000" cy="442800"/>
          </a:xfrm>
          <a:prstGeom prst="rect">
            <a:avLst/>
          </a:prstGeom>
        </p:spPr>
      </p:pic>
      <p:pic>
        <p:nvPicPr>
          <p:cNvPr id="70" name="图片 6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5601" y="4472077"/>
            <a:ext cx="540000" cy="442800"/>
          </a:xfrm>
          <a:prstGeom prst="rect">
            <a:avLst/>
          </a:prstGeom>
        </p:spPr>
      </p:pic>
      <p:pic>
        <p:nvPicPr>
          <p:cNvPr id="142" name="图片 14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64102" y="3259105"/>
            <a:ext cx="540000" cy="442800"/>
          </a:xfrm>
          <a:prstGeom prst="rect">
            <a:avLst/>
          </a:prstGeom>
        </p:spPr>
      </p:pic>
      <p:pic>
        <p:nvPicPr>
          <p:cNvPr id="53" name="图片 52"/>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2393253" y="4472077"/>
            <a:ext cx="540000" cy="442800"/>
          </a:xfrm>
          <a:prstGeom prst="rect">
            <a:avLst/>
          </a:prstGeom>
        </p:spPr>
      </p:pic>
      <p:cxnSp>
        <p:nvCxnSpPr>
          <p:cNvPr id="73" name="直接箭头连接符 72"/>
          <p:cNvCxnSpPr/>
          <p:nvPr/>
        </p:nvCxnSpPr>
        <p:spPr>
          <a:xfrm rot="15203032" flipH="1" flipV="1">
            <a:off x="2170795" y="2645463"/>
            <a:ext cx="362295" cy="477205"/>
          </a:xfrm>
          <a:prstGeom prst="straightConnector1">
            <a:avLst/>
          </a:prstGeom>
          <a:ln w="19050">
            <a:solidFill>
              <a:schemeClr val="tx1"/>
            </a:solidFill>
            <a:prstDash val="solid"/>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4" name="TextBox 35"/>
          <p:cNvSpPr txBox="1">
            <a:spLocks noChangeArrowheads="1"/>
          </p:cNvSpPr>
          <p:nvPr/>
        </p:nvSpPr>
        <p:spPr bwMode="auto">
          <a:xfrm rot="18241006">
            <a:off x="1652219" y="2645039"/>
            <a:ext cx="1090609" cy="307777"/>
          </a:xfrm>
          <a:prstGeom prst="rect">
            <a:avLst/>
          </a:prstGeom>
          <a:noFill/>
          <a:ln>
            <a:noFill/>
          </a:ln>
        </p:spPr>
        <p:txBody>
          <a:bodyPr wrap="non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1.TCN BPDU</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p:cNvSpPr txBox="1"/>
          <p:nvPr/>
        </p:nvSpPr>
        <p:spPr>
          <a:xfrm>
            <a:off x="880908" y="5280743"/>
            <a:ext cx="4119688" cy="338554"/>
          </a:xfrm>
          <a:prstGeom prst="rect">
            <a:avLst/>
          </a:prstGeom>
          <a:noFill/>
        </p:spPr>
        <p:txBody>
          <a:bodyPr wrap="square" rtlCol="0">
            <a:spAutoFit/>
          </a:bodyPr>
          <a:lstStyle>
            <a:defPPr>
              <a:defRPr lang="en-US"/>
            </a:defPPr>
            <a:lvl1pPr fontAlgn="auto">
              <a:spcBef>
                <a:spcPts val="0"/>
              </a:spcBef>
              <a:spcAft>
                <a:spcPts val="0"/>
              </a:spcAft>
              <a:defRPr sz="1600" b="1"/>
            </a:lvl1pPr>
          </a:lstStyle>
          <a:p>
            <a:pPr algn="ct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TCN</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TCA</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置位的配置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的发送</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文本框 109"/>
          <p:cNvSpPr txBox="1"/>
          <p:nvPr/>
        </p:nvSpPr>
        <p:spPr>
          <a:xfrm>
            <a:off x="7822012" y="1664307"/>
            <a:ext cx="595035" cy="473912"/>
          </a:xfrm>
          <a:prstGeom prst="rect">
            <a:avLst/>
          </a:prstGeom>
          <a:noFill/>
        </p:spPr>
        <p:txBody>
          <a:bodyPr wrap="non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p>
        </p:txBody>
      </p:sp>
      <p:cxnSp>
        <p:nvCxnSpPr>
          <p:cNvPr id="111" name="直接连接符 110"/>
          <p:cNvCxnSpPr>
            <a:stCxn id="118" idx="0"/>
          </p:cNvCxnSpPr>
          <p:nvPr/>
        </p:nvCxnSpPr>
        <p:spPr>
          <a:xfrm flipH="1" flipV="1">
            <a:off x="8179480" y="2403944"/>
            <a:ext cx="1507462" cy="2068133"/>
          </a:xfrm>
          <a:prstGeom prst="line">
            <a:avLst/>
          </a:prstGeom>
          <a:noFill/>
          <a:ln w="19050" cap="flat" cmpd="sng" algn="ctr">
            <a:solidFill>
              <a:srgbClr val="151515"/>
            </a:solidFill>
            <a:prstDash val="solid"/>
            <a:miter lim="800000"/>
          </a:ln>
          <a:effectLst/>
        </p:spPr>
      </p:cxnSp>
      <p:cxnSp>
        <p:nvCxnSpPr>
          <p:cNvPr id="113" name="直接连接符 112"/>
          <p:cNvCxnSpPr/>
          <p:nvPr/>
        </p:nvCxnSpPr>
        <p:spPr>
          <a:xfrm flipV="1">
            <a:off x="6483134" y="2403944"/>
            <a:ext cx="1507462" cy="2068133"/>
          </a:xfrm>
          <a:prstGeom prst="line">
            <a:avLst/>
          </a:prstGeom>
          <a:noFill/>
          <a:ln w="19050" cap="flat" cmpd="sng" algn="ctr">
            <a:solidFill>
              <a:srgbClr val="151515"/>
            </a:solidFill>
            <a:prstDash val="solid"/>
            <a:miter lim="800000"/>
          </a:ln>
          <a:effectLst/>
        </p:spPr>
      </p:cxnSp>
      <p:cxnSp>
        <p:nvCxnSpPr>
          <p:cNvPr id="114" name="直接连接符 113"/>
          <p:cNvCxnSpPr>
            <a:stCxn id="122" idx="0"/>
          </p:cNvCxnSpPr>
          <p:nvPr/>
        </p:nvCxnSpPr>
        <p:spPr>
          <a:xfrm flipH="1" flipV="1">
            <a:off x="7129250" y="3520150"/>
            <a:ext cx="685344" cy="951927"/>
          </a:xfrm>
          <a:prstGeom prst="line">
            <a:avLst/>
          </a:prstGeom>
          <a:noFill/>
          <a:ln w="19050" cap="flat" cmpd="sng" algn="ctr">
            <a:solidFill>
              <a:srgbClr val="151515"/>
            </a:solidFill>
            <a:prstDash val="solid"/>
            <a:miter lim="800000"/>
          </a:ln>
          <a:effectLst/>
        </p:spPr>
      </p:cxnSp>
      <p:pic>
        <p:nvPicPr>
          <p:cNvPr id="115" name="图片 1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35483" y="4472077"/>
            <a:ext cx="540000" cy="442800"/>
          </a:xfrm>
          <a:prstGeom prst="rect">
            <a:avLst/>
          </a:prstGeom>
        </p:spPr>
      </p:pic>
      <p:pic>
        <p:nvPicPr>
          <p:cNvPr id="116" name="图片 1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17991" y="2119580"/>
            <a:ext cx="540000" cy="442800"/>
          </a:xfrm>
          <a:prstGeom prst="rect">
            <a:avLst/>
          </a:prstGeom>
        </p:spPr>
      </p:pic>
      <p:pic>
        <p:nvPicPr>
          <p:cNvPr id="117" name="图片 1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20540" y="3259105"/>
            <a:ext cx="540000" cy="442800"/>
          </a:xfrm>
          <a:prstGeom prst="rect">
            <a:avLst/>
          </a:prstGeom>
        </p:spPr>
      </p:pic>
      <p:pic>
        <p:nvPicPr>
          <p:cNvPr id="118" name="图片 1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16942" y="4472077"/>
            <a:ext cx="540000" cy="442800"/>
          </a:xfrm>
          <a:prstGeom prst="rect">
            <a:avLst/>
          </a:prstGeom>
        </p:spPr>
      </p:pic>
      <p:pic>
        <p:nvPicPr>
          <p:cNvPr id="119" name="图片 1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15443" y="3259105"/>
            <a:ext cx="540000" cy="442800"/>
          </a:xfrm>
          <a:prstGeom prst="rect">
            <a:avLst/>
          </a:prstGeom>
        </p:spPr>
      </p:pic>
      <p:pic>
        <p:nvPicPr>
          <p:cNvPr id="122" name="图片 121"/>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7544594" y="4472077"/>
            <a:ext cx="540000" cy="442800"/>
          </a:xfrm>
          <a:prstGeom prst="rect">
            <a:avLst/>
          </a:prstGeom>
        </p:spPr>
      </p:pic>
      <p:cxnSp>
        <p:nvCxnSpPr>
          <p:cNvPr id="126" name="直接箭头连接符 125"/>
          <p:cNvCxnSpPr/>
          <p:nvPr/>
        </p:nvCxnSpPr>
        <p:spPr>
          <a:xfrm rot="15203032" flipH="1" flipV="1">
            <a:off x="7317806" y="2631777"/>
            <a:ext cx="362295" cy="477205"/>
          </a:xfrm>
          <a:prstGeom prst="straightConnector1">
            <a:avLst/>
          </a:prstGeom>
          <a:ln w="19050">
            <a:solidFill>
              <a:srgbClr val="0B9CE5"/>
            </a:solidFill>
            <a:prstDash val="lgDash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7" name="TextBox 35"/>
          <p:cNvSpPr txBox="1">
            <a:spLocks noChangeArrowheads="1"/>
          </p:cNvSpPr>
          <p:nvPr/>
        </p:nvSpPr>
        <p:spPr bwMode="auto">
          <a:xfrm rot="18364318">
            <a:off x="6816299" y="2470034"/>
            <a:ext cx="963973" cy="523220"/>
          </a:xfrm>
          <a:prstGeom prst="rect">
            <a:avLst/>
          </a:prstGeom>
          <a:noFill/>
          <a:ln>
            <a:noFill/>
          </a:ln>
        </p:spPr>
        <p:txBody>
          <a:bodyPr wrap="non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3.TC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置位的</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9" name="直接箭头连接符 128"/>
          <p:cNvCxnSpPr/>
          <p:nvPr/>
        </p:nvCxnSpPr>
        <p:spPr>
          <a:xfrm flipH="1" flipV="1">
            <a:off x="7448822" y="3783421"/>
            <a:ext cx="362295" cy="477205"/>
          </a:xfrm>
          <a:prstGeom prst="straightConnector1">
            <a:avLst/>
          </a:prstGeom>
          <a:ln w="19050">
            <a:solidFill>
              <a:srgbClr val="0B9CE5"/>
            </a:solidFill>
            <a:prstDash val="lgDash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0" name="文本框 129"/>
          <p:cNvSpPr txBox="1"/>
          <p:nvPr/>
        </p:nvSpPr>
        <p:spPr>
          <a:xfrm>
            <a:off x="6123127" y="5280743"/>
            <a:ext cx="3984736" cy="338554"/>
          </a:xfrm>
          <a:prstGeom prst="rect">
            <a:avLst/>
          </a:prstGeom>
          <a:noFill/>
        </p:spPr>
        <p:txBody>
          <a:bodyPr wrap="square" rtlCol="0">
            <a:spAutoFit/>
          </a:bodyPr>
          <a:lstStyle>
            <a:defPPr>
              <a:defRPr lang="en-US"/>
            </a:defPPr>
            <a:lvl1pPr fontAlgn="auto">
              <a:spcBef>
                <a:spcPts val="0"/>
              </a:spcBef>
              <a:spcAft>
                <a:spcPts val="0"/>
              </a:spcAft>
              <a:defRPr sz="1600" b="1"/>
            </a:lvl1pPr>
          </a:lstStyle>
          <a:p>
            <a:pPr algn="ct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根桥发送</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TC</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置位的配置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a:t>
            </a:r>
          </a:p>
        </p:txBody>
      </p:sp>
      <p:cxnSp>
        <p:nvCxnSpPr>
          <p:cNvPr id="131" name="直接箭头连接符 130"/>
          <p:cNvCxnSpPr/>
          <p:nvPr/>
        </p:nvCxnSpPr>
        <p:spPr>
          <a:xfrm rot="15203032" flipH="1" flipV="1">
            <a:off x="6507877" y="3774605"/>
            <a:ext cx="362295" cy="477205"/>
          </a:xfrm>
          <a:prstGeom prst="straightConnector1">
            <a:avLst/>
          </a:prstGeom>
          <a:ln w="19050">
            <a:solidFill>
              <a:srgbClr val="0B9CE5"/>
            </a:solidFill>
            <a:prstDash val="lgDash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3" name="直接箭头连接符 132"/>
          <p:cNvCxnSpPr/>
          <p:nvPr/>
        </p:nvCxnSpPr>
        <p:spPr>
          <a:xfrm flipH="1" flipV="1">
            <a:off x="8507356" y="2640301"/>
            <a:ext cx="362295" cy="477205"/>
          </a:xfrm>
          <a:prstGeom prst="straightConnector1">
            <a:avLst/>
          </a:prstGeom>
          <a:ln w="19050">
            <a:solidFill>
              <a:srgbClr val="0B9CE5"/>
            </a:solidFill>
            <a:prstDash val="lgDash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直接箭头连接符 133"/>
          <p:cNvCxnSpPr/>
          <p:nvPr/>
        </p:nvCxnSpPr>
        <p:spPr>
          <a:xfrm flipH="1" flipV="1">
            <a:off x="9324647" y="3783420"/>
            <a:ext cx="362295" cy="477205"/>
          </a:xfrm>
          <a:prstGeom prst="straightConnector1">
            <a:avLst/>
          </a:prstGeom>
          <a:ln w="19050">
            <a:solidFill>
              <a:srgbClr val="0B9CE5"/>
            </a:solidFill>
            <a:prstDash val="lgDash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5" name="下箭头 63"/>
          <p:cNvSpPr/>
          <p:nvPr/>
        </p:nvSpPr>
        <p:spPr>
          <a:xfrm rot="5400000" flipV="1">
            <a:off x="4698078" y="3088111"/>
            <a:ext cx="823752" cy="774422"/>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CDE6FF"/>
              </a:gs>
              <a:gs pos="100000">
                <a:schemeClr val="bg1">
                  <a:alpha val="0"/>
                </a:schemeClr>
              </a:gs>
            </a:gsLst>
            <a:lin ang="16200000" scaled="1"/>
            <a:tileRect/>
          </a:gradFill>
          <a:ln w="19050">
            <a:gradFill flip="none" rotWithShape="1">
              <a:gsLst>
                <a:gs pos="100000">
                  <a:schemeClr val="bg1">
                    <a:lumMod val="100000"/>
                    <a:alpha val="0"/>
                  </a:schemeClr>
                </a:gs>
                <a:gs pos="31000">
                  <a:srgbClr val="A6D2FF"/>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文本框 135"/>
          <p:cNvSpPr txBox="1"/>
          <p:nvPr/>
        </p:nvSpPr>
        <p:spPr>
          <a:xfrm>
            <a:off x="1868452" y="4916230"/>
            <a:ext cx="1527860" cy="307777"/>
          </a:xfrm>
          <a:prstGeom prst="rect">
            <a:avLst/>
          </a:prstGeom>
          <a:noFill/>
        </p:spPr>
        <p:txBody>
          <a:bodyPr wrap="square" rtlCol="0">
            <a:spAutoFit/>
          </a:bodyPr>
          <a:lstStyle>
            <a:defPPr>
              <a:defRPr lang="en-US"/>
            </a:defPPr>
            <a:lvl1pPr fontAlgn="auto">
              <a:spcBef>
                <a:spcPts val="0"/>
              </a:spcBef>
              <a:spcAft>
                <a:spcPts val="0"/>
              </a:spcAft>
              <a:defRPr sz="1600" b="1">
                <a:solidFill>
                  <a:prstClr val="white">
                    <a:lumMod val="75000"/>
                  </a:prstClr>
                </a:solidFill>
              </a:defRPr>
            </a:lvl1pPr>
          </a:lstStyle>
          <a:p>
            <a:pPr algn="ctr"/>
            <a:r>
              <a:rPr lang="zh-CN" altLang="en-US" sz="1400" b="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新增交换机</a:t>
            </a:r>
            <a:endParaRPr lang="en-US" altLang="zh-CN" sz="1400" b="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9" name="直接箭头连接符 138"/>
          <p:cNvCxnSpPr/>
          <p:nvPr/>
        </p:nvCxnSpPr>
        <p:spPr>
          <a:xfrm rot="15203032" flipH="1" flipV="1">
            <a:off x="2372166" y="2774008"/>
            <a:ext cx="362295" cy="477205"/>
          </a:xfrm>
          <a:prstGeom prst="straightConnector1">
            <a:avLst/>
          </a:prstGeom>
          <a:ln w="19050">
            <a:solidFill>
              <a:schemeClr val="tx1"/>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0" name="TextBox 35"/>
          <p:cNvSpPr txBox="1">
            <a:spLocks noChangeArrowheads="1"/>
          </p:cNvSpPr>
          <p:nvPr/>
        </p:nvSpPr>
        <p:spPr bwMode="auto">
          <a:xfrm rot="18241006">
            <a:off x="2206570" y="2966534"/>
            <a:ext cx="1080992" cy="523220"/>
          </a:xfrm>
          <a:prstGeom prst="rect">
            <a:avLst/>
          </a:prstGeom>
          <a:noFill/>
          <a:ln>
            <a:noFill/>
          </a:ln>
        </p:spPr>
        <p:txBody>
          <a:bodyPr wrap="non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2.TCA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置位的</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文本框 142"/>
          <p:cNvSpPr txBox="1"/>
          <p:nvPr/>
        </p:nvSpPr>
        <p:spPr>
          <a:xfrm>
            <a:off x="7050664" y="4916230"/>
            <a:ext cx="1527860" cy="307777"/>
          </a:xfrm>
          <a:prstGeom prst="rect">
            <a:avLst/>
          </a:prstGeom>
          <a:noFill/>
        </p:spPr>
        <p:txBody>
          <a:bodyPr wrap="square" rtlCol="0">
            <a:spAutoFit/>
          </a:bodyPr>
          <a:lstStyle>
            <a:defPPr>
              <a:defRPr lang="en-US"/>
            </a:defPPr>
            <a:lvl1pPr fontAlgn="auto">
              <a:spcBef>
                <a:spcPts val="0"/>
              </a:spcBef>
              <a:spcAft>
                <a:spcPts val="0"/>
              </a:spcAft>
              <a:defRPr sz="1600" b="1">
                <a:solidFill>
                  <a:prstClr val="white">
                    <a:lumMod val="75000"/>
                  </a:prstClr>
                </a:solidFill>
              </a:defRPr>
            </a:lvl1pPr>
          </a:lstStyle>
          <a:p>
            <a:pPr algn="ctr"/>
            <a:r>
              <a:rPr lang="zh-CN" altLang="en-US" sz="1400" b="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新增交换机</a:t>
            </a:r>
            <a:endParaRPr lang="en-US" altLang="zh-CN" sz="1400" b="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35"/>
          <p:cNvSpPr txBox="1">
            <a:spLocks noChangeArrowheads="1"/>
          </p:cNvSpPr>
          <p:nvPr/>
        </p:nvSpPr>
        <p:spPr bwMode="auto">
          <a:xfrm>
            <a:off x="7968647" y="2163663"/>
            <a:ext cx="2107640" cy="276999"/>
          </a:xfrm>
          <a:prstGeom prst="rect">
            <a:avLst/>
          </a:prstGeom>
          <a:noFill/>
          <a:ln>
            <a:noFill/>
          </a:ln>
        </p:spPr>
        <p:txBody>
          <a:bodyPr wrap="squar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删除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地址表项</a:t>
            </a:r>
          </a:p>
        </p:txBody>
      </p:sp>
      <p:sp>
        <p:nvSpPr>
          <p:cNvPr id="46" name="TextBox 35"/>
          <p:cNvSpPr txBox="1">
            <a:spLocks noChangeArrowheads="1"/>
          </p:cNvSpPr>
          <p:nvPr/>
        </p:nvSpPr>
        <p:spPr bwMode="auto">
          <a:xfrm>
            <a:off x="5582558" y="3029562"/>
            <a:ext cx="1554741" cy="276999"/>
          </a:xfrm>
          <a:prstGeom prst="rect">
            <a:avLst/>
          </a:prstGeom>
          <a:noFill/>
          <a:ln>
            <a:noFill/>
          </a:ln>
        </p:spPr>
        <p:txBody>
          <a:bodyPr wrap="squar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删除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地址表项</a:t>
            </a:r>
          </a:p>
        </p:txBody>
      </p:sp>
      <p:sp>
        <p:nvSpPr>
          <p:cNvPr id="49" name="TextBox 35"/>
          <p:cNvSpPr txBox="1">
            <a:spLocks noChangeArrowheads="1"/>
          </p:cNvSpPr>
          <p:nvPr/>
        </p:nvSpPr>
        <p:spPr bwMode="auto">
          <a:xfrm>
            <a:off x="8728008" y="3036942"/>
            <a:ext cx="2107640" cy="276999"/>
          </a:xfrm>
          <a:prstGeom prst="rect">
            <a:avLst/>
          </a:prstGeom>
          <a:noFill/>
          <a:ln>
            <a:noFill/>
          </a:ln>
        </p:spPr>
        <p:txBody>
          <a:bodyPr wrap="squar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删除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地址表项</a:t>
            </a:r>
          </a:p>
        </p:txBody>
      </p:sp>
      <p:sp>
        <p:nvSpPr>
          <p:cNvPr id="51" name="TextBox 35"/>
          <p:cNvSpPr txBox="1">
            <a:spLocks noChangeArrowheads="1"/>
          </p:cNvSpPr>
          <p:nvPr/>
        </p:nvSpPr>
        <p:spPr bwMode="auto">
          <a:xfrm>
            <a:off x="5091474" y="4236355"/>
            <a:ext cx="1376286" cy="276999"/>
          </a:xfrm>
          <a:prstGeom prst="rect">
            <a:avLst/>
          </a:prstGeom>
          <a:noFill/>
          <a:ln>
            <a:noFill/>
          </a:ln>
        </p:spPr>
        <p:txBody>
          <a:bodyPr wrap="squar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删除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地址表项</a:t>
            </a:r>
          </a:p>
        </p:txBody>
      </p:sp>
      <p:sp>
        <p:nvSpPr>
          <p:cNvPr id="54" name="TextBox 35"/>
          <p:cNvSpPr txBox="1">
            <a:spLocks noChangeArrowheads="1"/>
          </p:cNvSpPr>
          <p:nvPr/>
        </p:nvSpPr>
        <p:spPr bwMode="auto">
          <a:xfrm>
            <a:off x="7872992" y="4236355"/>
            <a:ext cx="1453582" cy="276999"/>
          </a:xfrm>
          <a:prstGeom prst="rect">
            <a:avLst/>
          </a:prstGeom>
          <a:noFill/>
          <a:ln>
            <a:noFill/>
          </a:ln>
        </p:spPr>
        <p:txBody>
          <a:bodyPr wrap="squar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删除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地址表项</a:t>
            </a:r>
          </a:p>
        </p:txBody>
      </p:sp>
      <p:sp>
        <p:nvSpPr>
          <p:cNvPr id="55" name="TextBox 35"/>
          <p:cNvSpPr txBox="1">
            <a:spLocks noChangeArrowheads="1"/>
          </p:cNvSpPr>
          <p:nvPr/>
        </p:nvSpPr>
        <p:spPr bwMode="auto">
          <a:xfrm>
            <a:off x="9780031" y="4236355"/>
            <a:ext cx="1384087" cy="276999"/>
          </a:xfrm>
          <a:prstGeom prst="rect">
            <a:avLst/>
          </a:prstGeom>
          <a:noFill/>
          <a:ln>
            <a:noFill/>
          </a:ln>
        </p:spPr>
        <p:txBody>
          <a:bodyPr wrap="square" lIns="36000" rIns="36000">
            <a:spAutoFit/>
          </a:bodyPr>
          <a:lstStyle>
            <a:lvl1pPr>
              <a:defRPr sz="2100">
                <a:solidFill>
                  <a:schemeClr val="tx1"/>
                </a:solidFill>
                <a:latin typeface="Arial" panose="020B0604020202020204" pitchFamily="34" charset="0"/>
                <a:ea typeface="MS PGothic" panose="020B0600070205080204" pitchFamily="34" charset="-128"/>
              </a:defRPr>
            </a:lvl1pPr>
            <a:lvl2pPr marL="742950" indent="-285750">
              <a:defRPr sz="2100">
                <a:solidFill>
                  <a:schemeClr val="tx1"/>
                </a:solidFill>
                <a:latin typeface="Arial" panose="020B0604020202020204" pitchFamily="34" charset="0"/>
                <a:ea typeface="MS PGothic" panose="020B0600070205080204" pitchFamily="34" charset="-128"/>
              </a:defRPr>
            </a:lvl2pPr>
            <a:lvl3pPr marL="1143000" indent="-228600">
              <a:defRPr sz="2100">
                <a:solidFill>
                  <a:schemeClr val="tx1"/>
                </a:solidFill>
                <a:latin typeface="Arial" panose="020B0604020202020204" pitchFamily="34" charset="0"/>
                <a:ea typeface="MS PGothic" panose="020B0600070205080204" pitchFamily="34" charset="-128"/>
              </a:defRPr>
            </a:lvl3pPr>
            <a:lvl4pPr marL="1600200" indent="-228600">
              <a:defRPr sz="2100">
                <a:solidFill>
                  <a:schemeClr val="tx1"/>
                </a:solidFill>
                <a:latin typeface="Arial" panose="020B0604020202020204" pitchFamily="34" charset="0"/>
                <a:ea typeface="MS PGothic" panose="020B0600070205080204" pitchFamily="34" charset="-128"/>
              </a:defRPr>
            </a:lvl4pPr>
            <a:lvl5pPr marL="2057400" indent="-228600">
              <a:defRPr sz="21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100">
                <a:solidFill>
                  <a:schemeClr val="tx1"/>
                </a:solidFill>
                <a:latin typeface="Arial" panose="020B0604020202020204" pitchFamily="34" charset="0"/>
                <a:ea typeface="MS PGothic" panose="020B0600070205080204" pitchFamily="34" charset="-128"/>
              </a:defRPr>
            </a:lvl9p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删除</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地址表项</a:t>
            </a:r>
          </a:p>
        </p:txBody>
      </p:sp>
    </p:spTree>
    <p:extLst>
      <p:ext uri="{BB962C8B-B14F-4D97-AF65-F5344CB8AC3E}">
        <p14:creationId xmlns:p14="http://schemas.microsoft.com/office/powerpoint/2010/main" val="404217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9" grpId="0"/>
      <p:bldP spid="51" grpId="0"/>
      <p:bldP spid="54" grpId="0"/>
      <p:bldP spid="5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快速生成树协议概述</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回顾与</a:t>
            </a:r>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不足</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lvl="1">
              <a:buFont typeface="微软雅黑" panose="020B0503020204020204" pitchFamily="34" charset="-122"/>
              <a:buChar char="▪"/>
            </a:pPr>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概述</a:t>
            </a: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对</a:t>
            </a:r>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的改进</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的工作过程</a:t>
            </a: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的基本配置</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95801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p:txBody>
          <a:bodyPr/>
          <a:lstStyle/>
          <a:p>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IEEE 802.1W</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中定义的</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可以视为</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的改进版本，</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在许多方面对</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进行了优化，它的收敛速度更快，而且能够兼容</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对</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的改进：</a:t>
            </a:r>
            <a:endParaRPr lang="en-US" altLang="zh-CN" sz="20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通过端口角色的增补，简化了生成树协议的理解及部署；</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端口状态的重新划分；</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格式的改变，充分利用了</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协议报文中的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Flag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字段，明确了端口角色；</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的处理发生变化；</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增加保护功能。</a:t>
            </a:r>
          </a:p>
        </p:txBody>
      </p:sp>
    </p:spTree>
    <p:extLst>
      <p:ext uri="{BB962C8B-B14F-4D97-AF65-F5344CB8AC3E}">
        <p14:creationId xmlns:p14="http://schemas.microsoft.com/office/powerpoint/2010/main" val="2547722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在园区网络中的应用位置</a:t>
            </a:r>
          </a:p>
        </p:txBody>
      </p:sp>
      <p:grpSp>
        <p:nvGrpSpPr>
          <p:cNvPr id="4" name="组合 3"/>
          <p:cNvGrpSpPr/>
          <p:nvPr/>
        </p:nvGrpSpPr>
        <p:grpSpPr>
          <a:xfrm>
            <a:off x="3819438" y="4557726"/>
            <a:ext cx="1537449" cy="1229328"/>
            <a:chOff x="1186436" y="4371649"/>
            <a:chExt cx="2388156" cy="722762"/>
          </a:xfrm>
        </p:grpSpPr>
        <p:cxnSp>
          <p:nvCxnSpPr>
            <p:cNvPr id="5" name="直接连接符 4"/>
            <p:cNvCxnSpPr/>
            <p:nvPr/>
          </p:nvCxnSpPr>
          <p:spPr>
            <a:xfrm>
              <a:off x="1211124"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3566910"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1211124" y="4371651"/>
              <a:ext cx="2355785"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186436" y="4371649"/>
              <a:ext cx="2388156" cy="722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263465" y="5417722"/>
            <a:ext cx="543739" cy="369332"/>
          </a:xfrm>
          <a:prstGeom prst="rect">
            <a:avLst/>
          </a:prstGeom>
          <a:noFill/>
        </p:spPr>
        <p:txBody>
          <a:bodyPr wrap="none" rtlCol="0">
            <a:spAutoFit/>
          </a:bodyPr>
          <a:lstStyle/>
          <a:p>
            <a:pPr fontAlgn="auto">
              <a:spcBef>
                <a:spcPts val="0"/>
              </a:spcBef>
              <a:spcAft>
                <a:spcPts val="0"/>
              </a:spcAft>
            </a:pPr>
            <a:r>
              <a:rPr lang="en-US" altLang="zh-CN"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 name="直接连接符 9"/>
          <p:cNvCxnSpPr/>
          <p:nvPr/>
        </p:nvCxnSpPr>
        <p:spPr>
          <a:xfrm>
            <a:off x="3978462" y="4528379"/>
            <a:ext cx="12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276205" y="4528379"/>
            <a:ext cx="12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541405" y="4528379"/>
            <a:ext cx="12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6159437" y="1759507"/>
            <a:ext cx="1499380" cy="751490"/>
            <a:chOff x="6600056" y="4353447"/>
            <a:chExt cx="1296144" cy="833967"/>
          </a:xfrm>
        </p:grpSpPr>
        <p:cxnSp>
          <p:nvCxnSpPr>
            <p:cNvPr id="14" name="直接连接符 13"/>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3833254" y="3439354"/>
            <a:ext cx="6134459" cy="1076994"/>
            <a:chOff x="6600056" y="4353447"/>
            <a:chExt cx="1716248" cy="833967"/>
          </a:xfrm>
        </p:grpSpPr>
        <p:cxnSp>
          <p:nvCxnSpPr>
            <p:cNvPr id="17" name="直接连接符 16"/>
            <p:cNvCxnSpPr/>
            <p:nvPr/>
          </p:nvCxnSpPr>
          <p:spPr>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668232"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702226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7227425"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 name="直接连接符 20"/>
          <p:cNvCxnSpPr/>
          <p:nvPr/>
        </p:nvCxnSpPr>
        <p:spPr>
          <a:xfrm>
            <a:off x="6301035" y="2588111"/>
            <a:ext cx="1219400"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301036" y="3429000"/>
            <a:ext cx="12194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6159437" y="2613511"/>
            <a:ext cx="1516610" cy="1952972"/>
            <a:chOff x="1211124" y="4371651"/>
            <a:chExt cx="2355786" cy="722760"/>
          </a:xfrm>
        </p:grpSpPr>
        <p:cxnSp>
          <p:nvCxnSpPr>
            <p:cNvPr id="24" name="直接连接符 23"/>
            <p:cNvCxnSpPr/>
            <p:nvPr/>
          </p:nvCxnSpPr>
          <p:spPr>
            <a:xfrm>
              <a:off x="1211124"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3566910"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nvGrpSpPr>
        <p:grpSpPr>
          <a:xfrm>
            <a:off x="6143543" y="4557726"/>
            <a:ext cx="1537449" cy="1229328"/>
            <a:chOff x="1186436" y="4371649"/>
            <a:chExt cx="2388156" cy="722762"/>
          </a:xfrm>
        </p:grpSpPr>
        <p:cxnSp>
          <p:nvCxnSpPr>
            <p:cNvPr id="27" name="直接连接符 26"/>
            <p:cNvCxnSpPr/>
            <p:nvPr/>
          </p:nvCxnSpPr>
          <p:spPr>
            <a:xfrm>
              <a:off x="1211124"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3566910"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1211124" y="4371651"/>
              <a:ext cx="2355785"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186436" y="4371649"/>
              <a:ext cx="2388156" cy="722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文本框 30"/>
          <p:cNvSpPr txBox="1"/>
          <p:nvPr/>
        </p:nvSpPr>
        <p:spPr>
          <a:xfrm>
            <a:off x="6587570" y="5417722"/>
            <a:ext cx="543739" cy="369332"/>
          </a:xfrm>
          <a:prstGeom prst="rect">
            <a:avLst/>
          </a:prstGeom>
          <a:noFill/>
        </p:spPr>
        <p:txBody>
          <a:bodyPr wrap="none" rtlCol="0">
            <a:spAutoFit/>
          </a:bodyPr>
          <a:lstStyle/>
          <a:p>
            <a:pPr fontAlgn="auto">
              <a:spcBef>
                <a:spcPts val="0"/>
              </a:spcBef>
              <a:spcAft>
                <a:spcPts val="0"/>
              </a:spcAft>
            </a:pPr>
            <a:r>
              <a:rPr lang="en-US" altLang="zh-CN"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2" name="组合 31"/>
          <p:cNvGrpSpPr/>
          <p:nvPr/>
        </p:nvGrpSpPr>
        <p:grpSpPr>
          <a:xfrm>
            <a:off x="8466117" y="4557726"/>
            <a:ext cx="1537449" cy="1229328"/>
            <a:chOff x="1186436" y="4371649"/>
            <a:chExt cx="2388156" cy="722762"/>
          </a:xfrm>
        </p:grpSpPr>
        <p:cxnSp>
          <p:nvCxnSpPr>
            <p:cNvPr id="33" name="直接连接符 32"/>
            <p:cNvCxnSpPr/>
            <p:nvPr/>
          </p:nvCxnSpPr>
          <p:spPr>
            <a:xfrm>
              <a:off x="1211124"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3566910" y="4371651"/>
              <a:ext cx="0"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1211124" y="4371651"/>
              <a:ext cx="2355785" cy="722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1186436" y="4371649"/>
              <a:ext cx="2388156" cy="7227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文本框 36"/>
          <p:cNvSpPr txBox="1"/>
          <p:nvPr/>
        </p:nvSpPr>
        <p:spPr>
          <a:xfrm>
            <a:off x="8910144" y="5417722"/>
            <a:ext cx="543739" cy="369332"/>
          </a:xfrm>
          <a:prstGeom prst="rect">
            <a:avLst/>
          </a:prstGeom>
          <a:noFill/>
        </p:spPr>
        <p:txBody>
          <a:bodyPr wrap="none" rtlCol="0">
            <a:spAutoFit/>
          </a:bodyPr>
          <a:lstStyle/>
          <a:p>
            <a:pPr fontAlgn="auto">
              <a:spcBef>
                <a:spcPts val="0"/>
              </a:spcBef>
              <a:spcAft>
                <a:spcPts val="0"/>
              </a:spcAft>
            </a:pPr>
            <a:r>
              <a:rPr lang="en-US" altLang="zh-CN"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8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p:cNvCxnSpPr/>
          <p:nvPr/>
        </p:nvCxnSpPr>
        <p:spPr>
          <a:xfrm flipH="1">
            <a:off x="1512951" y="3429000"/>
            <a:ext cx="4044942"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flipV="1">
            <a:off x="1512951" y="4516348"/>
            <a:ext cx="189150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1875222" y="3439355"/>
            <a:ext cx="0" cy="1076993"/>
          </a:xfrm>
          <a:prstGeom prst="line">
            <a:avLst/>
          </a:prstGeom>
          <a:ln w="19050">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1837815" y="3767153"/>
            <a:ext cx="1107996" cy="369332"/>
          </a:xfrm>
          <a:prstGeom prst="rect">
            <a:avLst/>
          </a:prstGeom>
          <a:noFill/>
          <a:ln>
            <a:noFill/>
          </a:ln>
        </p:spPr>
        <p:txBody>
          <a:bodyPr wrap="none" rtlCol="0">
            <a:spAutoFit/>
          </a:bodyPr>
          <a:lstStyle/>
          <a:p>
            <a:pPr fontAlgn="auto">
              <a:spcBef>
                <a:spcPts val="0"/>
              </a:spcBef>
              <a:spcAft>
                <a:spcPts val="0"/>
              </a:spcAft>
            </a:pPr>
            <a:r>
              <a:rPr lang="zh-CN" altLang="en-US" sz="180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三层网络</a:t>
            </a:r>
          </a:p>
        </p:txBody>
      </p:sp>
      <p:cxnSp>
        <p:nvCxnSpPr>
          <p:cNvPr id="56" name="直接连接符 55"/>
          <p:cNvCxnSpPr/>
          <p:nvPr/>
        </p:nvCxnSpPr>
        <p:spPr>
          <a:xfrm flipH="1" flipV="1">
            <a:off x="1512951" y="5760704"/>
            <a:ext cx="189150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1875222" y="4516349"/>
            <a:ext cx="0" cy="1244355"/>
          </a:xfrm>
          <a:prstGeom prst="line">
            <a:avLst/>
          </a:prstGeom>
          <a:ln w="19050">
            <a:solidFill>
              <a:schemeClr val="bg1">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1837815" y="4831847"/>
            <a:ext cx="1864613" cy="646331"/>
          </a:xfrm>
          <a:prstGeom prst="rect">
            <a:avLst/>
          </a:prstGeom>
          <a:noFill/>
          <a:ln>
            <a:noFill/>
          </a:ln>
        </p:spPr>
        <p:txBody>
          <a:bodyPr wrap="none" rtlCol="0">
            <a:spAutoFit/>
          </a:bodyPr>
          <a:lstStyle/>
          <a:p>
            <a:pPr fontAlgn="auto">
              <a:spcBef>
                <a:spcPts val="0"/>
              </a:spcBef>
              <a:spcAft>
                <a:spcPts val="0"/>
              </a:spcAft>
            </a:pPr>
            <a:r>
              <a:rPr lang="zh-CN" altLang="en-US" sz="180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二层网络</a:t>
            </a:r>
            <a:endParaRPr lang="en-US" altLang="zh-CN" sz="180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spcBef>
                <a:spcPts val="0"/>
              </a:spcBef>
              <a:spcAft>
                <a:spcPts val="0"/>
              </a:spcAft>
            </a:pPr>
            <a:r>
              <a:rPr lang="en-US" altLang="zh-CN"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8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工作在这里</a:t>
            </a:r>
          </a:p>
        </p:txBody>
      </p:sp>
      <p:pic>
        <p:nvPicPr>
          <p:cNvPr id="59"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25265" y="2369030"/>
            <a:ext cx="490909" cy="401653"/>
          </a:xfrm>
          <a:prstGeom prst="rect">
            <a:avLst/>
          </a:prstGeom>
        </p:spPr>
      </p:pic>
      <p:pic>
        <p:nvPicPr>
          <p:cNvPr id="6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29550" y="2369030"/>
            <a:ext cx="490909" cy="401653"/>
          </a:xfrm>
          <a:prstGeom prst="rect">
            <a:avLst/>
          </a:prstGeom>
        </p:spPr>
      </p:pic>
      <p:pic>
        <p:nvPicPr>
          <p:cNvPr id="61" name="图片 86" descr="核心交换机.png"/>
          <p:cNvPicPr>
            <a:picLocks noChangeAspect="1"/>
          </p:cNvPicPr>
          <p:nvPr/>
        </p:nvPicPr>
        <p:blipFill>
          <a:blip r:embed="rId4" cstate="print"/>
          <a:stretch>
            <a:fillRect/>
          </a:stretch>
        </p:blipFill>
        <p:spPr>
          <a:xfrm>
            <a:off x="5925265" y="3209181"/>
            <a:ext cx="490909" cy="401653"/>
          </a:xfrm>
          <a:prstGeom prst="rect">
            <a:avLst/>
          </a:prstGeom>
        </p:spPr>
      </p:pic>
      <p:pic>
        <p:nvPicPr>
          <p:cNvPr id="62" name="图片 86" descr="核心交换机.png"/>
          <p:cNvPicPr>
            <a:picLocks noChangeAspect="1"/>
          </p:cNvPicPr>
          <p:nvPr/>
        </p:nvPicPr>
        <p:blipFill>
          <a:blip r:embed="rId4" cstate="print"/>
          <a:stretch>
            <a:fillRect/>
          </a:stretch>
        </p:blipFill>
        <p:spPr>
          <a:xfrm>
            <a:off x="7429550" y="3209181"/>
            <a:ext cx="490909" cy="401653"/>
          </a:xfrm>
          <a:prstGeom prst="rect">
            <a:avLst/>
          </a:prstGeom>
        </p:spPr>
      </p:pic>
      <p:pic>
        <p:nvPicPr>
          <p:cNvPr id="63" name="图片 87" descr="汇聚交换机.png"/>
          <p:cNvPicPr>
            <a:picLocks noChangeAspect="1"/>
          </p:cNvPicPr>
          <p:nvPr/>
        </p:nvPicPr>
        <p:blipFill>
          <a:blip r:embed="rId5" cstate="print"/>
          <a:stretch>
            <a:fillRect/>
          </a:stretch>
        </p:blipFill>
        <p:spPr>
          <a:xfrm>
            <a:off x="3595845" y="4321537"/>
            <a:ext cx="490909" cy="401653"/>
          </a:xfrm>
          <a:prstGeom prst="rect">
            <a:avLst/>
          </a:prstGeom>
        </p:spPr>
      </p:pic>
      <p:pic>
        <p:nvPicPr>
          <p:cNvPr id="64" name="图片 87" descr="汇聚交换机.png"/>
          <p:cNvPicPr>
            <a:picLocks noChangeAspect="1"/>
          </p:cNvPicPr>
          <p:nvPr/>
        </p:nvPicPr>
        <p:blipFill>
          <a:blip r:embed="rId5" cstate="print"/>
          <a:stretch>
            <a:fillRect/>
          </a:stretch>
        </p:blipFill>
        <p:spPr>
          <a:xfrm>
            <a:off x="5098814" y="4321537"/>
            <a:ext cx="490909" cy="401653"/>
          </a:xfrm>
          <a:prstGeom prst="rect">
            <a:avLst/>
          </a:prstGeom>
        </p:spPr>
      </p:pic>
      <p:pic>
        <p:nvPicPr>
          <p:cNvPr id="65" name="图片 76" descr="接入交换机.png"/>
          <p:cNvPicPr>
            <a:picLocks noChangeAspect="1"/>
          </p:cNvPicPr>
          <p:nvPr/>
        </p:nvPicPr>
        <p:blipFill>
          <a:blip r:embed="rId6" cstate="print"/>
          <a:stretch>
            <a:fillRect/>
          </a:stretch>
        </p:blipFill>
        <p:spPr>
          <a:xfrm>
            <a:off x="3595845" y="5478179"/>
            <a:ext cx="490909" cy="401653"/>
          </a:xfrm>
          <a:prstGeom prst="rect">
            <a:avLst/>
          </a:prstGeom>
        </p:spPr>
      </p:pic>
      <p:pic>
        <p:nvPicPr>
          <p:cNvPr id="66" name="图片 76" descr="接入交换机.png"/>
          <p:cNvPicPr>
            <a:picLocks noChangeAspect="1"/>
          </p:cNvPicPr>
          <p:nvPr/>
        </p:nvPicPr>
        <p:blipFill>
          <a:blip r:embed="rId6" cstate="print"/>
          <a:stretch>
            <a:fillRect/>
          </a:stretch>
        </p:blipFill>
        <p:spPr>
          <a:xfrm>
            <a:off x="5098814" y="5478179"/>
            <a:ext cx="490909" cy="401653"/>
          </a:xfrm>
          <a:prstGeom prst="rect">
            <a:avLst/>
          </a:prstGeom>
        </p:spPr>
      </p:pic>
      <p:pic>
        <p:nvPicPr>
          <p:cNvPr id="67" name="图片 87" descr="汇聚交换机.png"/>
          <p:cNvPicPr>
            <a:picLocks noChangeAspect="1"/>
          </p:cNvPicPr>
          <p:nvPr/>
        </p:nvPicPr>
        <p:blipFill>
          <a:blip r:embed="rId5" cstate="print"/>
          <a:stretch>
            <a:fillRect/>
          </a:stretch>
        </p:blipFill>
        <p:spPr>
          <a:xfrm>
            <a:off x="5925265" y="4321537"/>
            <a:ext cx="490909" cy="401653"/>
          </a:xfrm>
          <a:prstGeom prst="rect">
            <a:avLst/>
          </a:prstGeom>
        </p:spPr>
      </p:pic>
      <p:pic>
        <p:nvPicPr>
          <p:cNvPr id="68" name="图片 87" descr="汇聚交换机.png"/>
          <p:cNvPicPr>
            <a:picLocks noChangeAspect="1"/>
          </p:cNvPicPr>
          <p:nvPr/>
        </p:nvPicPr>
        <p:blipFill>
          <a:blip r:embed="rId5" cstate="print"/>
          <a:stretch>
            <a:fillRect/>
          </a:stretch>
        </p:blipFill>
        <p:spPr>
          <a:xfrm>
            <a:off x="7429550" y="4321537"/>
            <a:ext cx="490909" cy="401653"/>
          </a:xfrm>
          <a:prstGeom prst="rect">
            <a:avLst/>
          </a:prstGeom>
        </p:spPr>
      </p:pic>
      <p:pic>
        <p:nvPicPr>
          <p:cNvPr id="69" name="图片 76" descr="接入交换机.png"/>
          <p:cNvPicPr>
            <a:picLocks noChangeAspect="1"/>
          </p:cNvPicPr>
          <p:nvPr/>
        </p:nvPicPr>
        <p:blipFill>
          <a:blip r:embed="rId6" cstate="print"/>
          <a:stretch>
            <a:fillRect/>
          </a:stretch>
        </p:blipFill>
        <p:spPr>
          <a:xfrm>
            <a:off x="5925265" y="5478179"/>
            <a:ext cx="490909" cy="401653"/>
          </a:xfrm>
          <a:prstGeom prst="rect">
            <a:avLst/>
          </a:prstGeom>
        </p:spPr>
      </p:pic>
      <p:pic>
        <p:nvPicPr>
          <p:cNvPr id="70" name="图片 76" descr="接入交换机.png"/>
          <p:cNvPicPr>
            <a:picLocks noChangeAspect="1"/>
          </p:cNvPicPr>
          <p:nvPr/>
        </p:nvPicPr>
        <p:blipFill>
          <a:blip r:embed="rId6" cstate="print"/>
          <a:stretch>
            <a:fillRect/>
          </a:stretch>
        </p:blipFill>
        <p:spPr>
          <a:xfrm>
            <a:off x="7429550" y="5478179"/>
            <a:ext cx="490909" cy="401653"/>
          </a:xfrm>
          <a:prstGeom prst="rect">
            <a:avLst/>
          </a:prstGeom>
        </p:spPr>
      </p:pic>
      <p:pic>
        <p:nvPicPr>
          <p:cNvPr id="71" name="图片 87" descr="汇聚交换机.png"/>
          <p:cNvPicPr>
            <a:picLocks noChangeAspect="1"/>
          </p:cNvPicPr>
          <p:nvPr/>
        </p:nvPicPr>
        <p:blipFill>
          <a:blip r:embed="rId5" cstate="print"/>
          <a:stretch>
            <a:fillRect/>
          </a:stretch>
        </p:blipFill>
        <p:spPr>
          <a:xfrm>
            <a:off x="8236519" y="4321537"/>
            <a:ext cx="490909" cy="401653"/>
          </a:xfrm>
          <a:prstGeom prst="rect">
            <a:avLst/>
          </a:prstGeom>
        </p:spPr>
      </p:pic>
      <p:pic>
        <p:nvPicPr>
          <p:cNvPr id="72" name="图片 87" descr="汇聚交换机.png"/>
          <p:cNvPicPr>
            <a:picLocks noChangeAspect="1"/>
          </p:cNvPicPr>
          <p:nvPr/>
        </p:nvPicPr>
        <p:blipFill>
          <a:blip r:embed="rId5" cstate="print"/>
          <a:stretch>
            <a:fillRect/>
          </a:stretch>
        </p:blipFill>
        <p:spPr>
          <a:xfrm>
            <a:off x="9739488" y="4321537"/>
            <a:ext cx="490909" cy="401653"/>
          </a:xfrm>
          <a:prstGeom prst="rect">
            <a:avLst/>
          </a:prstGeom>
        </p:spPr>
      </p:pic>
      <p:pic>
        <p:nvPicPr>
          <p:cNvPr id="73" name="图片 76" descr="接入交换机.png"/>
          <p:cNvPicPr>
            <a:picLocks noChangeAspect="1"/>
          </p:cNvPicPr>
          <p:nvPr/>
        </p:nvPicPr>
        <p:blipFill>
          <a:blip r:embed="rId6" cstate="print"/>
          <a:stretch>
            <a:fillRect/>
          </a:stretch>
        </p:blipFill>
        <p:spPr>
          <a:xfrm>
            <a:off x="8236519" y="5478179"/>
            <a:ext cx="490909" cy="401653"/>
          </a:xfrm>
          <a:prstGeom prst="rect">
            <a:avLst/>
          </a:prstGeom>
        </p:spPr>
      </p:pic>
      <p:pic>
        <p:nvPicPr>
          <p:cNvPr id="74" name="图片 76" descr="接入交换机.png"/>
          <p:cNvPicPr>
            <a:picLocks noChangeAspect="1"/>
          </p:cNvPicPr>
          <p:nvPr/>
        </p:nvPicPr>
        <p:blipFill>
          <a:blip r:embed="rId6" cstate="print"/>
          <a:stretch>
            <a:fillRect/>
          </a:stretch>
        </p:blipFill>
        <p:spPr>
          <a:xfrm>
            <a:off x="9739488" y="5478179"/>
            <a:ext cx="490909" cy="401653"/>
          </a:xfrm>
          <a:prstGeom prst="rect">
            <a:avLst/>
          </a:prstGeom>
        </p:spPr>
      </p:pic>
      <p:pic>
        <p:nvPicPr>
          <p:cNvPr id="75" name="图片 7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17746" y="1458393"/>
            <a:ext cx="1273731" cy="731450"/>
          </a:xfrm>
          <a:prstGeom prst="rect">
            <a:avLst/>
          </a:prstGeom>
        </p:spPr>
      </p:pic>
      <p:sp>
        <p:nvSpPr>
          <p:cNvPr id="51" name="矩形 50"/>
          <p:cNvSpPr/>
          <p:nvPr/>
        </p:nvSpPr>
        <p:spPr bwMode="gray">
          <a:xfrm>
            <a:off x="6387976" y="1670524"/>
            <a:ext cx="933269" cy="323165"/>
          </a:xfrm>
          <a:prstGeom prst="rect">
            <a:avLst/>
          </a:prstGeom>
          <a:noFill/>
        </p:spPr>
        <p:txBody>
          <a:bodyPr wrap="none">
            <a:spAutoFit/>
          </a:bodyPr>
          <a:lstStyle/>
          <a:p>
            <a:pPr algn="ctr" defTabSz="814388" fontAlgn="auto">
              <a:spcBef>
                <a:spcPts val="0"/>
              </a:spcBef>
              <a:spcAft>
                <a:spcPts val="0"/>
              </a:spcAft>
              <a:buClr>
                <a:srgbClr val="4F81BD"/>
              </a:buClr>
              <a:buSzPct val="100000"/>
            </a:pPr>
            <a:r>
              <a:rPr lang="en-US" altLang="zh-CN" sz="1500" b="1" kern="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Internet</a:t>
            </a:r>
            <a:endParaRPr lang="zh-CN" altLang="en-US" sz="1500" b="1" kern="0" dirty="0">
              <a:solidFill>
                <a:schemeClr val="bg1"/>
              </a:solidFill>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936876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快速生成树协议概述</a:t>
            </a:r>
          </a:p>
          <a:p>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对</a:t>
            </a:r>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的改进</a:t>
            </a:r>
            <a:endParaRPr lang="en-US" altLang="zh-CN"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的工作过程</a:t>
            </a: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的基本配置</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81645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：端口角色</a:t>
            </a:r>
          </a:p>
        </p:txBody>
      </p:sp>
      <p:sp>
        <p:nvSpPr>
          <p:cNvPr id="4" name="文本占位符 3"/>
          <p:cNvSpPr>
            <a:spLocks noGrp="1"/>
          </p:cNvSpPr>
          <p:nvPr>
            <p:ph type="body" sz="quarter" idx="10"/>
          </p:nvPr>
        </p:nvSpPr>
        <p:spPr>
          <a:xfrm>
            <a:off x="468317" y="1233488"/>
            <a:ext cx="11276183" cy="580798"/>
          </a:xfrm>
        </p:spPr>
        <p:txBody>
          <a:bodyPr/>
          <a:lstStyle/>
          <a:p>
            <a:pPr marL="0" indent="0">
              <a:buNone/>
            </a:pP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通过端口角色的增补，简化了生成树协议的理解与部署。</a:t>
            </a:r>
          </a:p>
        </p:txBody>
      </p:sp>
      <p:grpSp>
        <p:nvGrpSpPr>
          <p:cNvPr id="2" name="组合 1"/>
          <p:cNvGrpSpPr/>
          <p:nvPr/>
        </p:nvGrpSpPr>
        <p:grpSpPr>
          <a:xfrm>
            <a:off x="4860514" y="2286053"/>
            <a:ext cx="1036369" cy="863766"/>
            <a:chOff x="4912030" y="2414843"/>
            <a:chExt cx="1036369" cy="863766"/>
          </a:xfrm>
        </p:grpSpPr>
        <p:sp>
          <p:nvSpPr>
            <p:cNvPr id="24" name="椭圆 23"/>
            <p:cNvSpPr>
              <a:spLocks noChangeAspect="1"/>
            </p:cNvSpPr>
            <p:nvPr/>
          </p:nvSpPr>
          <p:spPr>
            <a:xfrm>
              <a:off x="4912030" y="2467239"/>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a:xfrm>
              <a:off x="5034943" y="2414843"/>
              <a:ext cx="7926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椭圆 25"/>
            <p:cNvSpPr>
              <a:spLocks noChangeAspect="1"/>
            </p:cNvSpPr>
            <p:nvPr/>
          </p:nvSpPr>
          <p:spPr>
            <a:xfrm>
              <a:off x="4912030" y="2760622"/>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a:xfrm>
              <a:off x="5034943" y="2708226"/>
              <a:ext cx="9134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椭圆 27"/>
            <p:cNvSpPr>
              <a:spLocks noChangeAspect="1"/>
            </p:cNvSpPr>
            <p:nvPr/>
          </p:nvSpPr>
          <p:spPr>
            <a:xfrm>
              <a:off x="4912030" y="3054006"/>
              <a:ext cx="180000" cy="180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a:xfrm>
              <a:off x="5034943" y="3001610"/>
              <a:ext cx="913456" cy="276999"/>
            </a:xfrm>
            <a:prstGeom prst="rect">
              <a:avLst/>
            </a:prstGeom>
            <a:noFill/>
          </p:spPr>
          <p:txBody>
            <a:bodyPr wrap="square" rtlCol="0">
              <a:spAutoFit/>
            </a:bodyPr>
            <a:lstStyle/>
            <a:p>
              <a:pPr fontAlgn="auto">
                <a:spcBef>
                  <a:spcPts val="0"/>
                </a:spcBef>
                <a:spcAft>
                  <a:spcPts val="0"/>
                </a:spcAft>
              </a:pPr>
              <a:r>
                <a:rPr lang="zh-CN" altLang="en-US"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替代端口</a:t>
              </a:r>
            </a:p>
          </p:txBody>
        </p:sp>
      </p:grpSp>
      <p:grpSp>
        <p:nvGrpSpPr>
          <p:cNvPr id="53" name="组合 52"/>
          <p:cNvGrpSpPr/>
          <p:nvPr/>
        </p:nvGrpSpPr>
        <p:grpSpPr>
          <a:xfrm>
            <a:off x="1071879" y="2398794"/>
            <a:ext cx="4395346" cy="2501956"/>
            <a:chOff x="1445277" y="2105850"/>
            <a:chExt cx="4395346" cy="2501956"/>
          </a:xfrm>
        </p:grpSpPr>
        <p:cxnSp>
          <p:nvCxnSpPr>
            <p:cNvPr id="6" name="直接连接符 5"/>
            <p:cNvCxnSpPr>
              <a:stCxn id="15" idx="2"/>
            </p:cNvCxnSpPr>
            <p:nvPr/>
          </p:nvCxnSpPr>
          <p:spPr>
            <a:xfrm>
              <a:off x="5009735" y="4139293"/>
              <a:ext cx="1" cy="4685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a:stCxn id="14" idx="2"/>
            </p:cNvCxnSpPr>
            <p:nvPr/>
          </p:nvCxnSpPr>
          <p:spPr>
            <a:xfrm>
              <a:off x="2273431" y="4139293"/>
              <a:ext cx="0" cy="4685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165"/>
            <p:cNvGrpSpPr/>
            <p:nvPr/>
          </p:nvGrpSpPr>
          <p:grpSpPr>
            <a:xfrm rot="10800000">
              <a:off x="2273430" y="2634534"/>
              <a:ext cx="2736306" cy="1062940"/>
              <a:chOff x="-1221190" y="1029588"/>
              <a:chExt cx="1550129" cy="613066"/>
            </a:xfrm>
          </p:grpSpPr>
          <p:cxnSp>
            <p:nvCxnSpPr>
              <p:cNvPr id="9" name="Straight Connector 166"/>
              <p:cNvCxnSpPr>
                <a:stCxn id="13" idx="3"/>
                <a:endCxn id="15" idx="0"/>
              </p:cNvCxnSpPr>
              <p:nvPr/>
            </p:nvCxnSpPr>
            <p:spPr>
              <a:xfrm rot="10800000">
                <a:off x="-1221190" y="1029588"/>
                <a:ext cx="622108" cy="613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167"/>
              <p:cNvCxnSpPr>
                <a:stCxn id="13" idx="1"/>
                <a:endCxn id="14" idx="0"/>
              </p:cNvCxnSpPr>
              <p:nvPr/>
            </p:nvCxnSpPr>
            <p:spPr>
              <a:xfrm rot="10800000" flipH="1">
                <a:off x="-293169" y="1029588"/>
                <a:ext cx="622108" cy="61306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12" name="直接连接符 11"/>
            <p:cNvCxnSpPr/>
            <p:nvPr/>
          </p:nvCxnSpPr>
          <p:spPr>
            <a:xfrm flipH="1">
              <a:off x="1850369" y="4607806"/>
              <a:ext cx="36760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图片 76" descr="接入交换机.png"/>
            <p:cNvPicPr>
              <a:picLocks noChangeAspect="1"/>
            </p:cNvPicPr>
            <p:nvPr/>
          </p:nvPicPr>
          <p:blipFill>
            <a:blip r:embed="rId3" cstate="print"/>
            <a:stretch>
              <a:fillRect/>
            </a:stretch>
          </p:blipFill>
          <p:spPr>
            <a:xfrm>
              <a:off x="3371583" y="2413627"/>
              <a:ext cx="540000" cy="441818"/>
            </a:xfrm>
            <a:prstGeom prst="rect">
              <a:avLst/>
            </a:prstGeom>
          </p:spPr>
        </p:pic>
        <p:pic>
          <p:nvPicPr>
            <p:cNvPr id="14" name="图片 76" descr="接入交换机.png"/>
            <p:cNvPicPr>
              <a:picLocks noChangeAspect="1"/>
            </p:cNvPicPr>
            <p:nvPr/>
          </p:nvPicPr>
          <p:blipFill>
            <a:blip r:embed="rId3" cstate="print"/>
            <a:stretch>
              <a:fillRect/>
            </a:stretch>
          </p:blipFill>
          <p:spPr>
            <a:xfrm>
              <a:off x="2003431" y="3697475"/>
              <a:ext cx="540000" cy="441818"/>
            </a:xfrm>
            <a:prstGeom prst="rect">
              <a:avLst/>
            </a:prstGeom>
          </p:spPr>
        </p:pic>
        <p:pic>
          <p:nvPicPr>
            <p:cNvPr id="15" name="图片 76" descr="接入交换机.png"/>
            <p:cNvPicPr>
              <a:picLocks noChangeAspect="1"/>
            </p:cNvPicPr>
            <p:nvPr/>
          </p:nvPicPr>
          <p:blipFill>
            <a:blip r:embed="rId3" cstate="print"/>
            <a:stretch>
              <a:fillRect/>
            </a:stretch>
          </p:blipFill>
          <p:spPr>
            <a:xfrm>
              <a:off x="4739735" y="3697475"/>
              <a:ext cx="540000" cy="441818"/>
            </a:xfrm>
            <a:prstGeom prst="rect">
              <a:avLst/>
            </a:prstGeom>
          </p:spPr>
        </p:pic>
        <p:sp>
          <p:nvSpPr>
            <p:cNvPr id="16" name="文本框 15"/>
            <p:cNvSpPr txBox="1"/>
            <p:nvPr/>
          </p:nvSpPr>
          <p:spPr>
            <a:xfrm>
              <a:off x="3088212" y="2105850"/>
              <a:ext cx="1135247"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a:xfrm>
              <a:off x="1445277" y="3760569"/>
              <a:ext cx="562975"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a:xfrm>
              <a:off x="5276045" y="3764643"/>
              <a:ext cx="564578"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18"/>
            <p:cNvSpPr>
              <a:spLocks noChangeAspect="1"/>
            </p:cNvSpPr>
            <p:nvPr/>
          </p:nvSpPr>
          <p:spPr>
            <a:xfrm>
              <a:off x="3255210" y="256479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椭圆 19"/>
            <p:cNvSpPr>
              <a:spLocks noChangeAspect="1"/>
            </p:cNvSpPr>
            <p:nvPr/>
          </p:nvSpPr>
          <p:spPr>
            <a:xfrm>
              <a:off x="3811074" y="256479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椭圆 20"/>
            <p:cNvSpPr>
              <a:spLocks noChangeAspect="1"/>
            </p:cNvSpPr>
            <p:nvPr/>
          </p:nvSpPr>
          <p:spPr>
            <a:xfrm>
              <a:off x="2177408" y="358914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椭圆 21"/>
            <p:cNvSpPr>
              <a:spLocks noChangeAspect="1"/>
            </p:cNvSpPr>
            <p:nvPr/>
          </p:nvSpPr>
          <p:spPr>
            <a:xfrm>
              <a:off x="4876016" y="358827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椭圆 31"/>
            <p:cNvSpPr>
              <a:spLocks noChangeAspect="1"/>
            </p:cNvSpPr>
            <p:nvPr/>
          </p:nvSpPr>
          <p:spPr>
            <a:xfrm>
              <a:off x="4876016" y="401514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p:cNvSpPr>
              <a:spLocks noChangeAspect="1"/>
            </p:cNvSpPr>
            <p:nvPr/>
          </p:nvSpPr>
          <p:spPr>
            <a:xfrm>
              <a:off x="2178781" y="401514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3" name="组合 82"/>
          <p:cNvGrpSpPr/>
          <p:nvPr/>
        </p:nvGrpSpPr>
        <p:grpSpPr>
          <a:xfrm>
            <a:off x="6689149" y="2396745"/>
            <a:ext cx="4395346" cy="2501956"/>
            <a:chOff x="6193651" y="2105850"/>
            <a:chExt cx="4395346" cy="2501956"/>
          </a:xfrm>
        </p:grpSpPr>
        <p:cxnSp>
          <p:nvCxnSpPr>
            <p:cNvPr id="63" name="直接连接符 62"/>
            <p:cNvCxnSpPr/>
            <p:nvPr/>
          </p:nvCxnSpPr>
          <p:spPr>
            <a:xfrm>
              <a:off x="6841499" y="4139293"/>
              <a:ext cx="0" cy="4685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4" name="Group 165"/>
            <p:cNvGrpSpPr/>
            <p:nvPr/>
          </p:nvGrpSpPr>
          <p:grpSpPr>
            <a:xfrm rot="10800000">
              <a:off x="7021804" y="2634534"/>
              <a:ext cx="2736306" cy="1062940"/>
              <a:chOff x="-1221190" y="1029588"/>
              <a:chExt cx="1550129" cy="613066"/>
            </a:xfrm>
          </p:grpSpPr>
          <p:cxnSp>
            <p:nvCxnSpPr>
              <p:cNvPr id="78" name="Straight Connector 166"/>
              <p:cNvCxnSpPr>
                <a:stCxn id="66" idx="3"/>
                <a:endCxn id="68" idx="0"/>
              </p:cNvCxnSpPr>
              <p:nvPr/>
            </p:nvCxnSpPr>
            <p:spPr>
              <a:xfrm rot="10800000">
                <a:off x="-1221190" y="1029588"/>
                <a:ext cx="622108" cy="613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167"/>
              <p:cNvCxnSpPr>
                <a:stCxn id="66" idx="1"/>
                <a:endCxn id="67" idx="0"/>
              </p:cNvCxnSpPr>
              <p:nvPr/>
            </p:nvCxnSpPr>
            <p:spPr>
              <a:xfrm rot="10800000" flipH="1">
                <a:off x="-293169" y="1029588"/>
                <a:ext cx="622108" cy="61306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65" name="直接连接符 64"/>
            <p:cNvCxnSpPr/>
            <p:nvPr/>
          </p:nvCxnSpPr>
          <p:spPr>
            <a:xfrm flipH="1">
              <a:off x="6570167" y="4607806"/>
              <a:ext cx="9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66" name="图片 76" descr="接入交换机.png"/>
            <p:cNvPicPr>
              <a:picLocks noChangeAspect="1"/>
            </p:cNvPicPr>
            <p:nvPr/>
          </p:nvPicPr>
          <p:blipFill>
            <a:blip r:embed="rId3" cstate="print"/>
            <a:stretch>
              <a:fillRect/>
            </a:stretch>
          </p:blipFill>
          <p:spPr>
            <a:xfrm>
              <a:off x="8119957" y="2413627"/>
              <a:ext cx="540000" cy="441818"/>
            </a:xfrm>
            <a:prstGeom prst="rect">
              <a:avLst/>
            </a:prstGeom>
          </p:spPr>
        </p:pic>
        <p:pic>
          <p:nvPicPr>
            <p:cNvPr id="67" name="图片 76" descr="接入交换机.png"/>
            <p:cNvPicPr>
              <a:picLocks noChangeAspect="1"/>
            </p:cNvPicPr>
            <p:nvPr/>
          </p:nvPicPr>
          <p:blipFill>
            <a:blip r:embed="rId3" cstate="print"/>
            <a:stretch>
              <a:fillRect/>
            </a:stretch>
          </p:blipFill>
          <p:spPr>
            <a:xfrm>
              <a:off x="6751805" y="3697475"/>
              <a:ext cx="540000" cy="441818"/>
            </a:xfrm>
            <a:prstGeom prst="rect">
              <a:avLst/>
            </a:prstGeom>
          </p:spPr>
        </p:pic>
        <p:pic>
          <p:nvPicPr>
            <p:cNvPr id="68" name="图片 76" descr="接入交换机.png"/>
            <p:cNvPicPr>
              <a:picLocks noChangeAspect="1"/>
            </p:cNvPicPr>
            <p:nvPr/>
          </p:nvPicPr>
          <p:blipFill>
            <a:blip r:embed="rId3" cstate="print"/>
            <a:stretch>
              <a:fillRect/>
            </a:stretch>
          </p:blipFill>
          <p:spPr>
            <a:xfrm>
              <a:off x="9488109" y="3697475"/>
              <a:ext cx="540000" cy="441818"/>
            </a:xfrm>
            <a:prstGeom prst="rect">
              <a:avLst/>
            </a:prstGeom>
          </p:spPr>
        </p:pic>
        <p:sp>
          <p:nvSpPr>
            <p:cNvPr id="69" name="文本框 68"/>
            <p:cNvSpPr txBox="1"/>
            <p:nvPr/>
          </p:nvSpPr>
          <p:spPr>
            <a:xfrm>
              <a:off x="7836586" y="2105850"/>
              <a:ext cx="1135247"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a:xfrm>
              <a:off x="6193651" y="3760569"/>
              <a:ext cx="562975"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a:xfrm>
              <a:off x="10024419" y="3764643"/>
              <a:ext cx="564578"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椭圆 71"/>
            <p:cNvSpPr>
              <a:spLocks noChangeAspect="1"/>
            </p:cNvSpPr>
            <p:nvPr/>
          </p:nvSpPr>
          <p:spPr>
            <a:xfrm>
              <a:off x="8003584" y="256479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椭圆 72"/>
            <p:cNvSpPr>
              <a:spLocks noChangeAspect="1"/>
            </p:cNvSpPr>
            <p:nvPr/>
          </p:nvSpPr>
          <p:spPr>
            <a:xfrm>
              <a:off x="8559448" y="256479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椭圆 73"/>
            <p:cNvSpPr>
              <a:spLocks noChangeAspect="1"/>
            </p:cNvSpPr>
            <p:nvPr/>
          </p:nvSpPr>
          <p:spPr>
            <a:xfrm>
              <a:off x="6925782" y="358914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椭圆 74"/>
            <p:cNvSpPr>
              <a:spLocks noChangeAspect="1"/>
            </p:cNvSpPr>
            <p:nvPr/>
          </p:nvSpPr>
          <p:spPr>
            <a:xfrm>
              <a:off x="9624390" y="358827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p:cNvSpPr>
              <a:spLocks noChangeAspect="1"/>
            </p:cNvSpPr>
            <p:nvPr/>
          </p:nvSpPr>
          <p:spPr>
            <a:xfrm>
              <a:off x="6746849" y="401514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0" name="直接连接符 79"/>
            <p:cNvCxnSpPr/>
            <p:nvPr/>
          </p:nvCxnSpPr>
          <p:spPr>
            <a:xfrm>
              <a:off x="7149142" y="4139293"/>
              <a:ext cx="0" cy="4685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椭圆 81"/>
            <p:cNvSpPr>
              <a:spLocks noChangeAspect="1"/>
            </p:cNvSpPr>
            <p:nvPr/>
          </p:nvSpPr>
          <p:spPr>
            <a:xfrm>
              <a:off x="7039444" y="4012746"/>
              <a:ext cx="232480" cy="232480"/>
            </a:xfrm>
            <a:prstGeom prst="ellipse">
              <a:avLst/>
            </a:prstGeom>
            <a:solidFill>
              <a:srgbClr val="FF99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4" name="圆角矩形 75"/>
          <p:cNvSpPr/>
          <p:nvPr/>
        </p:nvSpPr>
        <p:spPr>
          <a:xfrm>
            <a:off x="832962" y="1781525"/>
            <a:ext cx="5040415"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替代端口 </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(Alternate)</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75"/>
          <p:cNvSpPr/>
          <p:nvPr/>
        </p:nvSpPr>
        <p:spPr>
          <a:xfrm>
            <a:off x="832962" y="2213031"/>
            <a:ext cx="5040415" cy="404235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lnSpc>
                <a:spcPts val="2600"/>
              </a:lnSpc>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75"/>
          <p:cNvSpPr/>
          <p:nvPr/>
        </p:nvSpPr>
        <p:spPr>
          <a:xfrm>
            <a:off x="832961" y="5062639"/>
            <a:ext cx="5040415" cy="1180127"/>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ctr" anchorCtr="0">
            <a:noAutofit/>
          </a:bodyPr>
          <a:lstStyle/>
          <a:p>
            <a:pPr algn="just">
              <a:lnSpc>
                <a:spcPts val="2600"/>
              </a:lnSpc>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端口就是由于学习到其它网桥发送的配置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报文而阻塞的端口，它提供了从指定桥到根的另一条可切换路径，作为根端口的备份端口。</a:t>
            </a:r>
          </a:p>
        </p:txBody>
      </p:sp>
      <p:sp>
        <p:nvSpPr>
          <p:cNvPr id="57" name="圆角矩形 75"/>
          <p:cNvSpPr/>
          <p:nvPr/>
        </p:nvSpPr>
        <p:spPr>
          <a:xfrm>
            <a:off x="6337765" y="1781525"/>
            <a:ext cx="5040415"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备份端口 </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(Backup)</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75"/>
          <p:cNvSpPr/>
          <p:nvPr/>
        </p:nvSpPr>
        <p:spPr>
          <a:xfrm>
            <a:off x="6337765" y="2213031"/>
            <a:ext cx="5040415" cy="404235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lnSpc>
                <a:spcPts val="2600"/>
              </a:lnSpc>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圆角矩形 75"/>
          <p:cNvSpPr/>
          <p:nvPr/>
        </p:nvSpPr>
        <p:spPr>
          <a:xfrm>
            <a:off x="6337764" y="5062639"/>
            <a:ext cx="5040415" cy="1180127"/>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ctr" anchorCtr="0">
            <a:noAutofit/>
          </a:bodyPr>
          <a:lstStyle/>
          <a:p>
            <a:pPr algn="just">
              <a:lnSpc>
                <a:spcPts val="2600"/>
              </a:lnSpc>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Backup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端口就是由于学习到自己发送的配置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报文而阻塞的端口，它作为指定端口的备份，提供了另一条从根桥到相应网段的备份通路。</a:t>
            </a:r>
          </a:p>
        </p:txBody>
      </p:sp>
      <p:grpSp>
        <p:nvGrpSpPr>
          <p:cNvPr id="5" name="组合 4"/>
          <p:cNvGrpSpPr/>
          <p:nvPr/>
        </p:nvGrpSpPr>
        <p:grpSpPr>
          <a:xfrm>
            <a:off x="10376443" y="2284623"/>
            <a:ext cx="1051117" cy="863766"/>
            <a:chOff x="10470934" y="2414843"/>
            <a:chExt cx="1051117" cy="863766"/>
          </a:xfrm>
        </p:grpSpPr>
        <p:sp>
          <p:nvSpPr>
            <p:cNvPr id="81" name="椭圆 80"/>
            <p:cNvSpPr>
              <a:spLocks noChangeAspect="1"/>
            </p:cNvSpPr>
            <p:nvPr/>
          </p:nvSpPr>
          <p:spPr>
            <a:xfrm>
              <a:off x="10470934" y="2481987"/>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文本框 83"/>
            <p:cNvSpPr txBox="1"/>
            <p:nvPr/>
          </p:nvSpPr>
          <p:spPr>
            <a:xfrm>
              <a:off x="10608595" y="2414843"/>
              <a:ext cx="7926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椭圆 84"/>
            <p:cNvSpPr>
              <a:spLocks noChangeAspect="1"/>
            </p:cNvSpPr>
            <p:nvPr/>
          </p:nvSpPr>
          <p:spPr>
            <a:xfrm>
              <a:off x="10470934" y="2775370"/>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文本框 85"/>
            <p:cNvSpPr txBox="1"/>
            <p:nvPr/>
          </p:nvSpPr>
          <p:spPr>
            <a:xfrm>
              <a:off x="10608595" y="2708226"/>
              <a:ext cx="9134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椭圆 86"/>
            <p:cNvSpPr>
              <a:spLocks noChangeAspect="1"/>
            </p:cNvSpPr>
            <p:nvPr/>
          </p:nvSpPr>
          <p:spPr>
            <a:xfrm>
              <a:off x="10470934" y="3068754"/>
              <a:ext cx="180000" cy="180000"/>
            </a:xfrm>
            <a:prstGeom prst="ellipse">
              <a:avLst/>
            </a:prstGeom>
            <a:solidFill>
              <a:srgbClr val="FF99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p:cNvSpPr txBox="1"/>
            <p:nvPr/>
          </p:nvSpPr>
          <p:spPr>
            <a:xfrm>
              <a:off x="10608595" y="3001610"/>
              <a:ext cx="913456" cy="276999"/>
            </a:xfrm>
            <a:prstGeom prst="rect">
              <a:avLst/>
            </a:prstGeom>
            <a:noFill/>
          </p:spPr>
          <p:txBody>
            <a:bodyPr wrap="square" rtlCol="0">
              <a:spAutoFit/>
            </a:bodyPr>
            <a:lstStyle>
              <a:defPPr>
                <a:defRPr lang="en-US"/>
              </a:defPPr>
              <a:lvl1pPr fontAlgn="auto">
                <a:spcBef>
                  <a:spcPts val="0"/>
                </a:spcBef>
                <a:spcAft>
                  <a:spcPts val="0"/>
                </a:spcAft>
                <a:defRPr sz="1200" b="1">
                  <a:solidFill>
                    <a:srgbClr val="FF9900"/>
                  </a:solidFill>
                </a:defRPr>
              </a:lvl1p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备份端口</a:t>
              </a:r>
            </a:p>
          </p:txBody>
        </p:sp>
      </p:grpSp>
    </p:spTree>
    <p:extLst>
      <p:ext uri="{BB962C8B-B14F-4D97-AF65-F5344CB8AC3E}">
        <p14:creationId xmlns:p14="http://schemas.microsoft.com/office/powerpoint/2010/main" val="1471140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：快速收敛机制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75"/>
          <p:cNvSpPr/>
          <p:nvPr/>
        </p:nvSpPr>
        <p:spPr>
          <a:xfrm>
            <a:off x="878539" y="1437367"/>
            <a:ext cx="5107923"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根端口快速切换</a:t>
            </a:r>
          </a:p>
        </p:txBody>
      </p:sp>
      <p:sp>
        <p:nvSpPr>
          <p:cNvPr id="33" name="圆角矩形 75"/>
          <p:cNvSpPr/>
          <p:nvPr/>
        </p:nvSpPr>
        <p:spPr>
          <a:xfrm>
            <a:off x="878539" y="1868872"/>
            <a:ext cx="5107923" cy="43176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t" anchorCtr="0">
            <a:noAutofit/>
          </a:bodyPr>
          <a:lstStyle/>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a:lnSpc>
                <a:spcPts val="2600"/>
              </a:lnSpc>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如果网络中一个根端口失效，那么网络中最优的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端口将成为根端口，进入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状态。因为通过这个</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端口连接的网段上必然有个指定端口可以通往根桥。</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3" name="椭圆 202"/>
          <p:cNvSpPr>
            <a:spLocks noChangeAspect="1"/>
          </p:cNvSpPr>
          <p:nvPr/>
        </p:nvSpPr>
        <p:spPr>
          <a:xfrm>
            <a:off x="5260103" y="420859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4" name="组合 53"/>
          <p:cNvGrpSpPr/>
          <p:nvPr/>
        </p:nvGrpSpPr>
        <p:grpSpPr>
          <a:xfrm>
            <a:off x="1218157" y="2046103"/>
            <a:ext cx="4395346" cy="2501956"/>
            <a:chOff x="6193651" y="2105850"/>
            <a:chExt cx="4395346" cy="2501956"/>
          </a:xfrm>
        </p:grpSpPr>
        <p:cxnSp>
          <p:nvCxnSpPr>
            <p:cNvPr id="55" name="直接连接符 54"/>
            <p:cNvCxnSpPr>
              <a:stCxn id="61" idx="2"/>
            </p:cNvCxnSpPr>
            <p:nvPr/>
          </p:nvCxnSpPr>
          <p:spPr>
            <a:xfrm>
              <a:off x="9758109" y="4139293"/>
              <a:ext cx="1" cy="468513"/>
            </a:xfrm>
            <a:prstGeom prst="line">
              <a:avLst/>
            </a:prstGeom>
            <a:noFill/>
            <a:ln w="19050" cap="flat" cmpd="sng" algn="ctr">
              <a:solidFill>
                <a:srgbClr val="1D1D1A"/>
              </a:solidFill>
              <a:prstDash val="solid"/>
              <a:miter lim="800000"/>
              <a:headEnd type="none" w="med" len="med"/>
              <a:tailEnd type="none" w="med" len="med"/>
            </a:ln>
            <a:effectLst/>
          </p:spPr>
        </p:cxnSp>
        <p:cxnSp>
          <p:nvCxnSpPr>
            <p:cNvPr id="56" name="直接连接符 55"/>
            <p:cNvCxnSpPr/>
            <p:nvPr/>
          </p:nvCxnSpPr>
          <p:spPr>
            <a:xfrm>
              <a:off x="7027240" y="4139293"/>
              <a:ext cx="0" cy="4685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 name="Group 165"/>
            <p:cNvGrpSpPr/>
            <p:nvPr/>
          </p:nvGrpSpPr>
          <p:grpSpPr>
            <a:xfrm rot="10800000">
              <a:off x="7021804" y="2634534"/>
              <a:ext cx="2736306" cy="1062940"/>
              <a:chOff x="-1221190" y="1029588"/>
              <a:chExt cx="1550129" cy="613066"/>
            </a:xfrm>
          </p:grpSpPr>
          <p:cxnSp>
            <p:nvCxnSpPr>
              <p:cNvPr id="73" name="Straight Connector 166"/>
              <p:cNvCxnSpPr>
                <a:stCxn id="59" idx="3"/>
                <a:endCxn id="61" idx="0"/>
              </p:cNvCxnSpPr>
              <p:nvPr/>
            </p:nvCxnSpPr>
            <p:spPr>
              <a:xfrm rot="10800000">
                <a:off x="-1221190" y="1029588"/>
                <a:ext cx="622108" cy="613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167"/>
              <p:cNvCxnSpPr>
                <a:stCxn id="59" idx="1"/>
                <a:endCxn id="60" idx="0"/>
              </p:cNvCxnSpPr>
              <p:nvPr/>
            </p:nvCxnSpPr>
            <p:spPr>
              <a:xfrm rot="10800000" flipH="1">
                <a:off x="-293169" y="1029588"/>
                <a:ext cx="622108" cy="61306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58" name="直接连接符 57"/>
            <p:cNvCxnSpPr/>
            <p:nvPr/>
          </p:nvCxnSpPr>
          <p:spPr>
            <a:xfrm flipH="1">
              <a:off x="6598743" y="4607806"/>
              <a:ext cx="3676069"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9" name="图片 76" descr="接入交换机.png"/>
            <p:cNvPicPr>
              <a:picLocks noChangeAspect="1"/>
            </p:cNvPicPr>
            <p:nvPr/>
          </p:nvPicPr>
          <p:blipFill>
            <a:blip r:embed="rId3" cstate="print"/>
            <a:stretch>
              <a:fillRect/>
            </a:stretch>
          </p:blipFill>
          <p:spPr>
            <a:xfrm>
              <a:off x="8119957" y="2413627"/>
              <a:ext cx="540000" cy="441818"/>
            </a:xfrm>
            <a:prstGeom prst="rect">
              <a:avLst/>
            </a:prstGeom>
          </p:spPr>
        </p:pic>
        <p:pic>
          <p:nvPicPr>
            <p:cNvPr id="60" name="图片 76" descr="接入交换机.png"/>
            <p:cNvPicPr>
              <a:picLocks noChangeAspect="1"/>
            </p:cNvPicPr>
            <p:nvPr/>
          </p:nvPicPr>
          <p:blipFill>
            <a:blip r:embed="rId3" cstate="print"/>
            <a:stretch>
              <a:fillRect/>
            </a:stretch>
          </p:blipFill>
          <p:spPr>
            <a:xfrm>
              <a:off x="6751805" y="3697475"/>
              <a:ext cx="540000" cy="441818"/>
            </a:xfrm>
            <a:prstGeom prst="rect">
              <a:avLst/>
            </a:prstGeom>
          </p:spPr>
        </p:pic>
        <p:pic>
          <p:nvPicPr>
            <p:cNvPr id="61" name="图片 76" descr="接入交换机.png"/>
            <p:cNvPicPr>
              <a:picLocks noChangeAspect="1"/>
            </p:cNvPicPr>
            <p:nvPr/>
          </p:nvPicPr>
          <p:blipFill>
            <a:blip r:embed="rId3" cstate="print"/>
            <a:stretch>
              <a:fillRect/>
            </a:stretch>
          </p:blipFill>
          <p:spPr>
            <a:xfrm>
              <a:off x="9488109" y="3697475"/>
              <a:ext cx="540000" cy="441818"/>
            </a:xfrm>
            <a:prstGeom prst="rect">
              <a:avLst/>
            </a:prstGeom>
          </p:spPr>
        </p:pic>
        <p:sp>
          <p:nvSpPr>
            <p:cNvPr id="62" name="文本框 61"/>
            <p:cNvSpPr txBox="1"/>
            <p:nvPr/>
          </p:nvSpPr>
          <p:spPr>
            <a:xfrm>
              <a:off x="7836586" y="2105850"/>
              <a:ext cx="1135247"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a:xfrm>
              <a:off x="6193651" y="3760569"/>
              <a:ext cx="562975"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a:xfrm>
              <a:off x="10024419" y="3764643"/>
              <a:ext cx="564578"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椭圆 64"/>
            <p:cNvSpPr>
              <a:spLocks noChangeAspect="1"/>
            </p:cNvSpPr>
            <p:nvPr/>
          </p:nvSpPr>
          <p:spPr>
            <a:xfrm>
              <a:off x="8003584" y="256479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椭圆 65"/>
            <p:cNvSpPr>
              <a:spLocks noChangeAspect="1"/>
            </p:cNvSpPr>
            <p:nvPr/>
          </p:nvSpPr>
          <p:spPr>
            <a:xfrm>
              <a:off x="8559448" y="256479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椭圆 66"/>
            <p:cNvSpPr>
              <a:spLocks noChangeAspect="1"/>
            </p:cNvSpPr>
            <p:nvPr/>
          </p:nvSpPr>
          <p:spPr>
            <a:xfrm>
              <a:off x="6925782" y="358914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67"/>
            <p:cNvSpPr>
              <a:spLocks noChangeAspect="1"/>
            </p:cNvSpPr>
            <p:nvPr/>
          </p:nvSpPr>
          <p:spPr>
            <a:xfrm>
              <a:off x="9624390" y="358827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椭圆 68"/>
            <p:cNvSpPr>
              <a:spLocks noChangeAspect="1"/>
            </p:cNvSpPr>
            <p:nvPr/>
          </p:nvSpPr>
          <p:spPr>
            <a:xfrm>
              <a:off x="9644559" y="4015147"/>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椭圆 69"/>
            <p:cNvSpPr>
              <a:spLocks noChangeAspect="1"/>
            </p:cNvSpPr>
            <p:nvPr/>
          </p:nvSpPr>
          <p:spPr>
            <a:xfrm>
              <a:off x="6932590" y="401514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4" name="十字形 203"/>
          <p:cNvSpPr/>
          <p:nvPr/>
        </p:nvSpPr>
        <p:spPr bwMode="black">
          <a:xfrm rot="2785165">
            <a:off x="4655855" y="3531320"/>
            <a:ext cx="226314" cy="241697"/>
          </a:xfrm>
          <a:prstGeom prst="plus">
            <a:avLst>
              <a:gd name="adj" fmla="val 39697"/>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肘形连接符 4"/>
          <p:cNvCxnSpPr/>
          <p:nvPr/>
        </p:nvCxnSpPr>
        <p:spPr>
          <a:xfrm>
            <a:off x="4882823" y="4198912"/>
            <a:ext cx="295456" cy="125922"/>
          </a:xfrm>
          <a:prstGeom prst="bentConnector3">
            <a:avLst>
              <a:gd name="adj1" fmla="val 205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41" name="圆角矩形 75"/>
          <p:cNvSpPr/>
          <p:nvPr/>
        </p:nvSpPr>
        <p:spPr>
          <a:xfrm>
            <a:off x="6314015" y="1437367"/>
            <a:ext cx="5107923"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指定端口快速切换</a:t>
            </a:r>
          </a:p>
        </p:txBody>
      </p:sp>
      <p:sp>
        <p:nvSpPr>
          <p:cNvPr id="42" name="圆角矩形 75"/>
          <p:cNvSpPr/>
          <p:nvPr/>
        </p:nvSpPr>
        <p:spPr>
          <a:xfrm>
            <a:off x="6314015" y="1868872"/>
            <a:ext cx="5107923" cy="43176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36000" rIns="180000" bIns="36000" rtlCol="0" anchor="t" anchorCtr="0">
            <a:noAutofit/>
          </a:bodyPr>
          <a:lstStyle/>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a:lnSpc>
                <a:spcPts val="2600"/>
              </a:lnSpc>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如果网络中一指定端口失效，那么网络中最优的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Backup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端口将成为指定端口，进入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状态。因为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Backup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端口作为指定端口的备份，提供了另一条从根桥到相应网段的备份通路。</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3" name="组合 42"/>
          <p:cNvGrpSpPr/>
          <p:nvPr/>
        </p:nvGrpSpPr>
        <p:grpSpPr>
          <a:xfrm>
            <a:off x="6653633" y="2046103"/>
            <a:ext cx="4395346" cy="2501956"/>
            <a:chOff x="6193651" y="2105850"/>
            <a:chExt cx="4395346" cy="2501956"/>
          </a:xfrm>
        </p:grpSpPr>
        <p:cxnSp>
          <p:nvCxnSpPr>
            <p:cNvPr id="45" name="直接连接符 44"/>
            <p:cNvCxnSpPr/>
            <p:nvPr/>
          </p:nvCxnSpPr>
          <p:spPr>
            <a:xfrm>
              <a:off x="6841499" y="4139293"/>
              <a:ext cx="0" cy="4685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Group 165"/>
            <p:cNvGrpSpPr/>
            <p:nvPr/>
          </p:nvGrpSpPr>
          <p:grpSpPr>
            <a:xfrm rot="10800000">
              <a:off x="7021804" y="2634534"/>
              <a:ext cx="2736306" cy="1062940"/>
              <a:chOff x="-1221190" y="1029588"/>
              <a:chExt cx="1550129" cy="613066"/>
            </a:xfrm>
          </p:grpSpPr>
          <p:cxnSp>
            <p:nvCxnSpPr>
              <p:cNvPr id="95" name="Straight Connector 166"/>
              <p:cNvCxnSpPr>
                <a:stCxn id="48" idx="3"/>
                <a:endCxn id="50" idx="0"/>
              </p:cNvCxnSpPr>
              <p:nvPr/>
            </p:nvCxnSpPr>
            <p:spPr>
              <a:xfrm rot="10800000">
                <a:off x="-1221190" y="1029588"/>
                <a:ext cx="622108" cy="6130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167"/>
              <p:cNvCxnSpPr>
                <a:stCxn id="48" idx="1"/>
                <a:endCxn id="49" idx="0"/>
              </p:cNvCxnSpPr>
              <p:nvPr/>
            </p:nvCxnSpPr>
            <p:spPr>
              <a:xfrm rot="10800000" flipH="1">
                <a:off x="-293169" y="1029588"/>
                <a:ext cx="622108" cy="61306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cxnSp>
          <p:nvCxnSpPr>
            <p:cNvPr id="47" name="直接连接符 46"/>
            <p:cNvCxnSpPr/>
            <p:nvPr/>
          </p:nvCxnSpPr>
          <p:spPr>
            <a:xfrm flipH="1">
              <a:off x="6570167" y="4607806"/>
              <a:ext cx="90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8" name="图片 76" descr="接入交换机.png"/>
            <p:cNvPicPr>
              <a:picLocks noChangeAspect="1"/>
            </p:cNvPicPr>
            <p:nvPr/>
          </p:nvPicPr>
          <p:blipFill>
            <a:blip r:embed="rId3" cstate="print"/>
            <a:stretch>
              <a:fillRect/>
            </a:stretch>
          </p:blipFill>
          <p:spPr>
            <a:xfrm>
              <a:off x="8119957" y="2413627"/>
              <a:ext cx="540000" cy="441818"/>
            </a:xfrm>
            <a:prstGeom prst="rect">
              <a:avLst/>
            </a:prstGeom>
          </p:spPr>
        </p:pic>
        <p:pic>
          <p:nvPicPr>
            <p:cNvPr id="49" name="图片 76" descr="接入交换机.png"/>
            <p:cNvPicPr>
              <a:picLocks noChangeAspect="1"/>
            </p:cNvPicPr>
            <p:nvPr/>
          </p:nvPicPr>
          <p:blipFill>
            <a:blip r:embed="rId3" cstate="print"/>
            <a:stretch>
              <a:fillRect/>
            </a:stretch>
          </p:blipFill>
          <p:spPr>
            <a:xfrm>
              <a:off x="6751805" y="3697475"/>
              <a:ext cx="540000" cy="441818"/>
            </a:xfrm>
            <a:prstGeom prst="rect">
              <a:avLst/>
            </a:prstGeom>
          </p:spPr>
        </p:pic>
        <p:pic>
          <p:nvPicPr>
            <p:cNvPr id="50" name="图片 76" descr="接入交换机.png"/>
            <p:cNvPicPr>
              <a:picLocks noChangeAspect="1"/>
            </p:cNvPicPr>
            <p:nvPr/>
          </p:nvPicPr>
          <p:blipFill>
            <a:blip r:embed="rId3" cstate="print"/>
            <a:stretch>
              <a:fillRect/>
            </a:stretch>
          </p:blipFill>
          <p:spPr>
            <a:xfrm>
              <a:off x="9488109" y="3697475"/>
              <a:ext cx="540000" cy="441818"/>
            </a:xfrm>
            <a:prstGeom prst="rect">
              <a:avLst/>
            </a:prstGeom>
          </p:spPr>
        </p:pic>
        <p:sp>
          <p:nvSpPr>
            <p:cNvPr id="51" name="文本框 50"/>
            <p:cNvSpPr txBox="1"/>
            <p:nvPr/>
          </p:nvSpPr>
          <p:spPr>
            <a:xfrm>
              <a:off x="7836586" y="2105850"/>
              <a:ext cx="1135247"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 (</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a:xfrm>
              <a:off x="6193651" y="3760569"/>
              <a:ext cx="562975"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a:xfrm>
              <a:off x="10024419" y="3764643"/>
              <a:ext cx="564578"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椭圆 75"/>
            <p:cNvSpPr>
              <a:spLocks noChangeAspect="1"/>
            </p:cNvSpPr>
            <p:nvPr/>
          </p:nvSpPr>
          <p:spPr>
            <a:xfrm>
              <a:off x="8003584" y="256479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椭圆 76"/>
            <p:cNvSpPr>
              <a:spLocks noChangeAspect="1"/>
            </p:cNvSpPr>
            <p:nvPr/>
          </p:nvSpPr>
          <p:spPr>
            <a:xfrm>
              <a:off x="8559448" y="256479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椭圆 77"/>
            <p:cNvSpPr>
              <a:spLocks noChangeAspect="1"/>
            </p:cNvSpPr>
            <p:nvPr/>
          </p:nvSpPr>
          <p:spPr>
            <a:xfrm>
              <a:off x="6925782" y="358914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椭圆 89"/>
            <p:cNvSpPr>
              <a:spLocks noChangeAspect="1"/>
            </p:cNvSpPr>
            <p:nvPr/>
          </p:nvSpPr>
          <p:spPr>
            <a:xfrm>
              <a:off x="9624390" y="358827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椭圆 91"/>
            <p:cNvSpPr>
              <a:spLocks noChangeAspect="1"/>
            </p:cNvSpPr>
            <p:nvPr/>
          </p:nvSpPr>
          <p:spPr>
            <a:xfrm>
              <a:off x="6746849" y="401514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直接连接符 92"/>
            <p:cNvCxnSpPr/>
            <p:nvPr/>
          </p:nvCxnSpPr>
          <p:spPr>
            <a:xfrm>
              <a:off x="7149142" y="4139293"/>
              <a:ext cx="0" cy="468513"/>
            </a:xfrm>
            <a:prstGeom prst="line">
              <a:avLst/>
            </a:prstGeom>
            <a:noFill/>
            <a:ln w="19050" cap="flat" cmpd="sng" algn="ctr">
              <a:solidFill>
                <a:srgbClr val="1D1D1A"/>
              </a:solidFill>
              <a:prstDash val="solid"/>
              <a:miter lim="800000"/>
              <a:headEnd type="none" w="med" len="med"/>
              <a:tailEnd type="none" w="med" len="med"/>
            </a:ln>
            <a:effectLst/>
          </p:spPr>
        </p:cxnSp>
        <p:sp>
          <p:nvSpPr>
            <p:cNvPr id="94" name="椭圆 93"/>
            <p:cNvSpPr>
              <a:spLocks noChangeAspect="1"/>
            </p:cNvSpPr>
            <p:nvPr/>
          </p:nvSpPr>
          <p:spPr>
            <a:xfrm>
              <a:off x="7039444" y="4012746"/>
              <a:ext cx="232480" cy="232480"/>
            </a:xfrm>
            <a:prstGeom prst="ellipse">
              <a:avLst/>
            </a:prstGeom>
            <a:solidFill>
              <a:srgbClr val="FF99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97" name="组合 96"/>
          <p:cNvGrpSpPr/>
          <p:nvPr/>
        </p:nvGrpSpPr>
        <p:grpSpPr>
          <a:xfrm>
            <a:off x="5036983" y="1929204"/>
            <a:ext cx="1036369" cy="863766"/>
            <a:chOff x="4912030" y="2414843"/>
            <a:chExt cx="1036369" cy="863766"/>
          </a:xfrm>
        </p:grpSpPr>
        <p:sp>
          <p:nvSpPr>
            <p:cNvPr id="98" name="椭圆 97"/>
            <p:cNvSpPr>
              <a:spLocks noChangeAspect="1"/>
            </p:cNvSpPr>
            <p:nvPr/>
          </p:nvSpPr>
          <p:spPr>
            <a:xfrm>
              <a:off x="4912030" y="2467239"/>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文本框 98"/>
            <p:cNvSpPr txBox="1"/>
            <p:nvPr/>
          </p:nvSpPr>
          <p:spPr>
            <a:xfrm>
              <a:off x="5034943" y="2414843"/>
              <a:ext cx="7926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椭圆 99"/>
            <p:cNvSpPr>
              <a:spLocks noChangeAspect="1"/>
            </p:cNvSpPr>
            <p:nvPr/>
          </p:nvSpPr>
          <p:spPr>
            <a:xfrm>
              <a:off x="4912030" y="2760622"/>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1" name="文本框 100"/>
            <p:cNvSpPr txBox="1"/>
            <p:nvPr/>
          </p:nvSpPr>
          <p:spPr>
            <a:xfrm>
              <a:off x="5034943" y="2708226"/>
              <a:ext cx="9134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椭圆 101"/>
            <p:cNvSpPr>
              <a:spLocks noChangeAspect="1"/>
            </p:cNvSpPr>
            <p:nvPr/>
          </p:nvSpPr>
          <p:spPr>
            <a:xfrm>
              <a:off x="4912030" y="3054006"/>
              <a:ext cx="180000" cy="18000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文本框 102"/>
            <p:cNvSpPr txBox="1"/>
            <p:nvPr/>
          </p:nvSpPr>
          <p:spPr>
            <a:xfrm>
              <a:off x="5034943" y="3001610"/>
              <a:ext cx="913456" cy="276999"/>
            </a:xfrm>
            <a:prstGeom prst="rect">
              <a:avLst/>
            </a:prstGeom>
            <a:noFill/>
          </p:spPr>
          <p:txBody>
            <a:bodyPr wrap="square" rtlCol="0">
              <a:spAutoFit/>
            </a:bodyPr>
            <a:lstStyle/>
            <a:p>
              <a:pPr fontAlgn="auto">
                <a:spcBef>
                  <a:spcPts val="0"/>
                </a:spcBef>
                <a:spcAft>
                  <a:spcPts val="0"/>
                </a:spcAft>
              </a:pPr>
              <a:r>
                <a:rPr lang="zh-CN" altLang="en-US" sz="12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替代端口</a:t>
              </a:r>
            </a:p>
          </p:txBody>
        </p:sp>
      </p:grpSp>
      <p:grpSp>
        <p:nvGrpSpPr>
          <p:cNvPr id="104" name="组合 103"/>
          <p:cNvGrpSpPr/>
          <p:nvPr/>
        </p:nvGrpSpPr>
        <p:grpSpPr>
          <a:xfrm>
            <a:off x="10492769" y="1929204"/>
            <a:ext cx="1051117" cy="863766"/>
            <a:chOff x="10470934" y="2414843"/>
            <a:chExt cx="1051117" cy="863766"/>
          </a:xfrm>
        </p:grpSpPr>
        <p:sp>
          <p:nvSpPr>
            <p:cNvPr id="107" name="椭圆 106"/>
            <p:cNvSpPr>
              <a:spLocks noChangeAspect="1"/>
            </p:cNvSpPr>
            <p:nvPr/>
          </p:nvSpPr>
          <p:spPr>
            <a:xfrm>
              <a:off x="10470934" y="2481987"/>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文本框 107"/>
            <p:cNvSpPr txBox="1"/>
            <p:nvPr/>
          </p:nvSpPr>
          <p:spPr>
            <a:xfrm>
              <a:off x="10608595" y="2414843"/>
              <a:ext cx="7926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椭圆 108"/>
            <p:cNvSpPr>
              <a:spLocks noChangeAspect="1"/>
            </p:cNvSpPr>
            <p:nvPr/>
          </p:nvSpPr>
          <p:spPr>
            <a:xfrm>
              <a:off x="10470934" y="2775370"/>
              <a:ext cx="180000" cy="18000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文本框 109"/>
            <p:cNvSpPr txBox="1"/>
            <p:nvPr/>
          </p:nvSpPr>
          <p:spPr>
            <a:xfrm>
              <a:off x="10608595" y="2708226"/>
              <a:ext cx="913456" cy="276999"/>
            </a:xfrm>
            <a:prstGeom prst="rect">
              <a:avLst/>
            </a:prstGeom>
            <a:noFill/>
          </p:spPr>
          <p:txBody>
            <a:bodyPr wrap="square" rtlCol="0">
              <a:spAutoFit/>
            </a:bodyPr>
            <a:lstStyle/>
            <a:p>
              <a:pPr fontAlgn="auto">
                <a:spcBef>
                  <a:spcPts val="0"/>
                </a:spcBef>
                <a:spcAft>
                  <a:spcPts val="0"/>
                </a:spcAft>
              </a:pPr>
              <a:r>
                <a:rPr lang="zh-CN" altLang="en-US"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2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椭圆 110"/>
            <p:cNvSpPr>
              <a:spLocks noChangeAspect="1"/>
            </p:cNvSpPr>
            <p:nvPr/>
          </p:nvSpPr>
          <p:spPr>
            <a:xfrm>
              <a:off x="10470934" y="3068754"/>
              <a:ext cx="180000" cy="180000"/>
            </a:xfrm>
            <a:prstGeom prst="ellipse">
              <a:avLst/>
            </a:prstGeom>
            <a:solidFill>
              <a:srgbClr val="FF99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2" name="文本框 111"/>
            <p:cNvSpPr txBox="1"/>
            <p:nvPr/>
          </p:nvSpPr>
          <p:spPr>
            <a:xfrm>
              <a:off x="10608595" y="3001610"/>
              <a:ext cx="913456" cy="276999"/>
            </a:xfrm>
            <a:prstGeom prst="rect">
              <a:avLst/>
            </a:prstGeom>
            <a:noFill/>
          </p:spPr>
          <p:txBody>
            <a:bodyPr wrap="square" rtlCol="0">
              <a:spAutoFit/>
            </a:bodyPr>
            <a:lstStyle>
              <a:defPPr>
                <a:defRPr lang="en-US"/>
              </a:defPPr>
              <a:lvl1pPr fontAlgn="auto">
                <a:spcBef>
                  <a:spcPts val="0"/>
                </a:spcBef>
                <a:spcAft>
                  <a:spcPts val="0"/>
                </a:spcAft>
                <a:defRPr sz="1200" b="1">
                  <a:solidFill>
                    <a:srgbClr val="FF9900"/>
                  </a:solidFill>
                </a:defRPr>
              </a:lvl1pPr>
            </a:lstStyle>
            <a:p>
              <a:r>
                <a:rPr lang="zh-CN" altLang="en-US">
                  <a:latin typeface="Huawei Sans" panose="020C0503030203020204" pitchFamily="34" charset="0"/>
                  <a:ea typeface="方正兰亭黑简体" panose="02000000000000000000" pitchFamily="2" charset="-122"/>
                  <a:sym typeface="Huawei Sans" panose="020C0503030203020204" pitchFamily="34" charset="0"/>
                </a:rPr>
                <a:t>备份端口</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13" name="椭圆 112"/>
          <p:cNvSpPr>
            <a:spLocks noChangeAspect="1"/>
          </p:cNvSpPr>
          <p:nvPr/>
        </p:nvSpPr>
        <p:spPr>
          <a:xfrm>
            <a:off x="8073705" y="420859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十字形 113"/>
          <p:cNvSpPr/>
          <p:nvPr/>
        </p:nvSpPr>
        <p:spPr bwMode="black">
          <a:xfrm rot="2785165">
            <a:off x="7196938" y="3942752"/>
            <a:ext cx="226314" cy="241697"/>
          </a:xfrm>
          <a:prstGeom prst="plus">
            <a:avLst>
              <a:gd name="adj" fmla="val 39697"/>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5" name="肘形连接符 114"/>
          <p:cNvCxnSpPr/>
          <p:nvPr/>
        </p:nvCxnSpPr>
        <p:spPr>
          <a:xfrm>
            <a:off x="7696425" y="4198912"/>
            <a:ext cx="295456" cy="125922"/>
          </a:xfrm>
          <a:prstGeom prst="bentConnector3">
            <a:avLst>
              <a:gd name="adj1" fmla="val 205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30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 grpId="0" animBg="1"/>
      <p:bldP spid="204" grpId="0" animBg="1"/>
      <p:bldP spid="113" grpId="0" animBg="1"/>
      <p:bldP spid="1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：端口状态</a:t>
            </a:r>
          </a:p>
        </p:txBody>
      </p:sp>
      <p:sp>
        <p:nvSpPr>
          <p:cNvPr id="4" name="文本占位符 3"/>
          <p:cNvSpPr>
            <a:spLocks noGrp="1"/>
          </p:cNvSpPr>
          <p:nvPr>
            <p:ph type="body" sz="quarter" idx="10"/>
          </p:nvPr>
        </p:nvSpPr>
        <p:spPr>
          <a:xfrm>
            <a:off x="468317" y="1233488"/>
            <a:ext cx="11276183" cy="2032226"/>
          </a:xfrm>
        </p:spPr>
        <p:txBody>
          <a:bodyPr/>
          <a:lstStyle/>
          <a:p>
            <a:pPr marL="0" indent="0">
              <a:buNone/>
            </a:pP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的状态规范缩减为</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种，根据端口是否转发用户流量和学习</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地址来划分</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20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状态：不转发用户流量也不学习</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Learning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状态：不转发用户流量但是学习</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状：既转发用户流量又学习</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地址。</a:t>
            </a:r>
          </a:p>
        </p:txBody>
      </p:sp>
      <p:graphicFrame>
        <p:nvGraphicFramePr>
          <p:cNvPr id="53" name="表格 52"/>
          <p:cNvGraphicFramePr>
            <a:graphicFrameLocks noGrp="1"/>
          </p:cNvGraphicFramePr>
          <p:nvPr>
            <p:extLst>
              <p:ext uri="{D42A27DB-BD31-4B8C-83A1-F6EECF244321}">
                <p14:modId xmlns:p14="http://schemas.microsoft.com/office/powerpoint/2010/main" val="512236704"/>
              </p:ext>
            </p:extLst>
          </p:nvPr>
        </p:nvGraphicFramePr>
        <p:xfrm>
          <a:off x="1182914" y="3431268"/>
          <a:ext cx="10058400" cy="2111040"/>
        </p:xfrm>
        <a:graphic>
          <a:graphicData uri="http://schemas.openxmlformats.org/drawingml/2006/table">
            <a:tbl>
              <a:tblPr/>
              <a:tblGrid>
                <a:gridCol w="2623930">
                  <a:extLst>
                    <a:ext uri="{9D8B030D-6E8A-4147-A177-3AD203B41FA5}">
                      <a16:colId xmlns:a16="http://schemas.microsoft.com/office/drawing/2014/main" val="20000"/>
                    </a:ext>
                  </a:extLst>
                </a:gridCol>
                <a:gridCol w="3229454">
                  <a:extLst>
                    <a:ext uri="{9D8B030D-6E8A-4147-A177-3AD203B41FA5}">
                      <a16:colId xmlns:a16="http://schemas.microsoft.com/office/drawing/2014/main" val="20001"/>
                    </a:ext>
                  </a:extLst>
                </a:gridCol>
                <a:gridCol w="4205016">
                  <a:extLst>
                    <a:ext uri="{9D8B030D-6E8A-4147-A177-3AD203B41FA5}">
                      <a16:colId xmlns:a16="http://schemas.microsoft.com/office/drawing/2014/main" val="20002"/>
                    </a:ext>
                  </a:extLst>
                </a:gridCol>
              </a:tblGrid>
              <a:tr h="290880">
                <a:tc>
                  <a:txBody>
                    <a:bodyPr/>
                    <a:lstStyle/>
                    <a:p>
                      <a:pPr algn="ctr"/>
                      <a:r>
                        <a:rPr 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端口状态</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端口状态</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solidFill>
                      <a:srgbClr val="00B0F0"/>
                    </a:solidFill>
                  </a:tcPr>
                </a:tc>
                <a:tc>
                  <a:txBody>
                    <a:bodyPr/>
                    <a:lstStyle/>
                    <a:p>
                      <a:pPr algn="ctr"/>
                      <a:r>
                        <a:rPr lang="zh-CN" altLang="en-US" sz="1600" b="1" dirty="0">
                          <a:solidFill>
                            <a:schemeClr val="bg1"/>
                          </a:solidFill>
                          <a:effectLst/>
                          <a:latin typeface="Huawei Sans" panose="020C0503030203020204" pitchFamily="34" charset="0"/>
                          <a:ea typeface="方正兰亭黑简体" panose="02000000000000000000" pitchFamily="2" charset="-122"/>
                          <a:sym typeface="Huawei Sans" panose="020C0503030203020204" pitchFamily="34" charset="0"/>
                        </a:rPr>
                        <a:t>端口在拓扑中的角色</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0000"/>
                  </a:ext>
                </a:extLst>
              </a:tr>
              <a:tr h="290880">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Forwarding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Forwarding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包括根端口、指定端口</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90880">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Learning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Learning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包括根端口、指定端口</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90880">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Listening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effectLst/>
                          <a:latin typeface="Huawei Sans" panose="020C0503030203020204" pitchFamily="34" charset="0"/>
                          <a:ea typeface="方正兰亭黑简体" panose="02000000000000000000" pitchFamily="2" charset="-122"/>
                          <a:sym typeface="Huawei Sans" panose="020C0503030203020204" pitchFamily="34" charset="0"/>
                        </a:rPr>
                        <a:t>Discarding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包括根端口、指定端口</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90880">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Blocking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effectLst/>
                          <a:latin typeface="Huawei Sans" panose="020C0503030203020204" pitchFamily="34" charset="0"/>
                          <a:ea typeface="方正兰亭黑简体" panose="02000000000000000000" pitchFamily="2" charset="-122"/>
                          <a:sym typeface="Huawei Sans" panose="020C0503030203020204" pitchFamily="34" charset="0"/>
                        </a:rPr>
                        <a:t>Discarding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包括</a:t>
                      </a: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端口、</a:t>
                      </a: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Backup</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端口</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90880">
                <a:tc>
                  <a:txBody>
                    <a:bodyPr/>
                    <a:lstStyle/>
                    <a:p>
                      <a:pPr algn="ct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Disabled</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effectLst/>
                          <a:latin typeface="Huawei Sans" panose="020C0503030203020204" pitchFamily="34" charset="0"/>
                          <a:ea typeface="方正兰亭黑简体" panose="02000000000000000000" pitchFamily="2" charset="-122"/>
                          <a:sym typeface="Huawei Sans" panose="020C0503030203020204" pitchFamily="34" charset="0"/>
                        </a:rPr>
                        <a:t>Discarding</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包括</a:t>
                      </a:r>
                      <a:r>
                        <a:rPr lang="en-US" sz="1600" dirty="0">
                          <a:effectLst/>
                          <a:latin typeface="Huawei Sans" panose="020C0503030203020204" pitchFamily="34" charset="0"/>
                          <a:ea typeface="方正兰亭黑简体" panose="02000000000000000000" pitchFamily="2" charset="-122"/>
                          <a:sym typeface="Huawei Sans" panose="020C0503030203020204" pitchFamily="34" charset="0"/>
                        </a:rPr>
                        <a:t>Disable</a:t>
                      </a:r>
                      <a:r>
                        <a:rPr lang="zh-CN" altLang="en-US" sz="1600" dirty="0">
                          <a:effectLst/>
                          <a:latin typeface="Huawei Sans" panose="020C0503030203020204" pitchFamily="34" charset="0"/>
                          <a:ea typeface="方正兰亭黑简体" panose="02000000000000000000" pitchFamily="2" charset="-122"/>
                          <a:sym typeface="Huawei Sans" panose="020C0503030203020204" pitchFamily="34" charset="0"/>
                        </a:rPr>
                        <a:t>端口</a:t>
                      </a:r>
                    </a:p>
                  </a:txBody>
                  <a:tcPr marL="54000" marR="54000" marT="54000" marB="54000" anchor="ctr">
                    <a:lnL w="12700" cap="flat" cmpd="sng" algn="ctr">
                      <a:solidFill>
                        <a:srgbClr val="A6D2FF"/>
                      </a:solidFill>
                      <a:prstDash val="solid"/>
                      <a:round/>
                      <a:headEnd type="none" w="med" len="med"/>
                      <a:tailEnd type="none" w="med" len="med"/>
                    </a:lnL>
                    <a:lnR w="12700" cap="flat" cmpd="sng" algn="ctr">
                      <a:solidFill>
                        <a:srgbClr val="A6D2FF"/>
                      </a:solidFill>
                      <a:prstDash val="solid"/>
                      <a:round/>
                      <a:headEnd type="none" w="med" len="med"/>
                      <a:tailEnd type="none" w="med" len="med"/>
                    </a:lnR>
                    <a:lnT w="12700" cap="flat" cmpd="sng" algn="ctr">
                      <a:solidFill>
                        <a:srgbClr val="A6D2FF"/>
                      </a:solidFill>
                      <a:prstDash val="solid"/>
                      <a:round/>
                      <a:headEnd type="none" w="med" len="med"/>
                      <a:tailEnd type="none" w="med" len="med"/>
                    </a:lnT>
                    <a:lnB w="12700" cap="flat" cmpd="sng" algn="ctr">
                      <a:solidFill>
                        <a:srgbClr val="A6D2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15097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 - RST BPDU</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文本占位符 2"/>
          <p:cNvSpPr>
            <a:spLocks noGrp="1"/>
          </p:cNvSpPr>
          <p:nvPr>
            <p:ph type="body" sz="quarter" idx="10"/>
          </p:nvPr>
        </p:nvSpPr>
        <p:spPr>
          <a:xfrm>
            <a:off x="468317" y="1233488"/>
            <a:ext cx="11276183" cy="2232840"/>
          </a:xfrm>
        </p:spPr>
        <p:txBody>
          <a:bodyPr/>
          <a:lstStyle/>
          <a:p>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的配置</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充分利用了</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报文中的</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Flag</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字段，明确了端口角色。</a:t>
            </a:r>
            <a:endParaRPr lang="en-US" altLang="zh-CN" sz="1800"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除了保证和</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格式基本一致之外，</a:t>
            </a:r>
            <a:r>
              <a:rPr lang="en-US" altLang="zh-CN" sz="18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800" dirty="0">
                <a:latin typeface="Huawei Sans" panose="020C0503030203020204" pitchFamily="34" charset="0"/>
                <a:ea typeface="方正兰亭黑简体" panose="02000000000000000000" pitchFamily="2" charset="-122"/>
                <a:sym typeface="Huawei Sans" panose="020C0503030203020204" pitchFamily="34" charset="0"/>
              </a:rPr>
              <a:t>作了如下变化：</a:t>
            </a:r>
          </a:p>
          <a:p>
            <a:pPr lvl="1"/>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Type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字段：配置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类型不再是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而是</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，所以运行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的设备收到</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的配置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时会丢弃。</a:t>
            </a:r>
          </a:p>
          <a:p>
            <a:pPr lvl="1"/>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Flag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字段：使用了原来保留的中间</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6</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位，这样改变的配置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叫做</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1800" b="1" dirty="0">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800" b="1" dirty="0">
                <a:latin typeface="Huawei Sans" panose="020C0503030203020204" pitchFamily="34" charset="0"/>
                <a:ea typeface="方正兰亭黑简体" panose="02000000000000000000" pitchFamily="2" charset="-122"/>
                <a:sym typeface="Huawei Sans" panose="020C0503030203020204" pitchFamily="34" charset="0"/>
              </a:rPr>
              <a:t>报文格式：</a:t>
            </a:r>
          </a:p>
        </p:txBody>
      </p:sp>
      <p:graphicFrame>
        <p:nvGraphicFramePr>
          <p:cNvPr id="4" name="表格 3"/>
          <p:cNvGraphicFramePr>
            <a:graphicFrameLocks noGrp="1"/>
          </p:cNvGraphicFramePr>
          <p:nvPr>
            <p:extLst>
              <p:ext uri="{D42A27DB-BD31-4B8C-83A1-F6EECF244321}">
                <p14:modId xmlns:p14="http://schemas.microsoft.com/office/powerpoint/2010/main" val="11275970"/>
              </p:ext>
            </p:extLst>
          </p:nvPr>
        </p:nvGraphicFramePr>
        <p:xfrm>
          <a:off x="1234241" y="3773816"/>
          <a:ext cx="9615729" cy="579084"/>
        </p:xfrm>
        <a:graphic>
          <a:graphicData uri="http://schemas.openxmlformats.org/drawingml/2006/table">
            <a:tbl>
              <a:tblPr firstRow="1" bandRow="1">
                <a:tableStyleId>{2D5ABB26-0587-4C30-8999-92F81FD0307C}</a:tableStyleId>
              </a:tblPr>
              <a:tblGrid>
                <a:gridCol w="677333">
                  <a:extLst>
                    <a:ext uri="{9D8B030D-6E8A-4147-A177-3AD203B41FA5}">
                      <a16:colId xmlns:a16="http://schemas.microsoft.com/office/drawing/2014/main" val="20000"/>
                    </a:ext>
                  </a:extLst>
                </a:gridCol>
                <a:gridCol w="677333">
                  <a:extLst>
                    <a:ext uri="{9D8B030D-6E8A-4147-A177-3AD203B41FA5}">
                      <a16:colId xmlns:a16="http://schemas.microsoft.com/office/drawing/2014/main" val="20001"/>
                    </a:ext>
                  </a:extLst>
                </a:gridCol>
                <a:gridCol w="827677">
                  <a:extLst>
                    <a:ext uri="{9D8B030D-6E8A-4147-A177-3AD203B41FA5}">
                      <a16:colId xmlns:a16="http://schemas.microsoft.com/office/drawing/2014/main" val="20002"/>
                    </a:ext>
                  </a:extLst>
                </a:gridCol>
                <a:gridCol w="719719">
                  <a:extLst>
                    <a:ext uri="{9D8B030D-6E8A-4147-A177-3AD203B41FA5}">
                      <a16:colId xmlns:a16="http://schemas.microsoft.com/office/drawing/2014/main" val="20003"/>
                    </a:ext>
                  </a:extLst>
                </a:gridCol>
                <a:gridCol w="827677">
                  <a:extLst>
                    <a:ext uri="{9D8B030D-6E8A-4147-A177-3AD203B41FA5}">
                      <a16:colId xmlns:a16="http://schemas.microsoft.com/office/drawing/2014/main" val="20004"/>
                    </a:ext>
                  </a:extLst>
                </a:gridCol>
                <a:gridCol w="676536">
                  <a:extLst>
                    <a:ext uri="{9D8B030D-6E8A-4147-A177-3AD203B41FA5}">
                      <a16:colId xmlns:a16="http://schemas.microsoft.com/office/drawing/2014/main" val="20005"/>
                    </a:ext>
                  </a:extLst>
                </a:gridCol>
                <a:gridCol w="827677">
                  <a:extLst>
                    <a:ext uri="{9D8B030D-6E8A-4147-A177-3AD203B41FA5}">
                      <a16:colId xmlns:a16="http://schemas.microsoft.com/office/drawing/2014/main" val="20006"/>
                    </a:ext>
                  </a:extLst>
                </a:gridCol>
                <a:gridCol w="676536">
                  <a:extLst>
                    <a:ext uri="{9D8B030D-6E8A-4147-A177-3AD203B41FA5}">
                      <a16:colId xmlns:a16="http://schemas.microsoft.com/office/drawing/2014/main" val="20007"/>
                    </a:ext>
                  </a:extLst>
                </a:gridCol>
                <a:gridCol w="1043592">
                  <a:extLst>
                    <a:ext uri="{9D8B030D-6E8A-4147-A177-3AD203B41FA5}">
                      <a16:colId xmlns:a16="http://schemas.microsoft.com/office/drawing/2014/main" val="20008"/>
                    </a:ext>
                  </a:extLst>
                </a:gridCol>
                <a:gridCol w="827677">
                  <a:extLst>
                    <a:ext uri="{9D8B030D-6E8A-4147-A177-3AD203B41FA5}">
                      <a16:colId xmlns:a16="http://schemas.microsoft.com/office/drawing/2014/main" val="20009"/>
                    </a:ext>
                  </a:extLst>
                </a:gridCol>
                <a:gridCol w="827677">
                  <a:extLst>
                    <a:ext uri="{9D8B030D-6E8A-4147-A177-3AD203B41FA5}">
                      <a16:colId xmlns:a16="http://schemas.microsoft.com/office/drawing/2014/main" val="20010"/>
                    </a:ext>
                  </a:extLst>
                </a:gridCol>
                <a:gridCol w="1006295">
                  <a:extLst>
                    <a:ext uri="{9D8B030D-6E8A-4147-A177-3AD203B41FA5}">
                      <a16:colId xmlns:a16="http://schemas.microsoft.com/office/drawing/2014/main" val="20011"/>
                    </a:ext>
                  </a:extLst>
                </a:gridCol>
              </a:tblGrid>
              <a:tr h="578894">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PID</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PVI</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BPDU</a:t>
                      </a:r>
                    </a:p>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Type</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Flag</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solidFill>
                      <a:srgbClr val="F4FBFE"/>
                    </a:solidFill>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Root</a:t>
                      </a:r>
                    </a:p>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RPC</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Bridge</a:t>
                      </a:r>
                    </a:p>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Port</a:t>
                      </a:r>
                    </a:p>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ID</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Message</a:t>
                      </a:r>
                    </a:p>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Age</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Max</a:t>
                      </a:r>
                    </a:p>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Age</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Hello</a:t>
                      </a:r>
                    </a:p>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Time</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Forward</a:t>
                      </a:r>
                    </a:p>
                    <a:p>
                      <a:pPr algn="ct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Delay</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91404" marR="91404" marT="45702" marB="45702"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pSp>
        <p:nvGrpSpPr>
          <p:cNvPr id="5" name="组合 4"/>
          <p:cNvGrpSpPr/>
          <p:nvPr/>
        </p:nvGrpSpPr>
        <p:grpSpPr>
          <a:xfrm flipH="1">
            <a:off x="2963701" y="3247968"/>
            <a:ext cx="654241" cy="602969"/>
            <a:chOff x="10172529" y="3752184"/>
            <a:chExt cx="654497" cy="603205"/>
          </a:xfrm>
        </p:grpSpPr>
        <p:sp>
          <p:nvSpPr>
            <p:cNvPr id="6" name="speech-bubble_99672"/>
            <p:cNvSpPr>
              <a:spLocks noChangeAspect="1"/>
            </p:cNvSpPr>
            <p:nvPr/>
          </p:nvSpPr>
          <p:spPr bwMode="auto">
            <a:xfrm flipH="1">
              <a:off x="10172529" y="3842992"/>
              <a:ext cx="654497" cy="512397"/>
            </a:xfrm>
            <a:custGeom>
              <a:avLst/>
              <a:gdLst>
                <a:gd name="T0" fmla="*/ 1654 w 4914"/>
                <a:gd name="T1" fmla="*/ 3986 h 3986"/>
                <a:gd name="T2" fmla="*/ 1546 w 4914"/>
                <a:gd name="T3" fmla="*/ 3983 h 3986"/>
                <a:gd name="T4" fmla="*/ 1455 w 4914"/>
                <a:gd name="T5" fmla="*/ 3900 h 3986"/>
                <a:gd name="T6" fmla="*/ 1515 w 4914"/>
                <a:gd name="T7" fmla="*/ 3791 h 3986"/>
                <a:gd name="T8" fmla="*/ 1932 w 4914"/>
                <a:gd name="T9" fmla="*/ 3311 h 3986"/>
                <a:gd name="T10" fmla="*/ 0 w 4914"/>
                <a:gd name="T11" fmla="*/ 1675 h 3986"/>
                <a:gd name="T12" fmla="*/ 735 w 4914"/>
                <a:gd name="T13" fmla="*/ 478 h 3986"/>
                <a:gd name="T14" fmla="*/ 2457 w 4914"/>
                <a:gd name="T15" fmla="*/ 0 h 3986"/>
                <a:gd name="T16" fmla="*/ 4179 w 4914"/>
                <a:gd name="T17" fmla="*/ 478 h 3986"/>
                <a:gd name="T18" fmla="*/ 4914 w 4914"/>
                <a:gd name="T19" fmla="*/ 1675 h 3986"/>
                <a:gd name="T20" fmla="*/ 4165 w 4914"/>
                <a:gd name="T21" fmla="*/ 2881 h 3986"/>
                <a:gd name="T22" fmla="*/ 4027 w 4914"/>
                <a:gd name="T23" fmla="*/ 2852 h 3986"/>
                <a:gd name="T24" fmla="*/ 4055 w 4914"/>
                <a:gd name="T25" fmla="*/ 2714 h 3986"/>
                <a:gd name="T26" fmla="*/ 4714 w 4914"/>
                <a:gd name="T27" fmla="*/ 1675 h 3986"/>
                <a:gd name="T28" fmla="*/ 2457 w 4914"/>
                <a:gd name="T29" fmla="*/ 200 h 3986"/>
                <a:gd name="T30" fmla="*/ 200 w 4914"/>
                <a:gd name="T31" fmla="*/ 1675 h 3986"/>
                <a:gd name="T32" fmla="*/ 720 w 4914"/>
                <a:gd name="T33" fmla="*/ 2614 h 3986"/>
                <a:gd name="T34" fmla="*/ 2057 w 4914"/>
                <a:gd name="T35" fmla="*/ 3126 h 3986"/>
                <a:gd name="T36" fmla="*/ 2145 w 4914"/>
                <a:gd name="T37" fmla="*/ 3234 h 3986"/>
                <a:gd name="T38" fmla="*/ 1903 w 4914"/>
                <a:gd name="T39" fmla="*/ 3773 h 3986"/>
                <a:gd name="T40" fmla="*/ 3047 w 4914"/>
                <a:gd name="T41" fmla="*/ 3140 h 3986"/>
                <a:gd name="T42" fmla="*/ 3180 w 4914"/>
                <a:gd name="T43" fmla="*/ 3093 h 3986"/>
                <a:gd name="T44" fmla="*/ 3227 w 4914"/>
                <a:gd name="T45" fmla="*/ 3226 h 3986"/>
                <a:gd name="T46" fmla="*/ 2225 w 4914"/>
                <a:gd name="T47" fmla="*/ 3925 h 3986"/>
                <a:gd name="T48" fmla="*/ 1654 w 4914"/>
                <a:gd name="T49" fmla="*/ 3986 h 3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914" h="3986">
                  <a:moveTo>
                    <a:pt x="1654" y="3986"/>
                  </a:moveTo>
                  <a:cubicBezTo>
                    <a:pt x="1590" y="3986"/>
                    <a:pt x="1551" y="3984"/>
                    <a:pt x="1546" y="3983"/>
                  </a:cubicBezTo>
                  <a:cubicBezTo>
                    <a:pt x="1500" y="3980"/>
                    <a:pt x="1462" y="3945"/>
                    <a:pt x="1455" y="3900"/>
                  </a:cubicBezTo>
                  <a:cubicBezTo>
                    <a:pt x="1447" y="3854"/>
                    <a:pt x="1472" y="3809"/>
                    <a:pt x="1515" y="3791"/>
                  </a:cubicBezTo>
                  <a:cubicBezTo>
                    <a:pt x="1790" y="3678"/>
                    <a:pt x="1896" y="3482"/>
                    <a:pt x="1932" y="3311"/>
                  </a:cubicBezTo>
                  <a:cubicBezTo>
                    <a:pt x="806" y="3146"/>
                    <a:pt x="0" y="2468"/>
                    <a:pt x="0" y="1675"/>
                  </a:cubicBezTo>
                  <a:cubicBezTo>
                    <a:pt x="0" y="1220"/>
                    <a:pt x="261" y="795"/>
                    <a:pt x="735" y="478"/>
                  </a:cubicBezTo>
                  <a:cubicBezTo>
                    <a:pt x="1196" y="170"/>
                    <a:pt x="1808" y="0"/>
                    <a:pt x="2457" y="0"/>
                  </a:cubicBezTo>
                  <a:cubicBezTo>
                    <a:pt x="3106" y="0"/>
                    <a:pt x="3718" y="170"/>
                    <a:pt x="4179" y="478"/>
                  </a:cubicBezTo>
                  <a:cubicBezTo>
                    <a:pt x="4653" y="795"/>
                    <a:pt x="4914" y="1220"/>
                    <a:pt x="4914" y="1675"/>
                  </a:cubicBezTo>
                  <a:cubicBezTo>
                    <a:pt x="4914" y="2135"/>
                    <a:pt x="4648" y="2563"/>
                    <a:pt x="4165" y="2881"/>
                  </a:cubicBezTo>
                  <a:cubicBezTo>
                    <a:pt x="4119" y="2911"/>
                    <a:pt x="4057" y="2898"/>
                    <a:pt x="4027" y="2852"/>
                  </a:cubicBezTo>
                  <a:cubicBezTo>
                    <a:pt x="3996" y="2806"/>
                    <a:pt x="4009" y="2744"/>
                    <a:pt x="4055" y="2714"/>
                  </a:cubicBezTo>
                  <a:cubicBezTo>
                    <a:pt x="4480" y="2434"/>
                    <a:pt x="4714" y="2065"/>
                    <a:pt x="4714" y="1675"/>
                  </a:cubicBezTo>
                  <a:cubicBezTo>
                    <a:pt x="4714" y="862"/>
                    <a:pt x="3702" y="200"/>
                    <a:pt x="2457" y="200"/>
                  </a:cubicBezTo>
                  <a:cubicBezTo>
                    <a:pt x="1213" y="200"/>
                    <a:pt x="200" y="862"/>
                    <a:pt x="200" y="1675"/>
                  </a:cubicBezTo>
                  <a:cubicBezTo>
                    <a:pt x="200" y="2016"/>
                    <a:pt x="385" y="2349"/>
                    <a:pt x="720" y="2614"/>
                  </a:cubicBezTo>
                  <a:cubicBezTo>
                    <a:pt x="1061" y="2883"/>
                    <a:pt x="1536" y="3065"/>
                    <a:pt x="2057" y="3126"/>
                  </a:cubicBezTo>
                  <a:cubicBezTo>
                    <a:pt x="2110" y="3132"/>
                    <a:pt x="2149" y="3180"/>
                    <a:pt x="2145" y="3234"/>
                  </a:cubicBezTo>
                  <a:cubicBezTo>
                    <a:pt x="2133" y="3373"/>
                    <a:pt x="2084" y="3592"/>
                    <a:pt x="1903" y="3773"/>
                  </a:cubicBezTo>
                  <a:cubicBezTo>
                    <a:pt x="2269" y="3736"/>
                    <a:pt x="2824" y="3602"/>
                    <a:pt x="3047" y="3140"/>
                  </a:cubicBezTo>
                  <a:cubicBezTo>
                    <a:pt x="3071" y="3090"/>
                    <a:pt x="3130" y="3069"/>
                    <a:pt x="3180" y="3093"/>
                  </a:cubicBezTo>
                  <a:cubicBezTo>
                    <a:pt x="3230" y="3117"/>
                    <a:pt x="3251" y="3177"/>
                    <a:pt x="3227" y="3226"/>
                  </a:cubicBezTo>
                  <a:cubicBezTo>
                    <a:pt x="3059" y="3575"/>
                    <a:pt x="2713" y="3817"/>
                    <a:pt x="2225" y="3925"/>
                  </a:cubicBezTo>
                  <a:cubicBezTo>
                    <a:pt x="1990" y="3977"/>
                    <a:pt x="1777" y="3986"/>
                    <a:pt x="1654" y="3986"/>
                  </a:cubicBezTo>
                  <a:close/>
                </a:path>
              </a:pathLst>
            </a:custGeom>
            <a:solidFill>
              <a:srgbClr val="EC7061"/>
            </a:solidFill>
            <a:ln>
              <a:solidFill>
                <a:srgbClr val="EC7061"/>
              </a:solidFill>
            </a:ln>
          </p:spPr>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a:xfrm>
              <a:off x="10212569" y="3752184"/>
              <a:ext cx="574421" cy="463834"/>
            </a:xfrm>
            <a:prstGeom prst="rect">
              <a:avLst/>
            </a:prstGeom>
            <a:noFill/>
          </p:spPr>
          <p:txBody>
            <a:bodyPr wrap="none" rtlCol="0">
              <a:spAutoFit/>
            </a:bodyPr>
            <a:lstStyle/>
            <a:p>
              <a:pPr defTabSz="914112" fontAlgn="auto">
                <a:lnSpc>
                  <a:spcPts val="3439"/>
                </a:lnSpc>
                <a:spcBef>
                  <a:spcPts val="0"/>
                </a:spcBef>
                <a:spcAft>
                  <a:spcPts val="0"/>
                </a:spcAft>
              </a:pP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0x02</a:t>
              </a:r>
              <a:endPar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8" name="表格 7"/>
          <p:cNvGraphicFramePr>
            <a:graphicFrameLocks noGrp="1"/>
          </p:cNvGraphicFramePr>
          <p:nvPr>
            <p:extLst>
              <p:ext uri="{D42A27DB-BD31-4B8C-83A1-F6EECF244321}">
                <p14:modId xmlns:p14="http://schemas.microsoft.com/office/powerpoint/2010/main" val="2983096573"/>
              </p:ext>
            </p:extLst>
          </p:nvPr>
        </p:nvGraphicFramePr>
        <p:xfrm>
          <a:off x="1669041" y="4659497"/>
          <a:ext cx="6660000" cy="609600"/>
        </p:xfrm>
        <a:graphic>
          <a:graphicData uri="http://schemas.openxmlformats.org/drawingml/2006/table">
            <a:tbl>
              <a:tblPr firstRow="1" bandRow="1"/>
              <a:tblGrid>
                <a:gridCol w="612000">
                  <a:extLst>
                    <a:ext uri="{9D8B030D-6E8A-4147-A177-3AD203B41FA5}">
                      <a16:colId xmlns:a16="http://schemas.microsoft.com/office/drawing/2014/main" val="20000"/>
                    </a:ext>
                  </a:extLst>
                </a:gridCol>
                <a:gridCol w="1152000">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936000">
                  <a:extLst>
                    <a:ext uri="{9D8B030D-6E8A-4147-A177-3AD203B41FA5}">
                      <a16:colId xmlns:a16="http://schemas.microsoft.com/office/drawing/2014/main" val="20003"/>
                    </a:ext>
                  </a:extLst>
                </a:gridCol>
                <a:gridCol w="612000">
                  <a:extLst>
                    <a:ext uri="{9D8B030D-6E8A-4147-A177-3AD203B41FA5}">
                      <a16:colId xmlns:a16="http://schemas.microsoft.com/office/drawing/2014/main" val="20004"/>
                    </a:ext>
                  </a:extLst>
                </a:gridCol>
                <a:gridCol w="612000">
                  <a:extLst>
                    <a:ext uri="{9D8B030D-6E8A-4147-A177-3AD203B41FA5}">
                      <a16:colId xmlns:a16="http://schemas.microsoft.com/office/drawing/2014/main" val="20005"/>
                    </a:ext>
                  </a:extLst>
                </a:gridCol>
                <a:gridCol w="936000">
                  <a:extLst>
                    <a:ext uri="{9D8B030D-6E8A-4147-A177-3AD203B41FA5}">
                      <a16:colId xmlns:a16="http://schemas.microsoft.com/office/drawing/2014/main" val="20006"/>
                    </a:ext>
                  </a:extLst>
                </a:gridCol>
                <a:gridCol w="612000">
                  <a:extLst>
                    <a:ext uri="{9D8B030D-6E8A-4147-A177-3AD203B41FA5}">
                      <a16:colId xmlns:a16="http://schemas.microsoft.com/office/drawing/2014/main" val="20007"/>
                    </a:ext>
                  </a:extLst>
                </a:gridCol>
              </a:tblGrid>
              <a:tr h="0">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Bit7</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Bit6</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Bit5</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Bit4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Bit3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Bit2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Bit1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Bit0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0">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TCA</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Agreement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Forwarding</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Learning</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Port Role</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dirty="0">
                        <a:latin typeface="微软雅黑" panose="020B0503020204020204" pitchFamily="34" charset="-122"/>
                        <a:ea typeface="微软雅黑" panose="020B0503020204020204" pitchFamily="34" charset="-122"/>
                      </a:endParaRPr>
                    </a:p>
                  </a:txBody>
                  <a:tcPr anchor="ctr">
                    <a:lnL w="12700" cap="flat" cmpd="sng" algn="ctr">
                      <a:solidFill>
                        <a:srgbClr val="1D1D1A"/>
                      </a:solidFill>
                      <a:prstDash val="solid"/>
                      <a:round/>
                      <a:headEnd type="none" w="med" len="med"/>
                      <a:tailEnd type="none" w="med" len="med"/>
                    </a:lnL>
                    <a:lnR w="12700" cap="flat" cmpd="sng" algn="ctr">
                      <a:solidFill>
                        <a:srgbClr val="1D1D1A"/>
                      </a:solidFill>
                      <a:prstDash val="solid"/>
                      <a:round/>
                      <a:headEnd type="none" w="med" len="med"/>
                      <a:tailEnd type="none" w="med" len="med"/>
                    </a:lnR>
                    <a:lnT w="12700" cap="flat" cmpd="sng" algn="ctr">
                      <a:solidFill>
                        <a:srgbClr val="1D1D1A"/>
                      </a:solidFill>
                      <a:prstDash val="solid"/>
                      <a:round/>
                      <a:headEnd type="none" w="med" len="med"/>
                      <a:tailEnd type="none" w="med" len="med"/>
                    </a:lnT>
                    <a:lnB w="12700" cap="flat" cmpd="sng" algn="ctr">
                      <a:solidFill>
                        <a:srgbClr val="1D1D1A"/>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Proposal</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TC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9" name="文本框 8"/>
          <p:cNvSpPr txBox="1"/>
          <p:nvPr/>
        </p:nvSpPr>
        <p:spPr>
          <a:xfrm>
            <a:off x="954564" y="5493460"/>
            <a:ext cx="2005677" cy="523220"/>
          </a:xfrm>
          <a:prstGeom prst="rect">
            <a:avLst/>
          </a:prstGeom>
          <a:noFill/>
        </p:spPr>
        <p:txBody>
          <a:bodyPr wrap="none" rtlCol="0">
            <a:spAutoFit/>
          </a:bodyPr>
          <a:lstStyle/>
          <a:p>
            <a:pPr algn="ctr" defTabSz="914478" fontAlgn="auto">
              <a:spcBef>
                <a:spcPts val="0"/>
              </a:spcBef>
              <a:spcAft>
                <a:spcPts val="0"/>
              </a:spcAft>
            </a:pP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Topology Change </a:t>
            </a:r>
          </a:p>
          <a:p>
            <a:pPr algn="ctr" defTabSz="914478" fontAlgn="auto">
              <a:spcBef>
                <a:spcPts val="0"/>
              </a:spcBef>
              <a:spcAft>
                <a:spcPts val="0"/>
              </a:spcAft>
            </a:pP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Acknowledgment Flag</a:t>
            </a:r>
            <a:endPar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a:xfrm>
            <a:off x="7015123" y="5493460"/>
            <a:ext cx="2015295" cy="307777"/>
          </a:xfrm>
          <a:prstGeom prst="rect">
            <a:avLst/>
          </a:prstGeom>
          <a:noFill/>
        </p:spPr>
        <p:txBody>
          <a:bodyPr wrap="none" rtlCol="0">
            <a:spAutoFit/>
          </a:bodyPr>
          <a:lstStyle/>
          <a:p>
            <a:pPr algn="ctr" defTabSz="914478" fontAlgn="auto">
              <a:spcBef>
                <a:spcPts val="0"/>
              </a:spcBef>
              <a:spcAft>
                <a:spcPts val="0"/>
              </a:spcAft>
            </a:pP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Topology Change Flag</a:t>
            </a:r>
            <a:endParaRPr lang="zh-CN" altLang="en-US"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 name="直接箭头连接符 10"/>
          <p:cNvCxnSpPr>
            <a:endCxn id="9" idx="0"/>
          </p:cNvCxnSpPr>
          <p:nvPr/>
        </p:nvCxnSpPr>
        <p:spPr>
          <a:xfrm>
            <a:off x="1954890" y="5280344"/>
            <a:ext cx="2513" cy="213116"/>
          </a:xfrm>
          <a:prstGeom prst="straightConnector1">
            <a:avLst/>
          </a:prstGeom>
          <a:noFill/>
          <a:ln w="19050" cap="flat" cmpd="sng" algn="ctr">
            <a:solidFill>
              <a:srgbClr val="99DFF9"/>
            </a:solidFill>
            <a:prstDash val="solid"/>
            <a:miter lim="800000"/>
            <a:tailEnd type="triangle"/>
          </a:ln>
          <a:effectLst/>
        </p:spPr>
      </p:cxnSp>
      <p:cxnSp>
        <p:nvCxnSpPr>
          <p:cNvPr id="12" name="直接箭头连接符 11"/>
          <p:cNvCxnSpPr>
            <a:endCxn id="10" idx="0"/>
          </p:cNvCxnSpPr>
          <p:nvPr/>
        </p:nvCxnSpPr>
        <p:spPr>
          <a:xfrm>
            <a:off x="8022771" y="5280344"/>
            <a:ext cx="0" cy="213116"/>
          </a:xfrm>
          <a:prstGeom prst="straightConnector1">
            <a:avLst/>
          </a:prstGeom>
          <a:noFill/>
          <a:ln w="19050" cap="flat" cmpd="sng" algn="ctr">
            <a:solidFill>
              <a:srgbClr val="99DFF9"/>
            </a:solidFill>
            <a:prstDash val="solid"/>
            <a:miter lim="800000"/>
            <a:tailEnd type="triangle"/>
          </a:ln>
          <a:effectLst/>
        </p:spPr>
      </p:cxnSp>
      <p:sp>
        <p:nvSpPr>
          <p:cNvPr id="13" name="文本框 12"/>
          <p:cNvSpPr txBox="1"/>
          <p:nvPr/>
        </p:nvSpPr>
        <p:spPr>
          <a:xfrm>
            <a:off x="3709936" y="5493460"/>
            <a:ext cx="3180679" cy="954107"/>
          </a:xfrm>
          <a:prstGeom prst="rect">
            <a:avLst/>
          </a:prstGeom>
          <a:noFill/>
        </p:spPr>
        <p:txBody>
          <a:bodyPr wrap="none" rtlCol="0">
            <a:spAutoFit/>
          </a:bodyPr>
          <a:lstStyle/>
          <a:p>
            <a:pPr defTabSz="914478" fontAlgn="auto">
              <a:spcBef>
                <a:spcPts val="0"/>
              </a:spcBef>
              <a:spcAft>
                <a:spcPts val="0"/>
              </a:spcAft>
            </a:pP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Port Role=	00 Unknown</a:t>
            </a:r>
          </a:p>
          <a:p>
            <a:pPr defTabSz="914478" fontAlgn="auto">
              <a:spcBef>
                <a:spcPts val="0"/>
              </a:spcBef>
              <a:spcAft>
                <a:spcPts val="0"/>
              </a:spcAft>
            </a:pP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01 Alternate/Backup port</a:t>
            </a:r>
          </a:p>
          <a:p>
            <a:pPr defTabSz="914478" fontAlgn="auto">
              <a:spcBef>
                <a:spcPts val="0"/>
              </a:spcBef>
              <a:spcAft>
                <a:spcPts val="0"/>
              </a:spcAft>
            </a:pP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10 Root port</a:t>
            </a:r>
          </a:p>
          <a:p>
            <a:pPr defTabSz="914478" fontAlgn="auto">
              <a:spcBef>
                <a:spcPts val="0"/>
              </a:spcBef>
              <a:spcAft>
                <a:spcPts val="0"/>
              </a:spcAft>
            </a:pPr>
            <a:r>
              <a:rPr lang="en-US" altLang="zh-CN" sz="140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	11 Designated port</a:t>
            </a:r>
          </a:p>
        </p:txBody>
      </p:sp>
      <p:sp>
        <p:nvSpPr>
          <p:cNvPr id="16" name="流程图: 手动操作 15"/>
          <p:cNvSpPr/>
          <p:nvPr/>
        </p:nvSpPr>
        <p:spPr>
          <a:xfrm flipV="1">
            <a:off x="1699040" y="4364146"/>
            <a:ext cx="6593989" cy="274567"/>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23846"/>
              <a:gd name="connsiteY0" fmla="*/ 174 h 10000"/>
              <a:gd name="connsiteX1" fmla="*/ 23846 w 23846"/>
              <a:gd name="connsiteY1" fmla="*/ 0 h 10000"/>
              <a:gd name="connsiteX2" fmla="*/ 21846 w 23846"/>
              <a:gd name="connsiteY2" fmla="*/ 10000 h 10000"/>
              <a:gd name="connsiteX3" fmla="*/ 15846 w 23846"/>
              <a:gd name="connsiteY3" fmla="*/ 10000 h 10000"/>
              <a:gd name="connsiteX4" fmla="*/ 0 w 23846"/>
              <a:gd name="connsiteY4" fmla="*/ 174 h 10000"/>
              <a:gd name="connsiteX0" fmla="*/ 0 w 59535"/>
              <a:gd name="connsiteY0" fmla="*/ 0 h 9826"/>
              <a:gd name="connsiteX1" fmla="*/ 59535 w 59535"/>
              <a:gd name="connsiteY1" fmla="*/ 0 h 9826"/>
              <a:gd name="connsiteX2" fmla="*/ 21846 w 59535"/>
              <a:gd name="connsiteY2" fmla="*/ 9826 h 9826"/>
              <a:gd name="connsiteX3" fmla="*/ 15846 w 59535"/>
              <a:gd name="connsiteY3" fmla="*/ 9826 h 9826"/>
              <a:gd name="connsiteX4" fmla="*/ 0 w 59535"/>
              <a:gd name="connsiteY4" fmla="*/ 0 h 98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35" h="9826">
                <a:moveTo>
                  <a:pt x="0" y="0"/>
                </a:moveTo>
                <a:lnTo>
                  <a:pt x="59535" y="0"/>
                </a:lnTo>
                <a:lnTo>
                  <a:pt x="21846" y="9826"/>
                </a:lnTo>
                <a:lnTo>
                  <a:pt x="15846" y="9826"/>
                </a:lnTo>
                <a:lnTo>
                  <a:pt x="0" y="0"/>
                </a:lnTo>
                <a:close/>
              </a:path>
            </a:pathLst>
          </a:custGeom>
          <a:gradFill flip="none" rotWithShape="1">
            <a:gsLst>
              <a:gs pos="32000">
                <a:schemeClr val="accent1">
                  <a:lumMod val="5000"/>
                  <a:lumOff val="95000"/>
                </a:schemeClr>
              </a:gs>
              <a:gs pos="84000">
                <a:srgbClr val="99DFF9"/>
              </a:gs>
            </a:gsLst>
            <a:lin ang="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肘形连接符 22"/>
          <p:cNvCxnSpPr>
            <a:endCxn id="13" idx="0"/>
          </p:cNvCxnSpPr>
          <p:nvPr/>
        </p:nvCxnSpPr>
        <p:spPr>
          <a:xfrm rot="5400000">
            <a:off x="5622253" y="4943513"/>
            <a:ext cx="227970" cy="871924"/>
          </a:xfrm>
          <a:prstGeom prst="bentConnector3">
            <a:avLst>
              <a:gd name="adj1" fmla="val 50000"/>
            </a:avLst>
          </a:prstGeom>
          <a:ln w="19050">
            <a:solidFill>
              <a:srgbClr val="99DFF9"/>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6010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的处理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4"/>
          <p:cNvGrpSpPr/>
          <p:nvPr/>
        </p:nvGrpSpPr>
        <p:grpSpPr>
          <a:xfrm>
            <a:off x="957506" y="1758695"/>
            <a:ext cx="4538082" cy="2496450"/>
            <a:chOff x="6281092" y="1347279"/>
            <a:chExt cx="4538082" cy="2496450"/>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9" name="直接连接符 8"/>
            <p:cNvCxnSpPr>
              <a:stCxn id="7" idx="3"/>
              <a:endCxn id="8" idx="1"/>
            </p:cNvCxnSpPr>
            <p:nvPr/>
          </p:nvCxnSpPr>
          <p:spPr>
            <a:xfrm>
              <a:off x="7365849" y="3622329"/>
              <a:ext cx="2395501"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10" name="直接连接符 9"/>
            <p:cNvCxnSpPr>
              <a:stCxn id="8" idx="0"/>
              <a:endCxn id="6"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1" name="文本框 10"/>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a:xfrm>
              <a:off x="8000386" y="1347279"/>
              <a:ext cx="112642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箭头连接符 13"/>
            <p:cNvCxnSpPr>
              <a:stCxn id="7" idx="0"/>
              <a:endCxn id="6"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cxnSp>
        <p:nvCxnSpPr>
          <p:cNvPr id="16" name="直接箭头连接符 15"/>
          <p:cNvCxnSpPr/>
          <p:nvPr/>
        </p:nvCxnSpPr>
        <p:spPr>
          <a:xfrm rot="21240812">
            <a:off x="4139465" y="2771085"/>
            <a:ext cx="398154" cy="626269"/>
          </a:xfrm>
          <a:prstGeom prst="straightConnector1">
            <a:avLst/>
          </a:prstGeom>
          <a:ln w="38100">
            <a:solidFill>
              <a:schemeClr val="tx1">
                <a:lumMod val="65000"/>
                <a:lumOff val="3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rot="4499857">
            <a:off x="1972723" y="2750264"/>
            <a:ext cx="398154" cy="626269"/>
          </a:xfrm>
          <a:prstGeom prst="straightConnector1">
            <a:avLst/>
          </a:prstGeom>
          <a:ln w="38100">
            <a:solidFill>
              <a:schemeClr val="tx1">
                <a:lumMod val="65000"/>
                <a:lumOff val="3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581606" y="2782529"/>
            <a:ext cx="1728770" cy="338554"/>
          </a:xfrm>
          <a:prstGeom prst="rect">
            <a:avLst/>
          </a:prstGeom>
          <a:noFill/>
        </p:spPr>
        <p:txBody>
          <a:bodyPr wrap="square" rtlCol="0">
            <a:spAutoFit/>
          </a:bodyPr>
          <a:lstStyle/>
          <a:p>
            <a:pPr fontAlgn="auto">
              <a:spcBef>
                <a:spcPts val="0"/>
              </a:spcBef>
              <a:spcAft>
                <a:spcPts val="0"/>
              </a:spcAft>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Hello Time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2s</a:t>
            </a:r>
          </a:p>
        </p:txBody>
      </p:sp>
      <p:cxnSp>
        <p:nvCxnSpPr>
          <p:cNvPr id="26" name="直接箭头连接符 25"/>
          <p:cNvCxnSpPr/>
          <p:nvPr/>
        </p:nvCxnSpPr>
        <p:spPr>
          <a:xfrm>
            <a:off x="2948492" y="4297072"/>
            <a:ext cx="772055" cy="0"/>
          </a:xfrm>
          <a:prstGeom prst="straightConnector1">
            <a:avLst/>
          </a:prstGeom>
          <a:ln w="38100">
            <a:solidFill>
              <a:schemeClr val="tx1">
                <a:lumMod val="65000"/>
                <a:lumOff val="3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2465627" y="4437513"/>
            <a:ext cx="1728770" cy="338554"/>
          </a:xfrm>
          <a:prstGeom prst="rect">
            <a:avLst/>
          </a:prstGeom>
          <a:noFill/>
        </p:spPr>
        <p:txBody>
          <a:bodyPr wrap="square" rtlCol="0">
            <a:spAutoFit/>
          </a:bodyPr>
          <a:lstStyle/>
          <a:p>
            <a:pPr fontAlgn="auto">
              <a:spcBef>
                <a:spcPts val="0"/>
              </a:spcBef>
              <a:spcAft>
                <a:spcPts val="0"/>
              </a:spcAft>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Hello Time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2s</a:t>
            </a:r>
          </a:p>
        </p:txBody>
      </p:sp>
      <p:sp>
        <p:nvSpPr>
          <p:cNvPr id="29" name="文本框 28"/>
          <p:cNvSpPr txBox="1"/>
          <p:nvPr/>
        </p:nvSpPr>
        <p:spPr>
          <a:xfrm>
            <a:off x="4483732" y="2782529"/>
            <a:ext cx="1728770" cy="338554"/>
          </a:xfrm>
          <a:prstGeom prst="rect">
            <a:avLst/>
          </a:prstGeom>
          <a:noFill/>
        </p:spPr>
        <p:txBody>
          <a:bodyPr wrap="square" rtlCol="0">
            <a:spAutoFit/>
          </a:bodyPr>
          <a:lstStyle/>
          <a:p>
            <a:pPr fontAlgn="auto">
              <a:spcBef>
                <a:spcPts val="0"/>
              </a:spcBef>
              <a:spcAft>
                <a:spcPts val="0"/>
              </a:spcAft>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Hello Time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2s</a:t>
            </a:r>
          </a:p>
        </p:txBody>
      </p:sp>
      <p:sp>
        <p:nvSpPr>
          <p:cNvPr id="32" name="圆角矩形 75"/>
          <p:cNvSpPr/>
          <p:nvPr/>
        </p:nvSpPr>
        <p:spPr>
          <a:xfrm>
            <a:off x="6517747" y="1887778"/>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拓扑稳定后，配置</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报文的发送方式</a:t>
            </a:r>
          </a:p>
        </p:txBody>
      </p:sp>
      <p:sp>
        <p:nvSpPr>
          <p:cNvPr id="33" name="圆角矩形 75"/>
          <p:cNvSpPr/>
          <p:nvPr/>
        </p:nvSpPr>
        <p:spPr>
          <a:xfrm>
            <a:off x="6517747" y="2319284"/>
            <a:ext cx="4784646" cy="187211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108000" rIns="180000" bIns="108000" rtlCol="0" anchor="ctr" anchorCtr="0">
            <a:noAutofit/>
          </a:bodyPr>
          <a:lstStyle/>
          <a:p>
            <a:pPr algn="just">
              <a:lnSpc>
                <a:spcPts val="2600"/>
              </a:lnSpc>
              <a:spcAft>
                <a:spcPts val="600"/>
              </a:spcAft>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的发送方式进行了改进。</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80000" indent="-180000" algn="just">
              <a:lnSpc>
                <a:spcPts val="2600"/>
              </a:lnSpc>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在拓扑稳定后，无论非根桥设备是否接收到根桥传来的配置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报文，非根桥设备仍然按照</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Hello Time</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规定的时间间隔发送配置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，该行为完全由每台设备自主进行。</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椭圆 35"/>
          <p:cNvSpPr>
            <a:spLocks noChangeAspect="1"/>
          </p:cNvSpPr>
          <p:nvPr/>
        </p:nvSpPr>
        <p:spPr>
          <a:xfrm>
            <a:off x="2303628" y="2684376"/>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36"/>
          <p:cNvSpPr>
            <a:spLocks noChangeAspect="1"/>
          </p:cNvSpPr>
          <p:nvPr/>
        </p:nvSpPr>
        <p:spPr>
          <a:xfrm>
            <a:off x="4002219" y="2684376"/>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椭圆 37"/>
          <p:cNvSpPr>
            <a:spLocks noChangeAspect="1"/>
          </p:cNvSpPr>
          <p:nvPr/>
        </p:nvSpPr>
        <p:spPr>
          <a:xfrm>
            <a:off x="2864341" y="4191399"/>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a:xfrm>
            <a:off x="782516" y="5695789"/>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40" name="椭圆 39"/>
          <p:cNvSpPr>
            <a:spLocks noChangeAspect="1"/>
          </p:cNvSpPr>
          <p:nvPr/>
        </p:nvSpPr>
        <p:spPr>
          <a:xfrm>
            <a:off x="540803" y="575004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75"/>
          <p:cNvSpPr/>
          <p:nvPr/>
        </p:nvSpPr>
        <p:spPr>
          <a:xfrm>
            <a:off x="6517747" y="4281075"/>
            <a:ext cx="4784646" cy="141471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108000" rIns="180000" bIns="108000" rtlCol="0" anchor="ctr" anchorCtr="0">
            <a:noAutofit/>
          </a:bodyPr>
          <a:lstStyle/>
          <a:p>
            <a:pPr algn="just">
              <a:lnSpc>
                <a:spcPts val="2600"/>
              </a:lnSpc>
              <a:spcAft>
                <a:spcPts val="600"/>
              </a:spcAft>
            </a:pP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拓扑稳定后，根桥按照</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Hello Time</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规定的时间间隔发送配置</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。其他非根桥设备在收到上游设备发送过来的配置</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后，才会触发发出配置</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，此方式使得</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计算复杂且缓慢。</a:t>
            </a:r>
          </a:p>
        </p:txBody>
      </p:sp>
    </p:spTree>
    <p:extLst>
      <p:ext uri="{BB962C8B-B14F-4D97-AF65-F5344CB8AC3E}">
        <p14:creationId xmlns:p14="http://schemas.microsoft.com/office/powerpoint/2010/main" val="1279492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的处理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4"/>
          <p:cNvGrpSpPr/>
          <p:nvPr/>
        </p:nvGrpSpPr>
        <p:grpSpPr>
          <a:xfrm>
            <a:off x="1414702" y="2053660"/>
            <a:ext cx="4538082" cy="2496450"/>
            <a:chOff x="6281092" y="1347279"/>
            <a:chExt cx="4538082" cy="2496450"/>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9" name="直接连接符 8"/>
            <p:cNvCxnSpPr>
              <a:stCxn id="7" idx="3"/>
              <a:endCxn id="8" idx="1"/>
            </p:cNvCxnSpPr>
            <p:nvPr/>
          </p:nvCxnSpPr>
          <p:spPr>
            <a:xfrm>
              <a:off x="7365849" y="3622329"/>
              <a:ext cx="2395501"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10" name="直接连接符 9"/>
            <p:cNvCxnSpPr>
              <a:stCxn id="8" idx="0"/>
              <a:endCxn id="6"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1" name="文本框 10"/>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a:xfrm>
              <a:off x="8000386" y="1347279"/>
              <a:ext cx="112642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箭头连接符 13"/>
            <p:cNvCxnSpPr>
              <a:stCxn id="7" idx="0"/>
              <a:endCxn id="6"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32" name="圆角矩形 75"/>
          <p:cNvSpPr/>
          <p:nvPr/>
        </p:nvSpPr>
        <p:spPr>
          <a:xfrm>
            <a:off x="6517747" y="2007046"/>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更短的</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超时时间</a:t>
            </a:r>
          </a:p>
        </p:txBody>
      </p:sp>
      <p:sp>
        <p:nvSpPr>
          <p:cNvPr id="33" name="圆角矩形 75"/>
          <p:cNvSpPr/>
          <p:nvPr/>
        </p:nvSpPr>
        <p:spPr>
          <a:xfrm>
            <a:off x="6517747" y="2438552"/>
            <a:ext cx="4784646" cy="149974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108000" rIns="180000" bIns="108000" rtlCol="0" anchor="ctr" anchorCtr="0">
            <a:noAutofit/>
          </a:bodyPr>
          <a:lstStyle/>
          <a:p>
            <a:pPr algn="just">
              <a:lnSpc>
                <a:spcPts val="2600"/>
              </a:lnSpc>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如果一个端口在超时时间（即三个周期，超时时间＝</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Hello Time×3</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）内没有收到上游设备发送过来的配置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，那么该设备认为与此邻居之间的协商失败。</a:t>
            </a:r>
          </a:p>
        </p:txBody>
      </p:sp>
      <p:cxnSp>
        <p:nvCxnSpPr>
          <p:cNvPr id="38" name="直接箭头连接符 37"/>
          <p:cNvCxnSpPr/>
          <p:nvPr/>
        </p:nvCxnSpPr>
        <p:spPr>
          <a:xfrm>
            <a:off x="2740675" y="4126826"/>
            <a:ext cx="772055" cy="0"/>
          </a:xfrm>
          <a:prstGeom prst="straightConnector1">
            <a:avLst/>
          </a:prstGeom>
          <a:ln w="38100">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 name="圆角矩形标注 1"/>
          <p:cNvSpPr/>
          <p:nvPr/>
        </p:nvSpPr>
        <p:spPr>
          <a:xfrm>
            <a:off x="1989343" y="4659730"/>
            <a:ext cx="1804274" cy="1057560"/>
          </a:xfrm>
          <a:prstGeom prst="wedgeRoundRectCallout">
            <a:avLst>
              <a:gd name="adj1" fmla="val -25851"/>
              <a:gd name="adj2" fmla="val -68025"/>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6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等待</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6s</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后认为邻居失效，发送自己的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7" name="文本框 46"/>
          <p:cNvSpPr txBox="1"/>
          <p:nvPr/>
        </p:nvSpPr>
        <p:spPr>
          <a:xfrm>
            <a:off x="782516" y="5695789"/>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48" name="椭圆 47"/>
          <p:cNvSpPr>
            <a:spLocks noChangeAspect="1"/>
          </p:cNvSpPr>
          <p:nvPr/>
        </p:nvSpPr>
        <p:spPr>
          <a:xfrm>
            <a:off x="540803" y="575004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48"/>
          <p:cNvSpPr>
            <a:spLocks noChangeAspect="1"/>
          </p:cNvSpPr>
          <p:nvPr/>
        </p:nvSpPr>
        <p:spPr>
          <a:xfrm>
            <a:off x="2635002" y="4021917"/>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圆角矩形 75"/>
          <p:cNvSpPr/>
          <p:nvPr/>
        </p:nvSpPr>
        <p:spPr>
          <a:xfrm>
            <a:off x="6517747" y="4049201"/>
            <a:ext cx="4784646" cy="43967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108000" rIns="180000" bIns="108000" rtlCol="0" anchor="ctr" anchorCtr="0">
            <a:noAutofit/>
          </a:bodyPr>
          <a:lstStyle/>
          <a:p>
            <a:pPr algn="just">
              <a:lnSpc>
                <a:spcPts val="2600"/>
              </a:lnSpc>
              <a:spcAft>
                <a:spcPts val="600"/>
              </a:spcAft>
            </a:pP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需要先等待一个</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Max Age</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6" name="文本框 25"/>
          <p:cNvSpPr txBox="1"/>
          <p:nvPr/>
        </p:nvSpPr>
        <p:spPr>
          <a:xfrm>
            <a:off x="1105342" y="3367048"/>
            <a:ext cx="1680989" cy="338554"/>
          </a:xfrm>
          <a:prstGeom prst="rect">
            <a:avLst/>
          </a:prstGeom>
          <a:noFill/>
        </p:spPr>
        <p:txBody>
          <a:bodyPr wrap="square" rtlCol="0">
            <a:spAutoFit/>
          </a:bodyPr>
          <a:lstStyle/>
          <a:p>
            <a:pPr fontAlgn="auto">
              <a:spcBef>
                <a:spcPts val="0"/>
              </a:spcBef>
              <a:spcAft>
                <a:spcPts val="0"/>
              </a:spcAft>
            </a:pP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单向链路故障</a:t>
            </a:r>
            <a:endPar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下箭头 63"/>
          <p:cNvSpPr/>
          <p:nvPr/>
        </p:nvSpPr>
        <p:spPr>
          <a:xfrm rot="18029496" flipV="1">
            <a:off x="2121596" y="2737906"/>
            <a:ext cx="575197" cy="512938"/>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99DFF9"/>
              </a:gs>
              <a:gs pos="100000">
                <a:schemeClr val="bg1">
                  <a:alpha val="0"/>
                </a:schemeClr>
              </a:gs>
            </a:gsLst>
            <a:lin ang="16200000" scaled="1"/>
            <a:tileRect/>
          </a:gradFill>
          <a:ln w="19050">
            <a:gradFill flip="none" rotWithShape="1">
              <a:gsLst>
                <a:gs pos="100000">
                  <a:schemeClr val="bg1">
                    <a:lumMod val="100000"/>
                    <a:alpha val="0"/>
                  </a:schemeClr>
                </a:gs>
                <a:gs pos="31000">
                  <a:srgbClr val="99DFF9"/>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4" name="组合 23"/>
          <p:cNvGrpSpPr/>
          <p:nvPr/>
        </p:nvGrpSpPr>
        <p:grpSpPr>
          <a:xfrm rot="4923948">
            <a:off x="525269" y="1334153"/>
            <a:ext cx="1800000" cy="1800000"/>
            <a:chOff x="3854220" y="1479147"/>
            <a:chExt cx="1800000" cy="1800000"/>
          </a:xfrm>
        </p:grpSpPr>
        <p:sp>
          <p:nvSpPr>
            <p:cNvPr id="28" name="椭圆 27"/>
            <p:cNvSpPr/>
            <p:nvPr/>
          </p:nvSpPr>
          <p:spPr>
            <a:xfrm>
              <a:off x="3854220" y="1479147"/>
              <a:ext cx="1800000" cy="1800000"/>
            </a:xfrm>
            <a:prstGeom prst="ellipse">
              <a:avLst/>
            </a:prstGeom>
            <a:solidFill>
              <a:srgbClr val="F4FBFE"/>
            </a:solidFill>
            <a:ln w="2857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箭头连接符 28"/>
            <p:cNvCxnSpPr/>
            <p:nvPr/>
          </p:nvCxnSpPr>
          <p:spPr>
            <a:xfrm>
              <a:off x="4172068" y="1990822"/>
              <a:ext cx="990786" cy="109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4412011" y="1812387"/>
              <a:ext cx="986311" cy="1074469"/>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Can 9"/>
            <p:cNvSpPr/>
            <p:nvPr/>
          </p:nvSpPr>
          <p:spPr>
            <a:xfrm rot="8215495">
              <a:off x="4511742" y="2093419"/>
              <a:ext cx="522574" cy="666049"/>
            </a:xfrm>
            <a:prstGeom prst="can">
              <a:avLst/>
            </a:prstGeom>
            <a:gradFill flip="none" rotWithShape="1">
              <a:gsLst>
                <a:gs pos="0">
                  <a:schemeClr val="bg1">
                    <a:lumMod val="95000"/>
                  </a:schemeClr>
                </a:gs>
                <a:gs pos="100000">
                  <a:schemeClr val="bg1">
                    <a:lumMod val="95000"/>
                  </a:schemeClr>
                </a:gs>
              </a:gsLst>
              <a:lin ang="2700000" scaled="1"/>
              <a:tileRect/>
            </a:gra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136"/>
            <p:cNvSpPr txBox="1"/>
            <p:nvPr/>
          </p:nvSpPr>
          <p:spPr>
            <a:xfrm rot="13591313">
              <a:off x="4329829" y="2180646"/>
              <a:ext cx="756656" cy="469937"/>
            </a:xfrm>
            <a:prstGeom prst="rect">
              <a:avLst/>
            </a:prstGeom>
            <a:noFill/>
          </p:spPr>
          <p:txBody>
            <a:bodyPr wrap="square" rtlCol="0">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LINK</a:t>
              </a:r>
              <a:endParaRPr kumimoji="0" lang="zh-CN" altLang="en-US" sz="1600" b="1"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十字形 34"/>
            <p:cNvSpPr/>
            <p:nvPr/>
          </p:nvSpPr>
          <p:spPr>
            <a:xfrm rot="1218251">
              <a:off x="4897761" y="2807577"/>
              <a:ext cx="252000" cy="252000"/>
            </a:xfrm>
            <a:prstGeom prst="plus">
              <a:avLst>
                <a:gd name="adj" fmla="val 39697"/>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78" rtl="0" eaLnBrk="1" latinLnBrk="0" hangingPunct="1">
                <a:defRPr sz="1800" kern="1200">
                  <a:solidFill>
                    <a:schemeClr val="lt1"/>
                  </a:solidFill>
                  <a:latin typeface="+mn-lt"/>
                  <a:ea typeface="+mn-ea"/>
                  <a:cs typeface="+mn-cs"/>
                </a:defRPr>
              </a:lvl1pPr>
              <a:lvl2pPr marL="457240" algn="l" defTabSz="914478" rtl="0" eaLnBrk="1" latinLnBrk="0" hangingPunct="1">
                <a:defRPr sz="1800" kern="1200">
                  <a:solidFill>
                    <a:schemeClr val="lt1"/>
                  </a:solidFill>
                  <a:latin typeface="+mn-lt"/>
                  <a:ea typeface="+mn-ea"/>
                  <a:cs typeface="+mn-cs"/>
                </a:defRPr>
              </a:lvl2pPr>
              <a:lvl3pPr marL="914478" algn="l" defTabSz="914478" rtl="0" eaLnBrk="1" latinLnBrk="0" hangingPunct="1">
                <a:defRPr sz="1800" kern="1200">
                  <a:solidFill>
                    <a:schemeClr val="lt1"/>
                  </a:solidFill>
                  <a:latin typeface="+mn-lt"/>
                  <a:ea typeface="+mn-ea"/>
                  <a:cs typeface="+mn-cs"/>
                </a:defRPr>
              </a:lvl3pPr>
              <a:lvl4pPr marL="1371718" algn="l" defTabSz="914478" rtl="0" eaLnBrk="1" latinLnBrk="0" hangingPunct="1">
                <a:defRPr sz="1800" kern="1200">
                  <a:solidFill>
                    <a:schemeClr val="lt1"/>
                  </a:solidFill>
                  <a:latin typeface="+mn-lt"/>
                  <a:ea typeface="+mn-ea"/>
                  <a:cs typeface="+mn-cs"/>
                </a:defRPr>
              </a:lvl4pPr>
              <a:lvl5pPr marL="1828957" algn="l" defTabSz="914478" rtl="0" eaLnBrk="1" latinLnBrk="0" hangingPunct="1">
                <a:defRPr sz="1800" kern="1200">
                  <a:solidFill>
                    <a:schemeClr val="lt1"/>
                  </a:solidFill>
                  <a:latin typeface="+mn-lt"/>
                  <a:ea typeface="+mn-ea"/>
                  <a:cs typeface="+mn-cs"/>
                </a:defRPr>
              </a:lvl5pPr>
              <a:lvl6pPr marL="2286196" algn="l" defTabSz="914478" rtl="0" eaLnBrk="1" latinLnBrk="0" hangingPunct="1">
                <a:defRPr sz="1800" kern="1200">
                  <a:solidFill>
                    <a:schemeClr val="lt1"/>
                  </a:solidFill>
                  <a:latin typeface="+mn-lt"/>
                  <a:ea typeface="+mn-ea"/>
                  <a:cs typeface="+mn-cs"/>
                </a:defRPr>
              </a:lvl6pPr>
              <a:lvl7pPr marL="2743435" algn="l" defTabSz="914478" rtl="0" eaLnBrk="1" latinLnBrk="0" hangingPunct="1">
                <a:defRPr sz="1800" kern="1200">
                  <a:solidFill>
                    <a:schemeClr val="lt1"/>
                  </a:solidFill>
                  <a:latin typeface="+mn-lt"/>
                  <a:ea typeface="+mn-ea"/>
                  <a:cs typeface="+mn-cs"/>
                </a:defRPr>
              </a:lvl7pPr>
              <a:lvl8pPr marL="3200675" algn="l" defTabSz="914478" rtl="0" eaLnBrk="1" latinLnBrk="0" hangingPunct="1">
                <a:defRPr sz="1800" kern="1200">
                  <a:solidFill>
                    <a:schemeClr val="lt1"/>
                  </a:solidFill>
                  <a:latin typeface="+mn-lt"/>
                  <a:ea typeface="+mn-ea"/>
                  <a:cs typeface="+mn-cs"/>
                </a:defRPr>
              </a:lvl8pPr>
              <a:lvl9pPr marL="3657913" algn="l" defTabSz="914478" rtl="0" eaLnBrk="1" latinLnBrk="0" hangingPunct="1">
                <a:defRPr sz="1800" kern="1200">
                  <a:solidFill>
                    <a:schemeClr val="lt1"/>
                  </a:solidFill>
                  <a:latin typeface="+mn-lt"/>
                  <a:ea typeface="+mn-ea"/>
                  <a:cs typeface="+mn-cs"/>
                </a:defRPr>
              </a:lvl9pPr>
            </a:lstStyle>
            <a:p>
              <a:pPr algn="ctr" fontAlgn="auto">
                <a:spcBef>
                  <a:spcPts val="0"/>
                </a:spcBef>
                <a:spcAft>
                  <a:spcPts val="0"/>
                </a:spcAft>
              </a:pPr>
              <a:endParaRPr lang="zh-CN" altLang="en-US" sz="9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36" name="直接箭头连接符 35"/>
          <p:cNvCxnSpPr>
            <a:stCxn id="37" idx="3"/>
          </p:cNvCxnSpPr>
          <p:nvPr/>
        </p:nvCxnSpPr>
        <p:spPr>
          <a:xfrm flipH="1">
            <a:off x="2458129" y="3009644"/>
            <a:ext cx="501973" cy="564575"/>
          </a:xfrm>
          <a:prstGeom prst="straightConnector1">
            <a:avLst/>
          </a:prstGeom>
          <a:ln w="38100">
            <a:solidFill>
              <a:schemeClr val="tx1">
                <a:lumMod val="65000"/>
                <a:lumOff val="3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7" name="椭圆 36"/>
          <p:cNvSpPr>
            <a:spLocks noChangeAspect="1"/>
          </p:cNvSpPr>
          <p:nvPr/>
        </p:nvSpPr>
        <p:spPr>
          <a:xfrm>
            <a:off x="2929151" y="2829250"/>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十字形 24"/>
          <p:cNvSpPr/>
          <p:nvPr/>
        </p:nvSpPr>
        <p:spPr>
          <a:xfrm rot="20700000">
            <a:off x="2573358" y="3098986"/>
            <a:ext cx="345945" cy="345945"/>
          </a:xfrm>
          <a:prstGeom prst="plus">
            <a:avLst>
              <a:gd name="adj" fmla="val 39697"/>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44195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：配置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的处理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4"/>
          <p:cNvGrpSpPr/>
          <p:nvPr/>
        </p:nvGrpSpPr>
        <p:grpSpPr>
          <a:xfrm>
            <a:off x="957506" y="1758695"/>
            <a:ext cx="4538082" cy="2496450"/>
            <a:chOff x="6281092" y="1347279"/>
            <a:chExt cx="4538082" cy="2496450"/>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9" name="直接连接符 8"/>
            <p:cNvCxnSpPr>
              <a:stCxn id="7" idx="3"/>
              <a:endCxn id="8"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10" name="直接连接符 9"/>
            <p:cNvCxnSpPr>
              <a:stCxn id="8" idx="0"/>
              <a:endCxn id="6"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1" name="文本框 10"/>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a:xfrm>
              <a:off x="7995268" y="1347279"/>
              <a:ext cx="1136662"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箭头连接符 13"/>
            <p:cNvCxnSpPr>
              <a:stCxn id="7" idx="0"/>
              <a:endCxn id="6"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38" name="圆角矩形标注 37"/>
          <p:cNvSpPr/>
          <p:nvPr/>
        </p:nvSpPr>
        <p:spPr>
          <a:xfrm>
            <a:off x="1108160" y="4386309"/>
            <a:ext cx="2513935" cy="1057560"/>
          </a:xfrm>
          <a:prstGeom prst="wedgeRoundRectCallout">
            <a:avLst>
              <a:gd name="adj1" fmla="val -25851"/>
              <a:gd name="adj2" fmla="val -68025"/>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lgn="just">
              <a:lnSpc>
                <a:spcPts val="2600"/>
              </a:lnSpc>
              <a:spcAft>
                <a:spcPts val="600"/>
              </a:spcAft>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不再收到上游的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后，会认为自己是根桥，发送自身的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1" name="文本框 40"/>
          <p:cNvSpPr txBox="1"/>
          <p:nvPr/>
        </p:nvSpPr>
        <p:spPr>
          <a:xfrm>
            <a:off x="782516" y="5695789"/>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42" name="椭圆 41"/>
          <p:cNvSpPr>
            <a:spLocks noChangeAspect="1"/>
          </p:cNvSpPr>
          <p:nvPr/>
        </p:nvSpPr>
        <p:spPr>
          <a:xfrm>
            <a:off x="540803" y="575004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十字形 43"/>
          <p:cNvSpPr/>
          <p:nvPr/>
        </p:nvSpPr>
        <p:spPr>
          <a:xfrm rot="1372902">
            <a:off x="2192155" y="2974594"/>
            <a:ext cx="345945" cy="345945"/>
          </a:xfrm>
          <a:prstGeom prst="plus">
            <a:avLst>
              <a:gd name="adj" fmla="val 39697"/>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a:xfrm>
            <a:off x="1223901" y="2914078"/>
            <a:ext cx="1072679" cy="338554"/>
          </a:xfrm>
          <a:prstGeom prst="rect">
            <a:avLst/>
          </a:prstGeom>
          <a:noFill/>
        </p:spPr>
        <p:txBody>
          <a:bodyPr wrap="square" rtlCol="0">
            <a:spAutoFit/>
          </a:bodyPr>
          <a:lstStyle/>
          <a:p>
            <a:pPr fontAlgn="auto">
              <a:spcBef>
                <a:spcPts val="0"/>
              </a:spcBef>
              <a:spcAft>
                <a:spcPts val="0"/>
              </a:spcAft>
            </a:pP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链路故障</a:t>
            </a:r>
            <a:endPar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6" name="直接箭头连接符 45"/>
          <p:cNvCxnSpPr/>
          <p:nvPr/>
        </p:nvCxnSpPr>
        <p:spPr>
          <a:xfrm rot="21240812">
            <a:off x="4139465" y="2771085"/>
            <a:ext cx="398154" cy="626269"/>
          </a:xfrm>
          <a:prstGeom prst="straightConnector1">
            <a:avLst/>
          </a:prstGeom>
          <a:ln w="38100">
            <a:solidFill>
              <a:schemeClr val="tx1">
                <a:lumMod val="65000"/>
                <a:lumOff val="3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7" name="椭圆 46"/>
          <p:cNvSpPr>
            <a:spLocks noChangeAspect="1"/>
          </p:cNvSpPr>
          <p:nvPr/>
        </p:nvSpPr>
        <p:spPr>
          <a:xfrm>
            <a:off x="4002219" y="2684376"/>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箭头连接符 47"/>
          <p:cNvCxnSpPr/>
          <p:nvPr/>
        </p:nvCxnSpPr>
        <p:spPr>
          <a:xfrm>
            <a:off x="2283479" y="3831861"/>
            <a:ext cx="772055" cy="0"/>
          </a:xfrm>
          <a:prstGeom prst="straightConnector1">
            <a:avLst/>
          </a:prstGeom>
          <a:ln w="38100">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椭圆 48"/>
          <p:cNvSpPr>
            <a:spLocks noChangeAspect="1"/>
          </p:cNvSpPr>
          <p:nvPr/>
        </p:nvSpPr>
        <p:spPr>
          <a:xfrm>
            <a:off x="2177806" y="372695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圆角矩形标注 49"/>
          <p:cNvSpPr/>
          <p:nvPr/>
        </p:nvSpPr>
        <p:spPr>
          <a:xfrm>
            <a:off x="3930913" y="4374828"/>
            <a:ext cx="2400585" cy="1304358"/>
          </a:xfrm>
          <a:prstGeom prst="wedgeRoundRectCallout">
            <a:avLst>
              <a:gd name="adj1" fmla="val -20486"/>
              <a:gd name="adj2" fmla="val -63088"/>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lgn="just">
              <a:lnSpc>
                <a:spcPts val="2600"/>
              </a:lnSpc>
              <a:spcAft>
                <a:spcPts val="600"/>
              </a:spcAft>
              <a:buFont typeface="+mj-lt"/>
              <a:buAutoNum type="arabicPeriod" startAt="2"/>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收到次优</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后，会与自身缓存的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进行比较，并立即回应自身的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51" name="直接箭头连接符 50"/>
          <p:cNvCxnSpPr/>
          <p:nvPr/>
        </p:nvCxnSpPr>
        <p:spPr>
          <a:xfrm flipH="1">
            <a:off x="3472425" y="4204033"/>
            <a:ext cx="772055" cy="0"/>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2" name="椭圆 51"/>
          <p:cNvSpPr>
            <a:spLocks noChangeAspect="1"/>
          </p:cNvSpPr>
          <p:nvPr/>
        </p:nvSpPr>
        <p:spPr>
          <a:xfrm>
            <a:off x="4108889" y="4099077"/>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圆角矩形 75"/>
          <p:cNvSpPr/>
          <p:nvPr/>
        </p:nvSpPr>
        <p:spPr>
          <a:xfrm>
            <a:off x="6517747" y="1985046"/>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处理次优</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BPDU</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75"/>
          <p:cNvSpPr/>
          <p:nvPr/>
        </p:nvSpPr>
        <p:spPr>
          <a:xfrm>
            <a:off x="6517747" y="2416551"/>
            <a:ext cx="4784646" cy="244683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当一个端口收到上游的指定桥发来的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报文时，该端口会将自身缓存的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与收到的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进行比较。</a:t>
            </a: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如果该端口缓存的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优于收到的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，那么该端口会</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直接丢弃</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立即回应</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自身缓存的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，从而加快收敛速度。</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圆角矩形 75"/>
          <p:cNvSpPr/>
          <p:nvPr/>
        </p:nvSpPr>
        <p:spPr>
          <a:xfrm>
            <a:off x="6517747" y="4945702"/>
            <a:ext cx="4784646" cy="44624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108000" rIns="180000" bIns="108000" rtlCol="0" anchor="ctr" anchorCtr="0">
            <a:noAutofit/>
          </a:bodyPr>
          <a:lstStyle/>
          <a:p>
            <a:pPr algn="just">
              <a:lnSpc>
                <a:spcPts val="2600"/>
              </a:lnSpc>
              <a:spcAft>
                <a:spcPts val="600"/>
              </a:spcAft>
            </a:pP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协议只有指定端口会立即处理次优</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Tree>
    <p:extLst>
      <p:ext uri="{BB962C8B-B14F-4D97-AF65-F5344CB8AC3E}">
        <p14:creationId xmlns:p14="http://schemas.microsoft.com/office/powerpoint/2010/main" val="2313328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48"/>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：快速收敛机制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75"/>
          <p:cNvSpPr/>
          <p:nvPr/>
        </p:nvSpPr>
        <p:spPr>
          <a:xfrm>
            <a:off x="6517747" y="1652527"/>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边缘端口 </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(Edge Port)</a:t>
            </a:r>
            <a:endPar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75"/>
          <p:cNvSpPr/>
          <p:nvPr/>
        </p:nvSpPr>
        <p:spPr>
          <a:xfrm>
            <a:off x="6517747" y="2084032"/>
            <a:ext cx="4784646" cy="328438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里面，如果某一个端口位于整个网络的边缘，即不再与其他交换设备连接，而是直接与终端设备直连，这种端口可以设置为边缘端口。</a:t>
            </a: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边缘端口不参与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计算，可以由</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直接进入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但是一旦边缘端口收到配置</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，就丧失了边缘端口属性，成为普通</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端口，并重新进行生成树计算，从而引起网络震荡。</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椭圆 126"/>
          <p:cNvSpPr>
            <a:spLocks noChangeAspect="1"/>
          </p:cNvSpPr>
          <p:nvPr/>
        </p:nvSpPr>
        <p:spPr>
          <a:xfrm>
            <a:off x="679563" y="5734669"/>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文本框 127"/>
          <p:cNvSpPr txBox="1"/>
          <p:nvPr/>
        </p:nvSpPr>
        <p:spPr>
          <a:xfrm>
            <a:off x="862482" y="5697021"/>
            <a:ext cx="913456" cy="307777"/>
          </a:xfrm>
          <a:prstGeom prst="rect">
            <a:avLst/>
          </a:prstGeom>
          <a:noFill/>
        </p:spPr>
        <p:txBody>
          <a:bodyPr wrap="square" rtlCol="0">
            <a:spAutoFit/>
          </a:bodyPr>
          <a:lstStyle/>
          <a:p>
            <a:pPr fontAlgn="auto">
              <a:spcBef>
                <a:spcPts val="0"/>
              </a:spcBef>
              <a:spcAft>
                <a:spcPts val="0"/>
              </a:spcAft>
            </a:pPr>
            <a:r>
              <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边缘端口</a:t>
            </a:r>
          </a:p>
        </p:txBody>
      </p:sp>
      <p:grpSp>
        <p:nvGrpSpPr>
          <p:cNvPr id="149" name="组合 148"/>
          <p:cNvGrpSpPr/>
          <p:nvPr/>
        </p:nvGrpSpPr>
        <p:grpSpPr>
          <a:xfrm>
            <a:off x="961181" y="1763257"/>
            <a:ext cx="4538082" cy="3334956"/>
            <a:chOff x="821988" y="2199308"/>
            <a:chExt cx="4538082" cy="3334956"/>
          </a:xfrm>
        </p:grpSpPr>
        <p:grpSp>
          <p:nvGrpSpPr>
            <p:cNvPr id="150" name="组合 149"/>
            <p:cNvGrpSpPr/>
            <p:nvPr/>
          </p:nvGrpSpPr>
          <p:grpSpPr>
            <a:xfrm>
              <a:off x="821988" y="2199308"/>
              <a:ext cx="4538082" cy="2496450"/>
              <a:chOff x="6281092" y="1347279"/>
              <a:chExt cx="4538082" cy="2496450"/>
            </a:xfrm>
          </p:grpSpPr>
          <p:pic>
            <p:nvPicPr>
              <p:cNvPr id="160" name="图片 15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161" name="图片 1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162" name="图片 1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163" name="直接连接符 162"/>
              <p:cNvCxnSpPr>
                <a:stCxn id="161" idx="3"/>
                <a:endCxn id="162" idx="1"/>
              </p:cNvCxnSpPr>
              <p:nvPr/>
            </p:nvCxnSpPr>
            <p:spPr>
              <a:xfrm>
                <a:off x="7365849" y="3622329"/>
                <a:ext cx="2395501"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164" name="直接连接符 163"/>
              <p:cNvCxnSpPr>
                <a:stCxn id="162" idx="0"/>
                <a:endCxn id="160"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65" name="文本框 164"/>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6" name="文本框 165"/>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7" name="文本框 166"/>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8" name="直接箭头连接符 167"/>
              <p:cNvCxnSpPr>
                <a:stCxn id="161" idx="0"/>
                <a:endCxn id="160"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pic>
          <p:nvPicPr>
            <p:cNvPr id="151" name="图片 150" descr="PC.png"/>
            <p:cNvPicPr>
              <a:picLocks noChangeAspect="1"/>
            </p:cNvPicPr>
            <p:nvPr/>
          </p:nvPicPr>
          <p:blipFill>
            <a:blip r:embed="rId4" cstate="print"/>
            <a:stretch>
              <a:fillRect/>
            </a:stretch>
          </p:blipFill>
          <p:spPr>
            <a:xfrm>
              <a:off x="4291936" y="5091464"/>
              <a:ext cx="576563" cy="442800"/>
            </a:xfrm>
            <a:prstGeom prst="rect">
              <a:avLst/>
            </a:prstGeom>
          </p:spPr>
        </p:pic>
        <p:cxnSp>
          <p:nvCxnSpPr>
            <p:cNvPr id="152" name="直接连接符 151"/>
            <p:cNvCxnSpPr>
              <a:stCxn id="151" idx="0"/>
              <a:endCxn id="162" idx="2"/>
            </p:cNvCxnSpPr>
            <p:nvPr/>
          </p:nvCxnSpPr>
          <p:spPr>
            <a:xfrm flipH="1" flipV="1">
              <a:off x="4572246" y="4695758"/>
              <a:ext cx="0" cy="395706"/>
            </a:xfrm>
            <a:prstGeom prst="line">
              <a:avLst/>
            </a:prstGeom>
            <a:noFill/>
            <a:ln w="19050" cap="flat" cmpd="sng" algn="ctr">
              <a:solidFill>
                <a:srgbClr val="151515"/>
              </a:solidFill>
              <a:prstDash val="solid"/>
              <a:miter lim="800000"/>
            </a:ln>
            <a:effectLst/>
          </p:spPr>
        </p:cxnSp>
        <p:sp>
          <p:nvSpPr>
            <p:cNvPr id="153" name="椭圆 152"/>
            <p:cNvSpPr>
              <a:spLocks noChangeAspect="1"/>
            </p:cNvSpPr>
            <p:nvPr/>
          </p:nvSpPr>
          <p:spPr>
            <a:xfrm>
              <a:off x="4463977" y="4598144"/>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601646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：快速收敛机制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0" name="圆角矩形 75"/>
          <p:cNvSpPr/>
          <p:nvPr/>
        </p:nvSpPr>
        <p:spPr>
          <a:xfrm>
            <a:off x="6517747" y="1651095"/>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Proposal/Agreement</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机制</a:t>
            </a:r>
          </a:p>
        </p:txBody>
      </p:sp>
      <p:sp>
        <p:nvSpPr>
          <p:cNvPr id="211" name="圆角矩形 75"/>
          <p:cNvSpPr/>
          <p:nvPr/>
        </p:nvSpPr>
        <p:spPr>
          <a:xfrm>
            <a:off x="6517747" y="2082601"/>
            <a:ext cx="4784646" cy="232977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简称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机制。</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机制加快了上游端口进入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状态的速度。</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中，当一个端口被选举成为指定端口之后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会先进入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状态，再通过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机制快速进入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2" name="圆角矩形 75"/>
          <p:cNvSpPr/>
          <p:nvPr/>
        </p:nvSpPr>
        <p:spPr>
          <a:xfrm>
            <a:off x="6517747" y="4478700"/>
            <a:ext cx="4784646" cy="75719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180000" tIns="108000" rIns="180000" bIns="108000" rtlCol="0" anchor="ctr" anchorCtr="0">
            <a:noAutofit/>
          </a:bodyPr>
          <a:lstStyle/>
          <a:p>
            <a:pPr algn="just">
              <a:lnSpc>
                <a:spcPts val="2600"/>
              </a:lnSpc>
              <a:spcAft>
                <a:spcPts val="600"/>
              </a:spcAft>
            </a:pP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中，该端口至少要等待一个</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Learning</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）时间才会进入到</a:t>
            </a: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0" name="组合 89"/>
          <p:cNvGrpSpPr/>
          <p:nvPr/>
        </p:nvGrpSpPr>
        <p:grpSpPr>
          <a:xfrm>
            <a:off x="961022" y="1770684"/>
            <a:ext cx="4538082" cy="2496450"/>
            <a:chOff x="6281092" y="1347279"/>
            <a:chExt cx="4538082" cy="2496450"/>
          </a:xfrm>
        </p:grpSpPr>
        <p:pic>
          <p:nvPicPr>
            <p:cNvPr id="98" name="图片 9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104" name="图片 10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111" name="图片 1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114" name="直接连接符 113"/>
            <p:cNvCxnSpPr>
              <a:stCxn id="104" idx="3"/>
              <a:endCxn id="111"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120" name="直接连接符 119"/>
            <p:cNvCxnSpPr>
              <a:stCxn id="111" idx="0"/>
              <a:endCxn id="98"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21" name="文本框 120"/>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文本框 121"/>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3" name="文本框 122"/>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4" name="直接箭头连接符 123"/>
            <p:cNvCxnSpPr>
              <a:stCxn id="104" idx="0"/>
              <a:endCxn id="98"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cxnSp>
        <p:nvCxnSpPr>
          <p:cNvPr id="125" name="直接箭头连接符 124"/>
          <p:cNvCxnSpPr>
            <a:stCxn id="126" idx="3"/>
          </p:cNvCxnSpPr>
          <p:nvPr/>
        </p:nvCxnSpPr>
        <p:spPr>
          <a:xfrm flipH="1">
            <a:off x="2045779" y="2813718"/>
            <a:ext cx="333038" cy="426930"/>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6" name="椭圆 125"/>
          <p:cNvSpPr>
            <a:spLocks noChangeAspect="1"/>
          </p:cNvSpPr>
          <p:nvPr/>
        </p:nvSpPr>
        <p:spPr>
          <a:xfrm>
            <a:off x="2347866" y="2633324"/>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7" name="直接箭头连接符 126"/>
          <p:cNvCxnSpPr>
            <a:stCxn id="128" idx="3"/>
          </p:cNvCxnSpPr>
          <p:nvPr/>
        </p:nvCxnSpPr>
        <p:spPr>
          <a:xfrm flipV="1">
            <a:off x="2573858" y="2874231"/>
            <a:ext cx="334621" cy="441054"/>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8" name="椭圆 127"/>
          <p:cNvSpPr>
            <a:spLocks noChangeAspect="1"/>
          </p:cNvSpPr>
          <p:nvPr/>
        </p:nvSpPr>
        <p:spPr>
          <a:xfrm flipH="1" flipV="1">
            <a:off x="2393464" y="3284334"/>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p:cNvSpPr txBox="1"/>
          <p:nvPr/>
        </p:nvSpPr>
        <p:spPr>
          <a:xfrm>
            <a:off x="1134675" y="2738996"/>
            <a:ext cx="1156119" cy="307777"/>
          </a:xfrm>
          <a:prstGeom prst="rect">
            <a:avLst/>
          </a:prstGeom>
          <a:noFill/>
        </p:spPr>
        <p:txBody>
          <a:bodyPr wrap="squar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Proposal=1</a:t>
            </a:r>
          </a:p>
        </p:txBody>
      </p:sp>
      <p:sp>
        <p:nvSpPr>
          <p:cNvPr id="130" name="文本框 129"/>
          <p:cNvSpPr txBox="1"/>
          <p:nvPr/>
        </p:nvSpPr>
        <p:spPr>
          <a:xfrm>
            <a:off x="2715684" y="3153800"/>
            <a:ext cx="1361272" cy="307777"/>
          </a:xfrm>
          <a:prstGeom prst="rect">
            <a:avLst/>
          </a:prstGeom>
          <a:noFill/>
        </p:spPr>
        <p:txBody>
          <a:bodyPr wrap="squar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Agreement=1</a:t>
            </a:r>
          </a:p>
        </p:txBody>
      </p:sp>
      <p:sp>
        <p:nvSpPr>
          <p:cNvPr id="147" name="文本框 146"/>
          <p:cNvSpPr txBox="1"/>
          <p:nvPr/>
        </p:nvSpPr>
        <p:spPr>
          <a:xfrm>
            <a:off x="875905" y="5675134"/>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148" name="椭圆 147"/>
          <p:cNvSpPr>
            <a:spLocks noChangeAspect="1"/>
          </p:cNvSpPr>
          <p:nvPr/>
        </p:nvSpPr>
        <p:spPr>
          <a:xfrm>
            <a:off x="634192" y="5729387"/>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椭圆 23"/>
          <p:cNvSpPr>
            <a:spLocks noChangeAspect="1"/>
          </p:cNvSpPr>
          <p:nvPr/>
        </p:nvSpPr>
        <p:spPr>
          <a:xfrm>
            <a:off x="2889121" y="2337163"/>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椭圆 24"/>
          <p:cNvSpPr>
            <a:spLocks noChangeAspect="1"/>
          </p:cNvSpPr>
          <p:nvPr/>
        </p:nvSpPr>
        <p:spPr>
          <a:xfrm>
            <a:off x="1659539" y="373186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标注 25"/>
          <p:cNvSpPr/>
          <p:nvPr/>
        </p:nvSpPr>
        <p:spPr>
          <a:xfrm>
            <a:off x="446088" y="1855763"/>
            <a:ext cx="2231300" cy="468000"/>
          </a:xfrm>
          <a:prstGeom prst="wedgeRoundRectCallout">
            <a:avLst>
              <a:gd name="adj1" fmla="val 60043"/>
              <a:gd name="adj2" fmla="val 46955"/>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6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快速进入</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p>
        </p:txBody>
      </p:sp>
      <p:sp>
        <p:nvSpPr>
          <p:cNvPr id="27" name="圆角矩形标注 26"/>
          <p:cNvSpPr/>
          <p:nvPr/>
        </p:nvSpPr>
        <p:spPr>
          <a:xfrm>
            <a:off x="605309" y="4412380"/>
            <a:ext cx="2283812" cy="468000"/>
          </a:xfrm>
          <a:prstGeom prst="wedgeRoundRectCallout">
            <a:avLst>
              <a:gd name="adj1" fmla="val -653"/>
              <a:gd name="adj2" fmla="val -145144"/>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ts val="26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快速进入</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p>
        </p:txBody>
      </p:sp>
    </p:spTree>
    <p:extLst>
      <p:ext uri="{BB962C8B-B14F-4D97-AF65-F5344CB8AC3E}">
        <p14:creationId xmlns:p14="http://schemas.microsoft.com/office/powerpoint/2010/main" val="63843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机制详解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箭头连接符 53"/>
          <p:cNvCxnSpPr>
            <a:stCxn id="82" idx="4"/>
          </p:cNvCxnSpPr>
          <p:nvPr/>
        </p:nvCxnSpPr>
        <p:spPr>
          <a:xfrm>
            <a:off x="8802589" y="2643458"/>
            <a:ext cx="5050" cy="430131"/>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83" idx="0"/>
          </p:cNvCxnSpPr>
          <p:nvPr/>
        </p:nvCxnSpPr>
        <p:spPr>
          <a:xfrm flipV="1">
            <a:off x="9200267" y="2441323"/>
            <a:ext cx="1" cy="403519"/>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2" name="椭圆 81"/>
          <p:cNvSpPr>
            <a:spLocks noChangeAspect="1"/>
          </p:cNvSpPr>
          <p:nvPr/>
        </p:nvSpPr>
        <p:spPr>
          <a:xfrm>
            <a:off x="8696916" y="2432113"/>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椭圆 82"/>
          <p:cNvSpPr>
            <a:spLocks noChangeAspect="1"/>
          </p:cNvSpPr>
          <p:nvPr/>
        </p:nvSpPr>
        <p:spPr>
          <a:xfrm>
            <a:off x="9094594" y="284484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0" name="文本框 219"/>
          <p:cNvSpPr txBox="1"/>
          <p:nvPr/>
        </p:nvSpPr>
        <p:spPr>
          <a:xfrm>
            <a:off x="9520708" y="2581869"/>
            <a:ext cx="1413046"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发送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104" name="圆角矩形 75"/>
          <p:cNvSpPr/>
          <p:nvPr/>
        </p:nvSpPr>
        <p:spPr>
          <a:xfrm>
            <a:off x="844049" y="4843724"/>
            <a:ext cx="5251951" cy="1538026"/>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之间新添加了一条链路。</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在当前状态下，</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的下游端口分别是</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端口、指定端口（处于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状态）和边缘端口。</a:t>
            </a:r>
          </a:p>
        </p:txBody>
      </p:sp>
      <p:grpSp>
        <p:nvGrpSpPr>
          <p:cNvPr id="10" name="组合 9"/>
          <p:cNvGrpSpPr/>
          <p:nvPr/>
        </p:nvGrpSpPr>
        <p:grpSpPr>
          <a:xfrm>
            <a:off x="2222001" y="1765535"/>
            <a:ext cx="2120511" cy="2718860"/>
            <a:chOff x="1536193" y="1765535"/>
            <a:chExt cx="2120511" cy="2718860"/>
          </a:xfrm>
        </p:grpSpPr>
        <p:pic>
          <p:nvPicPr>
            <p:cNvPr id="70" name="图片 6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1808310"/>
              <a:ext cx="540000" cy="442800"/>
            </a:xfrm>
            <a:prstGeom prst="rect">
              <a:avLst/>
            </a:prstGeom>
          </p:spPr>
        </p:pic>
        <p:pic>
          <p:nvPicPr>
            <p:cNvPr id="71" name="图片 7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3227671"/>
              <a:ext cx="540000" cy="442800"/>
            </a:xfrm>
            <a:prstGeom prst="rect">
              <a:avLst/>
            </a:prstGeom>
          </p:spPr>
        </p:pic>
        <p:cxnSp>
          <p:nvCxnSpPr>
            <p:cNvPr id="72" name="直接箭头连接符 71"/>
            <p:cNvCxnSpPr>
              <a:stCxn id="71" idx="0"/>
              <a:endCxn id="70" idx="2"/>
            </p:cNvCxnSpPr>
            <p:nvPr/>
          </p:nvCxnSpPr>
          <p:spPr>
            <a:xfrm flipV="1">
              <a:off x="2557758" y="2251110"/>
              <a:ext cx="0" cy="976561"/>
            </a:xfrm>
            <a:prstGeom prst="straightConnector1">
              <a:avLst/>
            </a:prstGeom>
            <a:noFill/>
            <a:ln w="19050" cap="flat" cmpd="sng" algn="ctr">
              <a:solidFill>
                <a:srgbClr val="EC7061"/>
              </a:solidFill>
              <a:prstDash val="solid"/>
              <a:miter lim="800000"/>
              <a:headEnd type="none" w="med" len="med"/>
              <a:tailEnd type="none" w="med" len="med"/>
            </a:ln>
            <a:effectLst/>
          </p:spPr>
        </p:cxnSp>
        <p:sp>
          <p:nvSpPr>
            <p:cNvPr id="75" name="文本框 74"/>
            <p:cNvSpPr txBox="1"/>
            <p:nvPr/>
          </p:nvSpPr>
          <p:spPr>
            <a:xfrm>
              <a:off x="1764770" y="31083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p:cNvSpPr txBox="1"/>
            <p:nvPr/>
          </p:nvSpPr>
          <p:spPr>
            <a:xfrm>
              <a:off x="1536193" y="1765535"/>
              <a:ext cx="1020131" cy="523220"/>
            </a:xfrm>
            <a:prstGeom prst="rect">
              <a:avLst/>
            </a:prstGeom>
            <a:noFill/>
          </p:spPr>
          <p:txBody>
            <a:bodyPr wrap="square" rtlCol="0">
              <a:spAutoFit/>
            </a:bodyPr>
            <a:lstStyle/>
            <a:p>
              <a:pPr marL="0" marR="0" lvl="0" indent="0" algn="ctr" defTabSz="914478" eaLnBrk="1" fontAlgn="auto" latinLnBrk="0" hangingPunct="1">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endPar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78" eaLnBrk="1" fontAlgn="auto" latinLnBrk="0" hangingPunct="1">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9" name="直接箭头连接符 78"/>
            <p:cNvCxnSpPr/>
            <p:nvPr/>
          </p:nvCxnSpPr>
          <p:spPr>
            <a:xfrm flipV="1">
              <a:off x="2557758" y="3657592"/>
              <a:ext cx="0" cy="82680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87" name="椭圆 86"/>
            <p:cNvSpPr>
              <a:spLocks noChangeAspect="1"/>
            </p:cNvSpPr>
            <p:nvPr/>
          </p:nvSpPr>
          <p:spPr>
            <a:xfrm>
              <a:off x="2445980" y="356617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2" name="Oval 4"/>
            <p:cNvSpPr>
              <a:spLocks noChangeAspect="1"/>
            </p:cNvSpPr>
            <p:nvPr/>
          </p:nvSpPr>
          <p:spPr>
            <a:xfrm>
              <a:off x="2622457" y="2643458"/>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0" name="直接箭头连接符 89"/>
            <p:cNvCxnSpPr>
              <a:endCxn id="111" idx="7"/>
            </p:cNvCxnSpPr>
            <p:nvPr/>
          </p:nvCxnSpPr>
          <p:spPr>
            <a:xfrm flipV="1">
              <a:off x="1845638" y="3598634"/>
              <a:ext cx="532707" cy="885761"/>
            </a:xfrm>
            <a:prstGeom prst="straightConnector1">
              <a:avLst/>
            </a:prstGeom>
            <a:noFill/>
            <a:ln w="19050" cap="flat" cmpd="sng" algn="ctr">
              <a:solidFill>
                <a:srgbClr val="1D1D1A"/>
              </a:solidFill>
              <a:prstDash val="solid"/>
              <a:miter lim="800000"/>
              <a:headEnd type="none" w="med" len="med"/>
              <a:tailEnd type="none" w="med" len="med"/>
            </a:ln>
            <a:effectLst/>
          </p:spPr>
        </p:cxnSp>
        <p:cxnSp>
          <p:nvCxnSpPr>
            <p:cNvPr id="98" name="直接箭头连接符 97"/>
            <p:cNvCxnSpPr>
              <a:endCxn id="114" idx="1"/>
            </p:cNvCxnSpPr>
            <p:nvPr/>
          </p:nvCxnSpPr>
          <p:spPr>
            <a:xfrm flipH="1" flipV="1">
              <a:off x="2746503" y="3600222"/>
              <a:ext cx="582067" cy="88417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111" name="椭圆 110"/>
            <p:cNvSpPr>
              <a:spLocks noChangeAspect="1"/>
            </p:cNvSpPr>
            <p:nvPr/>
          </p:nvSpPr>
          <p:spPr>
            <a:xfrm>
              <a:off x="2179911" y="356458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椭圆 113"/>
            <p:cNvSpPr>
              <a:spLocks noChangeAspect="1"/>
            </p:cNvSpPr>
            <p:nvPr/>
          </p:nvSpPr>
          <p:spPr>
            <a:xfrm>
              <a:off x="2712457" y="3566176"/>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0" name="文本框 119"/>
            <p:cNvSpPr txBox="1"/>
            <p:nvPr/>
          </p:nvSpPr>
          <p:spPr>
            <a:xfrm>
              <a:off x="2753893" y="2420328"/>
              <a:ext cx="902811" cy="467116"/>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新增链路</a:t>
              </a:r>
            </a:p>
          </p:txBody>
        </p:sp>
      </p:grpSp>
      <p:grpSp>
        <p:nvGrpSpPr>
          <p:cNvPr id="121" name="组合 120"/>
          <p:cNvGrpSpPr/>
          <p:nvPr/>
        </p:nvGrpSpPr>
        <p:grpSpPr>
          <a:xfrm>
            <a:off x="7979862" y="1765535"/>
            <a:ext cx="1792377" cy="2718860"/>
            <a:chOff x="1536193" y="1765535"/>
            <a:chExt cx="1792377" cy="2718860"/>
          </a:xfrm>
        </p:grpSpPr>
        <p:pic>
          <p:nvPicPr>
            <p:cNvPr id="122" name="图片 1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1808310"/>
              <a:ext cx="540000" cy="442800"/>
            </a:xfrm>
            <a:prstGeom prst="rect">
              <a:avLst/>
            </a:prstGeom>
          </p:spPr>
        </p:pic>
        <p:pic>
          <p:nvPicPr>
            <p:cNvPr id="123" name="图片 1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3227671"/>
              <a:ext cx="540000" cy="442800"/>
            </a:xfrm>
            <a:prstGeom prst="rect">
              <a:avLst/>
            </a:prstGeom>
          </p:spPr>
        </p:pic>
        <p:cxnSp>
          <p:nvCxnSpPr>
            <p:cNvPr id="124" name="直接箭头连接符 123"/>
            <p:cNvCxnSpPr>
              <a:stCxn id="123" idx="0"/>
              <a:endCxn id="122" idx="2"/>
            </p:cNvCxnSpPr>
            <p:nvPr/>
          </p:nvCxnSpPr>
          <p:spPr>
            <a:xfrm flipV="1">
              <a:off x="2557758" y="2251110"/>
              <a:ext cx="0" cy="976561"/>
            </a:xfrm>
            <a:prstGeom prst="straightConnector1">
              <a:avLst/>
            </a:prstGeom>
            <a:noFill/>
            <a:ln w="19050" cap="flat" cmpd="sng" algn="ctr">
              <a:solidFill>
                <a:srgbClr val="EC7061"/>
              </a:solidFill>
              <a:prstDash val="solid"/>
              <a:miter lim="800000"/>
              <a:headEnd type="none" w="med" len="med"/>
              <a:tailEnd type="none" w="med" len="med"/>
            </a:ln>
            <a:effectLst/>
          </p:spPr>
        </p:cxnSp>
        <p:sp>
          <p:nvSpPr>
            <p:cNvPr id="125" name="文本框 124"/>
            <p:cNvSpPr txBox="1"/>
            <p:nvPr/>
          </p:nvSpPr>
          <p:spPr>
            <a:xfrm>
              <a:off x="1764770" y="31083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文本框 125"/>
            <p:cNvSpPr txBox="1"/>
            <p:nvPr/>
          </p:nvSpPr>
          <p:spPr>
            <a:xfrm>
              <a:off x="1536193" y="1765535"/>
              <a:ext cx="1020131" cy="523220"/>
            </a:xfrm>
            <a:prstGeom prst="rect">
              <a:avLst/>
            </a:prstGeom>
            <a:noFill/>
          </p:spPr>
          <p:txBody>
            <a:bodyPr wrap="square" rtlCol="0">
              <a:spAutoFit/>
            </a:bodyPr>
            <a:lstStyle/>
            <a:p>
              <a:pPr marL="0" marR="0" lvl="0" indent="0" algn="ctr" defTabSz="914478" eaLnBrk="1" fontAlgn="auto" latinLnBrk="0" hangingPunct="1">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endPar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78" eaLnBrk="1" fontAlgn="auto" latinLnBrk="0" hangingPunct="1">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7" name="直接箭头连接符 126"/>
            <p:cNvCxnSpPr/>
            <p:nvPr/>
          </p:nvCxnSpPr>
          <p:spPr>
            <a:xfrm flipV="1">
              <a:off x="2557758" y="3657592"/>
              <a:ext cx="0" cy="82680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128" name="椭圆 127"/>
            <p:cNvSpPr>
              <a:spLocks noChangeAspect="1"/>
            </p:cNvSpPr>
            <p:nvPr/>
          </p:nvSpPr>
          <p:spPr>
            <a:xfrm>
              <a:off x="2445980" y="356617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Oval 4"/>
            <p:cNvSpPr>
              <a:spLocks noChangeAspect="1"/>
            </p:cNvSpPr>
            <p:nvPr/>
          </p:nvSpPr>
          <p:spPr>
            <a:xfrm>
              <a:off x="2939235" y="2647627"/>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0" name="直接箭头连接符 129"/>
            <p:cNvCxnSpPr>
              <a:endCxn id="132" idx="7"/>
            </p:cNvCxnSpPr>
            <p:nvPr/>
          </p:nvCxnSpPr>
          <p:spPr>
            <a:xfrm flipV="1">
              <a:off x="1845638" y="3598634"/>
              <a:ext cx="532707" cy="885761"/>
            </a:xfrm>
            <a:prstGeom prst="straightConnector1">
              <a:avLst/>
            </a:prstGeom>
            <a:noFill/>
            <a:ln w="19050" cap="flat" cmpd="sng" algn="ctr">
              <a:solidFill>
                <a:srgbClr val="1D1D1A"/>
              </a:solidFill>
              <a:prstDash val="solid"/>
              <a:miter lim="800000"/>
              <a:headEnd type="none" w="med" len="med"/>
              <a:tailEnd type="none" w="med" len="med"/>
            </a:ln>
            <a:effectLst/>
          </p:spPr>
        </p:cxnSp>
        <p:cxnSp>
          <p:nvCxnSpPr>
            <p:cNvPr id="131" name="直接箭头连接符 130"/>
            <p:cNvCxnSpPr>
              <a:endCxn id="133" idx="1"/>
            </p:cNvCxnSpPr>
            <p:nvPr/>
          </p:nvCxnSpPr>
          <p:spPr>
            <a:xfrm flipH="1" flipV="1">
              <a:off x="2746503" y="3600222"/>
              <a:ext cx="582067" cy="88417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132" name="椭圆 131"/>
            <p:cNvSpPr>
              <a:spLocks noChangeAspect="1"/>
            </p:cNvSpPr>
            <p:nvPr/>
          </p:nvSpPr>
          <p:spPr>
            <a:xfrm>
              <a:off x="2179911" y="356458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椭圆 132"/>
            <p:cNvSpPr>
              <a:spLocks noChangeAspect="1"/>
            </p:cNvSpPr>
            <p:nvPr/>
          </p:nvSpPr>
          <p:spPr>
            <a:xfrm>
              <a:off x="2712457" y="3566176"/>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椭圆 134"/>
            <p:cNvSpPr>
              <a:spLocks noChangeAspect="1"/>
            </p:cNvSpPr>
            <p:nvPr/>
          </p:nvSpPr>
          <p:spPr>
            <a:xfrm>
              <a:off x="2445980" y="212462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椭圆 135"/>
            <p:cNvSpPr>
              <a:spLocks noChangeAspect="1"/>
            </p:cNvSpPr>
            <p:nvPr/>
          </p:nvSpPr>
          <p:spPr>
            <a:xfrm>
              <a:off x="2445980" y="313875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7" name="圆角矩形 75"/>
          <p:cNvSpPr/>
          <p:nvPr/>
        </p:nvSpPr>
        <p:spPr>
          <a:xfrm>
            <a:off x="6452910" y="4843724"/>
            <a:ext cx="4887870" cy="946552"/>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之间的两个端口都先成为指定端口，发送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Tree>
    <p:extLst>
      <p:ext uri="{BB962C8B-B14F-4D97-AF65-F5344CB8AC3E}">
        <p14:creationId xmlns:p14="http://schemas.microsoft.com/office/powerpoint/2010/main" val="3379157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2217822" y="1765535"/>
            <a:ext cx="1792377" cy="2718860"/>
            <a:chOff x="7979862" y="1765535"/>
            <a:chExt cx="1792377" cy="2718860"/>
          </a:xfrm>
        </p:grpSpPr>
        <p:cxnSp>
          <p:nvCxnSpPr>
            <p:cNvPr id="41" name="直接箭头连接符 40"/>
            <p:cNvCxnSpPr>
              <a:stCxn id="43" idx="4"/>
            </p:cNvCxnSpPr>
            <p:nvPr/>
          </p:nvCxnSpPr>
          <p:spPr>
            <a:xfrm>
              <a:off x="8802589" y="2643458"/>
              <a:ext cx="5050" cy="430131"/>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3" name="椭圆 42"/>
            <p:cNvSpPr>
              <a:spLocks noChangeAspect="1"/>
            </p:cNvSpPr>
            <p:nvPr/>
          </p:nvSpPr>
          <p:spPr>
            <a:xfrm>
              <a:off x="8696916" y="2432113"/>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6" name="组合 45"/>
            <p:cNvGrpSpPr/>
            <p:nvPr/>
          </p:nvGrpSpPr>
          <p:grpSpPr>
            <a:xfrm>
              <a:off x="7979862" y="1765535"/>
              <a:ext cx="1792377" cy="2718860"/>
              <a:chOff x="1536193" y="1765535"/>
              <a:chExt cx="1792377" cy="2718860"/>
            </a:xfrm>
          </p:grpSpPr>
          <p:pic>
            <p:nvPicPr>
              <p:cNvPr id="47" name="图片 4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1808310"/>
                <a:ext cx="540000" cy="442800"/>
              </a:xfrm>
              <a:prstGeom prst="rect">
                <a:avLst/>
              </a:prstGeom>
            </p:spPr>
          </p:pic>
          <p:pic>
            <p:nvPicPr>
              <p:cNvPr id="48" name="图片 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3227671"/>
                <a:ext cx="540000" cy="442800"/>
              </a:xfrm>
              <a:prstGeom prst="rect">
                <a:avLst/>
              </a:prstGeom>
            </p:spPr>
          </p:pic>
          <p:cxnSp>
            <p:nvCxnSpPr>
              <p:cNvPr id="49" name="直接箭头连接符 48"/>
              <p:cNvCxnSpPr>
                <a:stCxn id="48" idx="0"/>
                <a:endCxn id="47" idx="2"/>
              </p:cNvCxnSpPr>
              <p:nvPr/>
            </p:nvCxnSpPr>
            <p:spPr>
              <a:xfrm flipV="1">
                <a:off x="2557758" y="2251110"/>
                <a:ext cx="0" cy="976561"/>
              </a:xfrm>
              <a:prstGeom prst="straightConnector1">
                <a:avLst/>
              </a:prstGeom>
              <a:noFill/>
              <a:ln w="19050" cap="flat" cmpd="sng" algn="ctr">
                <a:solidFill>
                  <a:srgbClr val="EC7061"/>
                </a:solidFill>
                <a:prstDash val="solid"/>
                <a:miter lim="800000"/>
                <a:headEnd type="none" w="med" len="med"/>
                <a:tailEnd type="none" w="med" len="med"/>
              </a:ln>
              <a:effectLst/>
            </p:spPr>
          </p:cxnSp>
          <p:sp>
            <p:nvSpPr>
              <p:cNvPr id="50" name="文本框 49"/>
              <p:cNvSpPr txBox="1"/>
              <p:nvPr/>
            </p:nvSpPr>
            <p:spPr>
              <a:xfrm>
                <a:off x="1764770" y="31083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a:xfrm>
                <a:off x="1536193" y="1765535"/>
                <a:ext cx="1020131" cy="523220"/>
              </a:xfrm>
              <a:prstGeom prst="rect">
                <a:avLst/>
              </a:prstGeom>
              <a:noFill/>
            </p:spPr>
            <p:txBody>
              <a:bodyPr wrap="square" rtlCol="0">
                <a:spAutoFit/>
              </a:bodyPr>
              <a:lstStyle/>
              <a:p>
                <a:pPr marL="0" marR="0" lvl="0" indent="0" algn="ctr" defTabSz="914478" eaLnBrk="1" fontAlgn="auto" latinLnBrk="0" hangingPunct="1">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endPar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78" eaLnBrk="1" fontAlgn="auto" latinLnBrk="0" hangingPunct="1">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箭头连接符 51"/>
              <p:cNvCxnSpPr/>
              <p:nvPr/>
            </p:nvCxnSpPr>
            <p:spPr>
              <a:xfrm flipV="1">
                <a:off x="2557758" y="3657592"/>
                <a:ext cx="0" cy="82680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53" name="椭圆 52"/>
              <p:cNvSpPr>
                <a:spLocks noChangeAspect="1"/>
              </p:cNvSpPr>
              <p:nvPr/>
            </p:nvSpPr>
            <p:spPr>
              <a:xfrm>
                <a:off x="2445980" y="356617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Oval 4"/>
              <p:cNvSpPr>
                <a:spLocks noChangeAspect="1"/>
              </p:cNvSpPr>
              <p:nvPr/>
            </p:nvSpPr>
            <p:spPr>
              <a:xfrm>
                <a:off x="2638822" y="2647627"/>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箭头连接符 55"/>
              <p:cNvCxnSpPr>
                <a:endCxn id="59" idx="7"/>
              </p:cNvCxnSpPr>
              <p:nvPr/>
            </p:nvCxnSpPr>
            <p:spPr>
              <a:xfrm flipV="1">
                <a:off x="1845638" y="3598634"/>
                <a:ext cx="532707" cy="885761"/>
              </a:xfrm>
              <a:prstGeom prst="straightConnector1">
                <a:avLst/>
              </a:prstGeom>
              <a:noFill/>
              <a:ln w="19050" cap="flat" cmpd="sng" algn="ctr">
                <a:solidFill>
                  <a:srgbClr val="1D1D1A"/>
                </a:solidFill>
                <a:prstDash val="solid"/>
                <a:miter lim="800000"/>
                <a:headEnd type="none" w="med" len="med"/>
                <a:tailEnd type="none" w="med" len="med"/>
              </a:ln>
              <a:effectLst/>
            </p:spPr>
          </p:cxnSp>
          <p:cxnSp>
            <p:nvCxnSpPr>
              <p:cNvPr id="58" name="直接箭头连接符 57"/>
              <p:cNvCxnSpPr>
                <a:endCxn id="60" idx="1"/>
              </p:cNvCxnSpPr>
              <p:nvPr/>
            </p:nvCxnSpPr>
            <p:spPr>
              <a:xfrm flipH="1" flipV="1">
                <a:off x="2746503" y="3600222"/>
                <a:ext cx="582067" cy="88417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59" name="椭圆 58"/>
              <p:cNvSpPr>
                <a:spLocks noChangeAspect="1"/>
              </p:cNvSpPr>
              <p:nvPr/>
            </p:nvSpPr>
            <p:spPr>
              <a:xfrm>
                <a:off x="2179911" y="356458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椭圆 59"/>
              <p:cNvSpPr>
                <a:spLocks noChangeAspect="1"/>
              </p:cNvSpPr>
              <p:nvPr/>
            </p:nvSpPr>
            <p:spPr>
              <a:xfrm>
                <a:off x="2712457" y="3566176"/>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椭圆 60"/>
              <p:cNvSpPr>
                <a:spLocks noChangeAspect="1"/>
              </p:cNvSpPr>
              <p:nvPr/>
            </p:nvSpPr>
            <p:spPr>
              <a:xfrm>
                <a:off x="2445980" y="212462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椭圆 61"/>
              <p:cNvSpPr>
                <a:spLocks noChangeAspect="1"/>
              </p:cNvSpPr>
              <p:nvPr/>
            </p:nvSpPr>
            <p:spPr>
              <a:xfrm>
                <a:off x="2445980" y="313875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3" name="标题 2"/>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机制详解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圆角矩形 75"/>
          <p:cNvSpPr/>
          <p:nvPr/>
        </p:nvSpPr>
        <p:spPr>
          <a:xfrm>
            <a:off x="844049" y="4609387"/>
            <a:ext cx="5251951" cy="1772362"/>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互联的端口收到更优的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后，马上意识到自己将成为根端口，而不是指定端口，停止发送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的指定端口进入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Proposal</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BPSU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grpSp>
        <p:nvGrpSpPr>
          <p:cNvPr id="2" name="组合 1"/>
          <p:cNvGrpSpPr/>
          <p:nvPr/>
        </p:nvGrpSpPr>
        <p:grpSpPr>
          <a:xfrm>
            <a:off x="7315330" y="1765535"/>
            <a:ext cx="3395181" cy="2572142"/>
            <a:chOff x="7315330" y="1765535"/>
            <a:chExt cx="3395181" cy="2572142"/>
          </a:xfrm>
        </p:grpSpPr>
        <p:cxnSp>
          <p:nvCxnSpPr>
            <p:cNvPr id="57" name="直接箭头连接符 56"/>
            <p:cNvCxnSpPr>
              <a:stCxn id="83" idx="0"/>
            </p:cNvCxnSpPr>
            <p:nvPr/>
          </p:nvCxnSpPr>
          <p:spPr>
            <a:xfrm flipV="1">
              <a:off x="9200267" y="2441323"/>
              <a:ext cx="1" cy="403519"/>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3" name="椭圆 82"/>
            <p:cNvSpPr>
              <a:spLocks noChangeAspect="1"/>
            </p:cNvSpPr>
            <p:nvPr/>
          </p:nvSpPr>
          <p:spPr>
            <a:xfrm>
              <a:off x="9094594" y="284484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1" name="组合 120"/>
            <p:cNvGrpSpPr/>
            <p:nvPr/>
          </p:nvGrpSpPr>
          <p:grpSpPr>
            <a:xfrm>
              <a:off x="7315330" y="1765535"/>
              <a:ext cx="3395181" cy="2572142"/>
              <a:chOff x="871661" y="1765535"/>
              <a:chExt cx="3395181" cy="2572142"/>
            </a:xfrm>
          </p:grpSpPr>
          <p:sp>
            <p:nvSpPr>
              <p:cNvPr id="78" name="文本框 77"/>
              <p:cNvSpPr txBox="1"/>
              <p:nvPr/>
            </p:nvSpPr>
            <p:spPr>
              <a:xfrm>
                <a:off x="2092094" y="3877423"/>
                <a:ext cx="928459" cy="460254"/>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阻塞端口</a:t>
                </a:r>
                <a:r>
                  <a:rPr kumimoji="0" lang="en-US" altLang="zh-CN"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a:xfrm>
                <a:off x="2876718" y="3877423"/>
                <a:ext cx="1390124" cy="460254"/>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不改变端口状态</a:t>
                </a:r>
                <a:r>
                  <a:rPr kumimoji="0" lang="en-US" altLang="zh-CN"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2" name="图片 1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1808310"/>
                <a:ext cx="540000" cy="442800"/>
              </a:xfrm>
              <a:prstGeom prst="rect">
                <a:avLst/>
              </a:prstGeom>
            </p:spPr>
          </p:pic>
          <p:pic>
            <p:nvPicPr>
              <p:cNvPr id="123" name="图片 1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3227671"/>
                <a:ext cx="540000" cy="442800"/>
              </a:xfrm>
              <a:prstGeom prst="rect">
                <a:avLst/>
              </a:prstGeom>
            </p:spPr>
          </p:pic>
          <p:cxnSp>
            <p:nvCxnSpPr>
              <p:cNvPr id="124" name="直接箭头连接符 123"/>
              <p:cNvCxnSpPr>
                <a:stCxn id="123" idx="0"/>
                <a:endCxn id="122" idx="2"/>
              </p:cNvCxnSpPr>
              <p:nvPr/>
            </p:nvCxnSpPr>
            <p:spPr>
              <a:xfrm flipV="1">
                <a:off x="2557758" y="2251110"/>
                <a:ext cx="0" cy="976561"/>
              </a:xfrm>
              <a:prstGeom prst="straightConnector1">
                <a:avLst/>
              </a:prstGeom>
              <a:noFill/>
              <a:ln w="19050" cap="flat" cmpd="sng" algn="ctr">
                <a:solidFill>
                  <a:srgbClr val="EC7061"/>
                </a:solidFill>
                <a:prstDash val="solid"/>
                <a:miter lim="800000"/>
                <a:headEnd type="none" w="med" len="med"/>
                <a:tailEnd type="none" w="med" len="med"/>
              </a:ln>
              <a:effectLst/>
            </p:spPr>
          </p:cxnSp>
          <p:sp>
            <p:nvSpPr>
              <p:cNvPr id="125" name="文本框 124"/>
              <p:cNvSpPr txBox="1"/>
              <p:nvPr/>
            </p:nvSpPr>
            <p:spPr>
              <a:xfrm>
                <a:off x="1764770" y="31083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6" name="文本框 125"/>
              <p:cNvSpPr txBox="1"/>
              <p:nvPr/>
            </p:nvSpPr>
            <p:spPr>
              <a:xfrm>
                <a:off x="1536193" y="1765535"/>
                <a:ext cx="1020131" cy="523220"/>
              </a:xfrm>
              <a:prstGeom prst="rect">
                <a:avLst/>
              </a:prstGeom>
              <a:noFill/>
            </p:spPr>
            <p:txBody>
              <a:bodyPr wrap="square" rtlCol="0">
                <a:spAutoFit/>
              </a:bodyPr>
              <a:lstStyle/>
              <a:p>
                <a:pPr marL="0" marR="0" lvl="0" indent="0" algn="ctr" defTabSz="914478" eaLnBrk="1" fontAlgn="auto" latinLnBrk="0" hangingPunct="1">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endPar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78" eaLnBrk="1" fontAlgn="auto" latinLnBrk="0" hangingPunct="1">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7" name="直接箭头连接符 126"/>
              <p:cNvCxnSpPr/>
              <p:nvPr/>
            </p:nvCxnSpPr>
            <p:spPr>
              <a:xfrm flipV="1">
                <a:off x="2557758" y="3657593"/>
                <a:ext cx="0" cy="413400"/>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128" name="椭圆 127"/>
              <p:cNvSpPr>
                <a:spLocks noChangeAspect="1"/>
              </p:cNvSpPr>
              <p:nvPr/>
            </p:nvSpPr>
            <p:spPr>
              <a:xfrm>
                <a:off x="2445980" y="356617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0" name="直接箭头连接符 129"/>
              <p:cNvCxnSpPr>
                <a:endCxn id="132" idx="7"/>
              </p:cNvCxnSpPr>
              <p:nvPr/>
            </p:nvCxnSpPr>
            <p:spPr>
              <a:xfrm flipV="1">
                <a:off x="2029520" y="3598634"/>
                <a:ext cx="348825" cy="440657"/>
              </a:xfrm>
              <a:prstGeom prst="straightConnector1">
                <a:avLst/>
              </a:prstGeom>
              <a:noFill/>
              <a:ln w="19050" cap="flat" cmpd="sng" algn="ctr">
                <a:solidFill>
                  <a:srgbClr val="1D1D1A"/>
                </a:solidFill>
                <a:prstDash val="solid"/>
                <a:miter lim="800000"/>
                <a:headEnd type="none" w="med" len="med"/>
                <a:tailEnd type="none" w="med" len="med"/>
              </a:ln>
              <a:effectLst/>
            </p:spPr>
          </p:cxnSp>
          <p:cxnSp>
            <p:nvCxnSpPr>
              <p:cNvPr id="131" name="直接箭头连接符 130"/>
              <p:cNvCxnSpPr>
                <a:endCxn id="133" idx="1"/>
              </p:cNvCxnSpPr>
              <p:nvPr/>
            </p:nvCxnSpPr>
            <p:spPr>
              <a:xfrm flipH="1" flipV="1">
                <a:off x="2746503" y="3600222"/>
                <a:ext cx="448287" cy="418370"/>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132" name="椭圆 131"/>
              <p:cNvSpPr>
                <a:spLocks noChangeAspect="1"/>
              </p:cNvSpPr>
              <p:nvPr/>
            </p:nvSpPr>
            <p:spPr>
              <a:xfrm>
                <a:off x="2179911" y="356458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椭圆 132"/>
              <p:cNvSpPr>
                <a:spLocks noChangeAspect="1"/>
              </p:cNvSpPr>
              <p:nvPr/>
            </p:nvSpPr>
            <p:spPr>
              <a:xfrm>
                <a:off x="2712457" y="3566176"/>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椭圆 134"/>
              <p:cNvSpPr>
                <a:spLocks noChangeAspect="1"/>
              </p:cNvSpPr>
              <p:nvPr/>
            </p:nvSpPr>
            <p:spPr>
              <a:xfrm>
                <a:off x="2445980" y="212462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椭圆 135"/>
              <p:cNvSpPr>
                <a:spLocks noChangeAspect="1"/>
              </p:cNvSpPr>
              <p:nvPr/>
            </p:nvSpPr>
            <p:spPr>
              <a:xfrm>
                <a:off x="2445980" y="313875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a:xfrm>
                <a:off x="871661" y="3877423"/>
                <a:ext cx="1390124" cy="460254"/>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不改变端口状态</a:t>
                </a:r>
                <a:r>
                  <a:rPr kumimoji="0" lang="en-US" altLang="zh-CN"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2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sp>
        <p:nvSpPr>
          <p:cNvPr id="137" name="圆角矩形 75"/>
          <p:cNvSpPr/>
          <p:nvPr/>
        </p:nvSpPr>
        <p:spPr>
          <a:xfrm>
            <a:off x="6486526" y="4609387"/>
            <a:ext cx="5259386" cy="1772363"/>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收到根桥发送来的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Proposal</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，开始将自己的所有端口进入同步状态。</a:t>
            </a: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各端口同步后，下游端口（除边缘端口）均进入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状态，上游根端口进入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状态并向</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返回</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Agreement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位置位的回应</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63" name="文本框 62"/>
          <p:cNvSpPr txBox="1"/>
          <p:nvPr/>
        </p:nvSpPr>
        <p:spPr>
          <a:xfrm>
            <a:off x="1884430" y="2610439"/>
            <a:ext cx="1156119" cy="307777"/>
          </a:xfrm>
          <a:prstGeom prst="rect">
            <a:avLst/>
          </a:prstGeom>
          <a:noFill/>
        </p:spPr>
        <p:txBody>
          <a:bodyPr wrap="square" rtlCol="0">
            <a:spAutoFit/>
          </a:bodyPr>
          <a:lstStyle/>
          <a:p>
            <a:pPr fontAlgn="auto">
              <a:spcBef>
                <a:spcPts val="0"/>
              </a:spcBef>
              <a:spcAft>
                <a:spcPts val="0"/>
              </a:spcAft>
            </a:pPr>
            <a:r>
              <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Proposal=1</a:t>
            </a:r>
          </a:p>
        </p:txBody>
      </p:sp>
      <p:sp>
        <p:nvSpPr>
          <p:cNvPr id="68" name="文本框 67"/>
          <p:cNvSpPr txBox="1"/>
          <p:nvPr/>
        </p:nvSpPr>
        <p:spPr>
          <a:xfrm>
            <a:off x="3500451" y="2512034"/>
            <a:ext cx="1757350" cy="523220"/>
          </a:xfrm>
          <a:prstGeom prst="rect">
            <a:avLst/>
          </a:prstGeom>
          <a:noFill/>
        </p:spPr>
        <p:txBody>
          <a:bodyPr wrap="squar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比较收到的</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69" name="文本框 68"/>
          <p:cNvSpPr txBox="1"/>
          <p:nvPr/>
        </p:nvSpPr>
        <p:spPr>
          <a:xfrm>
            <a:off x="9288951" y="2589683"/>
            <a:ext cx="1398099" cy="307777"/>
          </a:xfrm>
          <a:prstGeom prst="rect">
            <a:avLst/>
          </a:prstGeom>
          <a:noFill/>
        </p:spPr>
        <p:txBody>
          <a:bodyPr wrap="square" rtlCol="0">
            <a:spAutoFit/>
          </a:bodyPr>
          <a:lstStyle/>
          <a:p>
            <a:pPr fontAlgn="auto">
              <a:spcBef>
                <a:spcPts val="0"/>
              </a:spcBef>
              <a:spcAft>
                <a:spcPts val="0"/>
              </a:spcAft>
            </a:pPr>
            <a:r>
              <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Agreement=1</a:t>
            </a:r>
          </a:p>
        </p:txBody>
      </p:sp>
      <p:sp>
        <p:nvSpPr>
          <p:cNvPr id="73" name="文本框 72"/>
          <p:cNvSpPr txBox="1"/>
          <p:nvPr/>
        </p:nvSpPr>
        <p:spPr>
          <a:xfrm>
            <a:off x="9714075" y="3138759"/>
            <a:ext cx="2031837" cy="738664"/>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下游端口进入同步状态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根端口进入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Oval 4"/>
          <p:cNvSpPr>
            <a:spLocks noChangeAspect="1"/>
          </p:cNvSpPr>
          <p:nvPr/>
        </p:nvSpPr>
        <p:spPr>
          <a:xfrm>
            <a:off x="9534076" y="3349302"/>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608451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组合 106"/>
          <p:cNvGrpSpPr/>
          <p:nvPr/>
        </p:nvGrpSpPr>
        <p:grpSpPr>
          <a:xfrm>
            <a:off x="7978577" y="1765535"/>
            <a:ext cx="3750711" cy="2718860"/>
            <a:chOff x="2217822" y="1765535"/>
            <a:chExt cx="3750711" cy="2718860"/>
          </a:xfrm>
        </p:grpSpPr>
        <p:grpSp>
          <p:nvGrpSpPr>
            <p:cNvPr id="108" name="组合 107"/>
            <p:cNvGrpSpPr/>
            <p:nvPr/>
          </p:nvGrpSpPr>
          <p:grpSpPr>
            <a:xfrm>
              <a:off x="2217822" y="1765535"/>
              <a:ext cx="1982869" cy="2718860"/>
              <a:chOff x="1536193" y="1765535"/>
              <a:chExt cx="1982869" cy="2718860"/>
            </a:xfrm>
          </p:grpSpPr>
          <p:pic>
            <p:nvPicPr>
              <p:cNvPr id="110" name="图片 10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1808310"/>
                <a:ext cx="540000" cy="442800"/>
              </a:xfrm>
              <a:prstGeom prst="rect">
                <a:avLst/>
              </a:prstGeom>
            </p:spPr>
          </p:pic>
          <p:pic>
            <p:nvPicPr>
              <p:cNvPr id="111" name="图片 1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3227671"/>
                <a:ext cx="540000" cy="442800"/>
              </a:xfrm>
              <a:prstGeom prst="rect">
                <a:avLst/>
              </a:prstGeom>
            </p:spPr>
          </p:pic>
          <p:cxnSp>
            <p:nvCxnSpPr>
              <p:cNvPr id="112" name="直接箭头连接符 111"/>
              <p:cNvCxnSpPr>
                <a:stCxn id="111" idx="0"/>
                <a:endCxn id="110" idx="2"/>
              </p:cNvCxnSpPr>
              <p:nvPr/>
            </p:nvCxnSpPr>
            <p:spPr>
              <a:xfrm flipV="1">
                <a:off x="2557758" y="2251110"/>
                <a:ext cx="0" cy="976561"/>
              </a:xfrm>
              <a:prstGeom prst="straightConnector1">
                <a:avLst/>
              </a:prstGeom>
              <a:noFill/>
              <a:ln w="19050" cap="flat" cmpd="sng" algn="ctr">
                <a:solidFill>
                  <a:srgbClr val="EC7061"/>
                </a:solidFill>
                <a:prstDash val="solid"/>
                <a:miter lim="800000"/>
                <a:headEnd type="none" w="med" len="med"/>
                <a:tailEnd type="none" w="med" len="med"/>
              </a:ln>
              <a:effectLst/>
            </p:spPr>
          </p:cxnSp>
          <p:sp>
            <p:nvSpPr>
              <p:cNvPr id="113" name="文本框 112"/>
              <p:cNvSpPr txBox="1"/>
              <p:nvPr/>
            </p:nvSpPr>
            <p:spPr>
              <a:xfrm>
                <a:off x="1764770" y="31083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文本框 113"/>
              <p:cNvSpPr txBox="1"/>
              <p:nvPr/>
            </p:nvSpPr>
            <p:spPr>
              <a:xfrm>
                <a:off x="1536193" y="1765535"/>
                <a:ext cx="1020131" cy="523220"/>
              </a:xfrm>
              <a:prstGeom prst="rect">
                <a:avLst/>
              </a:prstGeom>
              <a:noFill/>
            </p:spPr>
            <p:txBody>
              <a:bodyPr wrap="square" rtlCol="0">
                <a:spAutoFit/>
              </a:bodyPr>
              <a:lstStyle/>
              <a:p>
                <a:pPr marL="0" marR="0" lvl="0" indent="0" algn="ctr" defTabSz="914478" eaLnBrk="1" fontAlgn="auto" latinLnBrk="0" hangingPunct="1">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endPar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78" eaLnBrk="1" fontAlgn="auto" latinLnBrk="0" hangingPunct="1">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5" name="直接箭头连接符 114"/>
              <p:cNvCxnSpPr/>
              <p:nvPr/>
            </p:nvCxnSpPr>
            <p:spPr>
              <a:xfrm flipV="1">
                <a:off x="2557758" y="3657592"/>
                <a:ext cx="0" cy="82680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116" name="椭圆 115"/>
              <p:cNvSpPr>
                <a:spLocks noChangeAspect="1"/>
              </p:cNvSpPr>
              <p:nvPr/>
            </p:nvSpPr>
            <p:spPr>
              <a:xfrm>
                <a:off x="2445980" y="356617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Oval 4"/>
              <p:cNvSpPr>
                <a:spLocks noChangeAspect="1"/>
              </p:cNvSpPr>
              <p:nvPr/>
            </p:nvSpPr>
            <p:spPr>
              <a:xfrm>
                <a:off x="3339062" y="3865645"/>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8" name="直接箭头连接符 117"/>
              <p:cNvCxnSpPr>
                <a:endCxn id="120" idx="7"/>
              </p:cNvCxnSpPr>
              <p:nvPr/>
            </p:nvCxnSpPr>
            <p:spPr>
              <a:xfrm flipV="1">
                <a:off x="1845638" y="3598634"/>
                <a:ext cx="532707" cy="885761"/>
              </a:xfrm>
              <a:prstGeom prst="straightConnector1">
                <a:avLst/>
              </a:prstGeom>
              <a:noFill/>
              <a:ln w="19050" cap="flat" cmpd="sng" algn="ctr">
                <a:solidFill>
                  <a:srgbClr val="1D1D1A"/>
                </a:solidFill>
                <a:prstDash val="solid"/>
                <a:miter lim="800000"/>
                <a:headEnd type="none" w="med" len="med"/>
                <a:tailEnd type="none" w="med" len="med"/>
              </a:ln>
              <a:effectLst/>
            </p:spPr>
          </p:cxnSp>
          <p:cxnSp>
            <p:nvCxnSpPr>
              <p:cNvPr id="119" name="直接箭头连接符 118"/>
              <p:cNvCxnSpPr>
                <a:endCxn id="134" idx="1"/>
              </p:cNvCxnSpPr>
              <p:nvPr/>
            </p:nvCxnSpPr>
            <p:spPr>
              <a:xfrm flipH="1" flipV="1">
                <a:off x="2746503" y="3600222"/>
                <a:ext cx="582067" cy="88417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120" name="椭圆 119"/>
              <p:cNvSpPr>
                <a:spLocks noChangeAspect="1"/>
              </p:cNvSpPr>
              <p:nvPr/>
            </p:nvSpPr>
            <p:spPr>
              <a:xfrm>
                <a:off x="2179911" y="356458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椭圆 133"/>
              <p:cNvSpPr>
                <a:spLocks noChangeAspect="1"/>
              </p:cNvSpPr>
              <p:nvPr/>
            </p:nvSpPr>
            <p:spPr>
              <a:xfrm>
                <a:off x="2712457" y="3566176"/>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椭圆 137"/>
              <p:cNvSpPr>
                <a:spLocks noChangeAspect="1"/>
              </p:cNvSpPr>
              <p:nvPr/>
            </p:nvSpPr>
            <p:spPr>
              <a:xfrm>
                <a:off x="2445980" y="212462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椭圆 138"/>
              <p:cNvSpPr>
                <a:spLocks noChangeAspect="1"/>
              </p:cNvSpPr>
              <p:nvPr/>
            </p:nvSpPr>
            <p:spPr>
              <a:xfrm>
                <a:off x="2445980" y="313875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09" name="文本框 108"/>
            <p:cNvSpPr txBox="1"/>
            <p:nvPr/>
          </p:nvSpPr>
          <p:spPr>
            <a:xfrm>
              <a:off x="4211183" y="3801756"/>
              <a:ext cx="1757350" cy="307777"/>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下游继续</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过程</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 name="标题 2"/>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机制详解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圆角矩形 75"/>
          <p:cNvSpPr/>
          <p:nvPr/>
        </p:nvSpPr>
        <p:spPr>
          <a:xfrm>
            <a:off x="844049" y="4843724"/>
            <a:ext cx="5251951" cy="1538026"/>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Agreement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是对刚刚自己发出的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Proposal</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的回应，于是指定端口马上进入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p>
        </p:txBody>
      </p:sp>
      <p:grpSp>
        <p:nvGrpSpPr>
          <p:cNvPr id="5" name="组合 4"/>
          <p:cNvGrpSpPr/>
          <p:nvPr/>
        </p:nvGrpSpPr>
        <p:grpSpPr>
          <a:xfrm>
            <a:off x="2217822" y="1765535"/>
            <a:ext cx="3110998" cy="2718860"/>
            <a:chOff x="2217822" y="1765535"/>
            <a:chExt cx="3110998" cy="2718860"/>
          </a:xfrm>
        </p:grpSpPr>
        <p:grpSp>
          <p:nvGrpSpPr>
            <p:cNvPr id="46" name="组合 45"/>
            <p:cNvGrpSpPr/>
            <p:nvPr/>
          </p:nvGrpSpPr>
          <p:grpSpPr>
            <a:xfrm>
              <a:off x="2217822" y="1765535"/>
              <a:ext cx="1792377" cy="2718860"/>
              <a:chOff x="1536193" y="1765535"/>
              <a:chExt cx="1792377" cy="2718860"/>
            </a:xfrm>
          </p:grpSpPr>
          <p:pic>
            <p:nvPicPr>
              <p:cNvPr id="47" name="图片 4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1808310"/>
                <a:ext cx="540000" cy="442800"/>
              </a:xfrm>
              <a:prstGeom prst="rect">
                <a:avLst/>
              </a:prstGeom>
            </p:spPr>
          </p:pic>
          <p:pic>
            <p:nvPicPr>
              <p:cNvPr id="48" name="图片 4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7758" y="3227671"/>
                <a:ext cx="540000" cy="442800"/>
              </a:xfrm>
              <a:prstGeom prst="rect">
                <a:avLst/>
              </a:prstGeom>
            </p:spPr>
          </p:pic>
          <p:cxnSp>
            <p:nvCxnSpPr>
              <p:cNvPr id="49" name="直接箭头连接符 48"/>
              <p:cNvCxnSpPr>
                <a:stCxn id="48" idx="0"/>
                <a:endCxn id="47" idx="2"/>
              </p:cNvCxnSpPr>
              <p:nvPr/>
            </p:nvCxnSpPr>
            <p:spPr>
              <a:xfrm flipV="1">
                <a:off x="2557758" y="2251110"/>
                <a:ext cx="0" cy="976561"/>
              </a:xfrm>
              <a:prstGeom prst="straightConnector1">
                <a:avLst/>
              </a:prstGeom>
              <a:noFill/>
              <a:ln w="19050" cap="flat" cmpd="sng" algn="ctr">
                <a:solidFill>
                  <a:srgbClr val="EC7061"/>
                </a:solidFill>
                <a:prstDash val="solid"/>
                <a:miter lim="800000"/>
                <a:headEnd type="none" w="med" len="med"/>
                <a:tailEnd type="none" w="med" len="med"/>
              </a:ln>
              <a:effectLst/>
            </p:spPr>
          </p:cxnSp>
          <p:sp>
            <p:nvSpPr>
              <p:cNvPr id="50" name="文本框 49"/>
              <p:cNvSpPr txBox="1"/>
              <p:nvPr/>
            </p:nvSpPr>
            <p:spPr>
              <a:xfrm>
                <a:off x="1764770" y="31083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a:xfrm>
                <a:off x="1536193" y="1765535"/>
                <a:ext cx="1020131" cy="523220"/>
              </a:xfrm>
              <a:prstGeom prst="rect">
                <a:avLst/>
              </a:prstGeom>
              <a:noFill/>
            </p:spPr>
            <p:txBody>
              <a:bodyPr wrap="square" rtlCol="0">
                <a:spAutoFit/>
              </a:bodyPr>
              <a:lstStyle/>
              <a:p>
                <a:pPr marL="0" marR="0" lvl="0" indent="0" algn="ctr" defTabSz="914478" eaLnBrk="1" fontAlgn="auto" latinLnBrk="0" hangingPunct="1">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endPar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a:p>
                <a:pPr marL="0" marR="0" lvl="0" indent="0" algn="ctr" defTabSz="914478" eaLnBrk="1" fontAlgn="auto" latinLnBrk="0" hangingPunct="1">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箭头连接符 51"/>
              <p:cNvCxnSpPr/>
              <p:nvPr/>
            </p:nvCxnSpPr>
            <p:spPr>
              <a:xfrm flipV="1">
                <a:off x="2557758" y="3657592"/>
                <a:ext cx="0" cy="82680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53" name="椭圆 52"/>
              <p:cNvSpPr>
                <a:spLocks noChangeAspect="1"/>
              </p:cNvSpPr>
              <p:nvPr/>
            </p:nvSpPr>
            <p:spPr>
              <a:xfrm>
                <a:off x="2445980" y="356617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Oval 4"/>
              <p:cNvSpPr>
                <a:spLocks noChangeAspect="1"/>
              </p:cNvSpPr>
              <p:nvPr/>
            </p:nvSpPr>
            <p:spPr>
              <a:xfrm>
                <a:off x="2711589" y="2318340"/>
                <a:ext cx="180000" cy="180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箭头连接符 55"/>
              <p:cNvCxnSpPr>
                <a:endCxn id="59" idx="7"/>
              </p:cNvCxnSpPr>
              <p:nvPr/>
            </p:nvCxnSpPr>
            <p:spPr>
              <a:xfrm flipV="1">
                <a:off x="1845638" y="3598634"/>
                <a:ext cx="532707" cy="885761"/>
              </a:xfrm>
              <a:prstGeom prst="straightConnector1">
                <a:avLst/>
              </a:prstGeom>
              <a:noFill/>
              <a:ln w="19050" cap="flat" cmpd="sng" algn="ctr">
                <a:solidFill>
                  <a:srgbClr val="1D1D1A"/>
                </a:solidFill>
                <a:prstDash val="solid"/>
                <a:miter lim="800000"/>
                <a:headEnd type="none" w="med" len="med"/>
                <a:tailEnd type="none" w="med" len="med"/>
              </a:ln>
              <a:effectLst/>
            </p:spPr>
          </p:cxnSp>
          <p:cxnSp>
            <p:nvCxnSpPr>
              <p:cNvPr id="58" name="直接箭头连接符 57"/>
              <p:cNvCxnSpPr>
                <a:endCxn id="60" idx="1"/>
              </p:cNvCxnSpPr>
              <p:nvPr/>
            </p:nvCxnSpPr>
            <p:spPr>
              <a:xfrm flipH="1" flipV="1">
                <a:off x="2746503" y="3600222"/>
                <a:ext cx="582067" cy="884173"/>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59" name="椭圆 58"/>
              <p:cNvSpPr>
                <a:spLocks noChangeAspect="1"/>
              </p:cNvSpPr>
              <p:nvPr/>
            </p:nvSpPr>
            <p:spPr>
              <a:xfrm>
                <a:off x="2179911" y="356458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椭圆 59"/>
              <p:cNvSpPr>
                <a:spLocks noChangeAspect="1"/>
              </p:cNvSpPr>
              <p:nvPr/>
            </p:nvSpPr>
            <p:spPr>
              <a:xfrm>
                <a:off x="2712457" y="3566176"/>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椭圆 60"/>
              <p:cNvSpPr>
                <a:spLocks noChangeAspect="1"/>
              </p:cNvSpPr>
              <p:nvPr/>
            </p:nvSpPr>
            <p:spPr>
              <a:xfrm>
                <a:off x="2445980" y="2124625"/>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椭圆 61"/>
              <p:cNvSpPr>
                <a:spLocks noChangeAspect="1"/>
              </p:cNvSpPr>
              <p:nvPr/>
            </p:nvSpPr>
            <p:spPr>
              <a:xfrm>
                <a:off x="2445980" y="313875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8" name="文本框 67"/>
            <p:cNvSpPr txBox="1"/>
            <p:nvPr/>
          </p:nvSpPr>
          <p:spPr>
            <a:xfrm>
              <a:off x="3571470" y="2145355"/>
              <a:ext cx="1757350" cy="523220"/>
            </a:xfrm>
            <a:prstGeom prst="rect">
              <a:avLst/>
            </a:prstGeom>
            <a:noFill/>
          </p:spPr>
          <p:txBody>
            <a:bodyPr wrap="square" rtlCol="0">
              <a:spAutoFit/>
            </a:bodyPr>
            <a:lstStyle/>
            <a:p>
              <a:pPr fontAlgn="auto">
                <a:spcBef>
                  <a:spcPts val="0"/>
                </a:spcBef>
                <a:spcAft>
                  <a:spcPts val="0"/>
                </a:spcAft>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指定端口马上进入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40" name="圆角矩形 75"/>
          <p:cNvSpPr/>
          <p:nvPr/>
        </p:nvSpPr>
        <p:spPr>
          <a:xfrm>
            <a:off x="7229474" y="4843724"/>
            <a:ext cx="4111305" cy="946552"/>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下游设备继续执行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协商过程。</a:t>
            </a:r>
          </a:p>
        </p:txBody>
      </p:sp>
    </p:spTree>
    <p:extLst>
      <p:ext uri="{BB962C8B-B14F-4D97-AF65-F5344CB8AC3E}">
        <p14:creationId xmlns:p14="http://schemas.microsoft.com/office/powerpoint/2010/main" val="3743294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6</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：拓扑变更机制</a:t>
            </a:r>
          </a:p>
        </p:txBody>
      </p:sp>
      <p:sp>
        <p:nvSpPr>
          <p:cNvPr id="2" name="文本占位符 1"/>
          <p:cNvSpPr>
            <a:spLocks noGrp="1"/>
          </p:cNvSpPr>
          <p:nvPr>
            <p:ph type="body" sz="quarter" idx="10"/>
          </p:nvPr>
        </p:nvSpPr>
        <p:spPr>
          <a:xfrm>
            <a:off x="468317" y="1233488"/>
            <a:ext cx="11276183" cy="510889"/>
          </a:xfrm>
        </p:spPr>
        <p:txBody>
          <a:bodyPr/>
          <a:lstStyle/>
          <a:p>
            <a:pPr marL="0" indent="0">
              <a:buNone/>
            </a:pP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中检测拓扑是否发生变化只有一个标准：一个非边缘端口迁移到</a:t>
            </a:r>
            <a:r>
              <a:rPr lang="en-US" altLang="zh-CN" sz="2000" dirty="0">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2000" dirty="0">
                <a:latin typeface="Huawei Sans" panose="020C0503030203020204" pitchFamily="34" charset="0"/>
                <a:ea typeface="方正兰亭黑简体" panose="02000000000000000000" pitchFamily="2" charset="-122"/>
                <a:sym typeface="Huawei Sans" panose="020C0503030203020204" pitchFamily="34" charset="0"/>
              </a:rPr>
              <a:t>状态。</a:t>
            </a:r>
          </a:p>
        </p:txBody>
      </p:sp>
      <p:sp>
        <p:nvSpPr>
          <p:cNvPr id="32" name="圆角矩形 75"/>
          <p:cNvSpPr/>
          <p:nvPr/>
        </p:nvSpPr>
        <p:spPr>
          <a:xfrm>
            <a:off x="6177610" y="1804169"/>
            <a:ext cx="5493149"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拓扑变更机制</a:t>
            </a:r>
          </a:p>
        </p:txBody>
      </p:sp>
      <p:sp>
        <p:nvSpPr>
          <p:cNvPr id="33" name="圆角矩形 75"/>
          <p:cNvSpPr/>
          <p:nvPr/>
        </p:nvSpPr>
        <p:spPr>
          <a:xfrm>
            <a:off x="6177610" y="2235674"/>
            <a:ext cx="5493149" cy="408379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一旦检测到拓扑发生变化，将进行如下处理：</a:t>
            </a:r>
          </a:p>
          <a:p>
            <a:pPr marL="360000" lvl="1" indent="-180000" algn="just">
              <a:lnSpc>
                <a:spcPts val="2600"/>
              </a:lnSpc>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为本交换设备的所有非边缘指定端口和根端口启动一个</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 While Timer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，该计时器值是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Hello Time</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的两倍。在这个时间内，</a:t>
            </a: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清空状态发生变化的端口上学习到的</a:t>
            </a:r>
            <a:r>
              <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a:p>
            <a:pPr marL="360000" lvl="1" indent="-180000" algn="just">
              <a:lnSpc>
                <a:spcPts val="2600"/>
              </a:lnSpc>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同时，由非边缘指定端口和根端口向外发送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，其中</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置位。一旦</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 While Timer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超时，则停止发送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a:p>
            <a:pPr marL="360000" lvl="1" indent="-180000" algn="just">
              <a:lnSpc>
                <a:spcPts val="2600"/>
              </a:lnSpc>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其他交换设备接收到</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a:t>
            </a: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清空所有端口（除了收到</a:t>
            </a:r>
            <a:r>
              <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的端口和边缘端口）学习到</a:t>
            </a:r>
            <a:r>
              <a:rPr lang="en-US" altLang="zh-CN"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，然后也为自己所有的非边缘指定端口和根端口启动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 While Timer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，重复上述过程。</a:t>
            </a: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如此，网络中就会产生</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的泛洪。</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29" name="组合 128"/>
          <p:cNvGrpSpPr/>
          <p:nvPr/>
        </p:nvGrpSpPr>
        <p:grpSpPr>
          <a:xfrm>
            <a:off x="1033343" y="2127277"/>
            <a:ext cx="4538082" cy="2496450"/>
            <a:chOff x="821988" y="2199308"/>
            <a:chExt cx="4538082" cy="2496450"/>
          </a:xfrm>
        </p:grpSpPr>
        <p:grpSp>
          <p:nvGrpSpPr>
            <p:cNvPr id="130" name="组合 129"/>
            <p:cNvGrpSpPr/>
            <p:nvPr/>
          </p:nvGrpSpPr>
          <p:grpSpPr>
            <a:xfrm>
              <a:off x="821988" y="2199308"/>
              <a:ext cx="4538082" cy="2496450"/>
              <a:chOff x="6281092" y="1347279"/>
              <a:chExt cx="4538082" cy="2496450"/>
            </a:xfrm>
          </p:grpSpPr>
          <p:pic>
            <p:nvPicPr>
              <p:cNvPr id="140" name="图片 1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141" name="图片 1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142" name="图片 14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143" name="直接连接符 142"/>
              <p:cNvCxnSpPr>
                <a:stCxn id="141" idx="3"/>
                <a:endCxn id="142"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144" name="直接连接符 143"/>
              <p:cNvCxnSpPr>
                <a:stCxn id="142" idx="0"/>
                <a:endCxn id="140"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45" name="文本框 144"/>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文本框 145"/>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文本框 146"/>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8" name="直接箭头连接符 147"/>
              <p:cNvCxnSpPr>
                <a:stCxn id="141" idx="0"/>
                <a:endCxn id="140"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134" name="椭圆 133"/>
            <p:cNvSpPr>
              <a:spLocks noChangeAspect="1"/>
            </p:cNvSpPr>
            <p:nvPr/>
          </p:nvSpPr>
          <p:spPr>
            <a:xfrm>
              <a:off x="1559500" y="411269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椭圆 134"/>
            <p:cNvSpPr>
              <a:spLocks noChangeAspect="1"/>
            </p:cNvSpPr>
            <p:nvPr/>
          </p:nvSpPr>
          <p:spPr>
            <a:xfrm>
              <a:off x="4481035" y="4107083"/>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椭圆 135"/>
            <p:cNvSpPr>
              <a:spLocks noChangeAspect="1"/>
            </p:cNvSpPr>
            <p:nvPr/>
          </p:nvSpPr>
          <p:spPr>
            <a:xfrm>
              <a:off x="2732974" y="279460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椭圆 136"/>
            <p:cNvSpPr>
              <a:spLocks noChangeAspect="1"/>
            </p:cNvSpPr>
            <p:nvPr/>
          </p:nvSpPr>
          <p:spPr>
            <a:xfrm>
              <a:off x="3290175" y="279460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椭圆 137"/>
            <p:cNvSpPr>
              <a:spLocks noChangeAspect="1"/>
            </p:cNvSpPr>
            <p:nvPr/>
          </p:nvSpPr>
          <p:spPr>
            <a:xfrm>
              <a:off x="1732598" y="435811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椭圆 138"/>
            <p:cNvSpPr>
              <a:spLocks noChangeAspect="1"/>
            </p:cNvSpPr>
            <p:nvPr/>
          </p:nvSpPr>
          <p:spPr>
            <a:xfrm>
              <a:off x="4147575" y="435811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十字形 33"/>
          <p:cNvSpPr/>
          <p:nvPr/>
        </p:nvSpPr>
        <p:spPr>
          <a:xfrm rot="1549855">
            <a:off x="3973946" y="3277170"/>
            <a:ext cx="345945" cy="345945"/>
          </a:xfrm>
          <a:prstGeom prst="plus">
            <a:avLst>
              <a:gd name="adj" fmla="val 39697"/>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7" name="直接箭头连接符 36"/>
          <p:cNvCxnSpPr/>
          <p:nvPr/>
        </p:nvCxnSpPr>
        <p:spPr>
          <a:xfrm flipH="1">
            <a:off x="2772857" y="4602939"/>
            <a:ext cx="772055" cy="0"/>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V="1">
            <a:off x="2130350" y="3008838"/>
            <a:ext cx="514546" cy="582960"/>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2" name="圆角矩形标注 41"/>
          <p:cNvSpPr/>
          <p:nvPr/>
        </p:nvSpPr>
        <p:spPr>
          <a:xfrm>
            <a:off x="4243371" y="4747691"/>
            <a:ext cx="1786907" cy="998777"/>
          </a:xfrm>
          <a:prstGeom prst="wedgeRoundRectCallout">
            <a:avLst>
              <a:gd name="adj1" fmla="val -30774"/>
              <a:gd name="adj2" fmla="val -72753"/>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lgn="just">
              <a:lnSpc>
                <a:spcPts val="2600"/>
              </a:lnSpc>
              <a:spcAft>
                <a:spcPts val="600"/>
              </a:spcAft>
              <a:buFont typeface="+mj-lt"/>
              <a:buAutoNum type="arabicPeriod" startAt="2"/>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开启计时器，并清空端口学习到的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a:t>
            </a:r>
          </a:p>
        </p:txBody>
      </p:sp>
      <p:sp>
        <p:nvSpPr>
          <p:cNvPr id="43" name="圆角矩形标注 42"/>
          <p:cNvSpPr/>
          <p:nvPr/>
        </p:nvSpPr>
        <p:spPr>
          <a:xfrm>
            <a:off x="2510015" y="4785228"/>
            <a:ext cx="1560247" cy="675414"/>
          </a:xfrm>
          <a:prstGeom prst="wedgeRoundRectCallout">
            <a:avLst>
              <a:gd name="adj1" fmla="val -9660"/>
              <a:gd name="adj2" fmla="val -73481"/>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lgn="just">
              <a:lnSpc>
                <a:spcPts val="2600"/>
              </a:lnSpc>
              <a:spcAft>
                <a:spcPts val="600"/>
              </a:spcAft>
              <a:buFont typeface="+mj-lt"/>
              <a:buAutoNum type="arabicPeriod" startAt="3"/>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置位的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63" name="圆角矩形标注 62"/>
          <p:cNvSpPr/>
          <p:nvPr/>
        </p:nvSpPr>
        <p:spPr>
          <a:xfrm>
            <a:off x="534875" y="4747691"/>
            <a:ext cx="1786907" cy="998777"/>
          </a:xfrm>
          <a:prstGeom prst="wedgeRoundRectCallout">
            <a:avLst>
              <a:gd name="adj1" fmla="val 22132"/>
              <a:gd name="adj2" fmla="val -70249"/>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lgn="just">
              <a:lnSpc>
                <a:spcPts val="2600"/>
              </a:lnSpc>
              <a:spcAft>
                <a:spcPts val="600"/>
              </a:spcAft>
              <a:buFont typeface="+mj-lt"/>
              <a:buAutoNum type="arabicPeriod" startAt="4"/>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除接收口，清空所有端口学习到的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a:t>
            </a:r>
          </a:p>
        </p:txBody>
      </p:sp>
      <p:sp>
        <p:nvSpPr>
          <p:cNvPr id="65" name="文本框 64"/>
          <p:cNvSpPr txBox="1"/>
          <p:nvPr/>
        </p:nvSpPr>
        <p:spPr>
          <a:xfrm>
            <a:off x="870603" y="6053867"/>
            <a:ext cx="1984715" cy="338554"/>
          </a:xfrm>
          <a:prstGeom prst="rect">
            <a:avLst/>
          </a:prstGeom>
          <a:noFill/>
        </p:spPr>
        <p:txBody>
          <a:bodyPr wrap="square" rtlCol="0">
            <a:spAutoFit/>
          </a:bodyPr>
          <a:lstStyle/>
          <a:p>
            <a:pPr fontAlgn="auto">
              <a:spcBef>
                <a:spcPts val="0"/>
              </a:spcBef>
              <a:spcAft>
                <a:spcPts val="0"/>
              </a:spcAft>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TC=1</a:t>
            </a:r>
          </a:p>
        </p:txBody>
      </p:sp>
      <p:sp>
        <p:nvSpPr>
          <p:cNvPr id="66" name="椭圆 65"/>
          <p:cNvSpPr>
            <a:spLocks noChangeAspect="1"/>
          </p:cNvSpPr>
          <p:nvPr/>
        </p:nvSpPr>
        <p:spPr>
          <a:xfrm>
            <a:off x="628890" y="6108120"/>
            <a:ext cx="211345" cy="21134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椭圆 66"/>
          <p:cNvSpPr>
            <a:spLocks noChangeAspect="1"/>
          </p:cNvSpPr>
          <p:nvPr/>
        </p:nvSpPr>
        <p:spPr>
          <a:xfrm>
            <a:off x="3436359" y="4497266"/>
            <a:ext cx="211345" cy="21134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椭圆 67"/>
          <p:cNvSpPr>
            <a:spLocks noChangeAspect="1"/>
          </p:cNvSpPr>
          <p:nvPr/>
        </p:nvSpPr>
        <p:spPr>
          <a:xfrm>
            <a:off x="2057715" y="3467333"/>
            <a:ext cx="211345" cy="21134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a:xfrm>
            <a:off x="3330710" y="6053867"/>
            <a:ext cx="1984715" cy="338554"/>
          </a:xfrm>
          <a:prstGeom prst="rect">
            <a:avLst/>
          </a:prstGeom>
          <a:noFill/>
        </p:spPr>
        <p:txBody>
          <a:bodyPr wrap="square" rtlCol="0">
            <a:spAutoFit/>
          </a:bodyPr>
          <a:lstStyle/>
          <a:p>
            <a:pPr fontAlgn="auto">
              <a:spcBef>
                <a:spcPts val="0"/>
              </a:spcBef>
              <a:spcAft>
                <a:spcPts val="0"/>
              </a:spcAft>
            </a:pPr>
            <a:r>
              <a:rPr lang="en-US" altLang="zh-CN" sz="1600" b="1"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b="1"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rPr>
              <a:t>地址删除</a:t>
            </a:r>
            <a:endParaRPr lang="en-US" altLang="zh-CN" sz="1600" b="1" dirty="0">
              <a:solidFill>
                <a:srgbClr val="00B0F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4"/>
          <p:cNvGrpSpPr/>
          <p:nvPr/>
        </p:nvGrpSpPr>
        <p:grpSpPr>
          <a:xfrm>
            <a:off x="4360500" y="4291883"/>
            <a:ext cx="216000" cy="216000"/>
            <a:chOff x="4880253" y="2841813"/>
            <a:chExt cx="216000" cy="216000"/>
          </a:xfrm>
        </p:grpSpPr>
        <p:sp>
          <p:nvSpPr>
            <p:cNvPr id="4" name="椭圆 3"/>
            <p:cNvSpPr/>
            <p:nvPr/>
          </p:nvSpPr>
          <p:spPr>
            <a:xfrm>
              <a:off x="4880253" y="2841813"/>
              <a:ext cx="216000" cy="216000"/>
            </a:xfrm>
            <a:prstGeom prst="ellipse">
              <a:avLst/>
            </a:prstGeom>
            <a:solidFill>
              <a:schemeClr val="bg1"/>
            </a:solidFill>
            <a:ln w="19050">
              <a:solidFill>
                <a:srgbClr val="1163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iconfont-10187-1761488"/>
            <p:cNvSpPr>
              <a:spLocks noChangeAspect="1"/>
            </p:cNvSpPr>
            <p:nvPr/>
          </p:nvSpPr>
          <p:spPr bwMode="auto">
            <a:xfrm>
              <a:off x="4880272" y="2841813"/>
              <a:ext cx="215962" cy="216000"/>
            </a:xfrm>
            <a:custGeom>
              <a:avLst/>
              <a:gdLst>
                <a:gd name="T0" fmla="*/ 5760 w 11520"/>
                <a:gd name="T1" fmla="*/ 0 h 11520"/>
                <a:gd name="T2" fmla="*/ 0 w 11520"/>
                <a:gd name="T3" fmla="*/ 5760 h 11520"/>
                <a:gd name="T4" fmla="*/ 5760 w 11520"/>
                <a:gd name="T5" fmla="*/ 11520 h 11520"/>
                <a:gd name="T6" fmla="*/ 11520 w 11520"/>
                <a:gd name="T7" fmla="*/ 5760 h 11520"/>
                <a:gd name="T8" fmla="*/ 5760 w 11520"/>
                <a:gd name="T9" fmla="*/ 0 h 11520"/>
                <a:gd name="T10" fmla="*/ 5760 w 11520"/>
                <a:gd name="T11" fmla="*/ 10880 h 11520"/>
                <a:gd name="T12" fmla="*/ 640 w 11520"/>
                <a:gd name="T13" fmla="*/ 5760 h 11520"/>
                <a:gd name="T14" fmla="*/ 5760 w 11520"/>
                <a:gd name="T15" fmla="*/ 640 h 11520"/>
                <a:gd name="T16" fmla="*/ 10880 w 11520"/>
                <a:gd name="T17" fmla="*/ 5760 h 11520"/>
                <a:gd name="T18" fmla="*/ 5760 w 11520"/>
                <a:gd name="T19" fmla="*/ 10880 h 11520"/>
                <a:gd name="T20" fmla="*/ 8640 w 11520"/>
                <a:gd name="T21" fmla="*/ 6080 h 11520"/>
                <a:gd name="T22" fmla="*/ 2880 w 11520"/>
                <a:gd name="T23" fmla="*/ 6080 h 11520"/>
                <a:gd name="T24" fmla="*/ 2560 w 11520"/>
                <a:gd name="T25" fmla="*/ 5760 h 11520"/>
                <a:gd name="T26" fmla="*/ 2880 w 11520"/>
                <a:gd name="T27" fmla="*/ 5440 h 11520"/>
                <a:gd name="T28" fmla="*/ 8640 w 11520"/>
                <a:gd name="T29" fmla="*/ 5440 h 11520"/>
                <a:gd name="T30" fmla="*/ 8960 w 11520"/>
                <a:gd name="T31" fmla="*/ 5760 h 11520"/>
                <a:gd name="T32" fmla="*/ 8640 w 11520"/>
                <a:gd name="T33" fmla="*/ 608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520" h="11520">
                  <a:moveTo>
                    <a:pt x="5760" y="0"/>
                  </a:moveTo>
                  <a:cubicBezTo>
                    <a:pt x="2592" y="0"/>
                    <a:pt x="0" y="2592"/>
                    <a:pt x="0" y="5760"/>
                  </a:cubicBezTo>
                  <a:cubicBezTo>
                    <a:pt x="0" y="8928"/>
                    <a:pt x="2592" y="11520"/>
                    <a:pt x="5760" y="11520"/>
                  </a:cubicBezTo>
                  <a:cubicBezTo>
                    <a:pt x="8928" y="11520"/>
                    <a:pt x="11520" y="8928"/>
                    <a:pt x="11520" y="5760"/>
                  </a:cubicBezTo>
                  <a:cubicBezTo>
                    <a:pt x="11520" y="2592"/>
                    <a:pt x="8928" y="0"/>
                    <a:pt x="5760" y="0"/>
                  </a:cubicBezTo>
                  <a:close/>
                  <a:moveTo>
                    <a:pt x="5760" y="10880"/>
                  </a:moveTo>
                  <a:cubicBezTo>
                    <a:pt x="2944" y="10880"/>
                    <a:pt x="640" y="8576"/>
                    <a:pt x="640" y="5760"/>
                  </a:cubicBezTo>
                  <a:cubicBezTo>
                    <a:pt x="640" y="2944"/>
                    <a:pt x="2944" y="640"/>
                    <a:pt x="5760" y="640"/>
                  </a:cubicBezTo>
                  <a:cubicBezTo>
                    <a:pt x="8576" y="640"/>
                    <a:pt x="10880" y="2944"/>
                    <a:pt x="10880" y="5760"/>
                  </a:cubicBezTo>
                  <a:cubicBezTo>
                    <a:pt x="10880" y="8576"/>
                    <a:pt x="8576" y="10880"/>
                    <a:pt x="5760" y="10880"/>
                  </a:cubicBezTo>
                  <a:close/>
                  <a:moveTo>
                    <a:pt x="8640" y="6080"/>
                  </a:moveTo>
                  <a:lnTo>
                    <a:pt x="2880" y="6080"/>
                  </a:lnTo>
                  <a:cubicBezTo>
                    <a:pt x="2720" y="6080"/>
                    <a:pt x="2560" y="5920"/>
                    <a:pt x="2560" y="5760"/>
                  </a:cubicBezTo>
                  <a:cubicBezTo>
                    <a:pt x="2560" y="5600"/>
                    <a:pt x="2720" y="5440"/>
                    <a:pt x="2880" y="5440"/>
                  </a:cubicBezTo>
                  <a:lnTo>
                    <a:pt x="8640" y="5440"/>
                  </a:lnTo>
                  <a:cubicBezTo>
                    <a:pt x="8800" y="5440"/>
                    <a:pt x="8960" y="5600"/>
                    <a:pt x="8960" y="5760"/>
                  </a:cubicBezTo>
                  <a:cubicBezTo>
                    <a:pt x="8960" y="5920"/>
                    <a:pt x="8800" y="6080"/>
                    <a:pt x="8640" y="6080"/>
                  </a:cubicBezTo>
                  <a:close/>
                </a:path>
              </a:pathLst>
            </a:cu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7" name="组合 76"/>
          <p:cNvGrpSpPr/>
          <p:nvPr/>
        </p:nvGrpSpPr>
        <p:grpSpPr>
          <a:xfrm>
            <a:off x="4701026" y="4046092"/>
            <a:ext cx="216000" cy="216000"/>
            <a:chOff x="4880253" y="2841813"/>
            <a:chExt cx="216000" cy="216000"/>
          </a:xfrm>
        </p:grpSpPr>
        <p:sp>
          <p:nvSpPr>
            <p:cNvPr id="78" name="椭圆 77"/>
            <p:cNvSpPr/>
            <p:nvPr/>
          </p:nvSpPr>
          <p:spPr>
            <a:xfrm>
              <a:off x="4880253" y="2841813"/>
              <a:ext cx="216000" cy="216000"/>
            </a:xfrm>
            <a:prstGeom prst="ellipse">
              <a:avLst/>
            </a:prstGeom>
            <a:solidFill>
              <a:schemeClr val="bg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iconfont-10187-1761488"/>
            <p:cNvSpPr>
              <a:spLocks noChangeAspect="1"/>
            </p:cNvSpPr>
            <p:nvPr/>
          </p:nvSpPr>
          <p:spPr bwMode="auto">
            <a:xfrm>
              <a:off x="4880272" y="2841813"/>
              <a:ext cx="215962" cy="216000"/>
            </a:xfrm>
            <a:custGeom>
              <a:avLst/>
              <a:gdLst>
                <a:gd name="T0" fmla="*/ 5760 w 11520"/>
                <a:gd name="T1" fmla="*/ 0 h 11520"/>
                <a:gd name="T2" fmla="*/ 0 w 11520"/>
                <a:gd name="T3" fmla="*/ 5760 h 11520"/>
                <a:gd name="T4" fmla="*/ 5760 w 11520"/>
                <a:gd name="T5" fmla="*/ 11520 h 11520"/>
                <a:gd name="T6" fmla="*/ 11520 w 11520"/>
                <a:gd name="T7" fmla="*/ 5760 h 11520"/>
                <a:gd name="T8" fmla="*/ 5760 w 11520"/>
                <a:gd name="T9" fmla="*/ 0 h 11520"/>
                <a:gd name="T10" fmla="*/ 5760 w 11520"/>
                <a:gd name="T11" fmla="*/ 10880 h 11520"/>
                <a:gd name="T12" fmla="*/ 640 w 11520"/>
                <a:gd name="T13" fmla="*/ 5760 h 11520"/>
                <a:gd name="T14" fmla="*/ 5760 w 11520"/>
                <a:gd name="T15" fmla="*/ 640 h 11520"/>
                <a:gd name="T16" fmla="*/ 10880 w 11520"/>
                <a:gd name="T17" fmla="*/ 5760 h 11520"/>
                <a:gd name="T18" fmla="*/ 5760 w 11520"/>
                <a:gd name="T19" fmla="*/ 10880 h 11520"/>
                <a:gd name="T20" fmla="*/ 8640 w 11520"/>
                <a:gd name="T21" fmla="*/ 6080 h 11520"/>
                <a:gd name="T22" fmla="*/ 2880 w 11520"/>
                <a:gd name="T23" fmla="*/ 6080 h 11520"/>
                <a:gd name="T24" fmla="*/ 2560 w 11520"/>
                <a:gd name="T25" fmla="*/ 5760 h 11520"/>
                <a:gd name="T26" fmla="*/ 2880 w 11520"/>
                <a:gd name="T27" fmla="*/ 5440 h 11520"/>
                <a:gd name="T28" fmla="*/ 8640 w 11520"/>
                <a:gd name="T29" fmla="*/ 5440 h 11520"/>
                <a:gd name="T30" fmla="*/ 8960 w 11520"/>
                <a:gd name="T31" fmla="*/ 5760 h 11520"/>
                <a:gd name="T32" fmla="*/ 8640 w 11520"/>
                <a:gd name="T33" fmla="*/ 608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520" h="11520">
                  <a:moveTo>
                    <a:pt x="5760" y="0"/>
                  </a:moveTo>
                  <a:cubicBezTo>
                    <a:pt x="2592" y="0"/>
                    <a:pt x="0" y="2592"/>
                    <a:pt x="0" y="5760"/>
                  </a:cubicBezTo>
                  <a:cubicBezTo>
                    <a:pt x="0" y="8928"/>
                    <a:pt x="2592" y="11520"/>
                    <a:pt x="5760" y="11520"/>
                  </a:cubicBezTo>
                  <a:cubicBezTo>
                    <a:pt x="8928" y="11520"/>
                    <a:pt x="11520" y="8928"/>
                    <a:pt x="11520" y="5760"/>
                  </a:cubicBezTo>
                  <a:cubicBezTo>
                    <a:pt x="11520" y="2592"/>
                    <a:pt x="8928" y="0"/>
                    <a:pt x="5760" y="0"/>
                  </a:cubicBezTo>
                  <a:close/>
                  <a:moveTo>
                    <a:pt x="5760" y="10880"/>
                  </a:moveTo>
                  <a:cubicBezTo>
                    <a:pt x="2944" y="10880"/>
                    <a:pt x="640" y="8576"/>
                    <a:pt x="640" y="5760"/>
                  </a:cubicBezTo>
                  <a:cubicBezTo>
                    <a:pt x="640" y="2944"/>
                    <a:pt x="2944" y="640"/>
                    <a:pt x="5760" y="640"/>
                  </a:cubicBezTo>
                  <a:cubicBezTo>
                    <a:pt x="8576" y="640"/>
                    <a:pt x="10880" y="2944"/>
                    <a:pt x="10880" y="5760"/>
                  </a:cubicBezTo>
                  <a:cubicBezTo>
                    <a:pt x="10880" y="8576"/>
                    <a:pt x="8576" y="10880"/>
                    <a:pt x="5760" y="10880"/>
                  </a:cubicBezTo>
                  <a:close/>
                  <a:moveTo>
                    <a:pt x="8640" y="6080"/>
                  </a:moveTo>
                  <a:lnTo>
                    <a:pt x="2880" y="6080"/>
                  </a:lnTo>
                  <a:cubicBezTo>
                    <a:pt x="2720" y="6080"/>
                    <a:pt x="2560" y="5920"/>
                    <a:pt x="2560" y="5760"/>
                  </a:cubicBezTo>
                  <a:cubicBezTo>
                    <a:pt x="2560" y="5600"/>
                    <a:pt x="2720" y="5440"/>
                    <a:pt x="2880" y="5440"/>
                  </a:cubicBezTo>
                  <a:lnTo>
                    <a:pt x="8640" y="5440"/>
                  </a:lnTo>
                  <a:cubicBezTo>
                    <a:pt x="8800" y="5440"/>
                    <a:pt x="8960" y="5600"/>
                    <a:pt x="8960" y="5760"/>
                  </a:cubicBezTo>
                  <a:cubicBezTo>
                    <a:pt x="8960" y="5920"/>
                    <a:pt x="8800" y="6080"/>
                    <a:pt x="8640" y="6080"/>
                  </a:cubicBezTo>
                  <a:close/>
                </a:path>
              </a:pathLst>
            </a:custGeom>
            <a:solidFill>
              <a:srgbClr val="00B0F0"/>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0" name="组合 79"/>
          <p:cNvGrpSpPr/>
          <p:nvPr/>
        </p:nvGrpSpPr>
        <p:grpSpPr>
          <a:xfrm>
            <a:off x="1775661" y="4046092"/>
            <a:ext cx="216000" cy="216000"/>
            <a:chOff x="4880253" y="2841813"/>
            <a:chExt cx="216000" cy="216000"/>
          </a:xfrm>
        </p:grpSpPr>
        <p:sp>
          <p:nvSpPr>
            <p:cNvPr id="81" name="椭圆 80"/>
            <p:cNvSpPr/>
            <p:nvPr/>
          </p:nvSpPr>
          <p:spPr>
            <a:xfrm>
              <a:off x="4880253" y="2841813"/>
              <a:ext cx="216000" cy="216000"/>
            </a:xfrm>
            <a:prstGeom prst="ellipse">
              <a:avLst/>
            </a:prstGeom>
            <a:solidFill>
              <a:schemeClr val="bg1"/>
            </a:solidFill>
            <a:ln w="19050">
              <a:solidFill>
                <a:srgbClr val="1163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iconfont-10187-1761488"/>
            <p:cNvSpPr>
              <a:spLocks noChangeAspect="1"/>
            </p:cNvSpPr>
            <p:nvPr/>
          </p:nvSpPr>
          <p:spPr bwMode="auto">
            <a:xfrm>
              <a:off x="4880272" y="2841813"/>
              <a:ext cx="215962" cy="216000"/>
            </a:xfrm>
            <a:custGeom>
              <a:avLst/>
              <a:gdLst>
                <a:gd name="T0" fmla="*/ 5760 w 11520"/>
                <a:gd name="T1" fmla="*/ 0 h 11520"/>
                <a:gd name="T2" fmla="*/ 0 w 11520"/>
                <a:gd name="T3" fmla="*/ 5760 h 11520"/>
                <a:gd name="T4" fmla="*/ 5760 w 11520"/>
                <a:gd name="T5" fmla="*/ 11520 h 11520"/>
                <a:gd name="T6" fmla="*/ 11520 w 11520"/>
                <a:gd name="T7" fmla="*/ 5760 h 11520"/>
                <a:gd name="T8" fmla="*/ 5760 w 11520"/>
                <a:gd name="T9" fmla="*/ 0 h 11520"/>
                <a:gd name="T10" fmla="*/ 5760 w 11520"/>
                <a:gd name="T11" fmla="*/ 10880 h 11520"/>
                <a:gd name="T12" fmla="*/ 640 w 11520"/>
                <a:gd name="T13" fmla="*/ 5760 h 11520"/>
                <a:gd name="T14" fmla="*/ 5760 w 11520"/>
                <a:gd name="T15" fmla="*/ 640 h 11520"/>
                <a:gd name="T16" fmla="*/ 10880 w 11520"/>
                <a:gd name="T17" fmla="*/ 5760 h 11520"/>
                <a:gd name="T18" fmla="*/ 5760 w 11520"/>
                <a:gd name="T19" fmla="*/ 10880 h 11520"/>
                <a:gd name="T20" fmla="*/ 8640 w 11520"/>
                <a:gd name="T21" fmla="*/ 6080 h 11520"/>
                <a:gd name="T22" fmla="*/ 2880 w 11520"/>
                <a:gd name="T23" fmla="*/ 6080 h 11520"/>
                <a:gd name="T24" fmla="*/ 2560 w 11520"/>
                <a:gd name="T25" fmla="*/ 5760 h 11520"/>
                <a:gd name="T26" fmla="*/ 2880 w 11520"/>
                <a:gd name="T27" fmla="*/ 5440 h 11520"/>
                <a:gd name="T28" fmla="*/ 8640 w 11520"/>
                <a:gd name="T29" fmla="*/ 5440 h 11520"/>
                <a:gd name="T30" fmla="*/ 8960 w 11520"/>
                <a:gd name="T31" fmla="*/ 5760 h 11520"/>
                <a:gd name="T32" fmla="*/ 8640 w 11520"/>
                <a:gd name="T33" fmla="*/ 608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520" h="11520">
                  <a:moveTo>
                    <a:pt x="5760" y="0"/>
                  </a:moveTo>
                  <a:cubicBezTo>
                    <a:pt x="2592" y="0"/>
                    <a:pt x="0" y="2592"/>
                    <a:pt x="0" y="5760"/>
                  </a:cubicBezTo>
                  <a:cubicBezTo>
                    <a:pt x="0" y="8928"/>
                    <a:pt x="2592" y="11520"/>
                    <a:pt x="5760" y="11520"/>
                  </a:cubicBezTo>
                  <a:cubicBezTo>
                    <a:pt x="8928" y="11520"/>
                    <a:pt x="11520" y="8928"/>
                    <a:pt x="11520" y="5760"/>
                  </a:cubicBezTo>
                  <a:cubicBezTo>
                    <a:pt x="11520" y="2592"/>
                    <a:pt x="8928" y="0"/>
                    <a:pt x="5760" y="0"/>
                  </a:cubicBezTo>
                  <a:close/>
                  <a:moveTo>
                    <a:pt x="5760" y="10880"/>
                  </a:moveTo>
                  <a:cubicBezTo>
                    <a:pt x="2944" y="10880"/>
                    <a:pt x="640" y="8576"/>
                    <a:pt x="640" y="5760"/>
                  </a:cubicBezTo>
                  <a:cubicBezTo>
                    <a:pt x="640" y="2944"/>
                    <a:pt x="2944" y="640"/>
                    <a:pt x="5760" y="640"/>
                  </a:cubicBezTo>
                  <a:cubicBezTo>
                    <a:pt x="8576" y="640"/>
                    <a:pt x="10880" y="2944"/>
                    <a:pt x="10880" y="5760"/>
                  </a:cubicBezTo>
                  <a:cubicBezTo>
                    <a:pt x="10880" y="8576"/>
                    <a:pt x="8576" y="10880"/>
                    <a:pt x="5760" y="10880"/>
                  </a:cubicBezTo>
                  <a:close/>
                  <a:moveTo>
                    <a:pt x="8640" y="6080"/>
                  </a:moveTo>
                  <a:lnTo>
                    <a:pt x="2880" y="6080"/>
                  </a:lnTo>
                  <a:cubicBezTo>
                    <a:pt x="2720" y="6080"/>
                    <a:pt x="2560" y="5920"/>
                    <a:pt x="2560" y="5760"/>
                  </a:cubicBezTo>
                  <a:cubicBezTo>
                    <a:pt x="2560" y="5600"/>
                    <a:pt x="2720" y="5440"/>
                    <a:pt x="2880" y="5440"/>
                  </a:cubicBezTo>
                  <a:lnTo>
                    <a:pt x="8640" y="5440"/>
                  </a:lnTo>
                  <a:cubicBezTo>
                    <a:pt x="8800" y="5440"/>
                    <a:pt x="8960" y="5600"/>
                    <a:pt x="8960" y="5760"/>
                  </a:cubicBezTo>
                  <a:cubicBezTo>
                    <a:pt x="8960" y="5920"/>
                    <a:pt x="8800" y="6080"/>
                    <a:pt x="8640" y="6080"/>
                  </a:cubicBezTo>
                  <a:close/>
                </a:path>
              </a:pathLst>
            </a:cu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3" name="组合 102"/>
          <p:cNvGrpSpPr/>
          <p:nvPr/>
        </p:nvGrpSpPr>
        <p:grpSpPr>
          <a:xfrm>
            <a:off x="3518010" y="2726687"/>
            <a:ext cx="216000" cy="216000"/>
            <a:chOff x="4880253" y="2841813"/>
            <a:chExt cx="216000" cy="216000"/>
          </a:xfrm>
        </p:grpSpPr>
        <p:sp>
          <p:nvSpPr>
            <p:cNvPr id="104" name="椭圆 103"/>
            <p:cNvSpPr/>
            <p:nvPr/>
          </p:nvSpPr>
          <p:spPr>
            <a:xfrm>
              <a:off x="4880253" y="2841813"/>
              <a:ext cx="216000" cy="216000"/>
            </a:xfrm>
            <a:prstGeom prst="ellipse">
              <a:avLst/>
            </a:prstGeom>
            <a:solidFill>
              <a:schemeClr val="bg1"/>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iconfont-10187-1761488"/>
            <p:cNvSpPr>
              <a:spLocks noChangeAspect="1"/>
            </p:cNvSpPr>
            <p:nvPr/>
          </p:nvSpPr>
          <p:spPr bwMode="auto">
            <a:xfrm>
              <a:off x="4880272" y="2841813"/>
              <a:ext cx="215962" cy="216000"/>
            </a:xfrm>
            <a:custGeom>
              <a:avLst/>
              <a:gdLst>
                <a:gd name="T0" fmla="*/ 5760 w 11520"/>
                <a:gd name="T1" fmla="*/ 0 h 11520"/>
                <a:gd name="T2" fmla="*/ 0 w 11520"/>
                <a:gd name="T3" fmla="*/ 5760 h 11520"/>
                <a:gd name="T4" fmla="*/ 5760 w 11520"/>
                <a:gd name="T5" fmla="*/ 11520 h 11520"/>
                <a:gd name="T6" fmla="*/ 11520 w 11520"/>
                <a:gd name="T7" fmla="*/ 5760 h 11520"/>
                <a:gd name="T8" fmla="*/ 5760 w 11520"/>
                <a:gd name="T9" fmla="*/ 0 h 11520"/>
                <a:gd name="T10" fmla="*/ 5760 w 11520"/>
                <a:gd name="T11" fmla="*/ 10880 h 11520"/>
                <a:gd name="T12" fmla="*/ 640 w 11520"/>
                <a:gd name="T13" fmla="*/ 5760 h 11520"/>
                <a:gd name="T14" fmla="*/ 5760 w 11520"/>
                <a:gd name="T15" fmla="*/ 640 h 11520"/>
                <a:gd name="T16" fmla="*/ 10880 w 11520"/>
                <a:gd name="T17" fmla="*/ 5760 h 11520"/>
                <a:gd name="T18" fmla="*/ 5760 w 11520"/>
                <a:gd name="T19" fmla="*/ 10880 h 11520"/>
                <a:gd name="T20" fmla="*/ 8640 w 11520"/>
                <a:gd name="T21" fmla="*/ 6080 h 11520"/>
                <a:gd name="T22" fmla="*/ 2880 w 11520"/>
                <a:gd name="T23" fmla="*/ 6080 h 11520"/>
                <a:gd name="T24" fmla="*/ 2560 w 11520"/>
                <a:gd name="T25" fmla="*/ 5760 h 11520"/>
                <a:gd name="T26" fmla="*/ 2880 w 11520"/>
                <a:gd name="T27" fmla="*/ 5440 h 11520"/>
                <a:gd name="T28" fmla="*/ 8640 w 11520"/>
                <a:gd name="T29" fmla="*/ 5440 h 11520"/>
                <a:gd name="T30" fmla="*/ 8960 w 11520"/>
                <a:gd name="T31" fmla="*/ 5760 h 11520"/>
                <a:gd name="T32" fmla="*/ 8640 w 11520"/>
                <a:gd name="T33" fmla="*/ 608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520" h="11520">
                  <a:moveTo>
                    <a:pt x="5760" y="0"/>
                  </a:moveTo>
                  <a:cubicBezTo>
                    <a:pt x="2592" y="0"/>
                    <a:pt x="0" y="2592"/>
                    <a:pt x="0" y="5760"/>
                  </a:cubicBezTo>
                  <a:cubicBezTo>
                    <a:pt x="0" y="8928"/>
                    <a:pt x="2592" y="11520"/>
                    <a:pt x="5760" y="11520"/>
                  </a:cubicBezTo>
                  <a:cubicBezTo>
                    <a:pt x="8928" y="11520"/>
                    <a:pt x="11520" y="8928"/>
                    <a:pt x="11520" y="5760"/>
                  </a:cubicBezTo>
                  <a:cubicBezTo>
                    <a:pt x="11520" y="2592"/>
                    <a:pt x="8928" y="0"/>
                    <a:pt x="5760" y="0"/>
                  </a:cubicBezTo>
                  <a:close/>
                  <a:moveTo>
                    <a:pt x="5760" y="10880"/>
                  </a:moveTo>
                  <a:cubicBezTo>
                    <a:pt x="2944" y="10880"/>
                    <a:pt x="640" y="8576"/>
                    <a:pt x="640" y="5760"/>
                  </a:cubicBezTo>
                  <a:cubicBezTo>
                    <a:pt x="640" y="2944"/>
                    <a:pt x="2944" y="640"/>
                    <a:pt x="5760" y="640"/>
                  </a:cubicBezTo>
                  <a:cubicBezTo>
                    <a:pt x="8576" y="640"/>
                    <a:pt x="10880" y="2944"/>
                    <a:pt x="10880" y="5760"/>
                  </a:cubicBezTo>
                  <a:cubicBezTo>
                    <a:pt x="10880" y="8576"/>
                    <a:pt x="8576" y="10880"/>
                    <a:pt x="5760" y="10880"/>
                  </a:cubicBezTo>
                  <a:close/>
                  <a:moveTo>
                    <a:pt x="8640" y="6080"/>
                  </a:moveTo>
                  <a:lnTo>
                    <a:pt x="2880" y="6080"/>
                  </a:lnTo>
                  <a:cubicBezTo>
                    <a:pt x="2720" y="6080"/>
                    <a:pt x="2560" y="5920"/>
                    <a:pt x="2560" y="5760"/>
                  </a:cubicBezTo>
                  <a:cubicBezTo>
                    <a:pt x="2560" y="5600"/>
                    <a:pt x="2720" y="5440"/>
                    <a:pt x="2880" y="5440"/>
                  </a:cubicBezTo>
                  <a:lnTo>
                    <a:pt x="8640" y="5440"/>
                  </a:lnTo>
                  <a:cubicBezTo>
                    <a:pt x="8800" y="5440"/>
                    <a:pt x="8960" y="5600"/>
                    <a:pt x="8960" y="5760"/>
                  </a:cubicBezTo>
                  <a:cubicBezTo>
                    <a:pt x="8960" y="5920"/>
                    <a:pt x="8800" y="6080"/>
                    <a:pt x="8640" y="6080"/>
                  </a:cubicBezTo>
                  <a:close/>
                </a:path>
              </a:pathLst>
            </a:custGeom>
            <a:solidFill>
              <a:srgbClr val="00B0F0"/>
            </a:solidFill>
            <a:ln w="19050">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06" name="组合 105"/>
          <p:cNvGrpSpPr/>
          <p:nvPr/>
        </p:nvGrpSpPr>
        <p:grpSpPr>
          <a:xfrm>
            <a:off x="3107281" y="6115144"/>
            <a:ext cx="216000" cy="216000"/>
            <a:chOff x="4880253" y="2841813"/>
            <a:chExt cx="216000" cy="216000"/>
          </a:xfrm>
        </p:grpSpPr>
        <p:sp>
          <p:nvSpPr>
            <p:cNvPr id="107" name="椭圆 106"/>
            <p:cNvSpPr/>
            <p:nvPr/>
          </p:nvSpPr>
          <p:spPr>
            <a:xfrm>
              <a:off x="4880253" y="2841813"/>
              <a:ext cx="216000" cy="216000"/>
            </a:xfrm>
            <a:prstGeom prst="ellipse">
              <a:avLst/>
            </a:prstGeom>
            <a:solidFill>
              <a:schemeClr val="bg1"/>
            </a:solidFill>
            <a:ln w="19050">
              <a:solidFill>
                <a:srgbClr val="1163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8" name="iconfont-10187-1761488"/>
            <p:cNvSpPr>
              <a:spLocks noChangeAspect="1"/>
            </p:cNvSpPr>
            <p:nvPr/>
          </p:nvSpPr>
          <p:spPr bwMode="auto">
            <a:xfrm>
              <a:off x="4880272" y="2841813"/>
              <a:ext cx="215962" cy="216000"/>
            </a:xfrm>
            <a:custGeom>
              <a:avLst/>
              <a:gdLst>
                <a:gd name="T0" fmla="*/ 5760 w 11520"/>
                <a:gd name="T1" fmla="*/ 0 h 11520"/>
                <a:gd name="T2" fmla="*/ 0 w 11520"/>
                <a:gd name="T3" fmla="*/ 5760 h 11520"/>
                <a:gd name="T4" fmla="*/ 5760 w 11520"/>
                <a:gd name="T5" fmla="*/ 11520 h 11520"/>
                <a:gd name="T6" fmla="*/ 11520 w 11520"/>
                <a:gd name="T7" fmla="*/ 5760 h 11520"/>
                <a:gd name="T8" fmla="*/ 5760 w 11520"/>
                <a:gd name="T9" fmla="*/ 0 h 11520"/>
                <a:gd name="T10" fmla="*/ 5760 w 11520"/>
                <a:gd name="T11" fmla="*/ 10880 h 11520"/>
                <a:gd name="T12" fmla="*/ 640 w 11520"/>
                <a:gd name="T13" fmla="*/ 5760 h 11520"/>
                <a:gd name="T14" fmla="*/ 5760 w 11520"/>
                <a:gd name="T15" fmla="*/ 640 h 11520"/>
                <a:gd name="T16" fmla="*/ 10880 w 11520"/>
                <a:gd name="T17" fmla="*/ 5760 h 11520"/>
                <a:gd name="T18" fmla="*/ 5760 w 11520"/>
                <a:gd name="T19" fmla="*/ 10880 h 11520"/>
                <a:gd name="T20" fmla="*/ 8640 w 11520"/>
                <a:gd name="T21" fmla="*/ 6080 h 11520"/>
                <a:gd name="T22" fmla="*/ 2880 w 11520"/>
                <a:gd name="T23" fmla="*/ 6080 h 11520"/>
                <a:gd name="T24" fmla="*/ 2560 w 11520"/>
                <a:gd name="T25" fmla="*/ 5760 h 11520"/>
                <a:gd name="T26" fmla="*/ 2880 w 11520"/>
                <a:gd name="T27" fmla="*/ 5440 h 11520"/>
                <a:gd name="T28" fmla="*/ 8640 w 11520"/>
                <a:gd name="T29" fmla="*/ 5440 h 11520"/>
                <a:gd name="T30" fmla="*/ 8960 w 11520"/>
                <a:gd name="T31" fmla="*/ 5760 h 11520"/>
                <a:gd name="T32" fmla="*/ 8640 w 11520"/>
                <a:gd name="T33" fmla="*/ 608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520" h="11520">
                  <a:moveTo>
                    <a:pt x="5760" y="0"/>
                  </a:moveTo>
                  <a:cubicBezTo>
                    <a:pt x="2592" y="0"/>
                    <a:pt x="0" y="2592"/>
                    <a:pt x="0" y="5760"/>
                  </a:cubicBezTo>
                  <a:cubicBezTo>
                    <a:pt x="0" y="8928"/>
                    <a:pt x="2592" y="11520"/>
                    <a:pt x="5760" y="11520"/>
                  </a:cubicBezTo>
                  <a:cubicBezTo>
                    <a:pt x="8928" y="11520"/>
                    <a:pt x="11520" y="8928"/>
                    <a:pt x="11520" y="5760"/>
                  </a:cubicBezTo>
                  <a:cubicBezTo>
                    <a:pt x="11520" y="2592"/>
                    <a:pt x="8928" y="0"/>
                    <a:pt x="5760" y="0"/>
                  </a:cubicBezTo>
                  <a:close/>
                  <a:moveTo>
                    <a:pt x="5760" y="10880"/>
                  </a:moveTo>
                  <a:cubicBezTo>
                    <a:pt x="2944" y="10880"/>
                    <a:pt x="640" y="8576"/>
                    <a:pt x="640" y="5760"/>
                  </a:cubicBezTo>
                  <a:cubicBezTo>
                    <a:pt x="640" y="2944"/>
                    <a:pt x="2944" y="640"/>
                    <a:pt x="5760" y="640"/>
                  </a:cubicBezTo>
                  <a:cubicBezTo>
                    <a:pt x="8576" y="640"/>
                    <a:pt x="10880" y="2944"/>
                    <a:pt x="10880" y="5760"/>
                  </a:cubicBezTo>
                  <a:cubicBezTo>
                    <a:pt x="10880" y="8576"/>
                    <a:pt x="8576" y="10880"/>
                    <a:pt x="5760" y="10880"/>
                  </a:cubicBezTo>
                  <a:close/>
                  <a:moveTo>
                    <a:pt x="8640" y="6080"/>
                  </a:moveTo>
                  <a:lnTo>
                    <a:pt x="2880" y="6080"/>
                  </a:lnTo>
                  <a:cubicBezTo>
                    <a:pt x="2720" y="6080"/>
                    <a:pt x="2560" y="5920"/>
                    <a:pt x="2560" y="5760"/>
                  </a:cubicBezTo>
                  <a:cubicBezTo>
                    <a:pt x="2560" y="5600"/>
                    <a:pt x="2720" y="5440"/>
                    <a:pt x="2880" y="5440"/>
                  </a:cubicBezTo>
                  <a:lnTo>
                    <a:pt x="8640" y="5440"/>
                  </a:lnTo>
                  <a:cubicBezTo>
                    <a:pt x="8800" y="5440"/>
                    <a:pt x="8960" y="5600"/>
                    <a:pt x="8960" y="5760"/>
                  </a:cubicBezTo>
                  <a:cubicBezTo>
                    <a:pt x="8960" y="5920"/>
                    <a:pt x="8800" y="6080"/>
                    <a:pt x="8640" y="6080"/>
                  </a:cubicBezTo>
                  <a:close/>
                </a:path>
              </a:pathLst>
            </a:cu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3" name="圆角矩形标注 52"/>
          <p:cNvSpPr/>
          <p:nvPr/>
        </p:nvSpPr>
        <p:spPr>
          <a:xfrm>
            <a:off x="4481769" y="3033824"/>
            <a:ext cx="1229582" cy="316247"/>
          </a:xfrm>
          <a:prstGeom prst="wedgeRoundRectCallout">
            <a:avLst>
              <a:gd name="adj1" fmla="val -61060"/>
              <a:gd name="adj2" fmla="val 51093"/>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lgn="just">
              <a:lnSpc>
                <a:spcPts val="2600"/>
              </a:lnSpc>
              <a:spcAft>
                <a:spcPts val="600"/>
              </a:spcAft>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链路故障</a:t>
            </a:r>
          </a:p>
        </p:txBody>
      </p:sp>
    </p:spTree>
    <p:extLst>
      <p:ext uri="{BB962C8B-B14F-4D97-AF65-F5344CB8AC3E}">
        <p14:creationId xmlns:p14="http://schemas.microsoft.com/office/powerpoint/2010/main" val="133292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nimBg="1"/>
      <p:bldP spid="63" grpId="0" animBg="1"/>
      <p:bldP spid="67" grpId="0" animBg="1"/>
      <p:bldP spid="68" grpId="0" animBg="1"/>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7</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：保护功能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75"/>
          <p:cNvSpPr/>
          <p:nvPr/>
        </p:nvSpPr>
        <p:spPr>
          <a:xfrm>
            <a:off x="6517747" y="1754125"/>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保护</a:t>
            </a:r>
          </a:p>
        </p:txBody>
      </p:sp>
      <p:sp>
        <p:nvSpPr>
          <p:cNvPr id="33" name="圆角矩形 75"/>
          <p:cNvSpPr/>
          <p:nvPr/>
        </p:nvSpPr>
        <p:spPr>
          <a:xfrm>
            <a:off x="6517747" y="2185631"/>
            <a:ext cx="4784646" cy="282425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正常情况下，边缘端口不会收到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。如果有人伪造</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恶意攻击交换设备，当边缘端口接收到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时，交换设备会自动将边缘端口设置为非边缘端口，并重新进行生成树计算，从而引起网络震荡。</a:t>
            </a: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交换设备上启动了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保护功能后，如果</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边缘端口</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，边缘端口将被</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error-down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，但是边缘端口属性不变，同时通知网管系统。</a:t>
            </a:r>
          </a:p>
        </p:txBody>
      </p:sp>
      <p:grpSp>
        <p:nvGrpSpPr>
          <p:cNvPr id="15" name="组合 14"/>
          <p:cNvGrpSpPr/>
          <p:nvPr/>
        </p:nvGrpSpPr>
        <p:grpSpPr>
          <a:xfrm>
            <a:off x="944556" y="1390973"/>
            <a:ext cx="4538082" cy="3749427"/>
            <a:chOff x="6281092" y="1347279"/>
            <a:chExt cx="4538082" cy="3749427"/>
          </a:xfrm>
        </p:grpSpPr>
        <p:pic>
          <p:nvPicPr>
            <p:cNvPr id="25" name="图片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27" name="图片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28" name="直接连接符 27"/>
            <p:cNvCxnSpPr>
              <a:stCxn id="26" idx="3"/>
              <a:endCxn id="27"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29" name="直接连接符 28"/>
            <p:cNvCxnSpPr>
              <a:stCxn id="27" idx="0"/>
              <a:endCxn id="25"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30" name="文本框 29"/>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5" name="直接箭头连接符 34"/>
            <p:cNvCxnSpPr>
              <a:stCxn id="26" idx="0"/>
              <a:endCxn id="25"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pic>
          <p:nvPicPr>
            <p:cNvPr id="38" name="图片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4653906"/>
              <a:ext cx="540000" cy="442800"/>
            </a:xfrm>
            <a:prstGeom prst="rect">
              <a:avLst/>
            </a:prstGeom>
          </p:spPr>
        </p:pic>
      </p:grpSp>
      <p:pic>
        <p:nvPicPr>
          <p:cNvPr id="16" name="图片 15" descr="PC.png"/>
          <p:cNvPicPr>
            <a:picLocks noChangeAspect="1"/>
          </p:cNvPicPr>
          <p:nvPr/>
        </p:nvPicPr>
        <p:blipFill>
          <a:blip r:embed="rId4" cstate="print"/>
          <a:stretch>
            <a:fillRect/>
          </a:stretch>
        </p:blipFill>
        <p:spPr>
          <a:xfrm>
            <a:off x="3032072" y="4697600"/>
            <a:ext cx="576563" cy="442800"/>
          </a:xfrm>
          <a:prstGeom prst="rect">
            <a:avLst/>
          </a:prstGeom>
        </p:spPr>
      </p:pic>
      <p:cxnSp>
        <p:nvCxnSpPr>
          <p:cNvPr id="17" name="直接连接符 16"/>
          <p:cNvCxnSpPr>
            <a:stCxn id="38" idx="0"/>
            <a:endCxn id="27" idx="2"/>
          </p:cNvCxnSpPr>
          <p:nvPr/>
        </p:nvCxnSpPr>
        <p:spPr>
          <a:xfrm flipV="1">
            <a:off x="4694814" y="3887423"/>
            <a:ext cx="0" cy="810177"/>
          </a:xfrm>
          <a:prstGeom prst="line">
            <a:avLst/>
          </a:prstGeom>
          <a:noFill/>
          <a:ln w="19050" cap="flat" cmpd="sng" algn="ctr">
            <a:solidFill>
              <a:srgbClr val="151515"/>
            </a:solidFill>
            <a:prstDash val="solid"/>
            <a:miter lim="800000"/>
          </a:ln>
          <a:effectLst/>
        </p:spPr>
      </p:cxnSp>
      <p:sp>
        <p:nvSpPr>
          <p:cNvPr id="18" name="椭圆 17"/>
          <p:cNvSpPr>
            <a:spLocks noChangeAspect="1"/>
          </p:cNvSpPr>
          <p:nvPr/>
        </p:nvSpPr>
        <p:spPr>
          <a:xfrm>
            <a:off x="4586545" y="3789809"/>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直接箭头连接符 40"/>
          <p:cNvCxnSpPr/>
          <p:nvPr/>
        </p:nvCxnSpPr>
        <p:spPr>
          <a:xfrm>
            <a:off x="3793206" y="4903092"/>
            <a:ext cx="540000" cy="0"/>
          </a:xfrm>
          <a:prstGeom prst="straightConnector1">
            <a:avLst/>
          </a:prstGeom>
          <a:ln w="381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rot="5400000" flipH="1">
            <a:off x="4669825" y="4294251"/>
            <a:ext cx="540000" cy="0"/>
          </a:xfrm>
          <a:prstGeom prst="straightConnector1">
            <a:avLst/>
          </a:prstGeom>
          <a:ln w="38100">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4943765" y="4022289"/>
            <a:ext cx="1163473" cy="523220"/>
          </a:xfrm>
          <a:prstGeom prst="rect">
            <a:avLst/>
          </a:prstGeom>
          <a:noFill/>
        </p:spPr>
        <p:txBody>
          <a:bodyPr wrap="square" rtlCol="0">
            <a:spAutoFit/>
          </a:bodyPr>
          <a:lstStyle/>
          <a:p>
            <a:pPr algn="ctr" fontAlgn="auto">
              <a:spcBef>
                <a:spcPts val="0"/>
              </a:spcBef>
              <a:spcAft>
                <a:spcPts val="0"/>
              </a:spcAft>
            </a:pP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新设备的</a:t>
            </a: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auto">
              <a:spcBef>
                <a:spcPts val="0"/>
              </a:spcBef>
              <a:spcAft>
                <a:spcPts val="0"/>
              </a:spcAft>
            </a:pPr>
            <a:r>
              <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49" name="圆角矩形标注 48"/>
          <p:cNvSpPr/>
          <p:nvPr/>
        </p:nvSpPr>
        <p:spPr>
          <a:xfrm>
            <a:off x="4923041" y="2854641"/>
            <a:ext cx="1483519" cy="360000"/>
          </a:xfrm>
          <a:prstGeom prst="wedgeRoundRectCallout">
            <a:avLst>
              <a:gd name="adj1" fmla="val -56700"/>
              <a:gd name="adj2" fmla="val 151965"/>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6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保护</a:t>
            </a:r>
          </a:p>
        </p:txBody>
      </p:sp>
      <p:sp>
        <p:nvSpPr>
          <p:cNvPr id="50" name="文本框 49"/>
          <p:cNvSpPr txBox="1"/>
          <p:nvPr/>
        </p:nvSpPr>
        <p:spPr>
          <a:xfrm>
            <a:off x="3952862" y="5019883"/>
            <a:ext cx="149984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lang="zh-CN" altLang="en-US" sz="1400" kern="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被恶意用户侵占</a:t>
            </a:r>
            <a:endParaRPr kumimoji="0" lang="zh-CN" altLang="en-US" sz="14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a:xfrm>
            <a:off x="769566" y="5359468"/>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53" name="椭圆 52"/>
          <p:cNvSpPr>
            <a:spLocks noChangeAspect="1"/>
          </p:cNvSpPr>
          <p:nvPr/>
        </p:nvSpPr>
        <p:spPr>
          <a:xfrm>
            <a:off x="527853" y="5413721"/>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椭圆 53"/>
          <p:cNvSpPr>
            <a:spLocks noChangeAspect="1"/>
          </p:cNvSpPr>
          <p:nvPr/>
        </p:nvSpPr>
        <p:spPr>
          <a:xfrm>
            <a:off x="4842283" y="4396630"/>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3199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7</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：保护功能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75"/>
          <p:cNvSpPr/>
          <p:nvPr/>
        </p:nvSpPr>
        <p:spPr>
          <a:xfrm>
            <a:off x="6517747" y="1754125"/>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根保护（</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Root</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保护）</a:t>
            </a:r>
          </a:p>
        </p:txBody>
      </p:sp>
      <p:sp>
        <p:nvSpPr>
          <p:cNvPr id="33" name="圆角矩形 75"/>
          <p:cNvSpPr/>
          <p:nvPr/>
        </p:nvSpPr>
        <p:spPr>
          <a:xfrm>
            <a:off x="6517747" y="2185631"/>
            <a:ext cx="4784646" cy="361882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对于启用根保护功能的指定端口，其端口角色只能保持为</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指定端口</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一旦启用根保护功能的指定端口收到优先级更高的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时，端口将进入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状态，不再转发报文。经过一段时间（通常为两倍的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），如果端口一直没有再收到优先级较高的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，端口会自动恢复到正常的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根保护功能确保了根桥的角色不会因为一些网络问题而改变。</a:t>
            </a:r>
          </a:p>
        </p:txBody>
      </p:sp>
      <p:sp>
        <p:nvSpPr>
          <p:cNvPr id="54" name="文本框 53"/>
          <p:cNvSpPr txBox="1"/>
          <p:nvPr/>
        </p:nvSpPr>
        <p:spPr>
          <a:xfrm>
            <a:off x="769566" y="5359468"/>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55" name="椭圆 54"/>
          <p:cNvSpPr>
            <a:spLocks noChangeAspect="1"/>
          </p:cNvSpPr>
          <p:nvPr/>
        </p:nvSpPr>
        <p:spPr>
          <a:xfrm>
            <a:off x="527853" y="5413721"/>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84" name="组合 83"/>
          <p:cNvGrpSpPr/>
          <p:nvPr/>
        </p:nvGrpSpPr>
        <p:grpSpPr>
          <a:xfrm>
            <a:off x="959482" y="1913902"/>
            <a:ext cx="4538082" cy="2834673"/>
            <a:chOff x="6281092" y="1347279"/>
            <a:chExt cx="4538082" cy="2834673"/>
          </a:xfrm>
        </p:grpSpPr>
        <p:pic>
          <p:nvPicPr>
            <p:cNvPr id="85" name="图片 8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86" name="图片 8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87" name="直接连接符 86"/>
            <p:cNvCxnSpPr>
              <a:stCxn id="85" idx="3"/>
              <a:endCxn id="86"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88" name="直接连接符 87"/>
            <p:cNvCxnSpPr>
              <a:stCxn id="86" idx="0"/>
              <a:endCxn id="94"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89" name="文本框 88"/>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2" name="直接箭头连接符 91"/>
            <p:cNvCxnSpPr>
              <a:stCxn id="85" idx="0"/>
              <a:endCxn id="94"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sp>
          <p:nvSpPr>
            <p:cNvPr id="93" name="文本框 92"/>
            <p:cNvSpPr txBox="1"/>
            <p:nvPr/>
          </p:nvSpPr>
          <p:spPr>
            <a:xfrm>
              <a:off x="6355035" y="3714836"/>
              <a:ext cx="149984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lang="zh-CN" altLang="en-US" sz="1400" kern="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被恶意用户侵占</a:t>
              </a:r>
              <a:endParaRPr kumimoji="0" lang="zh-CN" altLang="en-US" sz="14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94" name="图片 9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grpSp>
      <p:cxnSp>
        <p:nvCxnSpPr>
          <p:cNvPr id="95" name="直接箭头连接符 94"/>
          <p:cNvCxnSpPr/>
          <p:nvPr/>
        </p:nvCxnSpPr>
        <p:spPr>
          <a:xfrm rot="8040790" flipH="1">
            <a:off x="1792926" y="3191390"/>
            <a:ext cx="781200" cy="0"/>
          </a:xfrm>
          <a:prstGeom prst="straightConnector1">
            <a:avLst/>
          </a:prstGeom>
          <a:ln w="38100">
            <a:solidFill>
              <a:schemeClr val="tx1">
                <a:lumMod val="50000"/>
                <a:lumOff val="5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758079" y="2814553"/>
            <a:ext cx="1637030" cy="523220"/>
          </a:xfrm>
          <a:prstGeom prst="rect">
            <a:avLst/>
          </a:prstGeom>
          <a:noFill/>
        </p:spPr>
        <p:txBody>
          <a:bodyPr wrap="square" rtlCol="0">
            <a:spAutoFit/>
          </a:bodyPr>
          <a:lstStyle/>
          <a:p>
            <a:pPr algn="ctr" fontAlgn="auto">
              <a:spcBef>
                <a:spcPts val="0"/>
              </a:spcBef>
              <a:spcAft>
                <a:spcPts val="0"/>
              </a:spcAft>
            </a:pPr>
            <a:r>
              <a:rPr lang="zh-CN" altLang="en-US"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更优的</a:t>
            </a:r>
            <a:endPar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auto">
              <a:spcBef>
                <a:spcPts val="0"/>
              </a:spcBef>
              <a:spcAft>
                <a:spcPts val="0"/>
              </a:spcAft>
            </a:pPr>
            <a:r>
              <a:rPr lang="en-US" altLang="zh-CN" sz="1400"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97" name="椭圆 96"/>
          <p:cNvSpPr>
            <a:spLocks noChangeAspect="1"/>
          </p:cNvSpPr>
          <p:nvPr/>
        </p:nvSpPr>
        <p:spPr>
          <a:xfrm>
            <a:off x="2844607" y="249797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圆角矩形标注 97"/>
          <p:cNvSpPr/>
          <p:nvPr/>
        </p:nvSpPr>
        <p:spPr>
          <a:xfrm>
            <a:off x="1286676" y="2273524"/>
            <a:ext cx="1313848" cy="360000"/>
          </a:xfrm>
          <a:prstGeom prst="wedgeRoundRectCallout">
            <a:avLst>
              <a:gd name="adj1" fmla="val 70683"/>
              <a:gd name="adj2" fmla="val 45100"/>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6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开启根保护</a:t>
            </a:r>
          </a:p>
        </p:txBody>
      </p:sp>
      <p:sp>
        <p:nvSpPr>
          <p:cNvPr id="99" name="椭圆 98"/>
          <p:cNvSpPr>
            <a:spLocks noChangeAspect="1"/>
          </p:cNvSpPr>
          <p:nvPr/>
        </p:nvSpPr>
        <p:spPr>
          <a:xfrm>
            <a:off x="3411255" y="249866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椭圆 99"/>
          <p:cNvSpPr>
            <a:spLocks noChangeAspect="1"/>
          </p:cNvSpPr>
          <p:nvPr/>
        </p:nvSpPr>
        <p:spPr>
          <a:xfrm>
            <a:off x="1790303" y="336075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76726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7</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：保护功能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圆角矩形 75"/>
          <p:cNvSpPr/>
          <p:nvPr/>
        </p:nvSpPr>
        <p:spPr>
          <a:xfrm>
            <a:off x="6880602" y="1754125"/>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环路保护</a:t>
            </a:r>
          </a:p>
        </p:txBody>
      </p:sp>
      <p:sp>
        <p:nvSpPr>
          <p:cNvPr id="54" name="圆角矩形 75"/>
          <p:cNvSpPr/>
          <p:nvPr/>
        </p:nvSpPr>
        <p:spPr>
          <a:xfrm>
            <a:off x="6880602" y="2185631"/>
            <a:ext cx="4784646" cy="351732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在启动了环路保护功能后，如果</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根端口</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或</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端口</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长时间收不到来自上游设备的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报文时，则向网管发出通知信息（此时根端口会进入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状态，角色切换为指定端口），而</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端口则会一直保持在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状态（角色也会切换为指定端口），不转发报文，从而不会在网络中形成环路。</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直到链路不再拥塞或单向链路故障恢复，端口重新收到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报文进行协商，并恢复到链路拥塞或者单向链路故障前的角色和状态。</a:t>
            </a:r>
          </a:p>
        </p:txBody>
      </p:sp>
      <p:sp>
        <p:nvSpPr>
          <p:cNvPr id="55" name="文本框 54"/>
          <p:cNvSpPr txBox="1"/>
          <p:nvPr/>
        </p:nvSpPr>
        <p:spPr>
          <a:xfrm>
            <a:off x="908918" y="6050608"/>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56" name="椭圆 55"/>
          <p:cNvSpPr>
            <a:spLocks noChangeAspect="1"/>
          </p:cNvSpPr>
          <p:nvPr/>
        </p:nvSpPr>
        <p:spPr>
          <a:xfrm>
            <a:off x="667205" y="6104861"/>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5" name="组合 74"/>
          <p:cNvGrpSpPr/>
          <p:nvPr/>
        </p:nvGrpSpPr>
        <p:grpSpPr>
          <a:xfrm>
            <a:off x="674442" y="2666665"/>
            <a:ext cx="3477272" cy="2795650"/>
            <a:chOff x="6824078" y="1347279"/>
            <a:chExt cx="3477272" cy="2795650"/>
          </a:xfrm>
        </p:grpSpPr>
        <p:pic>
          <p:nvPicPr>
            <p:cNvPr id="76" name="图片 7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77" name="图片 7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79" name="直接连接符 78"/>
            <p:cNvCxnSpPr>
              <a:stCxn id="76" idx="3"/>
              <a:endCxn id="77" idx="1"/>
            </p:cNvCxnSpPr>
            <p:nvPr/>
          </p:nvCxnSpPr>
          <p:spPr>
            <a:xfrm>
              <a:off x="7365849" y="3622329"/>
              <a:ext cx="2395501"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82" name="直接连接符 81"/>
            <p:cNvCxnSpPr>
              <a:stCxn id="77" idx="0"/>
              <a:endCxn id="101"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83" name="文本框 82"/>
            <p:cNvSpPr txBox="1"/>
            <p:nvPr/>
          </p:nvSpPr>
          <p:spPr>
            <a:xfrm>
              <a:off x="6824078" y="3679276"/>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文本框 83"/>
            <p:cNvSpPr txBox="1"/>
            <p:nvPr/>
          </p:nvSpPr>
          <p:spPr>
            <a:xfrm>
              <a:off x="9736772" y="367927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文本框 84"/>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2" name="直接箭头连接符 91"/>
            <p:cNvCxnSpPr>
              <a:stCxn id="76" idx="0"/>
              <a:endCxn id="101"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pic>
          <p:nvPicPr>
            <p:cNvPr id="101" name="图片 10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grpSp>
      <p:sp>
        <p:nvSpPr>
          <p:cNvPr id="102" name="椭圆 101"/>
          <p:cNvSpPr>
            <a:spLocks noChangeAspect="1"/>
          </p:cNvSpPr>
          <p:nvPr/>
        </p:nvSpPr>
        <p:spPr>
          <a:xfrm>
            <a:off x="2016581" y="325073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椭圆 104"/>
          <p:cNvSpPr>
            <a:spLocks noChangeAspect="1"/>
          </p:cNvSpPr>
          <p:nvPr/>
        </p:nvSpPr>
        <p:spPr>
          <a:xfrm>
            <a:off x="2583229" y="325142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椭圆 105"/>
          <p:cNvSpPr>
            <a:spLocks noChangeAspect="1"/>
          </p:cNvSpPr>
          <p:nvPr/>
        </p:nvSpPr>
        <p:spPr>
          <a:xfrm>
            <a:off x="868961" y="460846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椭圆 108"/>
          <p:cNvSpPr>
            <a:spLocks noChangeAspect="1"/>
          </p:cNvSpPr>
          <p:nvPr/>
        </p:nvSpPr>
        <p:spPr>
          <a:xfrm>
            <a:off x="3763588" y="460846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椭圆 113"/>
          <p:cNvSpPr>
            <a:spLocks noChangeAspect="1"/>
          </p:cNvSpPr>
          <p:nvPr/>
        </p:nvSpPr>
        <p:spPr>
          <a:xfrm>
            <a:off x="3482634" y="484094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7" name="椭圆 116"/>
          <p:cNvSpPr>
            <a:spLocks noChangeAspect="1"/>
          </p:cNvSpPr>
          <p:nvPr/>
        </p:nvSpPr>
        <p:spPr>
          <a:xfrm>
            <a:off x="1105127" y="484094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1" name="直接箭头连接符 120"/>
          <p:cNvCxnSpPr/>
          <p:nvPr/>
        </p:nvCxnSpPr>
        <p:spPr>
          <a:xfrm>
            <a:off x="3253654" y="3664362"/>
            <a:ext cx="497694" cy="597322"/>
          </a:xfrm>
          <a:prstGeom prst="straightConnector1">
            <a:avLst/>
          </a:prstGeom>
          <a:ln w="38100">
            <a:solidFill>
              <a:schemeClr val="tx1">
                <a:lumMod val="65000"/>
                <a:lumOff val="3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22" name="十字形 121"/>
          <p:cNvSpPr/>
          <p:nvPr/>
        </p:nvSpPr>
        <p:spPr>
          <a:xfrm rot="1218251">
            <a:off x="3335406" y="3779242"/>
            <a:ext cx="345945" cy="345945"/>
          </a:xfrm>
          <a:prstGeom prst="plus">
            <a:avLst>
              <a:gd name="adj" fmla="val 39697"/>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椭圆 124"/>
          <p:cNvSpPr>
            <a:spLocks noChangeAspect="1"/>
          </p:cNvSpPr>
          <p:nvPr/>
        </p:nvSpPr>
        <p:spPr>
          <a:xfrm>
            <a:off x="3164220" y="357893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下箭头 63"/>
          <p:cNvSpPr/>
          <p:nvPr/>
        </p:nvSpPr>
        <p:spPr>
          <a:xfrm rot="2942973" flipV="1">
            <a:off x="3546422" y="3131134"/>
            <a:ext cx="1080000" cy="86541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99DFF9"/>
              </a:gs>
              <a:gs pos="100000">
                <a:schemeClr val="bg1">
                  <a:alpha val="0"/>
                </a:schemeClr>
              </a:gs>
            </a:gsLst>
            <a:lin ang="16200000" scaled="1"/>
            <a:tileRect/>
          </a:gradFill>
          <a:ln w="19050">
            <a:gradFill flip="none" rotWithShape="1">
              <a:gsLst>
                <a:gs pos="100000">
                  <a:schemeClr val="bg1">
                    <a:lumMod val="100000"/>
                    <a:alpha val="0"/>
                  </a:schemeClr>
                </a:gs>
                <a:gs pos="31000">
                  <a:srgbClr val="99DFF9"/>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 name="组合 10"/>
          <p:cNvGrpSpPr/>
          <p:nvPr/>
        </p:nvGrpSpPr>
        <p:grpSpPr>
          <a:xfrm>
            <a:off x="3854220" y="1479147"/>
            <a:ext cx="1800000" cy="1800000"/>
            <a:chOff x="3854220" y="1479147"/>
            <a:chExt cx="1800000" cy="1800000"/>
          </a:xfrm>
        </p:grpSpPr>
        <p:sp>
          <p:nvSpPr>
            <p:cNvPr id="10" name="椭圆 9"/>
            <p:cNvSpPr/>
            <p:nvPr/>
          </p:nvSpPr>
          <p:spPr>
            <a:xfrm>
              <a:off x="3854220" y="1479147"/>
              <a:ext cx="1800000" cy="1800000"/>
            </a:xfrm>
            <a:prstGeom prst="ellipse">
              <a:avLst/>
            </a:prstGeom>
            <a:solidFill>
              <a:srgbClr val="F4FBFE"/>
            </a:solidFill>
            <a:ln w="28575">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直接箭头连接符 4"/>
            <p:cNvCxnSpPr/>
            <p:nvPr/>
          </p:nvCxnSpPr>
          <p:spPr>
            <a:xfrm>
              <a:off x="4172068" y="1990822"/>
              <a:ext cx="990786" cy="109375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p:cNvCxnSpPr/>
            <p:nvPr/>
          </p:nvCxnSpPr>
          <p:spPr>
            <a:xfrm>
              <a:off x="4412011" y="1812387"/>
              <a:ext cx="986311" cy="1074469"/>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6" name="Can 9"/>
            <p:cNvSpPr/>
            <p:nvPr/>
          </p:nvSpPr>
          <p:spPr>
            <a:xfrm rot="8215495">
              <a:off x="4511742" y="2093419"/>
              <a:ext cx="522574" cy="666049"/>
            </a:xfrm>
            <a:prstGeom prst="can">
              <a:avLst/>
            </a:prstGeom>
            <a:gradFill flip="none" rotWithShape="1">
              <a:gsLst>
                <a:gs pos="0">
                  <a:schemeClr val="bg1">
                    <a:lumMod val="95000"/>
                  </a:schemeClr>
                </a:gs>
                <a:gs pos="100000">
                  <a:schemeClr val="bg1">
                    <a:lumMod val="95000"/>
                  </a:schemeClr>
                </a:gs>
              </a:gsLst>
              <a:lin ang="2700000" scaled="1"/>
              <a:tileRect/>
            </a:gra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文本框 136"/>
            <p:cNvSpPr txBox="1"/>
            <p:nvPr/>
          </p:nvSpPr>
          <p:spPr>
            <a:xfrm rot="2961699">
              <a:off x="4366138" y="2125805"/>
              <a:ext cx="756656" cy="469937"/>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600" b="1"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LINK</a:t>
              </a:r>
              <a:endParaRPr kumimoji="0" lang="zh-CN" altLang="en-US" sz="1600" b="1"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8" name="十字形 137"/>
            <p:cNvSpPr/>
            <p:nvPr/>
          </p:nvSpPr>
          <p:spPr>
            <a:xfrm rot="1218251">
              <a:off x="4897761" y="2807577"/>
              <a:ext cx="252000" cy="252000"/>
            </a:xfrm>
            <a:prstGeom prst="plus">
              <a:avLst>
                <a:gd name="adj" fmla="val 39697"/>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2" name="圆角矩形标注 131"/>
          <p:cNvSpPr/>
          <p:nvPr/>
        </p:nvSpPr>
        <p:spPr>
          <a:xfrm>
            <a:off x="4185903" y="4387487"/>
            <a:ext cx="1468317" cy="360000"/>
          </a:xfrm>
          <a:prstGeom prst="wedgeRoundRectCallout">
            <a:avLst>
              <a:gd name="adj1" fmla="val -68867"/>
              <a:gd name="adj2" fmla="val 34323"/>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6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开启环路保护</a:t>
            </a:r>
          </a:p>
        </p:txBody>
      </p:sp>
      <p:sp>
        <p:nvSpPr>
          <p:cNvPr id="140" name="圆角矩形 75"/>
          <p:cNvSpPr/>
          <p:nvPr/>
        </p:nvSpPr>
        <p:spPr>
          <a:xfrm>
            <a:off x="4741453" y="3226732"/>
            <a:ext cx="2113447" cy="749539"/>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lnSpc>
                <a:spcPts val="26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单向链路故障，</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发送的报文无法到达</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Oval 4"/>
          <p:cNvSpPr>
            <a:spLocks noChangeAspect="1"/>
          </p:cNvSpPr>
          <p:nvPr/>
        </p:nvSpPr>
        <p:spPr>
          <a:xfrm>
            <a:off x="3607114" y="3201189"/>
            <a:ext cx="216000" cy="216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Oval 4"/>
          <p:cNvSpPr>
            <a:spLocks noChangeAspect="1"/>
          </p:cNvSpPr>
          <p:nvPr/>
        </p:nvSpPr>
        <p:spPr>
          <a:xfrm>
            <a:off x="2076543" y="5324733"/>
            <a:ext cx="216000" cy="216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弧形 144"/>
          <p:cNvSpPr/>
          <p:nvPr/>
        </p:nvSpPr>
        <p:spPr>
          <a:xfrm rot="20246790" flipH="1">
            <a:off x="2066392" y="3866325"/>
            <a:ext cx="720000" cy="720000"/>
          </a:xfrm>
          <a:prstGeom prst="arc">
            <a:avLst>
              <a:gd name="adj1" fmla="val 16200000"/>
              <a:gd name="adj2" fmla="val 13604142"/>
            </a:avLst>
          </a:prstGeom>
          <a:ln w="38100">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fontAlgn="auto">
              <a:spcBef>
                <a:spcPts val="0"/>
              </a:spcBef>
              <a:spcAft>
                <a:spcPts val="0"/>
              </a:spcAft>
            </a:pPr>
            <a:endParaRPr lang="zh-CN" altLang="en-US" sz="180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TextBox 26"/>
          <p:cNvSpPr txBox="1"/>
          <p:nvPr/>
        </p:nvSpPr>
        <p:spPr>
          <a:xfrm>
            <a:off x="2125112" y="4101524"/>
            <a:ext cx="595035" cy="338554"/>
          </a:xfrm>
          <a:prstGeom prst="rect">
            <a:avLst/>
          </a:prstGeom>
          <a:noFill/>
        </p:spPr>
        <p:txBody>
          <a:bodyPr wrap="none" rtlCol="0">
            <a:spAutoFit/>
          </a:bodyPr>
          <a:lstStyle/>
          <a:p>
            <a:pPr fontAlgn="auto">
              <a:spcBef>
                <a:spcPts val="0"/>
              </a:spcBef>
              <a:spcAft>
                <a:spcPts val="0"/>
              </a:spcAft>
            </a:pPr>
            <a:r>
              <a:rPr lang="zh-CN" altLang="en-US" sz="16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环路</a:t>
            </a:r>
          </a:p>
        </p:txBody>
      </p:sp>
      <p:sp>
        <p:nvSpPr>
          <p:cNvPr id="147" name="Oval 4"/>
          <p:cNvSpPr>
            <a:spLocks noChangeAspect="1"/>
          </p:cNvSpPr>
          <p:nvPr/>
        </p:nvSpPr>
        <p:spPr>
          <a:xfrm>
            <a:off x="2309597" y="4445478"/>
            <a:ext cx="216000" cy="216000"/>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圆角矩形 75"/>
          <p:cNvSpPr/>
          <p:nvPr/>
        </p:nvSpPr>
        <p:spPr>
          <a:xfrm>
            <a:off x="2260840" y="5365111"/>
            <a:ext cx="3564636" cy="749539"/>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a:lnSpc>
                <a:spcPts val="2600"/>
              </a:lnSpc>
              <a:spcAft>
                <a:spcPts val="60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Alternate</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端口切换到根端口，进入</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状态；根端口切换成指定端口</a:t>
            </a:r>
          </a:p>
        </p:txBody>
      </p:sp>
    </p:spTree>
    <p:extLst>
      <p:ext uri="{BB962C8B-B14F-4D97-AF65-F5344CB8AC3E}">
        <p14:creationId xmlns:p14="http://schemas.microsoft.com/office/powerpoint/2010/main" val="97993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animBg="1"/>
      <p:bldP spid="144" grpId="0" animBg="1"/>
      <p:bldP spid="145" grpId="0" animBg="1"/>
      <p:bldP spid="146" grpId="0"/>
      <p:bldP spid="147" grpId="0" animBg="1"/>
      <p:bldP spid="14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改进点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7</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：保护功能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圆角矩形 75"/>
          <p:cNvSpPr/>
          <p:nvPr/>
        </p:nvSpPr>
        <p:spPr>
          <a:xfrm>
            <a:off x="6517747" y="1754125"/>
            <a:ext cx="4784646" cy="394020"/>
          </a:xfrm>
          <a:prstGeom prst="roundRect">
            <a:avLst>
              <a:gd name="adj" fmla="val 10604"/>
            </a:avLst>
          </a:prstGeom>
          <a:solidFill>
            <a:srgbClr val="00B0F0"/>
          </a:solidFill>
          <a:ln>
            <a:noFill/>
          </a:ln>
        </p:spPr>
        <p:txBody>
          <a:bodyPr wrap="square" rtlCol="0" anchor="ctr" anchorCtr="0">
            <a:noAutofit/>
          </a:bodyPr>
          <a:lstStyle/>
          <a:p>
            <a:pPr algn="ct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防</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TC-BPDU</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攻击</a:t>
            </a:r>
          </a:p>
        </p:txBody>
      </p:sp>
      <p:sp>
        <p:nvSpPr>
          <p:cNvPr id="4" name="圆角矩形 75"/>
          <p:cNvSpPr/>
          <p:nvPr/>
        </p:nvSpPr>
        <p:spPr>
          <a:xfrm>
            <a:off x="6517747" y="2185632"/>
            <a:ext cx="4784646" cy="289798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108000" rIns="180000" bIns="108000" rtlCol="0" anchor="ctr" anchorCtr="0">
            <a:noAutofit/>
          </a:bodyPr>
          <a:lstStyle/>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启用防</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报文攻击功能后，在单位时间内，交换设备处理</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报文的次数可配置。</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如果在单位时间内，交换设备在收到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报文数量大于配置的阈值，那么设备只会处理阈值指定的次数。</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对于其他超出阈值的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报文，定时器到期后设备只对其统一处理一次。这样可以避免频繁的删除</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地址表项，从而达到保护设备的目的。</a:t>
            </a:r>
          </a:p>
        </p:txBody>
      </p:sp>
      <p:sp>
        <p:nvSpPr>
          <p:cNvPr id="44" name="文本框 43"/>
          <p:cNvSpPr txBox="1"/>
          <p:nvPr/>
        </p:nvSpPr>
        <p:spPr>
          <a:xfrm>
            <a:off x="870603" y="6053867"/>
            <a:ext cx="1984715" cy="338554"/>
          </a:xfrm>
          <a:prstGeom prst="rect">
            <a:avLst/>
          </a:prstGeom>
          <a:noFill/>
        </p:spPr>
        <p:txBody>
          <a:bodyPr wrap="square" rtlCol="0">
            <a:spAutoFit/>
          </a:bodyPr>
          <a:lstStyle/>
          <a:p>
            <a:pPr fontAlgn="auto">
              <a:spcBef>
                <a:spcPts val="0"/>
              </a:spcBef>
              <a:spcAft>
                <a:spcPts val="0"/>
              </a:spcAft>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b="1"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TC=1</a:t>
            </a:r>
          </a:p>
        </p:txBody>
      </p:sp>
      <p:sp>
        <p:nvSpPr>
          <p:cNvPr id="45" name="椭圆 44"/>
          <p:cNvSpPr>
            <a:spLocks noChangeAspect="1"/>
          </p:cNvSpPr>
          <p:nvPr/>
        </p:nvSpPr>
        <p:spPr>
          <a:xfrm>
            <a:off x="628890" y="6108120"/>
            <a:ext cx="211345" cy="21134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7" name="组合 76"/>
          <p:cNvGrpSpPr/>
          <p:nvPr/>
        </p:nvGrpSpPr>
        <p:grpSpPr>
          <a:xfrm>
            <a:off x="1071980" y="1750246"/>
            <a:ext cx="4538082" cy="2496450"/>
            <a:chOff x="821988" y="2199308"/>
            <a:chExt cx="4538082" cy="2496450"/>
          </a:xfrm>
        </p:grpSpPr>
        <p:grpSp>
          <p:nvGrpSpPr>
            <p:cNvPr id="78" name="组合 77"/>
            <p:cNvGrpSpPr/>
            <p:nvPr/>
          </p:nvGrpSpPr>
          <p:grpSpPr>
            <a:xfrm>
              <a:off x="821988" y="2199308"/>
              <a:ext cx="4538082" cy="2496450"/>
              <a:chOff x="6281092" y="1347279"/>
              <a:chExt cx="4538082" cy="2496450"/>
            </a:xfrm>
          </p:grpSpPr>
          <p:pic>
            <p:nvPicPr>
              <p:cNvPr id="85" name="图片 8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86" name="图片 8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87" name="图片 8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88" name="直接连接符 87"/>
              <p:cNvCxnSpPr>
                <a:stCxn id="86" idx="3"/>
                <a:endCxn id="87"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89" name="直接连接符 88"/>
              <p:cNvCxnSpPr>
                <a:stCxn id="87" idx="0"/>
                <a:endCxn id="85"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90" name="文本框 89"/>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文本框 90"/>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2" name="文本框 91"/>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93" name="直接箭头连接符 92"/>
              <p:cNvCxnSpPr>
                <a:stCxn id="86" idx="0"/>
                <a:endCxn id="85"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79" name="椭圆 78"/>
            <p:cNvSpPr>
              <a:spLocks noChangeAspect="1"/>
            </p:cNvSpPr>
            <p:nvPr/>
          </p:nvSpPr>
          <p:spPr>
            <a:xfrm>
              <a:off x="1559500" y="4112690"/>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椭圆 79"/>
            <p:cNvSpPr>
              <a:spLocks noChangeAspect="1"/>
            </p:cNvSpPr>
            <p:nvPr/>
          </p:nvSpPr>
          <p:spPr>
            <a:xfrm>
              <a:off x="4481035" y="4107083"/>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椭圆 80"/>
            <p:cNvSpPr>
              <a:spLocks noChangeAspect="1"/>
            </p:cNvSpPr>
            <p:nvPr/>
          </p:nvSpPr>
          <p:spPr>
            <a:xfrm>
              <a:off x="2732974" y="279460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椭圆 81"/>
            <p:cNvSpPr>
              <a:spLocks noChangeAspect="1"/>
            </p:cNvSpPr>
            <p:nvPr/>
          </p:nvSpPr>
          <p:spPr>
            <a:xfrm>
              <a:off x="3290175" y="2794607"/>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椭圆 82"/>
            <p:cNvSpPr>
              <a:spLocks noChangeAspect="1"/>
            </p:cNvSpPr>
            <p:nvPr/>
          </p:nvSpPr>
          <p:spPr>
            <a:xfrm>
              <a:off x="1732598" y="435811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椭圆 83"/>
            <p:cNvSpPr>
              <a:spLocks noChangeAspect="1"/>
            </p:cNvSpPr>
            <p:nvPr/>
          </p:nvSpPr>
          <p:spPr>
            <a:xfrm>
              <a:off x="4147575" y="4358118"/>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94" name="直接箭头连接符 93"/>
          <p:cNvCxnSpPr/>
          <p:nvPr/>
        </p:nvCxnSpPr>
        <p:spPr>
          <a:xfrm flipH="1">
            <a:off x="2811494" y="4225908"/>
            <a:ext cx="772055" cy="0"/>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5" name="圆角矩形标注 94"/>
          <p:cNvSpPr/>
          <p:nvPr/>
        </p:nvSpPr>
        <p:spPr>
          <a:xfrm>
            <a:off x="2548652" y="4408197"/>
            <a:ext cx="1848915" cy="675414"/>
          </a:xfrm>
          <a:prstGeom prst="wedgeRoundRectCallout">
            <a:avLst>
              <a:gd name="adj1" fmla="val -9660"/>
              <a:gd name="adj2" fmla="val -73481"/>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lgn="just">
              <a:lnSpc>
                <a:spcPts val="2600"/>
              </a:lnSpc>
              <a:spcAft>
                <a:spcPts val="600"/>
              </a:spcAft>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发送大量的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置位的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96" name="圆角矩形标注 95"/>
          <p:cNvSpPr/>
          <p:nvPr/>
        </p:nvSpPr>
        <p:spPr>
          <a:xfrm>
            <a:off x="484725" y="4406811"/>
            <a:ext cx="1875695" cy="956901"/>
          </a:xfrm>
          <a:prstGeom prst="wedgeRoundRectCallout">
            <a:avLst>
              <a:gd name="adj1" fmla="val 22132"/>
              <a:gd name="adj2" fmla="val -70249"/>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000" indent="-180000" algn="just">
              <a:lnSpc>
                <a:spcPts val="2600"/>
              </a:lnSpc>
              <a:spcAft>
                <a:spcPts val="600"/>
              </a:spcAft>
              <a:buFont typeface="+mj-lt"/>
              <a:buAutoNum type="arabicPeriod" startAt="2"/>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频繁删除</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地址表项，给设备造成巨大负担。</a:t>
            </a:r>
          </a:p>
        </p:txBody>
      </p:sp>
      <p:sp>
        <p:nvSpPr>
          <p:cNvPr id="97" name="椭圆 96"/>
          <p:cNvSpPr>
            <a:spLocks noChangeAspect="1"/>
          </p:cNvSpPr>
          <p:nvPr/>
        </p:nvSpPr>
        <p:spPr>
          <a:xfrm>
            <a:off x="3474996" y="4120235"/>
            <a:ext cx="211345" cy="21134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文本框 97"/>
          <p:cNvSpPr txBox="1"/>
          <p:nvPr/>
        </p:nvSpPr>
        <p:spPr>
          <a:xfrm>
            <a:off x="4581996" y="4088351"/>
            <a:ext cx="149984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lang="zh-CN" altLang="en-US" sz="1400" kern="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被恶意用户侵占</a:t>
            </a:r>
            <a:endParaRPr kumimoji="0" lang="zh-CN" altLang="en-US" sz="1400" b="0" i="0" u="none" strike="noStrike" kern="0" cap="none" spc="0" normalizeH="0" baseline="0" noProof="0" dirty="0">
              <a:ln>
                <a:noFill/>
              </a:ln>
              <a:solidFill>
                <a:srgbClr val="EC7061"/>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圆角矩形标注 98"/>
          <p:cNvSpPr/>
          <p:nvPr/>
        </p:nvSpPr>
        <p:spPr>
          <a:xfrm>
            <a:off x="1066826" y="3170991"/>
            <a:ext cx="1377905" cy="360000"/>
          </a:xfrm>
          <a:prstGeom prst="wedgeRoundRectCallout">
            <a:avLst>
              <a:gd name="adj1" fmla="val -6620"/>
              <a:gd name="adj2" fmla="val 119786"/>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600"/>
              </a:lnSpc>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保护</a:t>
            </a:r>
          </a:p>
        </p:txBody>
      </p:sp>
    </p:spTree>
    <p:extLst>
      <p:ext uri="{BB962C8B-B14F-4D97-AF65-F5344CB8AC3E}">
        <p14:creationId xmlns:p14="http://schemas.microsoft.com/office/powerpoint/2010/main" val="1753272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快速生成树协议概述</a:t>
            </a: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的基本概念和工作原理</a:t>
            </a:r>
          </a:p>
          <a:p>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的工作过程</a:t>
            </a: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的基本配置</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94482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base"/>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拓扑收敛过程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8" name="组合 97"/>
          <p:cNvGrpSpPr/>
          <p:nvPr/>
        </p:nvGrpSpPr>
        <p:grpSpPr>
          <a:xfrm>
            <a:off x="961022" y="1770684"/>
            <a:ext cx="4538082" cy="2496450"/>
            <a:chOff x="6281092" y="1347279"/>
            <a:chExt cx="4538082" cy="2496450"/>
          </a:xfrm>
        </p:grpSpPr>
        <p:pic>
          <p:nvPicPr>
            <p:cNvPr id="111" name="图片 1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114" name="图片 1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120" name="图片 1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121" name="直接连接符 120"/>
            <p:cNvCxnSpPr>
              <a:stCxn id="114" idx="3"/>
              <a:endCxn id="120"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122" name="直接连接符 121"/>
            <p:cNvCxnSpPr>
              <a:stCxn id="120" idx="0"/>
              <a:endCxn id="111"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23" name="文本框 122"/>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文本框 123"/>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a:xfrm>
              <a:off x="8020606" y="1347279"/>
              <a:ext cx="1109136" cy="463653"/>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6" name="直接箭头连接符 125"/>
            <p:cNvCxnSpPr>
              <a:stCxn id="114" idx="0"/>
              <a:endCxn id="111"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sp>
        <p:nvSpPr>
          <p:cNvPr id="143" name="椭圆 142"/>
          <p:cNvSpPr>
            <a:spLocks noChangeAspect="1"/>
          </p:cNvSpPr>
          <p:nvPr/>
        </p:nvSpPr>
        <p:spPr>
          <a:xfrm>
            <a:off x="1697590" y="374655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椭圆 143"/>
          <p:cNvSpPr>
            <a:spLocks noChangeAspect="1"/>
          </p:cNvSpPr>
          <p:nvPr/>
        </p:nvSpPr>
        <p:spPr>
          <a:xfrm>
            <a:off x="2846746" y="237395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椭圆 144"/>
          <p:cNvSpPr>
            <a:spLocks noChangeAspect="1"/>
          </p:cNvSpPr>
          <p:nvPr/>
        </p:nvSpPr>
        <p:spPr>
          <a:xfrm>
            <a:off x="3415577" y="237395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椭圆 145"/>
          <p:cNvSpPr>
            <a:spLocks noChangeAspect="1"/>
          </p:cNvSpPr>
          <p:nvPr/>
        </p:nvSpPr>
        <p:spPr>
          <a:xfrm>
            <a:off x="4595040" y="374655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5" name="椭圆 154"/>
          <p:cNvSpPr>
            <a:spLocks noChangeAspect="1"/>
          </p:cNvSpPr>
          <p:nvPr/>
        </p:nvSpPr>
        <p:spPr>
          <a:xfrm>
            <a:off x="1945454" y="3929494"/>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8" name="组合 177"/>
          <p:cNvGrpSpPr/>
          <p:nvPr/>
        </p:nvGrpSpPr>
        <p:grpSpPr>
          <a:xfrm>
            <a:off x="2177934" y="5892522"/>
            <a:ext cx="1237643" cy="307777"/>
            <a:chOff x="2880882" y="5348768"/>
            <a:chExt cx="1237643" cy="307777"/>
          </a:xfrm>
        </p:grpSpPr>
        <p:sp>
          <p:nvSpPr>
            <p:cNvPr id="191" name="椭圆 190"/>
            <p:cNvSpPr>
              <a:spLocks noChangeAspect="1"/>
            </p:cNvSpPr>
            <p:nvPr/>
          </p:nvSpPr>
          <p:spPr>
            <a:xfrm>
              <a:off x="2880882" y="538641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文本框 191"/>
            <p:cNvSpPr txBox="1"/>
            <p:nvPr/>
          </p:nvSpPr>
          <p:spPr>
            <a:xfrm>
              <a:off x="3063801" y="5348768"/>
              <a:ext cx="1054724"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09" name="椭圆 208"/>
          <p:cNvSpPr>
            <a:spLocks noChangeAspect="1"/>
          </p:cNvSpPr>
          <p:nvPr/>
        </p:nvSpPr>
        <p:spPr>
          <a:xfrm>
            <a:off x="4285680" y="3930959"/>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a:xfrm>
            <a:off x="1945454" y="1582904"/>
            <a:ext cx="2689200" cy="334800"/>
          </a:xfrm>
          <a:prstGeom prst="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400" kern="0">
                <a:solidFill>
                  <a:srgbClr val="1D1D1A"/>
                </a:solidFill>
                <a:latin typeface="Huawei Sans" panose="020C0503030203020204" pitchFamily="34" charset="0"/>
                <a:ea typeface="方正兰亭黑简体" panose="02000000000000000000" pitchFamily="2" charset="-122"/>
              </a:defRPr>
            </a:lvl1pPr>
          </a:lstStyle>
          <a:p>
            <a:r>
              <a:rPr lang="en-US" altLang="zh-CN" dirty="0">
                <a:sym typeface="Huawei Sans" panose="020C0503030203020204" pitchFamily="34" charset="0"/>
              </a:rPr>
              <a:t>BID: 32768.0c-00-00-0a-00-01</a:t>
            </a:r>
            <a:endParaRPr lang="zh-CN" altLang="en-US" dirty="0">
              <a:sym typeface="Huawei Sans" panose="020C0503030203020204" pitchFamily="34" charset="0"/>
            </a:endParaRPr>
          </a:p>
        </p:txBody>
      </p:sp>
      <p:sp>
        <p:nvSpPr>
          <p:cNvPr id="54" name="文本框 53"/>
          <p:cNvSpPr txBox="1"/>
          <p:nvPr/>
        </p:nvSpPr>
        <p:spPr>
          <a:xfrm>
            <a:off x="471099" y="4431647"/>
            <a:ext cx="2688455" cy="333658"/>
          </a:xfrm>
          <a:prstGeom prst="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stStyle>
          <a:p>
            <a:r>
              <a:rPr lang="en-US" altLang="zh-CN" sz="1400" dirty="0">
                <a:sym typeface="Huawei Sans" panose="020C0503030203020204" pitchFamily="34" charset="0"/>
              </a:rPr>
              <a:t>BID: 32768.0c-00-00-0a-00-02</a:t>
            </a:r>
            <a:endParaRPr lang="zh-CN" altLang="en-US" sz="1400" dirty="0">
              <a:sym typeface="Huawei Sans" panose="020C0503030203020204" pitchFamily="34" charset="0"/>
            </a:endParaRPr>
          </a:p>
        </p:txBody>
      </p:sp>
      <p:sp>
        <p:nvSpPr>
          <p:cNvPr id="55" name="文本框 54"/>
          <p:cNvSpPr txBox="1"/>
          <p:nvPr/>
        </p:nvSpPr>
        <p:spPr>
          <a:xfrm>
            <a:off x="3598313" y="4433816"/>
            <a:ext cx="2688455" cy="333658"/>
          </a:xfrm>
          <a:prstGeom prst="rect">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stStyle>
          <a:p>
            <a:r>
              <a:rPr lang="en-US" altLang="zh-CN" sz="1400" dirty="0">
                <a:sym typeface="Huawei Sans" panose="020C0503030203020204" pitchFamily="34" charset="0"/>
              </a:rPr>
              <a:t>BID: 32768.0c-00-00-0a-00-03</a:t>
            </a:r>
            <a:endParaRPr lang="zh-CN" altLang="en-US" sz="1400" dirty="0">
              <a:sym typeface="Huawei Sans" panose="020C0503030203020204" pitchFamily="34" charset="0"/>
            </a:endParaRPr>
          </a:p>
        </p:txBody>
      </p:sp>
      <p:cxnSp>
        <p:nvCxnSpPr>
          <p:cNvPr id="56" name="直接箭头连接符 55"/>
          <p:cNvCxnSpPr>
            <a:stCxn id="57" idx="3"/>
          </p:cNvCxnSpPr>
          <p:nvPr/>
        </p:nvCxnSpPr>
        <p:spPr>
          <a:xfrm flipH="1">
            <a:off x="2045779" y="2813718"/>
            <a:ext cx="333038" cy="426930"/>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7" name="椭圆 56"/>
          <p:cNvSpPr>
            <a:spLocks noChangeAspect="1"/>
          </p:cNvSpPr>
          <p:nvPr/>
        </p:nvSpPr>
        <p:spPr>
          <a:xfrm>
            <a:off x="2347866" y="2633324"/>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8" name="直接箭头连接符 57"/>
          <p:cNvCxnSpPr>
            <a:stCxn id="59" idx="3"/>
          </p:cNvCxnSpPr>
          <p:nvPr/>
        </p:nvCxnSpPr>
        <p:spPr>
          <a:xfrm flipV="1">
            <a:off x="2573858" y="2874231"/>
            <a:ext cx="334621" cy="441054"/>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9" name="椭圆 58"/>
          <p:cNvSpPr>
            <a:spLocks noChangeAspect="1"/>
          </p:cNvSpPr>
          <p:nvPr/>
        </p:nvSpPr>
        <p:spPr>
          <a:xfrm flipH="1" flipV="1">
            <a:off x="2393464" y="3284334"/>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0" name="直接箭头连接符 59"/>
          <p:cNvCxnSpPr>
            <a:stCxn id="61" idx="3"/>
          </p:cNvCxnSpPr>
          <p:nvPr/>
        </p:nvCxnSpPr>
        <p:spPr>
          <a:xfrm>
            <a:off x="4140330" y="2841219"/>
            <a:ext cx="396098" cy="436786"/>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1" name="椭圆 60"/>
          <p:cNvSpPr>
            <a:spLocks noChangeAspect="1"/>
          </p:cNvSpPr>
          <p:nvPr/>
        </p:nvSpPr>
        <p:spPr>
          <a:xfrm rot="16200000">
            <a:off x="3959936" y="2660825"/>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2" name="直接箭头连接符 61"/>
          <p:cNvCxnSpPr>
            <a:stCxn id="63" idx="3"/>
          </p:cNvCxnSpPr>
          <p:nvPr/>
        </p:nvCxnSpPr>
        <p:spPr>
          <a:xfrm flipH="1" flipV="1">
            <a:off x="3659797" y="2903068"/>
            <a:ext cx="355245" cy="436787"/>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3" name="椭圆 62"/>
          <p:cNvSpPr>
            <a:spLocks noChangeAspect="1"/>
          </p:cNvSpPr>
          <p:nvPr/>
        </p:nvSpPr>
        <p:spPr>
          <a:xfrm rot="16200000" flipH="1" flipV="1">
            <a:off x="3984091" y="3308904"/>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4" name="直接箭头连接符 63"/>
          <p:cNvCxnSpPr/>
          <p:nvPr/>
        </p:nvCxnSpPr>
        <p:spPr>
          <a:xfrm flipV="1">
            <a:off x="3241243" y="4192552"/>
            <a:ext cx="576000" cy="0"/>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5" name="椭圆 64"/>
          <p:cNvSpPr>
            <a:spLocks noChangeAspect="1"/>
          </p:cNvSpPr>
          <p:nvPr/>
        </p:nvSpPr>
        <p:spPr>
          <a:xfrm rot="13639626">
            <a:off x="2839217" y="4117692"/>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椭圆 66"/>
          <p:cNvSpPr>
            <a:spLocks noChangeAspect="1"/>
          </p:cNvSpPr>
          <p:nvPr/>
        </p:nvSpPr>
        <p:spPr>
          <a:xfrm rot="13639626">
            <a:off x="3389926" y="3770646"/>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直接箭头连接符 67"/>
          <p:cNvCxnSpPr>
            <a:stCxn id="67" idx="7"/>
          </p:cNvCxnSpPr>
          <p:nvPr/>
        </p:nvCxnSpPr>
        <p:spPr>
          <a:xfrm flipH="1">
            <a:off x="2817445" y="3872028"/>
            <a:ext cx="572568" cy="0"/>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a:xfrm>
            <a:off x="769566" y="5861745"/>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72" name="椭圆 71"/>
          <p:cNvSpPr>
            <a:spLocks noChangeAspect="1"/>
          </p:cNvSpPr>
          <p:nvPr/>
        </p:nvSpPr>
        <p:spPr>
          <a:xfrm>
            <a:off x="527853" y="5915998"/>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圆角矩形 75"/>
          <p:cNvSpPr/>
          <p:nvPr/>
        </p:nvSpPr>
        <p:spPr>
          <a:xfrm>
            <a:off x="6457153" y="2461098"/>
            <a:ext cx="5288759" cy="1245492"/>
          </a:xfrm>
          <a:prstGeom prst="roundRect">
            <a:avLst>
              <a:gd name="adj" fmla="val 8102"/>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342900" indent="-342900" algn="just">
              <a:lnSpc>
                <a:spcPts val="2600"/>
              </a:lnSpc>
              <a:spcAft>
                <a:spcPts val="600"/>
              </a:spcAft>
              <a:buFont typeface="+mj-lt"/>
              <a:buAutoNum type="arabicPeriod"/>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每一台交换机启动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后，都认为自己是“根桥”，并且发送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所有端口都为指定端口，处于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a:t>
            </a:r>
          </a:p>
        </p:txBody>
      </p:sp>
    </p:spTree>
    <p:extLst>
      <p:ext uri="{BB962C8B-B14F-4D97-AF65-F5344CB8AC3E}">
        <p14:creationId xmlns:p14="http://schemas.microsoft.com/office/powerpoint/2010/main" val="348860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组合 28"/>
          <p:cNvGrpSpPr>
            <a:grpSpLocks noChangeAspect="1"/>
          </p:cNvGrpSpPr>
          <p:nvPr/>
        </p:nvGrpSpPr>
        <p:grpSpPr>
          <a:xfrm>
            <a:off x="5139180" y="5929410"/>
            <a:ext cx="234000" cy="234000"/>
            <a:chOff x="5076056" y="3356992"/>
            <a:chExt cx="436268" cy="436268"/>
          </a:xfrm>
        </p:grpSpPr>
        <p:sp>
          <p:nvSpPr>
            <p:cNvPr id="52"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 name="标题 2"/>
          <p:cNvSpPr>
            <a:spLocks noGrp="1"/>
          </p:cNvSpPr>
          <p:nvPr>
            <p:ph type="title"/>
          </p:nvPr>
        </p:nvSpPr>
        <p:spPr/>
        <p:txBody>
          <a:bodyPr/>
          <a:lstStyle/>
          <a:p>
            <a:pPr fontAlgn="auto"/>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拓扑收敛过程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8" name="组合 97"/>
          <p:cNvGrpSpPr/>
          <p:nvPr/>
        </p:nvGrpSpPr>
        <p:grpSpPr>
          <a:xfrm>
            <a:off x="961022" y="1770684"/>
            <a:ext cx="4538082" cy="2496450"/>
            <a:chOff x="6281092" y="1347279"/>
            <a:chExt cx="4538082" cy="2496450"/>
          </a:xfrm>
        </p:grpSpPr>
        <p:pic>
          <p:nvPicPr>
            <p:cNvPr id="111" name="图片 1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114" name="图片 1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120" name="图片 1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121" name="直接连接符 120"/>
            <p:cNvCxnSpPr>
              <a:stCxn id="114" idx="3"/>
              <a:endCxn id="120"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122" name="直接连接符 121"/>
            <p:cNvCxnSpPr>
              <a:stCxn id="120" idx="0"/>
              <a:endCxn id="111"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23" name="文本框 122"/>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文本框 123"/>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6" name="直接箭头连接符 125"/>
            <p:cNvCxnSpPr>
              <a:stCxn id="114" idx="0"/>
              <a:endCxn id="111"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cxnSp>
        <p:nvCxnSpPr>
          <p:cNvPr id="129" name="直接箭头连接符 128"/>
          <p:cNvCxnSpPr>
            <a:stCxn id="130" idx="3"/>
          </p:cNvCxnSpPr>
          <p:nvPr/>
        </p:nvCxnSpPr>
        <p:spPr>
          <a:xfrm flipH="1">
            <a:off x="2045779" y="2813718"/>
            <a:ext cx="333038" cy="426930"/>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0" name="椭圆 129"/>
          <p:cNvSpPr>
            <a:spLocks noChangeAspect="1"/>
          </p:cNvSpPr>
          <p:nvPr/>
        </p:nvSpPr>
        <p:spPr>
          <a:xfrm>
            <a:off x="2347866" y="2633324"/>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2" name="直接箭头连接符 131"/>
          <p:cNvCxnSpPr>
            <a:stCxn id="133" idx="3"/>
          </p:cNvCxnSpPr>
          <p:nvPr/>
        </p:nvCxnSpPr>
        <p:spPr>
          <a:xfrm flipV="1">
            <a:off x="2573858" y="2874231"/>
            <a:ext cx="334621" cy="441054"/>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3" name="椭圆 132"/>
          <p:cNvSpPr>
            <a:spLocks noChangeAspect="1"/>
          </p:cNvSpPr>
          <p:nvPr/>
        </p:nvSpPr>
        <p:spPr>
          <a:xfrm flipH="1" flipV="1">
            <a:off x="2393464" y="3284334"/>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文本框 139"/>
          <p:cNvSpPr txBox="1"/>
          <p:nvPr/>
        </p:nvSpPr>
        <p:spPr>
          <a:xfrm>
            <a:off x="1134675" y="2738996"/>
            <a:ext cx="1156119" cy="307777"/>
          </a:xfrm>
          <a:prstGeom prst="rect">
            <a:avLst/>
          </a:prstGeom>
          <a:noFill/>
        </p:spPr>
        <p:txBody>
          <a:bodyPr wrap="squar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Proposal=1</a:t>
            </a:r>
          </a:p>
        </p:txBody>
      </p:sp>
      <p:sp>
        <p:nvSpPr>
          <p:cNvPr id="142" name="文本框 141"/>
          <p:cNvSpPr txBox="1"/>
          <p:nvPr/>
        </p:nvSpPr>
        <p:spPr>
          <a:xfrm>
            <a:off x="2199299" y="3526424"/>
            <a:ext cx="1361272" cy="307777"/>
          </a:xfrm>
          <a:prstGeom prst="rect">
            <a:avLst/>
          </a:prstGeom>
          <a:noFill/>
        </p:spPr>
        <p:txBody>
          <a:bodyPr wrap="squar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Agreement=1</a:t>
            </a:r>
          </a:p>
        </p:txBody>
      </p:sp>
      <p:sp>
        <p:nvSpPr>
          <p:cNvPr id="143" name="椭圆 142"/>
          <p:cNvSpPr>
            <a:spLocks noChangeAspect="1"/>
          </p:cNvSpPr>
          <p:nvPr/>
        </p:nvSpPr>
        <p:spPr>
          <a:xfrm>
            <a:off x="1697590" y="374655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椭圆 143"/>
          <p:cNvSpPr>
            <a:spLocks noChangeAspect="1"/>
          </p:cNvSpPr>
          <p:nvPr/>
        </p:nvSpPr>
        <p:spPr>
          <a:xfrm>
            <a:off x="2846746" y="237395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椭圆 144"/>
          <p:cNvSpPr>
            <a:spLocks noChangeAspect="1"/>
          </p:cNvSpPr>
          <p:nvPr/>
        </p:nvSpPr>
        <p:spPr>
          <a:xfrm>
            <a:off x="3415577" y="237395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椭圆 145"/>
          <p:cNvSpPr>
            <a:spLocks noChangeAspect="1"/>
          </p:cNvSpPr>
          <p:nvPr/>
        </p:nvSpPr>
        <p:spPr>
          <a:xfrm>
            <a:off x="4595040" y="374655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文本框 167"/>
          <p:cNvSpPr txBox="1"/>
          <p:nvPr/>
        </p:nvSpPr>
        <p:spPr>
          <a:xfrm>
            <a:off x="769566" y="5861745"/>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169" name="椭圆 168"/>
          <p:cNvSpPr>
            <a:spLocks noChangeAspect="1"/>
          </p:cNvSpPr>
          <p:nvPr/>
        </p:nvSpPr>
        <p:spPr>
          <a:xfrm>
            <a:off x="527853" y="5915998"/>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8" name="组合 177"/>
          <p:cNvGrpSpPr/>
          <p:nvPr/>
        </p:nvGrpSpPr>
        <p:grpSpPr>
          <a:xfrm>
            <a:off x="2177934" y="5892522"/>
            <a:ext cx="4076961" cy="307777"/>
            <a:chOff x="2880882" y="5348768"/>
            <a:chExt cx="4076961" cy="307777"/>
          </a:xfrm>
        </p:grpSpPr>
        <p:sp>
          <p:nvSpPr>
            <p:cNvPr id="191" name="椭圆 190"/>
            <p:cNvSpPr>
              <a:spLocks noChangeAspect="1"/>
            </p:cNvSpPr>
            <p:nvPr/>
          </p:nvSpPr>
          <p:spPr>
            <a:xfrm>
              <a:off x="2880882" y="538641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文本框 191"/>
            <p:cNvSpPr txBox="1"/>
            <p:nvPr/>
          </p:nvSpPr>
          <p:spPr>
            <a:xfrm>
              <a:off x="3063801" y="5348768"/>
              <a:ext cx="792656"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3" name="椭圆 192"/>
            <p:cNvSpPr>
              <a:spLocks noChangeAspect="1"/>
            </p:cNvSpPr>
            <p:nvPr/>
          </p:nvSpPr>
          <p:spPr>
            <a:xfrm>
              <a:off x="4308365" y="538641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文本框 193"/>
            <p:cNvSpPr txBox="1"/>
            <p:nvPr/>
          </p:nvSpPr>
          <p:spPr>
            <a:xfrm>
              <a:off x="4491284" y="5348768"/>
              <a:ext cx="913456"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文本框 205"/>
            <p:cNvSpPr txBox="1"/>
            <p:nvPr/>
          </p:nvSpPr>
          <p:spPr>
            <a:xfrm>
              <a:off x="6044387" y="5348768"/>
              <a:ext cx="913456" cy="307777"/>
            </a:xfrm>
            <a:prstGeom prst="rect">
              <a:avLst/>
            </a:prstGeom>
            <a:noFill/>
          </p:spPr>
          <p:txBody>
            <a:bodyPr wrap="square" rtlCol="0">
              <a:spAutoFit/>
            </a:bodyPr>
            <a:lstStyle/>
            <a:p>
              <a:pPr fontAlgn="auto">
                <a:spcBef>
                  <a:spcPts val="0"/>
                </a:spcBef>
                <a:spcAft>
                  <a:spcPts val="0"/>
                </a:spcAft>
              </a:pPr>
              <a:r>
                <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端口阻塞</a:t>
              </a:r>
            </a:p>
          </p:txBody>
        </p:sp>
      </p:grpSp>
      <p:sp>
        <p:nvSpPr>
          <p:cNvPr id="210" name="圆角矩形 75"/>
          <p:cNvSpPr/>
          <p:nvPr/>
        </p:nvSpPr>
        <p:spPr>
          <a:xfrm>
            <a:off x="6457153" y="1555156"/>
            <a:ext cx="5288759" cy="4375014"/>
          </a:xfrm>
          <a:prstGeom prst="roundRect">
            <a:avLst>
              <a:gd name="adj" fmla="val 2418"/>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342900" indent="-342900" algn="just">
              <a:lnSpc>
                <a:spcPts val="2600"/>
              </a:lnSpc>
              <a:spcAft>
                <a:spcPts val="600"/>
              </a:spcAft>
              <a:buFont typeface="+mj-lt"/>
              <a:buAutoNum type="arabicPeriod" startAt="2"/>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上游链路的设备互联端口通过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机制，快速进入转发状态。</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a:lnSpc>
                <a:spcPts val="2600"/>
              </a:lnSpc>
              <a:spcAft>
                <a:spcPts val="600"/>
              </a:spcAft>
              <a:buFont typeface="Huawei Sans" panose="020C0503030203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收到更优的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后，经比较认为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才是当前根桥，此时</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的端口将成为根端口，而不是指定端口，停止发送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a:p>
            <a:pPr marL="360000" indent="-180000" algn="just">
              <a:lnSpc>
                <a:spcPts val="2600"/>
              </a:lnSpc>
              <a:spcAft>
                <a:spcPts val="600"/>
              </a:spcAft>
              <a:buFont typeface="Huawei Sans" panose="020C0503030203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的端口进入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Discarding</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状态，发送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Proposal</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收到后阻塞除边缘端口以外的所有其他端口（该过程称为同步过程）。</a:t>
            </a:r>
          </a:p>
          <a:p>
            <a:pPr marL="360000" indent="-180000" algn="just">
              <a:lnSpc>
                <a:spcPts val="2600"/>
              </a:lnSpc>
              <a:spcAft>
                <a:spcPts val="600"/>
              </a:spcAft>
              <a:buFont typeface="Huawei Sans" panose="020C0503030203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的各端口同步后，</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根端口立即进入</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状态</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，并向</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返回</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Agreement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收到该报文后，会让</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指定端口立即进入</a:t>
            </a:r>
            <a:r>
              <a:rPr lang="en-US" altLang="zh-CN"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Forwarding</a:t>
            </a:r>
            <a:r>
              <a:rPr lang="zh-CN" altLang="en-US" sz="1600"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状态</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47" name="文本框 46"/>
          <p:cNvSpPr txBox="1"/>
          <p:nvPr/>
        </p:nvSpPr>
        <p:spPr>
          <a:xfrm>
            <a:off x="645962" y="3198344"/>
            <a:ext cx="999269" cy="357512"/>
          </a:xfrm>
          <a:prstGeom prst="wedgeRoundRectCallout">
            <a:avLst>
              <a:gd name="adj1" fmla="val 79696"/>
              <a:gd name="adj2" fmla="val 66102"/>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80000" indent="-180000" algn="just">
              <a:lnSpc>
                <a:spcPts val="2600"/>
              </a:lnSpc>
              <a:spcAft>
                <a:spcPts val="600"/>
              </a:spcAft>
              <a:buFont typeface="+mj-lt"/>
              <a:buAutoNum type="arabicPeriod" startAt="4"/>
              <a:defRPr sz="1400">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buNone/>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上游链路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a:xfrm>
            <a:off x="1741899" y="4616079"/>
            <a:ext cx="999269" cy="357512"/>
          </a:xfrm>
          <a:prstGeom prst="wedgeRoundRectCallout">
            <a:avLst>
              <a:gd name="adj1" fmla="val 34587"/>
              <a:gd name="adj2" fmla="val -157244"/>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80000" indent="-180000" algn="just">
              <a:lnSpc>
                <a:spcPts val="2600"/>
              </a:lnSpc>
              <a:spcAft>
                <a:spcPts val="600"/>
              </a:spcAft>
              <a:buFont typeface="+mj-lt"/>
              <a:buAutoNum type="arabicPeriod" startAt="4"/>
              <a:defRPr sz="1400">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buNone/>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下游链路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9" name="组合 28"/>
          <p:cNvGrpSpPr>
            <a:grpSpLocks noChangeAspect="1"/>
          </p:cNvGrpSpPr>
          <p:nvPr/>
        </p:nvGrpSpPr>
        <p:grpSpPr>
          <a:xfrm>
            <a:off x="1918343" y="3940426"/>
            <a:ext cx="234000" cy="234000"/>
            <a:chOff x="5076056" y="3356992"/>
            <a:chExt cx="436268" cy="436268"/>
          </a:xfrm>
        </p:grpSpPr>
        <p:sp>
          <p:nvSpPr>
            <p:cNvPr id="60"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8973864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base"/>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拓扑收敛过程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8" name="组合 97"/>
          <p:cNvGrpSpPr/>
          <p:nvPr/>
        </p:nvGrpSpPr>
        <p:grpSpPr>
          <a:xfrm>
            <a:off x="961022" y="1770684"/>
            <a:ext cx="4538082" cy="2496450"/>
            <a:chOff x="6281092" y="1347279"/>
            <a:chExt cx="4538082" cy="2496450"/>
          </a:xfrm>
        </p:grpSpPr>
        <p:pic>
          <p:nvPicPr>
            <p:cNvPr id="111" name="图片 1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3600" y="1790950"/>
              <a:ext cx="540000" cy="442800"/>
            </a:xfrm>
            <a:prstGeom prst="rect">
              <a:avLst/>
            </a:prstGeom>
          </p:spPr>
        </p:pic>
        <p:pic>
          <p:nvPicPr>
            <p:cNvPr id="114" name="图片 1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5849" y="3400929"/>
              <a:ext cx="540000" cy="442800"/>
            </a:xfrm>
            <a:prstGeom prst="rect">
              <a:avLst/>
            </a:prstGeom>
          </p:spPr>
        </p:pic>
        <p:pic>
          <p:nvPicPr>
            <p:cNvPr id="120" name="图片 1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761350" y="3400929"/>
              <a:ext cx="540000" cy="442800"/>
            </a:xfrm>
            <a:prstGeom prst="rect">
              <a:avLst/>
            </a:prstGeom>
          </p:spPr>
        </p:pic>
        <p:cxnSp>
          <p:nvCxnSpPr>
            <p:cNvPr id="121" name="直接连接符 120"/>
            <p:cNvCxnSpPr>
              <a:stCxn id="114" idx="3"/>
              <a:endCxn id="120" idx="1"/>
            </p:cNvCxnSpPr>
            <p:nvPr/>
          </p:nvCxnSpPr>
          <p:spPr>
            <a:xfrm>
              <a:off x="7365849" y="3622329"/>
              <a:ext cx="2395501" cy="0"/>
            </a:xfrm>
            <a:prstGeom prst="line">
              <a:avLst/>
            </a:prstGeom>
            <a:noFill/>
            <a:ln w="19050" cap="flat" cmpd="sng" algn="ctr">
              <a:solidFill>
                <a:srgbClr val="151515"/>
              </a:solidFill>
              <a:prstDash val="solid"/>
              <a:miter lim="800000"/>
            </a:ln>
            <a:effectLst/>
          </p:spPr>
        </p:cxnSp>
        <p:cxnSp>
          <p:nvCxnSpPr>
            <p:cNvPr id="122" name="直接连接符 121"/>
            <p:cNvCxnSpPr>
              <a:stCxn id="120" idx="0"/>
              <a:endCxn id="111" idx="3"/>
            </p:cNvCxnSpPr>
            <p:nvPr/>
          </p:nvCxnSpPr>
          <p:spPr>
            <a:xfrm flipH="1" flipV="1">
              <a:off x="8833600" y="2012350"/>
              <a:ext cx="1197750" cy="1388579"/>
            </a:xfrm>
            <a:prstGeom prst="line">
              <a:avLst/>
            </a:prstGeom>
            <a:noFill/>
            <a:ln w="19050" cap="flat" cmpd="sng" algn="ctr">
              <a:solidFill>
                <a:srgbClr val="151515"/>
              </a:solidFill>
              <a:prstDash val="solid"/>
              <a:miter lim="800000"/>
            </a:ln>
            <a:effectLst/>
          </p:spPr>
        </p:cxnSp>
        <p:sp>
          <p:nvSpPr>
            <p:cNvPr id="123" name="文本框 122"/>
            <p:cNvSpPr txBox="1"/>
            <p:nvPr/>
          </p:nvSpPr>
          <p:spPr>
            <a:xfrm>
              <a:off x="6281092" y="3377155"/>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4" name="文本框 123"/>
            <p:cNvSpPr txBox="1"/>
            <p:nvPr/>
          </p:nvSpPr>
          <p:spPr>
            <a:xfrm>
              <a:off x="10262611" y="3376901"/>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5" name="文本框 124"/>
            <p:cNvSpPr txBox="1"/>
            <p:nvPr/>
          </p:nvSpPr>
          <p:spPr>
            <a:xfrm>
              <a:off x="8020606" y="134727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6" name="直接箭头连接符 125"/>
            <p:cNvCxnSpPr>
              <a:stCxn id="114" idx="0"/>
              <a:endCxn id="111" idx="1"/>
            </p:cNvCxnSpPr>
            <p:nvPr/>
          </p:nvCxnSpPr>
          <p:spPr>
            <a:xfrm flipV="1">
              <a:off x="7095849" y="2012350"/>
              <a:ext cx="1197751" cy="1388579"/>
            </a:xfrm>
            <a:prstGeom prst="straightConnector1">
              <a:avLst/>
            </a:prstGeom>
            <a:noFill/>
            <a:ln w="19050" cap="flat" cmpd="sng" algn="ctr">
              <a:solidFill>
                <a:srgbClr val="1D1D1A"/>
              </a:solidFill>
              <a:prstDash val="solid"/>
              <a:miter lim="800000"/>
              <a:headEnd type="none" w="med" len="med"/>
              <a:tailEnd type="none" w="med" len="med"/>
            </a:ln>
            <a:effectLst/>
          </p:spPr>
        </p:cxnSp>
      </p:grpSp>
      <p:cxnSp>
        <p:nvCxnSpPr>
          <p:cNvPr id="129" name="直接箭头连接符 128"/>
          <p:cNvCxnSpPr>
            <a:stCxn id="130" idx="3"/>
          </p:cNvCxnSpPr>
          <p:nvPr/>
        </p:nvCxnSpPr>
        <p:spPr>
          <a:xfrm flipH="1">
            <a:off x="2045779" y="2813718"/>
            <a:ext cx="333038" cy="426930"/>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0" name="椭圆 129"/>
          <p:cNvSpPr>
            <a:spLocks noChangeAspect="1"/>
          </p:cNvSpPr>
          <p:nvPr/>
        </p:nvSpPr>
        <p:spPr>
          <a:xfrm>
            <a:off x="2347866" y="2633324"/>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5" name="直接箭头连接符 134"/>
          <p:cNvCxnSpPr>
            <a:stCxn id="136" idx="3"/>
          </p:cNvCxnSpPr>
          <p:nvPr/>
        </p:nvCxnSpPr>
        <p:spPr>
          <a:xfrm>
            <a:off x="4140330" y="2841219"/>
            <a:ext cx="396098" cy="436786"/>
          </a:xfrm>
          <a:prstGeom prst="straightConnector1">
            <a:avLst/>
          </a:prstGeom>
          <a:ln w="38100">
            <a:solidFill>
              <a:schemeClr val="tx1">
                <a:lumMod val="50000"/>
                <a:lumOff val="50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6" name="椭圆 135"/>
          <p:cNvSpPr>
            <a:spLocks noChangeAspect="1"/>
          </p:cNvSpPr>
          <p:nvPr/>
        </p:nvSpPr>
        <p:spPr>
          <a:xfrm rot="16200000">
            <a:off x="3959936" y="2660825"/>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椭圆 142"/>
          <p:cNvSpPr>
            <a:spLocks noChangeAspect="1"/>
          </p:cNvSpPr>
          <p:nvPr/>
        </p:nvSpPr>
        <p:spPr>
          <a:xfrm>
            <a:off x="1697590" y="374655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椭圆 143"/>
          <p:cNvSpPr>
            <a:spLocks noChangeAspect="1"/>
          </p:cNvSpPr>
          <p:nvPr/>
        </p:nvSpPr>
        <p:spPr>
          <a:xfrm>
            <a:off x="2846746" y="237395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椭圆 144"/>
          <p:cNvSpPr>
            <a:spLocks noChangeAspect="1"/>
          </p:cNvSpPr>
          <p:nvPr/>
        </p:nvSpPr>
        <p:spPr>
          <a:xfrm>
            <a:off x="3415577" y="2373958"/>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椭圆 145"/>
          <p:cNvSpPr>
            <a:spLocks noChangeAspect="1"/>
          </p:cNvSpPr>
          <p:nvPr/>
        </p:nvSpPr>
        <p:spPr>
          <a:xfrm>
            <a:off x="4595040" y="3746551"/>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0" name="直接箭头连接符 149"/>
          <p:cNvCxnSpPr>
            <a:stCxn id="153" idx="3"/>
          </p:cNvCxnSpPr>
          <p:nvPr/>
        </p:nvCxnSpPr>
        <p:spPr>
          <a:xfrm flipV="1">
            <a:off x="3050475" y="4222920"/>
            <a:ext cx="576000" cy="0"/>
          </a:xfrm>
          <a:prstGeom prst="straightConnector1">
            <a:avLst/>
          </a:prstGeom>
          <a:ln w="381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53" name="椭圆 152"/>
          <p:cNvSpPr>
            <a:spLocks noChangeAspect="1"/>
          </p:cNvSpPr>
          <p:nvPr/>
        </p:nvSpPr>
        <p:spPr>
          <a:xfrm rot="13639626">
            <a:off x="2839217" y="4117692"/>
            <a:ext cx="211345" cy="211345"/>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4" name="文本框 153"/>
          <p:cNvSpPr txBox="1"/>
          <p:nvPr/>
        </p:nvSpPr>
        <p:spPr>
          <a:xfrm>
            <a:off x="2760415" y="4344258"/>
            <a:ext cx="1156119" cy="307777"/>
          </a:xfrm>
          <a:prstGeom prst="rect">
            <a:avLst/>
          </a:prstGeom>
          <a:noFill/>
        </p:spPr>
        <p:txBody>
          <a:bodyPr wrap="square" rtlCol="0">
            <a:spAutoFit/>
          </a:bodyPr>
          <a:lstStyle/>
          <a:p>
            <a:pPr fontAlgn="auto">
              <a:spcBef>
                <a:spcPts val="0"/>
              </a:spcBef>
              <a:spcAft>
                <a:spcPts val="0"/>
              </a:spcAft>
            </a:pP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Proposal=1</a:t>
            </a:r>
          </a:p>
        </p:txBody>
      </p:sp>
      <p:sp>
        <p:nvSpPr>
          <p:cNvPr id="155" name="椭圆 154"/>
          <p:cNvSpPr>
            <a:spLocks noChangeAspect="1"/>
          </p:cNvSpPr>
          <p:nvPr/>
        </p:nvSpPr>
        <p:spPr>
          <a:xfrm>
            <a:off x="1945454" y="3929494"/>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8" name="文本框 167"/>
          <p:cNvSpPr txBox="1"/>
          <p:nvPr/>
        </p:nvSpPr>
        <p:spPr>
          <a:xfrm>
            <a:off x="769566" y="5861745"/>
            <a:ext cx="1259747" cy="338554"/>
          </a:xfrm>
          <a:prstGeom prst="rect">
            <a:avLst/>
          </a:prstGeom>
          <a:noFill/>
        </p:spPr>
        <p:txBody>
          <a:bodyPr wrap="square" rtlCol="0">
            <a:spAutoFit/>
          </a:bodyPr>
          <a:lstStyle/>
          <a:p>
            <a:pPr fontAlgn="auto">
              <a:spcBef>
                <a:spcPts val="0"/>
              </a:spcBef>
              <a:spcAft>
                <a:spcPts val="0"/>
              </a:spcAft>
            </a:pPr>
            <a:r>
              <a:rPr lang="en-US" altLang="zh-CN" sz="1600" b="1" dirty="0">
                <a:solidFill>
                  <a:schemeClr val="tx1">
                    <a:lumMod val="65000"/>
                    <a:lumOff val="35000"/>
                  </a:schemeClr>
                </a:solidFill>
                <a:latin typeface="Huawei Sans" panose="020C0503030203020204" pitchFamily="34" charset="0"/>
                <a:ea typeface="方正兰亭黑简体" panose="02000000000000000000" pitchFamily="2" charset="-122"/>
                <a:sym typeface="Huawei Sans" panose="020C0503030203020204" pitchFamily="34" charset="0"/>
              </a:rPr>
              <a:t>RST BPDU</a:t>
            </a:r>
          </a:p>
        </p:txBody>
      </p:sp>
      <p:sp>
        <p:nvSpPr>
          <p:cNvPr id="169" name="椭圆 168"/>
          <p:cNvSpPr>
            <a:spLocks noChangeAspect="1"/>
          </p:cNvSpPr>
          <p:nvPr/>
        </p:nvSpPr>
        <p:spPr>
          <a:xfrm>
            <a:off x="527853" y="5915998"/>
            <a:ext cx="211345" cy="211345"/>
          </a:xfrm>
          <a:prstGeom prst="ellipse">
            <a:avLst/>
          </a:prstGeom>
          <a:solidFill>
            <a:schemeClr val="bg1"/>
          </a:solidFill>
          <a:ln w="38100">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78" name="组合 177"/>
          <p:cNvGrpSpPr/>
          <p:nvPr/>
        </p:nvGrpSpPr>
        <p:grpSpPr>
          <a:xfrm>
            <a:off x="2177934" y="5892522"/>
            <a:ext cx="4076961" cy="307777"/>
            <a:chOff x="2880882" y="5348768"/>
            <a:chExt cx="4076961" cy="307777"/>
          </a:xfrm>
        </p:grpSpPr>
        <p:sp>
          <p:nvSpPr>
            <p:cNvPr id="191" name="椭圆 190"/>
            <p:cNvSpPr>
              <a:spLocks noChangeAspect="1"/>
            </p:cNvSpPr>
            <p:nvPr/>
          </p:nvSpPr>
          <p:spPr>
            <a:xfrm>
              <a:off x="2880882" y="538641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R</a:t>
              </a:r>
              <a:endParaRPr lang="zh-CN" altLang="en-US" sz="1400" b="1">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2" name="文本框 191"/>
            <p:cNvSpPr txBox="1"/>
            <p:nvPr/>
          </p:nvSpPr>
          <p:spPr>
            <a:xfrm>
              <a:off x="3063801" y="5348768"/>
              <a:ext cx="792656"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根端口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3" name="椭圆 192"/>
            <p:cNvSpPr>
              <a:spLocks noChangeAspect="1"/>
            </p:cNvSpPr>
            <p:nvPr/>
          </p:nvSpPr>
          <p:spPr>
            <a:xfrm>
              <a:off x="4308365" y="5386416"/>
              <a:ext cx="232480" cy="232480"/>
            </a:xfrm>
            <a:prstGeom prst="ellipse">
              <a:avLst/>
            </a:prstGeom>
            <a:solidFill>
              <a:schemeClr val="bg1">
                <a:lumMod val="5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4" name="文本框 193"/>
            <p:cNvSpPr txBox="1"/>
            <p:nvPr/>
          </p:nvSpPr>
          <p:spPr>
            <a:xfrm>
              <a:off x="4491284" y="5348768"/>
              <a:ext cx="913456" cy="307777"/>
            </a:xfrm>
            <a:prstGeom prst="rect">
              <a:avLst/>
            </a:prstGeom>
            <a:noFill/>
          </p:spPr>
          <p:txBody>
            <a:bodyPr wrap="square" rtlCol="0">
              <a:spAutoFit/>
            </a:bodyPr>
            <a:lstStyle/>
            <a:p>
              <a:pPr fontAlgn="auto">
                <a:spcBef>
                  <a:spcPts val="0"/>
                </a:spcBef>
                <a:spcAft>
                  <a:spcPts val="0"/>
                </a:spcAft>
              </a:pPr>
              <a:r>
                <a:rPr lang="zh-CN" altLang="en-US"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指定端口</a:t>
              </a:r>
              <a:endParaRPr lang="en-US" altLang="zh-CN" sz="1400"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8" name="椭圆 197"/>
            <p:cNvSpPr>
              <a:spLocks noChangeAspect="1"/>
            </p:cNvSpPr>
            <p:nvPr/>
          </p:nvSpPr>
          <p:spPr>
            <a:xfrm>
              <a:off x="5861468" y="5386416"/>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6" name="文本框 205"/>
            <p:cNvSpPr txBox="1"/>
            <p:nvPr/>
          </p:nvSpPr>
          <p:spPr>
            <a:xfrm>
              <a:off x="6044387" y="5348768"/>
              <a:ext cx="913456" cy="307777"/>
            </a:xfrm>
            <a:prstGeom prst="rect">
              <a:avLst/>
            </a:prstGeom>
            <a:noFill/>
          </p:spPr>
          <p:txBody>
            <a:bodyPr wrap="square" rtlCol="0">
              <a:spAutoFit/>
            </a:bodyPr>
            <a:lstStyle/>
            <a:p>
              <a:pPr fontAlgn="auto">
                <a:spcBef>
                  <a:spcPts val="0"/>
                </a:spcBef>
                <a:spcAft>
                  <a:spcPts val="0"/>
                </a:spcAft>
              </a:pPr>
              <a:r>
                <a:rPr lang="zh-CN" altLang="en-US"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替代端口</a:t>
              </a:r>
            </a:p>
          </p:txBody>
        </p:sp>
      </p:grpSp>
      <p:sp>
        <p:nvSpPr>
          <p:cNvPr id="209" name="椭圆 208"/>
          <p:cNvSpPr>
            <a:spLocks noChangeAspect="1"/>
          </p:cNvSpPr>
          <p:nvPr/>
        </p:nvSpPr>
        <p:spPr>
          <a:xfrm>
            <a:off x="4285680" y="3930959"/>
            <a:ext cx="232480" cy="23248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a:xfrm>
            <a:off x="645962" y="3198344"/>
            <a:ext cx="999269" cy="357512"/>
          </a:xfrm>
          <a:prstGeom prst="wedgeRoundRectCallout">
            <a:avLst>
              <a:gd name="adj1" fmla="val 79696"/>
              <a:gd name="adj2" fmla="val 66102"/>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80000" indent="-180000" algn="just">
              <a:lnSpc>
                <a:spcPts val="2600"/>
              </a:lnSpc>
              <a:spcAft>
                <a:spcPts val="600"/>
              </a:spcAft>
              <a:buFont typeface="+mj-lt"/>
              <a:buAutoNum type="arabicPeriod" startAt="4"/>
              <a:defRPr sz="1400">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buNone/>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上游链路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a:xfrm>
            <a:off x="1741899" y="4616079"/>
            <a:ext cx="999269" cy="357512"/>
          </a:xfrm>
          <a:prstGeom prst="wedgeRoundRectCallout">
            <a:avLst>
              <a:gd name="adj1" fmla="val 34587"/>
              <a:gd name="adj2" fmla="val -157244"/>
              <a:gd name="adj3" fmla="val 16667"/>
            </a:avLst>
          </a:prstGeom>
          <a:solidFill>
            <a:srgbClr val="FFFFCC"/>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80000" indent="-180000" algn="just">
              <a:lnSpc>
                <a:spcPts val="2600"/>
              </a:lnSpc>
              <a:spcAft>
                <a:spcPts val="600"/>
              </a:spcAft>
              <a:buFont typeface="+mj-lt"/>
              <a:buAutoNum type="arabicPeriod" startAt="4"/>
              <a:defRPr sz="1400">
                <a:solidFill>
                  <a:prstClr val="black"/>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indent="0" algn="ctr">
              <a:buNone/>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下游链路</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圆角矩形 75"/>
          <p:cNvSpPr/>
          <p:nvPr/>
        </p:nvSpPr>
        <p:spPr>
          <a:xfrm>
            <a:off x="6457153" y="1821610"/>
            <a:ext cx="5288759" cy="3280478"/>
          </a:xfrm>
          <a:prstGeom prst="roundRect">
            <a:avLst>
              <a:gd name="adj" fmla="val 2102"/>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342900" indent="-342900" algn="just">
              <a:lnSpc>
                <a:spcPts val="2600"/>
              </a:lnSpc>
              <a:spcAft>
                <a:spcPts val="600"/>
              </a:spcAft>
              <a:buFont typeface="+mj-lt"/>
              <a:buAutoNum type="arabicPeriod" startAt="3"/>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下游链路的设备互联端口会进行新一轮的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协商。</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00" indent="-180000" algn="just">
              <a:lnSpc>
                <a:spcPts val="2600"/>
              </a:lnSpc>
              <a:spcAft>
                <a:spcPts val="600"/>
              </a:spcAft>
              <a:buFont typeface="Huawei Sans" panose="020C0503030203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的下游端口设置为指定端口，持续发送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Proposal</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a:p>
            <a:pPr marL="360000" indent="-180000" algn="just">
              <a:lnSpc>
                <a:spcPts val="2600"/>
              </a:lnSpc>
              <a:spcAft>
                <a:spcPts val="600"/>
              </a:spcAft>
              <a:buFont typeface="Huawei Sans" panose="020C0503030203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的下游端口收到该</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后，发现不是本设备收到的最优</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，则会忽略，不会发送</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Agreement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 BPDU</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p>
          <a:p>
            <a:pPr marL="360000" indent="-180000" algn="just">
              <a:lnSpc>
                <a:spcPts val="2600"/>
              </a:lnSpc>
              <a:spcAft>
                <a:spcPts val="600"/>
              </a:spcAft>
              <a:buFont typeface="Huawei Sans" panose="020C0503030203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的下游端口一直收不到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Agreement</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位置位的回应报文，等待</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倍的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Forward Delay</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后，进入转发状态。</a:t>
            </a:r>
          </a:p>
        </p:txBody>
      </p:sp>
    </p:spTree>
    <p:extLst>
      <p:ext uri="{BB962C8B-B14F-4D97-AF65-F5344CB8AC3E}">
        <p14:creationId xmlns:p14="http://schemas.microsoft.com/office/powerpoint/2010/main" val="3893438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快速生成树协议概述</a:t>
            </a: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的基本概念和工作原理</a:t>
            </a:r>
            <a:endPar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的工作过程</a:t>
            </a:r>
          </a:p>
          <a:p>
            <a:r>
              <a:rPr lang="en-US" altLang="zh-CN" b="1"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b="1" dirty="0">
                <a:latin typeface="Huawei Sans" panose="020C0503030203020204" pitchFamily="34" charset="0"/>
                <a:ea typeface="方正兰亭黑简体" panose="02000000000000000000" pitchFamily="2" charset="-122"/>
                <a:sym typeface="Huawei Sans" panose="020C0503030203020204" pitchFamily="34" charset="0"/>
              </a:rPr>
              <a:t>的基本配置</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24010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的基础配置命令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a:xfrm>
            <a:off x="1031917" y="1797459"/>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mode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rstp</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mstp</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配置生成树工作模式</a:t>
            </a:r>
          </a:p>
        </p:txBody>
      </p:sp>
      <p:sp>
        <p:nvSpPr>
          <p:cNvPr id="12" name="矩形 11"/>
          <p:cNvSpPr/>
          <p:nvPr/>
        </p:nvSpPr>
        <p:spPr>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交换机支持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三种生成树工作模式。默认情况工作在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a:t>
            </a:r>
          </a:p>
        </p:txBody>
      </p:sp>
      <p:sp>
        <p:nvSpPr>
          <p:cNvPr id="13" name="矩形 12"/>
          <p:cNvSpPr/>
          <p:nvPr/>
        </p:nvSpPr>
        <p:spPr>
          <a:xfrm>
            <a:off x="1031917" y="3388766"/>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root primary</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a:xfrm>
            <a:off x="551384" y="2956619"/>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（可选）配置当前设备为根桥</a:t>
            </a:r>
          </a:p>
        </p:txBody>
      </p:sp>
      <p:sp>
        <p:nvSpPr>
          <p:cNvPr id="15" name="矩形 14"/>
          <p:cNvSpPr/>
          <p:nvPr/>
        </p:nvSpPr>
        <p:spPr>
          <a:xfrm>
            <a:off x="1031917" y="3820913"/>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缺省情况下，交换机不作为任何生成树的根桥。配置后该设备优先级数值自动为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，并且不能更改设备优先级。</a:t>
            </a:r>
          </a:p>
        </p:txBody>
      </p:sp>
      <p:sp>
        <p:nvSpPr>
          <p:cNvPr id="19" name="矩形 18"/>
          <p:cNvSpPr/>
          <p:nvPr/>
        </p:nvSpPr>
        <p:spPr>
          <a:xfrm>
            <a:off x="1031917" y="5094965"/>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root Secondary</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a:xfrm>
            <a:off x="551384" y="4662818"/>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（可选）配置当前设备为备份根桥</a:t>
            </a:r>
          </a:p>
        </p:txBody>
      </p:sp>
      <p:sp>
        <p:nvSpPr>
          <p:cNvPr id="21" name="矩形 20"/>
          <p:cNvSpPr/>
          <p:nvPr/>
        </p:nvSpPr>
        <p:spPr>
          <a:xfrm>
            <a:off x="1031917" y="5527112"/>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缺省情况下，交换设备不作为任何生成树的备份根桥。配置后该设备优先级数值为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4096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，并且不能更改设备优先级。</a:t>
            </a:r>
          </a:p>
        </p:txBody>
      </p:sp>
    </p:spTree>
    <p:extLst>
      <p:ext uri="{BB962C8B-B14F-4D97-AF65-F5344CB8AC3E}">
        <p14:creationId xmlns:p14="http://schemas.microsoft.com/office/powerpoint/2010/main" val="2415764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的基础配置命令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1031917" y="1797459"/>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priority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priority</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（可选）配置交换机的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优先级</a:t>
            </a:r>
          </a:p>
        </p:txBody>
      </p:sp>
      <p:sp>
        <p:nvSpPr>
          <p:cNvPr id="5" name="矩形 4"/>
          <p:cNvSpPr/>
          <p:nvPr/>
        </p:nvSpPr>
        <p:spPr>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取值范围是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61440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，步长为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4096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。缺省情况下，交换机的优先级取值是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32768</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6" name="矩形 5"/>
          <p:cNvSpPr/>
          <p:nvPr/>
        </p:nvSpPr>
        <p:spPr>
          <a:xfrm>
            <a:off x="1031917" y="3463232"/>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pathcost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-standard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dot1d-1998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dot1t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legacy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551384" y="303108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（可选）配置接口路径开销</a:t>
            </a:r>
          </a:p>
        </p:txBody>
      </p:sp>
      <p:sp>
        <p:nvSpPr>
          <p:cNvPr id="8" name="矩形 7"/>
          <p:cNvSpPr/>
          <p:nvPr/>
        </p:nvSpPr>
        <p:spPr>
          <a:xfrm>
            <a:off x="1031917" y="3895379"/>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配置接口路径开销计算方法。缺省情况下，路径开销值的计算方法为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IEEE 802.1t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dot1t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）标准方法。</a:t>
            </a:r>
          </a:p>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同一网络内所有交换机的接口路径开销应使用相同的计算方法。</a:t>
            </a:r>
          </a:p>
        </p:txBody>
      </p:sp>
      <p:sp>
        <p:nvSpPr>
          <p:cNvPr id="9" name="矩形 8"/>
          <p:cNvSpPr/>
          <p:nvPr/>
        </p:nvSpPr>
        <p:spPr>
          <a:xfrm>
            <a:off x="1031917" y="4682475"/>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cost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a:xfrm>
            <a:off x="1031917" y="5114622"/>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设置当前接口的路径开销值。</a:t>
            </a:r>
          </a:p>
        </p:txBody>
      </p:sp>
    </p:spTree>
    <p:extLst>
      <p:ext uri="{BB962C8B-B14F-4D97-AF65-F5344CB8AC3E}">
        <p14:creationId xmlns:p14="http://schemas.microsoft.com/office/powerpoint/2010/main" val="472879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的基础配置命令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1031917" y="1797459"/>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priority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priority</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（可选）配置接口优先级</a:t>
            </a:r>
          </a:p>
        </p:txBody>
      </p:sp>
      <p:sp>
        <p:nvSpPr>
          <p:cNvPr id="5" name="矩形 4"/>
          <p:cNvSpPr/>
          <p:nvPr/>
        </p:nvSpPr>
        <p:spPr>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整数形式，取值范围是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240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，步长为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16</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。缺省情况下，交换机接口的优先级取值是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128</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6" name="矩形 5"/>
          <p:cNvSpPr/>
          <p:nvPr/>
        </p:nvSpPr>
        <p:spPr>
          <a:xfrm>
            <a:off x="1031917" y="3248881"/>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enable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551384" y="2816734"/>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启用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STP/RSTP</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a:xfrm>
            <a:off x="1031917" y="3681028"/>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使能交换机的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STP/RSTP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功能。缺省情况下，设备的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STP/RSTP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功能处于启用状态。</a:t>
            </a:r>
          </a:p>
        </p:txBody>
      </p:sp>
      <p:sp>
        <p:nvSpPr>
          <p:cNvPr id="9" name="矩形 8"/>
          <p:cNvSpPr/>
          <p:nvPr/>
        </p:nvSpPr>
        <p:spPr>
          <a:xfrm>
            <a:off x="1031917" y="4711717"/>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edged-port enable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a:xfrm>
            <a:off x="551384" y="4279570"/>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配置当前接口为边缘端口</a:t>
            </a:r>
          </a:p>
        </p:txBody>
      </p:sp>
      <p:sp>
        <p:nvSpPr>
          <p:cNvPr id="11" name="矩形 10"/>
          <p:cNvSpPr/>
          <p:nvPr/>
        </p:nvSpPr>
        <p:spPr>
          <a:xfrm>
            <a:off x="1031917" y="5143864"/>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缺省情况下，交换设备的所有端口都是非边缘端口。</a:t>
            </a:r>
          </a:p>
        </p:txBody>
      </p:sp>
    </p:spTree>
    <p:extLst>
      <p:ext uri="{BB962C8B-B14F-4D97-AF65-F5344CB8AC3E}">
        <p14:creationId xmlns:p14="http://schemas.microsoft.com/office/powerpoint/2010/main" val="13100390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的保护功能配置命令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1031917" y="1797459"/>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bpdu</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-protection</a:t>
            </a:r>
            <a:endParaRPr lang="zh-CN" altLang="en-US" sz="1600" b="1"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BPDU</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保护功能</a:t>
            </a:r>
          </a:p>
        </p:txBody>
      </p:sp>
      <p:sp>
        <p:nvSpPr>
          <p:cNvPr id="5" name="矩形 4"/>
          <p:cNvSpPr/>
          <p:nvPr/>
        </p:nvSpPr>
        <p:spPr>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配置交换设备边缘端口的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BPDU</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保护功能。缺省情况下，交换设备的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BPDU</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保护功能处于禁用状态。</a:t>
            </a:r>
          </a:p>
        </p:txBody>
      </p:sp>
      <p:sp>
        <p:nvSpPr>
          <p:cNvPr id="6" name="矩形 5"/>
          <p:cNvSpPr/>
          <p:nvPr/>
        </p:nvSpPr>
        <p:spPr>
          <a:xfrm>
            <a:off x="1031917" y="3248881"/>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root-protection</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551384" y="2816734"/>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配置根保护功能</a:t>
            </a:r>
          </a:p>
        </p:txBody>
      </p:sp>
      <p:sp>
        <p:nvSpPr>
          <p:cNvPr id="8" name="矩形 7"/>
          <p:cNvSpPr/>
          <p:nvPr/>
        </p:nvSpPr>
        <p:spPr>
          <a:xfrm>
            <a:off x="1031917" y="3681028"/>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配置交换设备的根保护功能。缺省情况下，端口的根保护功能处于去使能状态。当端口的角色是指定端口时，配置的根保护功能才生效。配置了根保护的端口，不可以配置环路保护。</a:t>
            </a:r>
          </a:p>
        </p:txBody>
      </p:sp>
      <p:sp>
        <p:nvSpPr>
          <p:cNvPr id="9" name="矩形 8"/>
          <p:cNvSpPr/>
          <p:nvPr/>
        </p:nvSpPr>
        <p:spPr>
          <a:xfrm>
            <a:off x="1031917" y="5013286"/>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loop-protection</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a:xfrm>
            <a:off x="551384" y="4581139"/>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配置环路保护功能</a:t>
            </a:r>
          </a:p>
        </p:txBody>
      </p:sp>
      <p:sp>
        <p:nvSpPr>
          <p:cNvPr id="11" name="矩形 10"/>
          <p:cNvSpPr/>
          <p:nvPr/>
        </p:nvSpPr>
        <p:spPr>
          <a:xfrm>
            <a:off x="1031917" y="5445433"/>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配置交换设备根端口或</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Alternate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端口的环路保护功能。缺省情况下，端口的环路保护功能处于关闭状态。</a:t>
            </a:r>
          </a:p>
        </p:txBody>
      </p:sp>
    </p:spTree>
    <p:extLst>
      <p:ext uri="{BB962C8B-B14F-4D97-AF65-F5344CB8AC3E}">
        <p14:creationId xmlns:p14="http://schemas.microsoft.com/office/powerpoint/2010/main" val="36700985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的保护功能配置命令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矩形 2"/>
          <p:cNvSpPr/>
          <p:nvPr/>
        </p:nvSpPr>
        <p:spPr>
          <a:xfrm>
            <a:off x="1031917" y="1797459"/>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tc</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-protection interval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interval-value</a:t>
            </a:r>
            <a:endParaRPr lang="zh-CN" altLang="en-US" sz="1600" b="1"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保护功能</a:t>
            </a:r>
          </a:p>
        </p:txBody>
      </p:sp>
      <p:sp>
        <p:nvSpPr>
          <p:cNvPr id="5" name="矩形 4"/>
          <p:cNvSpPr/>
          <p:nvPr/>
        </p:nvSpPr>
        <p:spPr>
          <a:xfrm>
            <a:off x="1031917" y="2229606"/>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配置设备处理阈值指定数量的拓扑变化报文所需的时间。缺省情况下，设备处理最大数量的拓扑变化报文所需的时间是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Hello Time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6" name="矩形 5"/>
          <p:cNvSpPr/>
          <p:nvPr/>
        </p:nvSpPr>
        <p:spPr>
          <a:xfrm>
            <a:off x="1031917" y="3149741"/>
            <a:ext cx="10608699"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a:t>
            </a: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tc</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-protection threshold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threshold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1031917" y="3581888"/>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配置交换设备在收到</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BPDU</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报文后，单位时间内，处理</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类型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BPDU</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报文并立即刷新转发表项的阈值。省情况下，设备在指定时间内处理拓扑变化报文的最大数量是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Tree>
    <p:extLst>
      <p:ext uri="{BB962C8B-B14F-4D97-AF65-F5344CB8AC3E}">
        <p14:creationId xmlns:p14="http://schemas.microsoft.com/office/powerpoint/2010/main" val="3117638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案例：</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的基础配置</a:t>
            </a:r>
          </a:p>
        </p:txBody>
      </p:sp>
      <p:sp>
        <p:nvSpPr>
          <p:cNvPr id="69" name="文本占位符 68"/>
          <p:cNvSpPr>
            <a:spLocks noGrp="1"/>
          </p:cNvSpPr>
          <p:nvPr>
            <p:ph type="body" sz="quarter" idx="10"/>
          </p:nvPr>
        </p:nvSpPr>
        <p:spPr>
          <a:xfrm>
            <a:off x="468317" y="4433952"/>
            <a:ext cx="6331727" cy="1947798"/>
          </a:xfrm>
        </p:spPr>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在上述三台交换机上部署</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，以便消除网络中的二层环路。</a:t>
            </a: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通过配置实现：</a:t>
            </a:r>
          </a:p>
          <a:p>
            <a:pPr lvl="1"/>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指定为根桥，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为备份根桥。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相连的端口不参与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计算，将其设置为边缘端口。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配置根保护和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保护功能，实现对设备或链路的保护。</a:t>
            </a:r>
          </a:p>
        </p:txBody>
      </p:sp>
      <p:sp>
        <p:nvSpPr>
          <p:cNvPr id="5" name="文本框 4"/>
          <p:cNvSpPr txBox="1"/>
          <p:nvPr/>
        </p:nvSpPr>
        <p:spPr>
          <a:xfrm>
            <a:off x="7197848" y="2068626"/>
            <a:ext cx="4076062" cy="1015663"/>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mode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rstp</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enable</a:t>
            </a: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root primary</a:t>
            </a:r>
          </a:p>
        </p:txBody>
      </p:sp>
      <p:sp>
        <p:nvSpPr>
          <p:cNvPr id="6" name="文本框 5"/>
          <p:cNvSpPr txBox="1"/>
          <p:nvPr/>
        </p:nvSpPr>
        <p:spPr>
          <a:xfrm>
            <a:off x="7197848" y="3682807"/>
            <a:ext cx="4076062" cy="1015663"/>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mode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rstp</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enable</a:t>
            </a:r>
          </a:p>
          <a:p>
            <a:pPr>
              <a:lnSpc>
                <a:spcPts val="2400"/>
              </a:lnSpc>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[SW2]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root secondary</a:t>
            </a:r>
          </a:p>
        </p:txBody>
      </p:sp>
      <p:sp>
        <p:nvSpPr>
          <p:cNvPr id="7" name="文本框 6"/>
          <p:cNvSpPr txBox="1"/>
          <p:nvPr/>
        </p:nvSpPr>
        <p:spPr>
          <a:xfrm>
            <a:off x="7197848" y="5296988"/>
            <a:ext cx="4076062" cy="675249"/>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[SW3]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mode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rstp</a:t>
            </a:r>
            <a:endPar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[SW3]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enable</a:t>
            </a:r>
          </a:p>
        </p:txBody>
      </p:sp>
      <p:sp>
        <p:nvSpPr>
          <p:cNvPr id="8" name="文本框 7"/>
          <p:cNvSpPr txBox="1"/>
          <p:nvPr/>
        </p:nvSpPr>
        <p:spPr>
          <a:xfrm>
            <a:off x="7197295" y="1638965"/>
            <a:ext cx="2182008"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功能：</a:t>
            </a:r>
          </a:p>
        </p:txBody>
      </p:sp>
      <p:sp>
        <p:nvSpPr>
          <p:cNvPr id="9" name="文本框 8"/>
          <p:cNvSpPr txBox="1"/>
          <p:nvPr/>
        </p:nvSpPr>
        <p:spPr>
          <a:xfrm>
            <a:off x="7197295" y="3253146"/>
            <a:ext cx="2167581"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功能：</a:t>
            </a:r>
          </a:p>
        </p:txBody>
      </p:sp>
      <p:sp>
        <p:nvSpPr>
          <p:cNvPr id="10" name="文本框 9"/>
          <p:cNvSpPr txBox="1"/>
          <p:nvPr/>
        </p:nvSpPr>
        <p:spPr>
          <a:xfrm>
            <a:off x="7197295" y="4858585"/>
            <a:ext cx="2169184"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功能：</a:t>
            </a:r>
          </a:p>
        </p:txBody>
      </p:sp>
      <p:pic>
        <p:nvPicPr>
          <p:cNvPr id="53" name="图片 5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71634" y="1716410"/>
            <a:ext cx="540000" cy="442800"/>
          </a:xfrm>
          <a:prstGeom prst="rect">
            <a:avLst/>
          </a:prstGeom>
        </p:spPr>
      </p:pic>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4244" y="3223357"/>
            <a:ext cx="540000" cy="442800"/>
          </a:xfrm>
          <a:prstGeom prst="rect">
            <a:avLst/>
          </a:prstGeom>
        </p:spPr>
      </p:pic>
      <p:pic>
        <p:nvPicPr>
          <p:cNvPr id="55" name="图片 5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9024" y="3223357"/>
            <a:ext cx="540000" cy="442800"/>
          </a:xfrm>
          <a:prstGeom prst="rect">
            <a:avLst/>
          </a:prstGeom>
        </p:spPr>
      </p:pic>
      <p:cxnSp>
        <p:nvCxnSpPr>
          <p:cNvPr id="56" name="直接连接符 55"/>
          <p:cNvCxnSpPr>
            <a:stCxn id="54" idx="3"/>
            <a:endCxn id="55" idx="1"/>
          </p:cNvCxnSpPr>
          <p:nvPr/>
        </p:nvCxnSpPr>
        <p:spPr>
          <a:xfrm>
            <a:off x="2134244" y="3444757"/>
            <a:ext cx="2414780"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57" name="直接连接符 56"/>
          <p:cNvCxnSpPr>
            <a:stCxn id="55" idx="0"/>
            <a:endCxn id="53" idx="3"/>
          </p:cNvCxnSpPr>
          <p:nvPr/>
        </p:nvCxnSpPr>
        <p:spPr>
          <a:xfrm flipH="1" flipV="1">
            <a:off x="3611634" y="1937810"/>
            <a:ext cx="1207390" cy="1285547"/>
          </a:xfrm>
          <a:prstGeom prst="line">
            <a:avLst/>
          </a:prstGeom>
          <a:noFill/>
          <a:ln w="19050" cap="flat" cmpd="sng" algn="ctr">
            <a:solidFill>
              <a:srgbClr val="151515"/>
            </a:solidFill>
            <a:prstDash val="solid"/>
            <a:miter lim="800000"/>
          </a:ln>
          <a:effectLst/>
        </p:spPr>
      </p:cxnSp>
      <p:sp>
        <p:nvSpPr>
          <p:cNvPr id="58" name="文本框 57"/>
          <p:cNvSpPr txBox="1"/>
          <p:nvPr/>
        </p:nvSpPr>
        <p:spPr>
          <a:xfrm>
            <a:off x="1049487" y="3199583"/>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a:xfrm>
            <a:off x="5082522" y="3199329"/>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a:xfrm>
            <a:off x="2789001" y="127273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直接箭头连接符 60"/>
          <p:cNvCxnSpPr>
            <a:stCxn id="54" idx="0"/>
            <a:endCxn id="53" idx="1"/>
          </p:cNvCxnSpPr>
          <p:nvPr/>
        </p:nvCxnSpPr>
        <p:spPr>
          <a:xfrm flipV="1">
            <a:off x="1864244" y="1937810"/>
            <a:ext cx="1207390" cy="1285547"/>
          </a:xfrm>
          <a:prstGeom prst="straightConnector1">
            <a:avLst/>
          </a:prstGeom>
          <a:noFill/>
          <a:ln w="19050" cap="flat" cmpd="sng" algn="ctr">
            <a:solidFill>
              <a:srgbClr val="1D1D1A"/>
            </a:solidFill>
            <a:prstDash val="solid"/>
            <a:miter lim="800000"/>
            <a:headEnd type="none" w="med" len="med"/>
            <a:tailEnd type="none" w="med" len="med"/>
          </a:ln>
          <a:effectLst/>
        </p:spPr>
      </p:cxnSp>
      <p:pic>
        <p:nvPicPr>
          <p:cNvPr id="63" name="图片 62" descr="PC.png"/>
          <p:cNvPicPr>
            <a:picLocks noChangeAspect="1"/>
          </p:cNvPicPr>
          <p:nvPr/>
        </p:nvPicPr>
        <p:blipFill>
          <a:blip r:embed="rId4" cstate="print"/>
          <a:stretch>
            <a:fillRect/>
          </a:stretch>
        </p:blipFill>
        <p:spPr>
          <a:xfrm>
            <a:off x="4530743" y="4028942"/>
            <a:ext cx="576563" cy="442800"/>
          </a:xfrm>
          <a:prstGeom prst="rect">
            <a:avLst/>
          </a:prstGeom>
        </p:spPr>
      </p:pic>
      <p:cxnSp>
        <p:nvCxnSpPr>
          <p:cNvPr id="64" name="直接连接符 63"/>
          <p:cNvCxnSpPr>
            <a:stCxn id="63" idx="0"/>
            <a:endCxn id="55" idx="2"/>
          </p:cNvCxnSpPr>
          <p:nvPr/>
        </p:nvCxnSpPr>
        <p:spPr>
          <a:xfrm flipH="1" flipV="1">
            <a:off x="4819024" y="3666157"/>
            <a:ext cx="1" cy="362785"/>
          </a:xfrm>
          <a:prstGeom prst="line">
            <a:avLst/>
          </a:prstGeom>
          <a:noFill/>
          <a:ln w="19050" cap="flat" cmpd="sng" algn="ctr">
            <a:solidFill>
              <a:srgbClr val="151515"/>
            </a:solidFill>
            <a:prstDash val="solid"/>
            <a:miter lim="800000"/>
          </a:ln>
          <a:effectLst/>
        </p:spPr>
      </p:cxnSp>
      <p:sp>
        <p:nvSpPr>
          <p:cNvPr id="65" name="椭圆 64"/>
          <p:cNvSpPr>
            <a:spLocks noChangeAspect="1"/>
          </p:cNvSpPr>
          <p:nvPr/>
        </p:nvSpPr>
        <p:spPr>
          <a:xfrm>
            <a:off x="4691476" y="3568543"/>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a:xfrm rot="18824957">
            <a:off x="2176232" y="2047503"/>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a:xfrm rot="18824957">
            <a:off x="1888003" y="2819681"/>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a:xfrm>
            <a:off x="2087366" y="3472622"/>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a:xfrm>
            <a:off x="3708212" y="3472622"/>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a:xfrm rot="2865842">
            <a:off x="3601414" y="2042808"/>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a:xfrm rot="2790368">
            <a:off x="3900637" y="2790958"/>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p:cNvSpPr txBox="1"/>
          <p:nvPr/>
        </p:nvSpPr>
        <p:spPr>
          <a:xfrm>
            <a:off x="5082522" y="3924404"/>
            <a:ext cx="396262"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P</a:t>
            </a: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C</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a:xfrm>
            <a:off x="4891946" y="3626510"/>
            <a:ext cx="72327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E0/0/1</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299331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案例：</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的基础配置</a:t>
            </a:r>
          </a:p>
        </p:txBody>
      </p:sp>
      <p:sp>
        <p:nvSpPr>
          <p:cNvPr id="69" name="文本占位符 68"/>
          <p:cNvSpPr>
            <a:spLocks noGrp="1"/>
          </p:cNvSpPr>
          <p:nvPr>
            <p:ph type="body" sz="quarter" idx="10"/>
          </p:nvPr>
        </p:nvSpPr>
        <p:spPr>
          <a:xfrm>
            <a:off x="468317" y="4433952"/>
            <a:ext cx="6331727" cy="1947798"/>
          </a:xfrm>
        </p:spPr>
        <p:txBody>
          <a:bodyPr/>
          <a:lstStyle/>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在上述三台交换机上部署</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，以便消除网络中的二层环路。</a:t>
            </a:r>
          </a:p>
          <a:p>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通过配置实现：</a:t>
            </a:r>
          </a:p>
          <a:p>
            <a:pPr lvl="1"/>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将</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指定为根桥，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SW2</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为备份根桥。</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相连的端口不参与</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计算，将其设置为边缘端口。</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lvl="1"/>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配置根保护和</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保护功能，实现对设备或链路的保护。</a:t>
            </a:r>
          </a:p>
        </p:txBody>
      </p:sp>
      <p:sp>
        <p:nvSpPr>
          <p:cNvPr id="5" name="文本框 4"/>
          <p:cNvSpPr txBox="1"/>
          <p:nvPr/>
        </p:nvSpPr>
        <p:spPr>
          <a:xfrm>
            <a:off x="7197848" y="2068626"/>
            <a:ext cx="4224090" cy="367473"/>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[SW3-Ethernet0/0/1]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edged-port enable</a:t>
            </a:r>
          </a:p>
        </p:txBody>
      </p:sp>
      <p:sp>
        <p:nvSpPr>
          <p:cNvPr id="6" name="文本框 5"/>
          <p:cNvSpPr txBox="1"/>
          <p:nvPr/>
        </p:nvSpPr>
        <p:spPr>
          <a:xfrm>
            <a:off x="7197848" y="3347958"/>
            <a:ext cx="4224090" cy="675249"/>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[SW1-GigabitEthernet0/0/1]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root-protection</a:t>
            </a:r>
          </a:p>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[SW1-GigabitEthernet0/0/2]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root-protection</a:t>
            </a:r>
          </a:p>
        </p:txBody>
      </p:sp>
      <p:sp>
        <p:nvSpPr>
          <p:cNvPr id="7" name="文本框 6"/>
          <p:cNvSpPr txBox="1"/>
          <p:nvPr/>
        </p:nvSpPr>
        <p:spPr>
          <a:xfrm>
            <a:off x="7197294" y="4922044"/>
            <a:ext cx="4224643" cy="367473"/>
          </a:xfrm>
          <a:prstGeom prst="rect">
            <a:avLst/>
          </a:prstGeom>
          <a:solidFill>
            <a:srgbClr val="F4FBFE"/>
          </a:solidFill>
          <a:ln>
            <a:solidFill>
              <a:srgbClr val="99DFF9"/>
            </a:solidFill>
          </a:ln>
        </p:spPr>
        <p:txBody>
          <a:bodyPr wrap="square" rtlCol="0">
            <a:spAutoFit/>
          </a:bodyPr>
          <a:lstStyle/>
          <a:p>
            <a:pPr fontAlgn="auto">
              <a:lnSpc>
                <a:spcPts val="2400"/>
              </a:lnSpc>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[SW3] </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stp </a:t>
            </a:r>
            <a:r>
              <a:rPr lang="en-US" altLang="zh-CN" sz="1400" b="1"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bpdu</a:t>
            </a:r>
            <a:r>
              <a:rPr lang="en-US" altLang="zh-CN" sz="1400" b="1"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-protection</a:t>
            </a:r>
          </a:p>
        </p:txBody>
      </p:sp>
      <p:sp>
        <p:nvSpPr>
          <p:cNvPr id="8" name="文本框 7"/>
          <p:cNvSpPr txBox="1"/>
          <p:nvPr/>
        </p:nvSpPr>
        <p:spPr>
          <a:xfrm>
            <a:off x="7197295" y="1638965"/>
            <a:ext cx="2089033"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开启边缘端口：</a:t>
            </a:r>
          </a:p>
        </p:txBody>
      </p:sp>
      <p:sp>
        <p:nvSpPr>
          <p:cNvPr id="9" name="文本框 8"/>
          <p:cNvSpPr txBox="1"/>
          <p:nvPr/>
        </p:nvSpPr>
        <p:spPr>
          <a:xfrm>
            <a:off x="7197295" y="2918297"/>
            <a:ext cx="2308645"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SW1</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开启根保护功能：</a:t>
            </a:r>
          </a:p>
        </p:txBody>
      </p:sp>
      <p:sp>
        <p:nvSpPr>
          <p:cNvPr id="10" name="文本框 9"/>
          <p:cNvSpPr txBox="1"/>
          <p:nvPr/>
        </p:nvSpPr>
        <p:spPr>
          <a:xfrm>
            <a:off x="7197295" y="4483641"/>
            <a:ext cx="2645276" cy="338554"/>
          </a:xfrm>
          <a:prstGeom prst="rect">
            <a:avLst/>
          </a:prstGeom>
          <a:noFill/>
        </p:spPr>
        <p:txBody>
          <a:bodyPr wrap="none" rtlCol="0">
            <a:spAutoFit/>
          </a:bodyPr>
          <a:lstStyle/>
          <a:p>
            <a:pPr fontAlgn="auto">
              <a:spcBef>
                <a:spcPts val="0"/>
              </a:spcBef>
              <a:spcAft>
                <a:spcPts val="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SW3</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保护功能：</a:t>
            </a:r>
          </a:p>
        </p:txBody>
      </p:sp>
      <p:pic>
        <p:nvPicPr>
          <p:cNvPr id="53" name="图片 5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71634" y="1716410"/>
            <a:ext cx="540000" cy="442800"/>
          </a:xfrm>
          <a:prstGeom prst="rect">
            <a:avLst/>
          </a:prstGeom>
        </p:spPr>
      </p:pic>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4244" y="3223357"/>
            <a:ext cx="540000" cy="442800"/>
          </a:xfrm>
          <a:prstGeom prst="rect">
            <a:avLst/>
          </a:prstGeom>
        </p:spPr>
      </p:pic>
      <p:pic>
        <p:nvPicPr>
          <p:cNvPr id="55" name="图片 5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49024" y="3223357"/>
            <a:ext cx="540000" cy="442800"/>
          </a:xfrm>
          <a:prstGeom prst="rect">
            <a:avLst/>
          </a:prstGeom>
        </p:spPr>
      </p:pic>
      <p:cxnSp>
        <p:nvCxnSpPr>
          <p:cNvPr id="56" name="直接连接符 55"/>
          <p:cNvCxnSpPr>
            <a:stCxn id="54" idx="3"/>
            <a:endCxn id="55" idx="1"/>
          </p:cNvCxnSpPr>
          <p:nvPr/>
        </p:nvCxnSpPr>
        <p:spPr>
          <a:xfrm>
            <a:off x="2134244" y="3444757"/>
            <a:ext cx="2414780" cy="0"/>
          </a:xfrm>
          <a:prstGeom prst="line">
            <a:avLst/>
          </a:prstGeom>
          <a:noFill/>
          <a:ln w="19050" cap="flat" cmpd="sng" algn="ctr">
            <a:solidFill>
              <a:srgbClr val="1D1D1A"/>
            </a:solidFill>
            <a:prstDash val="solid"/>
            <a:miter lim="800000"/>
            <a:headEnd type="none" w="med" len="med"/>
            <a:tailEnd type="none" w="med" len="med"/>
          </a:ln>
          <a:effectLst/>
        </p:spPr>
      </p:cxnSp>
      <p:cxnSp>
        <p:nvCxnSpPr>
          <p:cNvPr id="57" name="直接连接符 56"/>
          <p:cNvCxnSpPr>
            <a:stCxn id="55" idx="0"/>
            <a:endCxn id="53" idx="3"/>
          </p:cNvCxnSpPr>
          <p:nvPr/>
        </p:nvCxnSpPr>
        <p:spPr>
          <a:xfrm flipH="1" flipV="1">
            <a:off x="3611634" y="1937810"/>
            <a:ext cx="1207390" cy="1285547"/>
          </a:xfrm>
          <a:prstGeom prst="line">
            <a:avLst/>
          </a:prstGeom>
          <a:noFill/>
          <a:ln w="19050" cap="flat" cmpd="sng" algn="ctr">
            <a:solidFill>
              <a:srgbClr val="151515"/>
            </a:solidFill>
            <a:prstDash val="solid"/>
            <a:miter lim="800000"/>
          </a:ln>
          <a:effectLst/>
        </p:spPr>
      </p:cxnSp>
      <p:sp>
        <p:nvSpPr>
          <p:cNvPr id="58" name="文本框 57"/>
          <p:cNvSpPr txBox="1"/>
          <p:nvPr/>
        </p:nvSpPr>
        <p:spPr>
          <a:xfrm>
            <a:off x="1049487" y="3199583"/>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SW2</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a:xfrm>
            <a:off x="5082522" y="3199329"/>
            <a:ext cx="556563"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SW3</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a:xfrm>
            <a:off x="2789001" y="1272739"/>
            <a:ext cx="1109136" cy="467116"/>
          </a:xfrm>
          <a:prstGeom prst="rect">
            <a:avLst/>
          </a:prstGeom>
          <a:noFill/>
        </p:spPr>
        <p:txBody>
          <a:bodyPr wrap="square" rtlCol="0">
            <a:spAutoFit/>
          </a:bodyPr>
          <a:lstStyle/>
          <a:p>
            <a:pPr marL="0" marR="0" lvl="0" indent="0" algn="ctr" defTabSz="914478" eaLnBrk="1" fontAlgn="auto" latinLnBrk="0" hangingPunct="1">
              <a:lnSpc>
                <a:spcPts val="344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SW1 </a:t>
            </a:r>
            <a:r>
              <a:rPr kumimoji="0" lang="en-US" altLang="zh-CN" sz="1400" b="0" i="0" u="none" strike="noStrike" kern="0" cap="none" spc="0" normalizeH="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根桥</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1" name="直接箭头连接符 60"/>
          <p:cNvCxnSpPr>
            <a:stCxn id="54" idx="0"/>
            <a:endCxn id="53" idx="1"/>
          </p:cNvCxnSpPr>
          <p:nvPr/>
        </p:nvCxnSpPr>
        <p:spPr>
          <a:xfrm flipV="1">
            <a:off x="1864244" y="1937810"/>
            <a:ext cx="1207390" cy="1285547"/>
          </a:xfrm>
          <a:prstGeom prst="straightConnector1">
            <a:avLst/>
          </a:prstGeom>
          <a:noFill/>
          <a:ln w="19050" cap="flat" cmpd="sng" algn="ctr">
            <a:solidFill>
              <a:srgbClr val="1D1D1A"/>
            </a:solidFill>
            <a:prstDash val="solid"/>
            <a:miter lim="800000"/>
            <a:headEnd type="none" w="med" len="med"/>
            <a:tailEnd type="none" w="med" len="med"/>
          </a:ln>
          <a:effectLst/>
        </p:spPr>
      </p:cxnSp>
      <p:pic>
        <p:nvPicPr>
          <p:cNvPr id="63" name="图片 62" descr="PC.png"/>
          <p:cNvPicPr>
            <a:picLocks noChangeAspect="1"/>
          </p:cNvPicPr>
          <p:nvPr/>
        </p:nvPicPr>
        <p:blipFill>
          <a:blip r:embed="rId4" cstate="print"/>
          <a:stretch>
            <a:fillRect/>
          </a:stretch>
        </p:blipFill>
        <p:spPr>
          <a:xfrm>
            <a:off x="4530743" y="4028942"/>
            <a:ext cx="576563" cy="442800"/>
          </a:xfrm>
          <a:prstGeom prst="rect">
            <a:avLst/>
          </a:prstGeom>
        </p:spPr>
      </p:pic>
      <p:cxnSp>
        <p:nvCxnSpPr>
          <p:cNvPr id="64" name="直接连接符 63"/>
          <p:cNvCxnSpPr>
            <a:stCxn id="63" idx="0"/>
            <a:endCxn id="55" idx="2"/>
          </p:cNvCxnSpPr>
          <p:nvPr/>
        </p:nvCxnSpPr>
        <p:spPr>
          <a:xfrm flipH="1" flipV="1">
            <a:off x="4819024" y="3666157"/>
            <a:ext cx="1" cy="362785"/>
          </a:xfrm>
          <a:prstGeom prst="line">
            <a:avLst/>
          </a:prstGeom>
          <a:noFill/>
          <a:ln w="19050" cap="flat" cmpd="sng" algn="ctr">
            <a:solidFill>
              <a:srgbClr val="151515"/>
            </a:solidFill>
            <a:prstDash val="solid"/>
            <a:miter lim="800000"/>
          </a:ln>
          <a:effectLst/>
        </p:spPr>
      </p:cxnSp>
      <p:sp>
        <p:nvSpPr>
          <p:cNvPr id="65" name="椭圆 64"/>
          <p:cNvSpPr>
            <a:spLocks noChangeAspect="1"/>
          </p:cNvSpPr>
          <p:nvPr/>
        </p:nvSpPr>
        <p:spPr>
          <a:xfrm>
            <a:off x="4691476" y="3568543"/>
            <a:ext cx="232480" cy="232480"/>
          </a:xfrm>
          <a:prstGeom prst="ellipse">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rPr>
              <a:t>E</a:t>
            </a:r>
            <a:endParaRPr lang="zh-CN" altLang="en-US" sz="1400" b="1" dirty="0">
              <a:solidFill>
                <a:srgbClr val="00B05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文本框 69"/>
          <p:cNvSpPr txBox="1"/>
          <p:nvPr/>
        </p:nvSpPr>
        <p:spPr>
          <a:xfrm rot="18824957">
            <a:off x="2176232" y="2047503"/>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文本框 70"/>
          <p:cNvSpPr txBox="1"/>
          <p:nvPr/>
        </p:nvSpPr>
        <p:spPr>
          <a:xfrm rot="18824957">
            <a:off x="1888003" y="2819681"/>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文本框 71"/>
          <p:cNvSpPr txBox="1"/>
          <p:nvPr/>
        </p:nvSpPr>
        <p:spPr>
          <a:xfrm>
            <a:off x="2087366" y="3472622"/>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文本框 72"/>
          <p:cNvSpPr txBox="1"/>
          <p:nvPr/>
        </p:nvSpPr>
        <p:spPr>
          <a:xfrm>
            <a:off x="3708212" y="3472622"/>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a:xfrm rot="2865842">
            <a:off x="3601414" y="2042808"/>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a:xfrm rot="2790368">
            <a:off x="3900637" y="2790958"/>
            <a:ext cx="85151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p:cNvSpPr txBox="1"/>
          <p:nvPr/>
        </p:nvSpPr>
        <p:spPr>
          <a:xfrm>
            <a:off x="5082522" y="3924404"/>
            <a:ext cx="396262" cy="463653"/>
          </a:xfrm>
          <a:prstGeom prst="rect">
            <a:avLst/>
          </a:prstGeom>
          <a:noFill/>
        </p:spPr>
        <p:txBody>
          <a:bodyPr wrap="none" rtlCol="0">
            <a:spAutoFit/>
          </a:bodyPr>
          <a:lstStyle/>
          <a:p>
            <a:pPr marL="0" marR="0" lvl="0" indent="0" defTabSz="914478" eaLnBrk="1" fontAlgn="auto" latinLnBrk="0" hangingPunct="1">
              <a:lnSpc>
                <a:spcPts val="3440"/>
              </a:lnSpc>
              <a:spcBef>
                <a:spcPts val="0"/>
              </a:spcBef>
              <a:spcAft>
                <a:spcPts val="0"/>
              </a:spcAft>
              <a:buClrTx/>
              <a:buSzTx/>
              <a:buFontTx/>
              <a:buNone/>
              <a:tabLst/>
              <a:defRPr/>
            </a:pP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P</a:t>
            </a:r>
            <a:r>
              <a:rPr kumimoji="0" lang="en-US" altLang="zh-CN"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C</a:t>
            </a:r>
            <a:endParaRPr kumimoji="0" lang="zh-CN" altLang="en-US" sz="1400" b="0" i="0" u="none" strike="noStrike" kern="0" cap="none" spc="0" normalizeH="0" baseline="0" noProof="0" dirty="0">
              <a:ln>
                <a:noFill/>
              </a:ln>
              <a:solidFill>
                <a:srgbClr val="1D1D1A"/>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a:xfrm>
            <a:off x="4891946" y="3626510"/>
            <a:ext cx="723275" cy="307777"/>
          </a:xfrm>
          <a:prstGeom prst="rect">
            <a:avLst/>
          </a:prstGeom>
          <a:noFill/>
        </p:spPr>
        <p:txBody>
          <a:bodyPr wrap="none" rtlCol="0">
            <a:spAutoFit/>
          </a:bodyPr>
          <a:lstStyle/>
          <a:p>
            <a:pPr fontAlgn="auto">
              <a:spcBef>
                <a:spcPts val="0"/>
              </a:spcBef>
              <a:spcAft>
                <a:spcPts val="0"/>
              </a:spcAft>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E0/0/1</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948219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（多选题）以下哪些是</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的端口状态？</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a:p>
            <a:pPr marL="744376" lvl="1" indent="-342900">
              <a:buFont typeface="+mj-lt"/>
              <a:buAutoNum type="alphaUcPeriod"/>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Idle</a:t>
            </a:r>
          </a:p>
          <a:p>
            <a:pPr marL="744376" lvl="1" indent="-342900">
              <a:buFont typeface="+mj-lt"/>
              <a:buAutoNum type="alphaUcPeriod"/>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Discarding</a:t>
            </a:r>
          </a:p>
          <a:p>
            <a:pPr marL="744376" lvl="1" indent="-342900">
              <a:buFont typeface="+mj-lt"/>
              <a:buAutoNum type="alphaUcPeriod"/>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Forwarding</a:t>
            </a:r>
          </a:p>
          <a:p>
            <a:pPr marL="744376" lvl="1" indent="-342900">
              <a:buFont typeface="+mj-lt"/>
              <a:buAutoNum type="alphaUcPeriod"/>
            </a:pP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Learning</a:t>
            </a: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（单选题）</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的根保护必须配置在设备的根端口上。</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p>
          <a:p>
            <a:pPr marL="744376" lvl="1" indent="-342900">
              <a:buFont typeface="+mj-lt"/>
              <a:buAutoNum type="alphaUcPeriod"/>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对</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pPr marL="744376" lvl="1" indent="-342900">
              <a:buFont typeface="+mj-lt"/>
              <a:buAutoNum type="alphaUcPeriod"/>
            </a:pP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错</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201373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8313" y="1233488"/>
            <a:ext cx="11276012" cy="4679950"/>
          </a:xfrm>
        </p:spPr>
        <p:txBody>
          <a:bodyPr/>
          <a:lstStyle/>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生成树是一个用于局域网中消除环路的协议。运行该协议的设备通过彼此交互信息而发现网络中的环路，并对某些接口进行阻塞以消除环路。由于局域网规模的不断增长，生成树协议已经成为重要的局域网协议之一。</a:t>
            </a:r>
          </a:p>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是生成树协议中的其中一个版本，它在</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的基础上，做了很多的改进，大大加快了网络收敛的速度。</a:t>
            </a:r>
            <a:endParaRPr lang="en-US" altLang="zh-CN" dirty="0">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本章节，主要介绍了</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RSTP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对</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STP</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的七个改进点，包括：端口角色、端口状态、配置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格式、配置</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BPDU</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的处理方式、快速收敛机制、拓扑变更机制和</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种保护特性。</a:t>
            </a:r>
          </a:p>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1311444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827360"/>
      </p:ext>
    </p:extLst>
  </p:cSld>
  <p:clrMapOvr>
    <a:masterClrMapping/>
  </p:clrMapOvr>
</p:sld>
</file>

<file path=ppt/theme/theme1.xml><?xml version="1.0" encoding="utf-8"?>
<a:theme xmlns:a="http://schemas.openxmlformats.org/drawingml/2006/main" name="自定义设计方案">
  <a:themeElements>
    <a:clrScheme name="自定义 1">
      <a:dk1>
        <a:sysClr val="windowText" lastClr="000000"/>
      </a:dk1>
      <a:lt1>
        <a:sysClr val="window" lastClr="FFFFFF"/>
      </a:lt1>
      <a:dk2>
        <a:srgbClr val="F3FBFE"/>
      </a:dk2>
      <a:lt2>
        <a:srgbClr val="BAE6F6"/>
      </a:lt2>
      <a:accent1>
        <a:srgbClr val="1AABE2"/>
      </a:accent1>
      <a:accent2>
        <a:srgbClr val="EC7061"/>
      </a:accent2>
      <a:accent3>
        <a:srgbClr val="8BC9A0"/>
      </a:accent3>
      <a:accent4>
        <a:srgbClr val="BAE6F6"/>
      </a:accent4>
      <a:accent5>
        <a:srgbClr val="F3FBFE"/>
      </a:accent5>
      <a:accent6>
        <a:srgbClr val="FFD17D"/>
      </a:accent6>
      <a:hlink>
        <a:srgbClr val="FFF2CC"/>
      </a:hlink>
      <a:folHlink>
        <a:srgbClr val="7F7F7F"/>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2583</TotalTime>
  <Words>8155</Words>
  <Application>Microsoft Office PowerPoint</Application>
  <PresentationFormat>宽屏</PresentationFormat>
  <Paragraphs>881</Paragraphs>
  <Slides>47</Slides>
  <Notes>47</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47</vt:i4>
      </vt:variant>
    </vt:vector>
  </HeadingPairs>
  <TitlesOfParts>
    <vt:vector size="53" baseType="lpstr">
      <vt:lpstr>Huawei Sans</vt:lpstr>
      <vt:lpstr>微软雅黑</vt:lpstr>
      <vt:lpstr>Arial</vt:lpstr>
      <vt:lpstr>Calibri</vt:lpstr>
      <vt:lpstr>Wingdings</vt:lpstr>
      <vt:lpstr>自定义设计方案</vt:lpstr>
      <vt:lpstr>RSTP原理与配置</vt:lpstr>
      <vt:lpstr>PowerPoint 演示文稿</vt:lpstr>
      <vt:lpstr>PowerPoint 演示文稿</vt:lpstr>
      <vt:lpstr>PowerPoint 演示文稿</vt:lpstr>
      <vt:lpstr>回顾：STP的工作原理</vt:lpstr>
      <vt:lpstr>回顾：STP树的生成过程</vt:lpstr>
      <vt:lpstr>回顾：STP的端口状态迁移</vt:lpstr>
      <vt:lpstr>STP的不足</vt:lpstr>
      <vt:lpstr>STP对计时器的依赖</vt:lpstr>
      <vt:lpstr>STP重收敛过程慢</vt:lpstr>
      <vt:lpstr>STP拓扑变更机制</vt:lpstr>
      <vt:lpstr>PowerPoint 演示文稿</vt:lpstr>
      <vt:lpstr>RSTP概述</vt:lpstr>
      <vt:lpstr>RSTP在园区网络中的应用位置</vt:lpstr>
      <vt:lpstr>PowerPoint 演示文稿</vt:lpstr>
      <vt:lpstr>改进点1：端口角色</vt:lpstr>
      <vt:lpstr>改进点5：快速收敛机制 (1)</vt:lpstr>
      <vt:lpstr>改进点2：端口状态</vt:lpstr>
      <vt:lpstr>改进点3：配置BPDU - RST BPDU</vt:lpstr>
      <vt:lpstr>改进点4：配置BPDU的处理 (1)</vt:lpstr>
      <vt:lpstr>改进点4：配置BPDU的处理 (2)</vt:lpstr>
      <vt:lpstr>改进点4：配置BPDU的处理 (3)</vt:lpstr>
      <vt:lpstr>改进点5：快速收敛机制 (2)</vt:lpstr>
      <vt:lpstr>改进点5：快速收敛机制 (3)</vt:lpstr>
      <vt:lpstr>P/A机制详解 (1)</vt:lpstr>
      <vt:lpstr>P/A机制详解 (2)</vt:lpstr>
      <vt:lpstr>P/A机制详解 (3)</vt:lpstr>
      <vt:lpstr>改进点6：拓扑变更机制</vt:lpstr>
      <vt:lpstr>改进点7：保护功能 (1)</vt:lpstr>
      <vt:lpstr>改进点7：保护功能 (2)</vt:lpstr>
      <vt:lpstr>改进点7：保护功能 (3)</vt:lpstr>
      <vt:lpstr>改进点7：保护功能 (4)</vt:lpstr>
      <vt:lpstr>PowerPoint 演示文稿</vt:lpstr>
      <vt:lpstr>RSTP拓扑收敛过程 (1)</vt:lpstr>
      <vt:lpstr>RSTP拓扑收敛过程 (2)</vt:lpstr>
      <vt:lpstr>RSTP拓扑收敛过程 (3)</vt:lpstr>
      <vt:lpstr>PowerPoint 演示文稿</vt:lpstr>
      <vt:lpstr>RSTP的基础配置命令 (1)</vt:lpstr>
      <vt:lpstr>RSTP的基础配置命令 (2)</vt:lpstr>
      <vt:lpstr>RSTP的基础配置命令 (3)</vt:lpstr>
      <vt:lpstr>RSTP的保护功能配置命令 (1)</vt:lpstr>
      <vt:lpstr>RSTP的保护功能配置命令 (2)</vt:lpstr>
      <vt:lpstr>案例：RSTP的基础配置</vt:lpstr>
      <vt:lpstr>案例：RSTP的基础配置</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梁 晓锋</cp:lastModifiedBy>
  <cp:revision>241</cp:revision>
  <dcterms:created xsi:type="dcterms:W3CDTF">2018-11-29T10:16:29Z</dcterms:created>
  <dcterms:modified xsi:type="dcterms:W3CDTF">2022-04-08T01:25:14Z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(3)lWIXQizvR5/RAQpJXq0WaZdoYa4Oa34fb/FCHs1plZtdUrX3hgzz8obG8z0FpdhqCiytMVvX
oYbjyxb75ZnDqREdpZ19W4PcgrI6R0kuMkTWXsxsCx6U6jlfvGdkJs0R3AgOpdIQVadWc3dq
WOnKLWTiK6RI/o4kdglhVuPd1CChoTubrMXeefsUYjvTGBYbr537VvMy1lUvn+T6ZC9WW2mF
1vV6xYx7/MylTGE/+k</vt:lpwstr>
  </property>
  <property fmtid="{D5CDD505-2E9C-101B-9397-08002B2CF9AE}" pid="3" name="_2015_ms_pID_7253431">
    <vt:lpwstr>ODoMKX3SUdJqHTc+jBbiNdFJReX4RC4H6/7+zRlkEwayiHZfATuffw
X5InJKErM81L5Wcxej692JTDBguzVsbvqiLEIpRM7kSxptcX6zCCK1lyMDPjsrG2dgin5KAw
uX2XPGe21F9hSVCWjuegodwuaQVpWsOPwkRDZN0djj5RoKC/71d3VfgyRfla11yNPN7UdZEJ
lpvrGyRiOq1K75FHrDdJaZGBNOiq+IZYr6XP</vt:lpwstr>
  </property>
  <property fmtid="{D5CDD505-2E9C-101B-9397-08002B2CF9AE}" pid="4" name="_2015_ms_pID_7253432">
    <vt:lpwstr>qw==</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1608170023</vt:lpwstr>
  </property>
</Properties>
</file>